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Nightly Ops Validation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Dynamic Diafiltration: gate, comparison report, and storage-aware prune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Runs Nightly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Workflow: .github/workflows/nightly-validation.yml</a:t>
            </a:r>
          </a:p>
          <a:p>
            <a:pPr>
              <a:defRPr sz="2200"/>
            </a:pPr>
            <a:r>
              <a:t>Status gate over target_validation_status_consolidated.csv</a:t>
            </a:r>
          </a:p>
          <a:p>
            <a:pPr>
              <a:defRPr sz="2200"/>
            </a:pPr>
            <a:r>
              <a:t>Known non-pass targets handled as warnings from nightly/config/known_nonpass.csv</a:t>
            </a:r>
          </a:p>
          <a:p>
            <a:pPr>
              <a:defRPr sz="2200"/>
            </a:pPr>
            <a:r>
              <a:t>Digitized paper-vs-unified comparison report is regenerated</a:t>
            </a:r>
          </a:p>
          <a:p>
            <a:pPr>
              <a:defRPr sz="2200"/>
            </a:pPr>
            <a:r>
              <a:t>Storage prune executes in dry-run archive mode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Gate Semantics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Hard failure only on unexpected FAIL or MISSING_VALUE targets</a:t>
            </a:r>
          </a:p>
          <a:p>
            <a:pPr>
              <a:defRPr sz="2200"/>
            </a:pPr>
            <a:r>
              <a:t>Status mismatches against exception list are treated as failures</a:t>
            </a:r>
          </a:p>
          <a:p>
            <a:pPr>
              <a:defRPr sz="2200"/>
            </a:pPr>
            <a:r>
              <a:t>NOT_APPLICABLE is never considered a nightly failure</a:t>
            </a:r>
          </a:p>
          <a:p>
            <a:pPr>
              <a:defRPr sz="2200"/>
            </a:pPr>
            <a:r>
              <a:t>PASS_WITH_EXPLANATION is treated as pass</a:t>
            </a:r>
          </a:p>
          <a:p>
            <a:pPr>
              <a:defRPr sz="2200"/>
            </a:pPr>
            <a:r>
              <a:t>Goal: stable nightly health signal with intentional warning visibility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Nightly Step 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1) Execute nightly_validation_gate.py</a:t>
            </a:r>
          </a:p>
          <a:p>
            <a:pPr>
              <a:defRPr sz="2200"/>
            </a:pPr>
            <a:r>
              <a:t>2) Execute compare_digitized_baselines.py (report mode)</a:t>
            </a:r>
          </a:p>
          <a:p>
            <a:pPr>
              <a:defRPr sz="2200"/>
            </a:pPr>
            <a:r>
              <a:t>3) Execute prune_reproduction_artifacts.py dry-run</a:t>
            </a:r>
          </a:p>
          <a:p>
            <a:pPr>
              <a:defRPr sz="2200"/>
            </a:pPr>
            <a:r>
              <a:t>4) Review warnings and next-action notes</a:t>
            </a:r>
          </a:p>
          <a:p>
            <a:pPr>
              <a:defRPr sz="2200"/>
            </a:pPr>
            <a:r>
              <a:t>5) Keep strict failure scope limited to unexpected regression states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Command: Nightly Validation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82828"/>
                </a:solidFill>
                <a:latin typeface="Courier New"/>
              </a:defRPr>
            </a:pPr>
            <a:r>
              <a:t>python scripts/validation/nightly/nightly_validation_gate.py \</a:t>
            </a:r>
          </a:p>
          <a:p>
            <a:pPr>
              <a:defRPr sz="1600">
                <a:solidFill>
                  <a:srgbClr val="282828"/>
                </a:solidFill>
                <a:latin typeface="Courier New"/>
              </a:defRPr>
            </a:pPr>
            <a:r>
              <a:t>  --status-csv docs/validation/target_validation_status_consolidated.csv \</a:t>
            </a:r>
          </a:p>
          <a:p>
            <a:pPr>
              <a:defRPr sz="1600">
                <a:solidFill>
                  <a:srgbClr val="282828"/>
                </a:solidFill>
                <a:latin typeface="Courier New"/>
              </a:defRPr>
            </a:pPr>
            <a:r>
              <a:t>  --exceptions-csv docs/validation/nightly/config/known_nonpass.csv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Command: Digitized Comparison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82828"/>
                </a:solidFill>
                <a:latin typeface="Courier New"/>
              </a:defRPr>
            </a:pPr>
            <a:r>
              <a:t>python scripts/validation/nightly/compare_digitized_baselines.py \</a:t>
            </a:r>
          </a:p>
          <a:p>
            <a:pPr>
              <a:defRPr sz="1600">
                <a:solidFill>
                  <a:srgbClr val="282828"/>
                </a:solidFill>
                <a:latin typeface="Courier New"/>
              </a:defRPr>
            </a:pPr>
            <a:r>
              <a:t>  --repo-root . \</a:t>
            </a:r>
          </a:p>
          <a:p>
            <a:pPr>
              <a:defRPr sz="1600">
                <a:solidFill>
                  <a:srgbClr val="282828"/>
                </a:solidFill>
                <a:latin typeface="Courier New"/>
              </a:defRPr>
            </a:pPr>
            <a:r>
              <a:t>  --manifest docs/validation/nightly/digitized_baselines/manifest.csv \</a:t>
            </a:r>
          </a:p>
          <a:p>
            <a:pPr>
              <a:defRPr sz="1600">
                <a:solidFill>
                  <a:srgbClr val="282828"/>
                </a:solidFill>
                <a:latin typeface="Courier New"/>
              </a:defRPr>
            </a:pPr>
            <a:r>
              <a:t>  --thresholds docs/validation/nightly/digitized_baselines/thresholds.csv \</a:t>
            </a:r>
          </a:p>
          <a:p>
            <a:pPr>
              <a:defRPr sz="1600">
                <a:solidFill>
                  <a:srgbClr val="282828"/>
                </a:solidFill>
                <a:latin typeface="Courier New"/>
              </a:defRPr>
            </a:pPr>
            <a:r>
              <a:t>  --out-csv docs/validation/nightly/digitized_baselines/comparison_latest.csv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Command: Append Nightly Note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82828"/>
                </a:solidFill>
                <a:latin typeface="Courier New"/>
              </a:defRPr>
            </a:pPr>
            <a:r>
              <a:t>python scripts/validation/nightly/append_nightly_note.py \</a:t>
            </a:r>
          </a:p>
          <a:p>
            <a:pPr>
              <a:defRPr sz="1600">
                <a:solidFill>
                  <a:srgbClr val="282828"/>
                </a:solidFill>
                <a:latin typeface="Courier New"/>
              </a:defRPr>
            </a:pPr>
            <a:r>
              <a:t>  --run-id &lt;run-id&gt; --context &lt;context&gt; --gate-status &lt;PASS|FAIL&gt; \</a:t>
            </a:r>
          </a:p>
          <a:p>
            <a:pPr>
              <a:defRPr sz="1600">
                <a:solidFill>
                  <a:srgbClr val="282828"/>
                </a:solidFill>
                <a:latin typeface="Courier New"/>
              </a:defRPr>
            </a:pPr>
            <a:r>
              <a:t>  --gate-summary "No unexpected FAIL/MISSING_VALUE" \</a:t>
            </a:r>
          </a:p>
          <a:p>
            <a:pPr>
              <a:defRPr sz="1600">
                <a:solidFill>
                  <a:srgbClr val="282828"/>
                </a:solidFill>
                <a:latin typeface="Courier New"/>
              </a:defRPr>
            </a:pPr>
            <a:r>
              <a:t>  --pytest-status &lt;status&gt; --action &lt;next-step&gt;</a:t>
            </a:r>
          </a:p>
          <a:p>
            <a:pPr>
              <a:defRPr sz="1600">
                <a:solidFill>
                  <a:srgbClr val="282828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282828"/>
                </a:solidFill>
                <a:latin typeface="Courier New"/>
              </a:defRPr>
            </a:pPr>
            <a:r>
              <a:t>Log target: docs/validation/nightly/logs/nightly_test_notes.md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Command: Storage Prune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82828"/>
                </a:solidFill>
                <a:latin typeface="Courier New"/>
              </a:defRPr>
            </a:pPr>
            <a:r>
              <a:t>Dry-run:</a:t>
            </a:r>
          </a:p>
          <a:p>
            <a:pPr>
              <a:defRPr sz="1600">
                <a:solidFill>
                  <a:srgbClr val="282828"/>
                </a:solidFill>
                <a:latin typeface="Courier New"/>
              </a:defRPr>
            </a:pPr>
            <a:r>
              <a:t>python scripts/reproduce/prune_reproduction_artifacts.py \</a:t>
            </a:r>
          </a:p>
          <a:p>
            <a:pPr>
              <a:defRPr sz="1600">
                <a:solidFill>
                  <a:srgbClr val="282828"/>
                </a:solidFill>
                <a:latin typeface="Courier New"/>
              </a:defRPr>
            </a:pPr>
            <a:r>
              <a:t>  --repo-root . --keep-full 3 --mode archive</a:t>
            </a:r>
          </a:p>
          <a:p>
            <a:pPr>
              <a:defRPr sz="1600">
                <a:solidFill>
                  <a:srgbClr val="282828"/>
                </a:solidFill>
                <a:latin typeface="Courier New"/>
              </a:defRPr>
            </a:pPr>
          </a:p>
          <a:p>
            <a:pPr>
              <a:defRPr sz="1600">
                <a:solidFill>
                  <a:srgbClr val="282828"/>
                </a:solidFill>
                <a:latin typeface="Courier New"/>
              </a:defRPr>
            </a:pPr>
            <a:r>
              <a:t>Apply:</a:t>
            </a:r>
          </a:p>
          <a:p>
            <a:pPr>
              <a:defRPr sz="1600">
                <a:solidFill>
                  <a:srgbClr val="282828"/>
                </a:solidFill>
                <a:latin typeface="Courier New"/>
              </a:defRPr>
            </a:pPr>
            <a:r>
              <a:t>python scripts/reproduce/prune_reproduction_artifacts.py \</a:t>
            </a:r>
          </a:p>
          <a:p>
            <a:pPr>
              <a:defRPr sz="1600">
                <a:solidFill>
                  <a:srgbClr val="282828"/>
                </a:solidFill>
                <a:latin typeface="Courier New"/>
              </a:defRPr>
            </a:pPr>
            <a:r>
              <a:t>  --repo-root . --keep-full 3 --mode archive --apply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Maintaining Known Non-Pass Targets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Edit docs/validation/nightly/config/known_nonpass.csv</a:t>
            </a:r>
          </a:p>
          <a:p>
            <a:pPr>
              <a:defRPr sz="2200"/>
            </a:pPr>
            <a:r>
              <a:t>One row per accepted non-pass target</a:t>
            </a:r>
          </a:p>
          <a:p>
            <a:pPr>
              <a:defRPr sz="2200"/>
            </a:pPr>
            <a:r>
              <a:t>Set expected_status to FAIL or MISSING_VALUE</a:t>
            </a:r>
          </a:p>
          <a:p>
            <a:pPr>
              <a:defRPr sz="2200"/>
            </a:pPr>
            <a:r>
              <a:t>Set active=true and maintain review_after date</a:t>
            </a:r>
          </a:p>
          <a:p>
            <a:pPr>
              <a:defRPr sz="2200"/>
            </a:pPr>
            <a:r>
              <a:t>Remove/deactivate row once target improves to PASS/NOT_APPLICABLE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Strict Mode Activation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Enable strict digitized enforcement only when baselines are mature</a:t>
            </a:r>
          </a:p>
          <a:p>
            <a:pPr>
              <a:defRPr sz="2200"/>
            </a:pPr>
            <a:r>
              <a:t>Optional flags: --fail-on-fail and --fail-on-missing</a:t>
            </a:r>
          </a:p>
          <a:p>
            <a:pPr>
              <a:defRPr sz="2200"/>
            </a:pPr>
            <a:r>
              <a:t>Activate panel rows by setting active=true in manifest.csv</a:t>
            </a:r>
          </a:p>
          <a:p>
            <a:pPr>
              <a:defRPr sz="2200"/>
            </a:pPr>
            <a:r>
              <a:t>Keep thresholds.csv tuned per target before strict gating</a:t>
            </a:r>
          </a:p>
          <a:p>
            <a:pPr>
              <a:defRPr sz="2200"/>
            </a:pPr>
            <a:r>
              <a:t>Outcome: higher confidence without noisy false failures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Nightly Ops Validation Runbook</dc:title>
  <dc:subject>Dynamic Diafiltration Validation Automation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
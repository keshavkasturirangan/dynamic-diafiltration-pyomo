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6.tmp" ContentType="image/png"/>
  <Override PartName="/ppt/media/image36.tmp" ContentType="image/png"/>
  <Override PartName="/ppt/media/image5.svg" ContentType="image/svg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  <p:sldMasterId id="2147483660" r:id="rId2"/>
    <p:sldMasterId id="2147483685" r:id="rId3"/>
  </p:sldMasterIdLst>
  <p:notesMasterIdLst>
    <p:notesMasterId r:id="rId63"/>
  </p:notesMasterIdLst>
  <p:sldIdLst>
    <p:sldId id="1650" r:id="rId4"/>
    <p:sldId id="268" r:id="rId5"/>
    <p:sldId id="269" r:id="rId6"/>
    <p:sldId id="2147472467" r:id="rId86"/>
    <p:sldId id="2147472468" r:id="rId87"/>
    <p:sldId id="2147472469" r:id="rId88"/>
    <p:sldId id="2147472470" r:id="rId89"/>
    <p:sldId id="2147472471" r:id="rId90"/>
    <p:sldId id="271" r:id="rId9"/>
    <p:sldId id="2147472472" r:id="rId91"/>
    <p:sldId id="2147472473" r:id="rId92"/>
    <p:sldId id="2147472474" r:id="rId93"/>
    <p:sldId id="2147472475" r:id="rId94"/>
    <p:sldId id="2147472476" r:id="rId95"/>
    <p:sldId id="2147472456" r:id="rId75"/>
    <p:sldId id="2147472457" r:id="rId76"/>
    <p:sldId id="2147472458" r:id="rId77"/>
    <p:sldId id="2147472459" r:id="rId69"/>
    <p:sldId id="2147472460" r:id="rId68"/>
    <p:sldId id="2147472461" r:id="rId67"/>
    <p:sldId id="2147472462" r:id="rId66"/>
    <p:sldId id="2147472463" r:id="rId65"/>
    <p:sldId id="2147472464" r:id="rId64"/>
    <p:sldId id="2147472465" r:id="rId84"/>
    <p:sldId id="2147472466" r:id="rId85"/>
    <p:sldId id="2147472477" r:id="rId96"/>
    <p:sldId id="2147472478" r:id="rId97"/>
    <p:sldId id="2147472482" r:id="rId101"/>
    <p:sldId id="2147472483" r:id="rId102"/>
    <p:sldId id="2147472479" r:id="rId98"/>
    <p:sldId id="2147472480" r:id="rId99"/>
    <p:sldId id="2147472481" r:id="rId100"/>
    <p:sldId id="267" r:id="rId17"/>
    <p:sldId id="261" r:id="rId7"/>
    <p:sldId id="262" r:id="rId8"/>
    <p:sldId id="266" r:id="rId10"/>
    <p:sldId id="259" r:id="rId11"/>
    <p:sldId id="260" r:id="rId12"/>
    <p:sldId id="2147472431" r:id="rId13"/>
    <p:sldId id="287" r:id="rId14"/>
    <p:sldId id="2147472432" r:id="rId15"/>
    <p:sldId id="289" r:id="rId16"/>
    <p:sldId id="2147472451" r:id="rId70"/>
    <p:sldId id="2147472452" r:id="rId71"/>
    <p:sldId id="2147472453" r:id="rId72"/>
    <p:sldId id="2147472454" r:id="rId73"/>
    <p:sldId id="2147472455" r:id="rId74"/>
    <p:sldId id="2147472426" r:id="rId18"/>
    <p:sldId id="2147472427" r:id="rId19"/>
    <p:sldId id="2147472425" r:id="rId20"/>
    <p:sldId id="2147472428" r:id="rId21"/>
    <p:sldId id="2147472429" r:id="rId22"/>
    <p:sldId id="2147472430" r:id="rId23"/>
    <p:sldId id="2147472433" r:id="rId24"/>
    <p:sldId id="2147472434" r:id="rId25"/>
    <p:sldId id="2147472435" r:id="rId26"/>
    <p:sldId id="2147472436" r:id="rId27"/>
    <p:sldId id="2147472437" r:id="rId28"/>
    <p:sldId id="2147472438" r:id="rId29"/>
    <p:sldId id="2147472439" r:id="rId30"/>
    <p:sldId id="2147472440" r:id="rId31"/>
    <p:sldId id="2147472441" r:id="rId32"/>
    <p:sldId id="2147472442" r:id="rId33"/>
    <p:sldId id="2147472443" r:id="rId34"/>
    <p:sldId id="2147472444" r:id="rId35"/>
    <p:sldId id="2147472445" r:id="rId36"/>
    <p:sldId id="2147472446" r:id="rId37"/>
    <p:sldId id="2147472447" r:id="rId38"/>
    <p:sldId id="2147472448" r:id="rId39"/>
    <p:sldId id="2147472449" r:id="rId40"/>
    <p:sldId id="2147472450" r:id="rId41"/>
    <p:sldId id="272" r:id="rId42"/>
    <p:sldId id="273" r:id="rId43"/>
    <p:sldId id="274" r:id="rId44"/>
    <p:sldId id="275" r:id="rId45"/>
    <p:sldId id="276" r:id="rId46"/>
    <p:sldId id="277" r:id="rId47"/>
    <p:sldId id="278" r:id="rId48"/>
    <p:sldId id="279" r:id="rId49"/>
    <p:sldId id="280" r:id="rId50"/>
    <p:sldId id="281" r:id="rId51"/>
    <p:sldId id="282" r:id="rId52"/>
    <p:sldId id="283" r:id="rId53"/>
    <p:sldId id="284" r:id="rId54"/>
    <p:sldId id="285" r:id="rId55"/>
    <p:sldId id="2147472387" r:id="rId56"/>
    <p:sldId id="2147472414" r:id="rId57"/>
    <p:sldId id="2147472421" r:id="rId58"/>
    <p:sldId id="388" r:id="rId59"/>
    <p:sldId id="288" r:id="rId60"/>
    <p:sldId id="286" r:id="rId61"/>
    <p:sldId id="1562" r:id="rId62"/>
    <p:sldId id="2147472484" r:id="rId103"/>
    <p:sldId id="2147472485" r:id="rId104"/>
    <p:sldId id="2147472486" r:id="rId105"/>
    <p:sldId id="2147472487" r:id="rId106"/>
    <p:sldId id="2147472488" r:id="rId107"/>
  </p:sldIdLst>
  <p:sldSz cx="12192000" cy="6858000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8" roundtripDataSignature="AMtx7miHo73YM/FpLJf3RZrsEBtSyY5JP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lexander Dowling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5"/>
    <a:srgbClr val="E8ECF6"/>
    <a:srgbClr val="CDD4EB"/>
    <a:srgbClr val="0022F5"/>
    <a:srgbClr val="008500"/>
    <a:srgbClr val="3792EA"/>
    <a:srgbClr val="FF0000"/>
    <a:srgbClr val="B7B7B7"/>
    <a:srgbClr val="F3CABF"/>
    <a:srgbClr val="C4D8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6697DE5-9888-468C-86D8-FFF9E8A69FE0}">
  <a:tblStyle styleId="{06697DE5-9888-468C-86D8-FFF9E8A69FE0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EE8E175-17EB-43BB-9359-DD97DDB5028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481" autoAdjust="0"/>
    <p:restoredTop sz="78849" autoAdjust="0"/>
  </p:normalViewPr>
  <p:slideViewPr>
    <p:cSldViewPr snapToGrid="0" snapToObjects="1">
      <p:cViewPr varScale="1">
        <p:scale>
          <a:sx n="78" d="100"/>
          <a:sy n="78" d="100"/>
        </p:scale>
        <p:origin x="9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78" d="100"/>
          <a:sy n="78" d="100"/>
        </p:scale>
        <p:origin x="906" y="4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34.xml"/><Relationship Id="rId8" Type="http://schemas.openxmlformats.org/officeDocument/2006/relationships/slide" Target="slides/slide35.xml"/><Relationship Id="rId9" Type="http://schemas.openxmlformats.org/officeDocument/2006/relationships/slide" Target="slides/slide9.xml"/><Relationship Id="rId10" Type="http://schemas.openxmlformats.org/officeDocument/2006/relationships/slide" Target="slides/slide36.xml"/><Relationship Id="rId11" Type="http://schemas.openxmlformats.org/officeDocument/2006/relationships/slide" Target="slides/slide37.xml"/><Relationship Id="rId12" Type="http://schemas.openxmlformats.org/officeDocument/2006/relationships/slide" Target="slides/slide38.xml"/><Relationship Id="rId13" Type="http://schemas.openxmlformats.org/officeDocument/2006/relationships/slide" Target="slides/slide39.xml"/><Relationship Id="rId14" Type="http://schemas.openxmlformats.org/officeDocument/2006/relationships/slide" Target="slides/slide40.xml"/><Relationship Id="rId15" Type="http://schemas.openxmlformats.org/officeDocument/2006/relationships/slide" Target="slides/slide41.xml"/><Relationship Id="rId16" Type="http://schemas.openxmlformats.org/officeDocument/2006/relationships/slide" Target="slides/slide42.xml"/><Relationship Id="rId17" Type="http://schemas.openxmlformats.org/officeDocument/2006/relationships/slide" Target="slides/slide33.xml"/><Relationship Id="rId18" Type="http://schemas.openxmlformats.org/officeDocument/2006/relationships/slide" Target="slides/slide48.xml"/><Relationship Id="rId19" Type="http://schemas.openxmlformats.org/officeDocument/2006/relationships/slide" Target="slides/slide49.xml"/><Relationship Id="rId20" Type="http://schemas.openxmlformats.org/officeDocument/2006/relationships/slide" Target="slides/slide50.xml"/><Relationship Id="rId21" Type="http://schemas.openxmlformats.org/officeDocument/2006/relationships/slide" Target="slides/slide51.xml"/><Relationship Id="rId22" Type="http://schemas.openxmlformats.org/officeDocument/2006/relationships/slide" Target="slides/slide52.xml"/><Relationship Id="rId23" Type="http://schemas.openxmlformats.org/officeDocument/2006/relationships/slide" Target="slides/slide53.xml"/><Relationship Id="rId24" Type="http://schemas.openxmlformats.org/officeDocument/2006/relationships/slide" Target="slides/slide54.xml"/><Relationship Id="rId25" Type="http://schemas.openxmlformats.org/officeDocument/2006/relationships/slide" Target="slides/slide55.xml"/><Relationship Id="rId26" Type="http://schemas.openxmlformats.org/officeDocument/2006/relationships/slide" Target="slides/slide56.xml"/><Relationship Id="rId27" Type="http://schemas.openxmlformats.org/officeDocument/2006/relationships/slide" Target="slides/slide57.xml"/><Relationship Id="rId28" Type="http://schemas.openxmlformats.org/officeDocument/2006/relationships/slide" Target="slides/slide58.xml"/><Relationship Id="rId29" Type="http://schemas.openxmlformats.org/officeDocument/2006/relationships/slide" Target="slides/slide59.xml"/><Relationship Id="rId30" Type="http://schemas.openxmlformats.org/officeDocument/2006/relationships/slide" Target="slides/slide60.xml"/><Relationship Id="rId31" Type="http://schemas.openxmlformats.org/officeDocument/2006/relationships/slide" Target="slides/slide61.xml"/><Relationship Id="rId32" Type="http://schemas.openxmlformats.org/officeDocument/2006/relationships/slide" Target="slides/slide62.xml"/><Relationship Id="rId33" Type="http://schemas.openxmlformats.org/officeDocument/2006/relationships/slide" Target="slides/slide63.xml"/><Relationship Id="rId34" Type="http://schemas.openxmlformats.org/officeDocument/2006/relationships/slide" Target="slides/slide64.xml"/><Relationship Id="rId35" Type="http://schemas.openxmlformats.org/officeDocument/2006/relationships/slide" Target="slides/slide65.xml"/><Relationship Id="rId36" Type="http://schemas.openxmlformats.org/officeDocument/2006/relationships/slide" Target="slides/slide66.xml"/><Relationship Id="rId37" Type="http://schemas.openxmlformats.org/officeDocument/2006/relationships/slide" Target="slides/slide67.xml"/><Relationship Id="rId38" Type="http://schemas.openxmlformats.org/officeDocument/2006/relationships/slide" Target="slides/slide68.xml"/><Relationship Id="rId39" Type="http://schemas.openxmlformats.org/officeDocument/2006/relationships/slide" Target="slides/slide69.xml"/><Relationship Id="rId40" Type="http://schemas.openxmlformats.org/officeDocument/2006/relationships/slide" Target="slides/slide70.xml"/><Relationship Id="rId41" Type="http://schemas.openxmlformats.org/officeDocument/2006/relationships/slide" Target="slides/slide71.xml"/><Relationship Id="rId42" Type="http://schemas.openxmlformats.org/officeDocument/2006/relationships/slide" Target="slides/slide72.xml"/><Relationship Id="rId43" Type="http://schemas.openxmlformats.org/officeDocument/2006/relationships/slide" Target="slides/slide73.xml"/><Relationship Id="rId44" Type="http://schemas.openxmlformats.org/officeDocument/2006/relationships/slide" Target="slides/slide74.xml"/><Relationship Id="rId45" Type="http://schemas.openxmlformats.org/officeDocument/2006/relationships/slide" Target="slides/slide75.xml"/><Relationship Id="rId46" Type="http://schemas.openxmlformats.org/officeDocument/2006/relationships/slide" Target="slides/slide76.xml"/><Relationship Id="rId47" Type="http://schemas.openxmlformats.org/officeDocument/2006/relationships/slide" Target="slides/slide77.xml"/><Relationship Id="rId48" Type="http://schemas.openxmlformats.org/officeDocument/2006/relationships/slide" Target="slides/slide78.xml"/><Relationship Id="rId49" Type="http://schemas.openxmlformats.org/officeDocument/2006/relationships/slide" Target="slides/slide79.xml"/><Relationship Id="rId50" Type="http://schemas.openxmlformats.org/officeDocument/2006/relationships/slide" Target="slides/slide80.xml"/><Relationship Id="rId51" Type="http://schemas.openxmlformats.org/officeDocument/2006/relationships/slide" Target="slides/slide81.xml"/><Relationship Id="rId52" Type="http://schemas.openxmlformats.org/officeDocument/2006/relationships/slide" Target="slides/slide82.xml"/><Relationship Id="rId53" Type="http://schemas.openxmlformats.org/officeDocument/2006/relationships/slide" Target="slides/slide83.xml"/><Relationship Id="rId54" Type="http://schemas.openxmlformats.org/officeDocument/2006/relationships/slide" Target="slides/slide84.xml"/><Relationship Id="rId55" Type="http://schemas.openxmlformats.org/officeDocument/2006/relationships/slide" Target="slides/slide85.xml"/><Relationship Id="rId56" Type="http://schemas.openxmlformats.org/officeDocument/2006/relationships/slide" Target="slides/slide86.xml"/><Relationship Id="rId57" Type="http://schemas.openxmlformats.org/officeDocument/2006/relationships/slide" Target="slides/slide87.xml"/><Relationship Id="rId58" Type="http://schemas.openxmlformats.org/officeDocument/2006/relationships/slide" Target="slides/slide88.xml"/><Relationship Id="rId59" Type="http://schemas.openxmlformats.org/officeDocument/2006/relationships/slide" Target="slides/slide89.xml"/><Relationship Id="rId60" Type="http://schemas.openxmlformats.org/officeDocument/2006/relationships/slide" Target="slides/slide90.xml"/><Relationship Id="rId61" Type="http://schemas.openxmlformats.org/officeDocument/2006/relationships/slide" Target="slides/slide91.xml"/><Relationship Id="rId62" Type="http://schemas.openxmlformats.org/officeDocument/2006/relationships/slide" Target="slides/slide92.xml"/><Relationship Id="rId63" Type="http://schemas.openxmlformats.org/officeDocument/2006/relationships/notesMaster" Target="notesMasters/notesMaster1.xml"/><Relationship Id="rId64" Type="http://schemas.openxmlformats.org/officeDocument/2006/relationships/slide" Target="slides/slide23.xml"/><Relationship Id="rId65" Type="http://schemas.openxmlformats.org/officeDocument/2006/relationships/slide" Target="slides/slide22.xml"/><Relationship Id="rId66" Type="http://schemas.openxmlformats.org/officeDocument/2006/relationships/slide" Target="slides/slide21.xml"/><Relationship Id="rId67" Type="http://schemas.openxmlformats.org/officeDocument/2006/relationships/slide" Target="slides/slide20.xml"/><Relationship Id="rId68" Type="http://schemas.openxmlformats.org/officeDocument/2006/relationships/slide" Target="slides/slide19.xml"/><Relationship Id="rId69" Type="http://schemas.openxmlformats.org/officeDocument/2006/relationships/slide" Target="slides/slide18.xml"/><Relationship Id="rId70" Type="http://schemas.openxmlformats.org/officeDocument/2006/relationships/slide" Target="slides/slide43.xml"/><Relationship Id="rId71" Type="http://schemas.openxmlformats.org/officeDocument/2006/relationships/slide" Target="slides/slide44.xml"/><Relationship Id="rId72" Type="http://schemas.openxmlformats.org/officeDocument/2006/relationships/slide" Target="slides/slide45.xml"/><Relationship Id="rId73" Type="http://schemas.openxmlformats.org/officeDocument/2006/relationships/slide" Target="slides/slide46.xml"/><Relationship Id="rId74" Type="http://schemas.openxmlformats.org/officeDocument/2006/relationships/slide" Target="slides/slide47.xml"/><Relationship Id="rId75" Type="http://schemas.openxmlformats.org/officeDocument/2006/relationships/slide" Target="slides/slide15.xml"/><Relationship Id="rId76" Type="http://schemas.openxmlformats.org/officeDocument/2006/relationships/slide" Target="slides/slide16.xml"/><Relationship Id="rId77" Type="http://schemas.openxmlformats.org/officeDocument/2006/relationships/slide" Target="slides/slide17.xml"/><Relationship Id="rId78" Type="http://customschemas.google.com/relationships/presentationmetadata" Target="metadata"/><Relationship Id="rId79" Type="http://schemas.openxmlformats.org/officeDocument/2006/relationships/commentAuthors" Target="commentAuthors.xml"/><Relationship Id="rId80" Type="http://schemas.openxmlformats.org/officeDocument/2006/relationships/presProps" Target="presProps.xml"/><Relationship Id="rId81" Type="http://schemas.openxmlformats.org/officeDocument/2006/relationships/viewProps" Target="viewProps.xml"/><Relationship Id="rId82" Type="http://schemas.openxmlformats.org/officeDocument/2006/relationships/theme" Target="theme/theme1.xml"/><Relationship Id="rId83" Type="http://schemas.openxmlformats.org/officeDocument/2006/relationships/tableStyles" Target="tableStyles.xml"/><Relationship Id="rId84" Type="http://schemas.openxmlformats.org/officeDocument/2006/relationships/slide" Target="slides/slide24.xml"/><Relationship Id="rId85" Type="http://schemas.openxmlformats.org/officeDocument/2006/relationships/slide" Target="slides/slide25.xml"/><Relationship Id="rId86" Type="http://schemas.openxmlformats.org/officeDocument/2006/relationships/slide" Target="slides/slide4.xml"/><Relationship Id="rId87" Type="http://schemas.openxmlformats.org/officeDocument/2006/relationships/slide" Target="slides/slide5.xml"/><Relationship Id="rId88" Type="http://schemas.openxmlformats.org/officeDocument/2006/relationships/slide" Target="slides/slide6.xml"/><Relationship Id="rId89" Type="http://schemas.openxmlformats.org/officeDocument/2006/relationships/slide" Target="slides/slide7.xml"/><Relationship Id="rId90" Type="http://schemas.openxmlformats.org/officeDocument/2006/relationships/slide" Target="slides/slide8.xml"/><Relationship Id="rId91" Type="http://schemas.openxmlformats.org/officeDocument/2006/relationships/slide" Target="slides/slide10.xml"/><Relationship Id="rId92" Type="http://schemas.openxmlformats.org/officeDocument/2006/relationships/slide" Target="slides/slide11.xml"/><Relationship Id="rId93" Type="http://schemas.openxmlformats.org/officeDocument/2006/relationships/slide" Target="slides/slide12.xml"/><Relationship Id="rId94" Type="http://schemas.openxmlformats.org/officeDocument/2006/relationships/slide" Target="slides/slide13.xml"/><Relationship Id="rId95" Type="http://schemas.openxmlformats.org/officeDocument/2006/relationships/slide" Target="slides/slide14.xml"/><Relationship Id="rId96" Type="http://schemas.openxmlformats.org/officeDocument/2006/relationships/slide" Target="slides/slide26.xml"/><Relationship Id="rId97" Type="http://schemas.openxmlformats.org/officeDocument/2006/relationships/slide" Target="slides/slide27.xml"/><Relationship Id="rId98" Type="http://schemas.openxmlformats.org/officeDocument/2006/relationships/slide" Target="slides/slide30.xml"/><Relationship Id="rId99" Type="http://schemas.openxmlformats.org/officeDocument/2006/relationships/slide" Target="slides/slide31.xml"/><Relationship Id="rId100" Type="http://schemas.openxmlformats.org/officeDocument/2006/relationships/slide" Target="slides/slide32.xml"/><Relationship Id="rId101" Type="http://schemas.openxmlformats.org/officeDocument/2006/relationships/slide" Target="slides/slide28.xml"/><Relationship Id="rId102" Type="http://schemas.openxmlformats.org/officeDocument/2006/relationships/slide" Target="slides/slide29.xml"/><Relationship Id="rId103" Type="http://schemas.openxmlformats.org/officeDocument/2006/relationships/slide" Target="slides/slide93.xml"/><Relationship Id="rId104" Type="http://schemas.openxmlformats.org/officeDocument/2006/relationships/slide" Target="slides/slide94.xml"/><Relationship Id="rId105" Type="http://schemas.openxmlformats.org/officeDocument/2006/relationships/slide" Target="slides/slide95.xml"/><Relationship Id="rId106" Type="http://schemas.openxmlformats.org/officeDocument/2006/relationships/slide" Target="slides/slide96.xml"/><Relationship Id="rId107" Type="http://schemas.openxmlformats.org/officeDocument/2006/relationships/slide" Target="slides/slide9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587" y="0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/>
          <a:p>
            <a:pPr algn="r"/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‹#›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“Membrane characterization can be formulated as a dynamic inverse problem, where we estimate transport parameters from time-resolved experimental data.”</a:t>
            </a:r>
          </a:p>
          <a:p>
            <a:r>
              <a:rPr lang="en-US" dirty="0"/>
              <a:t>“However, these parameters are often poorly identifiable due to strong correlations, which leads to an ill-conditioned inference problem.”</a:t>
            </a:r>
          </a:p>
          <a:p>
            <a:r>
              <a:rPr lang="en-US" dirty="0"/>
              <a:t>“To address this, we adopt a closed-loop uncertainty quantification framework.”</a:t>
            </a:r>
          </a:p>
          <a:p>
            <a:r>
              <a:rPr lang="en-US" dirty="0"/>
              <a:t>👉 (point to diagram)</a:t>
            </a:r>
          </a:p>
          <a:p>
            <a:r>
              <a:rPr lang="en-US" dirty="0"/>
              <a:t>“We estimate parameters using weighted least squares, quantify uncertainty through sensitivities and the Fisher Information Matrix, and then design new experiments to improve identifiability.”</a:t>
            </a:r>
          </a:p>
          <a:p>
            <a:r>
              <a:rPr lang="en-US" dirty="0"/>
              <a:t>“This creates a sequential learning loop.”</a:t>
            </a:r>
          </a:p>
          <a:p>
            <a:r>
              <a:rPr lang="en-US" b="1" dirty="0"/>
              <a:t>Final line (slow down):</a:t>
            </a:r>
            <a:endParaRPr lang="en-US" dirty="0"/>
          </a:p>
          <a:p>
            <a:r>
              <a:rPr lang="en-US" dirty="0"/>
              <a:t>“Our goal is to reshape the information geometry of the problem so that the parameters become identifiable.”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7022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596BE-E720-A454-D678-EBB7233C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C24DEB-52FF-A1D4-EB34-66DB9E80FD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A91A30-CF43-CD42-BCEA-726C7D54CD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等线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4CBA5-D906-0D08-8030-5F59989679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17C7DD-FA44-4AAC-AD64-73983556F2E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8046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988DF-A4CF-C495-3E37-382D93E1D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54291F-C3DB-499D-2B49-645F321B9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7EF673-93EE-208F-3027-80FF1DA0D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等线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42D76-F0F7-6BCF-D32A-327874FB4E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17C7DD-FA44-4AAC-AD64-73983556F2E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0127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1" name="Google Shape;891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等线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892" name="Google Shape;892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3817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1" name="Google Shape;891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model parameters, hydraulic permeability </a:t>
            </a:r>
            <a:r>
              <a:rPr lang="en-US" sz="1800" dirty="0" err="1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Lp</a:t>
            </a:r>
            <a:r>
              <a:rPr lang="en-US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, solute permeability coefficient B that correspond to the membrane transport properties,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and reflection coefficient sigma that depends on the thermodynamics of the membrane-solution interface. </a:t>
            </a:r>
          </a:p>
        </p:txBody>
      </p:sp>
      <p:sp>
        <p:nvSpPr>
          <p:cNvPr id="892" name="Google Shape;892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1" name="Google Shape;871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2" name="Google Shape;872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79843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5D2AD-EF1C-3132-3127-1573B17BC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87E206-88FA-6E1D-187D-037D33AE97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2855EA-0AA7-4AD6-A8D2-2F3A5F94C7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>
              <a:lnSpc>
                <a:spcPct val="107000"/>
              </a:lnSpc>
              <a:spcAft>
                <a:spcPts val="846"/>
              </a:spcAft>
            </a:pPr>
            <a:endParaRPr lang="en-US" dirty="0"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39BC1-6B0C-3EE4-3394-F10324828B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 defTabSz="966612"/>
            <a:fld id="{00000000-1234-1234-1234-123412341234}" type="slidenum">
              <a:rPr lang="en-US" sz="1300">
                <a:latin typeface="Calibri"/>
                <a:ea typeface="Calibri"/>
                <a:cs typeface="Calibri"/>
                <a:sym typeface="Calibri"/>
              </a:rPr>
              <a:pPr algn="r" defTabSz="966612"/>
              <a:t>59</a:t>
            </a:fld>
            <a:endParaRPr lang="en-US" sz="130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936959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2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3"/>
          <p:cNvSpPr txBox="1"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3"/>
          <p:cNvSpPr txBox="1">
            <a:spLocks noGrp="1"/>
          </p:cNvSpPr>
          <p:nvPr>
            <p:ph type="body" idx="1"/>
          </p:nvPr>
        </p:nvSpPr>
        <p:spPr>
          <a:xfrm>
            <a:off x="128584" y="1020555"/>
            <a:ext cx="11980590" cy="5251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5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3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6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5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5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5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7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8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5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1" name="Google Shape;61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9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6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6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0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1"/>
          <p:cNvSpPr txBox="1"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61"/>
          <p:cNvSpPr txBox="1">
            <a:spLocks noGrp="1"/>
          </p:cNvSpPr>
          <p:nvPr>
            <p:ph type="body" idx="1"/>
          </p:nvPr>
        </p:nvSpPr>
        <p:spPr>
          <a:xfrm rot="5400000">
            <a:off x="3493362" y="-2344223"/>
            <a:ext cx="5251035" cy="11980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" name="Google Shape;75;p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1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6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Google Shape;81;p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2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5"/>
          <p:cNvSpPr txBox="1"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5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7253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1756F3D0-7E86-AC43-9E81-92FE9637AE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211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4975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686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6680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863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477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2803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2357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563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6495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24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1756F3D0-7E86-AC43-9E81-92FE9637AE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8177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2B1E1D2-72A9-9FD3-67EA-EE0005BB6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63D6328E-A9E1-FD12-C995-CF3D2729D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2565"/>
            <a:ext cx="10972801" cy="5492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6B2E5501-FFAD-A888-C3A6-6DDCDBEAB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02247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3224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82231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79448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8127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75419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18031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51223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5004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527780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1971646"/>
      </p:ext>
    </p:extLst>
  </p:cSld>
  <p:clrMapOvr>
    <a:masterClrMapping/>
  </p:clrMapOvr>
  <p:transition spd="med" advClick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0640329"/>
      </p:ext>
    </p:extLst>
  </p:cSld>
  <p:clrMapOvr>
    <a:masterClrMapping/>
  </p:clrMapOvr>
  <p:transition spd="med" advClick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4342455"/>
      </p:ext>
    </p:extLst>
  </p:cSld>
  <p:clrMapOvr>
    <a:masterClrMapping/>
  </p:clrMapOvr>
  <p:transition spd="med" advClick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35491"/>
      </p:ext>
    </p:extLst>
  </p:cSld>
  <p:clrMapOvr>
    <a:masterClrMapping/>
  </p:clrMapOvr>
  <p:transition spd="med" advClick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906766"/>
      </p:ext>
    </p:extLst>
  </p:cSld>
  <p:clrMapOvr>
    <a:masterClrMapping/>
  </p:clrMapOvr>
  <p:transition spd="med" advClick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0157082"/>
      </p:ext>
    </p:extLst>
  </p:cSld>
  <p:clrMapOvr>
    <a:masterClrMapping/>
  </p:clrMapOvr>
  <p:transition spd="med" advClick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475974"/>
      </p:ext>
    </p:extLst>
  </p:cSld>
  <p:clrMapOvr>
    <a:masterClrMapping/>
  </p:clrMapOvr>
  <p:transition spd="med" advClick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2034264"/>
      </p:ext>
    </p:extLst>
  </p:cSld>
  <p:clrMapOvr>
    <a:masterClrMapping/>
  </p:clrMapOvr>
  <p:transition spd="med" advClick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7209242"/>
      </p:ext>
    </p:extLst>
  </p:cSld>
  <p:clrMapOvr>
    <a:masterClrMapping/>
  </p:clrMapOvr>
  <p:transition spd="med" advClick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2447285"/>
      </p:ext>
    </p:extLst>
  </p:cSld>
  <p:clrMapOvr>
    <a:masterClrMapping/>
  </p:clrMapOvr>
  <p:transition spd="med" advClick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3679103"/>
      </p:ext>
    </p:extLst>
  </p:cSld>
  <p:clrMapOvr>
    <a:masterClrMapping/>
  </p:clrMapOvr>
  <p:transition spd="med" advClick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8687771"/>
      </p:ext>
    </p:extLst>
  </p:cSld>
  <p:clrMapOvr>
    <a:masterClrMapping/>
  </p:clrMapOvr>
  <p:transition spd="med" advClick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4360296"/>
      </p:ext>
    </p:extLst>
  </p:cSld>
  <p:clrMapOvr>
    <a:masterClrMapping/>
  </p:clrMapOvr>
  <p:transition spd="med" advClick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250546"/>
      </p:ext>
    </p:extLst>
  </p:cSld>
  <p:clrMapOvr>
    <a:masterClrMapping/>
  </p:clrMapOvr>
  <p:transition spd="med" advClick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0434315"/>
      </p:ext>
    </p:extLst>
  </p:cSld>
  <p:clrMapOvr>
    <a:masterClrMapping/>
  </p:clrMapOvr>
  <p:transition spd="med" advClick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143833"/>
      </p:ext>
    </p:extLst>
  </p:cSld>
  <p:clrMapOvr>
    <a:masterClrMapping/>
  </p:clrMapOvr>
  <p:transition spd="med" advClick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003342"/>
      </p:ext>
    </p:extLst>
  </p:cSld>
  <p:clrMapOvr>
    <a:masterClrMapping/>
  </p:clrMapOvr>
  <p:transition spd="med" advClick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3215813"/>
      </p:ext>
    </p:extLst>
  </p:cSld>
  <p:clrMapOvr>
    <a:masterClrMapping/>
  </p:clrMapOvr>
  <p:transition spd="med" advClick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13" Type="http://schemas.openxmlformats.org/officeDocument/2006/relationships/image" Target="../media/image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39.xml"/><Relationship Id="rId19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41.xml"/><Relationship Id="rId21" Type="http://schemas.openxmlformats.org/officeDocument/2006/relationships/slideLayout" Target="../slideLayouts/slideLayout42.xml"/><Relationship Id="rId22" Type="http://schemas.openxmlformats.org/officeDocument/2006/relationships/slideLayout" Target="../slideLayouts/slideLayout43.xml"/><Relationship Id="rId23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45.xml"/><Relationship Id="rId25" Type="http://schemas.openxmlformats.org/officeDocument/2006/relationships/slideLayout" Target="../slideLayouts/slideLayout46.xml"/><Relationship Id="rId26" Type="http://schemas.openxmlformats.org/officeDocument/2006/relationships/slideLayout" Target="../slideLayouts/slideLayout47.xml"/><Relationship Id="rId27" Type="http://schemas.openxmlformats.org/officeDocument/2006/relationships/slideLayout" Target="../slideLayouts/slideLayout48.xml"/><Relationship Id="rId28" Type="http://schemas.openxmlformats.org/officeDocument/2006/relationships/slideLayout" Target="../slideLayouts/slideLayout49.xml"/><Relationship Id="rId29" Type="http://schemas.openxmlformats.org/officeDocument/2006/relationships/slideLayout" Target="../slideLayouts/slideLayout50.xml"/><Relationship Id="rId30" Type="http://schemas.openxmlformats.org/officeDocument/2006/relationships/theme" Target="../theme/theme3.xml"/><Relationship Id="rId31" Type="http://schemas.openxmlformats.org/officeDocument/2006/relationships/image" Target="../media/image3.tiff"/><Relationship Id="rId3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1"/>
          <p:cNvSpPr txBox="1"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1"/>
          <p:cNvSpPr txBox="1">
            <a:spLocks noGrp="1"/>
          </p:cNvSpPr>
          <p:nvPr>
            <p:ph type="body" idx="1"/>
          </p:nvPr>
        </p:nvSpPr>
        <p:spPr>
          <a:xfrm>
            <a:off x="128584" y="1020555"/>
            <a:ext cx="11980590" cy="5251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51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5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28584" y="6507526"/>
            <a:ext cx="1209476" cy="28221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719" r:id="rId10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584" y="1020555"/>
            <a:ext cx="11980590" cy="52510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tx1"/>
                </a:solidFill>
              </a:defRPr>
            </a:lvl1pPr>
          </a:lstStyle>
          <a:p>
            <a:fld id="{1756F3D0-7E86-AC43-9E81-92FE9637AEC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197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584" y="1020555"/>
            <a:ext cx="11980590" cy="52510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tx1"/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1F2810-152E-88D5-CED5-86AAB06B08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1"/>
          <a:srcRect l="96653" r="770"/>
          <a:stretch/>
        </p:blipFill>
        <p:spPr>
          <a:xfrm>
            <a:off x="1559942" y="6169025"/>
            <a:ext cx="10632057" cy="688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0352DB-239B-316A-8F82-E495F1474D35}"/>
              </a:ext>
            </a:extLst>
          </p:cNvPr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-3" y="6169024"/>
            <a:ext cx="1559943" cy="6889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890BDC-BB55-DEB4-8AEA-3B808BD30195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941" y="6398564"/>
            <a:ext cx="1209476" cy="28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684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  <p:sldLayoutId id="2147483712" r:id="rId26"/>
    <p:sldLayoutId id="2147483713" r:id="rId27"/>
    <p:sldLayoutId id="2147483714" r:id="rId28"/>
    <p:sldLayoutId id="2147483715" r:id="rId2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49.png"/><Relationship Id="rId7" Type="http://schemas.openxmlformats.org/officeDocument/2006/relationships/image" Target="../media/image68.png"/><Relationship Id="rId8" Type="http://schemas.openxmlformats.org/officeDocument/2006/relationships/image" Target="../media/image69.png"/><Relationship Id="rId9" Type="http://schemas.openxmlformats.org/officeDocument/2006/relationships/image" Target="../media/image7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7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Relationship Id="rId3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3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0.png"/><Relationship Id="rId3" Type="http://schemas.openxmlformats.org/officeDocument/2006/relationships/image" Target="../media/image100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tmp"/><Relationship Id="rId12" Type="http://schemas.openxmlformats.org/officeDocument/2006/relationships/image" Target="../media/image27.png"/><Relationship Id="rId13" Type="http://schemas.openxmlformats.org/officeDocument/2006/relationships/image" Target="../media/image28.jpeg"/><Relationship Id="rId14" Type="http://schemas.openxmlformats.org/officeDocument/2006/relationships/image" Target="../media/image29.jpeg"/><Relationship Id="rId15" Type="http://schemas.openxmlformats.org/officeDocument/2006/relationships/image" Target="../media/image30.jpeg"/><Relationship Id="rId16" Type="http://schemas.openxmlformats.org/officeDocument/2006/relationships/image" Target="../media/image31.jpe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tmp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Relationship Id="rId11" Type="http://schemas.openxmlformats.org/officeDocument/2006/relationships/image" Target="../media/image85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0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41.png"/><Relationship Id="rId7" Type="http://schemas.openxmlformats.org/officeDocument/2006/relationships/image" Target="../media/image37.png"/><Relationship Id="rId8" Type="http://schemas.openxmlformats.org/officeDocument/2006/relationships/image" Target="../media/image36.tmp"/><Relationship Id="rId9" Type="http://schemas.openxmlformats.org/officeDocument/2006/relationships/image" Target="../media/image88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5.png"/><Relationship Id="rId4" Type="http://schemas.openxmlformats.org/officeDocument/2006/relationships/image" Target="../media/image420.png"/><Relationship Id="rId5" Type="http://schemas.openxmlformats.org/officeDocument/2006/relationships/image" Target="../media/image430.png"/><Relationship Id="rId6" Type="http://schemas.openxmlformats.org/officeDocument/2006/relationships/image" Target="../media/image440.png"/><Relationship Id="rId7" Type="http://schemas.openxmlformats.org/officeDocument/2006/relationships/image" Target="../media/image400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4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B2F3F04-FC14-EA67-DF2A-2DC32BA4EA8A}"/>
              </a:ext>
            </a:extLst>
          </p:cNvPr>
          <p:cNvSpPr/>
          <p:nvPr/>
        </p:nvSpPr>
        <p:spPr>
          <a:xfrm>
            <a:off x="-4" y="2280092"/>
            <a:ext cx="12192004" cy="2342493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lumMod val="0"/>
                  <a:lumOff val="100000"/>
                  <a:alpha val="51049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Google Shape;87;p1"/>
          <p:cNvSpPr txBox="1">
            <a:spLocks noGrp="1"/>
          </p:cNvSpPr>
          <p:nvPr>
            <p:ph type="ctrTitle"/>
          </p:nvPr>
        </p:nvSpPr>
        <p:spPr>
          <a:xfrm>
            <a:off x="-4" y="73155"/>
            <a:ext cx="12192000" cy="1184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SzPct val="100000"/>
            </a:pPr>
            <a:r>
              <a:rPr lang="en-US" sz="4400" b="0" kern="1200" dirty="0">
                <a:solidFill>
                  <a:srgbClr val="0022F5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n-cs"/>
              </a:rPr>
              <a:t>DATA-3: Single Salt Analysis</a:t>
            </a:r>
            <a:endParaRPr lang="en-US" sz="4000" dirty="0">
              <a:solidFill>
                <a:srgbClr val="0022F5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2275AFC-6E58-4F7D-85DA-86F8E363062F}"/>
              </a:ext>
            </a:extLst>
          </p:cNvPr>
          <p:cNvSpPr txBox="1">
            <a:spLocks/>
          </p:cNvSpPr>
          <p:nvPr/>
        </p:nvSpPr>
        <p:spPr>
          <a:xfrm>
            <a:off x="1900320" y="4731704"/>
            <a:ext cx="8391356" cy="22405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latin typeface="Baskerville" panose="02020502070401020303" pitchFamily="18" charset="0"/>
                <a:ea typeface="Baskerville" panose="02020502070401020303" pitchFamily="18" charset="0"/>
              </a:rPr>
              <a:t>Keshav Kasturi Rangan</a:t>
            </a:r>
          </a:p>
          <a:p>
            <a:pPr marL="0" indent="0" algn="ctr">
              <a:buNone/>
            </a:pPr>
            <a:endParaRPr lang="en-US" sz="18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marL="0" indent="0" algn="ctr">
              <a:buNone/>
            </a:pPr>
            <a:r>
              <a:rPr lang="en-US" sz="2400" dirty="0">
                <a:latin typeface="Baskerville" panose="02020502070401020303" pitchFamily="18" charset="0"/>
                <a:ea typeface="Baskerville" panose="02020502070401020303" pitchFamily="18" charset="0"/>
                <a:cs typeface="CMU Sans Serif Medium" charset="0"/>
              </a:rPr>
              <a:t>Group Meeting</a:t>
            </a:r>
            <a:br>
              <a:rPr lang="en-US" sz="2400" dirty="0">
                <a:latin typeface="Baskerville" panose="02020502070401020303" pitchFamily="18" charset="0"/>
                <a:ea typeface="Baskerville" panose="02020502070401020303" pitchFamily="18" charset="0"/>
                <a:cs typeface="CMU Sans Serif Medium" charset="0"/>
              </a:rPr>
            </a:br>
            <a:endParaRPr lang="en-US" sz="2400" dirty="0">
              <a:latin typeface="Baskerville" panose="02020502070401020303" pitchFamily="18" charset="0"/>
              <a:ea typeface="Baskerville" panose="02020502070401020303" pitchFamily="18" charset="0"/>
              <a:cs typeface="CMU Sans Serif Medium" charset="0"/>
            </a:endParaRPr>
          </a:p>
          <a:p>
            <a:pPr marL="0" indent="0" algn="ctr">
              <a:buNone/>
            </a:pPr>
            <a:r>
              <a:rPr lang="en-US" sz="1800" dirty="0">
                <a:latin typeface="Baskerville" panose="02020502070401020303" pitchFamily="18" charset="0"/>
                <a:ea typeface="Baskerville" panose="02020502070401020303" pitchFamily="18" charset="0"/>
                <a:cs typeface="CMU Sans Serif Medium" charset="0"/>
              </a:rPr>
              <a:t>May 20, 2026</a:t>
            </a:r>
          </a:p>
        </p:txBody>
      </p:sp>
      <p:pic>
        <p:nvPicPr>
          <p:cNvPr id="12" name="Graphic 11" descr="Laptop outline">
            <a:extLst>
              <a:ext uri="{FF2B5EF4-FFF2-40B4-BE49-F238E27FC236}">
                <a16:creationId xmlns:a16="http://schemas.microsoft.com/office/drawing/2014/main" id="{AC631908-BEAB-4111-8A6D-E68D8DA18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67170" y="2084502"/>
            <a:ext cx="2688995" cy="2688995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860FEE7-11A4-8BB9-493C-DED9ADD8470B}"/>
              </a:ext>
            </a:extLst>
          </p:cNvPr>
          <p:cNvCxnSpPr/>
          <p:nvPr/>
        </p:nvCxnSpPr>
        <p:spPr>
          <a:xfrm>
            <a:off x="6338457" y="2798618"/>
            <a:ext cx="2431473" cy="0"/>
          </a:xfrm>
          <a:prstGeom prst="straightConnector1">
            <a:avLst/>
          </a:prstGeom>
          <a:ln w="76200">
            <a:solidFill>
              <a:schemeClr val="tx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3A60E30-1307-1333-A2EE-59F495F57048}"/>
              </a:ext>
            </a:extLst>
          </p:cNvPr>
          <p:cNvCxnSpPr>
            <a:cxnSpLocks/>
          </p:cNvCxnSpPr>
          <p:nvPr/>
        </p:nvCxnSpPr>
        <p:spPr>
          <a:xfrm flipH="1">
            <a:off x="6368811" y="4087091"/>
            <a:ext cx="2370764" cy="0"/>
          </a:xfrm>
          <a:prstGeom prst="straightConnector1">
            <a:avLst/>
          </a:prstGeom>
          <a:ln w="76200">
            <a:solidFill>
              <a:schemeClr val="tx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Google Shape;87;p1">
            <a:extLst>
              <a:ext uri="{FF2B5EF4-FFF2-40B4-BE49-F238E27FC236}">
                <a16:creationId xmlns:a16="http://schemas.microsoft.com/office/drawing/2014/main" id="{22397273-8049-FF5A-D6D2-2C34A9E2A28B}"/>
              </a:ext>
            </a:extLst>
          </p:cNvPr>
          <p:cNvSpPr txBox="1">
            <a:spLocks/>
          </p:cNvSpPr>
          <p:nvPr/>
        </p:nvSpPr>
        <p:spPr>
          <a:xfrm>
            <a:off x="5987715" y="3049824"/>
            <a:ext cx="3132955" cy="80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ct val="100000"/>
            </a:pPr>
            <a:r>
              <a:rPr lang="en-US" sz="2800" b="0" kern="1200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n-cs"/>
              </a:rPr>
              <a:t>Digital Model (Current Setup)</a:t>
            </a: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EE2D3EF-44CA-6A8C-8F8C-0F3F56207E2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4875" y="2281379"/>
            <a:ext cx="6082918" cy="23424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01 · CODE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How the workflow is organized — roots, trunk, branches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3611880" cy="4572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361188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36118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ROOTS — loaders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onsolas"/>
              </a:rPr>
              <a:t>loadmat(path)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DATA1 / DATA2  (.mat experiment files)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517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onsolas"/>
              </a:rPr>
              <a:t>loadxlsx(path, sheet=…)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718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DATA3 / NF270  (.xlsx campaign files)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2900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Both return the same data_stru dict shape:
data_config + data_raw[vial].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60520"/>
            <a:ext cx="32004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dirty="0" err="1">
                <a:solidFill>
                  <a:srgbClr val="1E293B"/>
                </a:solidFill>
                <a:latin typeface="Consolas"/>
              </a:rPr>
              <a:t>data_config</a:t>
            </a:r>
            <a:r>
              <a:rPr sz="900" b="0" i="0" dirty="0">
                <a:solidFill>
                  <a:srgbClr val="1E293B"/>
                </a:solidFill>
                <a:latin typeface="Consolas"/>
              </a:rPr>
              <a:t>:
  n, n_v0, </a:t>
            </a:r>
            <a:r>
              <a:rPr sz="900" b="0" i="0" dirty="0" err="1">
                <a:solidFill>
                  <a:srgbClr val="1E293B"/>
                </a:solidFill>
                <a:latin typeface="Consolas"/>
              </a:rPr>
              <a:t>n_extra</a:t>
            </a:r>
            <a:r>
              <a:rPr sz="900" b="0" i="0" dirty="0">
                <a:solidFill>
                  <a:srgbClr val="1E293B"/>
                </a:solidFill>
                <a:latin typeface="Consolas"/>
              </a:rPr>
              <a:t>, </a:t>
            </a:r>
            <a:r>
              <a:rPr sz="900" b="0" i="0" dirty="0" err="1">
                <a:solidFill>
                  <a:srgbClr val="1E293B"/>
                </a:solidFill>
                <a:latin typeface="Consolas"/>
              </a:rPr>
              <a:t>n_h</a:t>
            </a:r>
            <a:r>
              <a:rPr sz="900" b="0" i="0" dirty="0">
                <a:solidFill>
                  <a:srgbClr val="1E293B"/>
                </a:solidFill>
                <a:latin typeface="Consolas"/>
              </a:rPr>
              <a:t>, </a:t>
            </a:r>
            <a:r>
              <a:rPr sz="900" b="0" i="0" dirty="0" err="1">
                <a:solidFill>
                  <a:srgbClr val="1E293B"/>
                </a:solidFill>
                <a:latin typeface="Consolas"/>
              </a:rPr>
              <a:t>n_A</a:t>
            </a:r>
            <a:r>
              <a:rPr sz="900" b="0" i="0" dirty="0">
                <a:solidFill>
                  <a:srgbClr val="1E293B"/>
                </a:solidFill>
                <a:latin typeface="Consolas"/>
              </a:rPr>
              <a:t>
  M_F0, M_O, C_F0, C_D
  </a:t>
            </a:r>
            <a:r>
              <a:rPr sz="900" b="0" i="0" dirty="0" err="1">
                <a:solidFill>
                  <a:srgbClr val="1E293B"/>
                </a:solidFill>
                <a:latin typeface="Consolas"/>
              </a:rPr>
              <a:t>delP</a:t>
            </a:r>
            <a:r>
              <a:rPr sz="900" b="0" i="0" dirty="0">
                <a:solidFill>
                  <a:srgbClr val="1E293B"/>
                </a:solidFill>
                <a:latin typeface="Consolas"/>
              </a:rPr>
              <a:t>, Temp, Am, rho
  Lp0, B0, sigma0, theta0
</a:t>
            </a:r>
            <a:r>
              <a:rPr sz="900" b="0" i="0" dirty="0" err="1">
                <a:solidFill>
                  <a:srgbClr val="1E293B"/>
                </a:solidFill>
                <a:latin typeface="Consolas"/>
              </a:rPr>
              <a:t>data_raw</a:t>
            </a:r>
            <a:r>
              <a:rPr sz="900" b="0" i="0" dirty="0">
                <a:solidFill>
                  <a:srgbClr val="1E293B"/>
                </a:solidFill>
                <a:latin typeface="Consolas"/>
              </a:rPr>
              <a:t>[</a:t>
            </a:r>
            <a:r>
              <a:rPr sz="900" b="0" i="0" dirty="0" err="1">
                <a:solidFill>
                  <a:srgbClr val="1E293B"/>
                </a:solidFill>
                <a:latin typeface="Consolas"/>
              </a:rPr>
              <a:t>i</a:t>
            </a:r>
            <a:r>
              <a:rPr sz="900" b="0" i="0" dirty="0">
                <a:solidFill>
                  <a:srgbClr val="1E293B"/>
                </a:solidFill>
                <a:latin typeface="Consolas"/>
              </a:rPr>
              <a:t>]:
  time, mass, </a:t>
            </a:r>
            <a:r>
              <a:rPr sz="900" b="0" i="0" dirty="0" err="1">
                <a:solidFill>
                  <a:srgbClr val="1E293B"/>
                </a:solidFill>
                <a:latin typeface="Consolas"/>
              </a:rPr>
              <a:t>cF_exp</a:t>
            </a:r>
            <a:r>
              <a:rPr sz="900" b="0" i="0" dirty="0">
                <a:solidFill>
                  <a:srgbClr val="1E293B"/>
                </a:solidFill>
                <a:latin typeface="Consolas"/>
              </a:rPr>
              <a:t>, </a:t>
            </a:r>
            <a:r>
              <a:rPr sz="900" b="0" i="0" dirty="0" err="1">
                <a:solidFill>
                  <a:srgbClr val="1E293B"/>
                </a:solidFill>
                <a:latin typeface="Consolas"/>
              </a:rPr>
              <a:t>cV_avg</a:t>
            </a:r>
            <a:endParaRPr sz="900" b="0" i="0" dirty="0">
              <a:solidFill>
                <a:srgbClr val="1E293B"/>
              </a:solidFill>
              <a:latin typeface="Consola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251960" y="1417320"/>
            <a:ext cx="3703320" cy="4572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51960" y="1417320"/>
            <a:ext cx="370332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51960" y="1444752"/>
            <a:ext cx="37033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TRUNK —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19202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model_construct_inter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2402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Pyomo IDAES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6060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solve_model(...)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9260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ParmEst + multistart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2918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solve_mass_balance_only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6118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σ=0 closed-form (litmus)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977639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calc_FIM(...)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2976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Fisher-information uncertainty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6634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compute_doe_metrics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9834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Pyomo.DoE D/A/E-optimality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3492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design_next_experiment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6692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Model discrimination output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1417320"/>
            <a:ext cx="3611880" cy="4572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138160" y="1417320"/>
            <a:ext cx="3611880" cy="365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38160" y="1444752"/>
            <a:ext cx="36118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21295C"/>
                </a:solidFill>
                <a:latin typeface="Calibri"/>
              </a:rPr>
              <a:t>BRANCHES — outputs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19202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plot_sim_comparison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22402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mass + conc + (stirred-cell)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26060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render_*_parameters_table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29260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per-campaign param tables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32918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plot_contour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36118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FIM heatmap / σ-sensitivity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3977639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render_nf270_fit_v2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42976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NF270 saw-tooth + ICP overlay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6634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report_paper_coverage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49834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checklist vs published figs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53492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run_data3_time_series_plots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56692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DATA3 custom-file figures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All public API in refactored_ucb_library.py. conductivity_paper.py is the only sibling, frozen.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diagnosis + fix + open questions for collaborators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02 · HOW TO RUN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The runfile asks four questions, then dispatches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1005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91440" cy="10058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777240" cy="6400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5544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ROOT — pick a data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92024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Which campaign or file are you working from?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5544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Choices: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874519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1 DATA1   2 DATA2   3 DATA3 / NF270   4 custom file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14600"/>
            <a:ext cx="11247120" cy="1005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2514600"/>
            <a:ext cx="91440" cy="10058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2697480"/>
            <a:ext cx="777240" cy="6400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697480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65176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SUBSET — narrow within the root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01752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Within the chosen root, which sheets / files to run?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6517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Choices: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97180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DATA3: all 26 | single-salt 11 | one sheet | fast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611880"/>
            <a:ext cx="11247120" cy="1005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611880"/>
            <a:ext cx="91440" cy="10058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3794760"/>
            <a:ext cx="777240" cy="64008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3794760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7490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TRUNK — pick the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1480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Simulate, fit, multistart, FIM, DoE, or mass-litmus.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7490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Choices: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06908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0 manifest default   3 fit+multistart   4 + FIM   5 + DoE   6 mass-litmus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709160"/>
            <a:ext cx="11247120" cy="1005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4709160"/>
            <a:ext cx="91440" cy="10058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" y="4892040"/>
            <a:ext cx="777240" cy="6400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4892040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48463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BRANCHES — choose outputs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521208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Which plots / tables to produce.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846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Choices: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16636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m mass   c conc   p params   f FIM heatmap   d DoE   all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806440"/>
            <a:ext cx="11247120" cy="5029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585216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→ DISPATCH:  materialize_all(...) for DATA1 / DATA2 / DATA3,  or  run_pipeline(...) for custom files.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diagnosis + fix + open questions for collaborators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03A · CURRENT FIT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03a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2C824A"/>
                </a:solidFill>
                <a:latin typeface="Calibri"/>
              </a:rPr>
              <a:t>Current fit results  ·  NaCl, diluting regime  ·  2 sheets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000" b="1">
                <a:solidFill>
                  <a:srgbClr val="065A82"/>
                </a:solidFill>
                <a:latin typeface="Calibri"/>
              </a:rPr>
              <a:t>NaCl dilution: model tracks data well (when σ stays in the interior)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MASS  (g vs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0" y="123444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1" i="0">
                <a:solidFill>
                  <a:srgbClr val="065A82"/>
                </a:solidFill>
                <a:latin typeface="Calibri"/>
              </a:rPr>
              <a:t>CONCENTRATION  (mM vs min)</a:t>
            </a:r>
          </a:p>
        </p:txBody>
      </p:sp>
      <p:pic>
        <p:nvPicPr>
          <p:cNvPr id="10" name="Picture 9" descr="mass-JAO_072224_NF270_MC3_SNaCl_NaCl_07.22.24_S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5455920" cy="1828800"/>
          </a:xfrm>
          <a:prstGeom prst="rect">
            <a:avLst/>
          </a:prstGeom>
        </p:spPr>
      </p:pic>
      <p:pic>
        <p:nvPicPr>
          <p:cNvPr id="11" name="Picture 10" descr="concentration-JAO_072224_NF270_MC3_SNaCl_NaCl_07.22.24_SNa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29000"/>
            <a:ext cx="5455920" cy="1828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5303520"/>
            <a:ext cx="5455920" cy="274320"/>
          </a:xfrm>
          <a:prstGeom prst="rect">
            <a:avLst/>
          </a:prstGeom>
          <a:solidFill>
            <a:srgbClr val="2C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303520"/>
            <a:ext cx="5455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MC3 SNaCl  ·  95 → 10 mM</a:t>
            </a:r>
          </a:p>
        </p:txBody>
      </p:sp>
      <p:pic>
        <p:nvPicPr>
          <p:cNvPr id="14" name="Picture 13" descr="mass-JAO_072324_NF270_MC5_NaClS2_NaCl_07.23.24_S2NaC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7440" y="1508760"/>
            <a:ext cx="5455920" cy="1828800"/>
          </a:xfrm>
          <a:prstGeom prst="rect">
            <a:avLst/>
          </a:prstGeom>
        </p:spPr>
      </p:pic>
      <p:pic>
        <p:nvPicPr>
          <p:cNvPr id="15" name="Picture 14" descr="concentration-JAO_072324_NF270_MC5_NaClS2_NaCl_07.23.24_S2NaC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440" y="3429000"/>
            <a:ext cx="5455920" cy="18288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187440" y="5303520"/>
            <a:ext cx="5455920" cy="274320"/>
          </a:xfrm>
          <a:prstGeom prst="rect">
            <a:avLst/>
          </a:prstGeom>
          <a:solidFill>
            <a:srgbClr val="2C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7440" y="5303520"/>
            <a:ext cx="5455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MC5 S2NaCl  ·  93 → 16 mM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852160"/>
            <a:ext cx="1127760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916168"/>
            <a:ext cx="109118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MC3 SNaCl is the only sheet in the whole campaign with interior σ (≈0.45). MC5 S2NaCl drifts to σ = 0 wall — same cF-over-weighting we'll diagnose later.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03B · CURRENT FIT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03b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CC3333"/>
                </a:solidFill>
                <a:latin typeface="Calibri"/>
              </a:rPr>
              <a:t>Current fit results  ·  NaCl, concentrating regime  ·  4 sheets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000" b="1">
                <a:solidFill>
                  <a:srgbClr val="065A82"/>
                </a:solidFill>
                <a:latin typeface="Calibri"/>
              </a:rPr>
              <a:t>NaCl concentration: characteristic mass shortfall on every sheet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MASS  (g vs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0" y="123444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1" i="0">
                <a:solidFill>
                  <a:srgbClr val="065A82"/>
                </a:solidFill>
                <a:latin typeface="Calibri"/>
              </a:rPr>
              <a:t>CONCENTRATION  (mM vs min)</a:t>
            </a:r>
          </a:p>
        </p:txBody>
      </p:sp>
      <p:pic>
        <p:nvPicPr>
          <p:cNvPr id="10" name="Picture 9" descr="mass-JAO_050724_NF270_MC2_NaCl_NaCl_05.07.24_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2636520" cy="1828800"/>
          </a:xfrm>
          <a:prstGeom prst="rect">
            <a:avLst/>
          </a:prstGeom>
        </p:spPr>
      </p:pic>
      <p:pic>
        <p:nvPicPr>
          <p:cNvPr id="11" name="Picture 10" descr="concentration-JAO_050724_NF270_MC2_NaCl_NaCl_05.07.24_Na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29000"/>
            <a:ext cx="2636520" cy="1828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5303520"/>
            <a:ext cx="2636520" cy="27432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303520"/>
            <a:ext cx="26365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MC2 NaCl</a:t>
            </a:r>
          </a:p>
        </p:txBody>
      </p:sp>
      <p:pic>
        <p:nvPicPr>
          <p:cNvPr id="14" name="Picture 13" descr="mass-LL_071124_NF270_MC4_S_NaCl_07.11.24_SNaC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8040" y="1508760"/>
            <a:ext cx="2636520" cy="1828800"/>
          </a:xfrm>
          <a:prstGeom prst="rect">
            <a:avLst/>
          </a:prstGeom>
        </p:spPr>
      </p:pic>
      <p:pic>
        <p:nvPicPr>
          <p:cNvPr id="15" name="Picture 14" descr="concentration-LL_071124_NF270_MC4_S_NaCl_07.11.24_SNaC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8040" y="3429000"/>
            <a:ext cx="2636520" cy="18288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3368040" y="5303520"/>
            <a:ext cx="2636520" cy="27432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68040" y="5303520"/>
            <a:ext cx="26365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MC4 SNaCl</a:t>
            </a:r>
          </a:p>
        </p:txBody>
      </p:sp>
      <p:pic>
        <p:nvPicPr>
          <p:cNvPr id="18" name="Picture 17" descr="mass-JAO_072324_NF270_MC5_NaCl_NaCl_07.23.24_NaC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7440" y="1508760"/>
            <a:ext cx="2636520" cy="1828800"/>
          </a:xfrm>
          <a:prstGeom prst="rect">
            <a:avLst/>
          </a:prstGeom>
        </p:spPr>
      </p:pic>
      <p:pic>
        <p:nvPicPr>
          <p:cNvPr id="19" name="Picture 18" descr="concentration-JAO_072324_NF270_MC5_NaCl_NaCl_07.23.24_NaC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7440" y="3429000"/>
            <a:ext cx="2636520" cy="18288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187440" y="5303520"/>
            <a:ext cx="2636520" cy="27432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7440" y="5303520"/>
            <a:ext cx="26365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MC5 NaCl</a:t>
            </a:r>
          </a:p>
        </p:txBody>
      </p:sp>
      <p:pic>
        <p:nvPicPr>
          <p:cNvPr id="22" name="Picture 21" descr="mass-JAO_072324_NF270_MC5_SNaCl_NaCl_07.23.24_SNaC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6840" y="1508760"/>
            <a:ext cx="2636520" cy="1828800"/>
          </a:xfrm>
          <a:prstGeom prst="rect">
            <a:avLst/>
          </a:prstGeom>
        </p:spPr>
      </p:pic>
      <p:pic>
        <p:nvPicPr>
          <p:cNvPr id="23" name="Picture 22" descr="concentration-JAO_072324_NF270_MC5_SNaCl_NaCl_07.23.24_SNaC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3429000"/>
            <a:ext cx="2636520" cy="18288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9006840" y="5303520"/>
            <a:ext cx="2636520" cy="27432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5303520"/>
            <a:ext cx="26365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MC5 SNaCl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852160"/>
            <a:ext cx="1127760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916168"/>
            <a:ext cx="109118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Mass predictions plateau below the per-vial cap on every concentrating sheet. σ pins at the wall (1.0 or 0.0) on all four — same pathology, different direction.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03C · CURRENT FIT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03c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6A3399"/>
                </a:solidFill>
                <a:latin typeface="Calibri"/>
              </a:rPr>
              <a:t>Current fit results  ·  CaCl₂  ·  divalent  ·  3 sheets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000" b="1">
                <a:solidFill>
                  <a:srgbClr val="065A82"/>
                </a:solidFill>
                <a:latin typeface="Calibri"/>
              </a:rPr>
              <a:t>CaCl₂ (divalent): osmotic over-correction amplified by ni =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MASS  (g vs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0" y="123444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1" i="0">
                <a:solidFill>
                  <a:srgbClr val="065A82"/>
                </a:solidFill>
                <a:latin typeface="Calibri"/>
              </a:rPr>
              <a:t>CONCENTRATION  (mM vs min)</a:t>
            </a:r>
          </a:p>
        </p:txBody>
      </p:sp>
      <p:pic>
        <p:nvPicPr>
          <p:cNvPr id="10" name="Picture 9" descr="mass-JAO_050724_NF270_MC2_CaCl2_CaCl2_05.07.24_CaC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3576320" cy="1828800"/>
          </a:xfrm>
          <a:prstGeom prst="rect">
            <a:avLst/>
          </a:prstGeom>
        </p:spPr>
      </p:pic>
      <p:pic>
        <p:nvPicPr>
          <p:cNvPr id="11" name="Picture 10" descr="concentration-JAO_050724_NF270_MC2_CaCl2_CaCl2_05.07.24_CaC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29000"/>
            <a:ext cx="3576320" cy="1828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5303520"/>
            <a:ext cx="3576320" cy="274320"/>
          </a:xfrm>
          <a:prstGeom prst="rect">
            <a:avLst/>
          </a:prstGeom>
          <a:solidFill>
            <a:srgbClr val="6A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303520"/>
            <a:ext cx="35763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MC2 CaCl₂</a:t>
            </a:r>
          </a:p>
        </p:txBody>
      </p:sp>
      <p:pic>
        <p:nvPicPr>
          <p:cNvPr id="14" name="Picture 13" descr="mass-JAO_071124_NF270_MC3_SCaCl2_CaCl2_07.11.24_SCaCl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7840" y="1508760"/>
            <a:ext cx="3576320" cy="1828800"/>
          </a:xfrm>
          <a:prstGeom prst="rect">
            <a:avLst/>
          </a:prstGeom>
        </p:spPr>
      </p:pic>
      <p:pic>
        <p:nvPicPr>
          <p:cNvPr id="15" name="Picture 14" descr="concentration-JAO_071124_NF270_MC3_SCaCl2_CaCl2_07.11.24_SCaCl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7840" y="3429000"/>
            <a:ext cx="3576320" cy="18288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307840" y="5303520"/>
            <a:ext cx="3576320" cy="274320"/>
          </a:xfrm>
          <a:prstGeom prst="rect">
            <a:avLst/>
          </a:prstGeom>
          <a:solidFill>
            <a:srgbClr val="6A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07840" y="5303520"/>
            <a:ext cx="35763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MC3 SCaCl₂</a:t>
            </a:r>
          </a:p>
        </p:txBody>
      </p:sp>
      <p:pic>
        <p:nvPicPr>
          <p:cNvPr id="18" name="Picture 17" descr="mass-JAO_071224_NF270_MC3_S2CaCl2_CaCl2_07.12.24_S2CaCl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7040" y="1508760"/>
            <a:ext cx="3576320" cy="1828800"/>
          </a:xfrm>
          <a:prstGeom prst="rect">
            <a:avLst/>
          </a:prstGeom>
        </p:spPr>
      </p:pic>
      <p:pic>
        <p:nvPicPr>
          <p:cNvPr id="19" name="Picture 18" descr="concentration-JAO_071224_NF270_MC3_S2CaCl2_CaCl2_07.12.24_S2CaCl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7040" y="3429000"/>
            <a:ext cx="3576320" cy="18288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067040" y="5303520"/>
            <a:ext cx="3576320" cy="274320"/>
          </a:xfrm>
          <a:prstGeom prst="rect">
            <a:avLst/>
          </a:prstGeom>
          <a:solidFill>
            <a:srgbClr val="6A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67040" y="5303520"/>
            <a:ext cx="35763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MC3 S2CaCl₂  ·  worst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852160"/>
            <a:ext cx="1127760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916168"/>
            <a:ext cx="109118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Mass shortfall is larger than NaCl C-regime because per-mM osmotic contribution is 1.5× higher. MC3 S2CaCl₂ is worst case: σ AND B at their bounds simultaneously.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03D · CURRENT FIT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03d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CC3333"/>
                </a:solidFill>
                <a:latin typeface="Calibri"/>
              </a:rPr>
              <a:t>Current fit results  ·  LaCl₃  ·  trivalent  ·  2 sheets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000" b="1">
                <a:solidFill>
                  <a:srgbClr val="065A82"/>
                </a:solidFill>
                <a:latin typeface="Calibri"/>
              </a:rPr>
              <a:t>LaCl₃ (trivalent): worst mass shortfall and Lp channel disagreement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MASS  (g vs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0" y="123444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1" i="0">
                <a:solidFill>
                  <a:srgbClr val="065A82"/>
                </a:solidFill>
                <a:latin typeface="Calibri"/>
              </a:rPr>
              <a:t>CONCENTRATION  (mM vs min)</a:t>
            </a:r>
          </a:p>
        </p:txBody>
      </p:sp>
      <p:pic>
        <p:nvPicPr>
          <p:cNvPr id="10" name="Picture 9" descr="mass-JAO_052124_NF270_MC2_LaCl3_LaCl3_05.21.24_LaCl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5455920" cy="1828800"/>
          </a:xfrm>
          <a:prstGeom prst="rect">
            <a:avLst/>
          </a:prstGeom>
        </p:spPr>
      </p:pic>
      <p:pic>
        <p:nvPicPr>
          <p:cNvPr id="11" name="Picture 10" descr="concentration-JAO_052124_NF270_MC2_LaCl3_LaCl3_05.21.24_LaCl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29000"/>
            <a:ext cx="5455920" cy="1828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5303520"/>
            <a:ext cx="5455920" cy="27432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303520"/>
            <a:ext cx="5455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MC2 LaCl₃</a:t>
            </a:r>
          </a:p>
        </p:txBody>
      </p:sp>
      <p:pic>
        <p:nvPicPr>
          <p:cNvPr id="14" name="Picture 13" descr="mass-LL_071124_NF270_MC_4_LaCl3_07.11.24_SLaCl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7440" y="1508760"/>
            <a:ext cx="5455920" cy="1828800"/>
          </a:xfrm>
          <a:prstGeom prst="rect">
            <a:avLst/>
          </a:prstGeom>
        </p:spPr>
      </p:pic>
      <p:pic>
        <p:nvPicPr>
          <p:cNvPr id="15" name="Picture 14" descr="concentration-LL_071124_NF270_MC_4_LaCl3_07.11.24_SLaCl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440" y="3429000"/>
            <a:ext cx="5455920" cy="18288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187440" y="5303520"/>
            <a:ext cx="5455920" cy="27432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7440" y="5303520"/>
            <a:ext cx="5455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MC4 SLaCl₃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852160"/>
            <a:ext cx="1127760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916168"/>
            <a:ext cx="109118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Trivalent: ni = 4, so σ·ΔΠ is the dominant term in Jw. σ = 1 wall produces the campaign's worst mass shortfall. Channels disagree on Lp; needs physics fix, not just numerical fix.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04 · ACTION ITEMS COMPLETED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065A82"/>
                </a:solidFill>
                <a:latin typeface="Calibri"/>
              </a:rPr>
              <a:t>what's been done since the last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Four diagnostic + corrective actions delivered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777240" cy="1005840"/>
          </a:xfrm>
          <a:prstGeom prst="rect">
            <a:avLst/>
          </a:prstGeom>
          <a:solidFill>
            <a:srgbClr val="2C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777240" cy="10058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1417320"/>
            <a:ext cx="10454640" cy="1005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1490472"/>
            <a:ext cx="1018032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Mass-litmus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801368"/>
            <a:ext cx="10180320" cy="5943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σ = 0 closed-form Lp regression (data_config['Lp0_method'] = 'data_driven'). Decouples Lp identifiability from the σ / B parameters. Lp from this is the data-driven seed for every NF270 fit.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777240" cy="10058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60320"/>
            <a:ext cx="777240" cy="10058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2560320"/>
            <a:ext cx="10454640" cy="1005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633472"/>
            <a:ext cx="1018032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Contour panels  ·  σ-Lp + B-Lp per sheet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944368"/>
            <a:ext cx="10180320" cy="5943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11 single-salt sheets × 2 sweeps (σ-Lp, B-Lp) = 22 panels. Reveals which channels constrain which parameter, and where the optimizer pins.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03320"/>
            <a:ext cx="777240" cy="1005840"/>
          </a:xfrm>
          <a:prstGeom prst="rect">
            <a:avLst/>
          </a:prstGeom>
          <a:solidFill>
            <a:srgbClr val="CC8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703320"/>
            <a:ext cx="777240" cy="10058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0160" y="3703320"/>
            <a:ext cx="10454640" cy="1005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3776472"/>
            <a:ext cx="1018032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Conductivity correction to 25 °C  (EC25)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087368"/>
            <a:ext cx="10180320" cy="5943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σ₂₅ = σ_T · (1 + α(25 − T)) applied per-row, per-stream at load time. Salt-specific α from Robinson &amp; Stokes; compensation flag on every NF270 data_stru.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846320"/>
            <a:ext cx="777240" cy="1005840"/>
          </a:xfrm>
          <a:prstGeom prst="rect">
            <a:avLst/>
          </a:prstGeom>
          <a:solidFill>
            <a:srgbClr val="6A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846320"/>
            <a:ext cx="777240" cy="10058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80160" y="4846320"/>
            <a:ext cx="10454640" cy="1005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4919472"/>
            <a:ext cx="1018032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cF residual weighting evaluation  →  cF-floor fix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230368"/>
            <a:ext cx="10180320" cy="5943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Identified 0.3% relative cF weight as the over-constraint pulling σ to the wall. Proof: floor = 1 mM moves MC2 CaCl₂ σ from 1.0 → 0.38 (interior), total obj × 5.8 better.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05 · MASS-LITMUS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Bad ParmEst fit vs mass-litmus baseline — σ=0 closed-form Lp regression</a:t>
            </a:r>
          </a:p>
        </p:txBody>
      </p:sp>
      <p:pic>
        <p:nvPicPr>
          <p:cNvPr id="7" name="Picture 6" descr="_panel_4salt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281928"/>
            <a:ext cx="11247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Left = ParmEst full fit (σ released, B fitted, IPOPT) — landed in the Mode B σ=1 corner.   Right = mass-litmus baseline:  σ=0, B dropped, Lp from closed-form regression Lp = slope · 36000 / (Am · ρ · ΔP)  where slope = Σ(Δt · m) / Σ(Δt²).  Always optimal by construction.  The baseline beats the full fit → σ/B parameters are not yet doing useful work; landscape problem, not model problem.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diagnosis + fix + open questions for collaborators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05 · MASS-LITMUS  ·  VS  CURRENT 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2C824A"/>
                </a:solidFill>
                <a:latin typeface="Calibri"/>
              </a:rPr>
              <a:t>mass-only Lp seed  vs  full ParmEst (Lp, B, σ)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000" b="1">
                <a:solidFill>
                  <a:srgbClr val="065A82"/>
                </a:solidFill>
                <a:latin typeface="Calibri"/>
              </a:rPr>
              <a:t>The mass-litmus baseline is what makes the σ pathology visible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547360" cy="365760"/>
          </a:xfrm>
          <a:prstGeom prst="rect">
            <a:avLst/>
          </a:prstGeom>
          <a:solidFill>
            <a:srgbClr val="2C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554736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MASS-LITMUS BASELINE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5547360" cy="3749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5181600" cy="35204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Fix:  σ = 0,  B = 10⁻⁶  (drop the rejection physics)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Closed-form regression on the mass channel only: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  Lp = slope · 36000 / (Aₘ · ρ · ΔP)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  slope = Σ(Δt · m) / Σ(Δt²)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Pros: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• Always converges; no IPOPT.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• Lp identifiable from balance trace alone.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• Gives the data-driven Lp seed for the full fit.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Cons: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• Cannot say anything about B or σ.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• Treats rejection as zero — bad for high-σ membranes.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7440" y="1417320"/>
            <a:ext cx="5547360" cy="365760"/>
          </a:xfrm>
          <a:prstGeom prst="rect">
            <a:avLst/>
          </a:prstGeom>
          <a:solidFill>
            <a:srgbClr val="CC8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7440" y="1417320"/>
            <a:ext cx="554736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FULL PARMEST FIT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7440" y="1783080"/>
            <a:ext cx="5547360" cy="3749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0320" y="1920240"/>
            <a:ext cx="5181600" cy="35204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Fit:  (Lp, B, σ) all free via IPOPT.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Objective:  Σ weighted residuals across mass, cV, cF.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What we observe: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• Lp from full fit ≈ Lp from mass-litmus on dilution sheets.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• On concentration sheets:  Lp_full ≠ Lp_litmus —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    σ pulls Lp away from the mass-only optimum.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Interpretation: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• Mismatch between Lp_full and Lp_litmus is a direct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    measure of how much the σ pathology is corrupting Lp.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• Larger gap → more σ-induced bias.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715000"/>
            <a:ext cx="1127760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779008"/>
            <a:ext cx="109118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Mass-litmus is the ground-truth Lp for low-σ-influence cases.  Its discrepancy with the full fit is itself the diagnostic for σ-identifiability failure.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06 · CONTOUR PANELS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065A82"/>
                </a:solidFill>
                <a:latin typeface="Calibri"/>
              </a:rPr>
              <a:t>DATA1-style 50×50 σ-Lp and B-Lp sweeps  ·  per single-salt sheet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000" b="1">
                <a:solidFill>
                  <a:srgbClr val="065A82"/>
                </a:solidFill>
                <a:latin typeface="Calibri"/>
              </a:rPr>
              <a:t>What the per-channel residual surfaces tell us about identifiability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09728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1">
                <a:solidFill>
                  <a:srgbClr val="02C39A"/>
                </a:solidFill>
                <a:latin typeface="Calibri"/>
              </a:rPr>
              <a:t>FORWARD SIMULATION OBJECTIVE  (per channel, per grid point):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11277600" cy="9601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10911840" cy="8229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Obj_mass(θ_x, Lp)         =  Σᵢ ((mᵢ_pred − mᵢ_meas) / σm)²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Obj_concentration(θ_x, Lp) =  Σᵢ ((cVᵢ_pred − cVᵢ_meas) / σcV)²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Obj_retentate(θ_x, Lp)     =  Σᵢ ((cFᵢ_pred − cFᵢ_meas) / σcF)²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34640"/>
            <a:ext cx="3698240" cy="365760"/>
          </a:xfrm>
          <a:prstGeom prst="rect">
            <a:avLst/>
          </a:prstGeom>
          <a:solidFill>
            <a:srgbClr val="2C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834640"/>
            <a:ext cx="36982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1.  Channel basin position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00400"/>
            <a:ext cx="3698240" cy="22402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37560"/>
            <a:ext cx="3332480" cy="2011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Each channel forms its own basin in (σ, Lp) space.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If basins COINCIDE → all channels agree → fit is well-identified.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If basins SEPARATE → channels disagree → fit is a compromise (LaCl₃).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46880" y="2834640"/>
            <a:ext cx="3698240" cy="36576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46880" y="2834640"/>
            <a:ext cx="36982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2.  σ wall pinning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46880" y="3200400"/>
            <a:ext cx="3698240" cy="22402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29760" y="3337560"/>
            <a:ext cx="3332480" cy="2011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10 of 11 sheets show σ pinned at a bound (1.0 or 0.0).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Only MC3 SNaCl has σ in the interior (≈ 0.45).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The wall is where the objective minimum genuinely sits — not a solver failure.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6560" y="2834640"/>
            <a:ext cx="3698240" cy="365760"/>
          </a:xfrm>
          <a:prstGeom prst="rect">
            <a:avLst/>
          </a:prstGeom>
          <a:solidFill>
            <a:srgbClr val="CC8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36560" y="2834640"/>
            <a:ext cx="36982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3.  B identifiability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6560" y="3200400"/>
            <a:ext cx="3698240" cy="22402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9440" y="3337560"/>
            <a:ext cx="3332480" cy="2011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On every panel, Obj_mass and Obj_retentate are flat in B (horizontal bands).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Only Obj_concentration (cV channel) responds to B.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B is a one-channel parameter campaign-wide — structural, not a numerical issue.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669280"/>
            <a:ext cx="1127760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733288"/>
            <a:ext cx="109118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The next 3 slides walk one representative σ-Lp panel per salt group with bullet-level commentary.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06A · CONTOUR  ·  NACL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06a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2C824A"/>
                </a:solidFill>
                <a:latin typeface="Calibri"/>
              </a:rPr>
              <a:t>NaCl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000" b="1">
                <a:solidFill>
                  <a:srgbClr val="065A82"/>
                </a:solidFill>
                <a:latin typeface="Calibri"/>
              </a:rPr>
              <a:t>NaCl: dilution interior basin vs concentration σ wall</a:t>
            </a:r>
          </a:p>
        </p:txBody>
      </p:sp>
      <p:pic>
        <p:nvPicPr>
          <p:cNvPr id="8" name="Picture 7" descr="objcontour-x_sigma-y_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371600"/>
            <a:ext cx="8686800" cy="2606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023360"/>
            <a:ext cx="112776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1">
                <a:solidFill>
                  <a:srgbClr val="707070"/>
                </a:solidFill>
                <a:latin typeface="Calibri"/>
              </a:rPr>
              <a:t>σ-Lp panel  ·  MC3.07.22.24_SNaCl  ·  per-channel log₁₀(Obj)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73152" cy="1737360"/>
          </a:xfrm>
          <a:prstGeom prst="rect">
            <a:avLst/>
          </a:prstGeom>
          <a:solidFill>
            <a:srgbClr val="2C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434840"/>
            <a:ext cx="11094720" cy="17373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/>
            </a:r>
            <a:r>
              <a:rPr sz="1300">
                <a:solidFill>
                  <a:srgbClr val="36454F"/>
                </a:solidFill>
                <a:latin typeface="Calibri"/>
              </a:rPr>
              <a:t>•  Dilution baseline (MC3 SNaCl) — all three Obj surfaces have low-objective regions that overlap at σ ≈ 0.45, Lp ≈ 8.  Channels agree.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36454F"/>
                </a:solidFill>
                <a:latin typeface="Calibri"/>
              </a:rPr>
              <a:t>•  Compare against the concentration-regime σ-Lp panels (MC5 NaCl): the cV channel surface is flat in σ but pulls Lp basin sharply — no σ agreement.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06B · CONTOUR  ·  CACL₂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06b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6A3399"/>
                </a:solidFill>
                <a:latin typeface="Calibri"/>
              </a:rPr>
              <a:t>CaCl₂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000" b="1">
                <a:solidFill>
                  <a:srgbClr val="065A82"/>
                </a:solidFill>
                <a:latin typeface="Calibri"/>
              </a:rPr>
              <a:t>CaCl₂: σ-axis flat across [0, 1], B at extreme bound</a:t>
            </a:r>
          </a:p>
        </p:txBody>
      </p:sp>
      <p:pic>
        <p:nvPicPr>
          <p:cNvPr id="8" name="Picture 7" descr="objcontour-x_sigma-y_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371600"/>
            <a:ext cx="8686800" cy="2606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023360"/>
            <a:ext cx="112776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1">
                <a:solidFill>
                  <a:srgbClr val="707070"/>
                </a:solidFill>
                <a:latin typeface="Calibri"/>
              </a:rPr>
              <a:t>σ-Lp panel  ·  MC3.07.12.24_S2CaCl2  ·  per-channel log₁₀(Obj)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73152" cy="1737360"/>
          </a:xfrm>
          <a:prstGeom prst="rect">
            <a:avLst/>
          </a:prstGeom>
          <a:solidFill>
            <a:srgbClr val="6A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434840"/>
            <a:ext cx="11094720" cy="17373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/>
            </a:r>
            <a:r>
              <a:rPr sz="1300">
                <a:solidFill>
                  <a:srgbClr val="36454F"/>
                </a:solidFill>
                <a:latin typeface="Calibri"/>
              </a:rPr>
              <a:t>•  All three Obj surfaces show no minimum in σ; objective slides to whichever wall (here σ = 1) wins on the cF channel.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36454F"/>
                </a:solidFill>
                <a:latin typeface="Calibri"/>
              </a:rPr>
              <a:t>•  B also runs off the right edge — channels can't pin B even with σ pegged. Worst-case sheet for the constant-(B, σ) model.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06C · CONTOUR  ·  LACL₃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06c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CC3333"/>
                </a:solidFill>
                <a:latin typeface="Calibri"/>
              </a:rPr>
              <a:t>LaCl₃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000" b="1">
                <a:solidFill>
                  <a:srgbClr val="065A82"/>
                </a:solidFill>
                <a:latin typeface="Calibri"/>
              </a:rPr>
              <a:t>LaCl₃: channel disagreement on Lp</a:t>
            </a:r>
          </a:p>
        </p:txBody>
      </p:sp>
      <p:pic>
        <p:nvPicPr>
          <p:cNvPr id="8" name="Picture 7" descr="objcontour-x_sigma-y_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371600"/>
            <a:ext cx="8686800" cy="2606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023360"/>
            <a:ext cx="112776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1">
                <a:solidFill>
                  <a:srgbClr val="707070"/>
                </a:solidFill>
                <a:latin typeface="Calibri"/>
              </a:rPr>
              <a:t>σ-Lp panel  ·  MC2.05.21.24_LaCl3  ·  per-channel log₁₀(Obj)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73152" cy="173736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434840"/>
            <a:ext cx="11094720" cy="17373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/>
            </a:r>
            <a:r>
              <a:rPr sz="1300">
                <a:solidFill>
                  <a:srgbClr val="36454F"/>
                </a:solidFill>
                <a:latin typeface="Calibri"/>
              </a:rPr>
              <a:t>•  Obj_mass + Obj_retentate prefer Lp ≈ 5; Obj_concentration prefers Lp ≈ 2.5.  Compromise fit (Lp = 2.49) satisfies neither.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36454F"/>
                </a:solidFill>
                <a:latin typeface="Calibri"/>
              </a:rPr>
              <a:t>•  σ surface is flat across the full unit interval — neither floor nor σ prior alone recovers a sensible fit (see warm-start slides).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15A · WARM-START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15a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2C824A"/>
                </a:solidFill>
                <a:latin typeface="Calibri"/>
              </a:rPr>
              <a:t>NaCl  ·  diluting regime  ·  1 of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5029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MC3.07.22.24_SNaCl  —  the only interior-σ fit in the campaign</a:t>
            </a:r>
          </a:p>
        </p:txBody>
      </p:sp>
      <p:pic>
        <p:nvPicPr>
          <p:cNvPr id="8" name="Picture 7" descr="MC3.07.22.24_S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325880"/>
            <a:ext cx="10058400" cy="4251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715000"/>
            <a:ext cx="73152" cy="960120"/>
          </a:xfrm>
          <a:prstGeom prst="rect">
            <a:avLst/>
          </a:prstGeom>
          <a:solidFill>
            <a:srgbClr val="2C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11003280" cy="9601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>
                <a:solidFill>
                  <a:srgbClr val="36454F"/>
                </a:solidFill>
                <a:latin typeface="Calibri"/>
              </a:rPr>
              <a:t>•  σ lands in the interior at 0.45 — only sheet in the campaign where the optimizer does NOT pin σ at a bound.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36454F"/>
                </a:solidFill>
                <a:latin typeface="Calibri"/>
              </a:rPr>
              <a:t>•  All three channels (mass / retentate / vial-ICP) agree on Lp ≈ 8.2 ; this is what a 'good' diafiltration fit looks like and serves as the calibration baseline for every other slide.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15B · WARM-START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15b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CC8800"/>
                </a:solidFill>
                <a:latin typeface="Calibri"/>
              </a:rPr>
              <a:t>NaCl  ·  diluting regime  ·  2 of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5029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MC5.07.23.24_S2NaCl  —  dilution but σ pinned at 0 (surprise)</a:t>
            </a:r>
          </a:p>
        </p:txBody>
      </p:sp>
      <p:pic>
        <p:nvPicPr>
          <p:cNvPr id="8" name="Picture 7" descr="MC5.07.23.24_S2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325880"/>
            <a:ext cx="10058400" cy="4251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715000"/>
            <a:ext cx="73152" cy="960120"/>
          </a:xfrm>
          <a:prstGeom prst="rect">
            <a:avLst/>
          </a:prstGeom>
          <a:solidFill>
            <a:srgbClr val="CC8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11003280" cy="9601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>
                <a:solidFill>
                  <a:srgbClr val="36454F"/>
                </a:solidFill>
                <a:latin typeface="Calibri"/>
              </a:rPr>
              <a:t>•  Despite the dilution direction, σ slid to the opposite wall (0.0) and Lp landed at 7.4 — different pathology than the other dilution sheet.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36454F"/>
                </a:solidFill>
                <a:latin typeface="Calibri"/>
              </a:rPr>
              <a:t>•  Same root cause as the concentration-regime fits: the 0.3% cF residual weight over-constrains the retentate channel, pulling σ to a bound. The cF floor experiment is needed here too.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15C · WARM-START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15c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CC3333"/>
                </a:solidFill>
                <a:latin typeface="Calibri"/>
              </a:rPr>
              <a:t>NaCl  ·  concentrating regime  ·  1 of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5029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MC2.05.07.24_NaCl  —  σ=1 wall, characteristic mass shortfall</a:t>
            </a:r>
          </a:p>
        </p:txBody>
      </p:sp>
      <p:pic>
        <p:nvPicPr>
          <p:cNvPr id="8" name="Picture 7" descr="MC2.05.07.24_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325880"/>
            <a:ext cx="10058400" cy="4251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715000"/>
            <a:ext cx="73152" cy="96012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11003280" cy="9601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>
                <a:solidFill>
                  <a:srgbClr val="36454F"/>
                </a:solidFill>
                <a:latin typeface="Calibri"/>
              </a:rPr>
              <a:t>•  σ=1 means the model is asserting full osmotic backpressure even at end-of-run cF ~ 25 mM — Jw is suppressed and predicted per-vial mass plateaus below the 1 g cap.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36454F"/>
                </a:solidFill>
                <a:latin typeface="Calibri"/>
              </a:rPr>
              <a:t>•  Lp ≈ 9.96 from this fit is therefore a compromise, not the true membrane permeability.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15D · WARM-START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15d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2C824A"/>
                </a:solidFill>
                <a:latin typeface="Calibri"/>
              </a:rPr>
              <a:t>NaCl  ·  concentrating regime  ·  2 of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5029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MC4.07.11.24_SNaCl  —  σ=0 wall (the cF-floor proof case)</a:t>
            </a:r>
          </a:p>
        </p:txBody>
      </p:sp>
      <p:pic>
        <p:nvPicPr>
          <p:cNvPr id="8" name="Picture 7" descr="MC4.07.11.24_S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325880"/>
            <a:ext cx="10058400" cy="4251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715000"/>
            <a:ext cx="73152" cy="960120"/>
          </a:xfrm>
          <a:prstGeom prst="rect">
            <a:avLst/>
          </a:prstGeom>
          <a:solidFill>
            <a:srgbClr val="2C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11003280" cy="9601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>
                <a:solidFill>
                  <a:srgbClr val="36454F"/>
                </a:solidFill>
                <a:latin typeface="Calibri"/>
              </a:rPr>
              <a:t>•  Same over-weighted cF channel, but here the optimizer slid to σ=0 (zero rejection) instead of σ=1 — direction depends on the cF channel's residual sign.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36454F"/>
                </a:solidFill>
                <a:latin typeface="Calibri"/>
              </a:rPr>
              <a:t>•  Floor fix (NF270_CF_RESIDUAL_FLOOR_MM = 1) recovers σ to 0.46 (interior) and obj_retentate drops 200× — proof point for the diagnosis.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15E · WARM-START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15e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CC3333"/>
                </a:solidFill>
                <a:latin typeface="Calibri"/>
              </a:rPr>
              <a:t>NaCl  ·  concentrating regime  ·  3 of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5029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MC5.07.23.24_NaCl  —  σ=1 wall, 1 g/vial low-leverage case</a:t>
            </a:r>
          </a:p>
        </p:txBody>
      </p:sp>
      <p:pic>
        <p:nvPicPr>
          <p:cNvPr id="8" name="Picture 7" descr="MC5.07.23.24_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325880"/>
            <a:ext cx="10058400" cy="4251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715000"/>
            <a:ext cx="73152" cy="96012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11003280" cy="9601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>
                <a:solidFill>
                  <a:srgbClr val="36454F"/>
                </a:solidFill>
                <a:latin typeface="Calibri"/>
              </a:rPr>
              <a:t>•  Concentrating from 0.9 → 107 mM at 1 g/vial sampling — the cV channel has the least information leverage anywhere in the campaign.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36454F"/>
                </a:solidFill>
                <a:latin typeface="Calibri"/>
              </a:rPr>
              <a:t>•  Permeate prediction (red shelf) sits well below the cyan ICP measurements throughout — visible signature of the σ=1 wall.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15F · WARM-START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15f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CC3333"/>
                </a:solidFill>
                <a:latin typeface="Calibri"/>
              </a:rPr>
              <a:t>NaCl  ·  concentrating regime  ·  4 of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5029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MC5.07.23.24_SNaCl  —  near-replicate of MC5 NaCl with same pathology</a:t>
            </a:r>
          </a:p>
        </p:txBody>
      </p:sp>
      <p:pic>
        <p:nvPicPr>
          <p:cNvPr id="8" name="Picture 7" descr="MC5.07.23.24_S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325880"/>
            <a:ext cx="10058400" cy="4251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715000"/>
            <a:ext cx="73152" cy="96012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11003280" cy="9601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>
                <a:solidFill>
                  <a:srgbClr val="36454F"/>
                </a:solidFill>
                <a:latin typeface="Calibri"/>
              </a:rPr>
              <a:t>•  Same σ=1 wall and similar mass shortfall — confirms the pathology is reproducible across operator replicates, not a single-run artifact.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36454F"/>
                </a:solidFill>
                <a:latin typeface="Calibri"/>
              </a:rPr>
              <a:t>•  Same fit-quality fix expected: cF residual floor should release σ to ~0.5 interior, consistent with MC4 SNaCl proof.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15G · WARM-START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15g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6A3399"/>
                </a:solidFill>
                <a:latin typeface="Calibri"/>
              </a:rPr>
              <a:t>CaCl₂  ·  divalent  ·  1 of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5029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MC2.05.07.24_CaCl2  —  divalent amplifies the σ=1 pathology</a:t>
            </a:r>
          </a:p>
        </p:txBody>
      </p:sp>
      <p:pic>
        <p:nvPicPr>
          <p:cNvPr id="8" name="Picture 7" descr="MC2.05.07.24_CaC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325880"/>
            <a:ext cx="10058400" cy="4251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715000"/>
            <a:ext cx="73152" cy="960120"/>
          </a:xfrm>
          <a:prstGeom prst="rect">
            <a:avLst/>
          </a:prstGeom>
          <a:solidFill>
            <a:srgbClr val="6A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11003280" cy="9601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>
                <a:solidFill>
                  <a:srgbClr val="36454F"/>
                </a:solidFill>
                <a:latin typeface="Calibri"/>
              </a:rPr>
              <a:t>•  ni = 3 (vs 2 for NaCl) → per-mM osmotic contribution is 1.5× larger, so σ=1 over-suppresses Jw even harder than on NaCl.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36454F"/>
                </a:solidFill>
                <a:latin typeface="Calibri"/>
              </a:rPr>
              <a:t>•  Floor experiment on this sheet released σ from 1.0 → 0.38 and improved total objective 5.8×. Strongest single proof of the σ-identifiability story.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15H · WARM-START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15h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6A3399"/>
                </a:solidFill>
                <a:latin typeface="Calibri"/>
              </a:rPr>
              <a:t>CaCl₂  ·  divalent  ·  2 of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5029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MC3.07.11.24_SCaCl2  —  σ=1 wall, B identified only by cV channel</a:t>
            </a:r>
          </a:p>
        </p:txBody>
      </p:sp>
      <p:pic>
        <p:nvPicPr>
          <p:cNvPr id="8" name="Picture 7" descr="MC3.07.11.24_SCaC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325880"/>
            <a:ext cx="10058400" cy="4251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715000"/>
            <a:ext cx="73152" cy="960120"/>
          </a:xfrm>
          <a:prstGeom prst="rect">
            <a:avLst/>
          </a:prstGeom>
          <a:solidFill>
            <a:srgbClr val="6A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11003280" cy="9601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>
                <a:solidFill>
                  <a:srgbClr val="36454F"/>
                </a:solidFill>
                <a:latin typeface="Calibri"/>
              </a:rPr>
              <a:t>•  Same σ=1 pathology; B ≈ 9 is driven entirely by the vial-ICP channel (the contour panels showed mass + retentate are essentially flat in B).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36454F"/>
                </a:solidFill>
                <a:latin typeface="Calibri"/>
              </a:rPr>
              <a:t>•  B is a one-channel parameter in this campaign — improving B identifiability would require a perturbation that drives B-sensitivity into either the mass or the cF channel.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15I · WARM-START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15i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CC3333"/>
                </a:solidFill>
                <a:latin typeface="Calibri"/>
              </a:rPr>
              <a:t>CaCl₂  ·  divalent  ·  3 of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5029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MC3.07.12.24_S2CaCl2  —  worst case: σ AND B both at bounds</a:t>
            </a:r>
          </a:p>
        </p:txBody>
      </p:sp>
      <p:pic>
        <p:nvPicPr>
          <p:cNvPr id="8" name="Picture 7" descr="MC3.07.12.24_S2CaC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325880"/>
            <a:ext cx="10058400" cy="4251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715000"/>
            <a:ext cx="73152" cy="96012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11003280" cy="9601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>
                <a:solidFill>
                  <a:srgbClr val="36454F"/>
                </a:solidFill>
                <a:latin typeface="Calibri"/>
              </a:rPr>
              <a:t>•  Two of three parameters pegged: σ = 1.0 and B = 30 (upper bound). Reported Lp = 4.63 is held up by both walls + data, not by data alone.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36454F"/>
                </a:solidFill>
                <a:latin typeface="Calibri"/>
              </a:rPr>
              <a:t>•  Sidebar ICP also disagrees with continuous cF (retentate ICP 38.7 mM vs continuous-cF endpoint 21.7 mM); rejection collapses from R≈0.68 to R≈0.14 across the run — constant-(B, σ) model cannot represent this.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15J · WARM-START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15j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CC3333"/>
                </a:solidFill>
                <a:latin typeface="Calibri"/>
              </a:rPr>
              <a:t>LaCl₃  ·  trivalent  ·  1 of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5029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MC2.05.21.24_LaCl3  —  σ=1 + channel disagreement on Lp</a:t>
            </a:r>
          </a:p>
        </p:txBody>
      </p:sp>
      <p:pic>
        <p:nvPicPr>
          <p:cNvPr id="8" name="Picture 7" descr="MC2.05.21.24_LaCl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325880"/>
            <a:ext cx="10058400" cy="4251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715000"/>
            <a:ext cx="73152" cy="96012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11003280" cy="9601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>
                <a:solidFill>
                  <a:srgbClr val="36454F"/>
                </a:solidFill>
                <a:latin typeface="Calibri"/>
              </a:rPr>
              <a:t>•  ni = 4 makes σ·ΔΠ the dominant term — σ=1 over-correction is the largest in the campaign on this sheet (worst mass shortfall).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36454F"/>
                </a:solidFill>
                <a:latin typeface="Calibri"/>
              </a:rPr>
              <a:t>•  Contour panels showed channel disagreement: mass + cF want Lp ≈ 5, cV wants Lp ≈ 2.5. Floor alone DOESN'T recover this — needs floor + literature σ prior (≈0.99) + possible ion-pairing correction.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15K · WARM-START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15k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CC3333"/>
                </a:solidFill>
                <a:latin typeface="Calibri"/>
              </a:rPr>
              <a:t>LaCl₃  ·  trivalent  ·  2 of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5029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MC4.07.11.24_SLaCl3  —  replicate trivalent pathology</a:t>
            </a:r>
          </a:p>
        </p:txBody>
      </p:sp>
      <p:pic>
        <p:nvPicPr>
          <p:cNvPr id="8" name="Picture 7" descr="MC4.07.11.24_SLaCl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325880"/>
            <a:ext cx="10058400" cy="4251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715000"/>
            <a:ext cx="73152" cy="96012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11003280" cy="9601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>
                <a:solidFill>
                  <a:srgbClr val="36454F"/>
                </a:solidFill>
                <a:latin typeface="Calibri"/>
              </a:rPr>
              <a:t>•  Same σ=1 wall + low Lp (≈2.78) and tiny B (≈0.17) as MC2 LaCl3; replicate confirms the pathology is salt-specific, not sheet-specific.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36454F"/>
                </a:solidFill>
                <a:latin typeface="Calibri"/>
              </a:rPr>
              <a:t>•  Path forward for LaCl₃: combined floor + σ prior; if combined fix still pins σ at the new (interior) upper bound, the model genuinely needs ion-pairing correction in ΔΠ (effective ni &lt; 4 at end-of-run).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08 · WHY CHANGE THE 0.3% CF WEIGHT?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CC8800"/>
                </a:solidFill>
                <a:latin typeface="Calibri"/>
              </a:rPr>
              <a:t>the over-weighted retentate residual at high cF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000" b="1">
                <a:solidFill>
                  <a:srgbClr val="065A82"/>
                </a:solidFill>
                <a:latin typeface="Calibri"/>
              </a:rPr>
              <a:t>0.3 % at 100 mM = 0.3 mM tolerance.  That's tighter than measurement noise.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09728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1">
                <a:solidFill>
                  <a:srgbClr val="02C39A"/>
                </a:solidFill>
                <a:latin typeface="Calibri"/>
              </a:rPr>
              <a:t>CURRENT cF RESIDUAL SCALE (per measurement):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10058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100584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σ_cF[i] = 0.003 · cF_meas[i]    (current — relative 0.3 %)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1127760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112776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Effective tolerance at typical cF values  (σ_cF =  0.003 · cF)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51760"/>
            <a:ext cx="11277600" cy="1645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51760"/>
            <a:ext cx="11094720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68833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onsolas"/>
              </a:rPr>
              <a:t>cF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68833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onsolas"/>
              </a:rPr>
              <a:t>0.003 · cF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688336"/>
            <a:ext cx="32004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onsolas"/>
              </a:rPr>
              <a:t>actual measurement noise floor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8833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onsolas"/>
              </a:rPr>
              <a:t>WSSE behavior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6265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1   mM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96265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0.003 mM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962656"/>
            <a:ext cx="32004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≈ 0.02 mM  (probe)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96265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23697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10  mM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23697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0.03  mM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236976"/>
            <a:ext cx="32004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≈ 0.2  mM  (Shedlovsky/probe)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23697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51129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50  mM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351129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0.15  mM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3511296"/>
            <a:ext cx="32004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≈ 1    mM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51129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tightening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749040"/>
            <a:ext cx="11094720" cy="274320"/>
          </a:xfrm>
          <a:prstGeom prst="rect">
            <a:avLst/>
          </a:prstGeom>
          <a:solidFill>
            <a:srgbClr val="FE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78561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100 mM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378561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0.30  mM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3785616"/>
            <a:ext cx="32004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≈ 1-2  mM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78561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CC3333"/>
                </a:solidFill>
                <a:latin typeface="Consolas"/>
              </a:rPr>
              <a:t>OVER-WEIGHTED (3-6×)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023360"/>
            <a:ext cx="11094720" cy="274320"/>
          </a:xfrm>
          <a:prstGeom prst="rect">
            <a:avLst/>
          </a:prstGeom>
          <a:solidFill>
            <a:srgbClr val="FE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05993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200 mM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405993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0.60  mM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80" y="4059936"/>
            <a:ext cx="32004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≈ 2-5  mM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05993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CC3333"/>
                </a:solidFill>
                <a:latin typeface="Consolas"/>
              </a:rPr>
              <a:t>BADLY OVER-WEIGHTED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434840"/>
            <a:ext cx="11277600" cy="1280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434840"/>
            <a:ext cx="112776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065A82"/>
                </a:solidFill>
                <a:latin typeface="Calibri"/>
              </a:rPr>
              <a:t>WHY THE OPTIMIZER PEGS σ AT THE WALL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4754880"/>
            <a:ext cx="10911840" cy="9601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36454F"/>
                </a:solidFill>
                <a:latin typeface="Calibri"/>
              </a:rPr>
              <a:t>•  In concentrating sheets, end-of-run cF ≈ 100 mM.  A 0.3 mM tolerance forces the model to fit cF to a near-perfect match.</a:t>
            </a:r>
          </a:p>
          <a:p>
            <a:pPr algn="l"/>
            <a:r>
              <a:rPr sz="1050" b="0" i="0">
                <a:solidFill>
                  <a:srgbClr val="36454F"/>
                </a:solidFill>
                <a:latin typeface="Calibri"/>
              </a:rPr>
              <a:t>•  The ONLY way the model can hold cF down at end-of-run with rising cV is to crank σ to either 0 (perfect penetration → cF tracks dilution) or 1 (perfect rejection → cF accumulates).</a:t>
            </a:r>
          </a:p>
          <a:p>
            <a:pPr algn="l"/>
            <a:r>
              <a:rPr sz="1050" b="0" i="0">
                <a:solidFill>
                  <a:srgbClr val="36454F"/>
                </a:solidFill>
                <a:latin typeface="Calibri"/>
              </a:rPr>
              <a:t>•  Whichever wall the cF channel residuals prefer locally, the optimizer goes there.  Direction (0 vs 1) is sheet-specific; the WALL itself is the consistent pathology.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852160"/>
            <a:ext cx="11277600" cy="411480"/>
          </a:xfrm>
          <a:prstGeom prst="rect">
            <a:avLst/>
          </a:prstGeom>
          <a:solidFill>
            <a:srgbClr val="CC8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916168"/>
            <a:ext cx="109118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Next slide:  the fix — apply an absolute floor on the cF residual.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09 · CF RESIDUAL FLOOR  ·  THE FIX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2C824A"/>
                </a:solidFill>
                <a:latin typeface="Calibri"/>
              </a:rPr>
              <a:t>absolute floor on the cF residual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Cap the maximum cF weight at 1 mM — releases σ from the wall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09728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1">
                <a:solidFill>
                  <a:srgbClr val="02C39A"/>
                </a:solidFill>
                <a:latin typeface="Calibri"/>
              </a:rPr>
              <a:t>PROPOSED cF RESIDUAL SCALE: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11277600" cy="5029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112776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nsolas"/>
              </a:rPr>
              <a:t>σ_cF[i] = max(0.003 · cF_meas[i],  1.0 mM)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112776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1">
                <a:solidFill>
                  <a:srgbClr val="707070"/>
                </a:solidFill>
                <a:latin typeface="Calibri"/>
              </a:rPr>
              <a:t>(below cF ≈ 333 mM the floor is active; above, the legacy relative weight wins)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43200"/>
            <a:ext cx="11277600" cy="365760"/>
          </a:xfrm>
          <a:prstGeom prst="rect">
            <a:avLst/>
          </a:prstGeom>
          <a:solidFill>
            <a:srgbClr val="2C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43200"/>
            <a:ext cx="112776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PROOF POINT  ·  MC2.05.07.24_CaCl2  ·  defaults  vs  cF floor = 1 mM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08960"/>
            <a:ext cx="11277600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15468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onsola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15468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onsolas"/>
              </a:rPr>
              <a:t>baseline (no floor)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15468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onsolas"/>
              </a:rPr>
              <a:t>with floor = 1 mM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15468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onsolas"/>
              </a:rPr>
              <a:t>improvement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42900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Lp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42900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4.00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342900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6.08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42900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+52 %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70332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70332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0.50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70332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0.40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70332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small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931920"/>
            <a:ext cx="11094720" cy="274320"/>
          </a:xfrm>
          <a:prstGeom prst="rect">
            <a:avLst/>
          </a:prstGeom>
          <a:solidFill>
            <a:srgbClr val="DE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97764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2C824A"/>
                </a:solidFill>
                <a:latin typeface="Consolas"/>
              </a:rPr>
              <a:t>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397764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2C824A"/>
                </a:solidFill>
                <a:latin typeface="Consolas"/>
              </a:rPr>
              <a:t>1.00  (wall)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397764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2C824A"/>
                </a:solidFill>
                <a:latin typeface="Consolas"/>
              </a:rPr>
              <a:t>0.38  (INTERIOR)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97764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2C824A"/>
                </a:solidFill>
                <a:latin typeface="Consolas"/>
              </a:rPr>
              <a:t>off the wall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25196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obj_mass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425196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847.8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425196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173.1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25196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× 4.9 better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52628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obj_permeate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452628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790.3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452628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753.8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52628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flat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80060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obj_retentate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480060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5081.4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480060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232.9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480060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× 21.8 better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29200"/>
            <a:ext cx="11094720" cy="274320"/>
          </a:xfrm>
          <a:prstGeom prst="rect">
            <a:avLst/>
          </a:prstGeom>
          <a:solidFill>
            <a:srgbClr val="DE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07492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2C824A"/>
                </a:solidFill>
                <a:latin typeface="Consolas"/>
              </a:rPr>
              <a:t>TOTAL OBJ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26080" y="507492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2C824A"/>
                </a:solidFill>
                <a:latin typeface="Consolas"/>
              </a:rPr>
              <a:t>6719.5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0" y="507492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2C824A"/>
                </a:solidFill>
                <a:latin typeface="Consolas"/>
              </a:rPr>
              <a:t>1159.8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507492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2C824A"/>
                </a:solidFill>
                <a:latin typeface="Consolas"/>
              </a:rPr>
              <a:t>× 5.8 BETTER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760720"/>
            <a:ext cx="1127760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5824728"/>
            <a:ext cx="109118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Same identical sheet, same data, same model — only the cF residual scale changed.  σ released, all channels improved together.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16 · PERMEATE PROBE CHANNEL  ·  NEW FIT TERM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02C39A"/>
                </a:solidFill>
                <a:latin typeface="Calibri"/>
              </a:rPr>
              <a:t>the unused 500×-richer data channel — now in the WSSE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Continuous permeate-probe concentration as a 4th objective channel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DATA AVAILABILITY  ·  samples per vial in each channel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11277600" cy="10972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73936"/>
            <a:ext cx="41148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mass (balance trace)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773936"/>
            <a:ext cx="25603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≈ 500 samples / vial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773936"/>
            <a:ext cx="32004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707070"/>
                </a:solidFill>
                <a:latin typeface="Calibri"/>
              </a:rPr>
              <a:t>USED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048256"/>
            <a:ext cx="41148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retentate cF (probe → Shedlovsky)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048256"/>
            <a:ext cx="25603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≈ 500 samples / vial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048256"/>
            <a:ext cx="32004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707070"/>
                </a:solidFill>
                <a:latin typeface="Calibri"/>
              </a:rPr>
              <a:t>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322576"/>
            <a:ext cx="41148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permeate ICP (cV_avg, vial-integrated)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322576"/>
            <a:ext cx="25603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    1 scalar / vial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22576"/>
            <a:ext cx="32004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707070"/>
                </a:solidFill>
                <a:latin typeface="Calibri"/>
              </a:rPr>
              <a:t>USED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560320"/>
            <a:ext cx="11094720" cy="274320"/>
          </a:xfrm>
          <a:prstGeom prst="rect">
            <a:avLst/>
          </a:prstGeom>
          <a:solidFill>
            <a:srgbClr val="DE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596896"/>
            <a:ext cx="41148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2C824A"/>
                </a:solidFill>
                <a:latin typeface="Calibri"/>
              </a:rPr>
              <a:t>permeate probe (cV_perm_cond → mM)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596896"/>
            <a:ext cx="25603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2C824A"/>
                </a:solidFill>
                <a:latin typeface="Consolas"/>
              </a:rPr>
              <a:t>≈ 500 samples / vial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596896"/>
            <a:ext cx="32004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2C824A"/>
                </a:solidFill>
                <a:latin typeface="Calibri"/>
              </a:rPr>
              <a:t>**WAS IDLE — NOW ENABLED**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834640"/>
            <a:ext cx="109728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1">
                <a:solidFill>
                  <a:srgbClr val="02C39A"/>
                </a:solidFill>
                <a:latin typeface="Calibri"/>
              </a:rPr>
              <a:t>NEW OBJECTIVE TERM  (added to WSSE, DATA3-gated):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127248"/>
            <a:ext cx="11277600" cy="5486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200400"/>
            <a:ext cx="1127760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Φ_perm  =  Σ_i [ (c_H(t_i) − cV_perm_exp(t_i)) / σ_perm ]²       (per-vial, samples ≥ n_v0)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703320"/>
            <a:ext cx="112776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1">
                <a:solidFill>
                  <a:srgbClr val="707070"/>
                </a:solidFill>
                <a:latin typeface="Calibri"/>
              </a:rPr>
              <a:t>(c_H is the model's wall-concentration on the permeate side — physically what the probe measures)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114800"/>
            <a:ext cx="11277600" cy="365760"/>
          </a:xfrm>
          <a:prstGeom prst="rect">
            <a:avLst/>
          </a:prstGeom>
          <a:solidFill>
            <a:srgbClr val="2C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114800"/>
            <a:ext cx="112776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PROOF POINT  ·  MC2.05.07.24_CaCl2  ·  comparison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480560"/>
            <a:ext cx="11277600" cy="13258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517136"/>
            <a:ext cx="256032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onsolas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517136"/>
            <a:ext cx="100584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065A82"/>
                </a:solidFill>
                <a:latin typeface="Consolas"/>
              </a:rPr>
              <a:t>Lp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4517136"/>
            <a:ext cx="100584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065A82"/>
                </a:solidFill>
                <a:latin typeface="Consolas"/>
              </a:rPr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4517136"/>
            <a:ext cx="128016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065A82"/>
                </a:solidFill>
                <a:latin typeface="Consolas"/>
              </a:rPr>
              <a:t>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517136"/>
            <a:ext cx="91440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065A82"/>
                </a:solidFill>
                <a:latin typeface="Consolas"/>
              </a:rPr>
              <a:t>obj_m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4517136"/>
            <a:ext cx="91440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065A82"/>
                </a:solidFill>
                <a:latin typeface="Consolas"/>
              </a:rPr>
              <a:t>obj_cv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517136"/>
            <a:ext cx="91440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065A82"/>
                </a:solidFill>
                <a:latin typeface="Consolas"/>
              </a:rPr>
              <a:t>obj_cr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4517136"/>
            <a:ext cx="91440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065A82"/>
                </a:solidFill>
                <a:latin typeface="Consolas"/>
              </a:rPr>
              <a:t>obj_perm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848606"/>
            <a:ext cx="256032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(A) baseline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4848606"/>
            <a:ext cx="100584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0" i="0">
                <a:solidFill>
                  <a:srgbClr val="36454F"/>
                </a:solidFill>
                <a:latin typeface="Consolas"/>
              </a:rPr>
              <a:t>4.00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4848606"/>
            <a:ext cx="100584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0" i="0">
                <a:solidFill>
                  <a:srgbClr val="36454F"/>
                </a:solidFill>
                <a:latin typeface="Consolas"/>
              </a:rPr>
              <a:t>0.51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12080" y="4848606"/>
            <a:ext cx="128016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0" i="0">
                <a:solidFill>
                  <a:srgbClr val="36454F"/>
                </a:solidFill>
                <a:latin typeface="Consolas"/>
              </a:rPr>
              <a:t>1.00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4848606"/>
            <a:ext cx="91440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0" i="0">
                <a:solidFill>
                  <a:srgbClr val="36454F"/>
                </a:solidFill>
                <a:latin typeface="Consolas"/>
              </a:rPr>
              <a:t>847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4848606"/>
            <a:ext cx="91440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0" i="0">
                <a:solidFill>
                  <a:srgbClr val="36454F"/>
                </a:solidFill>
                <a:latin typeface="Consolas"/>
              </a:rPr>
              <a:t>789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4848606"/>
            <a:ext cx="91440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0" i="0">
                <a:solidFill>
                  <a:srgbClr val="36454F"/>
                </a:solidFill>
                <a:latin typeface="Consolas"/>
              </a:rPr>
              <a:t>5081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4848606"/>
            <a:ext cx="91440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0" i="0">
                <a:solidFill>
                  <a:srgbClr val="36454F"/>
                </a:solidFill>
                <a:latin typeface="Consolas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180076"/>
            <a:ext cx="256032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(B) +cF floor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0" y="5180076"/>
            <a:ext cx="100584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0" i="0">
                <a:solidFill>
                  <a:srgbClr val="36454F"/>
                </a:solidFill>
                <a:latin typeface="Consolas"/>
              </a:rPr>
              <a:t>6.08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06240" y="5180076"/>
            <a:ext cx="100584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0" i="0">
                <a:solidFill>
                  <a:srgbClr val="36454F"/>
                </a:solidFill>
                <a:latin typeface="Consolas"/>
              </a:rPr>
              <a:t>0.40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80" y="5180076"/>
            <a:ext cx="128016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0" i="0">
                <a:solidFill>
                  <a:srgbClr val="36454F"/>
                </a:solidFill>
                <a:latin typeface="Consolas"/>
              </a:rPr>
              <a:t>0.38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5180076"/>
            <a:ext cx="91440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0" i="0">
                <a:solidFill>
                  <a:srgbClr val="36454F"/>
                </a:solidFill>
                <a:latin typeface="Consolas"/>
              </a:rPr>
              <a:t>173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06640" y="5180076"/>
            <a:ext cx="91440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0" i="0">
                <a:solidFill>
                  <a:srgbClr val="36454F"/>
                </a:solidFill>
                <a:latin typeface="Consolas"/>
              </a:rPr>
              <a:t>754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5180076"/>
            <a:ext cx="91440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0" i="0">
                <a:solidFill>
                  <a:srgbClr val="36454F"/>
                </a:solidFill>
                <a:latin typeface="Consolas"/>
              </a:rPr>
              <a:t>233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5180076"/>
            <a:ext cx="91440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0" i="0">
                <a:solidFill>
                  <a:srgbClr val="36454F"/>
                </a:solidFill>
                <a:latin typeface="Consolas"/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5474970"/>
            <a:ext cx="11094720" cy="331470"/>
          </a:xfrm>
          <a:prstGeom prst="rect">
            <a:avLst/>
          </a:prstGeom>
          <a:solidFill>
            <a:srgbClr val="DE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5511546"/>
            <a:ext cx="256032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2C824A"/>
                </a:solidFill>
                <a:latin typeface="Consolas"/>
              </a:rPr>
              <a:t>(C) +floor +perm-probe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400" y="5511546"/>
            <a:ext cx="100584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2C824A"/>
                </a:solidFill>
                <a:latin typeface="Consolas"/>
              </a:rPr>
              <a:t>5.62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06240" y="5511546"/>
            <a:ext cx="100584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2C824A"/>
                </a:solidFill>
                <a:latin typeface="Consolas"/>
              </a:rPr>
              <a:t>0.15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12080" y="5511546"/>
            <a:ext cx="128016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2C824A"/>
                </a:solidFill>
                <a:latin typeface="Consolas"/>
              </a:rPr>
              <a:t>**0.10**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0" y="5511546"/>
            <a:ext cx="91440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2C824A"/>
                </a:solidFill>
                <a:latin typeface="Consolas"/>
              </a:rPr>
              <a:t>201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06640" y="5511546"/>
            <a:ext cx="91440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2C824A"/>
                </a:solidFill>
                <a:latin typeface="Consolas"/>
              </a:rPr>
              <a:t>887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21040" y="5511546"/>
            <a:ext cx="91440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2C824A"/>
                </a:solidFill>
                <a:latin typeface="Consolas"/>
              </a:rPr>
              <a:t>227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35440" y="5511546"/>
            <a:ext cx="914400" cy="25831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2C824A"/>
                </a:solidFill>
                <a:latin typeface="Consolas"/>
              </a:rPr>
              <a:t>93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5715000"/>
            <a:ext cx="1127760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" y="5779008"/>
            <a:ext cx="109118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σ moves to 0.10 because the probe trace says more salt is getting through than ICP-OES alone suggests.  This is a meaningful identifiability finding — probe and ICP disagree about rejection.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17 · SEEDED LHS MULTISTART  ·  CROSS-SALT SEEDS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6A3399"/>
                </a:solidFill>
                <a:latin typeface="Calibri"/>
              </a:rPr>
              <a:t>warm-start the LHS from contour grid + a sister-salt's best 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Latin-hypercube samples clustered around 3 explicit physics-informed seeds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3698240" cy="365760"/>
          </a:xfrm>
          <a:prstGeom prst="rect">
            <a:avLst/>
          </a:prstGeom>
          <a:solidFill>
            <a:srgbClr val="2C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36982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SEED 1 — Contour top-1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3698240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3332480" cy="2011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Lowest-WSSE grid point from this sheet's σ-Lp contour.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Captures the in-basin optimum already implied by the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6880" y="1417320"/>
            <a:ext cx="3698240" cy="365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6880" y="1417320"/>
            <a:ext cx="36982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SEED 2 — Contour top-2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6880" y="1783080"/>
            <a:ext cx="3698240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760" y="1920240"/>
            <a:ext cx="3332480" cy="2011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Second-lowest grid point (B-Lp sweep most often).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Catches a SECOND basin if one exists on the same loss surface.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560" y="1417320"/>
            <a:ext cx="3698240" cy="365760"/>
          </a:xfrm>
          <a:prstGeom prst="rect">
            <a:avLst/>
          </a:prstGeom>
          <a:solidFill>
            <a:srgbClr val="CC8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560" y="1417320"/>
            <a:ext cx="36982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SEED 3 — Cross-salt reference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6560" y="1783080"/>
            <a:ext cx="3698240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9440" y="1920240"/>
            <a:ext cx="3332480" cy="2011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When fitting CaCl₂ or LaCl₃: use MC3 SNaCl's interior-σ fit.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(Lp = 8.22, B = 14.7, σ = 0.45)  — the campaign's gold-standard 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60520"/>
            <a:ext cx="109728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1">
                <a:solidFill>
                  <a:srgbClr val="02C39A"/>
                </a:solidFill>
                <a:latin typeface="Calibri"/>
              </a:rPr>
              <a:t>METHOD  (DATA3-only, toggle NF270_MULTISTART_USE_CONTOUR_SEEDS):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53128"/>
            <a:ext cx="11277600" cy="1280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26280"/>
            <a:ext cx="10911840" cy="11887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• 3 seeds × 1 deterministic restart each  =  3 fixed starts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•  +  N_LHS = 8 Latin-hypercube samples allocated round-robin across seeds, each within ±20 % box around its seed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• Total starts:  3 + 8 = 11   (vs 5–10 for uniform-LHS baseline)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• Each start runs full ParmEst (IPOPT); best by total WSSE wins.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• Pure LHS over the full bounds is the fallback when the toggle is OFF or the sheet's contour CSVs are missing.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15000"/>
            <a:ext cx="1127760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779008"/>
            <a:ext cx="109118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MC2 CaCl₂ smoke-test:  seeded multistart converged to the SAME optimum as single-shot (10–15× slower).  Value is for sheets like LaCl₃ where channels disagree on Lp — there the cross-salt seed can break the symmetry.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10 · PROCESS MODEL  ·  CORE EQUATIONS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065A82"/>
                </a:solidFill>
                <a:latin typeface="Calibri"/>
              </a:rPr>
              <a:t>Spiegler–Kedem framework  ·  per-vial Pyomo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What the model solves at each integration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12776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1">
                <a:solidFill>
                  <a:srgbClr val="02C39A"/>
                </a:solidFill>
                <a:latin typeface="Calibri"/>
              </a:rPr>
              <a:t>Water flux  ·  Starling / Kedem–Katchalsky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64208"/>
            <a:ext cx="11277600" cy="4572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09928"/>
            <a:ext cx="112776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nsolas"/>
              </a:rPr>
              <a:t>J_w  =  L_p · [ ΔP  −  σ · (c_In − c_H) · n_i · R · T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112776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1">
                <a:solidFill>
                  <a:srgbClr val="02C39A"/>
                </a:solidFill>
                <a:latin typeface="Calibri"/>
              </a:rPr>
              <a:t>Solute flux  ·  diffusive transport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32888"/>
            <a:ext cx="11277600" cy="4572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578608"/>
            <a:ext cx="112776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nsolas"/>
              </a:rPr>
              <a:t>J_s  =  B · (c_In − c_H)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54680"/>
            <a:ext cx="112776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1">
                <a:solidFill>
                  <a:srgbClr val="02C39A"/>
                </a:solidFill>
                <a:latin typeface="Calibri"/>
              </a:rPr>
              <a:t>Mass accumulation in collection vial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01568"/>
            <a:ext cx="11277600" cy="4572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447288"/>
            <a:ext cx="112776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nsolas"/>
              </a:rPr>
              <a:t>d m_V / d t  =  J_w · A_m · 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23360"/>
            <a:ext cx="112776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1">
                <a:solidFill>
                  <a:srgbClr val="02C39A"/>
                </a:solidFill>
                <a:latin typeface="Calibri"/>
              </a:rPr>
              <a:t>Solute accumulation in collection vial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70248"/>
            <a:ext cx="11277600" cy="4572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315968"/>
            <a:ext cx="112776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nsolas"/>
              </a:rPr>
              <a:t>d(m_V · c_V) / d t  =  J_s · A_m · 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92040"/>
            <a:ext cx="112776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1">
                <a:solidFill>
                  <a:srgbClr val="02C39A"/>
                </a:solidFill>
                <a:latin typeface="Calibri"/>
              </a:rPr>
              <a:t>Concentration polarization (wall conc. via Sherwood)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38928"/>
            <a:ext cx="11277600" cy="4572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184648"/>
            <a:ext cx="112776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nsolas"/>
              </a:rPr>
              <a:t>c_In  =  c_F · exp(J_w / k)        c_H  =  (1 − σ) · c_In · exp(− J_w · (1 − σ) / B)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60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824728"/>
            <a:ext cx="109118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Free parameters (decision Vars):  L_p ∈ (0.5, 50),   B ∈ (10⁻⁶, 30),   σ ∈ (0, 1).   Pyomo + IDAES + IPOPT.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11 · PARAMETER ESTIMATION  ·  WSSE OBJECTIVE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065A82"/>
                </a:solidFill>
                <a:latin typeface="Calibri"/>
              </a:rPr>
              <a:t>weighted sum-of-squared errors  ·  three data channels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What IPOPT minimizes when fitting (L_p, B, σ)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09728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1">
                <a:solidFill>
                  <a:srgbClr val="02C39A"/>
                </a:solidFill>
                <a:latin typeface="Calibri"/>
              </a:rPr>
              <a:t>OBJECTIVE FUNCTION  (sum over three data channels):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11277600" cy="14630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11277600" cy="1371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Φ(θ)  =  Σ_i [(m_pred_i − m_meas_i) / σ_m]²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      +  Σ_i [(cV_pred_i − cV_meas_i) / σ_cV]²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      +  Σ_i [(cF_pred_i − cF_meas_i) / σ_cF[i]]²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83280"/>
            <a:ext cx="1127760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112776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PER-CHANNEL RESIDUAL SCALES  (current convention, inherited from DATA2)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49040"/>
            <a:ext cx="11277600" cy="1463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85616"/>
            <a:ext cx="164592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onsolas"/>
              </a:rPr>
              <a:t>channel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785616"/>
            <a:ext cx="393192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onsolas"/>
              </a:rPr>
              <a:t>scale formula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785616"/>
            <a:ext cx="457200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onsolas"/>
              </a:rPr>
              <a:t>interpretation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51376"/>
            <a:ext cx="164592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σ_m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151376"/>
            <a:ext cx="393192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0.01 g  (constant)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151376"/>
            <a:ext cx="457200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instrument noise, balance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517136"/>
            <a:ext cx="164592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σ_cV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517136"/>
            <a:ext cx="393192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0.03 · cV_meas[i]    (3 %)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517136"/>
            <a:ext cx="457200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ICP-OES relative uncertainty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46320"/>
            <a:ext cx="11094720" cy="365760"/>
          </a:xfrm>
          <a:prstGeom prst="rect">
            <a:avLst/>
          </a:prstGeom>
          <a:solidFill>
            <a:srgbClr val="FE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882896"/>
            <a:ext cx="164592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CC8800"/>
                </a:solidFill>
                <a:latin typeface="Consolas"/>
              </a:rPr>
              <a:t>σ_cF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882896"/>
            <a:ext cx="393192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CC8800"/>
                </a:solidFill>
                <a:latin typeface="Consolas"/>
              </a:rPr>
              <a:t>0.003 · cF_meas[i]   (0.3 %)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882896"/>
            <a:ext cx="457200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CC8800"/>
                </a:solidFill>
                <a:latin typeface="Consolas"/>
              </a:rPr>
              <a:t>in-line conductivity probe relative noise  ← over-weighted at high cF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760720"/>
            <a:ext cx="1127760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824728"/>
            <a:ext cx="109118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The 0.3 % cF scale is the over-weight that drove the diagnosis on slide 08;  the floor on slide 09 is the corrective change.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12 · LACL₃  ·  THE PHYSICS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CC3333"/>
                </a:solidFill>
                <a:latin typeface="Calibri"/>
              </a:rPr>
              <a:t>why floor + σ prior alone do not recover LaCl₃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Constant-(B, σ) Spiegler–Kedem cannot represent trivalent ion-pairing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3698240" cy="36576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36982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ION-PAIRING IN SOLUTION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3698240" cy="3749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874520"/>
            <a:ext cx="3423920" cy="35661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LaCl₃ does not fully dissociate at experimental concentrations: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   LaCl³⁺  ⇌  LaCl²⁺ + Cl⁻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   LaCl²⁺  ⇌  LaCl⁺ + Cl⁻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Effective n_i drops below 4.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The osmotic term σ·(cIn − cH)·n_i·RT in J_w is therefore over-estimated by the model at high cF.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RESULT:  the model thinks osmotic backpressure is larger than reality  →  Jw under-predicted  →  mass shortfall.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6880" y="1417320"/>
            <a:ext cx="3698240" cy="365760"/>
          </a:xfrm>
          <a:prstGeom prst="rect">
            <a:avLst/>
          </a:prstGeom>
          <a:solidFill>
            <a:srgbClr val="CC8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6880" y="1417320"/>
            <a:ext cx="36982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CONCENTRATION-DEPENDENT 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6880" y="1783080"/>
            <a:ext cx="3698240" cy="3749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4040" y="1874520"/>
            <a:ext cx="3423920" cy="35661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Real membranes show σ that decreases as cF rises (charge screening, pore-wall interaction).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Spiegler–Kedem assumes σ = constant.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On LaCl₃ sheets, the observed rejection R drops 0.68 → 0.14 across the run.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The optimizer's σ = 1 is the model's best compromise between early-vial (high R) and late-vial (low R) data.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Neither is fit correctly.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560" y="1417320"/>
            <a:ext cx="3698240" cy="365760"/>
          </a:xfrm>
          <a:prstGeom prst="rect">
            <a:avLst/>
          </a:prstGeom>
          <a:solidFill>
            <a:srgbClr val="6A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560" y="1417320"/>
            <a:ext cx="36982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CHANNEL DISAGREEMENT  →  Lp ambiguous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6560" y="1783080"/>
            <a:ext cx="3698240" cy="3749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73720" y="1874520"/>
            <a:ext cx="3423920" cy="35661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Contour panels show: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mass + cF channels  prefer Lp ≈ 5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cV channel          prefers Lp ≈ 2.5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Currently published Lp = 2.49 is the cV-channel basin (optimizer compromise).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Without resolving the physics (n_i, σ(cF)), the right Lp is undefined — the model cannot say.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15000"/>
            <a:ext cx="11277600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779008"/>
            <a:ext cx="1091184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50" b="0" i="1">
                <a:solidFill>
                  <a:srgbClr val="FFFFFF"/>
                </a:solidFill>
                <a:latin typeface="Calibri"/>
              </a:rPr>
              <a:t>RECOMMENDED PATH:  (1) add ion-pairing equilibrium → effective n_i(cF);  (2) parameterize σ(cF) explicitly or use cF-dependent B-form;  (3) report Lp with explicit uncertainty range until #1+#2 are validated.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09 · OPEN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 dirty="0">
                <a:solidFill>
                  <a:srgbClr val="21295C"/>
                </a:solidFill>
                <a:latin typeface="Calibri"/>
              </a:rPr>
              <a:t>Open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91440" cy="10972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777240" cy="7315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55448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σ reparameterization?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920240"/>
            <a:ext cx="7772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1E293B"/>
                </a:solidFill>
                <a:latin typeface="Calibri"/>
              </a:rPr>
              <a:t>Should we </a:t>
            </a:r>
            <a:r>
              <a:rPr sz="1200" b="0" i="0" dirty="0" err="1">
                <a:solidFill>
                  <a:srgbClr val="1E293B"/>
                </a:solidFill>
                <a:latin typeface="Calibri"/>
              </a:rPr>
              <a:t>reparameterize</a:t>
            </a:r>
            <a:r>
              <a:rPr sz="120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E293B"/>
                </a:solidFill>
                <a:latin typeface="Calibri"/>
              </a:rPr>
              <a:t>σ</a:t>
            </a:r>
            <a:r>
              <a:rPr sz="1200" b="0" i="0" dirty="0">
                <a:solidFill>
                  <a:srgbClr val="1E293B"/>
                </a:solidFill>
                <a:latin typeface="Calibri"/>
              </a:rPr>
              <a:t> = exp(</a:t>
            </a:r>
            <a:r>
              <a:rPr sz="1200" b="0" i="0" dirty="0" err="1">
                <a:solidFill>
                  <a:srgbClr val="1E293B"/>
                </a:solidFill>
                <a:latin typeface="Calibri"/>
              </a:rPr>
              <a:t>η</a:t>
            </a:r>
            <a:r>
              <a:rPr sz="1200" b="0" i="0" dirty="0">
                <a:solidFill>
                  <a:srgbClr val="1E293B"/>
                </a:solidFill>
                <a:latin typeface="Calibri"/>
              </a:rPr>
              <a:t>)/(1+exp(</a:t>
            </a:r>
            <a:r>
              <a:rPr sz="1200" b="0" i="0" dirty="0" err="1">
                <a:solidFill>
                  <a:srgbClr val="1E293B"/>
                </a:solidFill>
                <a:latin typeface="Calibri"/>
              </a:rPr>
              <a:t>η</a:t>
            </a:r>
            <a:r>
              <a:rPr sz="1200" b="0" i="0" dirty="0">
                <a:solidFill>
                  <a:srgbClr val="1E293B"/>
                </a:solidFill>
                <a:latin typeface="Calibri"/>
              </a:rPr>
              <a:t>)), </a:t>
            </a:r>
            <a:r>
              <a:rPr sz="1200" b="0" i="0" dirty="0" err="1">
                <a:solidFill>
                  <a:srgbClr val="1E293B"/>
                </a:solidFill>
                <a:latin typeface="Calibri"/>
              </a:rPr>
              <a:t>η</a:t>
            </a:r>
            <a:r>
              <a:rPr sz="1200" b="0" i="0" dirty="0">
                <a:solidFill>
                  <a:srgbClr val="1E293B"/>
                </a:solidFill>
                <a:latin typeface="Calibri"/>
              </a:rPr>
              <a:t> ∈ </a:t>
            </a:r>
            <a:r>
              <a:rPr sz="1200" b="0" i="0" dirty="0" err="1">
                <a:solidFill>
                  <a:srgbClr val="1E293B"/>
                </a:solidFill>
                <a:latin typeface="Calibri"/>
              </a:rPr>
              <a:t>ℝ</a:t>
            </a:r>
            <a:r>
              <a:rPr sz="1200" b="0" i="0" dirty="0">
                <a:solidFill>
                  <a:srgbClr val="1E293B"/>
                </a:solidFill>
                <a:latin typeface="Calibri"/>
              </a:rPr>
              <a:t>, to eliminate the {</a:t>
            </a:r>
            <a:r>
              <a:rPr sz="1200" b="0" i="0" dirty="0" err="1">
                <a:solidFill>
                  <a:srgbClr val="1E293B"/>
                </a:solidFill>
                <a:latin typeface="Calibri"/>
              </a:rPr>
              <a:t>σ</a:t>
            </a:r>
            <a:r>
              <a:rPr sz="1200" b="0" i="0" dirty="0">
                <a:solidFill>
                  <a:srgbClr val="1E293B"/>
                </a:solidFill>
                <a:latin typeface="Calibri"/>
              </a:rPr>
              <a:t>=0, </a:t>
            </a:r>
            <a:r>
              <a:rPr sz="1200" b="0" i="0" dirty="0" err="1">
                <a:solidFill>
                  <a:srgbClr val="1E293B"/>
                </a:solidFill>
                <a:latin typeface="Calibri"/>
              </a:rPr>
              <a:t>σ</a:t>
            </a:r>
            <a:r>
              <a:rPr sz="1200" b="0" i="0" dirty="0">
                <a:solidFill>
                  <a:srgbClr val="1E293B"/>
                </a:solidFill>
                <a:latin typeface="Calibri"/>
              </a:rPr>
              <a:t>=1} corners?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0" y="1783080"/>
            <a:ext cx="155448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0" y="1801368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experimental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06040"/>
            <a:ext cx="11247120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2606040"/>
            <a:ext cx="91440" cy="10972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2788920"/>
            <a:ext cx="777240" cy="7315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788920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74320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Two-stage fit?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10896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Profile-likelihood approach: lock Lp from mass-litmus (Lp̂ = slope · 36000 / (Am · ρ · ΔP)), then fit (σ, B) on concentration only. Equivalent to a frequentist profile over the Lp axis.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0" y="2971800"/>
            <a:ext cx="155448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0" y="2990088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computational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794760"/>
            <a:ext cx="11247120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794760"/>
            <a:ext cx="91440" cy="109728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3977640"/>
            <a:ext cx="777240" cy="73152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3977640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93192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Interior σ box?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29768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Tighten Pyomo Var bound from σ ∈ (0,1) to σ ∈ [0.30, 0.85]. If Obj jumps back up after constraining the interior, the corners are global minima → model is mis-specified.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0" y="4160520"/>
            <a:ext cx="1554480" cy="365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0" y="4178808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computational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11247120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4983480"/>
            <a:ext cx="91440" cy="10972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" y="5166360"/>
            <a:ext cx="777240" cy="7315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5166360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5120640"/>
            <a:ext cx="7772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E293B"/>
                </a:solidFill>
                <a:latin typeface="Calibri"/>
              </a:rPr>
              <a:t>Retentate weight?</a:t>
            </a:r>
            <a:r>
              <a:rPr lang="en-US" sz="1400" b="1" i="0" dirty="0">
                <a:solidFill>
                  <a:srgbClr val="1E293B"/>
                </a:solidFill>
                <a:latin typeface="Calibri"/>
              </a:rPr>
              <a:t> (GPT question)</a:t>
            </a:r>
            <a:endParaRPr sz="1400" b="1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600200" y="548640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Is 0.3% the right standard deviation for the in-line retentate conductivity probe? If actual noise is 1-2%, the cF term currently dominates the WSSE by 9-44× relative to truth. Easy sensitivity test.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0" y="5349240"/>
            <a:ext cx="1554480" cy="3657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058400" y="5367528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both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diagnosis + fix + open questions for collaborators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03 · REPRODUCIBILITY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i="0" dirty="0">
                <a:solidFill>
                  <a:srgbClr val="21295C"/>
                </a:solidFill>
                <a:latin typeface="Calibri"/>
              </a:rPr>
              <a:t>Byte-i</a:t>
            </a:r>
            <a:r>
              <a:rPr sz="2600" b="1" i="0" dirty="0">
                <a:solidFill>
                  <a:srgbClr val="21295C"/>
                </a:solidFill>
                <a:latin typeface="Calibri"/>
              </a:rPr>
              <a:t>dentical replication of DATA1 + DATA2 published figures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44752"/>
            <a:ext cx="5486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DATA1 — Apparatus Figure 2 (</a:t>
            </a:r>
            <a:r>
              <a:rPr sz="1200" b="1" i="0" dirty="0" err="1">
                <a:solidFill>
                  <a:srgbClr val="FFFFFF"/>
                </a:solidFill>
                <a:latin typeface="Calibri"/>
              </a:rPr>
              <a:t>KCl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 mass</a:t>
            </a:r>
            <a:r>
              <a:rPr lang="en-US" sz="1200" b="1" i="0" dirty="0">
                <a:solidFill>
                  <a:srgbClr val="FFFFFF"/>
                </a:solidFill>
                <a:latin typeface="Calibri"/>
              </a:rPr>
              <a:t>, concentration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 vs time)</a:t>
            </a:r>
          </a:p>
        </p:txBody>
      </p:sp>
      <p:pic>
        <p:nvPicPr>
          <p:cNvPr id="9" name="Picture 8" descr="_v3_mass_BEFORE_tr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0376" y="2194560"/>
            <a:ext cx="5029200" cy="42062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1444752"/>
            <a:ext cx="5486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21295C"/>
                </a:solidFill>
                <a:latin typeface="Calibri"/>
              </a:rPr>
              <a:t>DATA2 — Lag-mode Figure 6 (</a:t>
            </a:r>
            <a:r>
              <a:rPr sz="1200" b="1" i="0" dirty="0" err="1">
                <a:solidFill>
                  <a:srgbClr val="21295C"/>
                </a:solidFill>
                <a:latin typeface="Calibri"/>
              </a:rPr>
              <a:t>KCl</a:t>
            </a:r>
            <a:r>
              <a:rPr sz="1200" b="1" i="0" dirty="0">
                <a:solidFill>
                  <a:srgbClr val="21295C"/>
                </a:solidFill>
                <a:latin typeface="Calibri"/>
              </a:rPr>
              <a:t>)</a:t>
            </a:r>
          </a:p>
        </p:txBody>
      </p:sp>
      <p:pic>
        <p:nvPicPr>
          <p:cNvPr id="12" name="Picture 11" descr="_v3_mass_AFTER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4815" y="1325880"/>
            <a:ext cx="5029200" cy="4206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manifest_default calls materialize_all with the exact same args the legacy runfile used — no extra_opts overrides flow through; conductivity_paper.py stays frozen.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diagnosis + fix + open questions for collaborators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3 / 10</a:t>
            </a:r>
          </a:p>
        </p:txBody>
      </p:sp>
      <p:pic>
        <p:nvPicPr>
          <p:cNvPr id="20" name="Picture 19" descr="A group of graphs with different colored lines&#10;&#10;AI-generated content may be incorrect.">
            <a:extLst>
              <a:ext uri="{FF2B5EF4-FFF2-40B4-BE49-F238E27FC236}">
                <a16:creationId xmlns:a16="http://schemas.microsoft.com/office/drawing/2014/main" id="{671DD577-9A64-651B-E01A-4CA6941EF4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1801368"/>
            <a:ext cx="4389121" cy="4417622"/>
          </a:xfrm>
          <a:prstGeom prst="rect">
            <a:avLst/>
          </a:prstGeom>
        </p:spPr>
      </p:pic>
      <p:pic>
        <p:nvPicPr>
          <p:cNvPr id="22" name="Picture 21" descr="A group of graphs showing different types of cell mass&#10;&#10;AI-generated content may be incorrect.">
            <a:extLst>
              <a:ext uri="{FF2B5EF4-FFF2-40B4-BE49-F238E27FC236}">
                <a16:creationId xmlns:a16="http://schemas.microsoft.com/office/drawing/2014/main" id="{2F778086-1ECB-8914-4F1D-1037323C9E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8788" y="2126192"/>
            <a:ext cx="5747544" cy="3651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04 · DATA3 FIRST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DATA3 first run: same code, three salts — three distinct failure patterns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371600"/>
                <a:ext cx="1124712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1400" b="0" i="1" dirty="0">
                    <a:solidFill>
                      <a:srgbClr val="1E293B"/>
                    </a:solidFill>
                    <a:latin typeface="Calibri"/>
                  </a:rPr>
                  <a:t>First DATA3 fit on the 11 single-salt sheets. Same WSSE objective:  </a:t>
                </a:r>
                <a14:m>
                  <m:oMath xmlns:m="http://schemas.openxmlformats.org/officeDocument/2006/math">
                    <m:r>
                      <a:rPr lang="el-GR" sz="1400" b="0" i="1" dirty="0" smtClean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𝑂𝑏𝑗</m:t>
                    </m:r>
                    <m:r>
                      <a:rPr lang="el-GR" sz="1400" b="0" i="1" dirty="0" smtClean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= 1</m:t>
                    </m:r>
                    <m:r>
                      <a:rPr lang="el-GR" sz="1400" b="0" i="1" dirty="0" smtClean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l-GR" sz="1400" b="0" i="1" dirty="0" smtClean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 · ( </m:t>
                    </m:r>
                    <m:r>
                      <m:rPr>
                        <m:sty m:val="p"/>
                      </m:rPr>
                      <a:rPr lang="el-GR" sz="1400" b="0" i="0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l-GR" sz="14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l-GR" sz="1400" b="0" i="0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l-GR" sz="14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l-GR" sz="14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/0.01)²/</m:t>
                    </m:r>
                    <m:r>
                      <a:rPr lang="el-GR" sz="14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l-GR" sz="14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l-GR" sz="14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l-GR" sz="14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 +  </m:t>
                    </m:r>
                    <m:r>
                      <m:rPr>
                        <m:sty m:val="p"/>
                      </m:rPr>
                      <a:rPr lang="el-GR" sz="1400" b="0" i="0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l-GR" sz="14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l-GR" sz="1400" b="0" i="0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l-GR" sz="14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𝑐𝑣</m:t>
                    </m:r>
                    <m:r>
                      <a:rPr lang="el-GR" sz="14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/(0.03·</m:t>
                    </m:r>
                    <m:r>
                      <a:rPr lang="el-GR" sz="14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𝑐𝑣</m:t>
                    </m:r>
                    <m:r>
                      <a:rPr lang="el-GR" sz="14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))²/</m:t>
                    </m:r>
                    <m:r>
                      <a:rPr lang="el-GR" sz="14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l-GR" sz="14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l-GR" sz="14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l-GR" sz="14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 +  </m:t>
                    </m:r>
                    <m:r>
                      <m:rPr>
                        <m:sty m:val="p"/>
                      </m:rPr>
                      <a:rPr lang="el-GR" sz="1400" b="0" i="0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l-GR" sz="14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l-GR" sz="1400" b="0" i="0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l-GR" sz="14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𝑐𝑓</m:t>
                    </m:r>
                    <m:r>
                      <a:rPr lang="el-GR" sz="14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/(0.003·</m:t>
                    </m:r>
                    <m:r>
                      <a:rPr lang="el-GR" sz="14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𝑐𝑓</m:t>
                    </m:r>
                    <m:r>
                      <a:rPr lang="el-GR" sz="14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))²/</m:t>
                    </m:r>
                    <m:r>
                      <a:rPr lang="el-GR" sz="14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l-GR" sz="14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l-GR" sz="14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l-GR" sz="14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sz="1400" b="0" i="1" dirty="0">
                    <a:solidFill>
                      <a:srgbClr val="1E293B"/>
                    </a:solidFill>
                    <a:latin typeface="Calibri"/>
                  </a:rPr>
                  <a:t>.  Three distinct failure patterns appear — all </a:t>
                </a:r>
                <a:r>
                  <a:rPr sz="1400" b="0" i="1" dirty="0" err="1">
                    <a:solidFill>
                      <a:srgbClr val="1E293B"/>
                    </a:solidFill>
                    <a:latin typeface="Calibri"/>
                  </a:rPr>
                  <a:t>σ</a:t>
                </a:r>
                <a:r>
                  <a:rPr sz="1400" b="0" i="1" dirty="0">
                    <a:solidFill>
                      <a:srgbClr val="1E293B"/>
                    </a:solidFill>
                    <a:latin typeface="Calibri"/>
                  </a:rPr>
                  <a:t>-pathologies, not data bugs: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371600"/>
                <a:ext cx="11247120" cy="430887"/>
              </a:xfrm>
              <a:prstGeom prst="rect">
                <a:avLst/>
              </a:prstGeom>
              <a:blipFill>
                <a:blip r:embed="rId2"/>
                <a:stretch>
                  <a:fillRect l="-1016" t="-14286" b="-2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457200" y="2011680"/>
            <a:ext cx="3749039" cy="4297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3749039" cy="3657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029968"/>
            <a:ext cx="37490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MODE A — moderate σ↑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MASS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3464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1E293B"/>
                </a:solidFill>
                <a:latin typeface="Calibri"/>
              </a:rPr>
              <a:t>vial-1 prediction overshoots to ~1.5 g; vials 2-10 plateau at 0.7-0.95 g (below the 1.0 g cap).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519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predicted retentate matches measured retentate; predicted vial under-predicts ICP-OES by ~30 %.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24528" y="2011680"/>
            <a:ext cx="3749039" cy="4297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24528" y="2011680"/>
            <a:ext cx="3749039" cy="36576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24528" y="2029968"/>
            <a:ext cx="37490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MODE B — σ → 1.0 (degenerate)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25146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MASS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83464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predictions explode to 6-10 g per vial; model thinks much more permeate is flowing than the balance shows.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42519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CONCENTRATION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457200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predicted retentate severely under-predicts (8 vs 22 mM); predicted vial = 0 across the run.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1856" y="2011680"/>
            <a:ext cx="3749039" cy="4297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91856" y="2011680"/>
            <a:ext cx="3749039" cy="365760"/>
          </a:xfrm>
          <a:prstGeom prst="rect">
            <a:avLst/>
          </a:prstGeom>
          <a:solidFill>
            <a:srgbClr val="5E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91856" y="2029968"/>
            <a:ext cx="37490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MODE C — σ↓, over-prediction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4736" y="25146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MASS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4736" y="283464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predictions overshoot to 6-12 g per vial — same direction as Mode B but conc plot tells a different story.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4736" y="42519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CONCENTRATION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74736" y="457200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predicted retentate &gt; measured retentate (60 vs 43 mM); predicted vial &gt; ICP — model lets too much salt through.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diagnosis + fix + open questions for collaborators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06 · LHS MULTISTART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R10 + R12 — Latin Hypercube multistart over (Lp, σ, B), narrowed boxes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2344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481328"/>
            <a:ext cx="14630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Lp box (linear)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481328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σ box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79" y="1481328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 / beta_0 box (log)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1481328"/>
            <a:ext cx="3520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Basin found · Obj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65960"/>
            <a:ext cx="112471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965960"/>
            <a:ext cx="91440" cy="5943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130552"/>
            <a:ext cx="12344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SINGLE START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130552"/>
            <a:ext cx="1463039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1E293B"/>
                </a:solidFill>
                <a:latin typeface="Calibri"/>
              </a:rPr>
              <a:t>Lp0 =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13055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σ0 = 0.9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79" y="213055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B0 = 0.5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13055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Mode B (σ → 1) · Obj = 2.04 × 10⁸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560320"/>
            <a:ext cx="11247120" cy="594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2560320"/>
            <a:ext cx="91440" cy="59436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724912"/>
            <a:ext cx="12344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LHS R10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2724912"/>
            <a:ext cx="1463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[5, 14]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272491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(0.10, 0.95)  open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79" y="272491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log [1e-6, 5]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272491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Mode C (σ = 0) · Obj = 4.93 × 10⁷ (4× reduction)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154679"/>
            <a:ext cx="112471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3154679"/>
            <a:ext cx="91440" cy="594360"/>
          </a:xfrm>
          <a:prstGeom prst="rect">
            <a:avLst/>
          </a:prstGeom>
          <a:solidFill>
            <a:srgbClr val="5E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3319272"/>
            <a:ext cx="12344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LHS R12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3319272"/>
            <a:ext cx="1463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[5, 8] narrowed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331927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(0.10, 0.95)  open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79" y="331927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log [0.01, 5]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331927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Mode B again · Obj = 6.08 × 10⁹ (cornered)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434840"/>
            <a:ext cx="11247120" cy="1920240"/>
          </a:xfrm>
          <a:prstGeom prst="rect">
            <a:avLst/>
          </a:prstGeom>
          <a:solidFill>
            <a:srgbClr val="FEF8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4434840"/>
            <a:ext cx="91440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40" y="45262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LHS samples and corner-hopping — what the math says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937760"/>
            <a:ext cx="10789920" cy="12926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200" b="0" dirty="0">
                <a:solidFill>
                  <a:srgbClr val="1E293B"/>
                </a:solidFill>
                <a:latin typeface="Calibri"/>
              </a:rPr>
              <a:t>Latin-Hypercube</a:t>
            </a:r>
            <a:r>
              <a:rPr lang="en-US" sz="1200" b="0" dirty="0">
                <a:solidFill>
                  <a:srgbClr val="1E293B"/>
                </a:solidFill>
                <a:latin typeface="Calibri"/>
              </a:rPr>
              <a:t> Sampling used</a:t>
            </a:r>
            <a:endParaRPr lang="en-US" sz="1200" dirty="0">
              <a:solidFill>
                <a:srgbClr val="1E293B"/>
              </a:solidFill>
              <a:latin typeface="Calibri"/>
            </a:endParaRPr>
          </a:p>
          <a:p>
            <a:pPr marL="228600" indent="-228600">
              <a:buChar char="•"/>
            </a:pPr>
            <a:r>
              <a:rPr sz="1200" b="0" dirty="0">
                <a:solidFill>
                  <a:srgbClr val="1E293B"/>
                </a:solidFill>
                <a:latin typeface="Calibri"/>
              </a:rPr>
              <a:t>IPOPT is local.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Multistart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is a global-search heuristic: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best_fit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=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argmin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_{k=1..N} Obj(IPOPT(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θ_k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)) over optimal-status runs. Narrowing the LHS box keeps starts inside the physics window but doesn't restrict where IPOPT can terminate.</a:t>
            </a:r>
          </a:p>
          <a:p>
            <a:pPr marL="228600" indent="-228600">
              <a:buChar char="•"/>
            </a:pPr>
            <a:r>
              <a:rPr sz="1200" b="0" dirty="0">
                <a:solidFill>
                  <a:srgbClr val="1E293B"/>
                </a:solidFill>
                <a:latin typeface="Calibri"/>
              </a:rPr>
              <a:t>R10: factor-of-4 Obj cut by escaping Mode B. R12: tightening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Lp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to [5,8] removed the upper-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Lp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draws but the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σ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=1 corner remains attractive when loss-function structure prefers it. Landscape fix has to come from new observables, not box-tightening alone.</a:t>
            </a:r>
          </a:p>
          <a:p>
            <a:pPr marL="228600" indent="-228600">
              <a:buChar char="•"/>
            </a:pPr>
            <a:r>
              <a:rPr sz="1200" b="0" dirty="0" err="1">
                <a:solidFill>
                  <a:srgbClr val="1E293B"/>
                </a:solidFill>
                <a:latin typeface="Calibri"/>
              </a:rPr>
              <a:t>Pyomo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Var bounds remain wider than the LHS box: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Lp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∈ (0.5, 50), B ∈ (1e-6, 30),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σ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∈ (0, 1). LHS just controls trial starts; if a corner solution is the true global minimum it will still be reached. The next two slides tackle the loss-function side.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diagnosis + fix + open questions for collaborators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07 · MASS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Tried per-sheet quadrature (R11) → reverted to DATA2's 0.01 g convention (R13)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WSSE MASS TERM — frequentist / MLE reading: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onsolas"/>
              </a:rPr>
              <a:t>obj_m  =  Σ_i ( (m_pred_i − m_meas_i) / mass_scale_g )²    /    N_m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F1F5F9"/>
                </a:solidFill>
                <a:latin typeface="Calibri"/>
              </a:rPr>
              <a:t>Under Gaussian noise N(0, σ²) on m, this is the negative log-likelihood up to a constant. mass_scale_g IS σ — the standard deviation of the noise on a single balance reading. It is a property of the instrument, not of the salt.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26080"/>
            <a:ext cx="5486400" cy="3383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926080"/>
            <a:ext cx="91440" cy="33832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03580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R11 — tried per-sheet quadrature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50292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mass_scale_g = sqrt( σ_balance² + (α · |M_F0 − Final|)² ), α = 0.05.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Idea: salt-aware scaling so NaCl/CaCl₂/LaCl₃ each get a sensible mass weight. NaCl: 0.020 g · CaCl₂: 0.013 g · LaCl₃: 0.011 g.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Result: Obj jumped from 4.93×10⁷ (LHS R10) to 6.08×10⁹ on NaCl-MC2 — looser mass term let optimizer slide to σ=1 corner. The α·|signal| term was Bayesian regularization in disguise.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926080"/>
            <a:ext cx="5486400" cy="3383280"/>
          </a:xfrm>
          <a:prstGeom prst="rect">
            <a:avLst/>
          </a:prstGeom>
          <a:solidFill>
            <a:srgbClr val="F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63640" y="2926080"/>
            <a:ext cx="91440" cy="338328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303580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990011"/>
                </a:solidFill>
                <a:latin typeface="Calibri"/>
              </a:rPr>
              <a:t>R13 — reverted to DATA2 convention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429000"/>
            <a:ext cx="50292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mass_scale_g  =  MASS_BALANCE_SIGMA_G  =  0.01 g, salt-independent, sheet-independent — matches DATA2 published convention.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Frequentist justification: σ_balance is a property of the analytical balance, not of the salt. Reweighting the loss function per salt would mean "different noise model per salt" — physically wrong.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Salt-specific physics belongs in the parameters (θ = (Lp, B, σ)), not in the noise model.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DATA1 / DATA2 stay byte-identical: both objectives use data_stru['data_config'].get('mass_scale_g', 0.01), so missing field → 0.01 g. Path forward: add observables (next slide), not new weights.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diagnosis + fix + open questions for collaborators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08 · NEW OBSERVABLES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 dirty="0">
                <a:solidFill>
                  <a:srgbClr val="21295C"/>
                </a:solidFill>
                <a:latin typeface="Calibri"/>
              </a:rPr>
              <a:t>Sidebar ICP-OES (R14) + Final anchor in WSSE (R15)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00" cy="4937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91440" cy="4937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alibri"/>
              </a:rPr>
              <a:t>WHAT WAS HIDDEN — sidebar cols 14-21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Feed / Diafiltrate / Retentate / Final Tube ICP rows — ignored by old loader.</a:t>
            </a:r>
          </a:p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Conversion (per row): c [mM]  =  ICP [mg/L]  ·  (V_samp + V_acid) / V_samp  /  cation_MW [g/mol].</a:t>
            </a:r>
          </a:p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Stoichiometry: 1 cation / formula unit holds for NaCl, KCl, CaCl₂, LaCl₃ → c [mM of salt] = c [mM of cation].</a:t>
            </a:r>
          </a:p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R15 anchor (added to both obj_rule functions):  obj_cf  +=  ((cF[N, τ_last] − Final_Tube_ICP) / (0.003 · Final_Tube_ICP))².</a:t>
            </a:r>
          </a:p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Same 0.3% relative weighting DATA2 uses for per-sample cF. R16 also parses RPM from notes.</a:t>
            </a:r>
          </a:p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icp_final_mM is None / ≤0 → anchor silently skipped (DATA1/DATA2 unchanged).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5486400" cy="4937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91440" cy="4937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508760"/>
            <a:ext cx="5029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065A82"/>
                </a:solidFill>
                <a:latin typeface="Calibri"/>
              </a:rPr>
              <a:t>FINAL ICP — per sheet (R14)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965960"/>
            <a:ext cx="5029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201167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NaCl-MC2 cF_final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01167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23.9 mM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331720"/>
            <a:ext cx="502920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237743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CaCl₂-MC2 cF_final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37743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25.1 mM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697479"/>
            <a:ext cx="5029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19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LaCl₃-MC2 cF_final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74319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0.99 mM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3063239"/>
            <a:ext cx="502920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310895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S2NaCl-MC5 cF_final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10895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8.32 mM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3428999"/>
            <a:ext cx="5029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347471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SLaCl₃-MC4 cF_final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347471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−0.001 mM (skip)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3794759"/>
            <a:ext cx="502920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75120" y="384047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SNaCl-MC4 cF_final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384047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86.6 mM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diagnosis + fix + open questions for collaborators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MintBar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SectionLabel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05A · MC2</a:t>
            </a:r>
          </a:p>
        </p:txBody>
      </p:sp>
      <p:sp>
        <p:nvSpPr>
          <p:cNvPr id="5" name="PageChip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1">
                <a:solidFill>
                  <a:srgbClr val="02C39A"/>
                </a:solidFill>
                <a:latin typeface="Calibri"/>
              </a:rPr>
              <a:t>06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>
                <a:solidFill>
                  <a:srgbClr val="21295C"/>
                </a:solidFill>
                <a:latin typeface="Calibri"/>
              </a:rPr>
              <a:t>NF270 MC2 — base salts (NaCl, CaCl₂, LaCl₃)</a:t>
            </a:r>
          </a:p>
        </p:txBody>
      </p:sp>
      <p:pic>
        <p:nvPicPr>
          <p:cNvPr id="7" name="StatusPane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77600" cy="457200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57200" y="5943600"/>
            <a:ext cx="11277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i="1">
                <a:solidFill>
                  <a:srgbClr val="64748B"/>
                </a:solidFill>
                <a:latin typeface="Calibri"/>
              </a:rPr>
              <a:t>The base-salts panel — what you asked about.  Same code, three different cation valences, on the same membrane coupon.  Mass-litmus baseline (σ = 0, B = 1e-6) — this is the σ = 0 corner.  NaCl mass slope is under-predicted; LaCl₃ best.</a:t>
            </a:r>
          </a:p>
        </p:txBody>
      </p:sp>
      <p:pic>
        <p:nvPicPr>
          <p:cNvPr id="9" name="ND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10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2000" b="1">
                <a:solidFill>
                  <a:srgbClr val="21295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MintBar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SectionLabel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05B · MC3</a:t>
            </a:r>
          </a:p>
        </p:txBody>
      </p:sp>
      <p:sp>
        <p:nvSpPr>
          <p:cNvPr id="5" name="PageChip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1">
                <a:solidFill>
                  <a:srgbClr val="02C39A"/>
                </a:solidFill>
                <a:latin typeface="Calibri"/>
              </a:rPr>
              <a:t>07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 dirty="0">
                <a:solidFill>
                  <a:srgbClr val="21295C"/>
                </a:solidFill>
                <a:latin typeface="Calibri"/>
              </a:rPr>
              <a:t>NF270 MC3 — sheets (</a:t>
            </a:r>
            <a:r>
              <a:rPr sz="2400" b="1" dirty="0" err="1">
                <a:solidFill>
                  <a:srgbClr val="21295C"/>
                </a:solidFill>
                <a:latin typeface="Calibri"/>
              </a:rPr>
              <a:t>SCaCl</a:t>
            </a:r>
            <a:r>
              <a:rPr sz="2400" b="1" dirty="0">
                <a:solidFill>
                  <a:srgbClr val="21295C"/>
                </a:solidFill>
                <a:latin typeface="Calibri"/>
              </a:rPr>
              <a:t>₂, S2CaCl₂, </a:t>
            </a:r>
            <a:r>
              <a:rPr sz="2400" b="1" dirty="0" err="1">
                <a:solidFill>
                  <a:srgbClr val="21295C"/>
                </a:solidFill>
                <a:latin typeface="Calibri"/>
              </a:rPr>
              <a:t>SNaCl</a:t>
            </a:r>
            <a:r>
              <a:rPr sz="2400" b="1" dirty="0">
                <a:solidFill>
                  <a:srgbClr val="21295C"/>
                </a:solidFill>
                <a:latin typeface="Calibri"/>
              </a:rPr>
              <a:t>)</a:t>
            </a:r>
          </a:p>
        </p:txBody>
      </p:sp>
      <p:pic>
        <p:nvPicPr>
          <p:cNvPr id="7" name="StatusPane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77600" cy="457200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57200" y="5943600"/>
            <a:ext cx="11277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i="1">
                <a:solidFill>
                  <a:srgbClr val="64748B"/>
                </a:solidFill>
                <a:latin typeface="Calibri"/>
              </a:rPr>
              <a:t>Second NF270 coupon, three step sheets.  Mass-litmus reads similar Lₚ to MC2; SNaCl shows the strongest mass under-prediction (high baseline permeate flow).</a:t>
            </a:r>
          </a:p>
        </p:txBody>
      </p:sp>
      <p:pic>
        <p:nvPicPr>
          <p:cNvPr id="9" name="ND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10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2000" b="1">
                <a:solidFill>
                  <a:srgbClr val="21295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MintBar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SectionLabel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05C · MC4</a:t>
            </a:r>
          </a:p>
        </p:txBody>
      </p:sp>
      <p:sp>
        <p:nvSpPr>
          <p:cNvPr id="5" name="PageChip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1">
                <a:solidFill>
                  <a:srgbClr val="02C39A"/>
                </a:solidFill>
                <a:latin typeface="Calibri"/>
              </a:rPr>
              <a:t>08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 dirty="0">
                <a:solidFill>
                  <a:srgbClr val="21295C"/>
                </a:solidFill>
                <a:latin typeface="Calibri"/>
              </a:rPr>
              <a:t>NF270 MC4 — sheets (</a:t>
            </a:r>
            <a:r>
              <a:rPr sz="2400" b="1" dirty="0" err="1">
                <a:solidFill>
                  <a:srgbClr val="21295C"/>
                </a:solidFill>
                <a:latin typeface="Calibri"/>
              </a:rPr>
              <a:t>SLaCl</a:t>
            </a:r>
            <a:r>
              <a:rPr sz="2400" b="1" dirty="0">
                <a:solidFill>
                  <a:srgbClr val="21295C"/>
                </a:solidFill>
                <a:latin typeface="Calibri"/>
              </a:rPr>
              <a:t>₃, </a:t>
            </a:r>
            <a:r>
              <a:rPr sz="2400" b="1" dirty="0" err="1">
                <a:solidFill>
                  <a:srgbClr val="21295C"/>
                </a:solidFill>
                <a:latin typeface="Calibri"/>
              </a:rPr>
              <a:t>SNaCl</a:t>
            </a:r>
            <a:r>
              <a:rPr sz="2400" b="1" dirty="0">
                <a:solidFill>
                  <a:srgbClr val="21295C"/>
                </a:solidFill>
                <a:latin typeface="Calibri"/>
              </a:rPr>
              <a:t>)</a:t>
            </a:r>
          </a:p>
        </p:txBody>
      </p:sp>
      <p:pic>
        <p:nvPicPr>
          <p:cNvPr id="7" name="StatusPane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060" y="1182670"/>
            <a:ext cx="8412480" cy="457200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57200" y="5943600"/>
            <a:ext cx="11277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i="1">
                <a:solidFill>
                  <a:srgbClr val="64748B"/>
                </a:solidFill>
                <a:latin typeface="Calibri"/>
              </a:rPr>
              <a:t>Third coupon, two step sheets only (SLaCl₃ + SNaCl).  LaCl₃ rejection again very high — Final-Tube ICP read ≈ −0.001 mM here, so the R15 anchor is silently skipped on this sheet.</a:t>
            </a:r>
          </a:p>
        </p:txBody>
      </p:sp>
      <p:pic>
        <p:nvPicPr>
          <p:cNvPr id="9" name="ND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10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2000" b="1">
                <a:solidFill>
                  <a:srgbClr val="21295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MintBar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SectionLabel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05D · MC5</a:t>
            </a:r>
          </a:p>
        </p:txBody>
      </p:sp>
      <p:sp>
        <p:nvSpPr>
          <p:cNvPr id="5" name="PageChip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1">
                <a:solidFill>
                  <a:srgbClr val="02C39A"/>
                </a:solidFill>
                <a:latin typeface="Calibri"/>
              </a:rPr>
              <a:t>09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 dirty="0">
                <a:solidFill>
                  <a:srgbClr val="21295C"/>
                </a:solidFill>
                <a:latin typeface="Calibri"/>
              </a:rPr>
              <a:t>NF270 MC5 — sheets (NaCl, S2NaCl, </a:t>
            </a:r>
            <a:r>
              <a:rPr sz="2400" b="1" dirty="0" err="1">
                <a:solidFill>
                  <a:srgbClr val="21295C"/>
                </a:solidFill>
                <a:latin typeface="Calibri"/>
              </a:rPr>
              <a:t>SNaCl</a:t>
            </a:r>
            <a:r>
              <a:rPr sz="2400" b="1" dirty="0">
                <a:solidFill>
                  <a:srgbClr val="21295C"/>
                </a:solidFill>
                <a:latin typeface="Calibri"/>
              </a:rPr>
              <a:t>)</a:t>
            </a:r>
          </a:p>
        </p:txBody>
      </p:sp>
      <p:pic>
        <p:nvPicPr>
          <p:cNvPr id="7" name="StatusPane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5875"/>
            <a:ext cx="10396740" cy="457200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57200" y="5943600"/>
            <a:ext cx="11277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i="1">
                <a:solidFill>
                  <a:srgbClr val="64748B"/>
                </a:solidFill>
                <a:latin typeface="Calibri"/>
              </a:rPr>
              <a:t>Fourth coupon, three repeat NaCl variants.  S2NaCl is the diluting-experiment sheet (100 mM Feed, 0 mM Diafiltrate) — that is why the retentate is decreasing.</a:t>
            </a:r>
          </a:p>
        </p:txBody>
      </p:sp>
      <p:pic>
        <p:nvPicPr>
          <p:cNvPr id="9" name="ND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10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2000" b="1">
                <a:solidFill>
                  <a:srgbClr val="21295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7315200" cy="292608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10 · DILUTION VS CONCENTRATION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600" y="0"/>
            <a:ext cx="8229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02C39A"/>
                </a:solidFill>
                <a:latin typeface="Calibri"/>
              </a:rPr>
              <a:t>REGIME SPLIT — IT'S NOT WHAT WE THOUGHT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800" b="1">
                <a:solidFill>
                  <a:srgbClr val="065A82"/>
                </a:solidFill>
                <a:latin typeface="Calibri"/>
              </a:rPr>
              <a:t>Only 2 of 11 single-salt sheets are diluting; 9 are concentrating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303520" cy="457200"/>
          </a:xfrm>
          <a:prstGeom prst="rect">
            <a:avLst/>
          </a:prstGeom>
          <a:solidFill>
            <a:srgbClr val="2C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53035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DILUTING REGIME  ·  2 sheets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20"/>
            <a:ext cx="5303520" cy="397763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4846320" cy="3749039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cF starts HIGH (≈95 mM), DROPS toward zero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Diafiltrate is DI water washing salt out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ΔΠ = (cIn − cH)·ni·RT shrinks ~10× over the run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MC3.07.22.24_SNaCl     95.5 → 10.4 mM   ~3 g/vial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MC5.07.23.24_S2NaCl    93.1 → 16.1 mM   ~3 g/vial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Fit quality:  EXCELLENT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Mass model tracks data; cF curve tracks data;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σ-Lp contour basin sits in the interior (σ ≈ 0.45).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Why?  ΔΠ → 0 by mid-run.  Any σ between 0 and 1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gives nearly the same Jw → osmotic term doesn't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constrain the fit, but it doesn't hurt it either.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303520" cy="45720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417320"/>
            <a:ext cx="53035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CONCENTRATING REGIME  ·  9 sheets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874520"/>
            <a:ext cx="5303520" cy="397763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011680"/>
            <a:ext cx="4846320" cy="3749039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cF starts LOW (≈1 mM), RISES sharply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Diafiltrate is salt solution being added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ΔΠ = (cIn − cH)·ni·RT grows 25 – 100× over the run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MC2 NaCl, MC4 SNaCl, MC5 NaCl, MC5 SNaCl  (NaCl)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MC2 CaCl2, MC3 SCaCl2, MC3 S2CaCl2  (CaCl2)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MC2 LaCl3, MC4 SLaCl3  (LaCl3)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Vial mass shrinks from 3 g to ~1 g per vial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Fit quality:  MASS UNDER-PREDICTED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Model falls short of full vial mass on every sheet.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σ pinned at the bound (σ = 1.0 on 7 sheets,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σ = 0.0 on 2 sheets).  Lp pulled low to compensate.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943600"/>
            <a:ext cx="11277600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035040"/>
            <a:ext cx="1091184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Diluting and concentrating are not just different runs — they probe the model differently. The σ·ΔΠ term is silent on dilution, dominant on concentration.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7315200" cy="292608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11 · MASS PREDICTION SHORTFALL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600" y="0"/>
            <a:ext cx="8229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02C39A"/>
                </a:solidFill>
                <a:latin typeface="Calibri"/>
              </a:rPr>
              <a:t>VISUAL EVIDENCE — MASS PER VIAL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800" b="1">
                <a:solidFill>
                  <a:srgbClr val="065A82"/>
                </a:solidFill>
                <a:latin typeface="Calibri"/>
              </a:rPr>
              <a:t>Model nails dilution mass; falls short on every concentration sheet</a:t>
            </a:r>
          </a:p>
        </p:txBody>
      </p:sp>
      <p:pic>
        <p:nvPicPr>
          <p:cNvPr id="8" name="Picture 7" descr="mass-JAO_072224_NF270_MC3_SNaCl_NaCl_07.22.24_S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4206240" cy="41148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532120"/>
            <a:ext cx="4206240" cy="320040"/>
          </a:xfrm>
          <a:prstGeom prst="rect">
            <a:avLst/>
          </a:prstGeom>
          <a:solidFill>
            <a:srgbClr val="2C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532120"/>
            <a:ext cx="42062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MC3.07.22.24_SNaCl  (NaCl, diluting)  ·  predictions track data within ~5 %</a:t>
            </a:r>
          </a:p>
        </p:txBody>
      </p:sp>
      <p:pic>
        <p:nvPicPr>
          <p:cNvPr id="11" name="Picture 10" descr="mass-JAO_072324_NF270_MC5_NaCl_NaCl_07.23.24_Na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417320"/>
            <a:ext cx="4206240" cy="4114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937760" y="5532120"/>
            <a:ext cx="4206240" cy="32004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5532120"/>
            <a:ext cx="42062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MC5.07.23.24_NaCl  (NaCl, concentrating)  ·  predictions plateau below the 1 g cap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1417320"/>
            <a:ext cx="2590800" cy="4434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1554480"/>
            <a:ext cx="23164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WHAT TO LOOK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1874520"/>
            <a:ext cx="2316480" cy="411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Both plots show ~10 vials with per-vial mass reaching ~1 g.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LEFT (diluting):  predicted slope rises across vials.  Matches data point-for-point.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RIGHT (concentrating):  predicted slope is too shallow throughout.  Cumulative predicted mass plateaus below the 1 g cap on every vial.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Same code, same θ-space, same WSSE — only the cF trajectory direction is different.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ALL 9 concentrating sheets show this pattern: NaCl, CaCl2, and LaCl3.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7315200" cy="292608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12 · PHYSICS OF THE ASYMMETRY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600" y="0"/>
            <a:ext cx="8229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02C39A"/>
                </a:solidFill>
                <a:latin typeface="Calibri"/>
              </a:rPr>
              <a:t>WHY DILUTION ESCAPES, CONCENTRATION SUFFERS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800" b="1">
                <a:solidFill>
                  <a:srgbClr val="065A82"/>
                </a:solidFill>
                <a:latin typeface="Calibri"/>
              </a:rPr>
              <a:t>It's the σ·(cIn − cH)·niRT term in Jw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1277600" cy="8686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1091184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1">
                <a:solidFill>
                  <a:srgbClr val="02C39A"/>
                </a:solidFill>
                <a:latin typeface="Calibri"/>
              </a:rPr>
              <a:t>STARLING / KEDEM−KATCHALSKY  WATER FLUX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10911840" cy="5029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Jw  =  Lp · [ ΔP  −  σ · (cIn − cH) · ni · RT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68880"/>
            <a:ext cx="3698240" cy="365760"/>
          </a:xfrm>
          <a:prstGeom prst="rect">
            <a:avLst/>
          </a:prstGeom>
          <a:solidFill>
            <a:srgbClr val="2C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68880"/>
            <a:ext cx="36982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DILUTING:  ΔΠ shrinks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34640"/>
            <a:ext cx="3698240" cy="2560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3332480" cy="23774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cF: 95 → 10 mM, ΔΠ falls ~10×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End of run: σ·ΔΠ ≈ 0 regardless of σ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Jw ≈ Lp · ΔP  (pure Darcy)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σ unconstrained but harmless.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Mass channel identifies Lp.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Model matches data.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46880" y="2468880"/>
            <a:ext cx="3698240" cy="36576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46880" y="2468880"/>
            <a:ext cx="36982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CONCENTRATING:  ΔΠ grows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46880" y="2834640"/>
            <a:ext cx="3698240" cy="2560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29760" y="2971800"/>
            <a:ext cx="3332480" cy="23774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cF: 1 → 100+ mM, ΔΠ rises 25–100×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End of run: σ·ΔΠ is a major term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σ = 1 inflates osmotic backpressure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to ~2× the true physical value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Jw suppressed → mass shortfall.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Lp pulled low to compromise.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Model under-predicts mass.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6560" y="2468880"/>
            <a:ext cx="3698240" cy="365760"/>
          </a:xfrm>
          <a:prstGeom prst="rect">
            <a:avLst/>
          </a:prstGeom>
          <a:solidFill>
            <a:srgbClr val="CC8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36560" y="2468880"/>
            <a:ext cx="36982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DIVALENT / TRIVALENT:  worse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6560" y="2834640"/>
            <a:ext cx="3698240" cy="2560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9440" y="2971800"/>
            <a:ext cx="3332480" cy="23774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CaCl2: ni = 3   LaCl3: ni = 4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(vs NaCl: ni = 2)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Per-mM osmotic contribution is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1.5× larger for CaCl2,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2× larger for LaCl3.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σ = 1 wall on all 5 multivalent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sheets → worst mass under-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prediction in the campaign.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532120"/>
            <a:ext cx="11277600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623560"/>
            <a:ext cx="1091184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Diagnosis:  the optimizer landed on σ = 1 because the cF residual channel pulled it there, but σ = 1 is only physically reasonable when ΔΠ is small.  It's a fitting artifact, not a physics result.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7315200" cy="292608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13 · CONTOUR DIAGNOSIS + FIX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600" y="0"/>
            <a:ext cx="8229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02C39A"/>
                </a:solidFill>
                <a:latin typeface="Calibri"/>
              </a:rPr>
              <a:t>σ-Lp CONTOUR — 10 of 11 SHEETS PIN σ AT A BOUND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800" b="1">
                <a:solidFill>
                  <a:srgbClr val="065A82"/>
                </a:solidFill>
                <a:latin typeface="Calibri"/>
              </a:rPr>
              <a:t>MC3 SNaCl is the only interior fit.  cF residual floor recovers MC4 SNaCl.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85216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585216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CENTERING FIT ACROSS 11 SHEETS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5852160" cy="3794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20240"/>
            <a:ext cx="2011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Sheet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920240"/>
            <a:ext cx="6400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065A82"/>
                </a:solidFill>
                <a:latin typeface="Calibri"/>
              </a:rPr>
              <a:t>Salt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9202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065A82"/>
                </a:solidFill>
                <a:latin typeface="Calibri"/>
              </a:rPr>
              <a:t>Lp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19202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065A82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920240"/>
            <a:ext cx="59436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065A82"/>
                </a:solidFill>
                <a:latin typeface="Calibri"/>
              </a:rPr>
              <a:t>sigma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1920240"/>
            <a:ext cx="868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065A82"/>
                </a:solidFill>
                <a:latin typeface="Calibri"/>
              </a:rPr>
              <a:t>wall?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225040"/>
            <a:ext cx="5760720" cy="304800"/>
          </a:xfrm>
          <a:prstGeom prst="rect">
            <a:avLst/>
          </a:prstGeom>
          <a:solidFill>
            <a:srgbClr val="DE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225040"/>
            <a:ext cx="2011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C824A"/>
                </a:solidFill>
                <a:latin typeface="Calibri"/>
              </a:rPr>
              <a:t>MC3.07.22.24_SNaCl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2225040"/>
            <a:ext cx="6400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2C824A"/>
                </a:solidFill>
                <a:latin typeface="Calibri"/>
              </a:rPr>
              <a:t>NaCl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22250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2C824A"/>
                </a:solidFill>
                <a:latin typeface="Calibri"/>
              </a:rPr>
              <a:t>8.22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22250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2C824A"/>
                </a:solidFill>
                <a:latin typeface="Calibri"/>
              </a:rPr>
              <a:t>14.7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225040"/>
            <a:ext cx="59436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2C824A"/>
                </a:solidFill>
                <a:latin typeface="Calibri"/>
              </a:rPr>
              <a:t>0.46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2225040"/>
            <a:ext cx="868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2C824A"/>
                </a:solidFill>
                <a:latin typeface="Calibri"/>
              </a:rPr>
              <a:t>interior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2529840"/>
            <a:ext cx="2011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CC3333"/>
                </a:solidFill>
                <a:latin typeface="Calibri"/>
              </a:rPr>
              <a:t>MC2.05.07.24_NaCl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2529840"/>
            <a:ext cx="6400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NaCl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25298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9.96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25298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9.68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2529840"/>
            <a:ext cx="59436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1.00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2529840"/>
            <a:ext cx="868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WALL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2834640"/>
            <a:ext cx="2011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CC3333"/>
                </a:solidFill>
                <a:latin typeface="Calibri"/>
              </a:rPr>
              <a:t>MC4.07.11.24_SNaCl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6040" y="2834640"/>
            <a:ext cx="6400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NaCl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6120" y="28346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7.79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4760" y="28346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2.02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2834640"/>
            <a:ext cx="59436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0.00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2834640"/>
            <a:ext cx="868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WALL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3139440"/>
            <a:ext cx="2011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CC3333"/>
                </a:solidFill>
                <a:latin typeface="Calibri"/>
              </a:rPr>
              <a:t>MC5.07.23.24_NaCl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06040" y="3139440"/>
            <a:ext cx="6400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NaCl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46120" y="31394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10.03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4760" y="31394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3.67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400" y="3139440"/>
            <a:ext cx="59436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1.00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3139440"/>
            <a:ext cx="868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WALL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3444240"/>
            <a:ext cx="2011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CC3333"/>
                </a:solidFill>
                <a:latin typeface="Calibri"/>
              </a:rPr>
              <a:t>MC5.07.23.24_SNaCl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06040" y="3444240"/>
            <a:ext cx="6400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NaCl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46120" y="34442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9.45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94760" y="34442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3.04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43400" y="3444240"/>
            <a:ext cx="59436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1.00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37760" y="3444240"/>
            <a:ext cx="868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WALL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3749040"/>
            <a:ext cx="2011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CC3333"/>
                </a:solidFill>
                <a:latin typeface="Calibri"/>
              </a:rPr>
              <a:t>MC5.07.23.24_S2NaCl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06040" y="3749040"/>
            <a:ext cx="6400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NaCl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46120" y="37490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7.38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94760" y="37490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10.2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43400" y="3749040"/>
            <a:ext cx="59436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0.00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37760" y="3749040"/>
            <a:ext cx="868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WALL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4053840"/>
            <a:ext cx="2011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CC3333"/>
                </a:solidFill>
                <a:latin typeface="Calibri"/>
              </a:rPr>
              <a:t>MC2.05.07.24_CaCl2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06040" y="4053840"/>
            <a:ext cx="6400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CaCl2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46120" y="40538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4.00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94760" y="40538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0.50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43400" y="4053840"/>
            <a:ext cx="59436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1.00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37760" y="4053840"/>
            <a:ext cx="868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WALL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" y="4358640"/>
            <a:ext cx="2011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CC3333"/>
                </a:solidFill>
                <a:latin typeface="Calibri"/>
              </a:rPr>
              <a:t>MC3.07.11.24_SCaCl2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06040" y="4358640"/>
            <a:ext cx="6400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CaCl2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46120" y="43586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5.53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94760" y="43586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9.00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43400" y="4358640"/>
            <a:ext cx="59436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1.00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37760" y="4358640"/>
            <a:ext cx="868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WALL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4360" y="4663440"/>
            <a:ext cx="2011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CC3333"/>
                </a:solidFill>
                <a:latin typeface="Calibri"/>
              </a:rPr>
              <a:t>MC3.07.12.24_S2CaCl2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06040" y="4663440"/>
            <a:ext cx="6400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CaCl2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46120" y="46634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4.63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94760" y="46634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30.0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43400" y="4663440"/>
            <a:ext cx="59436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1.00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937760" y="4663440"/>
            <a:ext cx="868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WALL × 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360" y="4968240"/>
            <a:ext cx="2011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CC3333"/>
                </a:solidFill>
                <a:latin typeface="Calibri"/>
              </a:rPr>
              <a:t>MC2.05.21.24_LaCl3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606040" y="4968240"/>
            <a:ext cx="6400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LaCl3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46120" y="49682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2.49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794760" y="49682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0.31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43400" y="4968240"/>
            <a:ext cx="59436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1.00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937760" y="4968240"/>
            <a:ext cx="868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WALL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94360" y="5273040"/>
            <a:ext cx="2011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CC3333"/>
                </a:solidFill>
                <a:latin typeface="Calibri"/>
              </a:rPr>
              <a:t>MC4.07.11.24_SLaCl3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06040" y="5273040"/>
            <a:ext cx="6400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LaCl3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46120" y="52730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2.78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794760" y="52730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0.17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343400" y="5273040"/>
            <a:ext cx="59436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1.00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937760" y="5273040"/>
            <a:ext cx="868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WALL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492240" y="1463040"/>
            <a:ext cx="5334000" cy="365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92240" y="1463040"/>
            <a:ext cx="53340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cF RESIDUAL FLOOR  ·  MC4.07.11.24_SNaCl  ·  proof of concept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92240" y="1828800"/>
            <a:ext cx="5334000" cy="3794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675120" y="1920240"/>
            <a:ext cx="4968240" cy="10972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1">
                <a:solidFill>
                  <a:srgbClr val="36454F"/>
                </a:solidFill>
                <a:latin typeface="Calibri"/>
              </a:rPr>
              <a:t>0.3 % relative cF error at 100 mM = 0.3 mM tolerance — tighter than any</a:t>
            </a:r>
          </a:p>
          <a:p>
            <a:pPr algn="l"/>
            <a:r>
              <a:rPr sz="1000" b="0" i="1">
                <a:solidFill>
                  <a:srgbClr val="36454F"/>
                </a:solidFill>
                <a:latin typeface="Calibri"/>
              </a:rPr>
              <a:t>actual measurement noise.  Flooring the cF residual at 1 mM lets the</a:t>
            </a:r>
          </a:p>
          <a:p>
            <a:pPr algn="l"/>
            <a:r>
              <a:rPr sz="1000" b="0" i="1">
                <a:solidFill>
                  <a:srgbClr val="36454F"/>
                </a:solidFill>
                <a:latin typeface="Calibri"/>
              </a:rPr>
              <a:t>optimizer release σ off the σ = 0 wall.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29400" y="3063240"/>
            <a:ext cx="13716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/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001000" y="3063240"/>
            <a:ext cx="9144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065A82"/>
                </a:solidFill>
                <a:latin typeface="Calibri"/>
              </a:rPr>
              <a:t>ORIGINAL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15400" y="3063240"/>
            <a:ext cx="11430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065A82"/>
                </a:solidFill>
                <a:latin typeface="Calibri"/>
              </a:rPr>
              <a:t>WITH FLOOR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058400" y="3063240"/>
            <a:ext cx="96012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065A82"/>
                </a:solidFill>
                <a:latin typeface="Calibri"/>
              </a:rPr>
              <a:t>Δ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629400" y="3357154"/>
            <a:ext cx="13716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Lp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01000" y="3357154"/>
            <a:ext cx="9144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7.79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15400" y="3357154"/>
            <a:ext cx="11430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9.70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058400" y="3357154"/>
            <a:ext cx="96012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+24 %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629400" y="3651068"/>
            <a:ext cx="13716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B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001000" y="3651068"/>
            <a:ext cx="9144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2.02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15400" y="3651068"/>
            <a:ext cx="11430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2.60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058400" y="3651068"/>
            <a:ext cx="96012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+28 %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537960" y="3944982"/>
            <a:ext cx="5242560" cy="293914"/>
          </a:xfrm>
          <a:prstGeom prst="rect">
            <a:avLst/>
          </a:prstGeom>
          <a:solidFill>
            <a:srgbClr val="DE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629400" y="3944982"/>
            <a:ext cx="13716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2C824A"/>
                </a:solidFill>
                <a:latin typeface="Calibri"/>
              </a:rPr>
              <a:t>sigma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001000" y="3944982"/>
            <a:ext cx="9144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2C824A"/>
                </a:solidFill>
                <a:latin typeface="Calibri"/>
              </a:rPr>
              <a:t>0.00  (wall)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15400" y="3944982"/>
            <a:ext cx="11430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2C824A"/>
                </a:solidFill>
                <a:latin typeface="Calibri"/>
              </a:rPr>
              <a:t>0.46  (interior)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058400" y="3944982"/>
            <a:ext cx="96012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2C824A"/>
                </a:solidFill>
                <a:latin typeface="Calibri"/>
              </a:rPr>
              <a:t>off wall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629400" y="4238897"/>
            <a:ext cx="13716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Obj_mass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001000" y="4238897"/>
            <a:ext cx="9144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89.92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15400" y="4238897"/>
            <a:ext cx="11430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40.19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058400" y="4238897"/>
            <a:ext cx="96012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× 2.2 better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629400" y="4532811"/>
            <a:ext cx="13716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Obj_concentration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001000" y="4532811"/>
            <a:ext cx="9144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393.71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15400" y="4532811"/>
            <a:ext cx="11430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351.31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058400" y="4532811"/>
            <a:ext cx="96012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× 1.1 better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629400" y="4826725"/>
            <a:ext cx="13716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Obj_retentate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01000" y="4826725"/>
            <a:ext cx="9144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9051.51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15400" y="4826725"/>
            <a:ext cx="11430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45.35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058400" y="4826725"/>
            <a:ext cx="96012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× 200 better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57200" y="5760720"/>
            <a:ext cx="1127760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40080" y="5806440"/>
            <a:ext cx="1091184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PATH FORWARD:  cF floor on all 11 sheets  +  literature σ priors for divalents/trivalents  →  re-fit campaign.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14 · TIME-AXIS &amp; HOLD-UP CONVENTION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600" y="0"/>
            <a:ext cx="8229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02C39A"/>
                </a:solidFill>
                <a:latin typeface="Calibri"/>
              </a:rPr>
              <a:t>BYTE-COMPATIBLE WITH DATA2, ONE NEW DATA3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800" b="1">
                <a:solidFill>
                  <a:srgbClr val="065A82"/>
                </a:solidFill>
                <a:latin typeface="Calibri"/>
              </a:rPr>
              <a:t>Same t-axis formula. New wet-up handling.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66928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566928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SHARED CONVENTION  ·  DATA1 / DATA2 / DATA3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5669280" cy="3794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5303520" cy="1417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011680"/>
            <a:ext cx="5029200" cy="12344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t_delay   = data_raw[0]['time'][0]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TI_list[i] = data_raw[i]['time'][0]  - t_delay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TF_list[i] = data_raw[i]['time'][-1] - t_delay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t_physical = tau * (TF_i - TI_i) + TI_i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plot_time_min = (t - t_delay) / 60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474720"/>
            <a:ext cx="2606040" cy="292608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474720"/>
            <a:ext cx="2606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DATA2  ·  utility.py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67328"/>
            <a:ext cx="2606040" cy="1719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822192"/>
            <a:ext cx="2423160" cy="16459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36454F"/>
                </a:solidFill>
                <a:latin typeface="Consolas"/>
              </a:rPr>
              <a:t>Time origin :  line 115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onsolas"/>
              </a:rPr>
              <a:t>TI/TF lists :  lines 473, 477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onsolas"/>
              </a:rPr>
              <a:t>Mass reset  :  lines 736-743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onsolas"/>
              </a:rPr>
              <a:t>               (Pyomo linking)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onsolas"/>
              </a:rPr>
              <a:t>Holdup      :  none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onsolas"/>
              </a:rPr>
              <a:t>               (pre-curated)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37560" y="3474720"/>
            <a:ext cx="2606040" cy="292608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3474720"/>
            <a:ext cx="2606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DATA3  ·  refactored_ucb_library.py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3767328"/>
            <a:ext cx="2606040" cy="1719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47288" y="3822192"/>
            <a:ext cx="2423160" cy="16459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36454F"/>
                </a:solidFill>
                <a:latin typeface="Consolas"/>
              </a:rPr>
              <a:t>Time origin :  :170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onsolas"/>
              </a:rPr>
              <a:t>TI/TF lists :  :1273, :1277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onsolas"/>
              </a:rPr>
              <a:t>Mass reset  :  :3404-3412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onsolas"/>
              </a:rPr>
              <a:t>               (loader, seg-offset)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onsolas"/>
              </a:rPr>
              <a:t>Holdup      :  :3522-3590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onsolas"/>
              </a:rPr>
              <a:t>               (auto-detect split)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417320"/>
            <a:ext cx="5425440" cy="365760"/>
          </a:xfrm>
          <a:prstGeom prst="rect">
            <a:avLst/>
          </a:prstGeom>
          <a:solidFill>
            <a:srgbClr val="CC8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417320"/>
            <a:ext cx="54254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DATA3-ONLY  ·  HOLD-UP SPLIT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783080"/>
            <a:ext cx="5425440" cy="3794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1920240"/>
            <a:ext cx="5059680" cy="9144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Operator starts logging before any permeate reaches the vial.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First ~400 s is membrane wetting up — mass dead-flat at tare.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Loader auto-detects and carves it off.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2880360"/>
            <a:ext cx="5059680" cy="11887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2971800"/>
            <a:ext cx="4785360" cy="10058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i_start = first i where (m[i] - m[0]) &gt;= 0.05 g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if i_start &gt;= 3 and (N - i_start) &gt;= 10: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    split into  [0..i_start)  and  [i_start..N)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    cfg['n_v0']      = 2     # objective skips &lt; n_v0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    cfg['n_extra']   = 1     # holdup vial count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    cfg['vial1_split_status'] = 'split'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4206240"/>
            <a:ext cx="5059680" cy="24688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206240"/>
            <a:ext cx="5059680" cy="24688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vial1_split_status  values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4453128"/>
            <a:ext cx="1371600" cy="246888"/>
          </a:xfrm>
          <a:prstGeom prst="rect">
            <a:avLst/>
          </a:prstGeom>
          <a:solidFill>
            <a:srgbClr val="2C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453128"/>
            <a:ext cx="1371600" cy="24688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split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5280" y="4453128"/>
            <a:ext cx="35052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0" y="4453128"/>
            <a:ext cx="3413760" cy="24688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On most C-regime NF270 sheets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4700016"/>
            <a:ext cx="1371600" cy="246888"/>
          </a:xfrm>
          <a:prstGeom prst="rect">
            <a:avLst/>
          </a:prstGeom>
          <a:solidFill>
            <a:srgbClr val="707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700016"/>
            <a:ext cx="1371600" cy="24688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skip_no_rise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80" y="4700016"/>
            <a:ext cx="35052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4700016"/>
            <a:ext cx="3413760" cy="24688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Mass never crosses threshold (rare)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4946904"/>
            <a:ext cx="1371600" cy="246888"/>
          </a:xfrm>
          <a:prstGeom prst="rect">
            <a:avLst/>
          </a:prstGeom>
          <a:solidFill>
            <a:srgbClr val="707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4946904"/>
            <a:ext cx="1371600" cy="24688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skip_no_lag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55280" y="4946904"/>
            <a:ext cx="35052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0" y="4946904"/>
            <a:ext cx="3413760" cy="24688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No clear flat-then-rise pattern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5193792"/>
            <a:ext cx="1371600" cy="246888"/>
          </a:xfrm>
          <a:prstGeom prst="rect">
            <a:avLst/>
          </a:prstGeom>
          <a:solidFill>
            <a:srgbClr val="707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5193792"/>
            <a:ext cx="1371600" cy="24688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skip_no_data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55280" y="5193792"/>
            <a:ext cx="35052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0" y="5193792"/>
            <a:ext cx="3413760" cy="24688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data_raw empty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715000"/>
            <a:ext cx="1127760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779008"/>
            <a:ext cx="109118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The model integrates through the holdup but the objective skips it (vial index &lt; n_v0).  Same n_extra contract DATA2 uses — only the source of the flag is automated for DATA3.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01 · CODE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How the workflow is organized — roots, trunk, branches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3611880" cy="4572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361188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36118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ROOTS — loaders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onsolas"/>
              </a:rPr>
              <a:t>loadmat(path)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DATA1 / DATA2  (.mat experiment files)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517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onsolas"/>
              </a:rPr>
              <a:t>loadxlsx(path, sheet=…)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718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DATA3 / NF270  (.xlsx campaign files)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2900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Both return the same data_stru dict shape:
data_config + data_raw[vial].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60520"/>
            <a:ext cx="32004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onsolas"/>
              </a:rPr>
              <a:t>data_config:
  n, n_v0, n_extra, n_h, n_A
  M_F0, M_O, C_F0, C_D
  delP, Temp, Am, rho
  Lp0, B0, sigma0, theta0
data_raw[i]:
  time, mass, cF_exp, cV_avg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1417320"/>
            <a:ext cx="3703320" cy="4572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51960" y="1417320"/>
            <a:ext cx="370332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51960" y="1444752"/>
            <a:ext cx="37033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TRUNK —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19202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model_construct_inter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2402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Pyomo IDAES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6060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solve_model(...)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9260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ParmEst + multistart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2918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solve_mass_balance_only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6118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σ=0 closed-form (litmus)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977639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calc_FIM(...)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2976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Fisher-information uncertainty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6634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compute_doe_metrics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9834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Pyomo.DoE D/A/E-optimality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3492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design_next_experiment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6692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Model discrimination output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1417320"/>
            <a:ext cx="3611880" cy="4572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138160" y="1417320"/>
            <a:ext cx="3611880" cy="365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38160" y="1444752"/>
            <a:ext cx="36118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21295C"/>
                </a:solidFill>
                <a:latin typeface="Calibri"/>
              </a:rPr>
              <a:t>BRANCHES — outputs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19202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plot_sim_comparison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22402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mass + conc + (stirred-cell)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26060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render_*_parameters_table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29260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per-campaign param tables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32918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plot_contour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36118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FIM heatmap / σ-sensitivity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3977639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render_nf270_fit_v2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42976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NF270 saw-tooth + ICP overlay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6634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report_paper_coverage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49834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checklist vs published figs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53492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run_data3_time_series_plots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56692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DATA3 custom-file figures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All public API in refactored_ucb_library.py. conductivity_paper.py is the only sibling, frozen.</a:t>
            </a:r>
          </a:p>
        </p:txBody>
      </p:sp>
      <p:pic>
        <p:nvPicPr>
          <p:cNvPr id="9999" name="ND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998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02 · HOW TO RUN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The runfile asks four questions, then dispatches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1005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91440" cy="10058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777240" cy="6400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5544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ROOT — pick a data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92024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Which campaign or file are you working from?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5544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Choices: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874519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1 DATA1   2 DATA2   3 DATA3 / NF270   4 custom file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14600"/>
            <a:ext cx="11247120" cy="1005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2514600"/>
            <a:ext cx="91440" cy="10058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2697480"/>
            <a:ext cx="777240" cy="6400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697480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65176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SUBSET — narrow within the root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01752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Within the chosen root, which sheets / files to run?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6517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Choices: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97180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DATA3: all 26 | single-salt 11 | one sheet | fast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611880"/>
            <a:ext cx="11247120" cy="1005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611880"/>
            <a:ext cx="91440" cy="10058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3794760"/>
            <a:ext cx="777240" cy="64008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3794760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7490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TRUNK — pick the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1480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Simulate, fit, multistart, FIM, DoE, or mass-litmus.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7490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Choices: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06908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0 manifest default   3 fit+multistart   4 + FIM   5 + DoE   6 mass-litmus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709160"/>
            <a:ext cx="11247120" cy="1005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4709160"/>
            <a:ext cx="91440" cy="10058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" y="4892040"/>
            <a:ext cx="777240" cy="6400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4892040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48463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BRANCHES — choose outputs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521208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Which plots / tables to produce.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846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Choices: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16636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m mass   c conc   p params   f FIM heatmap   d DoE   all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806440"/>
            <a:ext cx="11247120" cy="5029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585216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→ DISPATCH:  materialize_all(...) for DATA1 / DATA2 / DATA3,  or  run_pipeline(...) for custom files.</a:t>
            </a:r>
          </a:p>
        </p:txBody>
      </p:sp>
      <p:pic>
        <p:nvPicPr>
          <p:cNvPr id="9999" name="ND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998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198F5-AB68-BA8C-F15E-8081BCEE4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84" y="126586"/>
            <a:ext cx="11980590" cy="1549814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Backup Files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890D04-C649-5473-A3DE-81A87A661C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B1C7D3-B622-B26C-0D11-4D7E86A82A1E}"/>
              </a:ext>
            </a:extLst>
          </p:cNvPr>
          <p:cNvSpPr txBox="1"/>
          <p:nvPr/>
        </p:nvSpPr>
        <p:spPr>
          <a:xfrm>
            <a:off x="4872384" y="1997839"/>
            <a:ext cx="249299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0" dirty="0"/>
              <a:t>📎</a:t>
            </a:r>
          </a:p>
        </p:txBody>
      </p:sp>
    </p:spTree>
    <p:extLst>
      <p:ext uri="{BB962C8B-B14F-4D97-AF65-F5344CB8AC3E}">
        <p14:creationId xmlns:p14="http://schemas.microsoft.com/office/powerpoint/2010/main" val="15293368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03 · REPRODUCIBILITY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Byte-identical replication of DATA1 + DATA2 published figures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44752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DATA1 — Apparatus Figure 2 (KCl mass vs time)</a:t>
            </a:r>
          </a:p>
        </p:txBody>
      </p:sp>
      <p:pic>
        <p:nvPicPr>
          <p:cNvPr id="9" name="Picture 8" descr="_v3_mass_BEFORE_tr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5029200" cy="42062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1444752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21295C"/>
                </a:solidFill>
                <a:latin typeface="Calibri"/>
              </a:rPr>
              <a:t>DATA2 — Lag-mode Figure 6 (KCl retentate cF)</a:t>
            </a:r>
          </a:p>
        </p:txBody>
      </p:sp>
      <p:pic>
        <p:nvPicPr>
          <p:cNvPr id="12" name="Picture 11" descr="_v3_mass_AFTER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828800"/>
            <a:ext cx="5029200" cy="4206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manifest_default calls materialize_all with the exact same args the legacy runfile used — no extra_opts overrides flow through; conductivity_paper.py stays frozen.</a:t>
            </a:r>
          </a:p>
        </p:txBody>
      </p:sp>
      <p:pic>
        <p:nvPicPr>
          <p:cNvPr id="9999" name="ND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998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04 · DATA3 FIRST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DATA3 first run: same code, three salts — three distinct failure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1E293B"/>
                </a:solidFill>
                <a:latin typeface="Calibri"/>
              </a:rPr>
              <a:t>First DATA3 fit on the 11 single-salt sheets. Same WSSE objective:  Obj = 1e4 · ( Σ (Δm/0.01)²/N_m  +  Σ (Δcv/(0.03·cv))²/N_v  +  Σ (Δcf/(0.003·cf))²/N_r ).  Three distinct failure patterns appear — all σ-pathologies, not data bugs: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3749039" cy="4297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3749039" cy="3657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029968"/>
            <a:ext cx="37490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MODE A — moderate σ↑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MASS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3464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vial-1 prediction overshoots to ~1.5 g; vials 2-10 plateau at 0.7-0.95 g (below the 1.0 g cap).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519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predicted retentate matches measured retentate; predicted vial under-predicts ICP-OES by ~30 %.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24528" y="2011680"/>
            <a:ext cx="3749039" cy="4297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24528" y="2011680"/>
            <a:ext cx="3749039" cy="36576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24528" y="2029968"/>
            <a:ext cx="37490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MODE B — σ → 1.0 (degenerate)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25146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MASS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83464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predictions explode to 6-10 g per vial; model thinks much more permeate is flowing than the balance shows.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42519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CONCENTRATION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457200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predicted retentate severely under-predicts (8 vs 22 mM); predicted vial = 0 across the run.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1856" y="2011680"/>
            <a:ext cx="3749039" cy="4297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91856" y="2011680"/>
            <a:ext cx="3749039" cy="365760"/>
          </a:xfrm>
          <a:prstGeom prst="rect">
            <a:avLst/>
          </a:prstGeom>
          <a:solidFill>
            <a:srgbClr val="5E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91856" y="2029968"/>
            <a:ext cx="37490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MODE C — σ↓, over-prediction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4736" y="25146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MASS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4736" y="283464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predictions overshoot to 6-12 g per vial — same direction as Mode B but conc plot tells a different story.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4736" y="42519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CONCENTRATION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74736" y="457200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predicted retentate &gt; measured retentate (60 vs 43 mM); predicted vial &gt; ICP — model lets too much salt through.</a:t>
            </a:r>
          </a:p>
        </p:txBody>
      </p:sp>
      <p:pic>
        <p:nvPicPr>
          <p:cNvPr id="9999" name="ND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998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05 · MASS-LITMUS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Bad ParmEst fit vs mass-litmus baseline — σ=0 closed-form Lp regression</a:t>
            </a:r>
          </a:p>
        </p:txBody>
      </p:sp>
      <p:pic>
        <p:nvPicPr>
          <p:cNvPr id="7" name="Picture 6" descr="_panel_4salt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281928"/>
            <a:ext cx="11247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Left = ParmEst full fit (σ released, B fitted, IPOPT) — landed in the Mode B σ=1 corner.   Right = mass-litmus baseline:  σ=0, B dropped, Lp from closed-form regression Lp = slope · 36000 / (Am · ρ · ΔP)  where slope = Σ(Δt · m) / Σ(Δt²).  Always optimal by construction.  The baseline beats the full fit → σ/B parameters are not yet doing useful work; landscape problem, not model problem.</a:t>
            </a:r>
          </a:p>
        </p:txBody>
      </p:sp>
      <p:pic>
        <p:nvPicPr>
          <p:cNvPr id="9999" name="ND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998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06 · LHS MULTISTART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R10 + R12 — Latin Hypercube multistart over (Lp, σ, B), narrowed boxes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2344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481328"/>
            <a:ext cx="14630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Lp box (linear)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481328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σ box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79" y="1481328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 / beta_0 box (log)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1481328"/>
            <a:ext cx="3520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Basin found · Obj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65960"/>
            <a:ext cx="112471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965960"/>
            <a:ext cx="91440" cy="5943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130552"/>
            <a:ext cx="12344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SINGLE START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130552"/>
            <a:ext cx="1463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Lp0 =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13055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σ0 = 0.9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79" y="213055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B0 = 0.5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13055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Mode B (σ → 1) · Obj = 2.04 × 10⁸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560320"/>
            <a:ext cx="11247120" cy="594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2560320"/>
            <a:ext cx="91440" cy="59436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724912"/>
            <a:ext cx="12344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LHS R10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2724912"/>
            <a:ext cx="1463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[5, 14]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272491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(0.10, 0.95)  open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79" y="272491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log [1e-6, 5]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272491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Mode C (σ = 0) · Obj = 4.93 × 10⁷ (4× reduction)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154679"/>
            <a:ext cx="112471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3154679"/>
            <a:ext cx="91440" cy="594360"/>
          </a:xfrm>
          <a:prstGeom prst="rect">
            <a:avLst/>
          </a:prstGeom>
          <a:solidFill>
            <a:srgbClr val="5E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3319272"/>
            <a:ext cx="12344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LHS R12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3319272"/>
            <a:ext cx="1463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[5, 8] narrowed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331927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(0.10, 0.95)  open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79" y="331927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log [0.01, 5]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331927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Mode B again · Obj = 6.08 × 10⁹ (cornered)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434840"/>
            <a:ext cx="11247120" cy="1920240"/>
          </a:xfrm>
          <a:prstGeom prst="rect">
            <a:avLst/>
          </a:prstGeom>
          <a:solidFill>
            <a:srgbClr val="FEF8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4434840"/>
            <a:ext cx="91440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40" y="45262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LHS samples and corner-hopping — what the math says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937760"/>
            <a:ext cx="1078992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Latin-Hypercube: draw N starts so that, after permuting columns, each of the N strata along every axis contains exactly one sample. θ_k = θ_lo + LHS_unit[k] · (θ_hi - θ_lo). Better space coverage than IID for small N.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IPOPT is local. Multistart is a global-search heuristic: best_fit = argmin_{k=1..N} Obj(IPOPT(θ_k)) over optimal-status runs. Narrowing the LHS box keeps starts inside the physics window but doesn't restrict where IPOPT can terminate.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R10: factor-of-4 Obj cut by escaping Mode B. R12: tightening Lp to [5,8] removed the upper-Lp draws but the σ=1 corner remains attractive when loss-function structure prefers it. Landscape fix has to come from new observables, not box-tightening alone.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Pyomo Var bounds remain wider than the LHS box: Lp ∈ (0.5, 50), B ∈ (1e-6, 30), σ ∈ (0, 1). LHS just controls trial starts; if a corner solution is the true global minimum it will still be reached. The next two slides tackle the loss-function side.</a:t>
            </a:r>
          </a:p>
        </p:txBody>
      </p:sp>
      <p:pic>
        <p:nvPicPr>
          <p:cNvPr id="9999" name="ND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998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07 · MASS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Tried per-sheet quadrature (R11) → reverted to DATA2's 0.01 g convention (R13)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WSSE MASS TERM — frequentist / MLE reading: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onsolas"/>
              </a:rPr>
              <a:t>obj_m  =  Σ_i ( (m_pred_i − m_meas_i) / mass_scale_g )²    /    N_m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F1F5F9"/>
                </a:solidFill>
                <a:latin typeface="Calibri"/>
              </a:rPr>
              <a:t>Under Gaussian noise N(0, σ²) on m, this is the negative log-likelihood up to a constant. mass_scale_g IS σ — the standard deviation of the noise on a single balance reading. It is a property of the instrument, not of the salt.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26080"/>
            <a:ext cx="5486400" cy="3383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926080"/>
            <a:ext cx="91440" cy="33832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03580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R11 — tried per-sheet quadrature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50292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mass_scale_g = sqrt( σ_balance² + (α · |M_F0 − Final|)² ), α = 0.05.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Idea: salt-aware scaling so NaCl/CaCl₂/LaCl₃ each get a sensible mass weight. NaCl: 0.020 g · CaCl₂: 0.013 g · LaCl₃: 0.011 g.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Result: Obj jumped from 4.93×10⁷ (LHS R10) to 6.08×10⁹ on NaCl-MC2 — looser mass term let optimizer slide to σ=1 corner. The α·|signal| term was Bayesian regularization in disguise.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926080"/>
            <a:ext cx="5486400" cy="3383280"/>
          </a:xfrm>
          <a:prstGeom prst="rect">
            <a:avLst/>
          </a:prstGeom>
          <a:solidFill>
            <a:srgbClr val="F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63640" y="2926080"/>
            <a:ext cx="91440" cy="338328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303580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990011"/>
                </a:solidFill>
                <a:latin typeface="Calibri"/>
              </a:rPr>
              <a:t>R13 — reverted to DATA2 convention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429000"/>
            <a:ext cx="50292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mass_scale_g  =  MASS_BALANCE_SIGMA_G  =  0.01 g, salt-independent, sheet-independent — matches DATA2 published convention.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Frequentist justification: σ_balance is a property of the analytical balance, not of the salt. Reweighting the loss function per salt would mean "different noise model per salt" — physically wrong.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Salt-specific physics belongs in the parameters (θ = (Lp, B, σ)), not in the noise model.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DATA1 / DATA2 stay byte-identical: both objectives use data_stru['data_config'].get('mass_scale_g', 0.01), so missing field → 0.01 g. Path forward: add observables (next slide), not new weights.</a:t>
            </a:r>
          </a:p>
        </p:txBody>
      </p:sp>
      <p:pic>
        <p:nvPicPr>
          <p:cNvPr id="9999" name="ND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998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08 · NEW OBSERVABLES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Sidebar ICP-OES (R14) + Final Tube anchor in WSSE (R15)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00" cy="4937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91440" cy="4937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alibri"/>
              </a:rPr>
              <a:t>WHAT WAS HIDDEN — sidebar cols 14-21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Feed / Diafiltrate / Retentate / Final Tube ICP rows — ignored by old loader.</a:t>
            </a:r>
          </a:p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Conversion (per row): c [mM]  =  ICP [mg/L]  ·  (V_samp + V_acid) / V_samp  /  cation_MW [g/mol].</a:t>
            </a:r>
          </a:p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Stoichiometry: 1 cation / formula unit holds for NaCl, KCl, CaCl₂, LaCl₃ → c [mM of salt] = c [mM of cation].</a:t>
            </a:r>
          </a:p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R15 anchor (added to both obj_rule functions):  obj_cf  +=  ((cF[N, τ_last] − Final_Tube_ICP) / (0.003 · Final_Tube_ICP))².</a:t>
            </a:r>
          </a:p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Same 0.3% relative weighting DATA2 uses for per-sample cF. R16 also parses RPM from notes.</a:t>
            </a:r>
          </a:p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icp_final_mM is None / ≤0 → anchor silently skipped (DATA1/DATA2 unchanged).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5486400" cy="4937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91440" cy="4937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50876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FINAL TUBE ICP — per sheet (R14)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965960"/>
            <a:ext cx="5029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201167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NaCl-MC2 cF_final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01167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23.9 mM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331720"/>
            <a:ext cx="502920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237743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CaCl₂-MC2 cF_final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37743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25.1 mM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697479"/>
            <a:ext cx="5029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19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LaCl₃-MC2 cF_final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74319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0.99 mM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3063239"/>
            <a:ext cx="502920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310895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S2NaCl-MC5 cF_final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10895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8.32 mM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3428999"/>
            <a:ext cx="5029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347471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SLaCl₃-MC4 cF_final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347471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−0.001 mM (skip)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3794759"/>
            <a:ext cx="502920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75120" y="384047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SNaCl-MC4 cF_final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384047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86.6 mM</a:t>
            </a:r>
          </a:p>
        </p:txBody>
      </p:sp>
      <p:pic>
        <p:nvPicPr>
          <p:cNvPr id="9999" name="ND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998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09 · OPEN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Open questions — frequentist, no priors; corner-hopping still in play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91440" cy="10972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777240" cy="7315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55448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σ reparameterization?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92024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Should we reparameterize σ = exp(η)/(1+exp(η)), η ∈ ℝ, to eliminate the {σ=0, σ=1} corners? Frequentist-neutral (pure change of variables in the parameter space).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0" y="1783080"/>
            <a:ext cx="155448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0" y="1801368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experimental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06040"/>
            <a:ext cx="11247120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2606040"/>
            <a:ext cx="91440" cy="10972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2788920"/>
            <a:ext cx="777240" cy="7315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788920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74320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Two-stage fit?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10896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Profile-likelihood approach: lock Lp from mass-litmus (Lp̂ = slope · 36000 / (Am · ρ · ΔP)), then fit (σ, B) on concentration only. Equivalent to a frequentist profile over the Lp axis.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0" y="2971800"/>
            <a:ext cx="155448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0" y="2990088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computational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794760"/>
            <a:ext cx="11247120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794760"/>
            <a:ext cx="91440" cy="109728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3977640"/>
            <a:ext cx="777240" cy="73152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3977640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93192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Interior σ box?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29768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Tighten Pyomo Var bound from σ ∈ (0,1) to σ ∈ [0.30, 0.85]. If Obj jumps back up after constraining the interior, the corners are global minima → model is mis-specified.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0" y="4160520"/>
            <a:ext cx="1554480" cy="365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0" y="4178808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computational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11247120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4983480"/>
            <a:ext cx="91440" cy="10972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" y="5166360"/>
            <a:ext cx="777240" cy="7315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5166360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512064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Retentate weight?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548640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Is 0.3% the right standard deviation for the in-line retentate conductivity probe? If actual noise is 1-2%, the cF term currently dominates the WSSE by 9-44× relative to truth. Easy sensitivity test.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0" y="5349240"/>
            <a:ext cx="1554480" cy="3657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058400" y="5367528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both</a:t>
            </a:r>
          </a:p>
        </p:txBody>
      </p:sp>
      <p:pic>
        <p:nvPicPr>
          <p:cNvPr id="9999" name="ND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998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10 · REPRODUCE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How to run this on your machine — five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1247120" cy="27432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  <a:latin typeface="Calibri"/>
              </a:rPr>
              <a:t>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109728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1.  Drop in refactored_ucb_library.py and refactored_ucb_runfile.py (single consolidated files).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2.  python refactored_ucb_runfile.py     pick ROOT=3 (NF270)  SUBSET=2 (single-salt)  TRUNK=6 (mass-litmus)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3.  Verify data_config: vial1_split_status=="split",  Lp0_method=="data_driven",  icp_final_tube_mM is populated.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4.  Re-run TRUNK=3 with N=5 LHS starts. Report fitted (Lp̂, B̂, σ̂) per sheet + final Obj + Final Tube residual.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5.  Verify data_config carries: mass_scale_g=0.01, icp_*_mM, stir_rpm. Compute mass-litmus baseline Lp = slope·36000/(Am·ρ·ΔP); confirm full fit beats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297680"/>
            <a:ext cx="5486400" cy="2194560"/>
          </a:xfrm>
          <a:prstGeom prst="rect">
            <a:avLst/>
          </a:prstGeom>
          <a:solidFill>
            <a:srgbClr val="FEF8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4297680"/>
            <a:ext cx="91440" cy="21945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43891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WHAT WOULD HELP US MOST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00600"/>
            <a:ext cx="50292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Your priors on σ for NF270 with NaCl, CaCl₂, LaCl₃ — even rough ranges.</a:t>
            </a:r>
          </a:p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Whether the three modes correspond to specific salts you've seen behave this way.</a:t>
            </a:r>
          </a:p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Which sheet you'd focus on first if you were us.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4297680"/>
            <a:ext cx="5486400" cy="2194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4297680"/>
            <a:ext cx="91440" cy="2194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43891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WHAT TO 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800600"/>
            <a:ext cx="50292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σ̂ → 1 with Lp̂ → 0.5 (lower bound) — Mode B corner.</a:t>
            </a:r>
          </a:p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σ̂ → 0 with B̂ → large — Mode C corner (LHS-R10 basin).</a:t>
            </a:r>
          </a:p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Final Tube residual (cF[N,τ_last]−ICP) on the order of σ_cf = 0.003·cF → fit consistent with measurement.</a:t>
            </a:r>
          </a:p>
        </p:txBody>
      </p:sp>
      <p:pic>
        <p:nvPicPr>
          <p:cNvPr id="9999" name="ND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998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B01 ·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Dynamic inverse problem — what we are solving for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UNKNOWNS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48640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512064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onsolas"/>
              </a:rPr>
              <a:t>θ  =  ( Lp ,  B ,  σ )
Lp  : hydraulic permeability  [ L / m² / hr / bar ]
B   : solute permeability   [ μm / s ]
σ   : reflection coefficient   [ dimensionless,  0 ≤ σ ≤ 1 ]
Measurements per vial i and sample j:
  mV_i,j   :  mass collected in vial i at time t_j     [g]
  cF_i,j   :  retentate concentration                  [mM]
  cV_i     :  per-vial permeate concentration (scalar) [mM]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OPTIMIZATION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783080"/>
            <a:ext cx="548640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810512"/>
            <a:ext cx="512064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onsolas"/>
              </a:rPr>
              <a:t>θ̂  =  argmin_θ   Obj(θ ; D)
subject to:   DAE  &amp;  initial conditions
              parameter bounds
The model outputs (mV, cF, cV) are not algebraic in θ.
They come from solving coupled ODEs over (n_vial, τ).
Pyomo turns the dynamic model into one nonlinear
program over { θ, all state values at all τ-nodes }.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17320"/>
            <a:ext cx="11292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71732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KEY POINT — WHY THE FIT IS HARD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83080"/>
            <a:ext cx="1129284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40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110512"/>
            <a:ext cx="1092708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1. The forward map  θ → ( mV, cF, cV )  is nonlinear and dynamic.
   Even small θ-changes can shift basins → IPOPT can converge to
   different local minima depending on initialization.
2. σ has both lower (σ = 0, no rejection) and upper (σ = 1, complete
   rejection) corner basins.  Each corner trivializes the model in
   a different way, and is hard to escape once the optimizer is
   nearby.  Hence LHS multistart (R10/R12) and structural fixes.
3. The WSSE weights (1 / σ_meas) determine which residual the
   optimizer cares about most.  Salt-specific physics belongs in θ,
   not in σ_meas — see R11→R13 in slide 7.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B02 · DATA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data_stru — one shape, two loaders (loadmat, loadxlsx)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data_config (per experiment)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486400" cy="46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46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5120640" cy="45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n             # number of vials
n_v0          # first real (non-holdup) vial
n_extra       # holdup vials skipped in WSSE
delP          # applied pressure       [bar]
Temp          # temperature            [K]
Am            # membrane area          [cm²]
rho           # density                [g/cm³]
M_F0          # initial feed mass      [g]
M_O           # M_F0 − Final           [g]
C_F0          # initial feed conc.     [mM]
C_D           # diafiltrate conc.      [mM]
namec         # salt name (e.g. "NaCl")
Lp0, B0, sigma0   # initial guesses
mass_scale_g  # WSSE mass weight, 0.01 g
stir_rpm      # R16, parsed from notes
icp_feed_mM
icp_diafiltrate_mM
icp_retentate_mM
icp_final_tube_mM   # R14/R15 anchor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data_raw[i]  (one entry per vial)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783080"/>
            <a:ext cx="5486400" cy="46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91440" cy="46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810512"/>
            <a:ext cx="5120640" cy="45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time      # sample times      [s], per-vial start at 0
mass      # cumulative balance reading, per-vial reset:
          #    mass[t] = balance[t] − balance[t_start]
          #    (matches DATA2 .mat convention)
cF_exp    # retentate concentration time-series [mM]
          # (Shedlovsky-inverted from in-line κ)
cV_avg    # scalar per-vial permeate conc.     [mM]
          # = mg/L · dilution / cation_MW
Both loaders converge to this shape:
  loadmat("…/data_stru-dataset270511.12.mat")
       ↓
  data_stru = {"data_config": …, "data_raw": […]}
       ↑
  _load_legacy_data_stru_from_excel("NF270_MC2.xlsx",
                                    selector="05.07.24_NaCl")
Downstream code (solve_model, calc_FIM, plot_*)
never knows whether the source was .mat or .xlsx.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2438400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2255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B03 · PHYSICS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371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21295C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11460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Lumped-parameter membrane transport — what each θ does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60240" cy="228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365760" cy="365760"/>
          </a:xfrm>
          <a:prstGeom prst="rect">
            <a:avLst/>
          </a:prstGeom>
          <a:solidFill>
            <a:srgbClr val="E67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2801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Lₚ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28016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Hydraulic permeability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46304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L / (m² · hr · bar)   sets J_w against ΔP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280160"/>
            <a:ext cx="365760" cy="365760"/>
          </a:xfrm>
          <a:prstGeom prst="rect">
            <a:avLst/>
          </a:prstGeom>
          <a:solidFill>
            <a:srgbClr val="EC9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97680" y="12801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28016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Solute permeability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46304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μm / s   sets diffusive solute flux J_s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280160"/>
            <a:ext cx="365760" cy="365760"/>
          </a:xfrm>
          <a:prstGeom prst="rect">
            <a:avLst/>
          </a:prstGeom>
          <a:solidFill>
            <a:srgbClr val="6FB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12801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128016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Reflection coefficient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146304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0..1   sets the osmotic backpressure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1828800"/>
            <a:ext cx="3657600" cy="128016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1856232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WATER FLUX  J_w  [cm/s]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10312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142144"/>
                </a:solidFill>
                <a:latin typeface="Cambria"/>
              </a:rPr>
              <a:t>J_w · 36000  =  Lₚ · [ ΔP − σ · n_i · R · T · ( c_in − c_H ) 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2788920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"/>
              </a:rPr>
              <a:t>m.Jw[n,t] · 36000  ==  m.Lp · (delP − (m.cIn − m.cH) · ni · m.sigma · R · 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1828800"/>
            <a:ext cx="3657600" cy="128016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34840" y="1856232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SOLUTE FLUX  J_s  [mol/(cm²·s)]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210312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142144"/>
                </a:solidFill>
                <a:latin typeface="Cambria"/>
              </a:rPr>
              <a:t>J_s · 10000  =  B · ( c_in − c_H 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2788920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"/>
              </a:rPr>
              <a:t>single-B form:   m.Js[n,t] · 10000  ==  m.B · (m.cIn − m.cH)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1828800"/>
            <a:ext cx="3657600" cy="128016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66760" y="1856232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CONCENTRATION POLARIZATION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210312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142144"/>
                </a:solidFill>
                <a:latin typeface="Cambria"/>
              </a:rPr>
              <a:t>c_in  =  ( c_F − c_H ) · exp( J_w / k )  +  c_H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2788920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"/>
              </a:rPr>
              <a:t>k  =  0.23 · v^0.57 · D^0.67 / (ν^0.24 · b^0.43),   v = (RPM/60) · π · 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383280"/>
            <a:ext cx="2693593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5760" y="3383280"/>
            <a:ext cx="269359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DIAFILTRATE  (constant)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657600"/>
            <a:ext cx="2693593" cy="2650680"/>
          </a:xfrm>
          <a:prstGeom prst="rect">
            <a:avLst/>
          </a:prstGeom>
          <a:solidFill>
            <a:srgbClr val="FFFFFF"/>
          </a:solidFill>
          <a:ln w="6350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3749040"/>
            <a:ext cx="2510713" cy="246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42144"/>
                </a:solidFill>
                <a:latin typeface="Cambria"/>
              </a:rPr>
              <a:t>c_D  =  const  (mM)
M_D  →  pumped in at S
  S  fit during holdup
  (Lag mode only)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87953" y="3383280"/>
            <a:ext cx="2693593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87953" y="3383280"/>
            <a:ext cx="269359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STIRRED CELL  (feed)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87953" y="3657600"/>
            <a:ext cx="2693593" cy="2650680"/>
          </a:xfrm>
          <a:prstGeom prst="rect">
            <a:avLst/>
          </a:prstGeom>
          <a:solidFill>
            <a:srgbClr val="FFFFFF"/>
          </a:solidFill>
          <a:ln w="6350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379393" y="3749040"/>
            <a:ext cx="2510713" cy="246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42144"/>
                </a:solidFill>
                <a:latin typeface="Cambria"/>
              </a:rPr>
              <a:t>dm_F / dt  =  − S₀ − A_m · ρ · J_w     (Lag, post-holdup)
dm_F / dt  =  + S / 3600                          (Lag, in holdup)
dc_F / dt  =  ( A_m · ρ / m_F ) ·
             ( c_D · J_w − J_s 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0147" y="3383280"/>
            <a:ext cx="2693593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10147" y="3383280"/>
            <a:ext cx="269359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HOLDUP  (m_H = 0.25 mL)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0147" y="3657600"/>
            <a:ext cx="2693593" cy="2650680"/>
          </a:xfrm>
          <a:prstGeom prst="rect">
            <a:avLst/>
          </a:prstGeom>
          <a:solidFill>
            <a:srgbClr val="FFFFFF"/>
          </a:solidFill>
          <a:ln w="6350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01587" y="3749040"/>
            <a:ext cx="2510713" cy="246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42144"/>
                </a:solidFill>
                <a:latin typeface="Cambria"/>
              </a:rPr>
              <a:t>dc_H / dt  =  ( A_m · ρ / m_H ) ·
             ( J_s − c_H · J_w )
c_in  =  (c_F − c_H) exp(J_w/k)  +  c_H
         ↑ algebraic constraint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32341" y="3383280"/>
            <a:ext cx="2693593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132341" y="3383280"/>
            <a:ext cx="269359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COLLECTING VIAL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32341" y="3657600"/>
            <a:ext cx="2693593" cy="2650680"/>
          </a:xfrm>
          <a:prstGeom prst="rect">
            <a:avLst/>
          </a:prstGeom>
          <a:solidFill>
            <a:srgbClr val="FFFFFF"/>
          </a:solidFill>
          <a:ln w="6350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223781" y="3749040"/>
            <a:ext cx="2510713" cy="246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42144"/>
                </a:solidFill>
                <a:latin typeface="Cambria"/>
              </a:rPr>
              <a:t>dm_V / dt  =  A_m · ρ · J_w
d(c_V · m_V)/dt  =  A_m · ρ · J_w · c_H
c_V  =  (c_V · m_V) / m_V
         ↑ avoids 0/0 at vial start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00800"/>
            <a:ext cx="1146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1">
                <a:solidFill>
                  <a:srgbClr val="21295C"/>
                </a:solidFill>
                <a:latin typeface="Calibri"/>
              </a:rPr>
              <a:t>Parameter estimation problem:   θ̂  =  argmin_θ  Σ ( y_meas − h(x(θ), t) )² / σ_meas²    subject to the DAEs above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B04 · DYNAMIC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Pyomo states + the cVmV trick (avoiding 0/0)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m.cF   [n_vial, τ]    retentate / feed concentration  [mM]
m.cH   [n_vial, τ]    holdup concentration             [mM]
m.mV   [n_vial, τ]    cumulative vial mass             [g]
m.cVmV [n_vial, τ]    extensive vial solute  c_V · m_V
m.cV   [n_vial, τ]    vial concentration               [mM]
Algebraic constraint:
  m.cV [n,t] · m.mV [n,t]  ==  m.cVmV [n,t]
Domains:
  m.n_vial  =  RangeSet(N_VIAL)
  m.tau     =  ContinuousSet(bounds=(0, 1))
Derivatives (Pyomo DAE):
  m.dcF    =  DerivativeVar(m.cF,    wrt=m.tau)
  m.dcH    =  DerivativeVar(m.cH,    wrt=m.tau)
  m.dmV    =  DerivativeVar(m.mV,    wrt=m.tau)
  m.dcVmV  =  DerivativeVar(m.cVmV,  wrt=m.tau)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WHY  cVmV  AND NOT  cV  DIRECTLY?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At the start of each vial,  m_V → 0.
Computing  c_V  =  c_VmV / m_V  is singular there.
Trick: evolve the EXTENSIVE quantity first,
then recover the intensive variable algebraically:
  d(c_V · m_V) / dt  =  A_m · ρ · J_w · c_H     (well-defined)
  c_V                 =  (c_V · m_V) / m_V       (algebraic, only
                                                 evaluated where
                                                 m_V &gt; 0)
This is a classic dynamic-modeling pattern: keep ODEs on
extensive quantities (mass, total solute) and use algebraic
constraints for intensive quantities (concentrations).
Numerical payoff: IPOPT does not have to chase  0 / 0  near
τ = 0 in each vial — the constraint is always non-singular.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2438400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2255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B05 · 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371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21295C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11460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States, derivatives, and the time-scaling factor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60240" cy="228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4572000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2801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STATES &amp; DERIVATIVES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554480"/>
            <a:ext cx="4572000" cy="32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691640"/>
            <a:ext cx="4297680" cy="2925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42144"/>
                </a:solidFill>
                <a:latin typeface="Consolas"/>
              </a:rPr>
              <a:t>m.cF   [n, τ]    retentate / feed   [mM]
m.cH   [n, τ]    holdup             [mM]
m.mV   [n, τ]    cumulative vial mass [g]
m.cVmV [n, τ]    extensive solute   c_V · m_V
m.cV   [n, τ]    vial concentration [mM]
derivatives via Pyomo DAE:
   m.dcF    = DerivativeVar(m.cF,   wrt=m.tau)
   m.dcH    = DerivativeVar(m.cH,   wrt=m.tau)
   m.dmV    = DerivativeVar(m.mV,   wrt=m.tau)
   m.dcVmV  = DerivativeVar(m.cVmV, wrt=m.tau)
algebraic recovery:
   c_V · m_V  =  c_VmV     (well-defined at m_V = 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81600" y="1280160"/>
            <a:ext cx="6645000" cy="74000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18760" y="1307592"/>
            <a:ext cx="6370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VIAL MASS  d m_V / d 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8760" y="1554480"/>
            <a:ext cx="6370680" cy="328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142144"/>
                </a:solidFill>
                <a:latin typeface="Cambria"/>
              </a:rPr>
              <a:t>d m_V / d t   =   A_m · ρ · J_w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81600" y="2157320"/>
            <a:ext cx="6645000" cy="74000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18760" y="2184752"/>
            <a:ext cx="6370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VIAL SOLUTE  d (c_V · m_V) / d 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8760" y="2431640"/>
            <a:ext cx="6370680" cy="328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142144"/>
                </a:solidFill>
                <a:latin typeface="Cambria"/>
              </a:rPr>
              <a:t>d (c_V · m_V) / d t   =   A_m · ρ · J_w · c_H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81600" y="3034480"/>
            <a:ext cx="6645000" cy="74000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18760" y="3061912"/>
            <a:ext cx="6370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HOLDUP CONCENTRATION  d c_H / d 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8760" y="3308800"/>
            <a:ext cx="6370680" cy="328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142144"/>
                </a:solidFill>
                <a:latin typeface="Cambria"/>
              </a:rPr>
              <a:t>d c_H / d t   =   ( A_m · ρ / m_H ) · ( J_s − c_H · J_w 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81600" y="3911640"/>
            <a:ext cx="6645000" cy="74000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18760" y="3939072"/>
            <a:ext cx="6370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FEED CONCENTRATION  d c_F / d t           (DATA mode)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8760" y="4185960"/>
            <a:ext cx="6370680" cy="328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142144"/>
                </a:solidFill>
                <a:latin typeface="Cambria"/>
              </a:rPr>
              <a:t>d c_F / d t   =   ( A_m · ρ / M_F0 ) · ( c_D · J_w − J_s 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005800"/>
            <a:ext cx="11460240" cy="91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5120640"/>
            <a:ext cx="114602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21295C"/>
                </a:solidFill>
                <a:latin typeface="Calibri"/>
              </a:rPr>
              <a:t>TIME-SCALING FACTOR — chain rule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532120"/>
            <a:ext cx="11460240" cy="86868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5623560"/>
            <a:ext cx="111859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142144"/>
                </a:solidFill>
                <a:latin typeface="Cambria"/>
              </a:rPr>
              <a:t>Every Pyomo ODE is multiplied by  (TF[n] − TI[n]) / Tauf   because τ ∈ [0,1] is rescaled time:
              dx / dτ   =   (TF − TI) · dx / dt          (chain rule, Tauf = 1)
Drop the factor and the dynamics fit the wrong time-window.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B06 · TIME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τ ∈ [0, 1] per vial — why every ODE has a (TF−TI) factor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WHY NORMALIZE?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Different vials run for different durations.
Vial 1 might be 8.6 min, vial 5 might be 4.8 min.
If we worked in physical seconds, each ODE in each vial
would have a different integration window.  Pyomo DAE
wants a single ContinuousSet shared across all vials.
Solution: rescale each vial to τ ∈ [0, 1]:
   t  ∈  [ TI[n] ,  TF[n] ]     →     τ  =  ( t − TI ) / ( TF − TI )
   m.tau  =  ContinuousSet( bounds=(0, Tauf=1) )
Same τ grid is reused for every vial — cleaner discretization,
smaller global problem, better numerical conditioning.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CHAIN RULE — WHERE THE FACTOR COMES FROM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  dx / dt   =   ( dx / dτ ) · ( dτ / dt )
  dτ / dt   =   1 / ( TF − TI )
so:
  dx / dτ   =   ( TF − TI ) · ( dx / dt )
That is why every Pyomo ODE in this code is multiplied by
       (TF_dict[n] − TI_dict[n]) / Tauf
It is NOT a free unit-conversion factor — it is the
chain-rule artifact of rescaling time to a unit interval.
Drop it, and IPOPT silently fits the wrong dynamics.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B07 · DAE → NLP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Backward finite difference, nfe = 300, CasADi initialization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DISCRETIZATION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TransformationFactory("dae.finite_difference")
    .apply_to( instance, nfe = 300, scheme = "BACKWARD" )
The continuous ODE  d x / d τ  =  f ( x, θ )  becomes:
  ( x[k] − x[k−1] ) / Δτ   =   f ( x[k], θ )         k = 1 .. nfe
with  Δτ  =  1 / nfe  =  1 / 300.
Number of NLP variables ≈
   N_VIAL  ×  ( nfe + 1 )  ×  N_states
   = 11 × 301 × 7 ≈ 23,000 plus θ.
The DAE is replaced by ~20,000 algebraic equality constraints.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WHY THIS BEATS sim+opt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Naive approach (NOT used here):
   for each θ proposal:
       y_sim = scipy.integrate.solve_ivp( ODE, θ )
       obj   = ‖ y_sim − y_meas ‖²
   minimize  obj  via scipy.optimize
Problems:  derivatives are noisy (finite-diff through
the integrator), nested loops are slow, no guarantee
of constraint satisfaction during the search.
Simultaneous dynamic optimization (what this code does):
   min   Obj(θ, x(·))
   s.t.  every ODE point IS an equality constraint
         every initial / boundary condition IS a constraint
         parameter bounds via Var( bounds = ... )
IPOPT moves θ AND the state grid jointly — exact gradients
via automatic differentiation through Pyomo + ASL.
CasADi simulator gives a warm start before IPOPT runs.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2438400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2255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B08 · WSSE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371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21295C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11460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Weighted least squares — what IPOPT actually minimizes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60240" cy="228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11460240" cy="164592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118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WSSE OBJECTIVE  Obj(θ ; 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91640"/>
            <a:ext cx="11185920" cy="990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0">
                <a:solidFill>
                  <a:srgbClr val="142144"/>
                </a:solidFill>
                <a:latin typeface="Cambria"/>
              </a:rPr>
              <a:t>10⁴ · [   Σ_i  ( (m_pred_i − m_meas_i) / σ_m )² / N_m
       +   Σ_j  ( (c_V_j − c_V_j_meas) / (0.03 · c_V_j_meas) )² / N_v
       +   Σ_k  ( (c_F_k − c_F_k_meas) / (0.003 · c_F_k_meas) )² / N_r
       +   R15:  ( (c_F[N, τ_last] − ICP_final) / (0.003 · ICP_final) )²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42480"/>
            <a:ext cx="111859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"/>
              </a:rPr>
              <a:t>σ_m  =  mass_scale_g  =  0.01 g  (R13, frequentist balance precision; salt-independent)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017520"/>
            <a:ext cx="3657600" cy="150000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044952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MASS TERM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291840"/>
            <a:ext cx="3383280" cy="859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142144"/>
                </a:solidFill>
                <a:latin typeface="Cambria"/>
              </a:rPr>
              <a:t>( Δm / σ_m )² / N_m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97480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"/>
              </a:rPr>
              <a:t>σ_m = 0.01 g is the analytical-balance precision.
Under N(0, σ_m²) noise, this is MLE up to a constant.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017520"/>
            <a:ext cx="3657600" cy="150000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34840" y="3044952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VIAL CONC. TERM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291840"/>
            <a:ext cx="3383280" cy="859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142144"/>
                </a:solidFill>
                <a:latin typeface="Cambria"/>
              </a:rPr>
              <a:t>( Δc_V / (0.03 · c_V_meas) )² / N_v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197480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"/>
              </a:rPr>
              <a:t>3 % relative uncertainty on ICP-OES per-vial reads.
Hits the optimizer at τ = τ_last for each real vial.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3017520"/>
            <a:ext cx="3657600" cy="150000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66760" y="3044952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RETENTATE TERM   ← strict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291840"/>
            <a:ext cx="3383280" cy="859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142144"/>
                </a:solidFill>
                <a:latin typeface="Cambria"/>
              </a:rPr>
              <a:t>( Δc_F / (0.003 · c_F_meas) )² / N_r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197480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"/>
              </a:rPr>
              <a:t>0.3 % relative uncertainty on in-line conductivity.
10× tighter than vial → cF dominates the WSSE.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700520"/>
            <a:ext cx="11460240" cy="155448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4837680"/>
            <a:ext cx="1118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INTERPOLATION ONTO MEASUREMENT TIMES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157720"/>
            <a:ext cx="111859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42144"/>
                </a:solidFill>
                <a:latin typeface="Cambria"/>
              </a:rPr>
              <a:t>IPOPT discretizes onto its own τ-grid.  Measurements live at experimental timestamps t_j.
For each (n_vial, t_j_scaled), find bracketing nodes τ[k], τ[k+1] and linearly interpolate:
     ŷ ( t_j )   =   y[k]  +  ( y[k+1] − y[k] ) · ( t_j − τ[k] ) / ( τ[k+1] − τ[k] )
Residuals are evaluated at ŷ(t_j), not at grid nodes.  Same trick DATA2 utility.py uses.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B09 · IPOPT + MULTISTART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Local NLP solver wrapped in a Latin-Hypercube global heuristic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IPOPT call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48640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512064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solver = _build_ipopt_solver()
solver.options["max_iter"]        =  3000
solver.options["linear_solver"]   =  ma57 / mumps
results = solver.solve(instance, tee=True)
On non-optimal termination, retry with MUMPS + more iter:
  solver.options["linear_solver"]  =  "mumps"
  solver.options["max_iter"]       =  5000
  solver.solve(instance, tee=True)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LHS multistart  (R10 + R12)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783080"/>
            <a:ext cx="548640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810512"/>
            <a:ext cx="512064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lhs  =  _lhs_unit_hypercube( N, d, seed = 13 )
for k in 1 .. N:
    θ_k  =  θ_lo  +  lhs[k, :]  ·  ( θ_hi − θ_lo )
    fit_k =  solve_model( θ_k )
best  =  argmin_k  Obj( fit_k )   over optimal-status runs
Default  N  =  5     (runfile accepts 5 .. 14)
Lp    box  =  linear [ 5, 8 ]   (R12 narrowing)
B     box  =  log    [ 0.01, 5 ] μm/s
σ     box  =  linear ( 0.10, 0.95 )   corners excluded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17320"/>
            <a:ext cx="11292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71732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OBSERVED OBJECTIVE PROGRESSION  (NF270_MC2 / NaCl)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83080"/>
            <a:ext cx="1129284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40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110512"/>
            <a:ext cx="1092708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Single start                                Obj  =  2.04 × 10⁸     basin: Mode B  (σ → 1)
LHS multistart  (R10, Lp ∈ [5, 14])          Obj  =  4.93 × 10⁷     basin: Mode C  (σ → 0)
LHS multistart  (R11 quadrature mass)        Obj  =  6.08 × 10⁹     basin: Mode B  (σ → 1)
LHS narrowed   (R12, Lp ∈ [5, 8]) + R13      Obj  =  4.93 × 10⁷     basin: Mode C  (σ → 0)
LHS narrowed + R14/R15 Final-Tube anchor    Obj  =  TBD              (next run)
The Pyomo Var bounds are wider than the LHS box (Lp ∈ (0.5, 50), σ ∈ (0,1)) — LHS only
controls where trial starts land, not where IPOPT is allowed to terminate.  Local optimum.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B10 · MASS-LITMUS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σ = 0 closed-form Lp regression — convex sanity check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DERIVATION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Set σ = 0.  The Jw equation becomes algebraic:
   Jw  =  Lp · ΔP / 36000          (constant in time)
The vial-mass ODE simplifies:
   d mV / dt  =  Am · ρ · Jw      =  Am · ρ · Lp · ΔP / 36000
Integrating:
   mV ( t )  =  s  ·  ( t − t_0 )
   s  =  ( Am · ρ · Lp · ΔP ) / 36000
   ⇒    Lp  =  s · 36000 / ( Am · ρ · ΔP )
All we need is the slope s of mass vs time.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SLOPE FIT  (zero-intercept least squares)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Treat every real-vial sample as an observation of:
   mV_i  =  s  ·  Δt_i  +  noise           (no intercept)
OLS solution:
   ŝ  =  Σ_i ( Δt_i · mV_i )   /   Σ_i ( Δt_i )²
Implementation:
   solve_mass_balance_only( data_stru ):
       Δt  =  time − vial_start_time
       ŝ   =  sum(Δt · mass) / sum(Δt²)
       Lp̂ =  ŝ · 36000 / (Am · ρ · ΔP)
       return fit_stru, sim_stru
No Pyomo, no IPOPT.  Always optimal by construction.
If THIS fit fails, the issue is data / units / time alignment,
not the σ-corner landscape.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2438400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2255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B11 · FIM &amp; UNCERTAINTY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371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21295C"/>
                </a:solidFill>
                <a:latin typeface="Calibr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11460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Fisher information matrix — eigenstructure tells identifiability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60240" cy="228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11460240" cy="86868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307592"/>
            <a:ext cx="11185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FISHER INFORMATION MATRIX  M  =  J ᵀ · Σ_y⁻¹ · 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554480"/>
            <a:ext cx="111859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142144"/>
                </a:solidFill>
                <a:latin typeface="Cambria"/>
              </a:rPr>
              <a:t>J  =  ∂ y / ∂ θ   (n_obs × n_θ)         Σ_y  =  diag( σ_m² ,  (0.03·c_V)² ,  (0.003·c_F)² )         V_θ  ≈  M ⁻¹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828800"/>
            <a:ext cx="11185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"/>
              </a:rPr>
              <a:t>Eigen-decomposition of M:  large eigenvalues → tightly constrained directions;  small → flat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331720"/>
            <a:ext cx="7315200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23317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FROM LATEST DATA3 RUN — NaCl-MC2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06040"/>
            <a:ext cx="7315200" cy="2925000"/>
          </a:xfrm>
          <a:prstGeom prst="rect">
            <a:avLst/>
          </a:prstGeom>
          <a:solidFill>
            <a:srgbClr val="FFFFFF"/>
          </a:solidFill>
          <a:ln w="6350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697480"/>
            <a:ext cx="198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eigenvalue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7200" y="2697480"/>
            <a:ext cx="166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eig_dir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97200" y="2697480"/>
            <a:ext cx="180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std (asymptotic)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200" y="2697480"/>
            <a:ext cx="190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regime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200400"/>
            <a:ext cx="198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0.158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37200" y="3200400"/>
            <a:ext cx="166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97200" y="3200400"/>
            <a:ext cx="180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0.0065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200" y="3200400"/>
            <a:ext cx="190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tightest direction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703320"/>
            <a:ext cx="198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2.776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37200" y="3703320"/>
            <a:ext cx="166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97200" y="3703320"/>
            <a:ext cx="180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2.26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200" y="3703320"/>
            <a:ext cx="190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flat ← corner basin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206240"/>
            <a:ext cx="198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907 752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37200" y="4206240"/>
            <a:ext cx="166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Lp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97200" y="4206240"/>
            <a:ext cx="180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1.25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200" y="4206240"/>
            <a:ext cx="190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most informative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709160"/>
            <a:ext cx="198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142144"/>
                </a:solidFill>
                <a:latin typeface="Calibri"/>
              </a:rPr>
              <a:t>det(M)  =  3.99 × 10⁵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37200" y="4709160"/>
            <a:ext cx="166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097200" y="4709160"/>
            <a:ext cx="180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142144"/>
                </a:solidFill>
                <a:latin typeface="Calibri"/>
              </a:rPr>
              <a:t>trace(M)  =  9.08 × 10⁵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97200" y="4709160"/>
            <a:ext cx="190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142144"/>
                </a:solidFill>
                <a:latin typeface="Calibri"/>
              </a:rPr>
              <a:t>cond(M)  =  5.7 × 10⁶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01000" y="2331720"/>
            <a:ext cx="3826200" cy="2743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01000" y="2331720"/>
            <a:ext cx="3826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FIM INFERENCE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01000" y="2606040"/>
            <a:ext cx="3826200" cy="2925000"/>
          </a:xfrm>
          <a:prstGeom prst="rect">
            <a:avLst/>
          </a:prstGeom>
          <a:solidFill>
            <a:srgbClr val="DAE8FC"/>
          </a:solidFill>
          <a:ln w="6350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38160" y="2743200"/>
            <a:ext cx="3551880" cy="2650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42144"/>
                </a:solidFill>
                <a:latin typeface="Calibri"/>
              </a:rPr>
              <a:t>·  σ direction is FLAT  (std 2.26
   while σ ∈ [0,1])  ⇒  exactly the
   corner-basin signature.
·  Lp is the most informative
   direction (eigenvalue ~9 × 10⁵).
·  B is the tightest (std 0.0065
   μm/s) — but this is a local
   linearization at the fitted θ̂.
·  FIM is local: meaningful only
   near θ̂ under assumed σ_meas.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532120"/>
            <a:ext cx="11460240" cy="86868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5623560"/>
            <a:ext cx="11185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ASYMPTOTIC CONFIDENCE ELLIPSOID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943600"/>
            <a:ext cx="11185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( θ − θ̂ ) ᵀ · M · ( θ − θ̂ )   ≤   χ²_{n_θ, 1−α}                          For α = 0.05, n_θ = 3:  threshold = 7.815.    In the (Lp, σ) plane, the ellipse is highly elongated along σ.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B12 · RUNFILE DISPATCHER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Tree walker — ROOTS → SUBSET → TRUNK → BRANCHES → dispatch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11292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refactored_ucb_runfile.py  (≈ 184 lines, no science inside)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11292840" cy="46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46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10927080" cy="45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def main():
    root     = pick_root()        #  1=DATA1   2=DATA2   3=DATA3   4=custom
    subset   = pick_subset(root)  #  DATA3:    all 26  /  single-salt 11  /  one sheet  /  fast 3
    trunk    = pick_trunk()       #  0=manifest_default  3=fit+multistart  4=+FIM  5=+DoE  6=mass-litmus
    branches = pick_branches()    #  m=mass   c=conc   p=params   f=FIM   d=DoE   all
    if root in {1, 2, 3} and trunk == 0:
        # exact byte-identical replication of published outputs
        materialize_all( root, subset, branches )
    elif root in {1, 2, 3} and trunk in {3, 4, 5}:
        results = estimate_parameters( root, subset, multistart=True, use_FIM=(trunk≥4), use_DoE=(trunk==5) )
        render( results, branches )
    elif root in {1, 2, 3} and trunk == 6:
        # NF270 mass-litmus baseline (sets NF270_MASS_LITMUS_TEST_ACTIVE = True)
        results = solve_mass_balance_only( load(root, subset) )
        render( results, branches )
    elif root == 4:
        # custom XLSX outside the campaign manifest
        results = run_pipeline( file_path, mode, workflow_family )
        render( results, branches )
No physics, no Pyomo, no IPOPT call lives in this file.  Replace it with a notebook, a CLI, a
web form — the library does not care.  All dispatch happens through the kept top-level
def-s in refactored_ucb_library.py.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B13 · CAVEATS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Things to scrutinize before trusting any DATA3 fit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OBJECTIVE WEIGHTS DOMINATE THE ANSWER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Retentate 0.3 % is very tight.  Permeate 3 % is loose.  Mass 0.01 g is tight
on the vial-1 scale (≈ 1 g) but loose on the cell scale (≈ 10 g).  Optimizer
will prioritize whichever residual has the smallest σ_meas — this is the
most common silent failure mode in WSSE parameter estimation.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09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09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IPOPT IS LOCAL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6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246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249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Multistart is a heuristic, not a guarantee.  If the loss-function landscape
globally prefers a σ corner, every LHS start will find it.  Diagnose by
tightening σ to [0.30, 0.85] and checking whether Obj jumps up.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77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277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UNIT CONVERSIONS ARE EVERYWHERE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14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314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17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The 36000 in Jw and the 10000 in Js are not cosmetic.  They encode the
unit system bridging L/(m²·hr·bar) → cm/s and μm/s → cm²·mM-per-time.
A wrong factor changes fitted Lp / B / σ silently.  No warning will fire.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cVmV  TRICK IS LATENT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178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63640" y="178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181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The fact that the model uses cVmV instead of cV is the difference between
an IPOPT solve that succeeds in 6 iterations and one that diverges trying
to evaluate 0 / 0.  Worth knowing if you refactor the state.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209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55080" y="209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MASS-LITMUS IS EXCELLENT ENGINEERING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246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63640" y="246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60" y="249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A convex closed-form baseline that bypasses Pyomo / IPOPT entirely.  If
mass-litmus fails, the full fit cannot succeed — issue is in loader, units,
or data quality.  If it succeeds but the full fit fails, issue is σ-coupling
or the optimization landscape.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277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55080" y="277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FIM IS LOCAL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314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63640" y="314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37960" y="317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Meaningful only near θ̂ and under the assumed σ_meas.  Reported eigenvalues
/ stds describe local identifiability, not global uncertainty.  For global
uncertainty, profile likelihood is the frequentist-clean upgrade.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10 · REPRODUCE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How to run this on your machine — five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1247120" cy="27432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  <a:latin typeface="Calibri"/>
              </a:rPr>
              <a:t>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109728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1.  Drop in refactored_ucb_library.py and refactored_ucb_runfile.py (single consolidated files).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2.  python refactored_ucb_runfile.py     pick ROOT=3 (NF270)  SUBSET=2 (single-salt)  TRUNK=6 (mass-litmus)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3.  Verify data_config: vial1_split_status=="split",  Lp0_method=="data_driven",  icp_final_tube_mM is populated.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4.  Re-run TRUNK=3 with N=5 LHS starts. Report fitted (Lp̂, B̂, σ̂) per sheet + final Obj + Final Tube residual.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5.  Verify data_config carries: mass_scale_g=0.01, icp_*_mM, stir_rpm. Compute mass-litmus baseline Lp = slope·36000/(Am·ρ·ΔP); confirm full fit beats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297680"/>
            <a:ext cx="5486400" cy="2194560"/>
          </a:xfrm>
          <a:prstGeom prst="rect">
            <a:avLst/>
          </a:prstGeom>
          <a:solidFill>
            <a:srgbClr val="FEF8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4297680"/>
            <a:ext cx="91440" cy="21945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43891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WHAT WOULD HELP US MOST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00600"/>
            <a:ext cx="50292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Your priors on σ for NF270 with NaCl, CaCl₂, LaCl₃ — even rough ranges.</a:t>
            </a:r>
          </a:p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Whether the three modes correspond to specific salts you've seen behave this way.</a:t>
            </a:r>
          </a:p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Which sheet you'd focus on first if you were us.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4297680"/>
            <a:ext cx="5486400" cy="2194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4297680"/>
            <a:ext cx="91440" cy="2194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43891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WHAT TO 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800600"/>
            <a:ext cx="50292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σ̂ → 1 with Lp̂ → 0.5 (lower bound) — Mode B corner.</a:t>
            </a:r>
          </a:p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σ̂ → 0 with B̂ → large — Mode C corner (LHS-R10 basin).</a:t>
            </a:r>
          </a:p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Final Tube residual (cF[N,τ_last]−ICP) on the order of σ_cf = 0.003·cF → fit consistent with measurement.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diagnosis + fix + open questions for collaborators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451988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B01 ·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Dynamic inverse problem — what we are solving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11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UNKNOWNS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onsolas"/>
              </a:rPr>
              <a:t>θ  =  ( Lp ,  B ,  σ )
Lp  : hydraulic permeability  [ L / m² / hr / bar ]
B   : solute permeability   [ μm / s ]
σ   : reflection coefficient   [ dimensionless,  0 ≤ σ ≤ 1 ]
Measurements per vial i and sample j:
  mV_i,j   :  mass collected in vial i at time t_j     [g]
  cF_i,j   :  retentate concentration                  [mM]
  cV_i     :  per-vial permeate concentration (scalar) [mM]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OPTIMIZATION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48640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7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810512"/>
            <a:ext cx="512064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onsolas"/>
              </a:rPr>
              <a:t>θ̂  =  argmin_θ   Obj(θ ; D)
subject to:   DAE  &amp;  initial conditions
              parameter bounds
The model outputs (mV, cF, cV) are not algebraic in θ.
They come from solving coupled ODEs over (n_vial, τ).
Pyomo turns the dynamic model into one nonlinear
program over { θ, all state values at all τ-nodes }.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717320"/>
            <a:ext cx="11292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71732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KEY POINT — WHY THE FIT IS HARD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83080"/>
            <a:ext cx="1129284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0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110512"/>
            <a:ext cx="1092708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1. The forward map  θ → ( mV, cF, cV )  is nonlinear and dynamic.
   Even small θ-changes can shift basins → IPOPT can converge to
   different local minima depending on initialization.
2. σ has both lower (σ = 0, no rejection) and upper (σ = 1, complete
   rejection) corner basins.  Each corner trivializes the model in
   a different way, and is hard to escape once the optimizer is
   nearby.  Hence LHS multistart (R10/R12) and structural fixes.
3. The WSSE weights (1 / σ_meas) determine which residual the
   optimizer cares about most.  Salt-specific physics belongs in θ,
   not in σ_meas — see R11→R13 in slide 7.</a:t>
            </a:r>
          </a:p>
        </p:txBody>
      </p:sp>
    </p:spTree>
    <p:extLst>
      <p:ext uri="{BB962C8B-B14F-4D97-AF65-F5344CB8AC3E}">
        <p14:creationId xmlns:p14="http://schemas.microsoft.com/office/powerpoint/2010/main" val="38419929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B02 · DATA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data_stru — one shape, two loaders (loadmat, loadxlsx)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12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data_config (per experiment)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46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46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45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n             # number of vials
n_v0          # first real (non-holdup) vial
n_extra       # holdup vials skipped in WSSE
delP          # applied pressure       [bar]
Temp          # temperature            [K]
Am            # membrane area          [cm²]
rho           # density                [g/cm³]
M_F0          # initial feed mass      [g]
M_O           # M_F0 − Final           [g]
C_F0          # initial feed conc.     [mM]
C_D           # diafiltrate conc.      [mM]
namec         # salt name (e.g. "NaCl")
Lp0, B0, sigma0   # initial guesses
mass_scale_g  # WSSE mass weight, 0.01 g
stir_rpm      # R16, parsed from notes
icp_feed_mM
icp_diafiltrate_mM
icp_retentate_mM
icp_final_tube_mM   # R14/R15 anchor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data_raw[i]  (one entry per vial)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486400" cy="46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783080"/>
            <a:ext cx="91440" cy="46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810512"/>
            <a:ext cx="5120640" cy="45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time      # sample times      [s], per-vial start at 0
mass      # cumulative balance reading, per-vial reset:
          #    mass[t] = balance[t] − balance[t_start]
          #    (matches DATA2 .mat convention)
cF_exp    # retentate concentration time-series [mM]
          # (Shedlovsky-inverted from in-line κ)
cV_avg    # scalar per-vial permeate conc.     [mM]
          # = mg/L · dilution / cation_MW
Both loaders converge to this shape:
  loadmat("…/data_stru-dataset270511.12.mat")
       ↓
  data_stru = {"data_config": …, "data_raw": […]}
       ↑
  _load_legacy_data_stru_from_excel("NF270_MC2.xlsx",
                                    selector="05.07.24_NaCl")
Downstream code (solve_model, calc_FIM, plot_*)
never knows whether the source was .mat or .xlsx.</a:t>
            </a:r>
          </a:p>
        </p:txBody>
      </p:sp>
    </p:spTree>
    <p:extLst>
      <p:ext uri="{BB962C8B-B14F-4D97-AF65-F5344CB8AC3E}">
        <p14:creationId xmlns:p14="http://schemas.microsoft.com/office/powerpoint/2010/main" val="540189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B03 · PHYSICS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Membrane transport — Jw, Js, concentration polarization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13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WATER FLUX  Jw  [cm/s]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14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14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13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Jw  =  ( Lp / 36000 ) · [ ΔP  −  σ · n_i · R · T · ( c_in − c_H ) ]
Pyomo line:
  m.Jw[n,t] · 36000  ==  m.Lp · (
      delP − (m.cIn[n,t]−m.cH[n,t]) · ni · m.sigma · R · T )
Lp is in L/(m²·hr·bar); the 36000 converts to cm/s.
(c_in − c_H) is the osmotic driving force across the membrane.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SOLUTE FLUX  Js  [mol/(cm²·s)]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486400" cy="14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783080"/>
            <a:ext cx="91440" cy="14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810512"/>
            <a:ext cx="5120640" cy="13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Js · 10000  =  B · ( c_in − c_H )         (single-B form)
Pyomo line:
  m.Js[n,t] · 10000  ==  m.B · (m.cIn[n,t]−m.cH[n,t])
B is in μm/s; 10000 converts to cm²·mM-per-time units
consistent with the rest of the model.
For convection-diffusion B_form:
  Js · 10000  =  ( Jw · B · 10000 ) · ( c_in − c_H 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317320"/>
            <a:ext cx="11292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31732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CONCENTRATION POLARIZATION  (film model)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83080"/>
            <a:ext cx="11292840" cy="2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683080"/>
            <a:ext cx="91440" cy="2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3710512"/>
            <a:ext cx="10927080" cy="2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c_in  =  ( c_F  −  c_H ) · exp( Jw / k )  +  c_H
Pyomo line:
  m.cIn[n,t]  ==  (m.cF[n,t] − m.cH[n,t]) · exp( m.Jw[n,t] / k )  +  m.cH[n,t]
k = mass-transfer coefficient computed from stir velocity v, diameter b, kinematic viscosity ν,
and salt diffusivity D via the standard correlation:
  k  =  0.23 · v^0.57 · D^0.67 / (ν^0.24 · b^0.43)         where  v = (RPM / 60) · π · b
R16 update: RPM is now parsed from XLSX notes → data_config["stir_rpm"], used in k.
D is salt-specific: K⁺ 1.96e-5, Na⁺ 1.33e-5, Ca²⁺ 0.79e-5, La³⁺ 0.62e-5 cm²/s.
Why this matters: the membrane sees c_in, not c_F.  Polarization raises c_in above c_F when Jw is large,
which couples Lp and σ — a key reason the (Lp, σ) landscape has corner basins.</a:t>
            </a:r>
          </a:p>
        </p:txBody>
      </p:sp>
    </p:spTree>
    <p:extLst>
      <p:ext uri="{BB962C8B-B14F-4D97-AF65-F5344CB8AC3E}">
        <p14:creationId xmlns:p14="http://schemas.microsoft.com/office/powerpoint/2010/main" val="26203953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B04 · DYNAMIC STATES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Pyomo states + the cVmV trick (avoiding 0/0)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14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m.cF   [n_vial, τ]    retentate / feed concentration  [mM]
m.cH   [n_vial, τ]    holdup concentration             [mM]
m.mV   [n_vial, τ]    cumulative vial mass             [g]
m.cVmV [n_vial, τ]    extensive vial solute  c_V · m_V
m.cV   [n_vial, τ]    vial concentration               [mM]
Algebraic constraint:
  m.cV [n,t] · m.mV [n,t]  ==  m.cVmV [n,t]
Domains:
  m.n_vial  =  RangeSet(N_VIAL)
  m.tau     =  ContinuousSet(bounds=(0, 1))
Derivatives (Pyomo DAE):
  m.dcF    =  DerivativeVar(m.cF,    wrt=m.tau)
  m.dcH    =  DerivativeVar(m.cH,    wrt=m.tau)
  m.dmV    =  DerivativeVar(m.mV,    wrt=m.tau)
  m.dcVmV  =  DerivativeVar(m.cVmV,  wrt=m.tau)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WHY  cVmV  AND NOT  cV  DIRECTLY?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At the start of each vial,  m_V → 0.
Computing  c_V  =  c_VmV / m_V  is singular there.
Trick: evolve the EXTENSIVE quantity first,
then recover the intensive variable algebraically:
  d(c_V · m_V) / dt  =  A_m · ρ · J_w · c_H     (well-defined)
  c_V                 =  (c_V · m_V) / m_V       (algebraic, only
                                                 evaluated where
                                                 m_V &gt; 0)
This is a classic dynamic-modeling pattern: keep ODEs on
extensive quantities (mass, total solute) and use algebraic
constraints for intensive quantities (concentrations).
Numerical payoff: IPOPT does not have to chase  0 / 0  near
τ = 0 in each vial — the constraint is always non-singular.</a:t>
            </a:r>
          </a:p>
        </p:txBody>
      </p:sp>
    </p:spTree>
    <p:extLst>
      <p:ext uri="{BB962C8B-B14F-4D97-AF65-F5344CB8AC3E}">
        <p14:creationId xmlns:p14="http://schemas.microsoft.com/office/powerpoint/2010/main" val="40653381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B05 · 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Mass and species balances — what each state evolves under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15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VIAL MASS  m.mV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80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80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74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d m_V / d t  =  A_m · ρ · J_w
Pyomo:
  m.dmV[n,t]  ==  m.Jw[n,t] · A_m · ρ · (TF[n] − TI[n]) /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40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4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VIAL SOLUTE  m.cVmV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4040" y="1783080"/>
            <a:ext cx="5486400" cy="80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4040" y="1783080"/>
            <a:ext cx="91440" cy="80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8360" y="1810512"/>
            <a:ext cx="5120640" cy="74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d (c_V · m_V) / d t  =  A_m · ρ · J_w · c_H
Pyomo:
  m.dcVmV[n,t]  ==
     m.Jw[n,t] · m.cH[n,t] · A_m · ρ · (TF[n] − TI[n])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8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268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HOLDUP  m.cH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053080"/>
            <a:ext cx="5486400" cy="80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053080"/>
            <a:ext cx="91440" cy="80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3080512"/>
            <a:ext cx="5120640" cy="74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d c_H / d t  =  ( A_m · ρ / m_H ) · ( J_s − c_H · J_w )
Pyomo:
  m.dcH[n,t]  ==  A_m · ρ / m_H · (
     m.Js[n,t] − m.cH[n,t] · m.Jw[n,t] ) · (TF[n] − TI[n])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4040" y="268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480" y="268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FEED  m.cF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4040" y="3053080"/>
            <a:ext cx="5486400" cy="80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64040" y="3053080"/>
            <a:ext cx="91440" cy="80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8360" y="3080512"/>
            <a:ext cx="5120640" cy="74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d c_F / d t  =  ( A_m · ρ / M_F0 ) · ( c_D · J_w − J_s )
Pyomo (DATA mode):
  m.dcF[n,t]  ==  A_m · ρ / M_F0 · (
     m.cD · m.Jw[n,t] − m.Js[n,t] ) · (TF[n] − TI[n])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957320"/>
            <a:ext cx="11292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395732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LAG / OVERFLOW MODES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323080"/>
            <a:ext cx="11292840" cy="7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4323080"/>
            <a:ext cx="91440" cy="7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1520" y="4350512"/>
            <a:ext cx="10927080" cy="6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In Lag and Overflow modes,  m_F  becomes dynamic too:
  d m_F / d t  =  − S₀  −  A_m · ρ · J_w        (Lag, after holdup)
  d m_F / d t  =   S / 3600                      (Lag, during holdup)
S₀, S are fit parameters describing leakage / diafiltrate inflow.</a:t>
            </a:r>
          </a:p>
        </p:txBody>
      </p:sp>
    </p:spTree>
    <p:extLst>
      <p:ext uri="{BB962C8B-B14F-4D97-AF65-F5344CB8AC3E}">
        <p14:creationId xmlns:p14="http://schemas.microsoft.com/office/powerpoint/2010/main" val="2343435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B06 · TIME SCALING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τ ∈ [0, 1] per vial — why every ODE has a (TF−TI) factor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16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WHY NORMALIZE?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Different vials run for different durations.
Vial 1 might be 8.6 min, vial 5 might be 4.8 min.
If we worked in physical seconds, each ODE in each vial
would have a different integration window.  Pyomo DAE
wants a single ContinuousSet shared across all vials.
Solution: rescale each vial to τ ∈ [0, 1]:
   t  ∈  [ TI[n] ,  TF[n] ]     →     τ  =  ( t − TI ) / ( TF − TI )
   m.tau  =  ContinuousSet( bounds=(0, Tauf=1) )
Same τ grid is reused for every vial — cleaner discretization,
smaller global problem, better numerical conditioning.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CHAIN RULE — WHERE THE FACTOR COMES FROM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  dx / dt   =   ( dx / dτ ) · ( dτ / dt )
  dτ / dt   =   1 / ( TF − TI )
so:
  dx / dτ   =   ( TF − TI ) · ( dx / dt )
That is why every Pyomo ODE in this code is multiplied by
       (TF_dict[n] − TI_dict[n]) / Tauf
It is NOT a free unit-conversion factor — it is the
chain-rule artifact of rescaling time to a unit interval.
Drop it, and IPOPT silently fits the wrong dynamics.</a:t>
            </a:r>
          </a:p>
        </p:txBody>
      </p:sp>
    </p:spTree>
    <p:extLst>
      <p:ext uri="{BB962C8B-B14F-4D97-AF65-F5344CB8AC3E}">
        <p14:creationId xmlns:p14="http://schemas.microsoft.com/office/powerpoint/2010/main" val="8859639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B07 · DAE →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Backward finite difference, nfe = 300, CasADi initialization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17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DISCRETIZATION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TransformationFactory("dae.finite_difference")
    .apply_to( instance, nfe = 300, scheme = "BACKWARD" )
The continuous ODE  d x / d τ  =  f ( x, θ )  becomes:
  ( x[k] − x[k−1] ) / Δτ   =   f ( x[k], θ )         k = 1 .. nfe
with  Δτ  =  1 / nfe  =  1 / 300.
Number of NLP variables ≈
   N_VIAL  ×  ( nfe + 1 )  ×  N_states
   = 11 × 301 × 7 ≈ 23,000 plus θ.
The DAE is replaced by ~20,000 algebraic equality constraints.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WHY THIS BEATS sim+opt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Naive approach (NOT used here):
   for each θ proposal:
       y_sim = scipy.integrate.solve_ivp( ODE, θ )
       obj   = ‖ y_sim − y_meas ‖²
   minimize  obj  via scipy.optimize
Problems:  derivatives are noisy (finite-diff through
the integrator), nested loops are slow, no guarantee
of constraint satisfaction during the search.
Simultaneous dynamic optimization (what this code does):
   min   Obj(θ, x(·))
   s.t.  every ODE point IS an equality constraint
         every initial / boundary condition IS a constraint
         parameter bounds via Var( bounds = ... )
IPOPT moves θ AND the state grid jointly — exact gradients
via automatic differentiation through Pyomo + ASL.
CasADi simulator gives a warm start before IPOPT runs.</a:t>
            </a:r>
          </a:p>
        </p:txBody>
      </p:sp>
    </p:spTree>
    <p:extLst>
      <p:ext uri="{BB962C8B-B14F-4D97-AF65-F5344CB8AC3E}">
        <p14:creationId xmlns:p14="http://schemas.microsoft.com/office/powerpoint/2010/main" val="2708203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B08 · WSSE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Weighted least squares + interpolation onto measurement times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18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92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11292840" cy="13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13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731520" y="1810512"/>
                <a:ext cx="10927080" cy="1015663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l"/>
                <a:r>
                  <a:rPr lang="el-GR" sz="1100" b="0" i="0" dirty="0">
                    <a:solidFill>
                      <a:srgbClr val="1E293B"/>
                    </a:solidFill>
                    <a:latin typeface="Consolas"/>
                  </a:rPr>
                  <a:t>  (</a:t>
                </a:r>
                <a:r>
                  <a:rPr lang="en-US" sz="1100" b="0" i="0" dirty="0">
                    <a:solidFill>
                      <a:srgbClr val="1E293B"/>
                    </a:solidFill>
                    <a:latin typeface="Consolas"/>
                  </a:rPr>
                  <a:t>R13, frequentist balance precision, salt-independent).</a:t>
                </a:r>
                <a:endParaRPr sz="1100" b="0" i="0" dirty="0">
                  <a:solidFill>
                    <a:srgbClr val="1E293B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1810512"/>
                <a:ext cx="10927080" cy="1015663"/>
              </a:xfrm>
              <a:prstGeom prst="rect">
                <a:avLst/>
              </a:prstGeom>
              <a:blipFill>
                <a:blip r:embed="rId2"/>
                <a:stretch>
                  <a:fillRect l="-812" t="-3704"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457200" y="32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2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INTERPOLATION onto MEASUREMENT TIMES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83080"/>
            <a:ext cx="5486400" cy="26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3583080"/>
            <a:ext cx="91440" cy="26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731520" y="3610512"/>
                <a:ext cx="5120640" cy="1582036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IPOPT discretizes onto its own </a:t>
                </a:r>
                <a:r>
                  <a:rPr sz="1000" b="0" i="0" dirty="0" err="1">
                    <a:solidFill>
                      <a:srgbClr val="1E293B"/>
                    </a:solidFill>
                    <a:latin typeface="Consolas"/>
                  </a:rPr>
                  <a:t>τ</a:t>
                </a:r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-grid.
Measurements are at experimental timestamps </a:t>
                </a:r>
                <a:r>
                  <a:rPr sz="1000" b="0" i="0" dirty="0" err="1">
                    <a:solidFill>
                      <a:srgbClr val="1E293B"/>
                    </a:solidFill>
                    <a:latin typeface="Consolas"/>
                  </a:rPr>
                  <a:t>t_j</a:t>
                </a:r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.
For each (</a:t>
                </a:r>
                <a:r>
                  <a:rPr sz="1000" b="0" i="0" dirty="0" err="1">
                    <a:solidFill>
                      <a:srgbClr val="1E293B"/>
                    </a:solidFill>
                    <a:latin typeface="Consolas"/>
                  </a:rPr>
                  <a:t>n_vial</a:t>
                </a:r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, </a:t>
                </a:r>
                <a:r>
                  <a:rPr sz="1000" b="0" i="0" dirty="0" err="1">
                    <a:solidFill>
                      <a:srgbClr val="1E293B"/>
                    </a:solidFill>
                    <a:latin typeface="Consolas"/>
                  </a:rPr>
                  <a:t>t_j_scaled</a:t>
                </a:r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), find the bracketing grid
nodes </a:t>
                </a:r>
                <a:r>
                  <a:rPr sz="1000" b="0" i="0" dirty="0" err="1">
                    <a:solidFill>
                      <a:srgbClr val="1E293B"/>
                    </a:solidFill>
                    <a:latin typeface="Consolas"/>
                  </a:rPr>
                  <a:t>τ</a:t>
                </a:r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[k], </a:t>
                </a:r>
                <a:r>
                  <a:rPr sz="1000" b="0" i="0" dirty="0" err="1">
                    <a:solidFill>
                      <a:srgbClr val="1E293B"/>
                    </a:solidFill>
                    <a:latin typeface="Consolas"/>
                  </a:rPr>
                  <a:t>τ</a:t>
                </a:r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[k+1] and linear-interpolate:
</a:t>
                </a:r>
                <a14:m>
                  <m:oMath xmlns:m="http://schemas.openxmlformats.org/officeDocument/2006/math">
                    <m:r>
                      <a:rPr lang="cy-GB" sz="1000" b="0" i="1" dirty="0" smtClean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cy-GB" sz="10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ŷ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( </m:t>
                    </m:r>
                    <m:r>
                      <a:rPr lang="cy-GB" sz="10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cy-GB" sz="10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cy-GB" sz="10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)  =  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]  +  ( 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+1] − 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] ) · </m:t>
                    </m:r>
                    <m:box>
                      <m:boxPr>
                        <m:ctrlPr>
                          <a:rPr lang="cy-GB" sz="1000" b="0" i="1" dirty="0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cy-GB" sz="1000" b="0" i="1" dirty="0" smtClean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( </m:t>
                            </m:r>
                            <m:r>
                              <a:rPr lang="cy-GB" sz="1000" i="1" dirty="0" err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cy-GB" sz="1000" i="1" dirty="0" err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cy-GB" sz="1000" i="1" dirty="0" err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 − </m:t>
                            </m:r>
                            <m:r>
                              <a:rPr lang="cy-GB" sz="1000" i="1" dirty="0" err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] )</m:t>
                            </m:r>
                          </m:num>
                          <m:den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cy-GB" sz="1000" i="1" dirty="0" err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+1] − </m:t>
                            </m:r>
                            <m:r>
                              <a:rPr lang="cy-GB" sz="1000" i="1" dirty="0" err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])</m:t>
                            </m:r>
                          </m:den>
                        </m:f>
                      </m:e>
                    </m:box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
Residuals are evaluated at </a:t>
                </a:r>
                <a:r>
                  <a:rPr sz="1000" b="0" i="0" dirty="0" err="1">
                    <a:solidFill>
                      <a:srgbClr val="1E293B"/>
                    </a:solidFill>
                    <a:latin typeface="Consolas"/>
                  </a:rPr>
                  <a:t>ŷ</a:t>
                </a:r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 ( </a:t>
                </a:r>
                <a:r>
                  <a:rPr sz="1000" b="0" i="0" dirty="0" err="1">
                    <a:solidFill>
                      <a:srgbClr val="1E293B"/>
                    </a:solidFill>
                    <a:latin typeface="Consolas"/>
                  </a:rPr>
                  <a:t>t_j</a:t>
                </a:r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 ), not at grid nodes.
Same trick used by DATA2 </a:t>
                </a:r>
                <a:r>
                  <a:rPr sz="1000" b="0" i="0" dirty="0" err="1">
                    <a:solidFill>
                      <a:srgbClr val="1E293B"/>
                    </a:solidFill>
                    <a:latin typeface="Consolas"/>
                  </a:rPr>
                  <a:t>utility.py:obj_rule</a:t>
                </a:r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.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3610512"/>
                <a:ext cx="5120640" cy="1582036"/>
              </a:xfrm>
              <a:prstGeom prst="rect">
                <a:avLst/>
              </a:prstGeom>
              <a:blipFill>
                <a:blip r:embed="rId3"/>
                <a:stretch>
                  <a:fillRect l="-1485" t="-2400" b="-5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/>
          <p:cNvSpPr/>
          <p:nvPr/>
        </p:nvSpPr>
        <p:spPr>
          <a:xfrm>
            <a:off x="6263640" y="32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32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WHY THESE WEIGHTS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583080"/>
            <a:ext cx="5486400" cy="26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63640" y="3583080"/>
            <a:ext cx="91440" cy="26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60" y="3610512"/>
            <a:ext cx="5120640" cy="25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MLE interpretation: under independent Gaussian noise
  N( 0, σ_meas² )  on each residual, the WSSE is the
  negative log-likelihood up to constants.
  σ_meas (mass)        =  0.01  g    (balance precision)
  σ_meas (vial conc.)  =  3 %  ·  cV_meas
  σ_meas (retentate)   =  0.3 %  ·  cF_meas
Retentate weight is much tighter than vial weight.
The optimizer therefore prioritizes cF fit — and that
is one mechanism driving the σ=1 corner basin (see
slide 6 and the open-questions slide).</a:t>
            </a:r>
          </a:p>
        </p:txBody>
      </p:sp>
    </p:spTree>
    <p:extLst>
      <p:ext uri="{BB962C8B-B14F-4D97-AF65-F5344CB8AC3E}">
        <p14:creationId xmlns:p14="http://schemas.microsoft.com/office/powerpoint/2010/main" val="3092809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B09 · IPOPT + MULTISTART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Local NLP solver wrapped in a Latin-Hypercube global heuristic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19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IPOPT call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solver = _build_ipopt_solver()
solver.options["max_iter"]        =  3000
solver.options["linear_solver"]   =  ma57 / mumps
results = solver.solve(instance, tee=True)
On non-optimal termination, retry with MUMPS + more iter:
  solver.options["linear_solver"]  =  "mumps"
  solver.options["max_iter"]       =  5000
  solver.solve(instance, tee=True)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LHS multistart  (R10 + R12)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48640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7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810512"/>
            <a:ext cx="512064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lhs  =  _lhs_unit_hypercube( N, d, seed = 13 )
for k in 1 .. N:
    θ_k  =  θ_lo  +  lhs[k, :]  ·  ( θ_hi − θ_lo )
    fit_k =  solve_model( θ_k )
best  =  argmin_k  Obj( fit_k )   over optimal-status runs
Default  N  =  5     (runfile accepts 5 .. 14)
Lp    box  =  linear [ 5, 8 ]   (R12 narrowing)
B     box  =  log    [ 0.01, 5 ] μm/s
σ     box  =  linear ( 0.10, 0.95 )   corners excluded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717320"/>
            <a:ext cx="11292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71732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OBSERVED OBJECTIVE PROGRESSION  (NF270_MC2 / NaCl)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83080"/>
            <a:ext cx="1129284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0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110512"/>
            <a:ext cx="1092708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Single start                                Obj  =  2.04 × 10⁸     basin: Mode B  (σ → 1)
LHS multistart  (R10, Lp ∈ [5, 14])          Obj  =  4.93 × 10⁷     basin: Mode C  (σ → 0)
LHS multistart  (R11 quadrature mass)        Obj  =  6.08 × 10⁹     basin: Mode B  (σ → 1)
LHS narrowed   (R12, Lp ∈ [5, 8]) + R13      Obj  =  4.93 × 10⁷     basin: Mode C  (σ → 0)
LHS narrowed + R14/R15 Final-Tube anchor    Obj  =  TBD              (next run)
The Pyomo Var bounds are wider than the LHS box (Lp ∈ (0.5, 50), σ ∈ (0,1)) — LHS only
controls where trial starts land, not where IPOPT is allowed to terminate.  Local optimum.</a:t>
            </a:r>
          </a:p>
        </p:txBody>
      </p:sp>
    </p:spTree>
    <p:extLst>
      <p:ext uri="{BB962C8B-B14F-4D97-AF65-F5344CB8AC3E}">
        <p14:creationId xmlns:p14="http://schemas.microsoft.com/office/powerpoint/2010/main" val="78756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B10 · MASS-LITMUS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σ = 0 closed-form Lp regression — convex sanity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20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DERIVATION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Set σ = 0.  The Jw equation becomes algebraic:
   Jw  =  Lp · ΔP / 36000          (constant in time)
The vial-mass ODE simplifies:
   d mV / dt  =  Am · ρ · Jw      =  Am · ρ · Lp · ΔP / 36000
Integrating:
   mV ( t )  =  s  ·  ( t − t_0 )
   s  =  ( Am · ρ · Lp · ΔP ) / 36000
   ⇒    Lp  =  s · 36000 / ( Am · ρ · ΔP )
All we need is the slope s of mass vs time.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SLOPE FIT  (zero-intercept least squares)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Treat every real-vial sample as an observation of:
   mV_i  =  s  ·  Δt_i  +  noise           (no intercept)
OLS solution:
   ŝ  =  Σ_i ( Δt_i · mV_i )   /   Σ_i ( Δt_i )²
Implementation:
   solve_mass_balance_only( data_stru ):
       Δt  =  time − vial_start_time
       ŝ   =  sum(Δt · mass) / sum(Δt²)
       Lp̂ =  ŝ · 36000 / (Am · ρ · ΔP)
       return fit_stru, sim_stru
No Pyomo, no IPOPT.  Always optimal by construction.
If THIS fit fails, the issue is data / units / time alignment,
not the σ-corner landscape.</a:t>
            </a:r>
          </a:p>
        </p:txBody>
      </p:sp>
    </p:spTree>
    <p:extLst>
      <p:ext uri="{BB962C8B-B14F-4D97-AF65-F5344CB8AC3E}">
        <p14:creationId xmlns:p14="http://schemas.microsoft.com/office/powerpoint/2010/main" val="11749590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B11 · FIM &amp; UNCERTAINTY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Finite-difference sensitivities, covariance, identifiability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21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SENSITIVITIES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19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19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18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Stack predictions:   y ( θ )  =  [ mV ;  cV ;  cF ]
For each parameter θ_i, perturb and re-simulate:
   θ_i±  =  θ̂_i  ·  ( 1  ±  h ),     h ≈ 10⁻⁴
   ∂ y / ∂ θ_i   ≈   ( y( θ_i+ ) − y( θ_i− ) )  /  ( 2 h θ̂_i )
Code: calc_FIM( data_stru, mode, theta=θ̂, step=1e-8 ).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FISHER INFORMATION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486400" cy="19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783080"/>
            <a:ext cx="91440" cy="19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810512"/>
            <a:ext cx="5120640" cy="18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Sensitivity matrix:   J  =  ∂ y / ∂ θ           (n_obs × n_θ)
Measurement covariance:
   Σ_y  =  diag( σ_m² ,  (0.03·cV)² ,  (0.003·cF)² )
   M    =  J ᵀ · Σ_y⁻¹ · J                (Fisher Information)
Asymptotic parameter covariance:
   V_θ  ≈  M⁻¹
Eigen-decomposition of M tells you identifiability:
   large eigenvalues  →  tightly constrained directions
   small eigenvalues  →  flat directions, large variance
   cond(M) ≫ 1        →  correlated / ill-conditioned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17320"/>
            <a:ext cx="11292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81732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FROM LATEST DATA3 RUN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83080"/>
            <a:ext cx="11292840" cy="17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183080"/>
            <a:ext cx="91440" cy="17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210512"/>
            <a:ext cx="10927080" cy="16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NaCl-MC2 after IPOPT:
   eig(M)  =  [ 0.158,  2.776,  907,752 ]                (well-conditioned in 1 direction!)
   eig_dir =  [ B,      σ,      Lp     ]
   std     =  [ 0.0065, 2.26,   1.25   ]
   trace   =  9.08 × 10⁵        det  =  3.99 × 10⁵        cond  =  5.7 × 10⁶
σ-direction is flat (std 2.26 with σ ∈ [0,1]) — exactly what the corner-basin
behaviour predicts. Lp is the most informative direction, B is the tightest.
Identifiability is local: it lives at the fitted θ̂, under the assumed σ_meas.</a:t>
            </a:r>
          </a:p>
        </p:txBody>
      </p:sp>
    </p:spTree>
    <p:extLst>
      <p:ext uri="{BB962C8B-B14F-4D97-AF65-F5344CB8AC3E}">
        <p14:creationId xmlns:p14="http://schemas.microsoft.com/office/powerpoint/2010/main" val="3024937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B12 · RUNFILE DISPATCHER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Tree walker — ROOTS → SUBSET → TRUNK → BRANCHES → dispatch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22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92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refactored_ucb_runfile.py  (≈ 184 lines, no science inside)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11292840" cy="46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46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10927080" cy="45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def main():
    root     = pick_root()        #  1=DATA1   2=DATA2   3=DATA3   4=custom
    subset   = pick_subset(root)  #  DATA3:    all 26  /  single-salt 11  /  one sheet  /  fast 3
    trunk    = pick_trunk()       #  0=manifest_default  3=fit+multistart  4=+FIM  5=+DoE  6=mass-litmus
    branches = pick_branches()    #  m=mass   c=conc   p=params   f=FIM   d=DoE   all
    if root in {1, 2, 3} and trunk == 0:
        # exact byte-identical replication of published outputs
        materialize_all( root, subset, branches )
    elif root in {1, 2, 3} and trunk in {3, 4, 5}:
        results = estimate_parameters( root, subset, multistart=True, use_FIM=(trunk≥4), use_DoE=(trunk==5) )
        render( results, branches )
    elif root in {1, 2, 3} and trunk == 6:
        # NF270 mass-litmus baseline (sets NF270_MASS_LITMUS_TEST_ACTIVE = True)
        results = solve_mass_balance_only( load(root, subset) )
        render( results, branches )
    elif root == 4:
        # custom XLSX outside the campaign manifest
        results = run_pipeline( file_path, mode, workflow_family )
        render( results, branches )
No physics, no Pyomo, no IPOPT call lives in this file.  Replace it with a notebook, a CLI, a
web form — the library does not care.  All dispatch happens through the kept top-level
def-s in refactored_ucb_library.py.</a:t>
            </a:r>
          </a:p>
        </p:txBody>
      </p:sp>
    </p:spTree>
    <p:extLst>
      <p:ext uri="{BB962C8B-B14F-4D97-AF65-F5344CB8AC3E}">
        <p14:creationId xmlns:p14="http://schemas.microsoft.com/office/powerpoint/2010/main" val="31392913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B13 · CAVEATS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Things to scrutinize before trusting any DATA3 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23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OBJECTIVE WEIGHTS DOMINATE THE ANSWER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Retentate 0.3 % is very tight.  Permeate 3 % is loose.  Mass 0.01 g is tight
on the vial-1 scale (≈ 1 g) but loose on the cell scale (≈ 10 g).  Optimizer
will prioritize whichever residual has the smallest σ_meas — this is the
most common silent failure mode in WSSE parameter estimation.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09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09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IPOPT IS LOCAL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46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246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249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Multistart is a heuristic, not a guarantee.  If the loss-function landscape
globally prefers a σ corner, every LHS start will find it.  Diagnose by
tightening σ to [0.30, 0.85] and checking whether Obj jumps up.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77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277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UNIT CONVERSIONS ARE EVERYWHERE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14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14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317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The 36000 in Jw and the 10000 in Js are not cosmetic.  They encode the
unit system bridging L/(m²·hr·bar) → cm/s and μm/s → cm²·mM-per-time.
A wrong factor changes fitted Lp / B / σ silently.  No warning will fire.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cVmV  TRICK IS LATENT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178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63640" y="178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60" y="181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The fact that the model uses cVmV instead of cV is the difference between
an IPOPT solve that succeeds in 6 iterations and one that diverges trying
to evaluate 0 / 0.  Worth knowing if you refactor the state.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209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55080" y="209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MASS-LITMUS IS EXCELLENT ENGINEERING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246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63640" y="246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37960" y="249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A convex closed-form baseline that bypasses Pyomo / IPOPT entirely.  If
mass-litmus fails, the full fit cannot succeed — issue is in loader, units,
or data quality.  If it succeeds but the full fit fails, issue is σ-coupling
or the optimization landscape.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77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55080" y="277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FIM IS LOCAL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314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63640" y="314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37960" y="317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Meaningful only near θ̂ and under the assumed σ_meas.  Reported eigenvalues
/ stds describe local identifiability, not global uncertainty.  For global
uncertainty, profile likelihood is the frequentist-clean upgrade.</a:t>
            </a:r>
          </a:p>
        </p:txBody>
      </p:sp>
    </p:spTree>
    <p:extLst>
      <p:ext uri="{BB962C8B-B14F-4D97-AF65-F5344CB8AC3E}">
        <p14:creationId xmlns:p14="http://schemas.microsoft.com/office/powerpoint/2010/main" val="11007118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itle 66">
            <a:extLst>
              <a:ext uri="{FF2B5EF4-FFF2-40B4-BE49-F238E27FC236}">
                <a16:creationId xmlns:a16="http://schemas.microsoft.com/office/drawing/2014/main" id="{83C67A1C-2317-4FCB-2BFC-C0E979A69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6586"/>
            <a:ext cx="12192000" cy="787814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Membrane Characterization using a Digital Model</a:t>
            </a:r>
            <a:endParaRPr lang="en-US" sz="22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0DE6AB9-B45F-A744-3771-AECCC17ED1F1}"/>
              </a:ext>
            </a:extLst>
          </p:cNvPr>
          <p:cNvGrpSpPr/>
          <p:nvPr/>
        </p:nvGrpSpPr>
        <p:grpSpPr>
          <a:xfrm>
            <a:off x="618224" y="1224950"/>
            <a:ext cx="11130910" cy="4198364"/>
            <a:chOff x="618224" y="1224950"/>
            <a:chExt cx="11130910" cy="4198364"/>
          </a:xfrm>
        </p:grpSpPr>
        <p:cxnSp>
          <p:nvCxnSpPr>
            <p:cNvPr id="71" name="Google Shape;173;g392c667b943_0_12">
              <a:extLst>
                <a:ext uri="{FF2B5EF4-FFF2-40B4-BE49-F238E27FC236}">
                  <a16:creationId xmlns:a16="http://schemas.microsoft.com/office/drawing/2014/main" id="{0875509E-1601-9D7A-83AF-1AA8D36759FD}"/>
                </a:ext>
              </a:extLst>
            </p:cNvPr>
            <p:cNvCxnSpPr>
              <a:cxnSpLocks/>
              <a:stCxn id="63" idx="3"/>
              <a:endCxn id="51" idx="1"/>
            </p:cNvCxnSpPr>
            <p:nvPr/>
          </p:nvCxnSpPr>
          <p:spPr>
            <a:xfrm flipV="1">
              <a:off x="1882937" y="1831700"/>
              <a:ext cx="3618363" cy="1710995"/>
            </a:xfrm>
            <a:prstGeom prst="bentConnector3">
              <a:avLst>
                <a:gd name="adj1" fmla="val 69145"/>
              </a:avLst>
            </a:prstGeom>
            <a:noFill/>
            <a:ln w="57150" cap="flat" cmpd="sng">
              <a:solidFill>
                <a:srgbClr val="0C233F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2C5A21B-35BA-34A4-3A30-D4E28F0B4374}"/>
                </a:ext>
              </a:extLst>
            </p:cNvPr>
            <p:cNvGrpSpPr/>
            <p:nvPr/>
          </p:nvGrpSpPr>
          <p:grpSpPr>
            <a:xfrm>
              <a:off x="618224" y="1224950"/>
              <a:ext cx="11130910" cy="4198364"/>
              <a:chOff x="618224" y="1224950"/>
              <a:chExt cx="11130910" cy="4198364"/>
            </a:xfrm>
          </p:grpSpPr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D3295AEE-B2F0-9F9A-1C37-71D3F4A8443A}"/>
                  </a:ext>
                </a:extLst>
              </p:cNvPr>
              <p:cNvGrpSpPr/>
              <p:nvPr/>
            </p:nvGrpSpPr>
            <p:grpSpPr>
              <a:xfrm>
                <a:off x="618224" y="1224950"/>
                <a:ext cx="11130910" cy="4198364"/>
                <a:chOff x="369885" y="1928259"/>
                <a:chExt cx="11130910" cy="4198364"/>
              </a:xfrm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F1169FD2-6F7D-3E6B-C6EC-3B5AC4D78132}"/>
                    </a:ext>
                  </a:extLst>
                </p:cNvPr>
                <p:cNvGrpSpPr/>
                <p:nvPr/>
              </p:nvGrpSpPr>
              <p:grpSpPr>
                <a:xfrm>
                  <a:off x="369885" y="1928259"/>
                  <a:ext cx="11130910" cy="4198364"/>
                  <a:chOff x="8222763" y="17311212"/>
                  <a:chExt cx="42079744" cy="13208021"/>
                </a:xfrm>
              </p:grpSpPr>
              <p:sp>
                <p:nvSpPr>
                  <p:cNvPr id="23" name="Google Shape;163;g392c667b943_0_12">
                    <a:extLst>
                      <a:ext uri="{FF2B5EF4-FFF2-40B4-BE49-F238E27FC236}">
                        <a16:creationId xmlns:a16="http://schemas.microsoft.com/office/drawing/2014/main" id="{AD3AA1B3-95C7-31A6-E3F4-BB7AE3C2E19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222763" y="17353468"/>
                    <a:ext cx="4781198" cy="2582601"/>
                  </a:xfrm>
                  <a:prstGeom prst="flowChartTerminator">
                    <a:avLst/>
                  </a:prstGeom>
                  <a:solidFill>
                    <a:srgbClr val="DDEAF6"/>
                  </a:solidFill>
                  <a:ln w="28575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Prior</a:t>
                    </a:r>
                    <a:endParaRPr sz="1600" b="1" dirty="0"/>
                  </a:p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Knowledge</a:t>
                    </a:r>
                    <a:endParaRPr sz="1600" b="1" dirty="0"/>
                  </a:p>
                </p:txBody>
              </p:sp>
              <p:cxnSp>
                <p:nvCxnSpPr>
                  <p:cNvPr id="24" name="Google Shape;170;g392c667b943_0_12">
                    <a:extLst>
                      <a:ext uri="{FF2B5EF4-FFF2-40B4-BE49-F238E27FC236}">
                        <a16:creationId xmlns:a16="http://schemas.microsoft.com/office/drawing/2014/main" id="{E8DD75D1-1C28-8483-6703-B7A217FCD1B5}"/>
                      </a:ext>
                    </a:extLst>
                  </p:cNvPr>
                  <p:cNvCxnSpPr>
                    <a:cxnSpLocks/>
                    <a:stCxn id="59" idx="3"/>
                    <a:endCxn id="27" idx="0"/>
                  </p:cNvCxnSpPr>
                  <p:nvPr/>
                </p:nvCxnSpPr>
                <p:spPr>
                  <a:xfrm>
                    <a:off x="42261223" y="19220045"/>
                    <a:ext cx="3327272" cy="2812486"/>
                  </a:xfrm>
                  <a:prstGeom prst="bentConnector2">
                    <a:avLst/>
                  </a:prstGeom>
                  <a:noFill/>
                  <a:ln w="57150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triangle" w="med" len="med"/>
                  </a:ln>
                </p:spPr>
              </p:cxnSp>
              <p:cxnSp>
                <p:nvCxnSpPr>
                  <p:cNvPr id="25" name="Google Shape;173;g392c667b943_0_12">
                    <a:extLst>
                      <a:ext uri="{FF2B5EF4-FFF2-40B4-BE49-F238E27FC236}">
                        <a16:creationId xmlns:a16="http://schemas.microsoft.com/office/drawing/2014/main" id="{29F85463-D4B4-4F4D-9354-7521495E8CC8}"/>
                      </a:ext>
                    </a:extLst>
                  </p:cNvPr>
                  <p:cNvCxnSpPr>
                    <a:cxnSpLocks/>
                    <a:stCxn id="52" idx="1"/>
                    <a:endCxn id="63" idx="2"/>
                  </p:cNvCxnSpPr>
                  <p:nvPr/>
                </p:nvCxnSpPr>
                <p:spPr>
                  <a:xfrm rot="10800000">
                    <a:off x="10613368" y="26196592"/>
                    <a:ext cx="32583620" cy="2728872"/>
                  </a:xfrm>
                  <a:prstGeom prst="bentConnector2">
                    <a:avLst/>
                  </a:prstGeom>
                  <a:noFill/>
                  <a:ln w="57150" cap="flat" cmpd="sng">
                    <a:solidFill>
                      <a:srgbClr val="0C233F"/>
                    </a:solidFill>
                    <a:prstDash val="dash"/>
                    <a:miter lim="800000"/>
                    <a:headEnd type="none" w="sm" len="sm"/>
                    <a:tailEnd type="triangle" w="med" len="med"/>
                  </a:ln>
                </p:spPr>
              </p:cxnSp>
              <p:sp>
                <p:nvSpPr>
                  <p:cNvPr id="63" name="Google Shape;168;g392c667b943_0_12">
                    <a:extLst>
                      <a:ext uri="{FF2B5EF4-FFF2-40B4-BE49-F238E27FC236}">
                        <a16:creationId xmlns:a16="http://schemas.microsoft.com/office/drawing/2014/main" id="{395B9EA8-489B-E47B-1686-64D1C3A8A224}"/>
                      </a:ext>
                    </a:extLst>
                  </p:cNvPr>
                  <p:cNvSpPr/>
                  <p:nvPr/>
                </p:nvSpPr>
                <p:spPr>
                  <a:xfrm>
                    <a:off x="8222787" y="23009047"/>
                    <a:ext cx="4781150" cy="3187545"/>
                  </a:xfrm>
                  <a:prstGeom prst="flowChartProcess">
                    <a:avLst/>
                  </a:prstGeom>
                  <a:solidFill>
                    <a:srgbClr val="DDEAF6"/>
                  </a:solidFill>
                  <a:ln w="28575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Model(s)</a:t>
                    </a:r>
                    <a:endParaRPr sz="1600" b="1" dirty="0"/>
                  </a:p>
                </p:txBody>
              </p:sp>
              <p:sp>
                <p:nvSpPr>
                  <p:cNvPr id="27" name="Google Shape;172;g392c667b943_0_12">
                    <a:extLst>
                      <a:ext uri="{FF2B5EF4-FFF2-40B4-BE49-F238E27FC236}">
                        <a16:creationId xmlns:a16="http://schemas.microsoft.com/office/drawing/2014/main" id="{851FD7B4-7984-EED2-90A2-97030F7003F2}"/>
                      </a:ext>
                    </a:extLst>
                  </p:cNvPr>
                  <p:cNvSpPr/>
                  <p:nvPr/>
                </p:nvSpPr>
                <p:spPr>
                  <a:xfrm>
                    <a:off x="40874478" y="22032531"/>
                    <a:ext cx="9428029" cy="3610004"/>
                  </a:xfrm>
                  <a:prstGeom prst="diamond">
                    <a:avLst/>
                  </a:prstGeom>
                  <a:solidFill>
                    <a:srgbClr val="DDEAF6"/>
                  </a:solidFill>
                  <a:ln w="28575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Uncertainty Acceptable?</a:t>
                    </a:r>
                    <a:endParaRPr sz="1600" b="1" dirty="0"/>
                  </a:p>
                </p:txBody>
              </p:sp>
              <p:cxnSp>
                <p:nvCxnSpPr>
                  <p:cNvPr id="28" name="Google Shape;181;g392c667b943_0_12">
                    <a:extLst>
                      <a:ext uri="{FF2B5EF4-FFF2-40B4-BE49-F238E27FC236}">
                        <a16:creationId xmlns:a16="http://schemas.microsoft.com/office/drawing/2014/main" id="{DAC43201-F4A7-75B7-95D4-46BDB17E8A04}"/>
                      </a:ext>
                    </a:extLst>
                  </p:cNvPr>
                  <p:cNvCxnSpPr>
                    <a:cxnSpLocks/>
                    <a:stCxn id="51" idx="3"/>
                    <a:endCxn id="59" idx="1"/>
                  </p:cNvCxnSpPr>
                  <p:nvPr/>
                </p:nvCxnSpPr>
                <p:spPr>
                  <a:xfrm>
                    <a:off x="31465956" y="19220042"/>
                    <a:ext cx="6012254" cy="3"/>
                  </a:xfrm>
                  <a:prstGeom prst="straightConnector1">
                    <a:avLst/>
                  </a:prstGeom>
                  <a:noFill/>
                  <a:ln w="57150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triangle" w="med" len="med"/>
                  </a:ln>
                </p:spPr>
              </p:cxnSp>
              <p:cxnSp>
                <p:nvCxnSpPr>
                  <p:cNvPr id="30" name="Google Shape;183;g392c667b943_0_12">
                    <a:extLst>
                      <a:ext uri="{FF2B5EF4-FFF2-40B4-BE49-F238E27FC236}">
                        <a16:creationId xmlns:a16="http://schemas.microsoft.com/office/drawing/2014/main" id="{0ACFB825-0A49-6431-C861-315CC14F5E47}"/>
                      </a:ext>
                    </a:extLst>
                  </p:cNvPr>
                  <p:cNvCxnSpPr>
                    <a:cxnSpLocks/>
                    <a:stCxn id="27" idx="1"/>
                    <a:endCxn id="46" idx="3"/>
                  </p:cNvCxnSpPr>
                  <p:nvPr/>
                </p:nvCxnSpPr>
                <p:spPr>
                  <a:xfrm flipH="1" flipV="1">
                    <a:off x="38711578" y="23819024"/>
                    <a:ext cx="2162900" cy="18511"/>
                  </a:xfrm>
                  <a:prstGeom prst="straightConnector1">
                    <a:avLst/>
                  </a:prstGeom>
                  <a:noFill/>
                  <a:ln w="57150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triangle" w="med" len="med"/>
                  </a:ln>
                </p:spPr>
              </p:cxnSp>
              <p:sp>
                <p:nvSpPr>
                  <p:cNvPr id="46" name="Google Shape;184;g392c667b943_0_12">
                    <a:extLst>
                      <a:ext uri="{FF2B5EF4-FFF2-40B4-BE49-F238E27FC236}">
                        <a16:creationId xmlns:a16="http://schemas.microsoft.com/office/drawing/2014/main" id="{E6F2A968-AEA2-649A-7607-713828148B06}"/>
                      </a:ext>
                    </a:extLst>
                  </p:cNvPr>
                  <p:cNvSpPr/>
                  <p:nvPr/>
                </p:nvSpPr>
                <p:spPr>
                  <a:xfrm>
                    <a:off x="32616412" y="22543223"/>
                    <a:ext cx="6095166" cy="2551598"/>
                  </a:xfrm>
                  <a:prstGeom prst="flowChartTerminator">
                    <a:avLst/>
                  </a:prstGeom>
                  <a:solidFill>
                    <a:srgbClr val="DDEAF6"/>
                  </a:solidFill>
                  <a:ln w="28575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Model with Quantified Uncertainty</a:t>
                    </a:r>
                    <a:endParaRPr sz="1600" b="1" dirty="0"/>
                  </a:p>
                </p:txBody>
              </p:sp>
              <p:sp>
                <p:nvSpPr>
                  <p:cNvPr id="47" name="Google Shape;185;g392c667b943_0_12">
                    <a:extLst>
                      <a:ext uri="{FF2B5EF4-FFF2-40B4-BE49-F238E27FC236}">
                        <a16:creationId xmlns:a16="http://schemas.microsoft.com/office/drawing/2014/main" id="{5802C27D-D262-121D-D1E4-D1104C4B5453}"/>
                      </a:ext>
                    </a:extLst>
                  </p:cNvPr>
                  <p:cNvSpPr txBox="1"/>
                  <p:nvPr/>
                </p:nvSpPr>
                <p:spPr>
                  <a:xfrm>
                    <a:off x="45546944" y="25850080"/>
                    <a:ext cx="2462292" cy="968135"/>
                  </a:xfrm>
                  <a:prstGeom prst="rect">
                    <a:avLst/>
                  </a:prstGeom>
                  <a:noFill/>
                  <a:ln w="82550"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dirty="0">
                        <a:solidFill>
                          <a:schemeClr val="tx1"/>
                        </a:solidFill>
                        <a:sym typeface="Courier New"/>
                      </a:rPr>
                      <a:t>No</a:t>
                    </a:r>
                    <a:endParaRPr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8" name="Google Shape;186;g392c667b943_0_12">
                    <a:extLst>
                      <a:ext uri="{FF2B5EF4-FFF2-40B4-BE49-F238E27FC236}">
                        <a16:creationId xmlns:a16="http://schemas.microsoft.com/office/drawing/2014/main" id="{BEAC935A-0C00-7964-F11A-A4970AD996F2}"/>
                      </a:ext>
                    </a:extLst>
                  </p:cNvPr>
                  <p:cNvSpPr txBox="1"/>
                  <p:nvPr/>
                </p:nvSpPr>
                <p:spPr>
                  <a:xfrm>
                    <a:off x="38829751" y="22857237"/>
                    <a:ext cx="1999207" cy="788024"/>
                  </a:xfrm>
                  <a:prstGeom prst="rect">
                    <a:avLst/>
                  </a:prstGeom>
                  <a:noFill/>
                  <a:ln w="82550"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dirty="0">
                        <a:solidFill>
                          <a:schemeClr val="tx1"/>
                        </a:solidFill>
                        <a:sym typeface="Courier New"/>
                      </a:rPr>
                      <a:t>Yes</a:t>
                    </a:r>
                    <a:endParaRPr dirty="0">
                      <a:solidFill>
                        <a:schemeClr val="tx1"/>
                      </a:solidFill>
                      <a:sym typeface="Courier New"/>
                    </a:endParaRPr>
                  </a:p>
                </p:txBody>
              </p:sp>
              <p:sp>
                <p:nvSpPr>
                  <p:cNvPr id="59" name="Google Shape;171;g392c667b943_0_12">
                    <a:extLst>
                      <a:ext uri="{FF2B5EF4-FFF2-40B4-BE49-F238E27FC236}">
                        <a16:creationId xmlns:a16="http://schemas.microsoft.com/office/drawing/2014/main" id="{A465C23B-B14B-0E22-2FDE-3BBB31C70664}"/>
                      </a:ext>
                    </a:extLst>
                  </p:cNvPr>
                  <p:cNvSpPr/>
                  <p:nvPr/>
                </p:nvSpPr>
                <p:spPr>
                  <a:xfrm>
                    <a:off x="37478213" y="17626273"/>
                    <a:ext cx="4783013" cy="3187542"/>
                  </a:xfrm>
                  <a:prstGeom prst="flowChartProcess">
                    <a:avLst/>
                  </a:prstGeom>
                  <a:solidFill>
                    <a:srgbClr val="DDEAF6"/>
                  </a:solidFill>
                  <a:ln w="28575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Sensitivity &amp; Uncertainty Analysis</a:t>
                    </a:r>
                    <a:endParaRPr sz="1600" b="1" dirty="0"/>
                  </a:p>
                </p:txBody>
              </p:sp>
              <p:sp>
                <p:nvSpPr>
                  <p:cNvPr id="51" name="Google Shape;171;g392c667b943_0_12">
                    <a:extLst>
                      <a:ext uri="{FF2B5EF4-FFF2-40B4-BE49-F238E27FC236}">
                        <a16:creationId xmlns:a16="http://schemas.microsoft.com/office/drawing/2014/main" id="{1061763A-9B29-8742-450B-517DE457A6EF}"/>
                      </a:ext>
                    </a:extLst>
                  </p:cNvPr>
                  <p:cNvSpPr/>
                  <p:nvPr/>
                </p:nvSpPr>
                <p:spPr>
                  <a:xfrm>
                    <a:off x="26682943" y="17626270"/>
                    <a:ext cx="4783013" cy="3187542"/>
                  </a:xfrm>
                  <a:prstGeom prst="flowChartProcess">
                    <a:avLst/>
                  </a:prstGeom>
                  <a:solidFill>
                    <a:srgbClr val="DDEAF6"/>
                  </a:solidFill>
                  <a:ln w="28575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 b="1" dirty="0">
                        <a:solidFill>
                          <a:srgbClr val="000000"/>
                        </a:solidFill>
                        <a:latin typeface="Calibri"/>
                        <a:cs typeface="Calibri"/>
                        <a:sym typeface="Calibri"/>
                      </a:rPr>
                      <a:t>Parameter Estimation</a:t>
                    </a:r>
                    <a:endParaRPr sz="1600" b="1" dirty="0">
                      <a:solidFill>
                        <a:srgbClr val="000000"/>
                      </a:solidFill>
                      <a:latin typeface="Calibri"/>
                      <a:cs typeface="Calibri"/>
                    </a:endParaRPr>
                  </a:p>
                </p:txBody>
              </p:sp>
              <p:sp>
                <p:nvSpPr>
                  <p:cNvPr id="52" name="Google Shape;171;g392c667b943_0_12">
                    <a:extLst>
                      <a:ext uri="{FF2B5EF4-FFF2-40B4-BE49-F238E27FC236}">
                        <a16:creationId xmlns:a16="http://schemas.microsoft.com/office/drawing/2014/main" id="{53F972BC-EA18-6524-D488-BE0F073A7224}"/>
                      </a:ext>
                    </a:extLst>
                  </p:cNvPr>
                  <p:cNvSpPr/>
                  <p:nvPr/>
                </p:nvSpPr>
                <p:spPr>
                  <a:xfrm>
                    <a:off x="43196984" y="27331691"/>
                    <a:ext cx="4783013" cy="3187542"/>
                  </a:xfrm>
                  <a:prstGeom prst="flowChartProcess">
                    <a:avLst/>
                  </a:prstGeom>
                  <a:solidFill>
                    <a:srgbClr val="DDEAF6"/>
                  </a:solidFill>
                  <a:ln w="28575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 b="1" dirty="0">
                        <a:solidFill>
                          <a:srgbClr val="000000"/>
                        </a:solidFill>
                        <a:latin typeface="Calibri"/>
                        <a:cs typeface="Calibri"/>
                        <a:sym typeface="Calibri"/>
                      </a:rPr>
                      <a:t>Model-Based Design of Experiments</a:t>
                    </a:r>
                    <a:endParaRPr sz="1600" b="1" dirty="0">
                      <a:solidFill>
                        <a:srgbClr val="000000"/>
                      </a:solidFill>
                      <a:latin typeface="Calibri"/>
                      <a:cs typeface="Calibri"/>
                    </a:endParaRPr>
                  </a:p>
                </p:txBody>
              </p:sp>
              <p:grpSp>
                <p:nvGrpSpPr>
                  <p:cNvPr id="53" name="Group 52">
                    <a:extLst>
                      <a:ext uri="{FF2B5EF4-FFF2-40B4-BE49-F238E27FC236}">
                        <a16:creationId xmlns:a16="http://schemas.microsoft.com/office/drawing/2014/main" id="{245CE23A-5CDA-2F23-47CB-BAF8850DC6C3}"/>
                      </a:ext>
                    </a:extLst>
                  </p:cNvPr>
                  <p:cNvGrpSpPr/>
                  <p:nvPr/>
                </p:nvGrpSpPr>
                <p:grpSpPr>
                  <a:xfrm>
                    <a:off x="14553943" y="17311212"/>
                    <a:ext cx="5640307" cy="2551599"/>
                    <a:chOff x="4770778" y="26675994"/>
                    <a:chExt cx="5640307" cy="2551599"/>
                  </a:xfrm>
                </p:grpSpPr>
                <p:sp>
                  <p:nvSpPr>
                    <p:cNvPr id="56" name="Google Shape;164;g392c667b943_0_12">
                      <a:extLst>
                        <a:ext uri="{FF2B5EF4-FFF2-40B4-BE49-F238E27FC236}">
                          <a16:creationId xmlns:a16="http://schemas.microsoft.com/office/drawing/2014/main" id="{CCDC9745-32B0-B257-BF7E-11583D1920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70778" y="26675994"/>
                      <a:ext cx="5640307" cy="2551599"/>
                    </a:xfrm>
                    <a:prstGeom prst="flowChartTerminator">
                      <a:avLst/>
                    </a:prstGeom>
                    <a:solidFill>
                      <a:srgbClr val="DDEAF6"/>
                    </a:solidFill>
                    <a:ln w="28575" cap="flat" cmpd="sng">
                      <a:solidFill>
                        <a:srgbClr val="0C233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Experimental Data</a:t>
                      </a:r>
                      <a:endParaRPr sz="1600" b="1" dirty="0"/>
                    </a:p>
                  </p:txBody>
                </p:sp>
                <p:pic>
                  <p:nvPicPr>
                    <p:cNvPr id="57" name="Google Shape;145;g392c667b943_0_0" descr="Beaker with solid fill">
                      <a:extLst>
                        <a:ext uri="{FF2B5EF4-FFF2-40B4-BE49-F238E27FC236}">
                          <a16:creationId xmlns:a16="http://schemas.microsoft.com/office/drawing/2014/main" id="{CD51961C-5C35-63DB-134C-39F1BE700AED}"/>
                        </a:ext>
                      </a:extLst>
                    </p:cNvPr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/>
                    <a:stretch/>
                  </p:blipFill>
                  <p:spPr>
                    <a:xfrm>
                      <a:off x="5402021" y="27873557"/>
                      <a:ext cx="1007529" cy="976689"/>
                    </a:xfrm>
                    <a:prstGeom prst="rect">
                      <a:avLst/>
                    </a:prstGeom>
                    <a:noFill/>
                    <a:ln w="82550">
                      <a:noFill/>
                    </a:ln>
                  </p:spPr>
                </p:pic>
                <p:pic>
                  <p:nvPicPr>
                    <p:cNvPr id="58" name="Google Shape;144;g392c667b943_0_0" descr="Microscope with solid fill">
                      <a:extLst>
                        <a:ext uri="{FF2B5EF4-FFF2-40B4-BE49-F238E27FC236}">
                          <a16:creationId xmlns:a16="http://schemas.microsoft.com/office/drawing/2014/main" id="{52984D16-F55A-8079-1503-A938A27076AA}"/>
                        </a:ext>
                      </a:extLst>
                    </p:cNvPr>
                    <p:cNvPicPr preferRelativeResize="0"/>
                    <p:nvPr/>
                  </p:nvPicPr>
                  <p:blipFill rotWithShape="1">
                    <a:blip r:embed="rId4">
                      <a:alphaModFix/>
                    </a:blip>
                    <a:srcRect/>
                    <a:stretch/>
                  </p:blipFill>
                  <p:spPr>
                    <a:xfrm>
                      <a:off x="8695242" y="27873557"/>
                      <a:ext cx="1007529" cy="976689"/>
                    </a:xfrm>
                    <a:prstGeom prst="rect">
                      <a:avLst/>
                    </a:prstGeom>
                    <a:noFill/>
                    <a:ln w="82550">
                      <a:noFill/>
                    </a:ln>
                  </p:spPr>
                </p:pic>
              </p:grpSp>
              <p:cxnSp>
                <p:nvCxnSpPr>
                  <p:cNvPr id="54" name="Google Shape;173;g392c667b943_0_12">
                    <a:extLst>
                      <a:ext uri="{FF2B5EF4-FFF2-40B4-BE49-F238E27FC236}">
                        <a16:creationId xmlns:a16="http://schemas.microsoft.com/office/drawing/2014/main" id="{1E3A9DD0-756E-9D8F-4CE1-3A446FA5C0B9}"/>
                      </a:ext>
                    </a:extLst>
                  </p:cNvPr>
                  <p:cNvCxnSpPr>
                    <a:cxnSpLocks/>
                    <a:stCxn id="56" idx="2"/>
                  </p:cNvCxnSpPr>
                  <p:nvPr/>
                </p:nvCxnSpPr>
                <p:spPr>
                  <a:xfrm rot="5400000">
                    <a:off x="13404149" y="17163684"/>
                    <a:ext cx="1270824" cy="6669079"/>
                  </a:xfrm>
                  <a:prstGeom prst="bentConnector2">
                    <a:avLst/>
                  </a:prstGeom>
                  <a:noFill/>
                  <a:ln w="57150" cap="flat" cmpd="sng">
                    <a:solidFill>
                      <a:srgbClr val="0C233F"/>
                    </a:solidFill>
                    <a:prstDash val="dash"/>
                    <a:miter lim="800000"/>
                    <a:headEnd type="none" w="sm" len="sm"/>
                    <a:tailEnd type="triangle" w="med" len="med"/>
                  </a:ln>
                </p:spPr>
              </p:cxnSp>
            </p:grpSp>
            <p:cxnSp>
              <p:nvCxnSpPr>
                <p:cNvPr id="75" name="Google Shape;183;g392c667b943_0_12">
                  <a:extLst>
                    <a:ext uri="{FF2B5EF4-FFF2-40B4-BE49-F238E27FC236}">
                      <a16:creationId xmlns:a16="http://schemas.microsoft.com/office/drawing/2014/main" id="{86C654AC-BBEB-3BA6-10BB-331A4CE5A847}"/>
                    </a:ext>
                  </a:extLst>
                </p:cNvPr>
                <p:cNvCxnSpPr>
                  <a:cxnSpLocks/>
                  <a:stCxn id="27" idx="2"/>
                  <a:endCxn id="52" idx="0"/>
                </p:cNvCxnSpPr>
                <p:nvPr/>
              </p:nvCxnSpPr>
              <p:spPr>
                <a:xfrm flipH="1">
                  <a:off x="10253846" y="4576493"/>
                  <a:ext cx="1" cy="536923"/>
                </a:xfrm>
                <a:prstGeom prst="straightConnector1">
                  <a:avLst/>
                </a:prstGeom>
                <a:noFill/>
                <a:ln w="57150" cap="flat" cmpd="sng">
                  <a:solidFill>
                    <a:srgbClr val="0C233F"/>
                  </a:solidFill>
                  <a:prstDash val="solid"/>
                  <a:miter lim="800000"/>
                  <a:headEnd type="none" w="sm" len="sm"/>
                  <a:tailEnd type="triangle" w="med" len="med"/>
                </a:ln>
              </p:spPr>
            </p:cxnSp>
          </p:grpSp>
          <p:cxnSp>
            <p:nvCxnSpPr>
              <p:cNvPr id="93" name="Google Shape;183;g392c667b943_0_12">
                <a:extLst>
                  <a:ext uri="{FF2B5EF4-FFF2-40B4-BE49-F238E27FC236}">
                    <a16:creationId xmlns:a16="http://schemas.microsoft.com/office/drawing/2014/main" id="{AB2ED750-F013-43EF-4A41-07751CF19EA0}"/>
                  </a:ext>
                </a:extLst>
              </p:cNvPr>
              <p:cNvCxnSpPr>
                <a:cxnSpLocks/>
                <a:stCxn id="23" idx="2"/>
                <a:endCxn id="63" idx="0"/>
              </p:cNvCxnSpPr>
              <p:nvPr/>
            </p:nvCxnSpPr>
            <p:spPr>
              <a:xfrm>
                <a:off x="1250584" y="2059300"/>
                <a:ext cx="0" cy="976791"/>
              </a:xfrm>
              <a:prstGeom prst="straightConnector1">
                <a:avLst/>
              </a:prstGeom>
              <a:noFill/>
              <a:ln w="57150" cap="flat" cmpd="sng">
                <a:solidFill>
                  <a:srgbClr val="0C233F"/>
                </a:solidFill>
                <a:prstDash val="dash"/>
                <a:miter lim="800000"/>
                <a:headEnd type="none" w="sm" len="sm"/>
                <a:tailEnd type="triangle" w="med" len="med"/>
              </a:ln>
            </p:spPr>
          </p:cxnSp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373D278-13A4-4C52-F02E-886FE3C47C01}"/>
              </a:ext>
            </a:extLst>
          </p:cNvPr>
          <p:cNvSpPr txBox="1"/>
          <p:nvPr/>
        </p:nvSpPr>
        <p:spPr>
          <a:xfrm>
            <a:off x="3797128" y="5532903"/>
            <a:ext cx="4673543" cy="646331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285750" indent="-285750"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dirty="0"/>
              <a:t>• Dotted lines ⇢ manual data transmission</a:t>
            </a:r>
          </a:p>
          <a:p>
            <a:pPr marL="0" indent="0">
              <a:buNone/>
            </a:pPr>
            <a:r>
              <a:rPr lang="en-US" dirty="0"/>
              <a:t>• Solid lines → automatic data transmission</a:t>
            </a:r>
          </a:p>
        </p:txBody>
      </p:sp>
    </p:spTree>
    <p:extLst>
      <p:ext uri="{BB962C8B-B14F-4D97-AF65-F5344CB8AC3E}">
        <p14:creationId xmlns:p14="http://schemas.microsoft.com/office/powerpoint/2010/main" val="2195701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A7D30-DA64-98CE-A91F-A319E706D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Picture 261">
            <a:extLst>
              <a:ext uri="{FF2B5EF4-FFF2-40B4-BE49-F238E27FC236}">
                <a16:creationId xmlns:a16="http://schemas.microsoft.com/office/drawing/2014/main" id="{DB274022-D038-5765-C766-CB9725CF7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4699" y="4855950"/>
            <a:ext cx="2595491" cy="1986971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F9474FAC-3B0B-E6E2-2C65-A0BCC67C6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205"/>
            <a:ext cx="12192000" cy="1097280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Separation using a Dynamic Diafiltration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Device</a:t>
            </a:r>
          </a:p>
        </p:txBody>
      </p: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E6D20AF0-E139-18E7-FC8F-85E4843E2051}"/>
              </a:ext>
            </a:extLst>
          </p:cNvPr>
          <p:cNvGrpSpPr/>
          <p:nvPr/>
        </p:nvGrpSpPr>
        <p:grpSpPr>
          <a:xfrm>
            <a:off x="2933700" y="901700"/>
            <a:ext cx="9175473" cy="3994020"/>
            <a:chOff x="351046" y="664151"/>
            <a:chExt cx="11216460" cy="4377874"/>
          </a:xfrm>
        </p:grpSpPr>
        <p:pic>
          <p:nvPicPr>
            <p:cNvPr id="2" name="Picture 1" descr="A blueprint of a machine&#10;&#10;Description automatically generated">
              <a:extLst>
                <a:ext uri="{FF2B5EF4-FFF2-40B4-BE49-F238E27FC236}">
                  <a16:creationId xmlns:a16="http://schemas.microsoft.com/office/drawing/2014/main" id="{D46F4A64-351A-19EC-0C23-5FC73587F9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4489" y="2610942"/>
              <a:ext cx="1614426" cy="2190915"/>
            </a:xfrm>
            <a:prstGeom prst="rect">
              <a:avLst/>
            </a:prstGeom>
          </p:spPr>
        </p:pic>
        <p:sp>
          <p:nvSpPr>
            <p:cNvPr id="158" name="Rectangle: Rounded Corners 157">
              <a:extLst>
                <a:ext uri="{FF2B5EF4-FFF2-40B4-BE49-F238E27FC236}">
                  <a16:creationId xmlns:a16="http://schemas.microsoft.com/office/drawing/2014/main" id="{B5AD8DC0-306B-5F01-F597-C62D9CA1A4F1}"/>
                </a:ext>
              </a:extLst>
            </p:cNvPr>
            <p:cNvSpPr/>
            <p:nvPr/>
          </p:nvSpPr>
          <p:spPr>
            <a:xfrm>
              <a:off x="6228264" y="2164920"/>
              <a:ext cx="90000" cy="1963531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1" name="Rectangle: Rounded Corners 150">
              <a:extLst>
                <a:ext uri="{FF2B5EF4-FFF2-40B4-BE49-F238E27FC236}">
                  <a16:creationId xmlns:a16="http://schemas.microsoft.com/office/drawing/2014/main" id="{1A795687-EFB8-66CF-E903-461B5FFA9CF9}"/>
                </a:ext>
              </a:extLst>
            </p:cNvPr>
            <p:cNvSpPr/>
            <p:nvPr/>
          </p:nvSpPr>
          <p:spPr>
            <a:xfrm>
              <a:off x="4196303" y="2878505"/>
              <a:ext cx="705532" cy="90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0" name="Rectangle: Rounded Corners 149">
              <a:extLst>
                <a:ext uri="{FF2B5EF4-FFF2-40B4-BE49-F238E27FC236}">
                  <a16:creationId xmlns:a16="http://schemas.microsoft.com/office/drawing/2014/main" id="{BED0B1B4-232C-5C38-340E-8DEA25D41D9D}"/>
                </a:ext>
              </a:extLst>
            </p:cNvPr>
            <p:cNvSpPr/>
            <p:nvPr/>
          </p:nvSpPr>
          <p:spPr>
            <a:xfrm>
              <a:off x="4196303" y="1173490"/>
              <a:ext cx="90000" cy="1793179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pic>
          <p:nvPicPr>
            <p:cNvPr id="101" name="Picture 100" descr="A blue cylinder with towers&#10;&#10;Description automatically generated with medium confidence">
              <a:extLst>
                <a:ext uri="{FF2B5EF4-FFF2-40B4-BE49-F238E27FC236}">
                  <a16:creationId xmlns:a16="http://schemas.microsoft.com/office/drawing/2014/main" id="{F401CAA0-5A3E-D604-441B-6E09C11333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40739" y="1908960"/>
              <a:ext cx="2131187" cy="2896803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8978CFA7-9D93-84F2-70E0-FEEFE0D1765B}"/>
                </a:ext>
              </a:extLst>
            </p:cNvPr>
            <p:cNvSpPr txBox="1"/>
            <p:nvPr/>
          </p:nvSpPr>
          <p:spPr>
            <a:xfrm>
              <a:off x="3924116" y="4650643"/>
              <a:ext cx="1442022" cy="3710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Membrane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4E082D9-E998-11DD-5B3B-D1FEFC40BE56}"/>
                </a:ext>
              </a:extLst>
            </p:cNvPr>
            <p:cNvSpPr txBox="1"/>
            <p:nvPr/>
          </p:nvSpPr>
          <p:spPr>
            <a:xfrm>
              <a:off x="3784564" y="3792708"/>
              <a:ext cx="1377631" cy="6409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Retentate Probe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CC9DECE4-5BAF-FE6E-05AA-99D1D15599C2}"/>
                </a:ext>
              </a:extLst>
            </p:cNvPr>
            <p:cNvSpPr/>
            <p:nvPr/>
          </p:nvSpPr>
          <p:spPr>
            <a:xfrm>
              <a:off x="5287300" y="4196163"/>
              <a:ext cx="671898" cy="4571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3B076035-0AED-AC7D-7097-A5A47C6E4DCC}"/>
                </a:ext>
              </a:extLst>
            </p:cNvPr>
            <p:cNvSpPr/>
            <p:nvPr/>
          </p:nvSpPr>
          <p:spPr>
            <a:xfrm>
              <a:off x="6068295" y="4393710"/>
              <a:ext cx="203743" cy="4571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D1538BFD-827F-79B3-3FCB-B6C3A03F2940}"/>
                </a:ext>
              </a:extLst>
            </p:cNvPr>
            <p:cNvSpPr txBox="1"/>
            <p:nvPr/>
          </p:nvSpPr>
          <p:spPr>
            <a:xfrm>
              <a:off x="5822993" y="4703471"/>
              <a:ext cx="20406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Permeate Probe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10A87DC-8B4B-7AAC-3413-A55F981EF29D}"/>
                </a:ext>
              </a:extLst>
            </p:cNvPr>
            <p:cNvCxnSpPr>
              <a:cxnSpLocks/>
            </p:cNvCxnSpPr>
            <p:nvPr/>
          </p:nvCxnSpPr>
          <p:spPr>
            <a:xfrm>
              <a:off x="6203914" y="4500246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6" name="Picture 105" descr="A drawing of a machine&#10;&#10;Description automatically generated">
              <a:extLst>
                <a:ext uri="{FF2B5EF4-FFF2-40B4-BE49-F238E27FC236}">
                  <a16:creationId xmlns:a16="http://schemas.microsoft.com/office/drawing/2014/main" id="{77CDFD46-1DB9-BF15-A805-6B06171161A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25591" y="2514337"/>
              <a:ext cx="2697986" cy="2175340"/>
            </a:xfrm>
            <a:prstGeom prst="rect">
              <a:avLst/>
            </a:prstGeom>
          </p:spPr>
        </p:pic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54F70EBD-F86C-0EA6-A12D-306D78527B26}"/>
                </a:ext>
              </a:extLst>
            </p:cNvPr>
            <p:cNvCxnSpPr>
              <a:cxnSpLocks/>
            </p:cNvCxnSpPr>
            <p:nvPr/>
          </p:nvCxnSpPr>
          <p:spPr>
            <a:xfrm>
              <a:off x="9501238" y="3551928"/>
              <a:ext cx="842186" cy="169277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BF3A76C0-2791-5E54-80F2-329CB7B57C80}"/>
                </a:ext>
              </a:extLst>
            </p:cNvPr>
            <p:cNvSpPr txBox="1"/>
            <p:nvPr/>
          </p:nvSpPr>
          <p:spPr>
            <a:xfrm>
              <a:off x="10087001" y="2710145"/>
              <a:ext cx="1480505" cy="6409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Scintillation Vials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4186169-6390-61FE-9713-0D4648286778}"/>
                </a:ext>
              </a:extLst>
            </p:cNvPr>
            <p:cNvSpPr txBox="1"/>
            <p:nvPr/>
          </p:nvSpPr>
          <p:spPr>
            <a:xfrm>
              <a:off x="10197511" y="3568617"/>
              <a:ext cx="107231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Motor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ED2E0849-F937-CB4B-8A1A-9B019B23B823}"/>
                </a:ext>
              </a:extLst>
            </p:cNvPr>
            <p:cNvSpPr txBox="1"/>
            <p:nvPr/>
          </p:nvSpPr>
          <p:spPr>
            <a:xfrm>
              <a:off x="7574835" y="4224433"/>
              <a:ext cx="24190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Balance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59F6C8AD-0A2C-81A2-CEB3-9F9444DFF761}"/>
                </a:ext>
              </a:extLst>
            </p:cNvPr>
            <p:cNvCxnSpPr>
              <a:cxnSpLocks/>
            </p:cNvCxnSpPr>
            <p:nvPr/>
          </p:nvCxnSpPr>
          <p:spPr>
            <a:xfrm>
              <a:off x="9290017" y="2670620"/>
              <a:ext cx="833560" cy="174187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E9588DBF-DC42-37F0-6C77-D52DE33D4A03}"/>
                </a:ext>
              </a:extLst>
            </p:cNvPr>
            <p:cNvSpPr txBox="1"/>
            <p:nvPr/>
          </p:nvSpPr>
          <p:spPr>
            <a:xfrm>
              <a:off x="571847" y="1441627"/>
              <a:ext cx="1413888" cy="6409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Pressure Gauge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D9A8F8FB-6507-184F-535C-0F708221C769}"/>
                </a:ext>
              </a:extLst>
            </p:cNvPr>
            <p:cNvSpPr/>
            <p:nvPr/>
          </p:nvSpPr>
          <p:spPr>
            <a:xfrm>
              <a:off x="2232898" y="3429001"/>
              <a:ext cx="1373917" cy="1084262"/>
            </a:xfrm>
            <a:prstGeom prst="rect">
              <a:avLst/>
            </a:prstGeom>
            <a:solidFill>
              <a:schemeClr val="accent1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7" name="Rectangle: Rounded Corners 146">
              <a:extLst>
                <a:ext uri="{FF2B5EF4-FFF2-40B4-BE49-F238E27FC236}">
                  <a16:creationId xmlns:a16="http://schemas.microsoft.com/office/drawing/2014/main" id="{359504C3-8269-13AE-F441-592C42909510}"/>
                </a:ext>
              </a:extLst>
            </p:cNvPr>
            <p:cNvSpPr/>
            <p:nvPr/>
          </p:nvSpPr>
          <p:spPr>
            <a:xfrm>
              <a:off x="3367372" y="1173491"/>
              <a:ext cx="90000" cy="825469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8" name="Rectangle: Rounded Corners 147">
              <a:extLst>
                <a:ext uri="{FF2B5EF4-FFF2-40B4-BE49-F238E27FC236}">
                  <a16:creationId xmlns:a16="http://schemas.microsoft.com/office/drawing/2014/main" id="{52AFEAD8-C4CF-B429-A00E-8AF6206B850C}"/>
                </a:ext>
              </a:extLst>
            </p:cNvPr>
            <p:cNvSpPr/>
            <p:nvPr/>
          </p:nvSpPr>
          <p:spPr>
            <a:xfrm>
              <a:off x="3367372" y="1173490"/>
              <a:ext cx="885398" cy="92868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6" name="Rectangle: Rounded Corners 145">
              <a:extLst>
                <a:ext uri="{FF2B5EF4-FFF2-40B4-BE49-F238E27FC236}">
                  <a16:creationId xmlns:a16="http://schemas.microsoft.com/office/drawing/2014/main" id="{B327D6BA-E627-9400-BB48-92547107501C}"/>
                </a:ext>
              </a:extLst>
            </p:cNvPr>
            <p:cNvSpPr/>
            <p:nvPr/>
          </p:nvSpPr>
          <p:spPr>
            <a:xfrm>
              <a:off x="3387601" y="1194524"/>
              <a:ext cx="49912" cy="808068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9" name="Rectangle: Rounded Corners 148">
              <a:extLst>
                <a:ext uri="{FF2B5EF4-FFF2-40B4-BE49-F238E27FC236}">
                  <a16:creationId xmlns:a16="http://schemas.microsoft.com/office/drawing/2014/main" id="{5E677C8A-E0DA-1DA5-51D2-1B8CD821C451}"/>
                </a:ext>
              </a:extLst>
            </p:cNvPr>
            <p:cNvSpPr/>
            <p:nvPr/>
          </p:nvSpPr>
          <p:spPr>
            <a:xfrm>
              <a:off x="3410643" y="1194523"/>
              <a:ext cx="853037" cy="50400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2" name="Rectangle: Rounded Corners 151">
              <a:extLst>
                <a:ext uri="{FF2B5EF4-FFF2-40B4-BE49-F238E27FC236}">
                  <a16:creationId xmlns:a16="http://schemas.microsoft.com/office/drawing/2014/main" id="{3ACB6326-0B35-4021-B202-0770FB6A6C8C}"/>
                </a:ext>
              </a:extLst>
            </p:cNvPr>
            <p:cNvSpPr/>
            <p:nvPr/>
          </p:nvSpPr>
          <p:spPr>
            <a:xfrm>
              <a:off x="4222073" y="2899655"/>
              <a:ext cx="679826" cy="50400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3" name="Rectangle: Rounded Corners 152">
              <a:extLst>
                <a:ext uri="{FF2B5EF4-FFF2-40B4-BE49-F238E27FC236}">
                  <a16:creationId xmlns:a16="http://schemas.microsoft.com/office/drawing/2014/main" id="{AC836085-DB0C-E617-A3C6-FBB7ABAECFC4}"/>
                </a:ext>
              </a:extLst>
            </p:cNvPr>
            <p:cNvSpPr/>
            <p:nvPr/>
          </p:nvSpPr>
          <p:spPr>
            <a:xfrm>
              <a:off x="4215027" y="1194523"/>
              <a:ext cx="54000" cy="1750851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4" name="Rectangle: Rounded Corners 153">
              <a:extLst>
                <a:ext uri="{FF2B5EF4-FFF2-40B4-BE49-F238E27FC236}">
                  <a16:creationId xmlns:a16="http://schemas.microsoft.com/office/drawing/2014/main" id="{76B92356-94F5-7159-293A-63E01C92D866}"/>
                </a:ext>
              </a:extLst>
            </p:cNvPr>
            <p:cNvSpPr/>
            <p:nvPr/>
          </p:nvSpPr>
          <p:spPr>
            <a:xfrm>
              <a:off x="8459937" y="2167329"/>
              <a:ext cx="90000" cy="388005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5" name="Rectangle: Rounded Corners 154">
              <a:extLst>
                <a:ext uri="{FF2B5EF4-FFF2-40B4-BE49-F238E27FC236}">
                  <a16:creationId xmlns:a16="http://schemas.microsoft.com/office/drawing/2014/main" id="{68847633-DFBE-D02C-729B-8FFC276EBA25}"/>
                </a:ext>
              </a:extLst>
            </p:cNvPr>
            <p:cNvSpPr/>
            <p:nvPr/>
          </p:nvSpPr>
          <p:spPr>
            <a:xfrm>
              <a:off x="6272038" y="2164921"/>
              <a:ext cx="2277899" cy="90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6" name="Rectangle: Rounded Corners 155">
              <a:extLst>
                <a:ext uri="{FF2B5EF4-FFF2-40B4-BE49-F238E27FC236}">
                  <a16:creationId xmlns:a16="http://schemas.microsoft.com/office/drawing/2014/main" id="{7FE92BB2-5115-41A2-B566-8C01068E00DA}"/>
                </a:ext>
              </a:extLst>
            </p:cNvPr>
            <p:cNvSpPr/>
            <p:nvPr/>
          </p:nvSpPr>
          <p:spPr>
            <a:xfrm>
              <a:off x="8480166" y="2189480"/>
              <a:ext cx="45719" cy="369486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7" name="Rectangle: Rounded Corners 156">
              <a:extLst>
                <a:ext uri="{FF2B5EF4-FFF2-40B4-BE49-F238E27FC236}">
                  <a16:creationId xmlns:a16="http://schemas.microsoft.com/office/drawing/2014/main" id="{C8C7995A-E3D4-245B-162F-94325EF5200C}"/>
                </a:ext>
              </a:extLst>
            </p:cNvPr>
            <p:cNvSpPr/>
            <p:nvPr/>
          </p:nvSpPr>
          <p:spPr>
            <a:xfrm>
              <a:off x="6272038" y="2185499"/>
              <a:ext cx="2253847" cy="50400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9" name="Rectangle: Rounded Corners 158">
              <a:extLst>
                <a:ext uri="{FF2B5EF4-FFF2-40B4-BE49-F238E27FC236}">
                  <a16:creationId xmlns:a16="http://schemas.microsoft.com/office/drawing/2014/main" id="{7AF6CD20-0DEF-F208-7D3C-8E64A7BD369F}"/>
                </a:ext>
              </a:extLst>
            </p:cNvPr>
            <p:cNvSpPr/>
            <p:nvPr/>
          </p:nvSpPr>
          <p:spPr>
            <a:xfrm>
              <a:off x="6247184" y="2185499"/>
              <a:ext cx="50400" cy="1942952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0" name="Rectangle: Rounded Corners 159">
              <a:extLst>
                <a:ext uri="{FF2B5EF4-FFF2-40B4-BE49-F238E27FC236}">
                  <a16:creationId xmlns:a16="http://schemas.microsoft.com/office/drawing/2014/main" id="{15C67895-66CD-5C0E-E528-C46DD300EF6F}"/>
                </a:ext>
              </a:extLst>
            </p:cNvPr>
            <p:cNvSpPr/>
            <p:nvPr/>
          </p:nvSpPr>
          <p:spPr>
            <a:xfrm>
              <a:off x="2875122" y="818985"/>
              <a:ext cx="90000" cy="1176344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1" name="Rectangle: Rounded Corners 160">
              <a:extLst>
                <a:ext uri="{FF2B5EF4-FFF2-40B4-BE49-F238E27FC236}">
                  <a16:creationId xmlns:a16="http://schemas.microsoft.com/office/drawing/2014/main" id="{FAC69FE7-2938-EBF0-7617-300F400747C6}"/>
                </a:ext>
              </a:extLst>
            </p:cNvPr>
            <p:cNvSpPr/>
            <p:nvPr/>
          </p:nvSpPr>
          <p:spPr>
            <a:xfrm>
              <a:off x="2895351" y="847413"/>
              <a:ext cx="49912" cy="1151547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530921D3-94B8-8AEA-D6FE-B918F793F8A4}"/>
                </a:ext>
              </a:extLst>
            </p:cNvPr>
            <p:cNvGrpSpPr/>
            <p:nvPr/>
          </p:nvGrpSpPr>
          <p:grpSpPr>
            <a:xfrm rot="5400000">
              <a:off x="1206418" y="803173"/>
              <a:ext cx="896308" cy="1636943"/>
              <a:chOff x="2408016" y="1071443"/>
              <a:chExt cx="896308" cy="1636943"/>
            </a:xfrm>
          </p:grpSpPr>
          <p:sp>
            <p:nvSpPr>
              <p:cNvPr id="162" name="Rectangle: Rounded Corners 161">
                <a:extLst>
                  <a:ext uri="{FF2B5EF4-FFF2-40B4-BE49-F238E27FC236}">
                    <a16:creationId xmlns:a16="http://schemas.microsoft.com/office/drawing/2014/main" id="{9D7F1B50-5423-19BA-01EA-60B86BCE8737}"/>
                  </a:ext>
                </a:extLst>
              </p:cNvPr>
              <p:cNvSpPr/>
              <p:nvPr/>
            </p:nvSpPr>
            <p:spPr>
              <a:xfrm>
                <a:off x="2408017" y="1071443"/>
                <a:ext cx="90000" cy="1636943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3" name="Rectangle: Rounded Corners 162">
                <a:extLst>
                  <a:ext uri="{FF2B5EF4-FFF2-40B4-BE49-F238E27FC236}">
                    <a16:creationId xmlns:a16="http://schemas.microsoft.com/office/drawing/2014/main" id="{14C14CF6-F8F7-0483-E4FD-A6F1CBB68877}"/>
                  </a:ext>
                </a:extLst>
              </p:cNvPr>
              <p:cNvSpPr/>
              <p:nvPr/>
            </p:nvSpPr>
            <p:spPr>
              <a:xfrm>
                <a:off x="2408016" y="1071443"/>
                <a:ext cx="885398" cy="92868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4" name="Rectangle: Rounded Corners 163">
                <a:extLst>
                  <a:ext uri="{FF2B5EF4-FFF2-40B4-BE49-F238E27FC236}">
                    <a16:creationId xmlns:a16="http://schemas.microsoft.com/office/drawing/2014/main" id="{496A8756-E117-550F-3972-3CEC3E500209}"/>
                  </a:ext>
                </a:extLst>
              </p:cNvPr>
              <p:cNvSpPr/>
              <p:nvPr/>
            </p:nvSpPr>
            <p:spPr>
              <a:xfrm>
                <a:off x="2428245" y="1092478"/>
                <a:ext cx="49912" cy="1602436"/>
              </a:xfrm>
              <a:prstGeom prst="roundRect">
                <a:avLst/>
              </a:prstGeom>
              <a:solidFill>
                <a:srgbClr val="C7CEE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5" name="Rectangle: Rounded Corners 164">
                <a:extLst>
                  <a:ext uri="{FF2B5EF4-FFF2-40B4-BE49-F238E27FC236}">
                    <a16:creationId xmlns:a16="http://schemas.microsoft.com/office/drawing/2014/main" id="{4BE3E5DF-29F2-DF43-5FCA-B7FC8AD56297}"/>
                  </a:ext>
                </a:extLst>
              </p:cNvPr>
              <p:cNvSpPr/>
              <p:nvPr/>
            </p:nvSpPr>
            <p:spPr>
              <a:xfrm>
                <a:off x="2451287" y="1092476"/>
                <a:ext cx="853037" cy="50400"/>
              </a:xfrm>
              <a:prstGeom prst="roundRect">
                <a:avLst/>
              </a:prstGeom>
              <a:solidFill>
                <a:srgbClr val="C7CEE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20" name="Flowchart: Connector 119">
              <a:extLst>
                <a:ext uri="{FF2B5EF4-FFF2-40B4-BE49-F238E27FC236}">
                  <a16:creationId xmlns:a16="http://schemas.microsoft.com/office/drawing/2014/main" id="{497A868C-443C-8F6F-4873-C9490CD0E462}"/>
                </a:ext>
              </a:extLst>
            </p:cNvPr>
            <p:cNvSpPr/>
            <p:nvPr/>
          </p:nvSpPr>
          <p:spPr>
            <a:xfrm>
              <a:off x="997942" y="1020217"/>
              <a:ext cx="455063" cy="43669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0EF6F2BC-3A6D-828C-81DD-73ED450340BF}"/>
                </a:ext>
              </a:extLst>
            </p:cNvPr>
            <p:cNvSpPr txBox="1"/>
            <p:nvPr/>
          </p:nvSpPr>
          <p:spPr>
            <a:xfrm>
              <a:off x="997942" y="1069287"/>
              <a:ext cx="45506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C6A89214-26D4-8F7C-1675-CF2D530DBBCC}"/>
                </a:ext>
              </a:extLst>
            </p:cNvPr>
            <p:cNvSpPr txBox="1"/>
            <p:nvPr/>
          </p:nvSpPr>
          <p:spPr>
            <a:xfrm>
              <a:off x="351046" y="3146685"/>
              <a:ext cx="1393745" cy="6409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Diafiltrate Tank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406806A8-71B3-522D-BF62-A85267D9F7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56568" y="3284019"/>
              <a:ext cx="406757" cy="118045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Isosceles Triangle 168">
              <a:extLst>
                <a:ext uri="{FF2B5EF4-FFF2-40B4-BE49-F238E27FC236}">
                  <a16:creationId xmlns:a16="http://schemas.microsoft.com/office/drawing/2014/main" id="{892805A5-0708-7D2B-5B0A-E483A0E3721F}"/>
                </a:ext>
              </a:extLst>
            </p:cNvPr>
            <p:cNvSpPr/>
            <p:nvPr/>
          </p:nvSpPr>
          <p:spPr>
            <a:xfrm>
              <a:off x="2754042" y="1065670"/>
              <a:ext cx="332332" cy="279152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0" name="Isosceles Triangle 169">
              <a:extLst>
                <a:ext uri="{FF2B5EF4-FFF2-40B4-BE49-F238E27FC236}">
                  <a16:creationId xmlns:a16="http://schemas.microsoft.com/office/drawing/2014/main" id="{AD551ED5-EC50-4CC2-EB56-101CFC96E852}"/>
                </a:ext>
              </a:extLst>
            </p:cNvPr>
            <p:cNvSpPr/>
            <p:nvPr/>
          </p:nvSpPr>
          <p:spPr>
            <a:xfrm flipV="1">
              <a:off x="2754042" y="944752"/>
              <a:ext cx="332332" cy="279152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1" name="Isosceles Triangle 170">
              <a:extLst>
                <a:ext uri="{FF2B5EF4-FFF2-40B4-BE49-F238E27FC236}">
                  <a16:creationId xmlns:a16="http://schemas.microsoft.com/office/drawing/2014/main" id="{4907D4C4-C0C7-F6DD-3901-68A88620C4EF}"/>
                </a:ext>
              </a:extLst>
            </p:cNvPr>
            <p:cNvSpPr/>
            <p:nvPr/>
          </p:nvSpPr>
          <p:spPr>
            <a:xfrm flipV="1">
              <a:off x="2821484" y="994767"/>
              <a:ext cx="196743" cy="16379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2" name="Isosceles Triangle 171">
              <a:extLst>
                <a:ext uri="{FF2B5EF4-FFF2-40B4-BE49-F238E27FC236}">
                  <a16:creationId xmlns:a16="http://schemas.microsoft.com/office/drawing/2014/main" id="{851B0325-4A8F-ABFF-A2B3-C608CF9A517A}"/>
                </a:ext>
              </a:extLst>
            </p:cNvPr>
            <p:cNvSpPr/>
            <p:nvPr/>
          </p:nvSpPr>
          <p:spPr>
            <a:xfrm>
              <a:off x="2822675" y="1133739"/>
              <a:ext cx="196743" cy="16379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EAF18AAF-0038-1B31-8DE8-AB7341DEE3A1}"/>
                </a:ext>
              </a:extLst>
            </p:cNvPr>
            <p:cNvSpPr txBox="1"/>
            <p:nvPr/>
          </p:nvSpPr>
          <p:spPr>
            <a:xfrm>
              <a:off x="3546204" y="664151"/>
              <a:ext cx="2614013" cy="338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Pressure Relief Valve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DF8B72DF-CAE6-90D7-F70C-AD0CE9E929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80746" y="900618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8E0581E8-5D17-6E41-2564-91A68A3F6C3E}"/>
                </a:ext>
              </a:extLst>
            </p:cNvPr>
            <p:cNvCxnSpPr>
              <a:cxnSpLocks/>
              <a:endCxn id="67" idx="0"/>
            </p:cNvCxnSpPr>
            <p:nvPr/>
          </p:nvCxnSpPr>
          <p:spPr>
            <a:xfrm flipH="1">
              <a:off x="4645128" y="4283212"/>
              <a:ext cx="887333" cy="367432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AA3BFCA4-4CFF-A3A0-EB37-6D937C6A6651}"/>
                </a:ext>
              </a:extLst>
            </p:cNvPr>
            <p:cNvCxnSpPr>
              <a:cxnSpLocks/>
            </p:cNvCxnSpPr>
            <p:nvPr/>
          </p:nvCxnSpPr>
          <p:spPr>
            <a:xfrm>
              <a:off x="5409835" y="2966669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326AF3A7-5847-4EB6-19EC-AEED3FC1FBC9}"/>
                </a:ext>
              </a:extLst>
            </p:cNvPr>
            <p:cNvCxnSpPr>
              <a:cxnSpLocks/>
            </p:cNvCxnSpPr>
            <p:nvPr/>
          </p:nvCxnSpPr>
          <p:spPr>
            <a:xfrm>
              <a:off x="5430711" y="2945374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74179AB6-E012-831A-E09F-9FCB3A62868E}"/>
                </a:ext>
              </a:extLst>
            </p:cNvPr>
            <p:cNvCxnSpPr>
              <a:cxnSpLocks/>
            </p:cNvCxnSpPr>
            <p:nvPr/>
          </p:nvCxnSpPr>
          <p:spPr>
            <a:xfrm>
              <a:off x="5449970" y="2923505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BB99AD5A-ED29-375C-9472-89F04187EB22}"/>
                </a:ext>
              </a:extLst>
            </p:cNvPr>
            <p:cNvCxnSpPr>
              <a:cxnSpLocks/>
            </p:cNvCxnSpPr>
            <p:nvPr/>
          </p:nvCxnSpPr>
          <p:spPr>
            <a:xfrm>
              <a:off x="5472997" y="2911821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B307E634-9594-B597-1379-45F0BA8AFFD0}"/>
                </a:ext>
              </a:extLst>
            </p:cNvPr>
            <p:cNvCxnSpPr>
              <a:cxnSpLocks/>
            </p:cNvCxnSpPr>
            <p:nvPr/>
          </p:nvCxnSpPr>
          <p:spPr>
            <a:xfrm>
              <a:off x="5495821" y="2889275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5E23CF14-CC27-0D24-7D81-5783523AF063}"/>
                </a:ext>
              </a:extLst>
            </p:cNvPr>
            <p:cNvCxnSpPr>
              <a:cxnSpLocks/>
            </p:cNvCxnSpPr>
            <p:nvPr/>
          </p:nvCxnSpPr>
          <p:spPr>
            <a:xfrm>
              <a:off x="5516924" y="2872851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DE716557-5F5E-66B7-3D80-2BFC1FB5C1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1835" y="2966669"/>
              <a:ext cx="514352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F64528BE-9818-D8F6-DF60-3922873730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1835" y="2949771"/>
              <a:ext cx="533744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7B4CD787-F38F-85DA-F819-5578E99507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3423" y="2929857"/>
              <a:ext cx="548135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08CA928C-9DF7-3BEE-0AAE-433222C19A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1835" y="2911821"/>
              <a:ext cx="576938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472FD31C-9A0A-CA25-E0F0-8776730134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3423" y="2890863"/>
              <a:ext cx="596829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56FD37F1-6CBA-68CF-8C2C-4AE10D9E1C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0247" y="2872482"/>
              <a:ext cx="622524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D745ED6-552C-29FF-37FC-6C51A8A03496}"/>
                </a:ext>
              </a:extLst>
            </p:cNvPr>
            <p:cNvSpPr/>
            <p:nvPr/>
          </p:nvSpPr>
          <p:spPr>
            <a:xfrm>
              <a:off x="5354191" y="3423963"/>
              <a:ext cx="214188" cy="359089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A8629E6-1355-78DA-7F09-5EABDE6BC52F}"/>
                </a:ext>
              </a:extLst>
            </p:cNvPr>
            <p:cNvSpPr/>
            <p:nvPr/>
          </p:nvSpPr>
          <p:spPr>
            <a:xfrm>
              <a:off x="5371239" y="3581612"/>
              <a:ext cx="181842" cy="18217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A789279-3C91-8276-B41D-8A8F76857366}"/>
                </a:ext>
              </a:extLst>
            </p:cNvPr>
            <p:cNvSpPr/>
            <p:nvPr/>
          </p:nvSpPr>
          <p:spPr>
            <a:xfrm>
              <a:off x="5399544" y="3611175"/>
              <a:ext cx="124244" cy="12447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41E597-073C-4342-8881-BD5ED386AE90}"/>
                </a:ext>
              </a:extLst>
            </p:cNvPr>
            <p:cNvSpPr/>
            <p:nvPr/>
          </p:nvSpPr>
          <p:spPr>
            <a:xfrm>
              <a:off x="5426708" y="3636614"/>
              <a:ext cx="72127" cy="7488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4F8D34AF-16FC-D9A6-F00D-207D5C0BF4C1}"/>
                </a:ext>
              </a:extLst>
            </p:cNvPr>
            <p:cNvSpPr txBox="1"/>
            <p:nvPr/>
          </p:nvSpPr>
          <p:spPr>
            <a:xfrm>
              <a:off x="4759889" y="1683094"/>
              <a:ext cx="10711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Stirred Cell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4F681A35-CE19-C49D-8C7B-B8CBFB3D8F59}"/>
                    </a:ext>
                  </a:extLst>
                </p:cNvPr>
                <p:cNvSpPr txBox="1"/>
                <p:nvPr/>
              </p:nvSpPr>
              <p:spPr>
                <a:xfrm rot="5400000">
                  <a:off x="5259573" y="1903138"/>
                  <a:ext cx="525742" cy="13285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kumimoji="0" lang="en-US" sz="5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kumimoji="0" lang="en-US" sz="5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</m:ctrlPr>
                              </m:eqArrPr>
                              <m:e>
                                <m:r>
                                  <a:rPr kumimoji="0" lang="en-US" sz="5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kumimoji="0" lang="en-US" sz="5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A0A5A728-B824-A225-9E3B-4532DE8DB3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259573" y="1903138"/>
                  <a:ext cx="525742" cy="1328569"/>
                </a:xfrm>
                <a:prstGeom prst="rect">
                  <a:avLst/>
                </a:prstGeom>
                <a:blipFill>
                  <a:blip r:embed="rId7"/>
                  <a:stretch>
                    <a:fillRect l="-476" t="-60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DAF6D3D0-50B0-58F2-638F-C79CA18FD8F7}"/>
                </a:ext>
              </a:extLst>
            </p:cNvPr>
            <p:cNvSpPr txBox="1"/>
            <p:nvPr/>
          </p:nvSpPr>
          <p:spPr>
            <a:xfrm>
              <a:off x="6366476" y="3332442"/>
              <a:ext cx="1438970" cy="6409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Permeate Outlet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A967AAA7-A881-B654-D8C6-77B4512B74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58909" y="3892733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29E4D830-ED10-B2D3-F21E-7A2102D148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69922" y="3594985"/>
              <a:ext cx="754405" cy="233782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8" name="Arrow: Down 217">
            <a:extLst>
              <a:ext uri="{FF2B5EF4-FFF2-40B4-BE49-F238E27FC236}">
                <a16:creationId xmlns:a16="http://schemas.microsoft.com/office/drawing/2014/main" id="{14C611B3-E5C9-8CD8-8867-7666F352FFE6}"/>
              </a:ext>
            </a:extLst>
          </p:cNvPr>
          <p:cNvSpPr/>
          <p:nvPr/>
        </p:nvSpPr>
        <p:spPr>
          <a:xfrm>
            <a:off x="4562645" y="1672555"/>
            <a:ext cx="142851" cy="388418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9" name="Arrow: Down 218">
            <a:extLst>
              <a:ext uri="{FF2B5EF4-FFF2-40B4-BE49-F238E27FC236}">
                <a16:creationId xmlns:a16="http://schemas.microsoft.com/office/drawing/2014/main" id="{97315296-2807-E3F6-3908-B0FAB951344A}"/>
              </a:ext>
            </a:extLst>
          </p:cNvPr>
          <p:cNvSpPr/>
          <p:nvPr/>
        </p:nvSpPr>
        <p:spPr>
          <a:xfrm>
            <a:off x="4582515" y="3074683"/>
            <a:ext cx="142851" cy="388418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0" name="Arrow: Down 219">
            <a:extLst>
              <a:ext uri="{FF2B5EF4-FFF2-40B4-BE49-F238E27FC236}">
                <a16:creationId xmlns:a16="http://schemas.microsoft.com/office/drawing/2014/main" id="{2A48774A-D8E4-56A6-B05D-B2378784A346}"/>
              </a:ext>
            </a:extLst>
          </p:cNvPr>
          <p:cNvSpPr/>
          <p:nvPr/>
        </p:nvSpPr>
        <p:spPr>
          <a:xfrm>
            <a:off x="4890926" y="3074683"/>
            <a:ext cx="142851" cy="388418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1" name="Arrow: Down 220">
            <a:extLst>
              <a:ext uri="{FF2B5EF4-FFF2-40B4-BE49-F238E27FC236}">
                <a16:creationId xmlns:a16="http://schemas.microsoft.com/office/drawing/2014/main" id="{F1D5A6D8-6B72-BF76-7BF6-854DFE1CBA91}"/>
              </a:ext>
            </a:extLst>
          </p:cNvPr>
          <p:cNvSpPr/>
          <p:nvPr/>
        </p:nvSpPr>
        <p:spPr>
          <a:xfrm>
            <a:off x="5199337" y="3074683"/>
            <a:ext cx="142851" cy="388418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2" name="Arrow: Down 221">
            <a:extLst>
              <a:ext uri="{FF2B5EF4-FFF2-40B4-BE49-F238E27FC236}">
                <a16:creationId xmlns:a16="http://schemas.microsoft.com/office/drawing/2014/main" id="{8E2CF21B-4EAC-41EC-57B9-DF2FD6C659E2}"/>
              </a:ext>
            </a:extLst>
          </p:cNvPr>
          <p:cNvSpPr/>
          <p:nvPr/>
        </p:nvSpPr>
        <p:spPr>
          <a:xfrm rot="10800000">
            <a:off x="5360372" y="2640969"/>
            <a:ext cx="142851" cy="388418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3" name="Arrow: Down 222">
            <a:extLst>
              <a:ext uri="{FF2B5EF4-FFF2-40B4-BE49-F238E27FC236}">
                <a16:creationId xmlns:a16="http://schemas.microsoft.com/office/drawing/2014/main" id="{F348D9AA-116B-75CF-7B65-DB133AC4DDE6}"/>
              </a:ext>
            </a:extLst>
          </p:cNvPr>
          <p:cNvSpPr/>
          <p:nvPr/>
        </p:nvSpPr>
        <p:spPr>
          <a:xfrm rot="10800000">
            <a:off x="5365937" y="1659101"/>
            <a:ext cx="142851" cy="388418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6" name="Teardrop 225">
            <a:extLst>
              <a:ext uri="{FF2B5EF4-FFF2-40B4-BE49-F238E27FC236}">
                <a16:creationId xmlns:a16="http://schemas.microsoft.com/office/drawing/2014/main" id="{84CB277B-4DC0-D75D-A52A-081ADB199C5E}"/>
              </a:ext>
            </a:extLst>
          </p:cNvPr>
          <p:cNvSpPr/>
          <p:nvPr/>
        </p:nvSpPr>
        <p:spPr>
          <a:xfrm rot="18976205">
            <a:off x="6189232" y="2722215"/>
            <a:ext cx="117341" cy="137150"/>
          </a:xfrm>
          <a:prstGeom prst="teardrop">
            <a:avLst>
              <a:gd name="adj" fmla="val 143899"/>
            </a:avLst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7" name="Teardrop 226">
            <a:extLst>
              <a:ext uri="{FF2B5EF4-FFF2-40B4-BE49-F238E27FC236}">
                <a16:creationId xmlns:a16="http://schemas.microsoft.com/office/drawing/2014/main" id="{B5C47855-C0FC-3E56-ED29-81EA34F91E8D}"/>
              </a:ext>
            </a:extLst>
          </p:cNvPr>
          <p:cNvSpPr/>
          <p:nvPr/>
        </p:nvSpPr>
        <p:spPr>
          <a:xfrm rot="18976205">
            <a:off x="7905405" y="4269714"/>
            <a:ext cx="117341" cy="137150"/>
          </a:xfrm>
          <a:prstGeom prst="teardrop">
            <a:avLst>
              <a:gd name="adj" fmla="val 143899"/>
            </a:avLst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8" name="Arrow: Down 227">
            <a:extLst>
              <a:ext uri="{FF2B5EF4-FFF2-40B4-BE49-F238E27FC236}">
                <a16:creationId xmlns:a16="http://schemas.microsoft.com/office/drawing/2014/main" id="{85DB01BD-2CF4-8DD4-C3A0-66E1EEE3064D}"/>
              </a:ext>
            </a:extLst>
          </p:cNvPr>
          <p:cNvSpPr/>
          <p:nvPr/>
        </p:nvSpPr>
        <p:spPr>
          <a:xfrm>
            <a:off x="6040695" y="1955373"/>
            <a:ext cx="142851" cy="388418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0" name="Arrow: Down 229">
            <a:extLst>
              <a:ext uri="{FF2B5EF4-FFF2-40B4-BE49-F238E27FC236}">
                <a16:creationId xmlns:a16="http://schemas.microsoft.com/office/drawing/2014/main" id="{C435036D-AE35-15A4-9856-4528FB3C8C37}"/>
              </a:ext>
            </a:extLst>
          </p:cNvPr>
          <p:cNvSpPr/>
          <p:nvPr/>
        </p:nvSpPr>
        <p:spPr>
          <a:xfrm rot="16200000">
            <a:off x="4014341" y="1228989"/>
            <a:ext cx="159316" cy="348275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1" name="Arrow: Down 230">
            <a:extLst>
              <a:ext uri="{FF2B5EF4-FFF2-40B4-BE49-F238E27FC236}">
                <a16:creationId xmlns:a16="http://schemas.microsoft.com/office/drawing/2014/main" id="{CA15106B-63E4-629A-017C-62A93CA3B242}"/>
              </a:ext>
            </a:extLst>
          </p:cNvPr>
          <p:cNvSpPr/>
          <p:nvPr/>
        </p:nvSpPr>
        <p:spPr>
          <a:xfrm rot="16200000">
            <a:off x="5687017" y="1211558"/>
            <a:ext cx="159316" cy="348275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2" name="Arrow: Down 231">
            <a:extLst>
              <a:ext uri="{FF2B5EF4-FFF2-40B4-BE49-F238E27FC236}">
                <a16:creationId xmlns:a16="http://schemas.microsoft.com/office/drawing/2014/main" id="{0756AFEC-B5A7-0878-DB46-80693E1C6D73}"/>
              </a:ext>
            </a:extLst>
          </p:cNvPr>
          <p:cNvSpPr/>
          <p:nvPr/>
        </p:nvSpPr>
        <p:spPr>
          <a:xfrm rot="16200000">
            <a:off x="5965474" y="2836802"/>
            <a:ext cx="159316" cy="348275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3" name="Arrow: Down 232">
            <a:extLst>
              <a:ext uri="{FF2B5EF4-FFF2-40B4-BE49-F238E27FC236}">
                <a16:creationId xmlns:a16="http://schemas.microsoft.com/office/drawing/2014/main" id="{3C307F5A-74AE-4878-9D1B-94815B4DCE7B}"/>
              </a:ext>
            </a:extLst>
          </p:cNvPr>
          <p:cNvSpPr/>
          <p:nvPr/>
        </p:nvSpPr>
        <p:spPr>
          <a:xfrm rot="10800000">
            <a:off x="7688609" y="3425222"/>
            <a:ext cx="142851" cy="388418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4" name="Arrow: Down 233">
            <a:extLst>
              <a:ext uri="{FF2B5EF4-FFF2-40B4-BE49-F238E27FC236}">
                <a16:creationId xmlns:a16="http://schemas.microsoft.com/office/drawing/2014/main" id="{02CC2EB7-288C-3C69-52A3-802057FB1C48}"/>
              </a:ext>
            </a:extLst>
          </p:cNvPr>
          <p:cNvSpPr/>
          <p:nvPr/>
        </p:nvSpPr>
        <p:spPr>
          <a:xfrm rot="10800000">
            <a:off x="7696175" y="2680082"/>
            <a:ext cx="142851" cy="388418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5" name="Arrow: Down 234">
            <a:extLst>
              <a:ext uri="{FF2B5EF4-FFF2-40B4-BE49-F238E27FC236}">
                <a16:creationId xmlns:a16="http://schemas.microsoft.com/office/drawing/2014/main" id="{0CC99273-78DB-9773-FA06-0D4B9231CD40}"/>
              </a:ext>
            </a:extLst>
          </p:cNvPr>
          <p:cNvSpPr/>
          <p:nvPr/>
        </p:nvSpPr>
        <p:spPr>
          <a:xfrm rot="16200000">
            <a:off x="8189480" y="2150136"/>
            <a:ext cx="159316" cy="348275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6" name="Arrow: Down 235">
            <a:extLst>
              <a:ext uri="{FF2B5EF4-FFF2-40B4-BE49-F238E27FC236}">
                <a16:creationId xmlns:a16="http://schemas.microsoft.com/office/drawing/2014/main" id="{9FD84775-06E8-4A37-E534-71CF34EA0271}"/>
              </a:ext>
            </a:extLst>
          </p:cNvPr>
          <p:cNvSpPr/>
          <p:nvPr/>
        </p:nvSpPr>
        <p:spPr>
          <a:xfrm rot="16200000">
            <a:off x="9286943" y="2150136"/>
            <a:ext cx="159316" cy="348275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8" name="Arrow: Up 237">
            <a:extLst>
              <a:ext uri="{FF2B5EF4-FFF2-40B4-BE49-F238E27FC236}">
                <a16:creationId xmlns:a16="http://schemas.microsoft.com/office/drawing/2014/main" id="{0BA45ABB-12D4-CE61-8064-BE84414BC522}"/>
              </a:ext>
            </a:extLst>
          </p:cNvPr>
          <p:cNvSpPr/>
          <p:nvPr/>
        </p:nvSpPr>
        <p:spPr>
          <a:xfrm>
            <a:off x="9260999" y="2680082"/>
            <a:ext cx="220057" cy="414409"/>
          </a:xfrm>
          <a:prstGeom prst="upArrow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9" name="Arrow: Curved Left 238">
            <a:extLst>
              <a:ext uri="{FF2B5EF4-FFF2-40B4-BE49-F238E27FC236}">
                <a16:creationId xmlns:a16="http://schemas.microsoft.com/office/drawing/2014/main" id="{7554ECD4-5F59-0AFE-0943-E9233802CDFE}"/>
              </a:ext>
            </a:extLst>
          </p:cNvPr>
          <p:cNvSpPr/>
          <p:nvPr/>
        </p:nvSpPr>
        <p:spPr>
          <a:xfrm>
            <a:off x="10375338" y="3399552"/>
            <a:ext cx="233066" cy="183189"/>
          </a:xfrm>
          <a:prstGeom prst="curved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502139A5-3C75-D582-ED2F-FE90D9CEC4AD}"/>
              </a:ext>
            </a:extLst>
          </p:cNvPr>
          <p:cNvSpPr/>
          <p:nvPr/>
        </p:nvSpPr>
        <p:spPr>
          <a:xfrm>
            <a:off x="2463800" y="5091138"/>
            <a:ext cx="1301046" cy="12864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258" name="Picture 257">
            <a:extLst>
              <a:ext uri="{FF2B5EF4-FFF2-40B4-BE49-F238E27FC236}">
                <a16:creationId xmlns:a16="http://schemas.microsoft.com/office/drawing/2014/main" id="{24C2255C-EAB3-02F5-7BE5-4C157E940F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0850" y="4849821"/>
            <a:ext cx="2590976" cy="1983515"/>
          </a:xfrm>
          <a:prstGeom prst="rect">
            <a:avLst/>
          </a:prstGeom>
        </p:spPr>
      </p:pic>
      <p:pic>
        <p:nvPicPr>
          <p:cNvPr id="260" name="Picture 259">
            <a:extLst>
              <a:ext uri="{FF2B5EF4-FFF2-40B4-BE49-F238E27FC236}">
                <a16:creationId xmlns:a16="http://schemas.microsoft.com/office/drawing/2014/main" id="{2635914D-2B2F-69DA-F0E8-B91DF2F4F9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85946" y="4803853"/>
            <a:ext cx="2595491" cy="1986971"/>
          </a:xfrm>
          <a:prstGeom prst="rect">
            <a:avLst/>
          </a:prstGeom>
        </p:spPr>
      </p:pic>
      <p:pic>
        <p:nvPicPr>
          <p:cNvPr id="264" name="Picture 263">
            <a:extLst>
              <a:ext uri="{FF2B5EF4-FFF2-40B4-BE49-F238E27FC236}">
                <a16:creationId xmlns:a16="http://schemas.microsoft.com/office/drawing/2014/main" id="{55140361-6D63-26E2-144E-11B55E19823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94087" y="4821439"/>
            <a:ext cx="2602473" cy="1992317"/>
          </a:xfrm>
          <a:prstGeom prst="rect">
            <a:avLst/>
          </a:prstGeom>
        </p:spPr>
      </p:pic>
      <p:sp>
        <p:nvSpPr>
          <p:cNvPr id="267" name="Rectangle 266">
            <a:extLst>
              <a:ext uri="{FF2B5EF4-FFF2-40B4-BE49-F238E27FC236}">
                <a16:creationId xmlns:a16="http://schemas.microsoft.com/office/drawing/2014/main" id="{80C99D0B-A973-A8D3-50CB-143516C335C9}"/>
              </a:ext>
            </a:extLst>
          </p:cNvPr>
          <p:cNvSpPr/>
          <p:nvPr/>
        </p:nvSpPr>
        <p:spPr>
          <a:xfrm>
            <a:off x="5045517" y="5117711"/>
            <a:ext cx="1370615" cy="12956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C7357BA1-7198-602C-40BA-B3C87E1CB9D3}"/>
              </a:ext>
            </a:extLst>
          </p:cNvPr>
          <p:cNvSpPr/>
          <p:nvPr/>
        </p:nvSpPr>
        <p:spPr>
          <a:xfrm>
            <a:off x="7874276" y="5077132"/>
            <a:ext cx="1318187" cy="12864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F6385FD9-DCAE-F6F0-95E6-C26B79A156DD}"/>
              </a:ext>
            </a:extLst>
          </p:cNvPr>
          <p:cNvSpPr/>
          <p:nvPr/>
        </p:nvSpPr>
        <p:spPr>
          <a:xfrm>
            <a:off x="10296116" y="5091138"/>
            <a:ext cx="1324384" cy="12864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E886F0-AAF5-2907-FAF5-B22A74EE303B}"/>
              </a:ext>
            </a:extLst>
          </p:cNvPr>
          <p:cNvSpPr/>
          <p:nvPr/>
        </p:nvSpPr>
        <p:spPr>
          <a:xfrm>
            <a:off x="6809321" y="3431031"/>
            <a:ext cx="446806" cy="802138"/>
          </a:xfrm>
          <a:prstGeom prst="rect">
            <a:avLst/>
          </a:prstGeom>
          <a:solidFill>
            <a:schemeClr val="accent1">
              <a:lumMod val="60000"/>
              <a:lumOff val="4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F239DD-0AD5-A0D6-E983-2D432620FD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54</a:t>
            </a:fld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0E21235-DDFE-A2FA-23FE-65FD64BA5EA6}"/>
              </a:ext>
            </a:extLst>
          </p:cNvPr>
          <p:cNvGrpSpPr/>
          <p:nvPr/>
        </p:nvGrpSpPr>
        <p:grpSpPr>
          <a:xfrm>
            <a:off x="-50001" y="1285369"/>
            <a:ext cx="3245277" cy="3461698"/>
            <a:chOff x="7618419" y="2226707"/>
            <a:chExt cx="3964121" cy="4101041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7ACA95B-0A8B-C8C3-3959-BCE20A62B86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618419" y="2226707"/>
              <a:ext cx="3964121" cy="3875257"/>
              <a:chOff x="355428" y="1491371"/>
              <a:chExt cx="3964121" cy="3875257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D05D0D52-DF8E-9024-8F05-F691E05E3019}"/>
                  </a:ext>
                </a:extLst>
              </p:cNvPr>
              <p:cNvGrpSpPr/>
              <p:nvPr/>
            </p:nvGrpSpPr>
            <p:grpSpPr>
              <a:xfrm>
                <a:off x="355428" y="1491371"/>
                <a:ext cx="2786969" cy="3875257"/>
                <a:chOff x="3993238" y="1314984"/>
                <a:chExt cx="3247485" cy="4523277"/>
              </a:xfrm>
            </p:grpSpPr>
            <p:pic>
              <p:nvPicPr>
                <p:cNvPr id="37" name="Picture 36" descr="Diagram&#10;&#10;Description automatically generated">
                  <a:extLst>
                    <a:ext uri="{FF2B5EF4-FFF2-40B4-BE49-F238E27FC236}">
                      <a16:creationId xmlns:a16="http://schemas.microsoft.com/office/drawing/2014/main" id="{99FA38E8-7BE2-CFBD-3DAC-AB7DD9FFC8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/>
                <a:srcRect t="19578" b="22612"/>
                <a:stretch/>
              </p:blipFill>
              <p:spPr>
                <a:xfrm>
                  <a:off x="3993238" y="1314984"/>
                  <a:ext cx="3247485" cy="4405878"/>
                </a:xfrm>
                <a:prstGeom prst="rect">
                  <a:avLst/>
                </a:prstGeom>
                <a:solidFill>
                  <a:srgbClr val="174397"/>
                </a:solidFill>
              </p:spPr>
            </p:pic>
            <p:sp>
              <p:nvSpPr>
                <p:cNvPr id="38" name="Isosceles Triangle 26">
                  <a:extLst>
                    <a:ext uri="{FF2B5EF4-FFF2-40B4-BE49-F238E27FC236}">
                      <a16:creationId xmlns:a16="http://schemas.microsoft.com/office/drawing/2014/main" id="{37B8C617-22E8-83BD-D3EC-40F7F406AF71}"/>
                    </a:ext>
                  </a:extLst>
                </p:cNvPr>
                <p:cNvSpPr/>
                <p:nvPr/>
              </p:nvSpPr>
              <p:spPr>
                <a:xfrm>
                  <a:off x="4768850" y="5529828"/>
                  <a:ext cx="241300" cy="308433"/>
                </a:xfrm>
                <a:prstGeom prst="triangle">
                  <a:avLst/>
                </a:prstGeom>
                <a:solidFill>
                  <a:srgbClr val="FFFFFF"/>
                </a:solidFill>
                <a:ln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Arc 38">
                  <a:extLst>
                    <a:ext uri="{FF2B5EF4-FFF2-40B4-BE49-F238E27FC236}">
                      <a16:creationId xmlns:a16="http://schemas.microsoft.com/office/drawing/2014/main" id="{A3F468BC-4940-D31A-D327-13344E75FC6F}"/>
                    </a:ext>
                  </a:extLst>
                </p:cNvPr>
                <p:cNvSpPr/>
                <p:nvPr/>
              </p:nvSpPr>
              <p:spPr>
                <a:xfrm rot="11375767">
                  <a:off x="4487373" y="5019509"/>
                  <a:ext cx="1140613" cy="555500"/>
                </a:xfrm>
                <a:prstGeom prst="arc">
                  <a:avLst>
                    <a:gd name="adj1" fmla="val 16308053"/>
                    <a:gd name="adj2" fmla="val 18706611"/>
                  </a:avLst>
                </a:prstGeom>
                <a:solidFill>
                  <a:srgbClr val="174397"/>
                </a:solidFill>
                <a:ln w="25400">
                  <a:solidFill>
                    <a:srgbClr val="35BCC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34" name="Picture 33" descr="Diagram&#10;&#10;Description automatically generated">
                <a:extLst>
                  <a:ext uri="{FF2B5EF4-FFF2-40B4-BE49-F238E27FC236}">
                    <a16:creationId xmlns:a16="http://schemas.microsoft.com/office/drawing/2014/main" id="{5642B32B-3C88-FC5B-0D98-0165540ED33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62615" t="78192" b="4983"/>
              <a:stretch/>
            </p:blipFill>
            <p:spPr>
              <a:xfrm>
                <a:off x="2942862" y="1997255"/>
                <a:ext cx="1376687" cy="1453992"/>
              </a:xfrm>
              <a:prstGeom prst="rect">
                <a:avLst/>
              </a:prstGeom>
            </p:spPr>
          </p:pic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A1A32BE7-F5CA-A94B-2207-561A1AC674CC}"/>
                  </a:ext>
                </a:extLst>
              </p:cNvPr>
              <p:cNvSpPr/>
              <p:nvPr/>
            </p:nvSpPr>
            <p:spPr>
              <a:xfrm>
                <a:off x="3089137" y="3074503"/>
                <a:ext cx="1084139" cy="37674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9ADC9664-FA9A-ECE0-7154-826705D46AFC}"/>
                </a:ext>
              </a:extLst>
            </p:cNvPr>
            <p:cNvGrpSpPr/>
            <p:nvPr/>
          </p:nvGrpSpPr>
          <p:grpSpPr>
            <a:xfrm>
              <a:off x="7658719" y="5495908"/>
              <a:ext cx="2842504" cy="831840"/>
              <a:chOff x="7658719" y="5495908"/>
              <a:chExt cx="2842504" cy="831840"/>
            </a:xfrm>
          </p:grpSpPr>
          <p:pic>
            <p:nvPicPr>
              <p:cNvPr id="31" name="Picture 30" descr="Diagram&#10;&#10;Description automatically generated">
                <a:extLst>
                  <a:ext uri="{FF2B5EF4-FFF2-40B4-BE49-F238E27FC236}">
                    <a16:creationId xmlns:a16="http://schemas.microsoft.com/office/drawing/2014/main" id="{B2505983-6AC3-F13A-F0E0-0F14359B9DC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/>
              <a:srcRect t="95209" r="17855" b="295"/>
              <a:stretch/>
            </p:blipFill>
            <p:spPr>
              <a:xfrm>
                <a:off x="7658719" y="5962623"/>
                <a:ext cx="2842504" cy="365125"/>
              </a:xfrm>
              <a:prstGeom prst="rect">
                <a:avLst/>
              </a:prstGeom>
            </p:spPr>
          </p:pic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B59B8C72-FC6A-C705-698A-5CE4FD3A453A}"/>
                  </a:ext>
                </a:extLst>
              </p:cNvPr>
              <p:cNvSpPr/>
              <p:nvPr/>
            </p:nvSpPr>
            <p:spPr>
              <a:xfrm rot="454666">
                <a:off x="7759288" y="5495908"/>
                <a:ext cx="1652985" cy="460324"/>
              </a:xfrm>
              <a:prstGeom prst="ellipse">
                <a:avLst/>
              </a:prstGeom>
              <a:noFill/>
              <a:ln w="381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1E89A7B-8C4D-EE55-C3D9-CE2AB82FF619}"/>
              </a:ext>
            </a:extLst>
          </p:cNvPr>
          <p:cNvGrpSpPr/>
          <p:nvPr/>
        </p:nvGrpSpPr>
        <p:grpSpPr>
          <a:xfrm>
            <a:off x="26027" y="5028876"/>
            <a:ext cx="1951061" cy="1368984"/>
            <a:chOff x="9353191" y="5209403"/>
            <a:chExt cx="2339891" cy="1610949"/>
          </a:xfrm>
        </p:grpSpPr>
        <p:pic>
          <p:nvPicPr>
            <p:cNvPr id="41" name="Picture 2" descr="Image result for membrane advantages">
              <a:extLst>
                <a:ext uri="{FF2B5EF4-FFF2-40B4-BE49-F238E27FC236}">
                  <a16:creationId xmlns:a16="http://schemas.microsoft.com/office/drawing/2014/main" id="{3E9C82D1-0BE0-6449-3E41-E03D2CEFE01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360" t="3042" r="13883" b="7989"/>
            <a:stretch/>
          </p:blipFill>
          <p:spPr bwMode="auto">
            <a:xfrm>
              <a:off x="10422831" y="5209403"/>
              <a:ext cx="1270251" cy="16026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2" descr="Image result for membrane advantages">
              <a:extLst>
                <a:ext uri="{FF2B5EF4-FFF2-40B4-BE49-F238E27FC236}">
                  <a16:creationId xmlns:a16="http://schemas.microsoft.com/office/drawing/2014/main" id="{1BCA2A34-9F6A-FBC4-D8BB-3CA0CCA304E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892" t="3042" r="54352" b="7989"/>
            <a:stretch/>
          </p:blipFill>
          <p:spPr bwMode="auto">
            <a:xfrm>
              <a:off x="9353191" y="5217732"/>
              <a:ext cx="1270251" cy="16026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E7FEF87-E48E-1AAF-0F32-79C5B1396781}"/>
              </a:ext>
            </a:extLst>
          </p:cNvPr>
          <p:cNvGrpSpPr/>
          <p:nvPr/>
        </p:nvGrpSpPr>
        <p:grpSpPr>
          <a:xfrm>
            <a:off x="8382120" y="956323"/>
            <a:ext cx="3467977" cy="920427"/>
            <a:chOff x="7865041" y="1068062"/>
            <a:chExt cx="3467977" cy="92042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443200E-88C1-F89C-BB57-35AB024494A0}"/>
                </a:ext>
              </a:extLst>
            </p:cNvPr>
            <p:cNvGrpSpPr/>
            <p:nvPr/>
          </p:nvGrpSpPr>
          <p:grpSpPr>
            <a:xfrm>
              <a:off x="7865041" y="1068062"/>
              <a:ext cx="2743363" cy="916355"/>
              <a:chOff x="9152730" y="390410"/>
              <a:chExt cx="2743363" cy="916355"/>
            </a:xfrm>
          </p:grpSpPr>
          <p:pic>
            <p:nvPicPr>
              <p:cNvPr id="4" name="Picture 5" descr="A person smiling for the camera&#10;&#10;Description automatically generated">
                <a:extLst>
                  <a:ext uri="{FF2B5EF4-FFF2-40B4-BE49-F238E27FC236}">
                    <a16:creationId xmlns:a16="http://schemas.microsoft.com/office/drawing/2014/main" id="{A7DAD213-CFE1-9449-05E9-F562A9CB922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42" t="47" r="541" b="11108"/>
              <a:stretch/>
            </p:blipFill>
            <p:spPr bwMode="auto">
              <a:xfrm>
                <a:off x="9152730" y="392365"/>
                <a:ext cx="914400" cy="914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6" name="Picture 2" descr="Faraj Al-Badani">
                <a:extLst>
                  <a:ext uri="{FF2B5EF4-FFF2-40B4-BE49-F238E27FC236}">
                    <a16:creationId xmlns:a16="http://schemas.microsoft.com/office/drawing/2014/main" id="{1BA1113F-981D-5D40-5118-7169919CEF2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67293" y="392365"/>
                <a:ext cx="914400" cy="914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8" name="Picture 4" descr="Speakers // NDnano // University of Notre Dame">
                <a:extLst>
                  <a:ext uri="{FF2B5EF4-FFF2-40B4-BE49-F238E27FC236}">
                    <a16:creationId xmlns:a16="http://schemas.microsoft.com/office/drawing/2014/main" id="{E397CF7D-F0DE-B2C8-1273-EA4DE6D07D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8" b="24951"/>
              <a:stretch/>
            </p:blipFill>
            <p:spPr bwMode="auto">
              <a:xfrm>
                <a:off x="10981693" y="390410"/>
                <a:ext cx="914400" cy="914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1" name="Picture 4" descr="A person wearing a suit and tie smiling at the camera&#10;&#10;Description automatically generated">
              <a:extLst>
                <a:ext uri="{FF2B5EF4-FFF2-40B4-BE49-F238E27FC236}">
                  <a16:creationId xmlns:a16="http://schemas.microsoft.com/office/drawing/2014/main" id="{A0A71264-A4AC-47ED-A6BA-C5B2646C10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99200" y="1071216"/>
              <a:ext cx="733818" cy="9172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85441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" dur="3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6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6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9" dur="3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7" dur="3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6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repeatCount="5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4" dur="3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" grpId="0" animBg="1"/>
      <p:bldP spid="219" grpId="0" animBg="1"/>
      <p:bldP spid="220" grpId="0" animBg="1"/>
      <p:bldP spid="221" grpId="0" animBg="1"/>
      <p:bldP spid="222" grpId="0" animBg="1"/>
      <p:bldP spid="223" grpId="0" animBg="1"/>
      <p:bldP spid="226" grpId="0" animBg="1"/>
      <p:bldP spid="227" grpId="0" animBg="1"/>
      <p:bldP spid="228" grpId="0" animBg="1"/>
      <p:bldP spid="230" grpId="0" animBg="1"/>
      <p:bldP spid="231" grpId="0" animBg="1"/>
      <p:bldP spid="232" grpId="0" animBg="1"/>
      <p:bldP spid="233" grpId="0" animBg="1"/>
      <p:bldP spid="234" grpId="0" animBg="1"/>
      <p:bldP spid="235" grpId="0" animBg="1"/>
      <p:bldP spid="236" grpId="0" animBg="1"/>
      <p:bldP spid="238" grpId="0" animBg="1"/>
      <p:bldP spid="239" grpId="0" animBg="1"/>
      <p:bldP spid="256" grpId="0" animBg="1"/>
      <p:bldP spid="267" grpId="0" animBg="1"/>
      <p:bldP spid="268" grpId="0" animBg="1"/>
      <p:bldP spid="269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C1E40-D19D-8EF1-CF32-BB9607DBF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roup 215">
            <a:extLst>
              <a:ext uri="{FF2B5EF4-FFF2-40B4-BE49-F238E27FC236}">
                <a16:creationId xmlns:a16="http://schemas.microsoft.com/office/drawing/2014/main" id="{286B957D-31C5-95D4-1293-A022B0A56314}"/>
              </a:ext>
            </a:extLst>
          </p:cNvPr>
          <p:cNvGrpSpPr/>
          <p:nvPr/>
        </p:nvGrpSpPr>
        <p:grpSpPr>
          <a:xfrm>
            <a:off x="671086" y="703493"/>
            <a:ext cx="11102699" cy="4192227"/>
            <a:chOff x="351046" y="691993"/>
            <a:chExt cx="11520630" cy="4350032"/>
          </a:xfrm>
        </p:grpSpPr>
        <p:pic>
          <p:nvPicPr>
            <p:cNvPr id="2" name="Picture 1" descr="A blueprint of a machine&#10;&#10;Description automatically generated">
              <a:extLst>
                <a:ext uri="{FF2B5EF4-FFF2-40B4-BE49-F238E27FC236}">
                  <a16:creationId xmlns:a16="http://schemas.microsoft.com/office/drawing/2014/main" id="{C2A50234-A54C-AE34-917F-95A171F84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4489" y="2610942"/>
              <a:ext cx="1614426" cy="2190915"/>
            </a:xfrm>
            <a:prstGeom prst="rect">
              <a:avLst/>
            </a:prstGeom>
          </p:spPr>
        </p:pic>
        <p:sp>
          <p:nvSpPr>
            <p:cNvPr id="158" name="Rectangle: Rounded Corners 157">
              <a:extLst>
                <a:ext uri="{FF2B5EF4-FFF2-40B4-BE49-F238E27FC236}">
                  <a16:creationId xmlns:a16="http://schemas.microsoft.com/office/drawing/2014/main" id="{FB07F1AC-41C5-ADDD-834B-843F7C90C710}"/>
                </a:ext>
              </a:extLst>
            </p:cNvPr>
            <p:cNvSpPr/>
            <p:nvPr/>
          </p:nvSpPr>
          <p:spPr>
            <a:xfrm>
              <a:off x="6228264" y="2164920"/>
              <a:ext cx="90000" cy="1963531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1" name="Rectangle: Rounded Corners 150">
              <a:extLst>
                <a:ext uri="{FF2B5EF4-FFF2-40B4-BE49-F238E27FC236}">
                  <a16:creationId xmlns:a16="http://schemas.microsoft.com/office/drawing/2014/main" id="{9431B010-048F-1B32-C337-EC658A9C7656}"/>
                </a:ext>
              </a:extLst>
            </p:cNvPr>
            <p:cNvSpPr/>
            <p:nvPr/>
          </p:nvSpPr>
          <p:spPr>
            <a:xfrm>
              <a:off x="4196303" y="2878505"/>
              <a:ext cx="705532" cy="90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0" name="Rectangle: Rounded Corners 149">
              <a:extLst>
                <a:ext uri="{FF2B5EF4-FFF2-40B4-BE49-F238E27FC236}">
                  <a16:creationId xmlns:a16="http://schemas.microsoft.com/office/drawing/2014/main" id="{10884B27-BAE4-A935-6830-6068F6B6D9BA}"/>
                </a:ext>
              </a:extLst>
            </p:cNvPr>
            <p:cNvSpPr/>
            <p:nvPr/>
          </p:nvSpPr>
          <p:spPr>
            <a:xfrm>
              <a:off x="4196303" y="1173490"/>
              <a:ext cx="90000" cy="1793179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pic>
          <p:nvPicPr>
            <p:cNvPr id="101" name="Picture 100" descr="A blue cylinder with towers&#10;&#10;Description automatically generated with medium confidence">
              <a:extLst>
                <a:ext uri="{FF2B5EF4-FFF2-40B4-BE49-F238E27FC236}">
                  <a16:creationId xmlns:a16="http://schemas.microsoft.com/office/drawing/2014/main" id="{4843C39D-E816-6983-6986-4809E61C51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40739" y="1908960"/>
              <a:ext cx="2131187" cy="2896803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9ADB7EF-F8A0-809C-0CB6-97610051F9AA}"/>
                </a:ext>
              </a:extLst>
            </p:cNvPr>
            <p:cNvSpPr txBox="1"/>
            <p:nvPr/>
          </p:nvSpPr>
          <p:spPr>
            <a:xfrm>
              <a:off x="3875623" y="4557521"/>
              <a:ext cx="11985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Membrane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9E763E2F-3AC2-1166-EFCD-D0B2AE615ABA}"/>
                </a:ext>
              </a:extLst>
            </p:cNvPr>
            <p:cNvSpPr txBox="1"/>
            <p:nvPr/>
          </p:nvSpPr>
          <p:spPr>
            <a:xfrm>
              <a:off x="3940016" y="3819550"/>
              <a:ext cx="1119409" cy="606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Retentate Probe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67FFA3E2-08BF-2E79-01AB-077D808E173A}"/>
                </a:ext>
              </a:extLst>
            </p:cNvPr>
            <p:cNvSpPr/>
            <p:nvPr/>
          </p:nvSpPr>
          <p:spPr>
            <a:xfrm>
              <a:off x="5287300" y="4196163"/>
              <a:ext cx="671898" cy="4571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263382BB-F155-49BE-68D3-E7164443656B}"/>
                </a:ext>
              </a:extLst>
            </p:cNvPr>
            <p:cNvSpPr/>
            <p:nvPr/>
          </p:nvSpPr>
          <p:spPr>
            <a:xfrm>
              <a:off x="6068295" y="4393710"/>
              <a:ext cx="203743" cy="4571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10E568BF-656A-6DCC-CE27-171A9BF7EF38}"/>
                </a:ext>
              </a:extLst>
            </p:cNvPr>
            <p:cNvSpPr txBox="1"/>
            <p:nvPr/>
          </p:nvSpPr>
          <p:spPr>
            <a:xfrm>
              <a:off x="5822993" y="4703471"/>
              <a:ext cx="20406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Permeate Probe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4623B968-5784-FC13-983B-39ADAD93B3B2}"/>
                </a:ext>
              </a:extLst>
            </p:cNvPr>
            <p:cNvCxnSpPr>
              <a:cxnSpLocks/>
            </p:cNvCxnSpPr>
            <p:nvPr/>
          </p:nvCxnSpPr>
          <p:spPr>
            <a:xfrm>
              <a:off x="6203914" y="4500246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6" name="Picture 105" descr="A drawing of a machine&#10;&#10;Description automatically generated">
              <a:extLst>
                <a:ext uri="{FF2B5EF4-FFF2-40B4-BE49-F238E27FC236}">
                  <a16:creationId xmlns:a16="http://schemas.microsoft.com/office/drawing/2014/main" id="{71FD50E6-5624-3595-A09B-456A16DCE3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25591" y="2514337"/>
              <a:ext cx="2697986" cy="2175340"/>
            </a:xfrm>
            <a:prstGeom prst="rect">
              <a:avLst/>
            </a:prstGeom>
          </p:spPr>
        </p:pic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CBF05CF-A475-F6C4-38AF-A5FB2508E229}"/>
                </a:ext>
              </a:extLst>
            </p:cNvPr>
            <p:cNvCxnSpPr>
              <a:cxnSpLocks/>
            </p:cNvCxnSpPr>
            <p:nvPr/>
          </p:nvCxnSpPr>
          <p:spPr>
            <a:xfrm>
              <a:off x="9501238" y="3551928"/>
              <a:ext cx="842186" cy="169277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A289AFA-0A44-ABED-A4CD-EEC170016D21}"/>
                </a:ext>
              </a:extLst>
            </p:cNvPr>
            <p:cNvSpPr txBox="1"/>
            <p:nvPr/>
          </p:nvSpPr>
          <p:spPr>
            <a:xfrm>
              <a:off x="10087001" y="2710146"/>
              <a:ext cx="17846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Scintillation Vials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E7FD3F03-8746-5FC4-4E81-BAA8F94E0276}"/>
                </a:ext>
              </a:extLst>
            </p:cNvPr>
            <p:cNvSpPr txBox="1"/>
            <p:nvPr/>
          </p:nvSpPr>
          <p:spPr>
            <a:xfrm>
              <a:off x="10197511" y="3568617"/>
              <a:ext cx="107231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Motor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194BED18-A6C8-C1B7-6D05-66433732213F}"/>
                </a:ext>
              </a:extLst>
            </p:cNvPr>
            <p:cNvSpPr txBox="1"/>
            <p:nvPr/>
          </p:nvSpPr>
          <p:spPr>
            <a:xfrm>
              <a:off x="7574835" y="4224433"/>
              <a:ext cx="24190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Balance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37B62AC8-6F2D-71F5-3517-CCDAE5B779A0}"/>
                </a:ext>
              </a:extLst>
            </p:cNvPr>
            <p:cNvCxnSpPr>
              <a:cxnSpLocks/>
            </p:cNvCxnSpPr>
            <p:nvPr/>
          </p:nvCxnSpPr>
          <p:spPr>
            <a:xfrm>
              <a:off x="9290017" y="2670620"/>
              <a:ext cx="833560" cy="174187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BC93847D-77A4-2BFC-EF5F-C04ACCC06735}"/>
                </a:ext>
              </a:extLst>
            </p:cNvPr>
            <p:cNvSpPr txBox="1"/>
            <p:nvPr/>
          </p:nvSpPr>
          <p:spPr>
            <a:xfrm>
              <a:off x="722393" y="1424391"/>
              <a:ext cx="1052202" cy="606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Pressure Gauge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5CF227A5-6C31-CDCA-432A-0482CEE97910}"/>
                </a:ext>
              </a:extLst>
            </p:cNvPr>
            <p:cNvSpPr/>
            <p:nvPr/>
          </p:nvSpPr>
          <p:spPr>
            <a:xfrm>
              <a:off x="2232898" y="3429001"/>
              <a:ext cx="1373917" cy="1084262"/>
            </a:xfrm>
            <a:prstGeom prst="rect">
              <a:avLst/>
            </a:prstGeom>
            <a:solidFill>
              <a:schemeClr val="accent1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7" name="Rectangle: Rounded Corners 146">
              <a:extLst>
                <a:ext uri="{FF2B5EF4-FFF2-40B4-BE49-F238E27FC236}">
                  <a16:creationId xmlns:a16="http://schemas.microsoft.com/office/drawing/2014/main" id="{2FD7994E-F52D-B2D1-CB8C-425DC657B08B}"/>
                </a:ext>
              </a:extLst>
            </p:cNvPr>
            <p:cNvSpPr/>
            <p:nvPr/>
          </p:nvSpPr>
          <p:spPr>
            <a:xfrm>
              <a:off x="3367372" y="1173491"/>
              <a:ext cx="90000" cy="825469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8" name="Rectangle: Rounded Corners 147">
              <a:extLst>
                <a:ext uri="{FF2B5EF4-FFF2-40B4-BE49-F238E27FC236}">
                  <a16:creationId xmlns:a16="http://schemas.microsoft.com/office/drawing/2014/main" id="{FBD9A5EC-E785-CDAA-E80C-F2E9D760A49B}"/>
                </a:ext>
              </a:extLst>
            </p:cNvPr>
            <p:cNvSpPr/>
            <p:nvPr/>
          </p:nvSpPr>
          <p:spPr>
            <a:xfrm>
              <a:off x="3367372" y="1173490"/>
              <a:ext cx="885398" cy="92868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6" name="Rectangle: Rounded Corners 145">
              <a:extLst>
                <a:ext uri="{FF2B5EF4-FFF2-40B4-BE49-F238E27FC236}">
                  <a16:creationId xmlns:a16="http://schemas.microsoft.com/office/drawing/2014/main" id="{67A38F39-CB22-E8D5-6504-BEE034BEBF54}"/>
                </a:ext>
              </a:extLst>
            </p:cNvPr>
            <p:cNvSpPr/>
            <p:nvPr/>
          </p:nvSpPr>
          <p:spPr>
            <a:xfrm>
              <a:off x="3387601" y="1194524"/>
              <a:ext cx="49912" cy="808068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9" name="Rectangle: Rounded Corners 148">
              <a:extLst>
                <a:ext uri="{FF2B5EF4-FFF2-40B4-BE49-F238E27FC236}">
                  <a16:creationId xmlns:a16="http://schemas.microsoft.com/office/drawing/2014/main" id="{67136A25-C3A9-A726-375E-697F355E9467}"/>
                </a:ext>
              </a:extLst>
            </p:cNvPr>
            <p:cNvSpPr/>
            <p:nvPr/>
          </p:nvSpPr>
          <p:spPr>
            <a:xfrm>
              <a:off x="3410643" y="1194523"/>
              <a:ext cx="853037" cy="50400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2" name="Rectangle: Rounded Corners 151">
              <a:extLst>
                <a:ext uri="{FF2B5EF4-FFF2-40B4-BE49-F238E27FC236}">
                  <a16:creationId xmlns:a16="http://schemas.microsoft.com/office/drawing/2014/main" id="{B6221993-AE54-DB99-163F-C896E087175A}"/>
                </a:ext>
              </a:extLst>
            </p:cNvPr>
            <p:cNvSpPr/>
            <p:nvPr/>
          </p:nvSpPr>
          <p:spPr>
            <a:xfrm>
              <a:off x="4222073" y="2899655"/>
              <a:ext cx="679826" cy="50400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3" name="Rectangle: Rounded Corners 152">
              <a:extLst>
                <a:ext uri="{FF2B5EF4-FFF2-40B4-BE49-F238E27FC236}">
                  <a16:creationId xmlns:a16="http://schemas.microsoft.com/office/drawing/2014/main" id="{5461B168-76C7-4998-88BB-8738A9B60554}"/>
                </a:ext>
              </a:extLst>
            </p:cNvPr>
            <p:cNvSpPr/>
            <p:nvPr/>
          </p:nvSpPr>
          <p:spPr>
            <a:xfrm>
              <a:off x="4215027" y="1194523"/>
              <a:ext cx="54000" cy="1750851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4" name="Rectangle: Rounded Corners 153">
              <a:extLst>
                <a:ext uri="{FF2B5EF4-FFF2-40B4-BE49-F238E27FC236}">
                  <a16:creationId xmlns:a16="http://schemas.microsoft.com/office/drawing/2014/main" id="{EEF96D0D-224E-21E3-6BD9-7BD912C2EFA0}"/>
                </a:ext>
              </a:extLst>
            </p:cNvPr>
            <p:cNvSpPr/>
            <p:nvPr/>
          </p:nvSpPr>
          <p:spPr>
            <a:xfrm>
              <a:off x="8459937" y="2167329"/>
              <a:ext cx="90000" cy="388005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5" name="Rectangle: Rounded Corners 154">
              <a:extLst>
                <a:ext uri="{FF2B5EF4-FFF2-40B4-BE49-F238E27FC236}">
                  <a16:creationId xmlns:a16="http://schemas.microsoft.com/office/drawing/2014/main" id="{6708494A-C236-A218-1FBB-300B178E05D5}"/>
                </a:ext>
              </a:extLst>
            </p:cNvPr>
            <p:cNvSpPr/>
            <p:nvPr/>
          </p:nvSpPr>
          <p:spPr>
            <a:xfrm>
              <a:off x="6272038" y="2164921"/>
              <a:ext cx="2277899" cy="90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6" name="Rectangle: Rounded Corners 155">
              <a:extLst>
                <a:ext uri="{FF2B5EF4-FFF2-40B4-BE49-F238E27FC236}">
                  <a16:creationId xmlns:a16="http://schemas.microsoft.com/office/drawing/2014/main" id="{C49CF15C-442F-A564-82C7-E3BC0561D829}"/>
                </a:ext>
              </a:extLst>
            </p:cNvPr>
            <p:cNvSpPr/>
            <p:nvPr/>
          </p:nvSpPr>
          <p:spPr>
            <a:xfrm>
              <a:off x="8480166" y="2189480"/>
              <a:ext cx="45719" cy="369486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7" name="Rectangle: Rounded Corners 156">
              <a:extLst>
                <a:ext uri="{FF2B5EF4-FFF2-40B4-BE49-F238E27FC236}">
                  <a16:creationId xmlns:a16="http://schemas.microsoft.com/office/drawing/2014/main" id="{426D0A4D-5566-2C46-6921-038015C32D45}"/>
                </a:ext>
              </a:extLst>
            </p:cNvPr>
            <p:cNvSpPr/>
            <p:nvPr/>
          </p:nvSpPr>
          <p:spPr>
            <a:xfrm>
              <a:off x="6272038" y="2185499"/>
              <a:ext cx="2253847" cy="50400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9" name="Rectangle: Rounded Corners 158">
              <a:extLst>
                <a:ext uri="{FF2B5EF4-FFF2-40B4-BE49-F238E27FC236}">
                  <a16:creationId xmlns:a16="http://schemas.microsoft.com/office/drawing/2014/main" id="{8ACC2E2A-D261-730C-BF28-ADBD5F0BF385}"/>
                </a:ext>
              </a:extLst>
            </p:cNvPr>
            <p:cNvSpPr/>
            <p:nvPr/>
          </p:nvSpPr>
          <p:spPr>
            <a:xfrm>
              <a:off x="6247184" y="2185499"/>
              <a:ext cx="50400" cy="1942952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0" name="Rectangle: Rounded Corners 159">
              <a:extLst>
                <a:ext uri="{FF2B5EF4-FFF2-40B4-BE49-F238E27FC236}">
                  <a16:creationId xmlns:a16="http://schemas.microsoft.com/office/drawing/2014/main" id="{F0F0AC46-F2B4-1C4C-5BD2-0F69373BA36B}"/>
                </a:ext>
              </a:extLst>
            </p:cNvPr>
            <p:cNvSpPr/>
            <p:nvPr/>
          </p:nvSpPr>
          <p:spPr>
            <a:xfrm>
              <a:off x="2875122" y="818985"/>
              <a:ext cx="90000" cy="1176344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1" name="Rectangle: Rounded Corners 160">
              <a:extLst>
                <a:ext uri="{FF2B5EF4-FFF2-40B4-BE49-F238E27FC236}">
                  <a16:creationId xmlns:a16="http://schemas.microsoft.com/office/drawing/2014/main" id="{FD1FA9B3-AB7C-87B5-1CDD-1BB2A0244AC1}"/>
                </a:ext>
              </a:extLst>
            </p:cNvPr>
            <p:cNvSpPr/>
            <p:nvPr/>
          </p:nvSpPr>
          <p:spPr>
            <a:xfrm>
              <a:off x="2895351" y="847413"/>
              <a:ext cx="49912" cy="1151547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BCAC9A30-C614-2313-5772-3505896E707C}"/>
                </a:ext>
              </a:extLst>
            </p:cNvPr>
            <p:cNvGrpSpPr/>
            <p:nvPr/>
          </p:nvGrpSpPr>
          <p:grpSpPr>
            <a:xfrm rot="5400000">
              <a:off x="1206418" y="803173"/>
              <a:ext cx="896308" cy="1636943"/>
              <a:chOff x="2408016" y="1071443"/>
              <a:chExt cx="896308" cy="1636943"/>
            </a:xfrm>
          </p:grpSpPr>
          <p:sp>
            <p:nvSpPr>
              <p:cNvPr id="162" name="Rectangle: Rounded Corners 161">
                <a:extLst>
                  <a:ext uri="{FF2B5EF4-FFF2-40B4-BE49-F238E27FC236}">
                    <a16:creationId xmlns:a16="http://schemas.microsoft.com/office/drawing/2014/main" id="{FF5D88AD-8BCD-7C39-FD02-61FA818FBB1F}"/>
                  </a:ext>
                </a:extLst>
              </p:cNvPr>
              <p:cNvSpPr/>
              <p:nvPr/>
            </p:nvSpPr>
            <p:spPr>
              <a:xfrm>
                <a:off x="2408017" y="1071443"/>
                <a:ext cx="90000" cy="1636943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3" name="Rectangle: Rounded Corners 162">
                <a:extLst>
                  <a:ext uri="{FF2B5EF4-FFF2-40B4-BE49-F238E27FC236}">
                    <a16:creationId xmlns:a16="http://schemas.microsoft.com/office/drawing/2014/main" id="{EA3883E9-35EF-A1CA-21E0-11A087A6BF01}"/>
                  </a:ext>
                </a:extLst>
              </p:cNvPr>
              <p:cNvSpPr/>
              <p:nvPr/>
            </p:nvSpPr>
            <p:spPr>
              <a:xfrm>
                <a:off x="2408016" y="1071443"/>
                <a:ext cx="885398" cy="92868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4" name="Rectangle: Rounded Corners 163">
                <a:extLst>
                  <a:ext uri="{FF2B5EF4-FFF2-40B4-BE49-F238E27FC236}">
                    <a16:creationId xmlns:a16="http://schemas.microsoft.com/office/drawing/2014/main" id="{E43BECC2-68C9-F926-5BFC-88C892F44C5E}"/>
                  </a:ext>
                </a:extLst>
              </p:cNvPr>
              <p:cNvSpPr/>
              <p:nvPr/>
            </p:nvSpPr>
            <p:spPr>
              <a:xfrm>
                <a:off x="2428245" y="1092478"/>
                <a:ext cx="49912" cy="1602436"/>
              </a:xfrm>
              <a:prstGeom prst="roundRect">
                <a:avLst/>
              </a:prstGeom>
              <a:solidFill>
                <a:srgbClr val="C7CEE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5" name="Rectangle: Rounded Corners 164">
                <a:extLst>
                  <a:ext uri="{FF2B5EF4-FFF2-40B4-BE49-F238E27FC236}">
                    <a16:creationId xmlns:a16="http://schemas.microsoft.com/office/drawing/2014/main" id="{3050E3BD-FECD-58C9-A8E7-E1AE3F507E76}"/>
                  </a:ext>
                </a:extLst>
              </p:cNvPr>
              <p:cNvSpPr/>
              <p:nvPr/>
            </p:nvSpPr>
            <p:spPr>
              <a:xfrm>
                <a:off x="2451287" y="1092476"/>
                <a:ext cx="853037" cy="50400"/>
              </a:xfrm>
              <a:prstGeom prst="roundRect">
                <a:avLst/>
              </a:prstGeom>
              <a:solidFill>
                <a:srgbClr val="C7CEE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20" name="Flowchart: Connector 119">
              <a:extLst>
                <a:ext uri="{FF2B5EF4-FFF2-40B4-BE49-F238E27FC236}">
                  <a16:creationId xmlns:a16="http://schemas.microsoft.com/office/drawing/2014/main" id="{35D069FF-F9D3-7653-30E8-CEAA9885AEF6}"/>
                </a:ext>
              </a:extLst>
            </p:cNvPr>
            <p:cNvSpPr/>
            <p:nvPr/>
          </p:nvSpPr>
          <p:spPr>
            <a:xfrm>
              <a:off x="997942" y="1020217"/>
              <a:ext cx="455063" cy="43669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CDEDF4AF-BA85-3EDF-1696-EB9A3F7C89AD}"/>
                </a:ext>
              </a:extLst>
            </p:cNvPr>
            <p:cNvSpPr txBox="1"/>
            <p:nvPr/>
          </p:nvSpPr>
          <p:spPr>
            <a:xfrm>
              <a:off x="997942" y="1069287"/>
              <a:ext cx="45506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4DBCF2C7-4B66-29EF-A3D2-4C8698D65737}"/>
                </a:ext>
              </a:extLst>
            </p:cNvPr>
            <p:cNvSpPr txBox="1"/>
            <p:nvPr/>
          </p:nvSpPr>
          <p:spPr>
            <a:xfrm>
              <a:off x="351046" y="3146685"/>
              <a:ext cx="10976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Diafiltrate Tank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E630F384-6CD2-7D50-3E9E-A525019E36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13756" y="3284019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Isosceles Triangle 168">
              <a:extLst>
                <a:ext uri="{FF2B5EF4-FFF2-40B4-BE49-F238E27FC236}">
                  <a16:creationId xmlns:a16="http://schemas.microsoft.com/office/drawing/2014/main" id="{4310B538-094D-7E1A-6CB9-BDD90D2497FE}"/>
                </a:ext>
              </a:extLst>
            </p:cNvPr>
            <p:cNvSpPr/>
            <p:nvPr/>
          </p:nvSpPr>
          <p:spPr>
            <a:xfrm>
              <a:off x="2754042" y="1065670"/>
              <a:ext cx="332332" cy="279152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0" name="Isosceles Triangle 169">
              <a:extLst>
                <a:ext uri="{FF2B5EF4-FFF2-40B4-BE49-F238E27FC236}">
                  <a16:creationId xmlns:a16="http://schemas.microsoft.com/office/drawing/2014/main" id="{00491D5C-33AD-0618-F1C5-9A6E616C88B5}"/>
                </a:ext>
              </a:extLst>
            </p:cNvPr>
            <p:cNvSpPr/>
            <p:nvPr/>
          </p:nvSpPr>
          <p:spPr>
            <a:xfrm flipV="1">
              <a:off x="2754042" y="944752"/>
              <a:ext cx="332332" cy="279152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1" name="Isosceles Triangle 170">
              <a:extLst>
                <a:ext uri="{FF2B5EF4-FFF2-40B4-BE49-F238E27FC236}">
                  <a16:creationId xmlns:a16="http://schemas.microsoft.com/office/drawing/2014/main" id="{6AD2B78F-B354-39B2-B03B-A703D2040C4F}"/>
                </a:ext>
              </a:extLst>
            </p:cNvPr>
            <p:cNvSpPr/>
            <p:nvPr/>
          </p:nvSpPr>
          <p:spPr>
            <a:xfrm flipV="1">
              <a:off x="2821484" y="994767"/>
              <a:ext cx="196743" cy="16379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2" name="Isosceles Triangle 171">
              <a:extLst>
                <a:ext uri="{FF2B5EF4-FFF2-40B4-BE49-F238E27FC236}">
                  <a16:creationId xmlns:a16="http://schemas.microsoft.com/office/drawing/2014/main" id="{171E7432-9CF3-9FF2-0E2D-358692773FED}"/>
                </a:ext>
              </a:extLst>
            </p:cNvPr>
            <p:cNvSpPr/>
            <p:nvPr/>
          </p:nvSpPr>
          <p:spPr>
            <a:xfrm>
              <a:off x="2822675" y="1133739"/>
              <a:ext cx="196743" cy="16379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C1A5C9AE-EA89-55F0-108E-E0BC5BBD3969}"/>
                </a:ext>
              </a:extLst>
            </p:cNvPr>
            <p:cNvSpPr txBox="1"/>
            <p:nvPr/>
          </p:nvSpPr>
          <p:spPr>
            <a:xfrm>
              <a:off x="3406479" y="691993"/>
              <a:ext cx="26140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Pressure Relief Valve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AE6463B8-9AF8-7250-B80D-E8418BAA1C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80746" y="900618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5CA3C9F9-E502-EDB7-FB8C-CCD46797DC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69922" y="4283212"/>
              <a:ext cx="962540" cy="309349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526313AF-0FD6-ADA4-4404-139597EFB75E}"/>
                </a:ext>
              </a:extLst>
            </p:cNvPr>
            <p:cNvCxnSpPr>
              <a:cxnSpLocks/>
            </p:cNvCxnSpPr>
            <p:nvPr/>
          </p:nvCxnSpPr>
          <p:spPr>
            <a:xfrm>
              <a:off x="5409835" y="2966669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8A30ECD6-8B51-6DD5-60C9-B9AA19E36CF9}"/>
                </a:ext>
              </a:extLst>
            </p:cNvPr>
            <p:cNvCxnSpPr>
              <a:cxnSpLocks/>
            </p:cNvCxnSpPr>
            <p:nvPr/>
          </p:nvCxnSpPr>
          <p:spPr>
            <a:xfrm>
              <a:off x="5430711" y="2945374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60EB6BC9-C14F-4191-C275-6BE14423FA8A}"/>
                </a:ext>
              </a:extLst>
            </p:cNvPr>
            <p:cNvCxnSpPr>
              <a:cxnSpLocks/>
            </p:cNvCxnSpPr>
            <p:nvPr/>
          </p:nvCxnSpPr>
          <p:spPr>
            <a:xfrm>
              <a:off x="5449970" y="2923505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9499E5FE-8EB3-F877-31AA-04748B796836}"/>
                </a:ext>
              </a:extLst>
            </p:cNvPr>
            <p:cNvCxnSpPr>
              <a:cxnSpLocks/>
            </p:cNvCxnSpPr>
            <p:nvPr/>
          </p:nvCxnSpPr>
          <p:spPr>
            <a:xfrm>
              <a:off x="5472997" y="2911821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EF2B8942-915A-C957-0FB1-127B7F079145}"/>
                </a:ext>
              </a:extLst>
            </p:cNvPr>
            <p:cNvCxnSpPr>
              <a:cxnSpLocks/>
            </p:cNvCxnSpPr>
            <p:nvPr/>
          </p:nvCxnSpPr>
          <p:spPr>
            <a:xfrm>
              <a:off x="5495821" y="2889275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3F1FF70C-88C9-43B7-D951-A3FF3380F409}"/>
                </a:ext>
              </a:extLst>
            </p:cNvPr>
            <p:cNvCxnSpPr>
              <a:cxnSpLocks/>
            </p:cNvCxnSpPr>
            <p:nvPr/>
          </p:nvCxnSpPr>
          <p:spPr>
            <a:xfrm>
              <a:off x="5516924" y="2872851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1CD84BAD-B9DD-11F4-4D05-CF82F90539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1835" y="2966669"/>
              <a:ext cx="514352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C4F0B42B-09AB-05CF-5FFD-4ACD8BE64F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1835" y="2949771"/>
              <a:ext cx="533744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49136878-C84F-5891-49F1-632CCE4FAC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3423" y="2929857"/>
              <a:ext cx="548135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1B2B363B-56F1-2F57-7F93-536287D470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1835" y="2911821"/>
              <a:ext cx="576938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F1AEC248-83C7-8B8D-61F3-821E947FDB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3423" y="2890863"/>
              <a:ext cx="596829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DAE7393B-C093-EAE9-69A4-9398D69A3A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0247" y="2872482"/>
              <a:ext cx="622524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7977ED9-B245-0F38-E4F5-0E4404F3C7CD}"/>
                </a:ext>
              </a:extLst>
            </p:cNvPr>
            <p:cNvSpPr/>
            <p:nvPr/>
          </p:nvSpPr>
          <p:spPr>
            <a:xfrm>
              <a:off x="5354191" y="3423963"/>
              <a:ext cx="214188" cy="359089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8AAFBEA-E064-15C7-6BC1-FBEF6B82D868}"/>
                </a:ext>
              </a:extLst>
            </p:cNvPr>
            <p:cNvSpPr/>
            <p:nvPr/>
          </p:nvSpPr>
          <p:spPr>
            <a:xfrm>
              <a:off x="5371239" y="3581612"/>
              <a:ext cx="181842" cy="18217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60B0051-7F94-975D-E738-F379A77689EE}"/>
                </a:ext>
              </a:extLst>
            </p:cNvPr>
            <p:cNvSpPr/>
            <p:nvPr/>
          </p:nvSpPr>
          <p:spPr>
            <a:xfrm>
              <a:off x="5399544" y="3611175"/>
              <a:ext cx="124244" cy="12447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29F8759-A93B-7198-A567-564282117CBA}"/>
                </a:ext>
              </a:extLst>
            </p:cNvPr>
            <p:cNvSpPr/>
            <p:nvPr/>
          </p:nvSpPr>
          <p:spPr>
            <a:xfrm>
              <a:off x="5426708" y="3636614"/>
              <a:ext cx="72127" cy="7488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7DC82C0F-EC2F-AFE0-9582-7EAF848646DA}"/>
                </a:ext>
              </a:extLst>
            </p:cNvPr>
            <p:cNvSpPr txBox="1"/>
            <p:nvPr/>
          </p:nvSpPr>
          <p:spPr>
            <a:xfrm>
              <a:off x="4946188" y="1697015"/>
              <a:ext cx="10711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Stirred Cell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BA50067E-EA0A-3164-9215-94B8AB048BC9}"/>
                    </a:ext>
                  </a:extLst>
                </p:cNvPr>
                <p:cNvSpPr txBox="1"/>
                <p:nvPr/>
              </p:nvSpPr>
              <p:spPr>
                <a:xfrm rot="5400000">
                  <a:off x="5259573" y="1903138"/>
                  <a:ext cx="525742" cy="13285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kumimoji="0" lang="en-US" sz="5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kumimoji="0" lang="en-US" sz="5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</m:ctrlPr>
                              </m:eqArrPr>
                              <m:e>
                                <m:r>
                                  <a:rPr kumimoji="0" lang="en-US" sz="5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kumimoji="0" lang="en-US" sz="5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A0A5A728-B824-A225-9E3B-4532DE8DB3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259573" y="1903138"/>
                  <a:ext cx="525742" cy="1328569"/>
                </a:xfrm>
                <a:prstGeom prst="rect">
                  <a:avLst/>
                </a:prstGeom>
                <a:blipFill>
                  <a:blip r:embed="rId7"/>
                  <a:stretch>
                    <a:fillRect l="-476" t="-60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B5ADC348-53FD-321B-3A5F-37D11745B84A}"/>
                </a:ext>
              </a:extLst>
            </p:cNvPr>
            <p:cNvSpPr txBox="1"/>
            <p:nvPr/>
          </p:nvSpPr>
          <p:spPr>
            <a:xfrm>
              <a:off x="6366476" y="3332442"/>
              <a:ext cx="125368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Permeate Outlet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F3A27DEE-DFDA-6663-67BF-5C031522EA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58909" y="3892733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D5724325-AEBC-85D6-F7D1-B90B2A5DC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69922" y="3594985"/>
              <a:ext cx="754405" cy="233782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8" name="Arrow: Down 217">
            <a:extLst>
              <a:ext uri="{FF2B5EF4-FFF2-40B4-BE49-F238E27FC236}">
                <a16:creationId xmlns:a16="http://schemas.microsoft.com/office/drawing/2014/main" id="{958D1C08-D8AB-CB7D-2A5B-799E3B39512C}"/>
              </a:ext>
            </a:extLst>
          </p:cNvPr>
          <p:cNvSpPr/>
          <p:nvPr/>
        </p:nvSpPr>
        <p:spPr>
          <a:xfrm>
            <a:off x="2594105" y="1498270"/>
            <a:ext cx="168292" cy="41030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9" name="Arrow: Down 218">
            <a:extLst>
              <a:ext uri="{FF2B5EF4-FFF2-40B4-BE49-F238E27FC236}">
                <a16:creationId xmlns:a16="http://schemas.microsoft.com/office/drawing/2014/main" id="{094FFF5F-7787-9DC5-E060-D84279692497}"/>
              </a:ext>
            </a:extLst>
          </p:cNvPr>
          <p:cNvSpPr/>
          <p:nvPr/>
        </p:nvSpPr>
        <p:spPr>
          <a:xfrm>
            <a:off x="2652075" y="2900398"/>
            <a:ext cx="168292" cy="41030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0" name="Arrow: Down 219">
            <a:extLst>
              <a:ext uri="{FF2B5EF4-FFF2-40B4-BE49-F238E27FC236}">
                <a16:creationId xmlns:a16="http://schemas.microsoft.com/office/drawing/2014/main" id="{EBD71746-4665-7720-E72F-8461C35FCDFD}"/>
              </a:ext>
            </a:extLst>
          </p:cNvPr>
          <p:cNvSpPr/>
          <p:nvPr/>
        </p:nvSpPr>
        <p:spPr>
          <a:xfrm>
            <a:off x="2960486" y="2900398"/>
            <a:ext cx="168292" cy="41030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1" name="Arrow: Down 220">
            <a:extLst>
              <a:ext uri="{FF2B5EF4-FFF2-40B4-BE49-F238E27FC236}">
                <a16:creationId xmlns:a16="http://schemas.microsoft.com/office/drawing/2014/main" id="{41272857-C599-62B0-925D-9EF5269E05BD}"/>
              </a:ext>
            </a:extLst>
          </p:cNvPr>
          <p:cNvSpPr/>
          <p:nvPr/>
        </p:nvSpPr>
        <p:spPr>
          <a:xfrm>
            <a:off x="3268897" y="2900398"/>
            <a:ext cx="168292" cy="41030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2" name="Arrow: Down 221">
            <a:extLst>
              <a:ext uri="{FF2B5EF4-FFF2-40B4-BE49-F238E27FC236}">
                <a16:creationId xmlns:a16="http://schemas.microsoft.com/office/drawing/2014/main" id="{44D11F08-D5CB-F372-0B76-BA8CD107E351}"/>
              </a:ext>
            </a:extLst>
          </p:cNvPr>
          <p:cNvSpPr/>
          <p:nvPr/>
        </p:nvSpPr>
        <p:spPr>
          <a:xfrm rot="10800000">
            <a:off x="3531532" y="2466685"/>
            <a:ext cx="168292" cy="410303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3" name="Arrow: Down 222">
            <a:extLst>
              <a:ext uri="{FF2B5EF4-FFF2-40B4-BE49-F238E27FC236}">
                <a16:creationId xmlns:a16="http://schemas.microsoft.com/office/drawing/2014/main" id="{C9C3D980-085F-B677-E6AD-FC9009610F07}"/>
              </a:ext>
            </a:extLst>
          </p:cNvPr>
          <p:cNvSpPr/>
          <p:nvPr/>
        </p:nvSpPr>
        <p:spPr>
          <a:xfrm rot="10800000">
            <a:off x="3537097" y="1484817"/>
            <a:ext cx="168292" cy="410303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6" name="Teardrop 225">
            <a:extLst>
              <a:ext uri="{FF2B5EF4-FFF2-40B4-BE49-F238E27FC236}">
                <a16:creationId xmlns:a16="http://schemas.microsoft.com/office/drawing/2014/main" id="{DB686148-26A4-7A77-CB5A-FA8A383B876B}"/>
              </a:ext>
            </a:extLst>
          </p:cNvPr>
          <p:cNvSpPr/>
          <p:nvPr/>
        </p:nvSpPr>
        <p:spPr>
          <a:xfrm rot="18976205">
            <a:off x="4860462" y="2570382"/>
            <a:ext cx="138239" cy="144878"/>
          </a:xfrm>
          <a:prstGeom prst="teardrop">
            <a:avLst>
              <a:gd name="adj" fmla="val 143899"/>
            </a:avLst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7" name="Teardrop 226">
            <a:extLst>
              <a:ext uri="{FF2B5EF4-FFF2-40B4-BE49-F238E27FC236}">
                <a16:creationId xmlns:a16="http://schemas.microsoft.com/office/drawing/2014/main" id="{D7DFAAB3-603F-8D71-522B-83678AD0FDA4}"/>
              </a:ext>
            </a:extLst>
          </p:cNvPr>
          <p:cNvSpPr/>
          <p:nvPr/>
        </p:nvSpPr>
        <p:spPr>
          <a:xfrm rot="18976205">
            <a:off x="6462335" y="4181381"/>
            <a:ext cx="138239" cy="144878"/>
          </a:xfrm>
          <a:prstGeom prst="teardrop">
            <a:avLst>
              <a:gd name="adj" fmla="val 143899"/>
            </a:avLst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8" name="Arrow: Down 227">
            <a:extLst>
              <a:ext uri="{FF2B5EF4-FFF2-40B4-BE49-F238E27FC236}">
                <a16:creationId xmlns:a16="http://schemas.microsoft.com/office/drawing/2014/main" id="{8F8A2055-33BA-5467-DC16-853283DA4B95}"/>
              </a:ext>
            </a:extLst>
          </p:cNvPr>
          <p:cNvSpPr/>
          <p:nvPr/>
        </p:nvSpPr>
        <p:spPr>
          <a:xfrm>
            <a:off x="4338855" y="1781088"/>
            <a:ext cx="168292" cy="410303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0" name="Arrow: Down 229">
            <a:extLst>
              <a:ext uri="{FF2B5EF4-FFF2-40B4-BE49-F238E27FC236}">
                <a16:creationId xmlns:a16="http://schemas.microsoft.com/office/drawing/2014/main" id="{D92AAA46-6D26-D51C-2397-6401212083E0}"/>
              </a:ext>
            </a:extLst>
          </p:cNvPr>
          <p:cNvSpPr/>
          <p:nvPr/>
        </p:nvSpPr>
        <p:spPr>
          <a:xfrm rot="16200000">
            <a:off x="2150038" y="1002987"/>
            <a:ext cx="168292" cy="41030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1" name="Arrow: Down 230">
            <a:extLst>
              <a:ext uri="{FF2B5EF4-FFF2-40B4-BE49-F238E27FC236}">
                <a16:creationId xmlns:a16="http://schemas.microsoft.com/office/drawing/2014/main" id="{C07685A7-B169-99B5-F6C7-75A93A1BCC26}"/>
              </a:ext>
            </a:extLst>
          </p:cNvPr>
          <p:cNvSpPr/>
          <p:nvPr/>
        </p:nvSpPr>
        <p:spPr>
          <a:xfrm rot="16200000">
            <a:off x="3962414" y="1010956"/>
            <a:ext cx="168292" cy="410303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2" name="Arrow: Down 231">
            <a:extLst>
              <a:ext uri="{FF2B5EF4-FFF2-40B4-BE49-F238E27FC236}">
                <a16:creationId xmlns:a16="http://schemas.microsoft.com/office/drawing/2014/main" id="{EC10D7EB-885C-0929-DA8D-73269754D2A2}"/>
              </a:ext>
            </a:extLst>
          </p:cNvPr>
          <p:cNvSpPr/>
          <p:nvPr/>
        </p:nvSpPr>
        <p:spPr>
          <a:xfrm rot="16200000">
            <a:off x="4685371" y="2648900"/>
            <a:ext cx="168292" cy="410303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3" name="Arrow: Down 232">
            <a:extLst>
              <a:ext uri="{FF2B5EF4-FFF2-40B4-BE49-F238E27FC236}">
                <a16:creationId xmlns:a16="http://schemas.microsoft.com/office/drawing/2014/main" id="{B146A175-257F-F45D-6984-43A0DECBCD59}"/>
              </a:ext>
            </a:extLst>
          </p:cNvPr>
          <p:cNvSpPr/>
          <p:nvPr/>
        </p:nvSpPr>
        <p:spPr>
          <a:xfrm rot="10800000">
            <a:off x="6291569" y="3250938"/>
            <a:ext cx="168292" cy="410303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4" name="Arrow: Down 233">
            <a:extLst>
              <a:ext uri="{FF2B5EF4-FFF2-40B4-BE49-F238E27FC236}">
                <a16:creationId xmlns:a16="http://schemas.microsoft.com/office/drawing/2014/main" id="{8FD4ECCA-E0C2-5FA3-EA35-2D7A3CEFAA30}"/>
              </a:ext>
            </a:extLst>
          </p:cNvPr>
          <p:cNvSpPr/>
          <p:nvPr/>
        </p:nvSpPr>
        <p:spPr>
          <a:xfrm rot="10800000">
            <a:off x="6299135" y="2505798"/>
            <a:ext cx="168292" cy="410303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5" name="Arrow: Down 234">
            <a:extLst>
              <a:ext uri="{FF2B5EF4-FFF2-40B4-BE49-F238E27FC236}">
                <a16:creationId xmlns:a16="http://schemas.microsoft.com/office/drawing/2014/main" id="{272C4597-4148-8048-55AF-F1FA47DE927F}"/>
              </a:ext>
            </a:extLst>
          </p:cNvPr>
          <p:cNvSpPr/>
          <p:nvPr/>
        </p:nvSpPr>
        <p:spPr>
          <a:xfrm rot="16200000">
            <a:off x="6909377" y="1962234"/>
            <a:ext cx="168292" cy="410303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6" name="Arrow: Down 235">
            <a:extLst>
              <a:ext uri="{FF2B5EF4-FFF2-40B4-BE49-F238E27FC236}">
                <a16:creationId xmlns:a16="http://schemas.microsoft.com/office/drawing/2014/main" id="{CB0282C1-BB44-4CBE-9416-61D1A8C5D34D}"/>
              </a:ext>
            </a:extLst>
          </p:cNvPr>
          <p:cNvSpPr/>
          <p:nvPr/>
        </p:nvSpPr>
        <p:spPr>
          <a:xfrm rot="16200000">
            <a:off x="8006840" y="1962234"/>
            <a:ext cx="168292" cy="410303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8" name="Arrow: Up 237">
            <a:extLst>
              <a:ext uri="{FF2B5EF4-FFF2-40B4-BE49-F238E27FC236}">
                <a16:creationId xmlns:a16="http://schemas.microsoft.com/office/drawing/2014/main" id="{456C0A5C-1FFD-AB5C-B44F-A964D48E3A18}"/>
              </a:ext>
            </a:extLst>
          </p:cNvPr>
          <p:cNvSpPr/>
          <p:nvPr/>
        </p:nvSpPr>
        <p:spPr>
          <a:xfrm>
            <a:off x="8158878" y="2536948"/>
            <a:ext cx="259248" cy="437758"/>
          </a:xfrm>
          <a:prstGeom prst="upArrow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9" name="Arrow: Curved Left 238">
            <a:extLst>
              <a:ext uri="{FF2B5EF4-FFF2-40B4-BE49-F238E27FC236}">
                <a16:creationId xmlns:a16="http://schemas.microsoft.com/office/drawing/2014/main" id="{7737556D-A0D7-2265-9816-584C06CE4B77}"/>
              </a:ext>
            </a:extLst>
          </p:cNvPr>
          <p:cNvSpPr/>
          <p:nvPr/>
        </p:nvSpPr>
        <p:spPr>
          <a:xfrm>
            <a:off x="9152730" y="3376530"/>
            <a:ext cx="274574" cy="193511"/>
          </a:xfrm>
          <a:prstGeom prst="curved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F4D306FB-9A71-C37D-E53C-D5E78FF33E0E}"/>
              </a:ext>
            </a:extLst>
          </p:cNvPr>
          <p:cNvSpPr/>
          <p:nvPr/>
        </p:nvSpPr>
        <p:spPr>
          <a:xfrm>
            <a:off x="9596674" y="5018656"/>
            <a:ext cx="1322589" cy="135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935C4B-43E1-6A03-1FAF-E70AFC3575EB}"/>
              </a:ext>
            </a:extLst>
          </p:cNvPr>
          <p:cNvSpPr/>
          <p:nvPr/>
        </p:nvSpPr>
        <p:spPr>
          <a:xfrm>
            <a:off x="5485148" y="3233435"/>
            <a:ext cx="526379" cy="847334"/>
          </a:xfrm>
          <a:prstGeom prst="rect">
            <a:avLst/>
          </a:prstGeom>
          <a:solidFill>
            <a:schemeClr val="accent1">
              <a:lumMod val="60000"/>
              <a:lumOff val="4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34E4BF-1DBA-CF65-C05C-5A654C6DD1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073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6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6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6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repeatCount="5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5" dur="3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" grpId="0" animBg="1"/>
      <p:bldP spid="219" grpId="0" animBg="1"/>
      <p:bldP spid="220" grpId="0" animBg="1"/>
      <p:bldP spid="221" grpId="0" animBg="1"/>
      <p:bldP spid="222" grpId="0" animBg="1"/>
      <p:bldP spid="223" grpId="0" animBg="1"/>
      <p:bldP spid="226" grpId="0" animBg="1"/>
      <p:bldP spid="227" grpId="0" animBg="1"/>
      <p:bldP spid="228" grpId="0" animBg="1"/>
      <p:bldP spid="230" grpId="0" animBg="1"/>
      <p:bldP spid="231" grpId="0" animBg="1"/>
      <p:bldP spid="232" grpId="0" animBg="1"/>
      <p:bldP spid="233" grpId="0" animBg="1"/>
      <p:bldP spid="234" grpId="0" animBg="1"/>
      <p:bldP spid="235" grpId="0" animBg="1"/>
      <p:bldP spid="236" grpId="0" animBg="1"/>
      <p:bldP spid="238" grpId="0" animBg="1"/>
      <p:bldP spid="239" grpId="0" animBg="1"/>
      <p:bldP spid="269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977;p38">
            <a:extLst>
              <a:ext uri="{FF2B5EF4-FFF2-40B4-BE49-F238E27FC236}">
                <a16:creationId xmlns:a16="http://schemas.microsoft.com/office/drawing/2014/main" id="{5E226B95-5A05-199A-30CF-F165650EC24F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81885" y="882083"/>
            <a:ext cx="4282454" cy="1979892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33"/>
          <p:cNvSpPr txBox="1">
            <a:spLocks noGrp="1"/>
          </p:cNvSpPr>
          <p:nvPr>
            <p:ph type="title"/>
          </p:nvPr>
        </p:nvSpPr>
        <p:spPr>
          <a:xfrm>
            <a:off x="0" y="-5911"/>
            <a:ext cx="1198059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it-IT" dirty="0"/>
              <a:t>Dynamic Model w/ Lumped Parameter Infers Membrane Properties</a:t>
            </a:r>
            <a:endParaRPr dirty="0"/>
          </a:p>
        </p:txBody>
      </p:sp>
      <p:sp>
        <p:nvSpPr>
          <p:cNvPr id="900" name="Google Shape;900;p33"/>
          <p:cNvSpPr txBox="1"/>
          <p:nvPr/>
        </p:nvSpPr>
        <p:spPr>
          <a:xfrm>
            <a:off x="192600" y="1054895"/>
            <a:ext cx="2393900" cy="201854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988"/>
            </a:stretch>
          </a:blipFill>
          <a:ln w="9525" cap="flat" cmpd="sng">
            <a:solidFill>
              <a:srgbClr val="B08E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 </a:t>
            </a:r>
            <a:endParaRPr dirty="0"/>
          </a:p>
        </p:txBody>
      </p:sp>
      <p:sp>
        <p:nvSpPr>
          <p:cNvPr id="901" name="Google Shape;901;p33"/>
          <p:cNvSpPr txBox="1">
            <a:spLocks noChangeAspect="1"/>
          </p:cNvSpPr>
          <p:nvPr/>
        </p:nvSpPr>
        <p:spPr>
          <a:xfrm>
            <a:off x="5601910" y="1387651"/>
            <a:ext cx="2602016" cy="146304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437"/>
            </a:stretch>
          </a:blipFill>
          <a:ln w="9525" cap="flat" cmpd="sng">
            <a:solidFill>
              <a:srgbClr val="CCB4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 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480DF0-6098-45B3-82C4-6F6C00A79A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00" y="5166864"/>
            <a:ext cx="2560320" cy="1116945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D42EFE23-4276-4177-8AAE-4AB26AFC2DC1}"/>
              </a:ext>
            </a:extLst>
          </p:cNvPr>
          <p:cNvGrpSpPr/>
          <p:nvPr/>
        </p:nvGrpSpPr>
        <p:grpSpPr>
          <a:xfrm>
            <a:off x="165637" y="3525317"/>
            <a:ext cx="2498811" cy="1381050"/>
            <a:chOff x="3962644" y="5098096"/>
            <a:chExt cx="2876307" cy="1589687"/>
          </a:xfrm>
        </p:grpSpPr>
        <p:pic>
          <p:nvPicPr>
            <p:cNvPr id="13" name="Picture 12" descr="Text, letter&#10;&#10;Description automatically generated">
              <a:extLst>
                <a:ext uri="{FF2B5EF4-FFF2-40B4-BE49-F238E27FC236}">
                  <a16:creationId xmlns:a16="http://schemas.microsoft.com/office/drawing/2014/main" id="{8A6C259E-C0DB-4752-9650-E11B1312C1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r="59472" b="61737"/>
            <a:stretch/>
          </p:blipFill>
          <p:spPr>
            <a:xfrm>
              <a:off x="4317967" y="5726156"/>
              <a:ext cx="1588697" cy="506397"/>
            </a:xfrm>
            <a:prstGeom prst="rect">
              <a:avLst/>
            </a:prstGeom>
          </p:spPr>
        </p:pic>
        <p:pic>
          <p:nvPicPr>
            <p:cNvPr id="14" name="Picture 13" descr="Text, letter&#10;&#10;Description automatically generated">
              <a:extLst>
                <a:ext uri="{FF2B5EF4-FFF2-40B4-BE49-F238E27FC236}">
                  <a16:creationId xmlns:a16="http://schemas.microsoft.com/office/drawing/2014/main" id="{383E6953-E5AD-41E6-89BA-C5F8D72030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61289" r="44624"/>
            <a:stretch/>
          </p:blipFill>
          <p:spPr>
            <a:xfrm>
              <a:off x="4085166" y="6175440"/>
              <a:ext cx="2170776" cy="512343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B8D0412-4ADD-4F0B-A069-5E25FEBCA680}"/>
                </a:ext>
              </a:extLst>
            </p:cNvPr>
            <p:cNvSpPr txBox="1"/>
            <p:nvPr/>
          </p:nvSpPr>
          <p:spPr>
            <a:xfrm>
              <a:off x="3962644" y="5098096"/>
              <a:ext cx="2876307" cy="637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/>
                <a:t>Concentration </a:t>
              </a:r>
            </a:p>
            <a:p>
              <a:r>
                <a:rPr lang="en-US" sz="1500" dirty="0"/>
                <a:t>polarization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D96A686-1159-4D91-3E5F-CAFD41DCB101}"/>
              </a:ext>
            </a:extLst>
          </p:cNvPr>
          <p:cNvGrpSpPr/>
          <p:nvPr/>
        </p:nvGrpSpPr>
        <p:grpSpPr>
          <a:xfrm>
            <a:off x="2586500" y="882082"/>
            <a:ext cx="3418108" cy="1812734"/>
            <a:chOff x="2634125" y="841740"/>
            <a:chExt cx="3418108" cy="181273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B2919CD-8554-494E-B1CF-85349C3A9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34125" y="841740"/>
              <a:ext cx="3418108" cy="1812734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C7F1466-1885-4756-A74B-49F6C9854854}"/>
                </a:ext>
              </a:extLst>
            </p:cNvPr>
            <p:cNvSpPr/>
            <p:nvPr/>
          </p:nvSpPr>
          <p:spPr>
            <a:xfrm>
              <a:off x="3911258" y="1287357"/>
              <a:ext cx="273772" cy="27882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99A1AC2-C7C0-4F13-86E4-A94F3B51D403}"/>
                </a:ext>
              </a:extLst>
            </p:cNvPr>
            <p:cNvSpPr/>
            <p:nvPr/>
          </p:nvSpPr>
          <p:spPr>
            <a:xfrm>
              <a:off x="4784798" y="1287357"/>
              <a:ext cx="183846" cy="2628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A601EB4-5513-4648-8E8E-75B4E89B54E0}"/>
                </a:ext>
              </a:extLst>
            </p:cNvPr>
            <p:cNvSpPr/>
            <p:nvPr/>
          </p:nvSpPr>
          <p:spPr>
            <a:xfrm>
              <a:off x="4048183" y="2326033"/>
              <a:ext cx="218631" cy="26493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FF8D1EB-1348-B466-876B-B5F2ABD41B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56</a:t>
            </a:fld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0BCB5EA-703A-08B8-2456-A1B9301F8620}"/>
              </a:ext>
            </a:extLst>
          </p:cNvPr>
          <p:cNvGrpSpPr/>
          <p:nvPr/>
        </p:nvGrpSpPr>
        <p:grpSpPr>
          <a:xfrm>
            <a:off x="2665949" y="3105123"/>
            <a:ext cx="9467909" cy="3170195"/>
            <a:chOff x="2665949" y="3293381"/>
            <a:chExt cx="9467909" cy="317019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8D9341F-1861-2DC5-48B0-37622B72FC1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665949" y="3293381"/>
              <a:ext cx="9467909" cy="317019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1151B69-1CAF-C939-F424-0641169DF8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1" t="1" r="10698" b="-1"/>
            <a:stretch/>
          </p:blipFill>
          <p:spPr>
            <a:xfrm>
              <a:off x="5489972" y="5829773"/>
              <a:ext cx="126635" cy="163834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05219D7D-3CB5-35AC-BC85-36C8596B5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1" t="1" r="10698" b="-1"/>
            <a:stretch/>
          </p:blipFill>
          <p:spPr>
            <a:xfrm>
              <a:off x="6880622" y="5643419"/>
              <a:ext cx="126635" cy="16383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9FC749-CAA4-506F-B750-73BEB7784166}"/>
                  </a:ext>
                </a:extLst>
              </p:cNvPr>
              <p:cNvSpPr txBox="1"/>
              <p:nvPr/>
            </p:nvSpPr>
            <p:spPr>
              <a:xfrm>
                <a:off x="3101982" y="6384548"/>
                <a:ext cx="6849760" cy="6036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tx1"/>
                    </a:solidFill>
                  </a:rPr>
                  <a:t>Parameter Estimation</a:t>
                </a:r>
                <a:r>
                  <a:rPr lang="en-US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𝑎𝑟𝑔</m:t>
                        </m:r>
                      </m:fName>
                      <m:e>
                        <m:func>
                          <m:func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a:rPr lang="en-US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</m:e>
                              <m:lim>
                                <m:r>
                                  <a:rPr lang="en-US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lim>
                            </m:limLow>
                          </m:fName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func>
                              <m:funcPr>
                                <m:ctrlP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ℒ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func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func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𝑎𝑟𝑔</m:t>
                        </m:r>
                      </m:fName>
                      <m:e>
                        <m:func>
                          <m:func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a:rPr lang="en-US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</m:e>
                              <m:lim>
                                <m:r>
                                  <a:rPr lang="en-US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lim>
                            </m:limLow>
                          </m:fName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7"/>
                                  </m:rPr>
                                  <a:rPr lang="en-US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  <m:sup/>
                              <m:e>
                                <m:sSup>
                                  <m:sSupPr>
                                    <m:ctrlPr>
                                      <a:rPr lang="en-US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sub>
                                        </m:sSub>
                                        <m:r>
                                          <a:rPr lang="en-US" b="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i="1" dirty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b="0" i="1" dirty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b="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sSubSup>
                                  <m:sSubSupPr>
                                    <m:ctrlPr>
                                      <a:rPr lang="en-US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  <m:sup>
                                    <m: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b="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  <m: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b="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b="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e>
                        </m:func>
                      </m:e>
                    </m:func>
                  </m:oMath>
                </a14:m>
                <a:endParaRPr lang="en-US" dirty="0">
                  <a:solidFill>
                    <a:srgbClr val="FF9900"/>
                  </a:solidFill>
                  <a:latin typeface="Arial" pitchFamily="34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9FC749-CAA4-506F-B750-73BEB7784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1982" y="6384548"/>
                <a:ext cx="6849760" cy="603691"/>
              </a:xfrm>
              <a:prstGeom prst="rect">
                <a:avLst/>
              </a:prstGeom>
              <a:blipFill>
                <a:blip r:embed="rId11"/>
                <a:stretch>
                  <a:fillRect l="-370" t="-51020" b="-36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132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33"/>
          <p:cNvSpPr txBox="1"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it-IT" dirty="0"/>
              <a:t>Lumped Parameter Model Infers Membrane Properties</a:t>
            </a:r>
            <a:endParaRPr dirty="0"/>
          </a:p>
        </p:txBody>
      </p:sp>
      <p:sp>
        <p:nvSpPr>
          <p:cNvPr id="895" name="Google Shape;895;p33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  <p:sp>
        <p:nvSpPr>
          <p:cNvPr id="896" name="Google Shape;896;p33"/>
          <p:cNvSpPr txBox="1"/>
          <p:nvPr/>
        </p:nvSpPr>
        <p:spPr>
          <a:xfrm>
            <a:off x="7878282" y="903472"/>
            <a:ext cx="4279646" cy="605576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591" t="-20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 </a:t>
            </a:r>
            <a:endParaRPr dirty="0"/>
          </a:p>
        </p:txBody>
      </p:sp>
      <p:sp>
        <p:nvSpPr>
          <p:cNvPr id="901" name="Google Shape;901;p33"/>
          <p:cNvSpPr txBox="1"/>
          <p:nvPr/>
        </p:nvSpPr>
        <p:spPr>
          <a:xfrm>
            <a:off x="240225" y="3647398"/>
            <a:ext cx="2393900" cy="139855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437"/>
            </a:stretch>
          </a:blipFill>
          <a:ln w="9525" cap="flat" cmpd="sng">
            <a:solidFill>
              <a:srgbClr val="CCB4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480DF0-6098-45B3-82C4-6F6C00A79A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225" y="5099845"/>
            <a:ext cx="3205838" cy="1398553"/>
          </a:xfrm>
          <a:prstGeom prst="rect">
            <a:avLst/>
          </a:prstGeom>
        </p:spPr>
      </p:pic>
      <p:pic>
        <p:nvPicPr>
          <p:cNvPr id="12" name="Picture 11" descr="Diagram, engineering drawing&#10;&#10;Description automatically generated">
            <a:extLst>
              <a:ext uri="{FF2B5EF4-FFF2-40B4-BE49-F238E27FC236}">
                <a16:creationId xmlns:a16="http://schemas.microsoft.com/office/drawing/2014/main" id="{3971220B-51D7-4C71-A5DD-C095C250E2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3796" y="766603"/>
            <a:ext cx="4347188" cy="23775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2919CD-8554-494E-B1CF-85349C3A97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4544" y="3222935"/>
            <a:ext cx="3418108" cy="1812734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D42EFE23-4276-4177-8AAE-4AB26AFC2DC1}"/>
              </a:ext>
            </a:extLst>
          </p:cNvPr>
          <p:cNvGrpSpPr/>
          <p:nvPr/>
        </p:nvGrpSpPr>
        <p:grpSpPr>
          <a:xfrm>
            <a:off x="3924544" y="5035669"/>
            <a:ext cx="3589588" cy="1573420"/>
            <a:chOff x="3962644" y="5098096"/>
            <a:chExt cx="2876307" cy="1260768"/>
          </a:xfrm>
        </p:grpSpPr>
        <p:pic>
          <p:nvPicPr>
            <p:cNvPr id="13" name="Picture 12" descr="Text, letter&#10;&#10;Description automatically generated">
              <a:extLst>
                <a:ext uri="{FF2B5EF4-FFF2-40B4-BE49-F238E27FC236}">
                  <a16:creationId xmlns:a16="http://schemas.microsoft.com/office/drawing/2014/main" id="{8A6C259E-C0DB-4752-9650-E11B1312C1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r="59472" b="61737"/>
            <a:stretch/>
          </p:blipFill>
          <p:spPr>
            <a:xfrm>
              <a:off x="4548209" y="5397237"/>
              <a:ext cx="1588697" cy="506396"/>
            </a:xfrm>
            <a:prstGeom prst="rect">
              <a:avLst/>
            </a:prstGeom>
          </p:spPr>
        </p:pic>
        <p:pic>
          <p:nvPicPr>
            <p:cNvPr id="14" name="Picture 13" descr="Text, letter&#10;&#10;Description automatically generated">
              <a:extLst>
                <a:ext uri="{FF2B5EF4-FFF2-40B4-BE49-F238E27FC236}">
                  <a16:creationId xmlns:a16="http://schemas.microsoft.com/office/drawing/2014/main" id="{383E6953-E5AD-41E6-89BA-C5F8D72030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t="61289" r="44624"/>
            <a:stretch/>
          </p:blipFill>
          <p:spPr>
            <a:xfrm>
              <a:off x="4315409" y="5846522"/>
              <a:ext cx="2170776" cy="512342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B8D0412-4ADD-4F0B-A069-5E25FEBCA680}"/>
                </a:ext>
              </a:extLst>
            </p:cNvPr>
            <p:cNvSpPr txBox="1"/>
            <p:nvPr/>
          </p:nvSpPr>
          <p:spPr>
            <a:xfrm>
              <a:off x="3962644" y="5098096"/>
              <a:ext cx="2876307" cy="2589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/>
                <a:t>Concentration polarization</a:t>
              </a:r>
            </a:p>
          </p:txBody>
        </p:sp>
      </p:grpSp>
      <p:sp>
        <p:nvSpPr>
          <p:cNvPr id="15" name="Google Shape;816;p27">
            <a:extLst>
              <a:ext uri="{FF2B5EF4-FFF2-40B4-BE49-F238E27FC236}">
                <a16:creationId xmlns:a16="http://schemas.microsoft.com/office/drawing/2014/main" id="{DBBCA254-3CC3-458F-9F44-25DDB50A837C}"/>
              </a:ext>
            </a:extLst>
          </p:cNvPr>
          <p:cNvSpPr txBox="1"/>
          <p:nvPr/>
        </p:nvSpPr>
        <p:spPr>
          <a:xfrm>
            <a:off x="1426730" y="6492875"/>
            <a:ext cx="980007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2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1200" dirty="0">
                <a:solidFill>
                  <a:srgbClr val="7F7F7F"/>
                </a:solidFill>
              </a:rPr>
              <a:t>Fig.] Ouimet, J. A. et. al., (2022). Journal of Membrane Science, 641, 119743. </a:t>
            </a:r>
            <a:endParaRPr sz="1200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7F1466-1885-4756-A74B-49F6C9854854}"/>
              </a:ext>
            </a:extLst>
          </p:cNvPr>
          <p:cNvSpPr/>
          <p:nvPr/>
        </p:nvSpPr>
        <p:spPr>
          <a:xfrm>
            <a:off x="5201677" y="3668552"/>
            <a:ext cx="273772" cy="2788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9A1AC2-C7C0-4F13-86E4-A94F3B51D403}"/>
              </a:ext>
            </a:extLst>
          </p:cNvPr>
          <p:cNvSpPr/>
          <p:nvPr/>
        </p:nvSpPr>
        <p:spPr>
          <a:xfrm>
            <a:off x="6075217" y="3668552"/>
            <a:ext cx="183846" cy="262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601EB4-5513-4648-8E8E-75B4E89B54E0}"/>
              </a:ext>
            </a:extLst>
          </p:cNvPr>
          <p:cNvSpPr/>
          <p:nvPr/>
        </p:nvSpPr>
        <p:spPr>
          <a:xfrm>
            <a:off x="5338602" y="4707228"/>
            <a:ext cx="218631" cy="2649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9" name="TextBox 918">
                <a:extLst>
                  <a:ext uri="{FF2B5EF4-FFF2-40B4-BE49-F238E27FC236}">
                    <a16:creationId xmlns:a16="http://schemas.microsoft.com/office/drawing/2014/main" id="{16F4AAA2-FE6A-9D3D-9065-F28AAAB5F901}"/>
                  </a:ext>
                </a:extLst>
              </p:cNvPr>
              <p:cNvSpPr txBox="1"/>
              <p:nvPr/>
            </p:nvSpPr>
            <p:spPr>
              <a:xfrm>
                <a:off x="181028" y="914625"/>
                <a:ext cx="4189989" cy="27715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b="1" dirty="0"/>
                  <a:t>Forward Model</a:t>
                </a:r>
                <a:endParaRPr lang="en-US" sz="18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en-US" sz="1800" dirty="0"/>
                </a:b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𝜖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 </a:t>
                </a:r>
                <a:endParaRPr lang="en-US" sz="1800" i="1" dirty="0"/>
              </a:p>
              <a:p>
                <a:pPr/>
                <a:r>
                  <a:rPr lang="en-US" sz="1800" dirty="0"/>
                  <a:t>where,</a:t>
                </a:r>
                <a:br>
                  <a:rPr lang="en-US" sz="1800" i="1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𝜖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; 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; 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en-US" sz="18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919" name="TextBox 918">
                <a:extLst>
                  <a:ext uri="{FF2B5EF4-FFF2-40B4-BE49-F238E27FC236}">
                    <a16:creationId xmlns:a16="http://schemas.microsoft.com/office/drawing/2014/main" id="{16F4AAA2-FE6A-9D3D-9065-F28AAAB5F9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028" y="914625"/>
                <a:ext cx="4189989" cy="2771528"/>
              </a:xfrm>
              <a:prstGeom prst="rect">
                <a:avLst/>
              </a:prstGeom>
              <a:blipFill>
                <a:blip r:embed="rId9"/>
                <a:stretch>
                  <a:fillRect l="-1208" t="-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6" grpId="0" animBg="1"/>
      <p:bldP spid="17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31"/>
          <p:cNvSpPr txBox="1">
            <a:spLocks noGrp="1"/>
          </p:cNvSpPr>
          <p:nvPr>
            <p:ph type="title"/>
          </p:nvPr>
        </p:nvSpPr>
        <p:spPr>
          <a:xfrm>
            <a:off x="0" y="205244"/>
            <a:ext cx="8773298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dirty="0"/>
              <a:t>Dynamic Diafiltration Experiment Sweeps Larger Concentration Space 5x Faster Than Filtration Experiments</a:t>
            </a:r>
            <a:endParaRPr dirty="0"/>
          </a:p>
        </p:txBody>
      </p:sp>
      <p:sp>
        <p:nvSpPr>
          <p:cNvPr id="875" name="Google Shape;875;p31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  <p:pic>
        <p:nvPicPr>
          <p:cNvPr id="876" name="Google Shape;876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41244" y="3280318"/>
            <a:ext cx="3426512" cy="3577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7" name="Google Shape;877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41244" y="0"/>
            <a:ext cx="3335351" cy="3446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8" name="Google Shape;878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031" y="1509398"/>
            <a:ext cx="7972151" cy="436004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3A7A786-6AAE-4C05-9847-54B4A2347FE4}"/>
              </a:ext>
            </a:extLst>
          </p:cNvPr>
          <p:cNvSpPr/>
          <p:nvPr/>
        </p:nvSpPr>
        <p:spPr>
          <a:xfrm>
            <a:off x="3658180" y="1713815"/>
            <a:ext cx="1396240" cy="7118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ysClr val="windowText" lastClr="000000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Diafiltrate Reservoir</a:t>
            </a:r>
          </a:p>
        </p:txBody>
      </p:sp>
    </p:spTree>
    <p:extLst>
      <p:ext uri="{BB962C8B-B14F-4D97-AF65-F5344CB8AC3E}">
        <p14:creationId xmlns:p14="http://schemas.microsoft.com/office/powerpoint/2010/main" val="6524058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F6459-38F4-B1D9-F0EF-49B7A78D6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107;p17">
            <a:extLst>
              <a:ext uri="{FF2B5EF4-FFF2-40B4-BE49-F238E27FC236}">
                <a16:creationId xmlns:a16="http://schemas.microsoft.com/office/drawing/2014/main" id="{ECF16E3B-B3F1-777A-27FF-9007C4AF0B9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372" y="2292120"/>
            <a:ext cx="3723153" cy="369770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" name="Google Shape;110;p17">
                <a:extLst>
                  <a:ext uri="{FF2B5EF4-FFF2-40B4-BE49-F238E27FC236}">
                    <a16:creationId xmlns:a16="http://schemas.microsoft.com/office/drawing/2014/main" id="{DF19C920-6E40-11E1-C8B7-781E9BEE2385}"/>
                  </a:ext>
                </a:extLst>
              </p:cNvPr>
              <p:cNvSpPr txBox="1"/>
              <p:nvPr/>
            </p:nvSpPr>
            <p:spPr>
              <a:xfrm>
                <a:off x="2810828" y="4396924"/>
                <a:ext cx="2200275" cy="8414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lang="en-US" sz="1600" dirty="0">
                    <a:solidFill>
                      <a:prstClr val="black"/>
                    </a:solidFill>
                    <a:latin typeface="Arial"/>
                    <a:ea typeface="Arial"/>
                    <a:cs typeface="Arial"/>
                  </a:rPr>
                  <a:t>C</a:t>
                </a:r>
                <a:r>
                  <a:rPr kumimoji="0" 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Arial"/>
                    <a:cs typeface="Arial"/>
                    <a:sym typeface="Arial"/>
                  </a:rPr>
                  <a:t>onfidence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Arial"/>
                    <a:cs typeface="Arial"/>
                    <a:sym typeface="Arial"/>
                  </a:rPr>
                  <a:t> ellipse for covariance matrix</a:t>
                </a: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  <a:sym typeface="Arial"/>
                </a:endParaRPr>
              </a:p>
              <a:p>
                <a:pPr lvl="0" algn="ctr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en-US" sz="1600" b="1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1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</m:sub>
                      </m:sSub>
                      <m:r>
                        <a:rPr lang="en-US" sz="16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16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p>
                          <m:r>
                            <a:rPr lang="en-US" sz="16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  <a:sym typeface="Arial"/>
                </a:endParaRPr>
              </a:p>
            </p:txBody>
          </p:sp>
        </mc:Choice>
        <mc:Fallback xmlns="">
          <p:sp>
            <p:nvSpPr>
              <p:cNvPr id="33" name="Google Shape;110;p17">
                <a:extLst>
                  <a:ext uri="{FF2B5EF4-FFF2-40B4-BE49-F238E27FC236}">
                    <a16:creationId xmlns:a16="http://schemas.microsoft.com/office/drawing/2014/main" id="{7EE07D3A-AE6E-47BE-9E33-A4F66482E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0828" y="4396924"/>
                <a:ext cx="2200275" cy="841408"/>
              </a:xfrm>
              <a:prstGeom prst="rect">
                <a:avLst/>
              </a:prstGeom>
              <a:blipFill>
                <a:blip r:embed="rId4"/>
                <a:stretch>
                  <a:fillRect t="-2174" r="-277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C7A55688-B386-2358-2BB8-1888A325D08A}"/>
              </a:ext>
            </a:extLst>
          </p:cNvPr>
          <p:cNvSpPr txBox="1">
            <a:spLocks/>
          </p:cNvSpPr>
          <p:nvPr/>
        </p:nvSpPr>
        <p:spPr>
          <a:xfrm>
            <a:off x="-4621" y="-6096"/>
            <a:ext cx="1198059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90000"/>
              </a:lnSpc>
              <a:buClr>
                <a:schemeClr val="dk1"/>
              </a:buClr>
              <a:buSzPts val="1800"/>
              <a:buNone/>
              <a:defRPr sz="3200" b="1">
                <a:solidFill>
                  <a:schemeClr val="tx1"/>
                </a:solidFill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dirty="0"/>
              <a:t>FIM Highlights Nonidentifiable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6EB6AAE7-78A4-5831-7A77-63A2121724C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800600" y="1177290"/>
              <a:ext cx="6748478" cy="160511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304830">
                      <a:extLst>
                        <a:ext uri="{9D8B030D-6E8A-4147-A177-3AD203B41FA5}">
                          <a16:colId xmlns:a16="http://schemas.microsoft.com/office/drawing/2014/main" val="1495111582"/>
                        </a:ext>
                      </a:extLst>
                    </a:gridCol>
                    <a:gridCol w="1352779">
                      <a:extLst>
                        <a:ext uri="{9D8B030D-6E8A-4147-A177-3AD203B41FA5}">
                          <a16:colId xmlns:a16="http://schemas.microsoft.com/office/drawing/2014/main" val="4257686367"/>
                        </a:ext>
                      </a:extLst>
                    </a:gridCol>
                    <a:gridCol w="866463">
                      <a:extLst>
                        <a:ext uri="{9D8B030D-6E8A-4147-A177-3AD203B41FA5}">
                          <a16:colId xmlns:a16="http://schemas.microsoft.com/office/drawing/2014/main" val="3698048072"/>
                        </a:ext>
                      </a:extLst>
                    </a:gridCol>
                    <a:gridCol w="1304830">
                      <a:extLst>
                        <a:ext uri="{9D8B030D-6E8A-4147-A177-3AD203B41FA5}">
                          <a16:colId xmlns:a16="http://schemas.microsoft.com/office/drawing/2014/main" val="3963307089"/>
                        </a:ext>
                      </a:extLst>
                    </a:gridCol>
                    <a:gridCol w="969206">
                      <a:extLst>
                        <a:ext uri="{9D8B030D-6E8A-4147-A177-3AD203B41FA5}">
                          <a16:colId xmlns:a16="http://schemas.microsoft.com/office/drawing/2014/main" val="2312697275"/>
                        </a:ext>
                      </a:extLst>
                    </a:gridCol>
                    <a:gridCol w="950370">
                      <a:extLst>
                        <a:ext uri="{9D8B030D-6E8A-4147-A177-3AD203B41FA5}">
                          <a16:colId xmlns:a16="http://schemas.microsoft.com/office/drawing/2014/main" val="2178978454"/>
                        </a:ext>
                      </a:extLst>
                    </a:gridCol>
                  </a:tblGrid>
                  <a:tr h="321023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Estimated parameters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Residuals squared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Eigenvalues of FIM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Eigenvectors of FIM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704482783"/>
                      </a:ext>
                    </a:extLst>
                  </a:tr>
                  <a:tr h="321023"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𝑝</m:t>
                                </m:r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𝑝</m:t>
                                </m:r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𝑒</m:t>
                                    </m:r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31366762"/>
                      </a:ext>
                    </a:extLst>
                  </a:tr>
                  <a:tr h="321023">
                    <a:tc v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𝑝</m:t>
                                </m:r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  <a:prstDash val="soli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𝑝</m:t>
                                </m:r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𝑒</m:t>
                                    </m:r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5114852"/>
                      </a:ext>
                    </a:extLst>
                  </a:tr>
                  <a:tr h="321023"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8.16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6.18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10.74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-7.02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r>
                            <a:rPr kumimoji="0" lang="en-IN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sym typeface="Arial"/>
                            </a:rPr>
                            <a:t>10</a:t>
                          </a:r>
                          <a:r>
                            <a:rPr kumimoji="0" lang="en-IN" sz="1600" b="0" i="0" u="none" strike="noStrike" kern="0" cap="none" spc="0" normalizeH="0" baseline="30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sym typeface="Arial"/>
                            </a:rPr>
                            <a:t>-8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+mn-cs"/>
                            </a:rPr>
                            <a:t>3.32</a:t>
                          </a: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r>
                            <a:rPr kumimoji="0" lang="en-IN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+mn-cs"/>
                              <a:sym typeface="Arial"/>
                            </a:rPr>
                            <a:t>10</a:t>
                          </a:r>
                          <a:r>
                            <a:rPr kumimoji="0" lang="en-IN" sz="1600" b="0" i="0" u="none" strike="noStrike" kern="0" cap="none" spc="0" normalizeH="0" baseline="30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+mn-cs"/>
                              <a:sym typeface="Arial"/>
                            </a:rPr>
                            <a:t>-8</a:t>
                          </a:r>
                          <a:endParaRPr kumimoji="0" 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-1.00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72376918"/>
                      </a:ext>
                    </a:extLst>
                  </a:tr>
                  <a:tr h="32102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2.10</a:t>
                          </a: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r>
                            <a:rPr kumimoji="0" lang="en-IN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+mn-cs"/>
                              <a:sym typeface="Arial"/>
                            </a:rPr>
                            <a:t>10</a:t>
                          </a:r>
                          <a:r>
                            <a:rPr kumimoji="0" lang="en-IN" sz="1600" b="0" i="0" u="none" strike="noStrike" kern="0" cap="none" spc="0" normalizeH="0" baseline="30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+mn-cs"/>
                              <a:sym typeface="Arial"/>
                            </a:rPr>
                            <a:t>2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  <a:prstDash val="soli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-1.00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-3.32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r>
                            <a:rPr kumimoji="0" lang="en-IN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sym typeface="Arial"/>
                            </a:rPr>
                            <a:t>10</a:t>
                          </a:r>
                          <a:r>
                            <a:rPr kumimoji="0" lang="en-IN" sz="1600" b="0" i="0" u="none" strike="noStrike" kern="0" cap="none" spc="0" normalizeH="0" baseline="30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sym typeface="Arial"/>
                            </a:rPr>
                            <a:t>-8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9375469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6625B949-B228-4796-9CB5-9B6A78E91B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0025671"/>
                  </p:ext>
                </p:extLst>
              </p:nvPr>
            </p:nvGraphicFramePr>
            <p:xfrm>
              <a:off x="4800600" y="1177290"/>
              <a:ext cx="6748478" cy="160511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304830">
                      <a:extLst>
                        <a:ext uri="{9D8B030D-6E8A-4147-A177-3AD203B41FA5}">
                          <a16:colId xmlns:a16="http://schemas.microsoft.com/office/drawing/2014/main" val="1495111582"/>
                        </a:ext>
                      </a:extLst>
                    </a:gridCol>
                    <a:gridCol w="1352779">
                      <a:extLst>
                        <a:ext uri="{9D8B030D-6E8A-4147-A177-3AD203B41FA5}">
                          <a16:colId xmlns:a16="http://schemas.microsoft.com/office/drawing/2014/main" val="4257686367"/>
                        </a:ext>
                      </a:extLst>
                    </a:gridCol>
                    <a:gridCol w="866463">
                      <a:extLst>
                        <a:ext uri="{9D8B030D-6E8A-4147-A177-3AD203B41FA5}">
                          <a16:colId xmlns:a16="http://schemas.microsoft.com/office/drawing/2014/main" val="3698048072"/>
                        </a:ext>
                      </a:extLst>
                    </a:gridCol>
                    <a:gridCol w="1304830">
                      <a:extLst>
                        <a:ext uri="{9D8B030D-6E8A-4147-A177-3AD203B41FA5}">
                          <a16:colId xmlns:a16="http://schemas.microsoft.com/office/drawing/2014/main" val="3963307089"/>
                        </a:ext>
                      </a:extLst>
                    </a:gridCol>
                    <a:gridCol w="969206">
                      <a:extLst>
                        <a:ext uri="{9D8B030D-6E8A-4147-A177-3AD203B41FA5}">
                          <a16:colId xmlns:a16="http://schemas.microsoft.com/office/drawing/2014/main" val="2312697275"/>
                        </a:ext>
                      </a:extLst>
                    </a:gridCol>
                    <a:gridCol w="950370">
                      <a:extLst>
                        <a:ext uri="{9D8B030D-6E8A-4147-A177-3AD203B41FA5}">
                          <a16:colId xmlns:a16="http://schemas.microsoft.com/office/drawing/2014/main" val="2178978454"/>
                        </a:ext>
                      </a:extLst>
                    </a:gridCol>
                  </a:tblGrid>
                  <a:tr h="321023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Estimated parameters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Residuals squared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Eigenvalues of FIM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Eigenvectors of FIM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704482783"/>
                      </a:ext>
                    </a:extLst>
                  </a:tr>
                  <a:tr h="321023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54286" r="-418224" b="-11428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6396" t="-54286" r="-303153" b="-114286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31366762"/>
                      </a:ext>
                    </a:extLst>
                  </a:tr>
                  <a:tr h="321023">
                    <a:tc v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mpd="sng">
                          <a:noFill/>
                          <a:prstDash val="soli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98742" t="-211538" r="-98742" b="-23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10256" t="-211538" r="-641" b="-230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114852"/>
                      </a:ext>
                    </a:extLst>
                  </a:tr>
                  <a:tr h="321023"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8.16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6.18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10.74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-7.02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r>
                            <a:rPr kumimoji="0" lang="en-IN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sym typeface="Arial"/>
                            </a:rPr>
                            <a:t>10</a:t>
                          </a:r>
                          <a:r>
                            <a:rPr kumimoji="0" lang="en-IN" sz="1600" b="0" i="0" u="none" strike="noStrike" kern="0" cap="none" spc="0" normalizeH="0" baseline="30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sym typeface="Arial"/>
                            </a:rPr>
                            <a:t>-8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+mn-cs"/>
                            </a:rPr>
                            <a:t>3.32</a:t>
                          </a: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r>
                            <a:rPr kumimoji="0" lang="en-IN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+mn-cs"/>
                              <a:sym typeface="Arial"/>
                            </a:rPr>
                            <a:t>10</a:t>
                          </a:r>
                          <a:r>
                            <a:rPr kumimoji="0" lang="en-IN" sz="1600" b="0" i="0" u="none" strike="noStrike" kern="0" cap="none" spc="0" normalizeH="0" baseline="30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+mn-cs"/>
                              <a:sym typeface="Arial"/>
                            </a:rPr>
                            <a:t>-8</a:t>
                          </a:r>
                          <a:endParaRPr kumimoji="0" 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-1.00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72376918"/>
                      </a:ext>
                    </a:extLst>
                  </a:tr>
                  <a:tr h="32102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2.10</a:t>
                          </a: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r>
                            <a:rPr kumimoji="0" lang="en-IN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+mn-cs"/>
                              <a:sym typeface="Arial"/>
                            </a:rPr>
                            <a:t>10</a:t>
                          </a:r>
                          <a:r>
                            <a:rPr kumimoji="0" lang="en-IN" sz="1600" b="0" i="0" u="none" strike="noStrike" kern="0" cap="none" spc="0" normalizeH="0" baseline="30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+mn-cs"/>
                              <a:sym typeface="Arial"/>
                            </a:rPr>
                            <a:t>2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  <a:prstDash val="soli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-1.00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-3.32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r>
                            <a:rPr kumimoji="0" lang="en-IN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sym typeface="Arial"/>
                            </a:rPr>
                            <a:t>10</a:t>
                          </a:r>
                          <a:r>
                            <a:rPr kumimoji="0" lang="en-IN" sz="1600" b="0" i="0" u="none" strike="noStrike" kern="0" cap="none" spc="0" normalizeH="0" baseline="30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sym typeface="Arial"/>
                            </a:rPr>
                            <a:t>-8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9375469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4" name="Google Shape;106;p17">
            <a:extLst>
              <a:ext uri="{FF2B5EF4-FFF2-40B4-BE49-F238E27FC236}">
                <a16:creationId xmlns:a16="http://schemas.microsoft.com/office/drawing/2014/main" id="{821C4E80-1DC2-4DC9-5060-459C856E7BA8}"/>
              </a:ext>
            </a:extLst>
          </p:cNvPr>
          <p:cNvSpPr txBox="1"/>
          <p:nvPr/>
        </p:nvSpPr>
        <p:spPr>
          <a:xfrm>
            <a:off x="150582" y="1242905"/>
            <a:ext cx="4330695" cy="430847"/>
          </a:xfrm>
          <a:prstGeom prst="rect">
            <a:avLst/>
          </a:prstGeom>
          <a:noFill/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Fisher information matrix (FIM)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" name="Google Shape;112;p17">
            <a:extLst>
              <a:ext uri="{FF2B5EF4-FFF2-40B4-BE49-F238E27FC236}">
                <a16:creationId xmlns:a16="http://schemas.microsoft.com/office/drawing/2014/main" id="{4C0DD85E-3C0C-07C6-C817-DAEC51FCD34C}"/>
              </a:ext>
            </a:extLst>
          </p:cNvPr>
          <p:cNvSpPr/>
          <p:nvPr/>
        </p:nvSpPr>
        <p:spPr>
          <a:xfrm>
            <a:off x="8492490" y="2191358"/>
            <a:ext cx="1064662" cy="243232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112;p17">
            <a:extLst>
              <a:ext uri="{FF2B5EF4-FFF2-40B4-BE49-F238E27FC236}">
                <a16:creationId xmlns:a16="http://schemas.microsoft.com/office/drawing/2014/main" id="{6C5E706D-642C-C7DC-8575-DC5CDBE75182}"/>
              </a:ext>
            </a:extLst>
          </p:cNvPr>
          <p:cNvSpPr/>
          <p:nvPr/>
        </p:nvSpPr>
        <p:spPr>
          <a:xfrm>
            <a:off x="10716114" y="2191358"/>
            <a:ext cx="691026" cy="290497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3">
                <a:extLst>
                  <a:ext uri="{FF2B5EF4-FFF2-40B4-BE49-F238E27FC236}">
                    <a16:creationId xmlns:a16="http://schemas.microsoft.com/office/drawing/2014/main" id="{9D90A0AE-9EB2-55BC-58F6-808EAF4D56B5}"/>
                  </a:ext>
                </a:extLst>
              </p:cNvPr>
              <p:cNvSpPr txBox="1"/>
              <p:nvPr/>
            </p:nvSpPr>
            <p:spPr>
              <a:xfrm>
                <a:off x="390740" y="1809800"/>
                <a:ext cx="3274166" cy="6410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0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𝑴</m:t>
                      </m:r>
                      <m:r>
                        <a:rPr kumimoji="0" lang="en-US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= </m:t>
                      </m:r>
                      <m:sSup>
                        <m:sSupPr>
                          <m:ctrlPr>
                            <a:rPr kumimoji="0" lang="en-US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kumimoji="0" lang="en-US" sz="20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kumimoji="0" lang="en-US" sz="20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Arial"/>
                                </a:rPr>
                                <m:t>𝑽</m:t>
                              </m:r>
                            </m:e>
                            <m:sub>
                              <m:acc>
                                <m:accPr>
                                  <m:chr m:val="̂"/>
                                  <m:ctrlPr>
                                    <a:rPr kumimoji="0" lang="en-US" sz="2000" b="1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sym typeface="Arial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US" sz="2000" b="1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Arial"/>
                                    </a:rPr>
                                    <m:t>𝜽</m:t>
                                  </m:r>
                                </m:e>
                              </m:acc>
                            </m:sub>
                          </m:sSub>
                        </m:e>
                        <m:sup>
                          <m:r>
                            <a:rPr kumimoji="0" lang="en-US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−1</m:t>
                          </m:r>
                        </m:sup>
                      </m:sSup>
                      <m:r>
                        <a:rPr lang="en-US" sz="20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2000" i="1" kern="12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kern="12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sz="2000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000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sub>
                            <m:sup>
                              <m:r>
                                <a:rPr lang="en-US" sz="2000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sz="20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20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200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sz="2000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000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sub>
                            <m:sup>
                              <m:r>
                                <a:rPr lang="en-US" sz="2000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p>
                        <m:sSupPr>
                          <m:ctrlPr>
                            <a:rPr lang="en-US" sz="200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p>
                          <m:r>
                            <a:rPr lang="en-US" sz="200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0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Arial"/>
                </a:endParaRPr>
              </a:p>
            </p:txBody>
          </p:sp>
        </mc:Choice>
        <mc:Fallback xmlns="">
          <p:sp>
            <p:nvSpPr>
              <p:cNvPr id="29" name="TextBox 3">
                <a:extLst>
                  <a:ext uri="{FF2B5EF4-FFF2-40B4-BE49-F238E27FC236}">
                    <a16:creationId xmlns:a16="http://schemas.microsoft.com/office/drawing/2014/main" id="{5B634CB5-BECE-4212-A63D-3B333B35E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740" y="1809800"/>
                <a:ext cx="3274166" cy="6410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78AF2FF-BB32-8D21-7B2B-55C9E360037D}"/>
                  </a:ext>
                </a:extLst>
              </p:cNvPr>
              <p:cNvSpPr txBox="1"/>
              <p:nvPr/>
            </p:nvSpPr>
            <p:spPr>
              <a:xfrm>
                <a:off x="5087017" y="4396924"/>
                <a:ext cx="6639877" cy="1828800"/>
              </a:xfrm>
              <a:prstGeom prst="rect">
                <a:avLst/>
              </a:prstGeom>
              <a:ln w="19050">
                <a:prstDash val="lgDashDot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ClrTx/>
                </a:pPr>
                <a:r>
                  <a:rPr lang="en-US" sz="1800" b="1" kern="1200" dirty="0">
                    <a:solidFill>
                      <a:prstClr val="black"/>
                    </a:solidFill>
                  </a:rPr>
                  <a:t>FIM inference</a:t>
                </a:r>
              </a:p>
              <a:p>
                <a:pPr marL="285750" indent="-285750">
                  <a:lnSpc>
                    <a:spcPct val="150000"/>
                  </a:lnSpc>
                  <a:buClrTx/>
                  <a:buFont typeface="Arial" panose="020B0604020202020204" pitchFamily="34" charset="0"/>
                  <a:buChar char="•"/>
                </a:pPr>
                <a:r>
                  <a:rPr lang="en-US" sz="1800" kern="1200" dirty="0">
                    <a:solidFill>
                      <a:prstClr val="black"/>
                    </a:solidFill>
                  </a:rPr>
                  <a:t>Model predictions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800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800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1" i="1" kern="1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kern="1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800" b="1" i="1" kern="1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1800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1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sz="1800" b="0" i="1" kern="12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kern="1200" dirty="0">
                    <a:solidFill>
                      <a:prstClr val="black"/>
                    </a:solidFill>
                  </a:rPr>
                  <a:t>are </a:t>
                </a:r>
                <a:r>
                  <a:rPr lang="en-US" sz="1800" kern="1200" dirty="0">
                    <a:solidFill>
                      <a:srgbClr val="0022F5"/>
                    </a:solidFill>
                  </a:rPr>
                  <a:t>insensitive to</a:t>
                </a:r>
                <a14:m>
                  <m:oMath xmlns:m="http://schemas.openxmlformats.org/officeDocument/2006/math">
                    <m:r>
                      <a:rPr lang="en-US" sz="1800" b="0" i="0" kern="1200" smtClean="0">
                        <a:solidFill>
                          <a:srgbClr val="0022F5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800" i="1" kern="1200">
                            <a:solidFill>
                              <a:srgbClr val="0022F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1200">
                            <a:solidFill>
                              <a:srgbClr val="0022F5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800" i="1" kern="1200">
                            <a:solidFill>
                              <a:srgbClr val="0022F5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1800" i="1" kern="1200">
                            <a:solidFill>
                              <a:srgbClr val="0022F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800" kern="1200" dirty="0">
                  <a:solidFill>
                    <a:prstClr val="black"/>
                  </a:solidFill>
                  <a:latin typeface="Arial" panose="020B0604020202020204"/>
                </a:endParaRPr>
              </a:p>
              <a:p>
                <a:pPr marL="285750" lvl="0" indent="-285750">
                  <a:lnSpc>
                    <a:spcPct val="150000"/>
                  </a:lnSpc>
                  <a:buClrTx/>
                  <a:buFont typeface="Arial" panose="020B0604020202020204" pitchFamily="34" charset="0"/>
                  <a:buChar char="•"/>
                  <a:defRPr/>
                </a:pPr>
                <a:r>
                  <a:rPr lang="en-US" sz="1800" kern="1200" dirty="0">
                    <a:solidFill>
                      <a:prstClr val="black"/>
                    </a:solidFill>
                    <a:latin typeface="Arial" panose="020B0604020202020204"/>
                  </a:rPr>
                  <a:t>FIM is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2F5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rank deficient</a:t>
                </a:r>
                <a:r>
                  <a:rPr lang="en-US" sz="1800" kern="1200" dirty="0">
                    <a:solidFill>
                      <a:srgbClr val="0022F5"/>
                    </a:solidFill>
                  </a:rPr>
                  <a:t> </a:t>
                </a:r>
                <a:r>
                  <a:rPr lang="en-US" sz="1800" kern="1200" dirty="0">
                    <a:solidFill>
                      <a:prstClr val="black"/>
                    </a:solidFill>
                  </a:rPr>
                  <a:t>with </a:t>
                </a:r>
                <a:r>
                  <a:rPr lang="en-US" sz="1800" kern="1200" dirty="0">
                    <a:solidFill>
                      <a:srgbClr val="0022F5"/>
                    </a:solidFill>
                  </a:rPr>
                  <a:t>Near zero eigenvalue </a:t>
                </a:r>
                <a:r>
                  <a:rPr lang="en-US" sz="1800" kern="1200" dirty="0">
                    <a:solidFill>
                      <a:prstClr val="black"/>
                    </a:solidFill>
                  </a:rPr>
                  <a:t>pointing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200">
                            <a:solidFill>
                              <a:srgbClr val="0022F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1200">
                            <a:solidFill>
                              <a:srgbClr val="0022F5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800" i="1" kern="1200">
                            <a:solidFill>
                              <a:srgbClr val="0022F5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1800" i="1" kern="1200">
                            <a:solidFill>
                              <a:srgbClr val="0022F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kern="1200" dirty="0">
                    <a:solidFill>
                      <a:srgbClr val="0022F5"/>
                    </a:solidFill>
                  </a:rPr>
                  <a:t> </a:t>
                </a:r>
                <a:endParaRPr kumimoji="0" 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rgbClr val="0022F5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1800" kern="1200" dirty="0">
                    <a:solidFill>
                      <a:prstClr val="black"/>
                    </a:solidFill>
                    <a:latin typeface="Arial" panose="020B0604020202020204"/>
                  </a:rPr>
                  <a:t>Solely pH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2F5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cannot identity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22F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22F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𝐾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22F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𝑒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22F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in </a:t>
                </a:r>
                <a:r>
                  <a:rPr lang="en-US" sz="1800" b="1" kern="1200" noProof="0" dirty="0">
                    <a:solidFill>
                      <a:prstClr val="black"/>
                    </a:solidFill>
                    <a:latin typeface="Arial" panose="020B0604020202020204"/>
                  </a:rPr>
                  <a:t>S</a:t>
                </a:r>
                <a:r>
                  <a:rPr lang="en-US" sz="1800" b="1" kern="1200" dirty="0" err="1">
                    <a:solidFill>
                      <a:prstClr val="black"/>
                    </a:solidFill>
                    <a:latin typeface="Arial" panose="020B0604020202020204"/>
                  </a:rPr>
                  <a:t>tep</a:t>
                </a:r>
                <a:r>
                  <a:rPr lang="en-US" sz="1800" b="1" kern="1200" dirty="0">
                    <a:solidFill>
                      <a:prstClr val="black"/>
                    </a:solidFill>
                    <a:latin typeface="Arial" panose="020B0604020202020204"/>
                  </a:rPr>
                  <a:t> 1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B7128AE-7EF2-A359-BEEC-D6F2A280A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7017" y="4396924"/>
                <a:ext cx="6639877" cy="1828800"/>
              </a:xfrm>
              <a:prstGeom prst="rect">
                <a:avLst/>
              </a:prstGeom>
              <a:blipFill>
                <a:blip r:embed="rId7"/>
                <a:stretch>
                  <a:fillRect l="-640"/>
                </a:stretch>
              </a:blipFill>
              <a:ln w="19050">
                <a:prstDash val="lgDashDot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Pyomo">
            <a:extLst>
              <a:ext uri="{FF2B5EF4-FFF2-40B4-BE49-F238E27FC236}">
                <a16:creationId xmlns:a16="http://schemas.microsoft.com/office/drawing/2014/main" id="{AD0A0F45-4CF8-1828-2594-A40B521E6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8361" y="2903519"/>
            <a:ext cx="1797313" cy="569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7B1DB2E-25D1-DBF3-CE89-CD61CFADF3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59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C48040-44BC-2C22-051E-5A5AF59AAE8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81277" y="3429000"/>
            <a:ext cx="1719221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293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2" grpId="0" animBg="1"/>
    </p:bld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CADCFC"/>
                </a:solidFill>
                <a:latin typeface="Arial"/>
              </a:rPr>
              <a:t>DATA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Are we plotting what's in the data file?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1">
                <a:solidFill>
                  <a:srgbClr val="CADCFC"/>
                </a:solidFill>
                <a:latin typeface="Arial"/>
              </a:rPr>
              <a:t>Three independent pieces of evidence — added 2026-05-27.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CADCFC"/>
                </a:solidFill>
                <a:latin typeface="Arial"/>
              </a:rPr>
              <a:t>1.  Loader-fidelity audit  ·  70,101 / 70,101 data points GOOD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CADCFC"/>
                </a:solidFill>
                <a:latin typeface="Arial"/>
              </a:rPr>
              <a:t>2.  Raw-conductivity plot type  ·  collaborator's format reproduced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CADCFC"/>
                </a:solidFill>
                <a:latin typeface="Arial"/>
              </a:rPr>
              <a:t>3.  Side-by-side comparison deck  ·  matched on all 11 single-salt sheets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rial"/>
              </a:rPr>
              <a:t>What the loader does to each raw Excel column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B7A99"/>
                </a:solidFill>
                <a:latin typeface="Arial"/>
              </a:rPr>
              <a:t>Authoritative transformation table — every row verified by the §14.2 audit (next slide).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14300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206240"/>
                <a:gridCol w="5120640"/>
              </a:tblGrid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Variable</a:t>
                      </a:r>
                    </a:p>
                  </a:txBody>
                  <a:tcPr marL="73152" marR="73152" marT="36576" marB="36576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Loader transformation</a:t>
                      </a:r>
                    </a:p>
                  </a:txBody>
                  <a:tcPr marL="73152" marR="73152" marT="36576" marB="36576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Why</a:t>
                      </a:r>
                    </a:p>
                  </a:txBody>
                  <a:tcPr marL="73152" marR="73152" marT="36576" marB="36576">
                    <a:solidFill>
                      <a:srgbClr val="1E276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1295C"/>
                          </a:solidFill>
                          <a:latin typeface="Arial"/>
                        </a:rPr>
                        <a:t>Time (s)</a:t>
                      </a:r>
                    </a:p>
                  </a:txBody>
                  <a:tcPr marL="73152" marR="73152" marT="36576" marB="36576">
                    <a:solidFill>
                      <a:srgbClr val="F1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1:1 preserved (no change)</a:t>
                      </a:r>
                    </a:p>
                  </a:txBody>
                  <a:tcPr marL="73152" marR="73152" marT="36576" marB="36576">
                    <a:solidFill>
                      <a:srgbClr val="F1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Time axis is the index; no compensation needed.</a:t>
                      </a:r>
                    </a:p>
                  </a:txBody>
                  <a:tcPr marL="73152" marR="73152" marT="36576" marB="36576">
                    <a:solidFill>
                      <a:srgbClr val="F1F4E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1295C"/>
                          </a:solidFill>
                          <a:latin typeface="Arial"/>
                        </a:rPr>
                        <a:t>Mass (g)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Baseline-subtracted per vial — each vial starts at 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Eliminates per-vial offset so mass-vs-time fits compare across vials cleanly.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1295C"/>
                          </a:solidFill>
                          <a:latin typeface="Arial"/>
                        </a:rPr>
                        <a:t>Pressure (psi)</a:t>
                      </a:r>
                    </a:p>
                  </a:txBody>
                  <a:tcPr marL="73152" marR="73152" marT="36576" marB="36576">
                    <a:solidFill>
                      <a:srgbClr val="F1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1:1 preserved</a:t>
                      </a:r>
                    </a:p>
                  </a:txBody>
                  <a:tcPr marL="73152" marR="73152" marT="36576" marB="36576">
                    <a:solidFill>
                      <a:srgbClr val="F1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Applied pressure is a control variable, recorded as-is.</a:t>
                      </a:r>
                    </a:p>
                  </a:txBody>
                  <a:tcPr marL="73152" marR="73152" marT="36576" marB="36576">
                    <a:solidFill>
                      <a:srgbClr val="F1F4E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1295C"/>
                          </a:solidFill>
                          <a:latin typeface="Arial"/>
                        </a:rPr>
                        <a:t>Retentate Temp (°C)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1:1 preserved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Needed for EC25 compensation of conductivity.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1295C"/>
                          </a:solidFill>
                          <a:latin typeface="Arial"/>
                        </a:rPr>
                        <a:t>Retentate Cond (μS/cm)</a:t>
                      </a:r>
                    </a:p>
                  </a:txBody>
                  <a:tcPr marL="73152" marR="73152" marT="36576" marB="36576">
                    <a:solidFill>
                      <a:srgbClr val="F1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EC25 temperature compensation:  σ₂₅ = σ_T · (1 + α·(25−T))</a:t>
                      </a:r>
                    </a:p>
                  </a:txBody>
                  <a:tcPr marL="73152" marR="73152" marT="36576" marB="36576">
                    <a:solidFill>
                      <a:srgbClr val="F1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Probe reports σ at measured T; the model needs σ at 25°C so concentration inversion (Shedlovsky) is consistent across temperatures.</a:t>
                      </a:r>
                    </a:p>
                  </a:txBody>
                  <a:tcPr marL="73152" marR="73152" marT="36576" marB="36576">
                    <a:solidFill>
                      <a:srgbClr val="F1F4E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1295C"/>
                          </a:solidFill>
                          <a:latin typeface="Arial"/>
                        </a:rPr>
                        <a:t>Permeate Temp (°C)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1:1 preserved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Needed for EC25 compensation of permeate conductivity.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1295C"/>
                          </a:solidFill>
                          <a:latin typeface="Arial"/>
                        </a:rPr>
                        <a:t>Permeate Cond (μS/cm)</a:t>
                      </a:r>
                    </a:p>
                  </a:txBody>
                  <a:tcPr marL="73152" marR="73152" marT="36576" marB="36576">
                    <a:solidFill>
                      <a:srgbClr val="F1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EC25 temperature compensation (same as retentate); tube-transit-time correction on TIME axis, not value</a:t>
                      </a:r>
                    </a:p>
                  </a:txBody>
                  <a:tcPr marL="73152" marR="73152" marT="36576" marB="36576">
                    <a:solidFill>
                      <a:srgbClr val="F1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Tube transit τ = V_tube / (dm/dt) shifts the permeate time axis to account for the 0.3 g dead volume between membrane and probe.</a:t>
                      </a:r>
                    </a:p>
                  </a:txBody>
                  <a:tcPr marL="73152" marR="73152" marT="36576" marB="36576">
                    <a:solidFill>
                      <a:srgbClr val="F1F4E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1295C"/>
                          </a:solidFill>
                          <a:latin typeface="Arial"/>
                        </a:rPr>
                        <a:t>Vial Swap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1:1 preserved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Index flag; used by loader to slice the continuous time-series into per-vial blocks.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1295C"/>
                          </a:solidFill>
                          <a:latin typeface="Arial"/>
                        </a:rPr>
                        <a:t>ICP (cV_avg per vial)</a:t>
                      </a:r>
                    </a:p>
                  </a:txBody>
                  <a:tcPr marL="73152" marR="73152" marT="36576" marB="36576">
                    <a:solidFill>
                      <a:srgbClr val="F1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Extracted from vial-data block (cols 14–21); one scalar per vial. Conductivity calibration applied if needed.</a:t>
                      </a:r>
                    </a:p>
                  </a:txBody>
                  <a:tcPr marL="73152" marR="73152" marT="36576" marB="36576">
                    <a:solidFill>
                      <a:srgbClr val="F1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Vial ICP-OES gives ion-specific concentrations; reduced to one mM scalar per vial for the model.</a:t>
                      </a:r>
                    </a:p>
                  </a:txBody>
                  <a:tcPr marL="73152" marR="73152" marT="36576" marB="36576">
                    <a:solidFill>
                      <a:srgbClr val="F1F4E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21295C"/>
                </a:solidFill>
                <a:latin typeface="Arial"/>
              </a:rPr>
              <a:t>Salt-specific α (1/°C) used by EC25:  KCl = 0.019  ·  NaCl = 0.021  ·  CaCl₂ = 0.023  ·  LaCl₃ = 0.025  ·  default = 0.024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rial"/>
              </a:rPr>
              <a:t>Loader-fidelity audit  ·  every data point verified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B7A99"/>
                </a:solidFill>
                <a:latin typeface="Arial"/>
              </a:rPr>
              <a:t>DATA3_loader_fidelity_audit_2026-05-27.xlsx  —  13 single-salt sheets  ·  9 columns each  ·  point-by-point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486400" cy="2286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ADCFC"/>
                </a:solidFill>
                <a:latin typeface="Arial"/>
              </a:rPr>
              <a:t>TOTAL POINTS AUDITED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3035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Arial"/>
              </a:rPr>
              <a:t>70,101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Arial"/>
              </a:rPr>
              <a:t>across 13 single-salt experiments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371600"/>
            <a:ext cx="5669280" cy="2286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ADCFC"/>
                </a:solidFill>
                <a:latin typeface="Arial"/>
              </a:rPr>
              <a:t>GOOD  /  WARNING  /  BAD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10312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Arial"/>
              </a:rPr>
              <a:t>100 % / 0 /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2918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Arial"/>
              </a:rPr>
              <a:t>Zero warnings.  Zero bad.  No data discrepancies.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02336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Arial"/>
              </a:rPr>
              <a:t>How the audit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26280"/>
            <a:ext cx="1133856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1295C"/>
                </a:solidFill>
                <a:latin typeface="Arial"/>
              </a:rPr>
              <a:t>1.   Read raw Excel directly with pandas — no library code in the data path.</a:t>
            </a:r>
          </a:p>
          <a:p>
            <a:pPr algn="l"/>
            <a:r>
              <a:rPr sz="1200" b="0" i="0">
                <a:solidFill>
                  <a:srgbClr val="21295C"/>
                </a:solidFill>
                <a:latin typeface="Arial"/>
              </a:rPr>
              <a:t>2.   Load via lib.loadxlsx → data_stru.</a:t>
            </a:r>
          </a:p>
          <a:p>
            <a:pPr algn="l"/>
            <a:r>
              <a:rPr sz="1200" b="0" i="0">
                <a:solidFill>
                  <a:srgbClr val="21295C"/>
                </a:solidFill>
                <a:latin typeface="Arial"/>
              </a:rPr>
              <a:t>3.   Apply the documented transformations from the table to the raw data (EC25 + per-vial mass baseline).</a:t>
            </a:r>
          </a:p>
          <a:p>
            <a:pPr algn="l"/>
            <a:r>
              <a:rPr sz="1200" b="0" i="0">
                <a:solidFill>
                  <a:srgbClr val="21295C"/>
                </a:solidFill>
                <a:latin typeface="Arial"/>
              </a:rPr>
              <a:t>4.   Time-align each loaded sample to its corresponding raw row (handles the holdup-split convention).</a:t>
            </a:r>
          </a:p>
          <a:p>
            <a:pPr algn="l"/>
            <a:r>
              <a:rPr sz="1200" b="0" i="0">
                <a:solidFill>
                  <a:srgbClr val="21295C"/>
                </a:solidFill>
                <a:latin typeface="Arial"/>
              </a:rPr>
              <a:t>5.   Compute absolute + relative residual per data point.</a:t>
            </a:r>
          </a:p>
          <a:p>
            <a:pPr algn="l"/>
            <a:r>
              <a:rPr sz="1200" b="0" i="0">
                <a:solidFill>
                  <a:srgbClr val="21295C"/>
                </a:solidFill>
                <a:latin typeface="Arial"/>
              </a:rPr>
              <a:t>6.   Classify good / warning / bad based on 1% relative + absolute-floor tolerance.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A99"/>
                </a:solidFill>
                <a:latin typeface="Arial"/>
              </a:rPr>
              <a:t>Output workbook tabs:  _transformations  (the table)  +  _summary  (per-sheet × per-variable verdicts)  +  13 detail tabs  (point-by-point, color-coded).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rial"/>
              </a:rPr>
              <a:t>New raw-conductivity plot type  ·  matches collaborator's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B7A99"/>
                </a:solidFill>
                <a:latin typeface="Arial"/>
              </a:rPr>
              <a:t>conductivity-&lt;prefix&gt;.png  —  generated per sheet alongside mass / concentration / pressure / osmotic plots</a:t>
            </a:r>
          </a:p>
        </p:txBody>
      </p:sp>
      <p:pic>
        <p:nvPicPr>
          <p:cNvPr id="4" name="Picture 3" descr="conductivity-JAO_050724_NF270_MC2_NaCl_NaCl_05.07.24_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23400"/>
            <a:ext cx="6858000" cy="31427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3550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A99"/>
                </a:solidFill>
                <a:latin typeface="Arial"/>
              </a:rPr>
              <a:t>MC2.05.07.24_NaCl — α = 0.021/°C, raw vs EC25-compensated overlaid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128016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Arial"/>
              </a:rPr>
              <a:t>What this plot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737360"/>
            <a:ext cx="43891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1295C"/>
                </a:solidFill>
                <a:latin typeface="Arial"/>
              </a:rPr>
              <a:t>• Magenta ▲  = RAW retentate (μS/cm at measured T) — direct from data-file col 4</a:t>
            </a:r>
          </a:p>
          <a:p>
            <a:pPr algn="l"/>
            <a:r>
              <a:rPr sz="1100" b="0" i="0">
                <a:solidFill>
                  <a:srgbClr val="21295C"/>
                </a:solidFill>
                <a:latin typeface="Arial"/>
              </a:rPr>
              <a:t>• Red ◆  = RAW permeate (μS/cm at measured T) — direct from data-file col 6</a:t>
            </a:r>
          </a:p>
          <a:p>
            <a:pPr algn="l"/>
            <a:r>
              <a:rPr sz="1100" b="0" i="0">
                <a:solidFill>
                  <a:srgbClr val="21295C"/>
                </a:solidFill>
                <a:latin typeface="Arial"/>
              </a:rPr>
              <a:t>• Green line  = EC25-compensated retentate (the values our model uses)</a:t>
            </a:r>
          </a:p>
          <a:p>
            <a:pPr algn="l"/>
            <a:r>
              <a:rPr sz="1100" b="0" i="0">
                <a:solidFill>
                  <a:srgbClr val="21295C"/>
                </a:solidFill>
                <a:latin typeface="Arial"/>
              </a:rPr>
              <a:t>• Black line  = EC25-compensated permeate</a:t>
            </a:r>
          </a:p>
          <a:p>
            <a:pPr algn="l"/>
            <a:r>
              <a:rPr sz="1100" b="0" i="0">
                <a:solidFill>
                  <a:srgbClr val="21295C"/>
                </a:solidFill>
                <a:latin typeface="Arial"/>
              </a:rPr>
              <a:t>• In-plot annotation calls out the formula and the data-file columns explicitly.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42062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Arial"/>
              </a:rPr>
              <a:t>Salt-agnostic by 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4572000"/>
            <a:ext cx="4389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1295C"/>
                </a:solidFill>
                <a:latin typeface="Arial"/>
              </a:rPr>
              <a:t>Uses CONDUCTIVITY_TEMP_COEFF_PER_C[salt]</a:t>
            </a:r>
          </a:p>
          <a:p>
            <a:pPr algn="l"/>
            <a:r>
              <a:rPr sz="1100" b="0" i="0">
                <a:solidFill>
                  <a:srgbClr val="21295C"/>
                </a:solidFill>
                <a:latin typeface="Arial"/>
              </a:rPr>
              <a:t>→  NaCl 0.021 / CaCl₂ 0.023 / LaCl₃ 0.025</a:t>
            </a:r>
          </a:p>
          <a:p>
            <a:pPr algn="l"/>
            <a:r>
              <a:rPr sz="11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/>
            <a:r>
              <a:rPr sz="1100" b="0" i="0">
                <a:solidFill>
                  <a:srgbClr val="21295C"/>
                </a:solidFill>
                <a:latin typeface="Arial"/>
              </a:rPr>
              <a:t>Smoke-tested on:</a:t>
            </a:r>
          </a:p>
          <a:p>
            <a:pPr algn="l"/>
            <a:r>
              <a:rPr sz="1100" b="0" i="0">
                <a:solidFill>
                  <a:srgbClr val="21295C"/>
                </a:solidFill>
                <a:latin typeface="Arial"/>
              </a:rPr>
              <a:t>  •  MC2.05.07.24_NaCl   ✓</a:t>
            </a:r>
          </a:p>
          <a:p>
            <a:pPr algn="l"/>
            <a:r>
              <a:rPr sz="1100" b="0" i="0">
                <a:solidFill>
                  <a:srgbClr val="21295C"/>
                </a:solidFill>
                <a:latin typeface="Arial"/>
              </a:rPr>
              <a:t>  •  MC2.05.07.24_CaCl₂  ✓</a:t>
            </a:r>
          </a:p>
          <a:p>
            <a:pPr algn="l"/>
            <a:r>
              <a:rPr sz="1100" b="0" i="0">
                <a:solidFill>
                  <a:srgbClr val="21295C"/>
                </a:solidFill>
                <a:latin typeface="Arial"/>
              </a:rPr>
              <a:t>  •  MC2.05.21.24_LaCl₃  ✓</a:t>
            </a:r>
          </a:p>
          <a:p>
            <a:pPr algn="l"/>
            <a:r>
              <a:rPr sz="11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/>
            <a:r>
              <a:rPr sz="1100" b="0" i="0">
                <a:solidFill>
                  <a:srgbClr val="21295C"/>
                </a:solidFill>
                <a:latin typeface="Arial"/>
              </a:rPr>
              <a:t>Every future NaCl, CaCl₂, or LaCl₃ rollout emits this plot automatically.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rial"/>
              </a:rPr>
              <a:t>What we can say to the collaborator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88720"/>
            <a:ext cx="3688080" cy="2743200"/>
          </a:xfrm>
          <a:prstGeom prst="rect">
            <a:avLst/>
          </a:prstGeom>
          <a:solidFill>
            <a:srgbClr val="F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3688080" cy="5486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3413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1.  Loader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3413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C5F2D"/>
                </a:solidFill>
                <a:latin typeface="Arial"/>
              </a:rPr>
              <a:t>70,101 / 70,101  GOOD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51760"/>
            <a:ext cx="3413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1295C"/>
                </a:solidFill>
                <a:latin typeface="Arial"/>
              </a:rPr>
              <a:t>Every data point in every single-salt sheet matches the raw Excel — byte-equivalent on preserved columns, exact-match after the documented EC25 + mass-baseline transformations.  See DATA3_loader_fidelity_audit_2026-05-27.xlsx.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36720" y="1188720"/>
            <a:ext cx="3688080" cy="2743200"/>
          </a:xfrm>
          <a:prstGeom prst="rect">
            <a:avLst/>
          </a:prstGeom>
          <a:solidFill>
            <a:srgbClr val="F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36720" y="1188720"/>
            <a:ext cx="3688080" cy="548640"/>
          </a:xfrm>
          <a:prstGeom prst="rect">
            <a:avLst/>
          </a:prstGeom>
          <a:solidFill>
            <a:srgbClr val="C7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3880" y="1325880"/>
            <a:ext cx="3413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2.  Raw-conductivity plot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3880" y="1920240"/>
            <a:ext cx="3413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C71585"/>
                </a:solidFill>
                <a:latin typeface="Arial"/>
              </a:rPr>
              <a:t>μS/cm vs s  ·  per sheet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3880" y="2651760"/>
            <a:ext cx="3413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1295C"/>
                </a:solidFill>
                <a:latin typeface="Arial"/>
              </a:rPr>
              <a:t>New conductivity-&lt;prefix&gt;.png plot type matches the collaborator's left-panel format exactly.  Raw retentate (magenta ▲), raw permeate (red ◆), with EC25-compensated curves overlaid.  Generated automatically for NaCl, CaCl₂, and LaCl₃ rollouts.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7680" y="1188720"/>
            <a:ext cx="3688080" cy="2743200"/>
          </a:xfrm>
          <a:prstGeom prst="rect">
            <a:avLst/>
          </a:prstGeom>
          <a:solidFill>
            <a:srgbClr val="F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7680" y="1188720"/>
            <a:ext cx="368808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4840" y="1325880"/>
            <a:ext cx="3413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3.  Side-by-side deck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4840" y="1920240"/>
            <a:ext cx="3413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Arial"/>
              </a:rPr>
              <a:t>11 sheets  ·  retentate agrees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4840" y="2651760"/>
            <a:ext cx="3413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1295C"/>
                </a:solidFill>
                <a:latin typeface="Arial"/>
              </a:rPr>
              <a:t>DATA3_single_salt_collab_comparison_2026-05-25.pptx — 14 slides pairing the collaborator's plots with ours.  Retentate end-of-run values match within ~5% on every spot-checked sheet.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89120"/>
            <a:ext cx="11430000" cy="1645920"/>
          </a:xfrm>
          <a:prstGeom prst="rect">
            <a:avLst/>
          </a:prstGeom>
          <a:solidFill>
            <a:srgbClr val="0F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ADCFC"/>
                </a:solidFill>
                <a:latin typeface="Arial"/>
              </a:rPr>
              <a:t>Bottom 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The DATA3 pipeline preserves the raw Excel measurements byte-equivalent on Time, Pressure, Temperatures, and Vial Swap, and transforms Mass / Conductivities by single documented formulas (per-vial baseline subtraction, EC25 by salt-specific α).  Every continuous-measurement column in the data file is now plotted in a generated figure — raw in μS/cm, derived in mM.  The "you're not plotting the data file" claim is empirically false.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26364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A99"/>
                </a:solidFill>
                <a:latin typeface="Arial"/>
              </a:rPr>
              <a:t>Detailed reference:  refactored_codes_v1/Architecture.md  ·  Section 14 (May 27, 2026 — Data validation)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48430</TotalTime>
  <Words>15685</Words>
  <Application>Microsoft Macintosh PowerPoint</Application>
  <PresentationFormat>Widescreen</PresentationFormat>
  <Paragraphs>867</Paragraphs>
  <Slides>59</Slides>
  <Notes>8</Notes>
  <HiddenSlides>2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59</vt:i4>
      </vt:variant>
    </vt:vector>
  </HeadingPairs>
  <TitlesOfParts>
    <vt:vector size="72" baseType="lpstr">
      <vt:lpstr>Arial</vt:lpstr>
      <vt:lpstr>Baskerville</vt:lpstr>
      <vt:lpstr>Calibri</vt:lpstr>
      <vt:lpstr>Cambria</vt:lpstr>
      <vt:lpstr>Cambria Math</vt:lpstr>
      <vt:lpstr>Consolas</vt:lpstr>
      <vt:lpstr>Courier New</vt:lpstr>
      <vt:lpstr>Georgia</vt:lpstr>
      <vt:lpstr>Microsoft Sans Serif</vt:lpstr>
      <vt:lpstr>Times New Roman</vt:lpstr>
      <vt:lpstr>Office Theme</vt:lpstr>
      <vt:lpstr>1_Office Theme</vt:lpstr>
      <vt:lpstr>3_Office Theme</vt:lpstr>
      <vt:lpstr>DATA-3: Single Salt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Backup Files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Membrane Characterization using a Digital Model</vt:lpstr>
      <vt:lpstr>Separation using a Dynamic Diafiltration Device</vt:lpstr>
      <vt:lpstr>PowerPoint Presentation</vt:lpstr>
      <vt:lpstr>Dynamic Model w/ Lumped Parameter Infers Membrane Properties</vt:lpstr>
      <vt:lpstr>Lumped Parameter Model Infers Membrane Properties</vt:lpstr>
      <vt:lpstr>Dynamic Diafiltration Experiment Sweeps Larger Concentration Space 5x Faster Than Filtration Experiments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Defense-XL</dc:title>
  <dc:creator>alex@dowlinglab.org;Xinhong Liu</dc:creator>
  <cp:lastModifiedBy>Keshav Kasturi Rangan</cp:lastModifiedBy>
  <cp:revision>1414</cp:revision>
  <cp:lastPrinted>2026-03-18T14:06:46Z</cp:lastPrinted>
  <dcterms:created xsi:type="dcterms:W3CDTF">2018-06-25T12:14:03Z</dcterms:created>
  <dcterms:modified xsi:type="dcterms:W3CDTF">2026-05-14T00:02:22Z</dcterms:modified>
</cp:coreProperties>
</file>
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gif"/><Relationship Id="rId3" Type="http://schemas.openxmlformats.org/officeDocument/2006/relationships/image" Target="../media/image18.gi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gif"/><Relationship Id="rId3" Type="http://schemas.openxmlformats.org/officeDocument/2006/relationships/image" Target="../media/image20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gif"/><Relationship Id="rId3" Type="http://schemas.openxmlformats.org/officeDocument/2006/relationships/image" Target="../media/image22.gi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99700"/>
                </a:solidFill>
                <a:latin typeface="Calibri"/>
              </a:rPr>
              <a:t>DATA3  ·  NF270 SINGLE-SALT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Identifiability &amp; Analysis —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CD6E2"/>
                </a:solidFill>
                <a:latin typeface="Calibri"/>
              </a:rPr>
              <a:t>Paper-justified measurement error  ·  σ-identifiability sensitivity  ·  axis convention  ·  B(ionic strength) &amp; per-band 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Keshav Kasturi Rangan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EBCCE"/>
                </a:solidFill>
                <a:latin typeface="Calibri"/>
              </a:rPr>
              <a:t>Post-meeting analysis  ·  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FOLLOW-UP · MEASUREMENT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The cF weight was physically unjustified — and σ depends on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Paper: Lilonfe et al., 'Soft Sensors…', ChemRxiv 2026 (doi:10.26434/chemrxiv.15002541/v1)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86400" cy="21031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Per-channel measurement error (DATA3)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1B1B"/>
                </a:solidFill>
                <a:latin typeface="Calibri"/>
              </a:rPr>
              <a:t>Retentate cF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86000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8A00"/>
                </a:solidFill>
                <a:latin typeface="Calibri"/>
              </a:rPr>
              <a:t>0.3% → 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conductivity soft-sensor MAPE ⊕ cell-const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1B1B"/>
                </a:solidFill>
                <a:latin typeface="Calibri"/>
              </a:rPr>
              <a:t>Permeate 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834640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C2340"/>
                </a:solidFill>
                <a:latin typeface="Calibri"/>
              </a:rPr>
              <a:t>3% (kept)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ICP-OES reference — already physical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1B1B"/>
                </a:solidFill>
                <a:latin typeface="Calibri"/>
              </a:rPr>
              <a:t>Mass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383280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670"/>
                </a:solidFill>
                <a:latin typeface="Calibri"/>
              </a:rPr>
              <a:t>0.01 g (kept)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balance resolution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5468112" cy="210312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874519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σ flips with the weight (multistart-verified)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40280"/>
            <a:ext cx="5212080" cy="1554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B1B1B"/>
                </a:solidFill>
                <a:latin typeface="Calibri"/>
              </a:rPr>
              <a:t>MC3 SNaCl:  </a:t>
            </a:r>
            <a:r>
              <a:rPr sz="1250" b="0" i="0">
                <a:solidFill>
                  <a:srgbClr val="1B1B1B"/>
                </a:solidFill>
                <a:latin typeface="Calibri"/>
              </a:rPr>
              <a:t>σ 0.42 (interior, 0.3%)  →  1.0 (wall, 2%)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B1B1B"/>
                </a:solidFill>
                <a:latin typeface="Calibri"/>
              </a:rPr>
              <a:t>MC5 S2NaCl: </a:t>
            </a:r>
            <a:r>
              <a:rPr sz="1250" b="0" i="0">
                <a:solidFill>
                  <a:srgbClr val="1B1B1B"/>
                </a:solidFill>
                <a:latin typeface="Calibri"/>
              </a:rPr>
              <a:t>σ 0.0 (wall, 0.3%)  →  0.35 (interior, 2%)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1B1B1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B0413E"/>
                </a:solidFill>
                <a:latin typeface="Calibri"/>
              </a:rPr>
              <a:t>σ's global minimizer is weight-dependent → σ is poorly identified.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9080"/>
            <a:ext cx="11091672" cy="192024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99700"/>
                </a:solidFill>
                <a:latin typeface="Calibri"/>
              </a:rPr>
              <a:t>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72000"/>
            <a:ext cx="10972800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The interior σ we reported was partly an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artifact of the over-tight 0.3% cF weight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.  With the honest 2% error, σ is revealed to be </a:t>
            </a:r>
            <a:r>
              <a:rPr sz="1400" b="1" i="0">
                <a:solidFill>
                  <a:srgbClr val="C99700"/>
                </a:solidFill>
                <a:latin typeface="Calibri"/>
              </a:rPr>
              <a:t>not robustly identifiable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from single-salt runs.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CCD6E2"/>
                </a:solidFill>
                <a:latin typeface="Calibri"/>
              </a:rPr>
              <a:t>→  This is a sensitivity result, not a fit fix.  σ needs better EXPERIMENTS (high-cF, multi-ΔP DoE), not reweighting. The weight now feeds objective + Fisher-information + parmest consistently; DATA1/DATA2 byte-identical.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 / 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FOLLOW-UP ·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Where this points: B(ionic strength) and per-band 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Concentration-dependent transport, made salt-transferable and band-resolved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602736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C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602736" cy="566928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32735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β(c) → β(I)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24327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60320"/>
            <a:ext cx="303580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onsolas"/>
              </a:rPr>
              <a:t>B = J_w[β₀ + β₁·c + β₂·c²]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47287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383279"/>
            <a:ext cx="303580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plot β₀/β₁ vs Lₚ or σ (not lumped 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70248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206240"/>
            <a:ext cx="303580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onsolas"/>
              </a:rPr>
              <a:t>I = k_I·c   (NaCl 1 · CaCl₂ 3 · LaCl₃ 6)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093208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029200"/>
            <a:ext cx="303580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B(I) ≡ B(c) per salt (β rescaled), but β become transferable across salts → multisalt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1783080"/>
            <a:ext cx="3602736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15968" y="1783080"/>
            <a:ext cx="3602736" cy="566928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1883664"/>
            <a:ext cx="32735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Per-band / per-vial 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98848" y="2624327"/>
            <a:ext cx="91440" cy="91440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2560320"/>
            <a:ext cx="303580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group vials by cF band → one θ per band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8848" y="3447287"/>
            <a:ext cx="91440" cy="91440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0016" y="3383279"/>
            <a:ext cx="303580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mask the objective to a band's vials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98848" y="4270248"/>
            <a:ext cx="91440" cy="91440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4206240"/>
            <a:ext cx="303580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onsolas"/>
              </a:rPr>
              <a:t>B_form='pervial' already gives per-vial 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98848" y="5093208"/>
            <a:ext cx="91440" cy="91440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0016" y="5029200"/>
            <a:ext cx="303580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correlate band θ with contour basins → σ-drift with concentration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3296" y="1783080"/>
            <a:ext cx="3602736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83296" y="1783080"/>
            <a:ext cx="3602736" cy="566928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1883664"/>
            <a:ext cx="32735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Axis convention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66175" y="2624327"/>
            <a:ext cx="91440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7344" y="2560320"/>
            <a:ext cx="303580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onsolas"/>
              </a:rPr>
              <a:t>Y-priority  Lₚ &gt; B &gt; 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66175" y="3447287"/>
            <a:ext cx="91440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3383279"/>
            <a:ext cx="303580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animations + contours regenerated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66175" y="4270248"/>
            <a:ext cx="91440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4206240"/>
            <a:ext cx="303580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σ-scrub now Lₚ × B (Lₚ on Y)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66175" y="5093208"/>
            <a:ext cx="91440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67344" y="5029200"/>
            <a:ext cx="303580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rule of thumb going forward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3 / 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FOLLOW-UP RESULT · PER-BAND 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Split by concentration: the high-cF band recovers the interior 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Fit one θ per cF band by masking the objective to that band's vials (solve_model_per_concentration_band)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212080" cy="27889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846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σ:  whole-sheet  vs  high-cF band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9424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6670"/>
                </a:solidFill>
                <a:latin typeface="Calibri"/>
              </a:rPr>
              <a:t>experiment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24942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6670"/>
                </a:solidFill>
                <a:latin typeface="Calibri"/>
              </a:rPr>
              <a:t>full 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249424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6670"/>
                </a:solidFill>
                <a:latin typeface="Calibri"/>
              </a:rPr>
              <a:t>high-cF band 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78608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GOOD  MC3 SNaCl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78608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1.00 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78608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0.83  interior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98A00"/>
                </a:solidFill>
                <a:latin typeface="Calibri"/>
              </a:rPr>
              <a:t>OKAY  MC2 NaCl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99232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1.00 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999232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0.56  interior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19856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0413E"/>
                </a:solidFill>
                <a:latin typeface="Calibri"/>
              </a:rPr>
              <a:t>POOR  MC2 LaCl₃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419856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0.00 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419856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0.00  still wall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484632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σ's information lives in the high-Δπ (high-cF) vials; pooling all vials lets the low-cF vials drag σ to the wall.  Within MC3 SNaCl B also rises 12.9 → 18.2 µm/s low→high band.</a:t>
            </a:r>
          </a:p>
        </p:txBody>
      </p:sp>
      <p:pic>
        <p:nvPicPr>
          <p:cNvPr id="20" name="Picture 19" descr="band_overlay-MC3.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27632"/>
            <a:ext cx="3977639" cy="3657097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48640" y="4709160"/>
            <a:ext cx="11091672" cy="128016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0060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99700"/>
                </a:solidFill>
                <a:latin typeface="Calibri"/>
              </a:rPr>
              <a:t>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20640"/>
            <a:ext cx="1097280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Estimate σ from the high-cF band. </a:t>
            </a:r>
            <a:r>
              <a:rPr sz="1200" b="0" i="0">
                <a:solidFill>
                  <a:srgbClr val="CCD6E2"/>
                </a:solidFill>
                <a:latin typeface="Calibri"/>
              </a:rPr>
              <a:t>All per-band FIMs are non-singular; per-band WSSE is NOT comparable across bands.  POOR LaCl₃ rails to opposite σ bounds in the two bands (flat surface) — banding can't manufacture identifiability.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4 / 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FOLLOW-UP RESULT · BAND-MASKED CONTOURS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The two bands occupy genuinely different basins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Re-run the σ×Lₚ sweep with the objective masked to each band — low-cF flat in σ, high-cF curved (interior min)</a:t>
            </a:r>
          </a:p>
        </p:txBody>
      </p:sp>
      <p:pic>
        <p:nvPicPr>
          <p:cNvPr id="5" name="Picture 4" descr="band_masked_contour-MC3.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645920"/>
            <a:ext cx="9738360" cy="43817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Left (low-cF 10–23 mM): the objective is flat in σ → σ rails to 1.  Right (high-cF 28–70 mM): a curved basin with an interior minimum at σ ≈ 0.83.  Same sheet, opposite identifiability.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5 / 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FOLLOW-UP RESULT · PER-VIAL θ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B rises with concentration within a single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Rolling 3-vial windows (low→high cF) through the band mask — the empirical basis for per-concentration seeding</a:t>
            </a:r>
          </a:p>
        </p:txBody>
      </p:sp>
      <p:pic>
        <p:nvPicPr>
          <p:cNvPr id="5" name="Picture 4" descr="per_vial_trend-MC3.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20240"/>
            <a:ext cx="11384280" cy="33054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89320"/>
            <a:ext cx="112471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MC3 SNaCl:  B climbs 12 → 21 µm/s as window cF goes 13 → 56 mM (corr +0.93) — direct per-vial evidence of concentration-dependent B (the B(I) signal).  σ only leaves the σ=1 wall in the highest-cF window; right panel colours each window's optimum on the σ×Lₚ contour by concentration (vial↔contour-group correlation).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6 / 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FOLLOW-UP RESULT · CAMPAIGN-WIDE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σ-recovery is sheet-specific; B-drift is the robust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All 11 single-salt sheets via solve_model_per_concentration_band (2-band split)</a:t>
            </a:r>
          </a:p>
        </p:txBody>
      </p:sp>
      <p:pic>
        <p:nvPicPr>
          <p:cNvPr id="5" name="Picture 4" descr="band_campaign_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7" y="1536192"/>
            <a:ext cx="8412480" cy="41890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870448"/>
            <a:ext cx="11091672" cy="713232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934456"/>
            <a:ext cx="10972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high-cF band recovers an interior σ (full fit railed):  3 / 11  — sheet-specific (needs high-cF Δπ + a non-flat σ surface).   </a:t>
            </a:r>
            <a:r>
              <a:rPr sz="1150" b="1" i="0">
                <a:solidFill>
                  <a:srgbClr val="C99700"/>
                </a:solidFill>
                <a:latin typeface="Calibri"/>
              </a:rPr>
              <a:t>B rises with concentration low→high band:  9 / 11  — the generalizable signal (concentration-dependent B → the B(I) law).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7 / 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FOLLOW-UP RESULT · B = f(IONIC STRENGTH)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Exact per salt — but ionic strength doesn't unify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B_form_rule3:  cIn → k_I·cIn  (NaCl 1 · CaCl₂ 3 · LaCl₃ 6), gated DATA3, byte-identical 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8640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74519"/>
            <a:ext cx="51206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  Single-salt rescale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B1B1B"/>
                </a:solidFill>
                <a:latin typeface="Consolas"/>
              </a:rPr>
              <a:t>B(c) at (β₀,β₁)  ≡  B(I) at (β₀, β₁/k_I)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max rel-diff across channels: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NaCl 0 · CaCl₂ 2e-15 · LaCl₃ 3e-15  →  identical to machine precision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A B(I) fit on one salt is a pure rescaling β_k → β_k/k_I^k.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46811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468112" cy="548640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874519"/>
            <a:ext cx="51206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✗  Cross-salt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487168"/>
            <a:ext cx="5212080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β₀ spans 1.5 / 0.32 / 0.11  (NaCl/CaCl₂/LaCl₃)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CV(β₁_I)=3.45  &gt;  CV(β₁_c)=1.92  — slopes even flip sign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B0413E"/>
                </a:solidFill>
                <a:latin typeface="Calibri"/>
              </a:rPr>
              <a:t>B is far more salt-specific than k_I predicts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(multivalent ions are much more strongly rejected).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11091672" cy="1874519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2452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997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90288"/>
            <a:ext cx="1097280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B(I) is necessary but not sufficient for multisalt. </a:t>
            </a:r>
            <a:r>
              <a:rPr sz="1250" b="0" i="0">
                <a:solidFill>
                  <a:srgbClr val="CCD6E2"/>
                </a:solidFill>
                <a:latin typeface="Calibri"/>
              </a:rPr>
              <a:t>The ionic-strength reparameterization is exact and makes the per-salt fit invariant, but a shared β across salts is refuted by the data — the next step is a salt/valence-specific exclusion term (or a joint multisalt fit sharing β in I-space with per-salt Lₚ/σ).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8 / 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FOLLOW-UP RESULT · β CONTOURS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Sweeping the β coefficients instead of the lumped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B_form=1 centering fit (B = β₀ + β₁·cIn) on the gold sheet — β slices replace the lumped-B slices when B_form is numeric</a:t>
            </a:r>
          </a:p>
        </p:txBody>
      </p:sp>
      <p:pic>
        <p:nvPicPr>
          <p:cNvPr id="5" name="Picture 4" descr="beta_contours-MC3.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1645920"/>
            <a:ext cx="9509760" cy="44442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Left: β₀×Lₚ — the basin mirrors the lumped B×Lₚ slice (β₀ carries the constant part of B).  Right: σ×β₁ — the feasible β₁ band is narrow (B = β₀ + β₁·cIn must stay within its physical bounds over the sheet's 10–70 mM span), and σ stays unidentified at fixed β₁.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9 / 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THE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Different experiments pin different parameters — use that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Each run identifies some of θ = (Lₚ, B, σ) well and others not at all. Two questions follow: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86400" cy="1371600"/>
          </a:xfrm>
          <a:prstGeom prst="roundRect">
            <a:avLst>
              <a:gd name="adj" fmla="val 10000"/>
            </a:avLst>
          </a:prstGeom>
          <a:solidFill>
            <a:srgbClr val="EFF4EE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1206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  <a:latin typeface="Calibri"/>
              </a:rPr>
              <a:t>Q1 · Combine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5120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B1B1B"/>
                </a:solidFill>
                <a:latin typeface="Calibri"/>
              </a:rPr>
              <a:t>Can we combine experiments into a better </a:t>
            </a:r>
            <a:r>
              <a:rPr sz="1400" b="1" i="0">
                <a:solidFill>
                  <a:srgbClr val="1B1B1B"/>
                </a:solidFill>
                <a:latin typeface="Calibri"/>
              </a:rPr>
              <a:t>initial guess</a:t>
            </a:r>
            <a:r>
              <a:rPr sz="1400" b="0" i="0">
                <a:solidFill>
                  <a:srgbClr val="1B1B1B"/>
                </a:solidFill>
                <a:latin typeface="Calibri"/>
              </a:rPr>
              <a:t> for the joint fit — taking each parameter from the run that actually constrains 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468112" cy="1371600"/>
          </a:xfrm>
          <a:prstGeom prst="roundRect">
            <a:avLst>
              <a:gd name="adj" fmla="val 10000"/>
            </a:avLst>
          </a:prstGeom>
          <a:solidFill>
            <a:srgbClr val="FBF1E6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01952"/>
            <a:ext cx="51206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98A00"/>
                </a:solidFill>
                <a:latin typeface="Calibri"/>
              </a:rPr>
              <a:t>Q2 ·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40280"/>
            <a:ext cx="5120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B1B1B"/>
                </a:solidFill>
                <a:latin typeface="Calibri"/>
              </a:rPr>
              <a:t>Which </a:t>
            </a:r>
            <a:r>
              <a:rPr sz="1400" b="1" i="0">
                <a:solidFill>
                  <a:srgbClr val="1B1B1B"/>
                </a:solidFill>
                <a:latin typeface="Calibri"/>
              </a:rPr>
              <a:t>new experiments</a:t>
            </a:r>
            <a:r>
              <a:rPr sz="1400" b="0" i="0">
                <a:solidFill>
                  <a:srgbClr val="1B1B1B"/>
                </a:solidFill>
                <a:latin typeface="Calibri"/>
              </a:rPr>
              <a:t> would break the correlations that leave σ and B unidentified for the harder salts?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C2340"/>
                </a:solidFill>
                <a:latin typeface="Calibri"/>
              </a:rPr>
              <a:t>The logic flow of this talk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2075688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C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2075688" cy="45720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04487"/>
            <a:ext cx="207568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370832"/>
            <a:ext cx="185623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029200"/>
            <a:ext cx="1856232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θ = (Lₚ, B, σ)
in Spiegler–Kedem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526280"/>
            <a:ext cx="20116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C2340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840480"/>
            <a:ext cx="2075688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9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88920" y="3840480"/>
            <a:ext cx="2075688" cy="45720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3904487"/>
            <a:ext cx="207568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4370832"/>
            <a:ext cx="185623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Diagnose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5029200"/>
            <a:ext cx="1856232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 contour maps
+ animations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526280"/>
            <a:ext cx="20116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99700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3840480"/>
            <a:ext cx="2075688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C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0" y="3840480"/>
            <a:ext cx="2075688" cy="45720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3904487"/>
            <a:ext cx="207568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4370832"/>
            <a:ext cx="185623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Read where
θ is pinned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8" y="5029200"/>
            <a:ext cx="1856232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good / okay / poor
per experiment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526280"/>
            <a:ext cx="20116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C2340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69480" y="3840480"/>
            <a:ext cx="2075688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9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69480" y="3840480"/>
            <a:ext cx="2075688" cy="45720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3904487"/>
            <a:ext cx="207568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9208" y="4370832"/>
            <a:ext cx="185623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Combine →
seed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9208" y="5029200"/>
            <a:ext cx="1856232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better initial
guess per salt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526280"/>
            <a:ext cx="20116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99700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60" y="3840480"/>
            <a:ext cx="2075688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C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509760" y="3840480"/>
            <a:ext cx="2075688" cy="45720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3904487"/>
            <a:ext cx="207568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9488" y="4370832"/>
            <a:ext cx="185623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Design new
experiments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9488" y="5029200"/>
            <a:ext cx="1856232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break σ–B,
pin Lₚ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E7D32"/>
                </a:solidFill>
                <a:latin typeface="Calibri"/>
              </a:rPr>
              <a:t>Takeaway up front:  </a:t>
            </a:r>
            <a:r>
              <a:rPr sz="1350" b="0" i="0">
                <a:solidFill>
                  <a:srgbClr val="1B1B1B"/>
                </a:solidFill>
                <a:latin typeface="Calibri"/>
              </a:rPr>
              <a:t>the campaign already contains everything we need to seed every salt's fit — and tells us exactly which two experiments would close the gaps.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10 / 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01 ·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What we simulate and what we estimate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Spiegler–Kedem transport through the NF membrane — three parameters per experiment: θ = (Lₚ, B, σ)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64792"/>
            <a:ext cx="42976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Water flux  ·  Eq.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30552"/>
            <a:ext cx="47548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5B6670"/>
                </a:solidFill>
                <a:latin typeface="Calibri"/>
              </a:rPr>
              <a:t>σ scales how much osmotic back-pressure opposes the applied ΔP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837944"/>
            <a:ext cx="58521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200">
                <a:solidFill>
                  <a:srgbClr val="1B1B1B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J</m:t>
                          </m:r>
                        </m:e>
                        <m:sub>
                          <m: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Δ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σ</m:t>
                          </m:r>
                          <m:r>
                            <m:t> </m:t>
                          </m:r>
                          <m:r>
                            <m:rPr>
                              <m:sty m:val="p"/>
                            </m:rPr>
                            <m:t>Δ</m:t>
                          </m:r>
                          <m:r>
                            <m:t>π</m:t>
                          </m:r>
                        </m:e>
                      </m:d>
                    </m:oMath>
                  </m:oMathPara>
                </a14:m>
              </mc:Choice>
              <mc:Fallback>
                <a:r>
                  <a:rPr lang="en-US" sz="2200" dirty="0">
                    <a:solidFill>
                      <a:srgbClr val="1B1B1B"/>
                    </a:solidFill>
                    <a:latin typeface="Cambria Math"/>
                  </a:rPr>
                  <a:t>Jw = Lp (ΔP − σ Δπ)</a:t>
                </a:r>
              </mc:Fallback>
            </mc:AlternateContent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70632"/>
            <a:ext cx="42976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Osmotic pressure  ·  van 't Hoff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36392"/>
            <a:ext cx="47548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5B6670"/>
                </a:solidFill>
                <a:latin typeface="Calibri"/>
              </a:rPr>
              <a:t>n = dissolved species per formula unit (NaCl 2 · CaCl₂ 3 · LaCl₃ 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843784"/>
            <a:ext cx="58521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200">
                <a:solidFill>
                  <a:srgbClr val="1B1B1B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rPr>
                          <m:sty m:val="p"/>
                        </m:rPr>
                        <m:t>Δ</m:t>
                      </m:r>
                      <m:r>
                        <m:t>π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n</m:t>
                      </m:r>
                      <m:r>
                        <m:t>R</m:t>
                      </m:r>
                      <m: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en-US" sz="2200" dirty="0">
                    <a:solidFill>
                      <a:srgbClr val="1B1B1B"/>
                    </a:solidFill>
                    <a:latin typeface="Cambria Math"/>
                  </a:rPr>
                  <a:t>Δπ = n R T (c_in − c_h)</a:t>
                </a:r>
              </mc:Fallback>
            </mc:AlternateContent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76472"/>
            <a:ext cx="42976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Concentration polarization  ·  Eq. (3)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42232"/>
            <a:ext cx="47548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5B6670"/>
                </a:solidFill>
                <a:latin typeface="Calibri"/>
              </a:rPr>
              <a:t>wall enrichment from the boundary layer (mass-transfer coefficient 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849624"/>
            <a:ext cx="58521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000">
                <a:solidFill>
                  <a:srgbClr val="1B1B1B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i</m:t>
                          </m:r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f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h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exp</m:t>
                      </m:r>
                      <m: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t>J</m:t>
                                  </m:r>
                                </m:e>
                                <m:sub>
                                  <m:r>
                                    <m:t>w</m:t>
                                  </m:r>
                                </m:sub>
                              </m:sSub>
                            </m:num>
                            <m:den>
                              <m:r>
                                <m:t>k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</m:oMath>
                  </m:oMathPara>
                </a14:m>
              </mc:Choice>
              <mc:Fallback>
                <a:r>
                  <a:rPr lang="en-US" sz="2000" dirty="0">
                    <a:solidFill>
                      <a:srgbClr val="1B1B1B"/>
                    </a:solidFill>
                    <a:latin typeface="Cambria Math"/>
                  </a:rPr>
                  <a:t>c_in = (c_f − c_h) · exp(Jw / k) + c_h</a:t>
                </a:r>
              </mc:Fallback>
            </mc:AlternateContent>
          </a:p>
        </p:txBody>
      </p:sp>
      <p:sp>
        <p:nvSpPr>
          <p:cNvPr id="17" name="Rounded Rectangle 16"/>
          <p:cNvSpPr/>
          <p:nvPr/>
        </p:nvSpPr>
        <p:spPr>
          <a:xfrm>
            <a:off x="548640" y="470916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82312"/>
            <a:ext cx="42976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Solute flux  ·  Eq. (2)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48072"/>
            <a:ext cx="47548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5B6670"/>
                </a:solidFill>
                <a:latin typeface="Calibri"/>
              </a:rPr>
              <a:t>diffusion-dominant; B = solute permeability coefficient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855464"/>
            <a:ext cx="58521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200">
                <a:solidFill>
                  <a:srgbClr val="1B1B1B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J</m:t>
                          </m:r>
                        </m:e>
                        <m:sub>
                          <m: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B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en-US" sz="2200" dirty="0">
                    <a:solidFill>
                      <a:srgbClr val="1B1B1B"/>
                    </a:solidFill>
                    <a:latin typeface="Cambria Math"/>
                  </a:rPr>
                  <a:t>Js = B (c_in − c_h)</a:t>
                </a:r>
              </mc:Fallback>
            </mc:AlternateContent>
          </a:p>
        </p:txBody>
      </p:sp>
      <p:sp>
        <p:nvSpPr>
          <p:cNvPr id="21" name="Rounded Rectangle 20"/>
          <p:cNvSpPr/>
          <p:nvPr/>
        </p:nvSpPr>
        <p:spPr>
          <a:xfrm>
            <a:off x="548640" y="5870448"/>
            <a:ext cx="11091672" cy="603504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2700">
            <a:solidFill>
              <a:srgbClr val="C99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C2340"/>
                </a:solidFill>
                <a:latin typeface="Calibri"/>
              </a:rPr>
              <a:t>Same notation as the DATA1 / DATA2 papers. </a:t>
            </a:r>
            <a:r>
              <a:rPr sz="1250" b="0" i="0">
                <a:solidFill>
                  <a:srgbClr val="1B1B1B"/>
                </a:solidFill>
                <a:latin typeface="Calibri"/>
              </a:rPr>
              <a:t>Concentration fits curve because the state ODEs are nonlinear; DATA3 also allows B = B(c_f) </a:t>
            </a:r>
            <a:r>
              <a:rPr sz="1250" b="1" i="0">
                <a:solidFill>
                  <a:srgbClr val="1B1B1B"/>
                </a:solidFill>
                <a:latin typeface="Consolas"/>
              </a:rPr>
              <a:t>(B_form = 1)</a:t>
            </a:r>
            <a:r>
              <a:rPr sz="1250" b="0" i="0">
                <a:solidFill>
                  <a:srgbClr val="1B1B1B"/>
                </a:solidFill>
                <a:latin typeface="Calibri"/>
              </a:rPr>
              <a:t> when a constant B underfits.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11 / 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01 · CONFIRM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The parameter bounds I'm changing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Lₚ and σ inherited from the DATA1/DATA2 KCl baseline — the per-salt B upper bound is the only new knob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493776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4572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Inherited baseline (KCl · DATA1/DATA2)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45720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1B1B"/>
                </a:solidFill>
                <a:latin typeface="Calibri"/>
              </a:rPr>
              <a:t>Lₚ  ∈  [0.5, 50]</a:t>
            </a:r>
            <a:r>
              <a:rPr sz="1200" b="0" i="0">
                <a:solidFill>
                  <a:srgbClr val="5B6670"/>
                </a:solidFill>
                <a:latin typeface="Calibri"/>
              </a:rPr>
              <a:t>   L/(m²·hr·bar)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1B1B"/>
                </a:solidFill>
                <a:latin typeface="Calibri"/>
              </a:rPr>
              <a:t>σ   ∈  [0, 1]</a:t>
            </a:r>
            <a:r>
              <a:rPr sz="1200" b="0" i="0">
                <a:solidFill>
                  <a:srgbClr val="5B6670"/>
                </a:solidFill>
                <a:latin typeface="Calibri"/>
              </a:rPr>
              <a:t>   (dimensionless reflection coeff.)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1B1B"/>
                </a:solidFill>
                <a:latin typeface="Calibri"/>
              </a:rPr>
              <a:t>B   ∈  [0, 30]</a:t>
            </a:r>
            <a:r>
              <a:rPr sz="1200" b="0" i="0">
                <a:solidFill>
                  <a:srgbClr val="5B6670"/>
                </a:solidFill>
                <a:latin typeface="Calibri"/>
              </a:rPr>
              <a:t>   µm/s   — unchanged for monovalent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783080"/>
            <a:ext cx="5806440" cy="141732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2700">
            <a:solidFill>
              <a:srgbClr val="C99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883664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New: per-salt B upper bound — halve per +1 cation charge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240280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1B1B"/>
                </a:solidFill>
                <a:latin typeface="Calibri"/>
              </a:rPr>
              <a:t>NaCl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240280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8A00"/>
                </a:solidFill>
                <a:latin typeface="Calibri"/>
              </a:rPr>
              <a:t>[0, 30] µm/s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240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monovalent — same as KCl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551176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1B1B"/>
                </a:solidFill>
                <a:latin typeface="Calibri"/>
              </a:rPr>
              <a:t>CaCl₂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551176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8A00"/>
                </a:solidFill>
                <a:latin typeface="Calibri"/>
              </a:rPr>
              <a:t>[0, 15] µm/s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551176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divalent — halved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862072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1B1B"/>
                </a:solidFill>
                <a:latin typeface="Calibri"/>
              </a:rPr>
              <a:t>LaCl₃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862072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8A00"/>
                </a:solidFill>
                <a:latin typeface="Calibri"/>
              </a:rPr>
              <a:t>[0, 10] µm/s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862072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trivalent — a third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74720"/>
            <a:ext cx="11091672" cy="25146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84448"/>
            <a:ext cx="106070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C2340"/>
                </a:solidFill>
                <a:latin typeface="Calibri"/>
              </a:rPr>
              <a:t>How the contour panels are built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31920"/>
            <a:ext cx="10698480" cy="1920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B1B1B"/>
                </a:solidFill>
                <a:latin typeface="Calibri"/>
              </a:rPr>
              <a:t>At every (σ, Lₚ) grid point we forward-simulate the full Spiegler–Kedem DAE</a:t>
            </a:r>
            <a:r>
              <a:rPr sz="1250" b="0" i="0">
                <a:solidFill>
                  <a:srgbClr val="5B6670"/>
                </a:solidFill>
                <a:latin typeface="Calibri"/>
              </a:rPr>
              <a:t>  (B fixed at warm-start, S₀/S at warm-start)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B1B1B"/>
                </a:solidFill>
                <a:latin typeface="Calibri"/>
              </a:rPr>
              <a:t>then evaluate the weighted sum-of-squared-residuals for each channel.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1B1B1B"/>
                </a:solidFill>
                <a:latin typeface="Calibri"/>
              </a:rPr>
              <a:t>  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5 channels per panel:  </a:t>
            </a:r>
            <a:r>
              <a:rPr sz="1300" b="0" i="0">
                <a:solidFill>
                  <a:srgbClr val="1B1B1B"/>
                </a:solidFill>
                <a:latin typeface="Calibri"/>
              </a:rPr>
              <a:t>mass  ·  permeate conc.  ·  retentate conc.  ·  permeate conductivity  ·  retentate conductivity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1B1B1B"/>
                </a:solidFill>
                <a:latin typeface="Calibri"/>
              </a:rPr>
              <a:t>  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E7D32"/>
                </a:solidFill>
                <a:latin typeface="Calibri"/>
              </a:rPr>
              <a:t>This is a diagnostic, not a fit — </a:t>
            </a:r>
            <a:r>
              <a:rPr sz="1300" b="0" i="0">
                <a:solidFill>
                  <a:srgbClr val="1B1B1B"/>
                </a:solidFill>
                <a:latin typeface="Calibri"/>
              </a:rPr>
              <a:t>pure forward-simulation. Where the 5 channels agree on a minimum, the data identify the parameters; where they split, they don't.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12 / 42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331720"/>
            <a:ext cx="146304" cy="132588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33172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99700"/>
                </a:solidFill>
                <a:latin typeface="Calibri"/>
              </a:rPr>
              <a:t>02 · DIAGNOSE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651760"/>
            <a:ext cx="103327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Map every parameter, then read what's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310128"/>
            <a:ext cx="103327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BBC6D4"/>
                </a:solidFill>
                <a:latin typeface="Calibri"/>
              </a:rPr>
              <a:t>Forward-simulated WSSE contours + animations — good · okay · poor, per experiment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02 · THE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Contour maps = forward-simulated WSSE, no 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We sweep a parameter grid, simulate the full DAE at each node, and score the weighted residual per channel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65376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5B6670"/>
                </a:solidFill>
                <a:latin typeface="Calibri"/>
              </a:rPr>
              <a:t>Weighted sum of squared residuals, summed over the 3 fitted channels (mass · permeate cᵥ · retentate cᵣ)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7899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>
                <a:solidFill>
                  <a:srgbClr val="1B1B1B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rPr>
                          <m:sty m:val="p"/>
                        </m:rPr>
                        <m:t>W</m:t>
                      </m:r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E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c</m:t>
                          </m:r>
                          <m:r>
                            <m:t>h</m:t>
                          </m:r>
                          <m:r>
                            <m:t> 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t> </m:t>
                          </m:r>
                          <m:r>
                            <m:rPr>
                              <m:sty m:val="p"/>
                            </m:rPr>
                            <m:t>{</m:t>
                          </m:r>
                          <m:r>
                            <m:t>m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}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sSub>
                                <m:e>
                                  <m:r>
                                    <m:t>N</m:t>
                                  </m:r>
                                </m:e>
                                <m:sub>
                                  <m:r>
                                    <m:t>c</m:t>
                                  </m:r>
                                  <m:r>
                                    <m:t>h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Sup>
                                    <m:e>
                                      <m:r>
                                        <m:t>y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  <m:sup>
                                      <m:r>
                                        <m:t> </m:t>
                                      </m:r>
                                      <m:r>
                                        <m:t>m</m:t>
                                      </m:r>
                                      <m:r>
                                        <m:t>o</m:t>
                                      </m:r>
                                      <m:r>
                                        <m:t>d</m:t>
                                      </m:r>
                                      <m:r>
                                        <m:t>e</m:t>
                                      </m:r>
                                      <m:r>
                                        <m:t>l</m:t>
                                      </m:r>
                                    </m:sup>
                                  </m:sSubSup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  <m:r>
                                    <m:t>θ</m:t>
                                  </m:r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sSubSup>
                                    <m:e>
                                      <m:r>
                                        <m:t>y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  <m:sup>
                                      <m:r>
                                        <m:t> </m:t>
                                      </m:r>
                                      <m:r>
                                        <m:t>e</m:t>
                                      </m:r>
                                      <m:r>
                                        <m:t>x</m:t>
                                      </m:r>
                                      <m:r>
                                        <m:t>p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WSSE(θ) = Σ ch∈{m,cv,cr}  (1/N_ch) Σ_i ( y_i model − y_i exp )²</a:t>
                </a:r>
              </mc:Fallback>
            </mc:AlternateContent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544068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C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Best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19856"/>
            <a:ext cx="50749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900">
                <a:solidFill>
                  <a:srgbClr val="1B1B1B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p>
                        <m:e>
                          <m:r>
                            <m:t>θ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r>
                            <m:t>θ</m:t>
                          </m:r>
                        </m:lim>
                      </m:limLow>
                      <m:r>
                        <m:t> </m:t>
                      </m:r>
                      <m:r>
                        <m:rPr>
                          <m:sty m:val="p"/>
                        </m:rPr>
                        <m:t>W</m:t>
                      </m:r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E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mc:Choice>
              <mc:Fallback>
                <a:r>
                  <a:rPr lang="en-US" sz="1900" dirty="0">
                    <a:solidFill>
                      <a:srgbClr val="1B1B1B"/>
                    </a:solidFill>
                    <a:latin typeface="Cambria Math"/>
                  </a:rPr>
                  <a:t>θ* = argmin_θ  WSSE(θ)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θ = (Lₚ, B, σ).  If the minimum is a sharp interior point, θ is identified; if it lies on a wall or in a flat valley, it is not.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926080"/>
            <a:ext cx="544068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9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01752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Contour-consistent 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3456432"/>
            <a:ext cx="50749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>
                <a:solidFill>
                  <a:srgbClr val="1B1B1B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θ</m:t>
                          </m:r>
                        </m:e>
                        <m:sub>
                          <m:r>
                            <m:t>i</m:t>
                          </m:r>
                          <m:r>
                            <m:t>n</m:t>
                          </m:r>
                          <m:r>
                            <m:t>i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σ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 </m:t>
                          </m:r>
                          <m:sSub>
                            <m:e>
                              <m:r>
                                <m:t>L</m:t>
                              </m:r>
                            </m:e>
                            <m:sub>
                              <m: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lim>
                      </m:limLow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p"/>
                                </m:rPr>
                                <m:t>W</m:t>
                              </m:r>
                              <m:r>
                                <m:rPr>
                                  <m:sty m:val="p"/>
                                </m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m:t>E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m:t>W</m:t>
                              </m:r>
                              <m:r>
                                <m:rPr>
                                  <m:sty m:val="p"/>
                                </m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m:t>E</m:t>
                              </m:r>
                            </m:e>
                            <m:sub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r>
                                    <m:t>v</m:t>
                                  </m:r>
                                </m:sub>
                              </m:sSub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m:t>W</m:t>
                              </m:r>
                              <m:r>
                                <m:rPr>
                                  <m:sty m:val="p"/>
                                </m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m:t>E</m:t>
                              </m:r>
                            </m:e>
                            <m:sub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r>
                                    <m:t>r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en-US" sz="1400" dirty="0">
                    <a:solidFill>
                      <a:srgbClr val="1B1B1B"/>
                    </a:solidFill>
                    <a:latin typeface="Cambria Math"/>
                  </a:rPr>
                  <a:t>θ_init = argmin (σ,Lp) [ WSSE_m + WSSE_cv + WSSE_cr ]</a:t>
                </a:r>
              </mc:Fallback>
            </mc:AlternateContent>
          </a:p>
        </p:txBody>
      </p:sp>
      <p:sp>
        <p:nvSpPr>
          <p:cNvPr id="15" name="TextBox 14"/>
          <p:cNvSpPr txBox="1"/>
          <p:nvPr/>
        </p:nvSpPr>
        <p:spPr>
          <a:xfrm>
            <a:off x="6382512" y="3977639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Read the joint 2-D minimum straight off the contour (B, S₀, S held at warm-start) and use it to seed the full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11091672" cy="173736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Two views of the same objective, both shown in this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38928"/>
            <a:ext cx="1088136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1B1B"/>
                </a:solidFill>
                <a:latin typeface="Calibri"/>
              </a:rPr>
              <a:t>•  Static σ × Lₚ panels — </a:t>
            </a:r>
            <a:r>
              <a:rPr sz="1250" b="0" i="0">
                <a:solidFill>
                  <a:srgbClr val="1B1B1B"/>
                </a:solidFill>
                <a:latin typeface="Calibri"/>
              </a:rPr>
              <a:t>all 5 measurement channels at once (mass, perm/ret conc, perm/ret conductivity). Where channels agree → trust.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1B1B"/>
                </a:solidFill>
                <a:latin typeface="Calibri"/>
              </a:rPr>
              <a:t>•  Animated scrubs — </a:t>
            </a:r>
            <a:r>
              <a:rPr sz="1250" b="0" i="0">
                <a:solidFill>
                  <a:srgbClr val="1B1B1B"/>
                </a:solidFill>
                <a:latin typeface="Calibri"/>
              </a:rPr>
              <a:t>hold one parameter and sweep it; watch whether the 2-D basin for the other two stays put. This is how to read a good initial guess for each experiment.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0"/>
                </a:solidFill>
                <a:latin typeface="Consolas"/>
              </a:rPr>
              <a:t>   ① B × Lₚ basin as σ : 0 → 1     ② σ × Lₚ basin as B : 0 → B_max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14 / 42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02 · IDENTIFIABILITY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Three stages of identifiability across all 11 sheets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Agreement across the 5 measurement channels = trust. What we trust most → what we trust least.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02736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02736" cy="82296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3602736" cy="320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9424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Well-identified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236976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2 sheets · NaCl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3236976" cy="2103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1B1B"/>
                </a:solidFill>
                <a:latin typeface="Calibri"/>
              </a:rPr>
              <a:t>Both are diluting NaCl runs that start at high cf (~95 mM). High concentration → large Δπ → σ is elucidated (DATA1 §4.3.2), and Lₚ is pinned by mass. MC3 SNaCl keeps an interior σ; MC5 S2NaCl's σ drifts but Lₚ holds.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40680"/>
            <a:ext cx="3236976" cy="384048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3236976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fit quality: GOOD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828800"/>
            <a:ext cx="3602736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15968" y="1828800"/>
            <a:ext cx="3602736" cy="8229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2331720"/>
            <a:ext cx="3602736" cy="320040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93852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249424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Inconsistent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788920"/>
            <a:ext cx="3236976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8A00"/>
                </a:solidFill>
                <a:latin typeface="Calibri"/>
              </a:rPr>
              <a:t>7 sheets · 4 NaCl + 3 CaCl₂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154680"/>
            <a:ext cx="3236976" cy="2103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1B1B"/>
                </a:solidFill>
                <a:latin typeface="Calibri"/>
              </a:rPr>
              <a:t>Lₚ tight, but σ rail-pinned at a wall. Channels each find a minimum, but at different (σ, Lₚ) walls — a weighting split, not a model-form failure.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8848" y="5440680"/>
            <a:ext cx="3236976" cy="384048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5486400"/>
            <a:ext cx="3236976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fit quality: OKAY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828800"/>
            <a:ext cx="3602736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83296" y="1828800"/>
            <a:ext cx="3602736" cy="822960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3296" y="2331720"/>
            <a:ext cx="3602736" cy="320040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5" y="193852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2249424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Not estimable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2788920"/>
            <a:ext cx="3236976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B0413E"/>
                </a:solidFill>
                <a:latin typeface="Calibri"/>
              </a:rPr>
              <a:t>2 sheets · LaCl₃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5" y="3154680"/>
            <a:ext cx="3236976" cy="2103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1B1B"/>
                </a:solidFill>
                <a:latin typeface="Calibri"/>
              </a:rPr>
              <a:t>Same wrong-model bias on both sheets; WSSE ~20× the NaCl gold standard. Constant-(σ,B) Spiegler–Kedem can't represent La³⁺ ion-pairing.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66175" y="5440680"/>
            <a:ext cx="3236976" cy="384048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6175" y="5486400"/>
            <a:ext cx="3236976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fit quality: POOR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15 / 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02 · IDENTIFIABILITY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Where the optimizer landed on every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Warm-start θ across the campaign, colour-coded by stage. ↑/↓ = parameter pinned at a bound.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11155680" cy="384048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37943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837943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837943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B [µm/s]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837943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837943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WSSE₃ch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37943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Stage assignment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03704"/>
            <a:ext cx="82296" cy="3703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49424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MC3 · 07.22.24 · SNaCl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249424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8.63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249424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14.68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249424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249424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560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249424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Stage 1A · interior σ — gold standard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74036"/>
            <a:ext cx="11155680" cy="3703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574036"/>
            <a:ext cx="82296" cy="3703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19756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MC5 · 07.23.24 · S2NaCl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619756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7.75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619756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10.14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619756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619756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888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19756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Stage 1B · diluting, σ harmless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944368"/>
            <a:ext cx="82296" cy="370332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990088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MC4 · 07.11.24 · SNaCl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2990088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11.35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2990088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2.02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2990088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2990088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19,508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990088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8A00"/>
                </a:solidFill>
                <a:latin typeface="Calibri"/>
              </a:rPr>
              <a:t>Stage 1B-ish · diluting BUT poor WSSE 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314700"/>
            <a:ext cx="11155680" cy="3703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3314700"/>
            <a:ext cx="82296" cy="370332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360420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MC2 · 05.07.24 · NaCl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3360420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10.45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3360420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9.73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3360420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1.00 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360420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4,528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360420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8A00"/>
                </a:solidFill>
                <a:latin typeface="Calibri"/>
              </a:rPr>
              <a:t>Stage 2 · σ wall, concentrating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685032"/>
            <a:ext cx="82296" cy="370332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730752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MC5 · 07.23.24 · NaCl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3730752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10.52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60520" y="3730752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3.70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3730752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0.79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3730752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7,024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3730752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8A00"/>
                </a:solidFill>
                <a:latin typeface="Calibri"/>
              </a:rPr>
              <a:t>Stage 2 · σ wall, concentrating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055364"/>
            <a:ext cx="11155680" cy="3703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4055364"/>
            <a:ext cx="82296" cy="370332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101084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MC5 · 07.23.24 · SNaCl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4101084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8.64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0520" y="4101084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3.07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0" y="4101084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0.57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4101084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5,870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4101084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8A00"/>
                </a:solidFill>
                <a:latin typeface="Calibri"/>
              </a:rPr>
              <a:t>Stage 2 · σ wall, concentrating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4425696"/>
            <a:ext cx="82296" cy="370332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4471416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MC2 · 05.07.24 · CaCl₂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91840" y="4471416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8.00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60520" y="4471416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0.51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12080" y="4471416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4471416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97,213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4471416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8A00"/>
                </a:solidFill>
                <a:latin typeface="Calibri"/>
              </a:rPr>
              <a:t>Stage 2 · channels split by side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4796028"/>
            <a:ext cx="11155680" cy="3703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" y="4796028"/>
            <a:ext cx="82296" cy="370332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4841748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MC3 · 07.11.24 · SCaCl₂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91840" y="4841748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6.56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60520" y="4841748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9.11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12080" y="4841748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1.00 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72200" y="4841748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6,139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0" y="4841748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8A00"/>
                </a:solidFill>
                <a:latin typeface="Calibri"/>
              </a:rPr>
              <a:t>Stage 2 · σ at wall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" y="5166360"/>
            <a:ext cx="82296" cy="370332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" y="5212080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MC3 · 07.12.24 · S2CaCl₂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91840" y="5212080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5.49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60520" y="5212080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30.00 ↑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12080" y="5212080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1.00 ↑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72200" y="5212080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9,774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0" y="5212080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8A00"/>
                </a:solidFill>
                <a:latin typeface="Calibri"/>
              </a:rPr>
              <a:t>Stage 2 · σ AND B at walls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5536692"/>
            <a:ext cx="11155680" cy="3703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02920" y="5536692"/>
            <a:ext cx="82296" cy="370332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5582412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MC2 · 05.21.24 · LaCl₃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91840" y="5582412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2.95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60520" y="5582412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0.31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12080" y="5582412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0.00 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72200" y="5582412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21,500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0" y="5582412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413E"/>
                </a:solidFill>
                <a:latin typeface="Calibri"/>
              </a:rPr>
              <a:t>Stage 3 · wrong model — all channels disagree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" y="5907024"/>
            <a:ext cx="82296" cy="370332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640" y="5952744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MC4 · 07.11.24 · SLaCl₃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91840" y="5952744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5.55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60520" y="5952744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0.17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12080" y="5952744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0.93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72200" y="5952744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75,080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15200" y="5952744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413E"/>
                </a:solidFill>
                <a:latin typeface="Calibri"/>
              </a:rPr>
              <a:t>Stage 3 · wrong model — replicate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6323076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5B6670"/>
                </a:solidFill>
                <a:latin typeface="Calibri"/>
              </a:rPr>
              <a:t>Only MC3 SNaCl landed at an interior σ — that is the reference 'well-identified' case.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16 / 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STAGE 1 · WELL-IDENTIFIED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GOOD — interior σ from a high-cf diluting run (gold standard)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MC3 · 07.22.24 · SNaCl   ·   σ × Lₚ, 5 channels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9184"/>
            <a:ext cx="2103120" cy="36576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GOOD</a:t>
            </a:r>
          </a:p>
        </p:txBody>
      </p:sp>
      <p:pic>
        <p:nvPicPr>
          <p:cNvPr id="6" name="Picture 5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11155680" cy="28668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4476193"/>
            <a:ext cx="11155680" cy="402336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94481"/>
            <a:ext cx="10881359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C2340"/>
                </a:solidFill>
                <a:latin typeface="Calibri"/>
              </a:rPr>
              <a:t>Legend:   </a:t>
            </a:r>
            <a:r>
              <a:rPr sz="1050" b="1" i="0">
                <a:solidFill>
                  <a:srgbClr val="B0413E"/>
                </a:solidFill>
                <a:latin typeface="Calibri"/>
              </a:rPr>
              <a:t>▲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per-panel minimum (argmin)    </a:t>
            </a:r>
            <a:r>
              <a:rPr sz="1050" b="1" i="0">
                <a:solidFill>
                  <a:srgbClr val="1B1B1B"/>
                </a:solidFill>
                <a:latin typeface="Calibri"/>
              </a:rPr>
              <a:t>contour lines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log₁₀ weighted SSR (cooler → better fit)    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each panel = one measurement channel    panels agree → identifiable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969969"/>
            <a:ext cx="11155680" cy="147655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5052265"/>
            <a:ext cx="11887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θ here: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5024833"/>
            <a:ext cx="9692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8.63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14.68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0.79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W</m:t>
                          </m:r>
                          <m:r>
                            <m:rPr>
                              <m:sty m:val="p"/>
                            </m:rPr>
                            <m:t>S</m:t>
                          </m:r>
                          <m:r>
                            <m:rPr>
                              <m:sty m:val="p"/>
                            </m:rPr>
                            <m:t>S</m:t>
                          </m:r>
                          <m:r>
                            <m:rPr>
                              <m:sty m:val="p"/>
                            </m:rPr>
                            <m:t>E</m:t>
                          </m:r>
                        </m:e>
                        <m:sub>
                          <m:r>
                            <m:t>3</m:t>
                          </m:r>
                          <m:r>
                            <m:t>c</m:t>
                          </m:r>
                          <m:r>
                            <m:t>h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560</m:t>
                      </m:r>
                    </m:oMath>
                  </m:oMathPara>
                </a14:m>
              </mc:Choice>
              <mc:Fallback>
                <a:r>
                  <a:rPr lang="en-US" sz="1400" dirty="0">
                    <a:solidFill>
                      <a:srgbClr val="1B1B1B"/>
                    </a:solidFill>
                    <a:latin typeface="Cambria Math"/>
                  </a:rPr>
                  <a:t>Lp = 8.63,  B = 14.68 µm/s,  σ = 0.79,  WSSE_3ch = 560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713232" y="5445457"/>
            <a:ext cx="10972800" cy="96448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A diluting NaCl run starting at cf ≈ 95 mM, so Δπ is large early and σ leaves a real fingerprint (DATA1 §4.3.2). All 5 channels at the warm-start B; mass and permeate-concentration both argmin at an interior σ near Lₚ ≈ 8.6. This is the only NaCl sheet where σ is genuinely identified, and the cleanest fit in the campaign.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17 / 42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02 · IDENTIFIABILITY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Every sheet's σ × Lₚ contour, colour-tabbed by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Basin consistent (Stage 1) → split (Stage 2) → absent (Stage 3).  Each tile: 5 channels, contour = log₁₀ WSSE, ▲ = argmin.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417320"/>
            <a:ext cx="146304" cy="146304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1344168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E7D32"/>
                </a:solidFill>
                <a:latin typeface="Calibri"/>
              </a:rPr>
              <a:t>Stage 1 well-id.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417320"/>
            <a:ext cx="146304" cy="146304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0" y="1344168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98A00"/>
                </a:solidFill>
                <a:latin typeface="Calibri"/>
              </a:rPr>
              <a:t>Stage 2 inconsist.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0" y="1417320"/>
            <a:ext cx="146304" cy="146304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69880" y="1344168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0413E"/>
                </a:solidFill>
                <a:latin typeface="Calibri"/>
              </a:rPr>
              <a:t>Stage 3 not-est.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1636776"/>
            <a:ext cx="3346704" cy="11751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" y="1636776"/>
            <a:ext cx="82296" cy="1175139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1673352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Calibri"/>
              </a:rPr>
              <a:t>MC3 · 07.22.24 · SNaCl</a:t>
            </a:r>
          </a:p>
        </p:txBody>
      </p:sp>
      <p:pic>
        <p:nvPicPr>
          <p:cNvPr id="14" name="Picture 13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20240"/>
            <a:ext cx="3200400" cy="82245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425696" y="1636776"/>
            <a:ext cx="3346704" cy="11751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5696" y="1636776"/>
            <a:ext cx="82296" cy="1175139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1673352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Calibri"/>
              </a:rPr>
              <a:t>MC5 · 07.23.24 · S2NaCl</a:t>
            </a:r>
          </a:p>
        </p:txBody>
      </p:sp>
      <p:pic>
        <p:nvPicPr>
          <p:cNvPr id="18" name="Picture 17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920240"/>
            <a:ext cx="3200400" cy="82245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918704" y="1636776"/>
            <a:ext cx="3346704" cy="11751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18704" y="1636776"/>
            <a:ext cx="82296" cy="1175139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55864" y="1673352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98A00"/>
                </a:solidFill>
                <a:latin typeface="Calibri"/>
              </a:rPr>
              <a:t>MC4 · 07.11.24 · SNaCl</a:t>
            </a:r>
          </a:p>
        </p:txBody>
      </p:sp>
      <p:pic>
        <p:nvPicPr>
          <p:cNvPr id="22" name="Picture 21" descr="objcontour-x_sigma-y_L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1920240"/>
            <a:ext cx="3200400" cy="8224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32688" y="2845991"/>
            <a:ext cx="3346704" cy="1172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" y="2845991"/>
            <a:ext cx="82296" cy="1172639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2882567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98A00"/>
                </a:solidFill>
                <a:latin typeface="Calibri"/>
              </a:rPr>
              <a:t>MC2 · 05.07.24 · NaCl</a:t>
            </a:r>
          </a:p>
        </p:txBody>
      </p:sp>
      <p:pic>
        <p:nvPicPr>
          <p:cNvPr id="26" name="Picture 25" descr="objcontour-x_sigma-y_L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129455"/>
            <a:ext cx="3200400" cy="820026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4425696" y="2845991"/>
            <a:ext cx="3346704" cy="1172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25696" y="2845991"/>
            <a:ext cx="82296" cy="1172639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2856" y="2882567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98A00"/>
                </a:solidFill>
                <a:latin typeface="Calibri"/>
              </a:rPr>
              <a:t>MC5 · 07.23.24 · NaCl</a:t>
            </a:r>
          </a:p>
        </p:txBody>
      </p:sp>
      <p:pic>
        <p:nvPicPr>
          <p:cNvPr id="30" name="Picture 29" descr="objcontour-x_sigma-y_L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3129455"/>
            <a:ext cx="3200400" cy="82002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918704" y="2848491"/>
            <a:ext cx="3346704" cy="11751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18704" y="2848491"/>
            <a:ext cx="82296" cy="1175139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55864" y="2885067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98A00"/>
                </a:solidFill>
                <a:latin typeface="Calibri"/>
              </a:rPr>
              <a:t>MC5 · 07.23.24 · SNaCl</a:t>
            </a:r>
          </a:p>
        </p:txBody>
      </p:sp>
      <p:pic>
        <p:nvPicPr>
          <p:cNvPr id="34" name="Picture 33" descr="objcontour-x_sigma-y_L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1856" y="3131955"/>
            <a:ext cx="3200400" cy="822456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932688" y="4063077"/>
            <a:ext cx="3346704" cy="117657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2688" y="4063077"/>
            <a:ext cx="82296" cy="1176574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9848" y="4099653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98A00"/>
                </a:solidFill>
                <a:latin typeface="Calibri"/>
              </a:rPr>
              <a:t>MC2 · 05.07.24 · CaCl₂</a:t>
            </a:r>
          </a:p>
        </p:txBody>
      </p:sp>
      <p:pic>
        <p:nvPicPr>
          <p:cNvPr id="38" name="Picture 37" descr="objcontour-x_sigma-y_L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4346541"/>
            <a:ext cx="3200400" cy="823851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425696" y="4060206"/>
            <a:ext cx="3346704" cy="11751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25696" y="4060206"/>
            <a:ext cx="82296" cy="1175139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62856" y="4096782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98A00"/>
                </a:solidFill>
                <a:latin typeface="Calibri"/>
              </a:rPr>
              <a:t>MC3 · 07.11.24 · SCaCl₂</a:t>
            </a:r>
          </a:p>
        </p:txBody>
      </p:sp>
      <p:pic>
        <p:nvPicPr>
          <p:cNvPr id="42" name="Picture 41" descr="objcontour-x_sigma-y_L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8848" y="4343670"/>
            <a:ext cx="3200400" cy="822456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918704" y="4063077"/>
            <a:ext cx="3346704" cy="117657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18704" y="4063077"/>
            <a:ext cx="82296" cy="1176574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55864" y="4099653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98A00"/>
                </a:solidFill>
                <a:latin typeface="Calibri"/>
              </a:rPr>
              <a:t>MC3 · 07.12.24 · S2CaCl₂</a:t>
            </a:r>
          </a:p>
        </p:txBody>
      </p:sp>
      <p:pic>
        <p:nvPicPr>
          <p:cNvPr id="46" name="Picture 45" descr="objcontour-x_sigma-y_L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1856" y="4346541"/>
            <a:ext cx="3200400" cy="823851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932688" y="5276227"/>
            <a:ext cx="3346704" cy="117657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2688" y="5276227"/>
            <a:ext cx="82296" cy="1176574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9848" y="5312803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0413E"/>
                </a:solidFill>
                <a:latin typeface="Calibri"/>
              </a:rPr>
              <a:t>MC2 · 05.21.24 · LaCl₃</a:t>
            </a:r>
          </a:p>
        </p:txBody>
      </p:sp>
      <p:pic>
        <p:nvPicPr>
          <p:cNvPr id="50" name="Picture 49" descr="objcontour-x_sigma-y_L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5840" y="5559691"/>
            <a:ext cx="3200400" cy="823851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4425696" y="5276227"/>
            <a:ext cx="3346704" cy="117657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25696" y="5276227"/>
            <a:ext cx="82296" cy="1176574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62856" y="5312803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0413E"/>
                </a:solidFill>
                <a:latin typeface="Calibri"/>
              </a:rPr>
              <a:t>MC4 · 07.11.24 · SLaCl₃</a:t>
            </a:r>
          </a:p>
        </p:txBody>
      </p:sp>
      <p:pic>
        <p:nvPicPr>
          <p:cNvPr id="54" name="Picture 53" descr="objcontour-x_sigma-y_L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8848" y="5559691"/>
            <a:ext cx="3200400" cy="823851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18 / 42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02 · WHY EXPERIMENTS DIFFER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σ leaves a fingerprint only when osmotic pressure is large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The sensitivity of the data to σ is set by Δπ — so the operating regime decides what each run can identify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2700">
            <a:solidFill>
              <a:srgbClr val="C99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41148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5B6670"/>
                </a:solidFill>
                <a:latin typeface="Calibri"/>
              </a:rPr>
              <a:t>σ enters the model only through σ·Δπ, 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828800"/>
            <a:ext cx="68580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100">
                <a:solidFill>
                  <a:srgbClr val="0C2340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∂</m:t>
                          </m:r>
                          <m:sSub>
                            <m:e>
                              <m:r>
                                <m:t>J</m:t>
                              </m:r>
                            </m:e>
                            <m:sub>
                              <m:r>
                                <m:t>w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m:t>∂</m:t>
                          </m:r>
                          <m:r>
                            <m:t>σ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</m:rPr>
                        <m:t>Δ</m:t>
                      </m:r>
                      <m:r>
                        <m:t>π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t> </m:t>
                      </m:r>
                      <m:r>
                        <m:t>n</m:t>
                      </m:r>
                      <m:r>
                        <m:t>R</m:t>
                      </m:r>
                      <m: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en-US" sz="2100" dirty="0">
                    <a:solidFill>
                      <a:srgbClr val="0C2340"/>
                    </a:solidFill>
                    <a:latin typeface="Cambria Math"/>
                  </a:rPr>
                  <a:t>∂Jw/∂σ = −Lp Δπ = −Lp · n R T (c_in − c_h)</a:t>
                </a:r>
              </mc:Fallback>
            </mc:AlternateContent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3602736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3602736" cy="50292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332841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High c_f  →  σ visible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66160"/>
            <a:ext cx="3145536" cy="77724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2962656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>
                <a:solidFill>
                  <a:srgbClr val="0C2340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rPr>
                          <m:sty m:val="p"/>
                        </m:rPr>
                        <m:t>Δ</m:t>
                      </m:r>
                      <m:r>
                        <m:t>π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n</m:t>
                      </m:r>
                      <m:r>
                        <m:t>R</m:t>
                      </m:r>
                      <m:r>
                        <m:t>T</m:t>
                      </m:r>
                      <m:r>
                        <m:t> 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f</m:t>
                          </m:r>
                        </m:sub>
                      </m:sSub>
                      <m:r>
                        <m:t> 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r>
                        <m:rPr>
                          <m:sty m:val="p"/>
                        </m:rPr>
                        <m:t>≈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0C2340"/>
                    </a:solidFill>
                    <a:latin typeface="Cambria Math"/>
                  </a:rPr>
                  <a:t>Δπ = n R T cf   (c_h ≈ 0)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777240" y="4498848"/>
            <a:ext cx="3145536" cy="1508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Large cf → large Δπ → ∂Jw/∂σ large → σ leaves a fingerprint (DATA1 §4.3.2). Both gold sheets are diluting runs starting at cf ≈ 95 mM.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834640"/>
            <a:ext cx="3602736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C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15968" y="2834640"/>
            <a:ext cx="3602736" cy="50292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2907792"/>
            <a:ext cx="332841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Low c_f  →  Lₚ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4568" y="3566160"/>
            <a:ext cx="3145536" cy="77724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7" y="3657600"/>
            <a:ext cx="2962656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>
                <a:solidFill>
                  <a:srgbClr val="0C2340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f</m:t>
                          </m:r>
                        </m:sub>
                      </m:sSub>
                      <m:r>
                        <m:rPr>
                          <m:sty m:val="p"/>
                        </m:rPr>
                        <m:t>→</m:t>
                      </m:r>
                      <m:r>
                        <m:t>0</m:t>
                      </m:r>
                      <m:r>
                        <m:t> </m:t>
                      </m:r>
                      <m:r>
                        <m:rPr>
                          <m:sty m:val="p"/>
                        </m:rPr>
                        <m:t>⇒</m:t>
                      </m:r>
                      <m:r>
                        <m:t> </m:t>
                      </m:r>
                      <m:sSub>
                        <m:e>
                          <m:r>
                            <m:t>J</m:t>
                          </m:r>
                        </m:e>
                        <m:sub>
                          <m: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</m:rPr>
                        <m:t>Δ</m:t>
                      </m:r>
                      <m:r>
                        <m:t>P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0C2340"/>
                    </a:solidFill>
                    <a:latin typeface="Cambria Math"/>
                  </a:rPr>
                  <a:t>cf → 0  ⟹  Jw = Lp ΔP</a:t>
                </a:r>
              </mc:Fallback>
            </mc:AlternateContent>
          </a:p>
        </p:txBody>
      </p:sp>
      <p:sp>
        <p:nvSpPr>
          <p:cNvPr id="19" name="TextBox 18"/>
          <p:cNvSpPr txBox="1"/>
          <p:nvPr/>
        </p:nvSpPr>
        <p:spPr>
          <a:xfrm>
            <a:off x="4544568" y="4498848"/>
            <a:ext cx="3145536" cy="1508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Δπ → 0: Lₚ reads directly from mass, independent of σ and B. This is a pure-water run, or the end of any diluting run.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2834640"/>
            <a:ext cx="3602736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83296" y="2834640"/>
            <a:ext cx="3602736" cy="50292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907792"/>
            <a:ext cx="332841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σ–B coupling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11896" y="3566160"/>
            <a:ext cx="3145536" cy="77724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3336" y="3657600"/>
            <a:ext cx="2962656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>
                <a:solidFill>
                  <a:srgbClr val="0C2340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f</m:t>
                              </m:r>
                            </m:sub>
                          </m:sSub>
                        </m:num>
                        <m:den>
                          <m:r>
                            <m:t>d</m:t>
                          </m:r>
                          <m: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A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m</m:t>
                              </m:r>
                            </m:e>
                            <m:sub>
                              <m:r>
                                <m:t>f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J</m:t>
                              </m:r>
                            </m:e>
                            <m:sub>
                              <m:r>
                                <m:t>w</m:t>
                              </m:r>
                            </m:sub>
                          </m:sSub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d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J</m:t>
                              </m:r>
                            </m:e>
                            <m:sub>
                              <m:r>
                                <m:t>s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0C2340"/>
                    </a:solidFill>
                    <a:latin typeface="Cambria Math"/>
                  </a:rPr>
                  <a:t>dc_f/dt = (A_m / m_f)(Jw c_d − Js)</a:t>
                </a:r>
              </mc:Fallback>
            </mc:AlternateContent>
          </a:p>
        </p:txBody>
      </p:sp>
      <p:sp>
        <p:nvSpPr>
          <p:cNvPr id="25" name="TextBox 24"/>
          <p:cNvSpPr txBox="1"/>
          <p:nvPr/>
        </p:nvSpPr>
        <p:spPr>
          <a:xfrm>
            <a:off x="8311896" y="4498848"/>
            <a:ext cx="3145536" cy="1508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σ acts only through Jw, B only through Js — but both drive c_f(t). Vary ΔP (hence Jw) and their relative pull changes, separating them.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So: </a:t>
            </a:r>
            <a:r>
              <a:rPr sz="1300" b="0" i="0">
                <a:solidFill>
                  <a:srgbClr val="1B1B1B"/>
                </a:solidFill>
                <a:latin typeface="Calibri"/>
              </a:rPr>
              <a:t>a diluting run from high cf pins Lₚ AND σ; a concentrating run from low cf pins only Lₚ; a pressure sweep separates σ from 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19 / 42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331720"/>
            <a:ext cx="146304" cy="132588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33172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99700"/>
                </a:solidFill>
                <a:latin typeface="Calibri"/>
              </a:rPr>
              <a:t>03 · IN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651760"/>
            <a:ext cx="103327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Read the initial guess off the moving basin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310128"/>
            <a:ext cx="103327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BBC6D4"/>
                </a:solidFill>
                <a:latin typeface="Calibri"/>
              </a:rPr>
              <a:t>Two sweeps per experiment: ① B×Lₚ as σ:0→1   ② σ×Lₚ as B:0→Bₘₐₓ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03 · IDENTIFIABILITY IN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Watch the objective basin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Same 5-channel diagnostic, animated — hold one parameter fixed and sweep it frame by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91672" cy="15544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106070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C2340"/>
                </a:solidFill>
                <a:latin typeface="Calibri"/>
              </a:rPr>
              <a:t>How to read the scrub animations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069848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B1B1B"/>
                </a:solidFill>
                <a:latin typeface="Calibri"/>
              </a:rPr>
              <a:t>Each frame fixes one parameter and shows the objective basin for the other two, across 3 channels </a:t>
            </a:r>
            <a:r>
              <a:rPr sz="1250" b="0" i="0">
                <a:solidFill>
                  <a:srgbClr val="5B6670"/>
                </a:solidFill>
                <a:latin typeface="Calibri"/>
              </a:rPr>
              <a:t>(mass · permeate-conc · retentate-conc)</a:t>
            </a:r>
            <a:r>
              <a:rPr sz="1350" b="0" i="0">
                <a:solidFill>
                  <a:srgbClr val="1B1B1B"/>
                </a:solidFill>
                <a:latin typeface="Calibri"/>
              </a:rPr>
              <a:t>.  The red ▲ marks the per-frame minimum.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1B1B1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Read the motion as identifiability:  </a:t>
            </a:r>
            <a:r>
              <a:rPr sz="1300" b="0" i="0">
                <a:solidFill>
                  <a:srgbClr val="1B1B1B"/>
                </a:solidFill>
                <a:latin typeface="Calibri"/>
              </a:rPr>
              <a:t>a basin that stays put and the 3 channels agree → </a:t>
            </a:r>
            <a:r>
              <a:rPr sz="1300" b="1" i="0">
                <a:solidFill>
                  <a:srgbClr val="2E7D32"/>
                </a:solidFill>
                <a:latin typeface="Calibri"/>
              </a:rPr>
              <a:t>identifiable</a:t>
            </a:r>
            <a:r>
              <a:rPr sz="1300" b="0" i="0">
                <a:solidFill>
                  <a:srgbClr val="1B1B1B"/>
                </a:solidFill>
                <a:latin typeface="Calibri"/>
              </a:rPr>
              <a:t>.   A minimum that slides along a wall, or channels that disagree → </a:t>
            </a:r>
            <a:r>
              <a:rPr sz="1300" b="1" i="0">
                <a:solidFill>
                  <a:srgbClr val="B0413E"/>
                </a:solidFill>
                <a:latin typeface="Calibri"/>
              </a:rPr>
              <a:t>not</a:t>
            </a:r>
            <a:r>
              <a:rPr sz="1300" b="0" i="0">
                <a:solidFill>
                  <a:srgbClr val="1B1B1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3611880" cy="50292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776472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GOOD — basin stays, channels agree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2816" y="3657600"/>
            <a:ext cx="3611880" cy="50292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9976" y="3776472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OKAY — minimum slides to a wall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36992" y="3657600"/>
            <a:ext cx="3611880" cy="502920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3776472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POOR — no coherent basin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26280"/>
            <a:ext cx="110642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5B6670"/>
                </a:solidFill>
                <a:latin typeface="Calibri"/>
              </a:rPr>
              <a:t>▶  These slides contain animated GIFs — they play automatically in PowerPoint slideshow mode. The σ-sweep (B × Lₚ basin moving through σ) is the one to watch: it is the animated twin of the static σ × Lₚ panels.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21 / 42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STAGE 1 · WELL-IDENTIFIED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GOOD — the basin holds under both sweeps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MC3 · 07.22.24 · SNaCl   ·   read the joint minimum off both sweeps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9184"/>
            <a:ext cx="2103120" cy="36576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GOOD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35024"/>
            <a:ext cx="66751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①  Lₚ × B  basin   as   σ : 0 → 1   (Lₚ on Y)</a:t>
            </a:r>
          </a:p>
        </p:txBody>
      </p:sp>
      <p:pic>
        <p:nvPicPr>
          <p:cNvPr id="7" name="Picture 6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2768"/>
            <a:ext cx="6675120" cy="17154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675887"/>
            <a:ext cx="66751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②  σ × Lₚ  basin   as   B : 0 → B_max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65836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B6670"/>
                </a:solidFill>
                <a:latin typeface="Calibri"/>
              </a:rPr>
              <a:t>(σ × Lₚ sweep renders once the 3-D grid finishes)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6053328"/>
            <a:ext cx="6675120" cy="38404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071616"/>
            <a:ext cx="6400800" cy="365759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C2340"/>
                </a:solidFill>
                <a:latin typeface="Calibri"/>
              </a:rPr>
              <a:t>Legend:   </a:t>
            </a:r>
            <a:r>
              <a:rPr sz="1050" b="1" i="0">
                <a:solidFill>
                  <a:srgbClr val="B0413E"/>
                </a:solidFill>
                <a:latin typeface="Calibri"/>
              </a:rPr>
              <a:t>▲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per-panel minimum (argmin)    </a:t>
            </a:r>
            <a:r>
              <a:rPr sz="1050" b="1" i="0">
                <a:solidFill>
                  <a:srgbClr val="1B1B1B"/>
                </a:solidFill>
                <a:latin typeface="Calibri"/>
              </a:rPr>
              <a:t>contour lines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log₁₀ weighted SSR (cooler → better fit)    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each panel = one measurement channel    panels agree → identifiable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54480"/>
            <a:ext cx="3977639" cy="2395728"/>
          </a:xfrm>
          <a:prstGeom prst="roundRect">
            <a:avLst>
              <a:gd name="adj" fmla="val 10000"/>
            </a:avLst>
          </a:prstGeom>
          <a:solidFill>
            <a:srgbClr val="EFF4EE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1" y="1645920"/>
            <a:ext cx="3648456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Initial guess to read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011680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≈</m:t>
                      </m:r>
                      <m:r>
                        <m:t>8.6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Lp ≈ 8.6</a:t>
                </a:r>
              </mc:Fallback>
            </mc:AlternateContent>
          </a:p>
        </p:txBody>
      </p:sp>
      <p:sp>
        <p:nvSpPr>
          <p:cNvPr id="15" name="TextBox 14"/>
          <p:cNvSpPr txBox="1"/>
          <p:nvPr/>
        </p:nvSpPr>
        <p:spPr>
          <a:xfrm>
            <a:off x="7927848" y="2450592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14.7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B ≈ 14.7 µm/s</a:t>
                </a:r>
              </mc:Fallback>
            </mc:AlternateContent>
          </a:p>
        </p:txBody>
      </p:sp>
      <p:sp>
        <p:nvSpPr>
          <p:cNvPr id="16" name="TextBox 15"/>
          <p:cNvSpPr txBox="1"/>
          <p:nvPr/>
        </p:nvSpPr>
        <p:spPr>
          <a:xfrm>
            <a:off x="7927848" y="2889504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0.79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σ ≈ 0.79</a:t>
                </a:r>
              </mc:Fallback>
            </mc:AlternateContent>
          </a:p>
        </p:txBody>
      </p:sp>
      <p:sp>
        <p:nvSpPr>
          <p:cNvPr id="17" name="TextBox 16"/>
          <p:cNvSpPr txBox="1"/>
          <p:nvPr/>
        </p:nvSpPr>
        <p:spPr>
          <a:xfrm>
            <a:off x="7891271" y="3456432"/>
            <a:ext cx="364845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joint argmin of mass + cᵥ + cᵣ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4078224"/>
            <a:ext cx="3977639" cy="2212848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4169663"/>
            <a:ext cx="3648456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Across both sweeps the minimum stays anchored (Lₚ ≈ 8.6, interior σ) and the channels track together. A sharp, stationary basin = a trustworthy seed. This is the gold-standard read: take all three parameters from this run.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22 / 42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STAGE 2 · INCONSISTENT (NaCl)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OKAY — Lₚ holds, σ slides to the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MC2 · 05.07.24 · NaCl   ·   read the joint minimum off both sweeps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9184"/>
            <a:ext cx="210312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35024"/>
            <a:ext cx="66751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8A00"/>
                </a:solidFill>
                <a:latin typeface="Calibri"/>
              </a:rPr>
              <a:t>①  Lₚ × B  basin   as   σ : 0 → 1   (Lₚ on Y)</a:t>
            </a:r>
          </a:p>
        </p:txBody>
      </p:sp>
      <p:pic>
        <p:nvPicPr>
          <p:cNvPr id="7" name="Picture 6" descr="scrub-sigma_LpvsB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675120" cy="2096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675887"/>
            <a:ext cx="66751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8A00"/>
                </a:solidFill>
                <a:latin typeface="Calibri"/>
              </a:rPr>
              <a:t>②  σ × Lₚ  basin   as   B : 0 → B_max</a:t>
            </a:r>
          </a:p>
        </p:txBody>
      </p:sp>
      <p:pic>
        <p:nvPicPr>
          <p:cNvPr id="9" name="Picture 8" descr="scrub-B_Lpvssig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95344"/>
            <a:ext cx="6675120" cy="20968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6053328"/>
            <a:ext cx="6675120" cy="38404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071616"/>
            <a:ext cx="6400800" cy="365759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C2340"/>
                </a:solidFill>
                <a:latin typeface="Calibri"/>
              </a:rPr>
              <a:t>Legend:   </a:t>
            </a:r>
            <a:r>
              <a:rPr sz="1050" b="1" i="0">
                <a:solidFill>
                  <a:srgbClr val="B0413E"/>
                </a:solidFill>
                <a:latin typeface="Calibri"/>
              </a:rPr>
              <a:t>▲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per-panel minimum (argmin)    </a:t>
            </a:r>
            <a:r>
              <a:rPr sz="1050" b="1" i="0">
                <a:solidFill>
                  <a:srgbClr val="1B1B1B"/>
                </a:solidFill>
                <a:latin typeface="Calibri"/>
              </a:rPr>
              <a:t>contour lines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log₁₀ weighted SSR (cooler → better fit)    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each panel = one measurement channel    panels agree → identifiable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54480"/>
            <a:ext cx="3977639" cy="239572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905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1" y="1645920"/>
            <a:ext cx="3648456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Initial guess to read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011680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≈</m:t>
                      </m:r>
                      <m:r>
                        <m:t>10.5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Lp ≈ 10.5</a:t>
                </a:r>
              </mc:Fallback>
            </mc:AlternateContent>
          </a:p>
        </p:txBody>
      </p:sp>
      <p:sp>
        <p:nvSpPr>
          <p:cNvPr id="15" name="TextBox 14"/>
          <p:cNvSpPr txBox="1"/>
          <p:nvPr/>
        </p:nvSpPr>
        <p:spPr>
          <a:xfrm>
            <a:off x="7927848" y="2450592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9.7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B ≈ 9.7 µm/s</a:t>
                </a:r>
              </mc:Fallback>
            </mc:AlternateContent>
          </a:p>
        </p:txBody>
      </p:sp>
      <p:sp>
        <p:nvSpPr>
          <p:cNvPr id="16" name="TextBox 15"/>
          <p:cNvSpPr txBox="1"/>
          <p:nvPr/>
        </p:nvSpPr>
        <p:spPr>
          <a:xfrm>
            <a:off x="7927848" y="2889504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1.00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σ ≈ 1.00</a:t>
                </a:r>
              </mc:Fallback>
            </mc:AlternateContent>
          </a:p>
        </p:txBody>
      </p:sp>
      <p:sp>
        <p:nvSpPr>
          <p:cNvPr id="17" name="TextBox 16"/>
          <p:cNvSpPr txBox="1"/>
          <p:nvPr/>
        </p:nvSpPr>
        <p:spPr>
          <a:xfrm>
            <a:off x="7891271" y="3456432"/>
            <a:ext cx="364845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joint argmin of mass + cᵥ + cᵣ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4078224"/>
            <a:ext cx="3977639" cy="2212848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270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4169663"/>
            <a:ext cx="3648456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Sweep ① : the B×Lₚ minimum keeps the same Lₚ but drifts to the σ=1 wall. Sweep ② : as B varies the σ×Lₚ minimum barely moves in Lₚ — Lₚ is solid. Take Lₚ from here; do NOT trust σ — get σ from the gold-standard run instead.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23 / 42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STAGE 2 · INCONSISTENT (CaCl₂)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OKAY — Lₚ usable, σ and B trade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MC2 · 05.07.24 · CaCl₂   ·   read the joint minimum off both sweeps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9184"/>
            <a:ext cx="210312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35024"/>
            <a:ext cx="66751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8A00"/>
                </a:solidFill>
                <a:latin typeface="Calibri"/>
              </a:rPr>
              <a:t>①  Lₚ × B  basin   as   σ : 0 → 1   (Lₚ on Y)</a:t>
            </a:r>
          </a:p>
        </p:txBody>
      </p:sp>
      <p:pic>
        <p:nvPicPr>
          <p:cNvPr id="7" name="Picture 6" descr="scrub-sigma_LpvsB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675120" cy="20955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675887"/>
            <a:ext cx="66751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8A00"/>
                </a:solidFill>
                <a:latin typeface="Calibri"/>
              </a:rPr>
              <a:t>②  σ × Lₚ  basin   as   B : 0 → B_max</a:t>
            </a:r>
          </a:p>
        </p:txBody>
      </p:sp>
      <p:pic>
        <p:nvPicPr>
          <p:cNvPr id="9" name="Picture 8" descr="scrub-B_Lpvssig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95344"/>
            <a:ext cx="6675120" cy="20968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6053328"/>
            <a:ext cx="6675120" cy="38404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071616"/>
            <a:ext cx="6400800" cy="365759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C2340"/>
                </a:solidFill>
                <a:latin typeface="Calibri"/>
              </a:rPr>
              <a:t>Legend:   </a:t>
            </a:r>
            <a:r>
              <a:rPr sz="1050" b="1" i="0">
                <a:solidFill>
                  <a:srgbClr val="B0413E"/>
                </a:solidFill>
                <a:latin typeface="Calibri"/>
              </a:rPr>
              <a:t>▲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per-panel minimum (argmin)    </a:t>
            </a:r>
            <a:r>
              <a:rPr sz="1050" b="1" i="0">
                <a:solidFill>
                  <a:srgbClr val="1B1B1B"/>
                </a:solidFill>
                <a:latin typeface="Calibri"/>
              </a:rPr>
              <a:t>contour lines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log₁₀ weighted SSR (cooler → better fit)    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each panel = one measurement channel    panels agree → identifiable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54480"/>
            <a:ext cx="3977639" cy="239572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905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1" y="1645920"/>
            <a:ext cx="3648456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Initial guess to read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011680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≈</m:t>
                      </m:r>
                      <m:r>
                        <m:t>8.0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Lp ≈ 8.0</a:t>
                </a:r>
              </mc:Fallback>
            </mc:AlternateContent>
          </a:p>
        </p:txBody>
      </p:sp>
      <p:sp>
        <p:nvSpPr>
          <p:cNvPr id="15" name="TextBox 14"/>
          <p:cNvSpPr txBox="1"/>
          <p:nvPr/>
        </p:nvSpPr>
        <p:spPr>
          <a:xfrm>
            <a:off x="7927848" y="2450592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0.5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B ≈ 0.5 µm/s</a:t>
                </a:r>
              </mc:Fallback>
            </mc:AlternateContent>
          </a:p>
        </p:txBody>
      </p:sp>
      <p:sp>
        <p:nvSpPr>
          <p:cNvPr id="16" name="TextBox 15"/>
          <p:cNvSpPr txBox="1"/>
          <p:nvPr/>
        </p:nvSpPr>
        <p:spPr>
          <a:xfrm>
            <a:off x="7927848" y="2889504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0.50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σ ≈ 0.50</a:t>
                </a:r>
              </mc:Fallback>
            </mc:AlternateContent>
          </a:p>
        </p:txBody>
      </p:sp>
      <p:sp>
        <p:nvSpPr>
          <p:cNvPr id="17" name="TextBox 16"/>
          <p:cNvSpPr txBox="1"/>
          <p:nvPr/>
        </p:nvSpPr>
        <p:spPr>
          <a:xfrm>
            <a:off x="7891271" y="3456432"/>
            <a:ext cx="364845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joint argmin of mass + cᵥ + cᵣ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4078224"/>
            <a:ext cx="3977639" cy="2212848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270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4169663"/>
            <a:ext cx="3648456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The two sweeps show the σ–B trade-off directly: moving B shifts where σ wants to sit. Lₚ is still the reliable read; σ and B are correlated and need a pressure sweep to separate. Seed Lₚ from here, σ from the σ-probing run, B from its bound.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24 / 42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STAGE 3 · NOT ESTIMABLE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POOR — no stationary basin under either sweep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MC2 · 05.21.24 · LaCl₃   ·   read the joint minimum off both sweeps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9184"/>
            <a:ext cx="2103120" cy="365760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POOR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35024"/>
            <a:ext cx="66751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0413E"/>
                </a:solidFill>
                <a:latin typeface="Calibri"/>
              </a:rPr>
              <a:t>①  Lₚ × B  basin   as   σ : 0 → 1   (Lₚ on Y)</a:t>
            </a:r>
          </a:p>
        </p:txBody>
      </p:sp>
      <p:pic>
        <p:nvPicPr>
          <p:cNvPr id="7" name="Picture 6" descr="scrub-sigma_LpvsB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675120" cy="2096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675887"/>
            <a:ext cx="66751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0413E"/>
                </a:solidFill>
                <a:latin typeface="Calibri"/>
              </a:rPr>
              <a:t>②  σ × Lₚ  basin   as   B : 0 → B_max</a:t>
            </a:r>
          </a:p>
        </p:txBody>
      </p:sp>
      <p:pic>
        <p:nvPicPr>
          <p:cNvPr id="9" name="Picture 8" descr="scrub-B_Lpvssig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95344"/>
            <a:ext cx="6675120" cy="20968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6053328"/>
            <a:ext cx="6675120" cy="38404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071616"/>
            <a:ext cx="6400800" cy="365759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C2340"/>
                </a:solidFill>
                <a:latin typeface="Calibri"/>
              </a:rPr>
              <a:t>Legend:   </a:t>
            </a:r>
            <a:r>
              <a:rPr sz="1050" b="1" i="0">
                <a:solidFill>
                  <a:srgbClr val="B0413E"/>
                </a:solidFill>
                <a:latin typeface="Calibri"/>
              </a:rPr>
              <a:t>▲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per-panel minimum (argmin)    </a:t>
            </a:r>
            <a:r>
              <a:rPr sz="1050" b="1" i="0">
                <a:solidFill>
                  <a:srgbClr val="1B1B1B"/>
                </a:solidFill>
                <a:latin typeface="Calibri"/>
              </a:rPr>
              <a:t>contour lines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log₁₀ weighted SSR (cooler → better fit)    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each panel = one measurement channel    panels agree → identifiable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54480"/>
            <a:ext cx="3977639" cy="239572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9050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1" y="1645920"/>
            <a:ext cx="3648456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Initial guess to read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011680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≈</m:t>
                      </m:r>
                      <m:r>
                        <m:t>3.0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Lp ≈ 3.0</a:t>
                </a:r>
              </mc:Fallback>
            </mc:AlternateContent>
          </a:p>
        </p:txBody>
      </p:sp>
      <p:sp>
        <p:nvSpPr>
          <p:cNvPr id="15" name="TextBox 14"/>
          <p:cNvSpPr txBox="1"/>
          <p:nvPr/>
        </p:nvSpPr>
        <p:spPr>
          <a:xfrm>
            <a:off x="7927848" y="2450592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0.3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B ≈ 0.3 µm/s</a:t>
                </a:r>
              </mc:Fallback>
            </mc:AlternateContent>
          </a:p>
        </p:txBody>
      </p:sp>
      <p:sp>
        <p:nvSpPr>
          <p:cNvPr id="16" name="TextBox 15"/>
          <p:cNvSpPr txBox="1"/>
          <p:nvPr/>
        </p:nvSpPr>
        <p:spPr>
          <a:xfrm>
            <a:off x="7927848" y="2889504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0.00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σ ≈ 0.00</a:t>
                </a:r>
              </mc:Fallback>
            </mc:AlternateContent>
          </a:p>
        </p:txBody>
      </p:sp>
      <p:sp>
        <p:nvSpPr>
          <p:cNvPr id="17" name="TextBox 16"/>
          <p:cNvSpPr txBox="1"/>
          <p:nvPr/>
        </p:nvSpPr>
        <p:spPr>
          <a:xfrm>
            <a:off x="7891271" y="3456432"/>
            <a:ext cx="364845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joint argmin of mass + cᵥ + cᵣ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4078224"/>
            <a:ext cx="3977639" cy="2212848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2700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4169663"/>
            <a:ext cx="3648456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Neither sweep produces a consistent minimum and the channels never agree — the constant-(σ,B) model can't represent La³⁺. Don't read a seed from this run; it needs a model fix (ion-pairing) and more replicates before any θ is meaningful.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25 / 42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331720"/>
            <a:ext cx="146304" cy="132588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33172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04 ·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651760"/>
            <a:ext cx="103327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Mass &amp; concentration fits from the contour 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310128"/>
            <a:ext cx="103327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BBC6D4"/>
                </a:solidFill>
                <a:latin typeface="Calibri"/>
              </a:rPr>
              <a:t>θ from the joint contour argmin  ·  variable B (B_form = 1) → curved cₕ(t)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1A · well-identified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MC3 · 07.22.24 · SNaCl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72224_NF270_MC3_SNaCl_NaCl_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JAO_072224_NF270_MC3_SNaCl_NaCl_07.22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7889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8.63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8.63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14.68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14.68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0.79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0.79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2E7D32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560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2E7D32"/>
                    </a:solidFill>
                    <a:latin typeface="Cambria Math"/>
                  </a:rPr>
                  <a:t>560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GOOD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Gold standard. Interior σ → both mass and cᶠ tracked.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27 / 42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1B · diluting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MC5 · 07.23.24 · S2NaCl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72324_NF270_MC5_NaClS2_NaCl_07.23.24_S2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JAO_072324_NF270_MC5_NaClS2_NaCl_07.23.24_S2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8109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7.75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7.75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10.14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10.14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0.29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0.29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2E7D32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888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2E7D32"/>
                    </a:solidFill>
                    <a:latin typeface="Cambria Math"/>
                  </a:rPr>
                  <a:t>888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GOOD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Diluting run → cᶠ falls. Lₚ pinned by mass; σ irrelevant.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28 / 42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1B · diluting 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MC4 · 07.11.24 · SNaCl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LL_071124_NF270_MC4_S_NaCl_07.11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LL_071124_NF270_MC4_S_NaCl_07.11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7889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11.35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11.35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2.02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2.02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0.50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0.50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D98A0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19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508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D98A00"/>
                    </a:solidFill>
                    <a:latin typeface="Cambria Math"/>
                  </a:rPr>
                  <a:t>19,508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Diluting but WSSE ~10× worse — suspected data-quality issue.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29 / 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2 · NaCl, σ=1 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MC2 · 05.07.24 · 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50724_NF270_MC2_NaCl_NaCl_05.07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JAO_050724_NF270_MC2_NaCl_NaCl_05.07.24_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83756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10.45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10.45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9.73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9.73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1.00</m:t>
                      </m:r>
                      <m:r>
                        <m:t> </m:t>
                      </m:r>
                      <m:r>
                        <m:rPr>
                          <m:sty m:val="p"/>
                        </m:rPr>
                        <m:t>↑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1.00 ↑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D98A0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4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528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D98A00"/>
                    </a:solidFill>
                    <a:latin typeface="Cambria Math"/>
                  </a:rPr>
                  <a:t>4,528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Mass fit good; concentration biased by σ pinned at 1.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30 / 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2 · NaCl, σ=1 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MC5 · 07.23.24 · 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72324_NF270_MC5_NaCl_NaCl_07.23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2999315"/>
          </a:xfrm>
          <a:prstGeom prst="rect">
            <a:avLst/>
          </a:prstGeom>
        </p:spPr>
      </p:pic>
      <p:pic>
        <p:nvPicPr>
          <p:cNvPr id="7" name="Picture 6" descr="concentration-JAO_072324_NF270_MC5_NaCl_NaCl_07.23.24_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7889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10.52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10.52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3.70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3.70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0.79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0.79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D98A0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7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024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D98A00"/>
                    </a:solidFill>
                    <a:latin typeface="Cambria Math"/>
                  </a:rPr>
                  <a:t>7,024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Concentrating; σ at wall.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31 / 42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2 · NaCl, σ=1 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MC5 · 07.23.24 · SNaCl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72324_NF270_MC5_SNaCl_NaCl_07.23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22018"/>
          </a:xfrm>
          <a:prstGeom prst="rect">
            <a:avLst/>
          </a:prstGeom>
        </p:spPr>
      </p:pic>
      <p:pic>
        <p:nvPicPr>
          <p:cNvPr id="7" name="Picture 6" descr="concentration-JAO_072324_NF270_MC5_SNaCl_NaCl_07.23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7889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8.64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8.64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3.07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3.07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0.57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0.57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D98A0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5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870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D98A00"/>
                    </a:solidFill>
                    <a:latin typeface="Cambria Math"/>
                  </a:rPr>
                  <a:t>5,870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Concentrating; σ at wall.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32 / 42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2 · CaCl₂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MC2 · 05.07.24 · CaCl₂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50724_NF270_MC2_CaCl2_CaCl2_05.07.24_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JAO_050724_NF270_MC2_CaCl2_CaCl2_05.07.24_CaC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83756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8.00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8.00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0.51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0.51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0.50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0.50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D98A0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97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213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D98A00"/>
                    </a:solidFill>
                    <a:latin typeface="Cambria Math"/>
                  </a:rPr>
                  <a:t>97,213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Channel side-split; high retentate-conc WSSE.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33 / 42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2 · CaCl₂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MC3 · 07.11.24 · SCaCl₂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71124_NF270_MC3_SCaCl2_CaCl2_07.11.24_S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JAO_071124_NF270_MC3_SCaCl2_CaCl2_07.11.24_SCaC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83756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6.56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6.56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9.11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9.11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1.00</m:t>
                      </m:r>
                      <m:r>
                        <m:t> </m:t>
                      </m:r>
                      <m:r>
                        <m:rPr>
                          <m:sty m:val="p"/>
                        </m:rPr>
                        <m:t>↑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1.00 ↑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D98A0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6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139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D98A00"/>
                    </a:solidFill>
                    <a:latin typeface="Cambria Math"/>
                  </a:rPr>
                  <a:t>6,139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σ at wall.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34 / 42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2 · CaCl₂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MC3 · 07.12.24 · S2CaCl₂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71224_NF270_MC3_S2CaCl2_CaCl2_07.12.24_S2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JAO_071224_NF270_MC3_S2CaCl2_CaCl2_07.12.24_S2CaC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83756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5.49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5.49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30.00</m:t>
                      </m:r>
                      <m:r>
                        <m:t> </m:t>
                      </m:r>
                      <m:r>
                        <m:rPr>
                          <m:sty m:val="p"/>
                        </m:rPr>
                        <m:t>↑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30.00 ↑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1.00</m:t>
                      </m:r>
                      <m:r>
                        <m:t> </m:t>
                      </m:r>
                      <m:r>
                        <m:rPr>
                          <m:sty m:val="p"/>
                        </m:rPr>
                        <m:t>↑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1.00 ↑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D98A0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9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774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D98A00"/>
                    </a:solidFill>
                    <a:latin typeface="Cambria Math"/>
                  </a:rPr>
                  <a:t>9,774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σ AND B pinned at walls (B=30).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35 / 42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3 · LaCl₃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MC2 · 05.21.24 · LaCl₃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52124_NF270_MC2_LaCl3_LaCl3_05.21.24_LaC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JAO_052124_NF270_MC2_LaCl3_LaCl3_05.21.24_LaCl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83756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2.95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2.95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0.31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0.31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0.00</m:t>
                      </m:r>
                      <m:r>
                        <m:t> </m:t>
                      </m:r>
                      <m:r>
                        <m:rPr>
                          <m:sty m:val="p"/>
                        </m:rPr>
                        <m:t>↓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0.00 ↓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B0413E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21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500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B0413E"/>
                    </a:solidFill>
                    <a:latin typeface="Cambria Math"/>
                  </a:rPr>
                  <a:t>21,500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POOR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Wrong-model bias — model can't track cᶠ.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36 / 42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3 · LaCl₃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MC4 · 07.11.24 · SLaCl₃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LL_071124_NF270_MC_4_LaCl3_07.11.24_SLaC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LL_071124_NF270_MC_4_LaCl3_07.11.24_SLaCl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83756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5.55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5.55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0.17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0.17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0.93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0.93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B0413E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75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080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B0413E"/>
                    </a:solidFill>
                    <a:latin typeface="Cambria Math"/>
                  </a:rPr>
                  <a:t>75,080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POOR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Replicate wrong-model bias.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37 / 42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331720"/>
            <a:ext cx="146304" cy="132588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33172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05 · 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651760"/>
            <a:ext cx="103327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Combine what we have, then design what we're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310128"/>
            <a:ext cx="103327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BBC6D4"/>
                </a:solidFill>
                <a:latin typeface="Calibri"/>
              </a:rPr>
              <a:t>Q1 — a better initial guess from the existing runs   ·   Q2 — the experiments that close the gaps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Q1 · COMBINE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Take each parameter from the run that pins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Same θ = (Lₚ, B, σ), but each component seeded from the experiment whose data actually constrain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0512"/>
            <a:ext cx="11091672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10512"/>
            <a:ext cx="914400" cy="1207008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914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39319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J</m:t>
                          </m:r>
                        </m:e>
                        <m:sub>
                          <m: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</m:rPr>
                        <m:t>Δ</m:t>
                      </m:r>
                      <m:r>
                        <m:t>P</m:t>
                      </m:r>
                    </m:oMath>
                  </m:oMathPara>
                </a14:m>
              </mc:Choice>
              <mc:Fallback>
                <a:r>
                  <a:rPr lang="en-US" sz="1800" dirty="0">
                    <a:solidFill>
                      <a:srgbClr val="1B1B1B"/>
                    </a:solidFill>
                    <a:latin typeface="Cambria Math"/>
                  </a:rPr>
                  <a:t>Jw = Lp ΔP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1645920" y="2542032"/>
            <a:ext cx="39319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from:  Pure-water run, or any diluting run's mass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084831"/>
            <a:ext cx="55778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Δπ ≈ 0 → Lₚ falls straight out of the mass data, untouched by σ or 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11091672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9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914400" cy="1207008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93008"/>
            <a:ext cx="914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10128"/>
            <a:ext cx="39319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r>
                            <m:t>σ</m:t>
                          </m:r>
                        </m:lim>
                      </m:limLow>
                      <m:r>
                        <m:t> </m:t>
                      </m:r>
                      <m:r>
                        <m:rPr>
                          <m:sty m:val="p"/>
                        </m:rPr>
                        <m:t>W</m:t>
                      </m:r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E</m:t>
                      </m:r>
                    </m:oMath>
                  </m:oMathPara>
                </a14:m>
              </mc:Choice>
              <mc:Fallback>
                <a:r>
                  <a:rPr lang="en-US" sz="1800" dirty="0">
                    <a:solidFill>
                      <a:srgbClr val="1B1B1B"/>
                    </a:solidFill>
                    <a:latin typeface="Cambria Math"/>
                  </a:rPr>
                  <a:t>argmin_σ WSSE</a:t>
                </a:r>
              </mc:Fallback>
            </mc:AlternateContent>
          </a:p>
        </p:txBody>
      </p:sp>
      <p:sp>
        <p:nvSpPr>
          <p:cNvPr id="15" name="TextBox 14"/>
          <p:cNvSpPr txBox="1"/>
          <p:nvPr/>
        </p:nvSpPr>
        <p:spPr>
          <a:xfrm>
            <a:off x="1645920" y="3840480"/>
            <a:ext cx="39319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from:  A high-cf (diluting) run — MC3 SNaCl, σ ≈ 0.79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383279"/>
            <a:ext cx="55778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Only where Δπ/ΔP is appreciable does σ leave an interior minimum.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07408"/>
            <a:ext cx="11091672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C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407408"/>
            <a:ext cx="914400" cy="1207008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791456"/>
            <a:ext cx="914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608576"/>
            <a:ext cx="39319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J</m:t>
                          </m:r>
                        </m:e>
                        <m:sub>
                          <m: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B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en-US" sz="1800" dirty="0">
                    <a:solidFill>
                      <a:srgbClr val="1B1B1B"/>
                    </a:solidFill>
                    <a:latin typeface="Cambria Math"/>
                  </a:rPr>
                  <a:t>Js = B (c_in − c_h)</a:t>
                </a:r>
              </mc:Fallback>
            </mc:AlternateContent>
          </a:p>
        </p:txBody>
      </p:sp>
      <p:sp>
        <p:nvSpPr>
          <p:cNvPr id="21" name="TextBox 20"/>
          <p:cNvSpPr txBox="1"/>
          <p:nvPr/>
        </p:nvSpPr>
        <p:spPr>
          <a:xfrm>
            <a:off x="1645920" y="5138928"/>
            <a:ext cx="39319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from:  The low-residual solute channel where Jw spans a 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681728"/>
            <a:ext cx="55778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Tighten with the per-salt bound (halve per +1 cation charge).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79008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5216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onsolas"/>
              </a:rPr>
              <a:t>θ_init per salt = ( Lₚ : water / diluting   ·   σ : σ-probing run   ·   B : clean solute channel 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CD6E2"/>
                </a:solidFill>
                <a:latin typeface="Calibri"/>
              </a:rPr>
              <a:t>Transfer across salts of the same valence, then run the joint multistart from this seed instead of a blind LHS.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39 / 42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Q2 ·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New experiments, chosen to fix exactly what the math says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Each one targets a specific identifiability gap from the sensitivity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0512"/>
            <a:ext cx="1109167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10512"/>
            <a:ext cx="1691640" cy="1371600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810512"/>
            <a:ext cx="1234440" cy="1371600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1600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PRIORITY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23744"/>
            <a:ext cx="1600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→ pins Lₚ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938528"/>
            <a:ext cx="90525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C2340"/>
                </a:solidFill>
                <a:latin typeface="Calibri"/>
              </a:rPr>
              <a:t>Pure-water Lₚ before &amp; after every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322576"/>
            <a:ext cx="38404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>
                <a:solidFill>
                  <a:srgbClr val="B0413E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J</m:t>
                          </m:r>
                        </m:e>
                        <m:sub>
                          <m: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</m:rPr>
                        <m:t>Δ</m:t>
                      </m:r>
                      <m:r>
                        <m:t>P</m:t>
                      </m:r>
                    </m:oMath>
                  </m:oMathPara>
                </a14:m>
              </mc:Choice>
              <mc:Fallback>
                <a:r>
                  <a:rPr lang="en-US" sz="1600" dirty="0">
                    <a:solidFill>
                      <a:srgbClr val="B0413E"/>
                    </a:solidFill>
                    <a:latin typeface="Cambria Math"/>
                  </a:rPr>
                  <a:t>Jw = Lp ΔP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2423160" y="2798064"/>
            <a:ext cx="90525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Δπ = 0 isolates Lₚ so σ and B can't compensate for it. Doubles as a fouling check (pre/post drift).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91840"/>
            <a:ext cx="1109167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291840"/>
            <a:ext cx="1691640" cy="137160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3291840"/>
            <a:ext cx="1234440" cy="1371600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84448"/>
            <a:ext cx="1600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PRIORITY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05072"/>
            <a:ext cx="1600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→ separates σ–B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419856"/>
            <a:ext cx="90525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C2340"/>
                </a:solidFill>
                <a:latin typeface="Calibri"/>
              </a:rPr>
              <a:t>Multi-ΔP sweep within a run  +  dilute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803904"/>
            <a:ext cx="38404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>
                <a:solidFill>
                  <a:srgbClr val="D98A0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∂</m:t>
                          </m:r>
                          <m:sSub>
                            <m:e>
                              <m:r>
                                <m:t>J</m:t>
                              </m:r>
                            </m:e>
                            <m:sub>
                              <m:r>
                                <m:t>w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m:t>∂</m:t>
                          </m:r>
                          <m:r>
                            <m:t>σ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</m:rPr>
                        <m:t>Δ</m:t>
                      </m:r>
                      <m:r>
                        <m:t>π</m:t>
                      </m:r>
                    </m:oMath>
                  </m:oMathPara>
                </a14:m>
              </mc:Choice>
              <mc:Fallback>
                <a:r>
                  <a:rPr lang="en-US" sz="1600" dirty="0">
                    <a:solidFill>
                      <a:srgbClr val="D98A00"/>
                    </a:solidFill>
                    <a:latin typeface="Cambria Math"/>
                  </a:rPr>
                  <a:t>∂Jw/∂σ = −Lp Δπ</a:t>
                </a:r>
              </mc:Fallback>
            </mc:AlternateContent>
          </a:p>
        </p:txBody>
      </p:sp>
      <p:sp>
        <p:nvSpPr>
          <p:cNvPr id="20" name="TextBox 19"/>
          <p:cNvSpPr txBox="1"/>
          <p:nvPr/>
        </p:nvSpPr>
        <p:spPr>
          <a:xfrm>
            <a:off x="2423160" y="4279392"/>
            <a:ext cx="90525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Stepping ΔP changes Jw, shifting how σ (via Jw) and B (via Js) each act on c_f — breaking their correlation. Dilute runs raise Δπ/ΔP so σ identifies for CaCl₂/LaCl₃.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73168"/>
            <a:ext cx="1109167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C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773168"/>
            <a:ext cx="1691640" cy="137160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4773168"/>
            <a:ext cx="1234440" cy="137160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065776"/>
            <a:ext cx="1600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PRIORITY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486400"/>
            <a:ext cx="1600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→ tests model 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901184"/>
            <a:ext cx="90525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C2340"/>
                </a:solidFill>
                <a:latin typeface="Calibri"/>
              </a:rPr>
              <a:t>More LaCl₃ + retentate conductivity + ICP speciation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5285232"/>
            <a:ext cx="38404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>
                <a:solidFill>
                  <a:srgbClr val="0C234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n</m:t>
                          </m:r>
                        </m:e>
                        <m:sub>
                          <m:r>
                            <m:t>e</m:t>
                          </m:r>
                          <m:r>
                            <m:t>f</m:t>
                          </m:r>
                          <m:r>
                            <m:t>f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?</m:t>
                      </m:r>
                      <m:r>
                        <m:t> </m:t>
                      </m:r>
                      <m:r>
                        <m:t> 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p>
                            <m:e>
                              <m:r>
                                <m:rPr>
                                  <m:sty m:val="p"/>
                                </m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m:t>a</m:t>
                              </m:r>
                            </m:e>
                            <m:sup>
                              <m: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⇌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m:t>l</m:t>
                              </m:r>
                            </m:e>
                            <m:sup>
                              <m: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mc:Choice>
              <mc:Fallback>
                <a:r>
                  <a:rPr lang="en-US" sz="1600" dirty="0">
                    <a:solidFill>
                      <a:srgbClr val="0C2340"/>
                    </a:solidFill>
                    <a:latin typeface="Cambria Math"/>
                  </a:rPr>
                  <a:t>n_eff = ?  (La³⁺ ⇌ LaCl²⁺)</a:t>
                </a:r>
              </mc:Fallback>
            </mc:AlternateContent>
          </a:p>
        </p:txBody>
      </p:sp>
      <p:sp>
        <p:nvSpPr>
          <p:cNvPr id="28" name="TextBox 27"/>
          <p:cNvSpPr txBox="1"/>
          <p:nvPr/>
        </p:nvSpPr>
        <p:spPr>
          <a:xfrm>
            <a:off x="2423160" y="5760720"/>
            <a:ext cx="90525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n = 2 is an anecdote (need ≥5). Retentate-side conductivity kills the CaCl₂ side-split; speciation tests the ion-pairing hypothesis directly.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40 / 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99700"/>
                </a:solidFill>
                <a:latin typeface="Calibri"/>
              </a:rPr>
              <a:t>QUESTIONS FOR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I'd like your read on before the re-run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3852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93392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340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20240"/>
            <a:ext cx="100584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6ECF3"/>
                </a:solidFill>
                <a:latin typeface="Calibri"/>
              </a:rPr>
              <a:t>Does the 3-stage diagnosis match your physical intuition? Increasing cation valence → identifiability degrades. Is the σ=1 wall a regime problem, or the cᶠ weighting forcing it there?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5292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07792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340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34640"/>
            <a:ext cx="100584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6ECF3"/>
                </a:solidFill>
                <a:latin typeface="Calibri"/>
              </a:rPr>
              <a:t>Two paths to well-identified — MC3 SNaCl (interior σ = 0.79) vs MC5 S2NaCl (diluting, σ irrelevant). What in the run-sheet metadata differs from the other NaCl sheets?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67327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340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49039"/>
            <a:ext cx="100584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6ECF3"/>
                </a:solidFill>
                <a:latin typeface="Calibri"/>
              </a:rPr>
              <a:t>MC4 SNaCl is diluting but fits ~10× worse (WSSE ≈ 19.5k). Likely a data-quality issue (fouling / leak / calibration) rather than model — worth a closer look?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681727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736592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340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663440"/>
            <a:ext cx="100584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6ECF3"/>
                </a:solidFill>
                <a:latin typeface="Calibri"/>
              </a:rPr>
              <a:t>LaCl₃ fix: parameterize σ(cᶠ), add an ion-pairing equilibrium block, or fit only the diluting portion? Either way we need 3–5 more sheets.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96127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650992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340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577840"/>
            <a:ext cx="100584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6ECF3"/>
                </a:solidFill>
                <a:latin typeface="Calibri"/>
              </a:rPr>
              <a:t>Per-salt B bounds — NaCl [0,30], CaCl₂ [0,15], LaCl₃ [0,10]. Anything you'd revise before re-running the full campaign?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MC2 NaCl — B-direction contours behind the σ=1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The σ=1 wall on the Stage-2 NaCl sheets hides a B–Lₚ trade-off</a:t>
            </a:r>
          </a:p>
        </p:txBody>
      </p:sp>
      <p:pic>
        <p:nvPicPr>
          <p:cNvPr id="5" name="Picture 4" descr="objcontour-x_B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5486400" cy="1405166"/>
          </a:xfrm>
          <a:prstGeom prst="rect">
            <a:avLst/>
          </a:prstGeom>
        </p:spPr>
      </p:pic>
      <p:pic>
        <p:nvPicPr>
          <p:cNvPr id="6" name="Picture 5" descr="objcontour-x_sigma-y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83080"/>
            <a:ext cx="5486400" cy="14096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279686"/>
            <a:ext cx="5486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B6670"/>
                </a:solidFill>
                <a:latin typeface="Calibri"/>
              </a:rPr>
              <a:t>B × Lₚ  (σ fixed at warm-start = 1) — Lₚ on 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3279686"/>
            <a:ext cx="5486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B6670"/>
                </a:solidFill>
                <a:latin typeface="Calibri"/>
              </a:rPr>
              <a:t>σ × B  (Lₚ fixed) — B on Y per axis convention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42 /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
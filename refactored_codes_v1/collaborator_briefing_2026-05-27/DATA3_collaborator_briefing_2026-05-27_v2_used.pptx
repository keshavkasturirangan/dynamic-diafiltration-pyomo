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2468880"/>
          </a:xfrm>
          <a:prstGeom prst="rect">
            <a:avLst/>
          </a:prstGeom>
          <a:solidFill>
            <a:srgbClr val="D6E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84040"/>
            <a:ext cx="11247120" cy="1157999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4000" b="1" i="0" dirty="0">
                <a:solidFill>
                  <a:srgbClr val="1F3864"/>
                </a:solidFill>
                <a:latin typeface="Cambria"/>
              </a:rPr>
              <a:t>DATA3 Single-Salt Campaign</a:t>
            </a:r>
            <a:r>
              <a:rPr lang="en-US" sz="4000" b="1" i="0" dirty="0">
                <a:solidFill>
                  <a:srgbClr val="1F3864"/>
                </a:solidFill>
                <a:latin typeface="Cambria"/>
              </a:rPr>
              <a:t> Analysis</a:t>
            </a:r>
            <a:endParaRPr sz="4000" b="1" i="0" dirty="0">
              <a:solidFill>
                <a:srgbClr val="1F3864"/>
              </a:solidFill>
              <a:latin typeface="Cambria"/>
            </a:endParaRPr>
          </a:p>
          <a:p>
            <a:pPr algn="ctr"/>
            <a:r>
              <a:rPr sz="3000" b="0" i="1" dirty="0">
                <a:solidFill>
                  <a:srgbClr val="1F3864"/>
                </a:solidFill>
                <a:latin typeface="Cambria"/>
              </a:rPr>
              <a:t>Data Validation, Parameter Bounds, and </a:t>
            </a:r>
            <a:r>
              <a:rPr sz="3000" b="0" i="1" dirty="0" err="1">
                <a:solidFill>
                  <a:srgbClr val="1F3864"/>
                </a:solidFill>
                <a:latin typeface="Cambria"/>
              </a:rPr>
              <a:t>Estimability</a:t>
            </a:r>
            <a:endParaRPr sz="3000" b="0" i="1" dirty="0">
              <a:solidFill>
                <a:srgbClr val="1F3864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3566160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/>
            <a:r>
              <a:rPr sz="1600" b="1">
                <a:solidFill>
                  <a:srgbClr val="1F3864"/>
                </a:solidFill>
                <a:latin typeface="Calibri"/>
              </a:rPr>
              <a:t>Data validation</a:t>
            </a:r>
          </a:p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70,101 / 70,101</a:t>
            </a:r>
          </a:p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audited data points GOOD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Calibri"/>
              </a:rPr>
              <a:t>13 single-salt sheets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4251960" y="2834640"/>
                <a:ext cx="3566160" cy="2103120"/>
              </a:xfrm>
              <a:prstGeom prst="roundRect">
                <a:avLst/>
              </a:prstGeom>
              <a:solidFill>
                <a:srgbClr val="D6E5F4"/>
              </a:solidFill>
              <a:ln w="9525">
                <a:solidFill>
                  <a:srgbClr val="1F386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0000" tIns="60000" rIns="100000" bIns="60000" rtlCol="0" anchor="ctr"/>
              <a:lstStyle/>
              <a:p>
                <a:pPr algn="ctr"/>
                <a:r>
                  <a:rPr sz="1600" b="1" dirty="0">
                    <a:solidFill>
                      <a:srgbClr val="1F3864"/>
                    </a:solidFill>
                    <a:latin typeface="Calibri"/>
                  </a:rPr>
                  <a:t>Parameter bounds</a:t>
                </a:r>
              </a:p>
              <a:p>
                <a:pPr algn="ctr"/>
                <a14:m/>
              </a:p>
              <a:p>
                <a:pPr algn="ctr"/>
              </a:p>
              <a:p>
                <a:pPr algn="ctr"/>
                <a:r>
                  <a:rPr sz="1200" b="0" dirty="0">
                    <a:solidFill>
                      <a:srgbClr val="1F3864"/>
                    </a:solidFill>
                    <a:latin typeface="Calibri"/>
                  </a:rPr>
                  <a:t>Same membrane → same box,</a:t>
                </a:r>
              </a:p>
              <a:p>
                <a:pPr algn="ctr"/>
                <a:r>
                  <a:rPr sz="1200" b="0" dirty="0">
                    <a:solidFill>
                      <a:srgbClr val="1F3864"/>
                    </a:solidFill>
                    <a:latin typeface="Calibri"/>
                  </a:rPr>
                  <a:t>salt changes the fit, not the bound</a:t>
                </a: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960" y="2834640"/>
                <a:ext cx="3566160" cy="21031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1F3864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8046720" y="2834640"/>
                <a:ext cx="3566160" cy="2103120"/>
              </a:xfrm>
              <a:prstGeom prst="roundRect">
                <a:avLst/>
              </a:prstGeom>
              <a:solidFill>
                <a:srgbClr val="D6E5F4"/>
              </a:solidFill>
              <a:ln w="9525">
                <a:solidFill>
                  <a:srgbClr val="1F386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0000" tIns="60000" rIns="100000" bIns="60000" rtlCol="0" anchor="ctr"/>
              <a:lstStyle/>
              <a:p>
                <a:pPr algn="ctr"/>
                <a:r>
                  <a:rPr sz="1600" b="1" dirty="0">
                    <a:solidFill>
                      <a:srgbClr val="1F3864"/>
                    </a:solidFill>
                    <a:latin typeface="Calibri"/>
                  </a:rPr>
                  <a:t>Mass-per-vial pattern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200" b="1" i="0" dirty="0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 dirty="0">
                    <a:solidFill>
                      <a:srgbClr val="1F3864"/>
                    </a:solidFill>
                    <a:latin typeface="Calibri"/>
                  </a:rPr>
                  <a:t> drives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dirty="0" smtClean="0">
                            <a:solidFill>
                              <a:srgbClr val="1F38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1F3864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1F3864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2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200" b="1" dirty="0">
                  <a:solidFill>
                    <a:srgbClr val="1F3864"/>
                  </a:solidFill>
                  <a:latin typeface="Calibri"/>
                </a:endParaRPr>
              </a:p>
              <a:p>
                <a:pPr algn="ctr"/>
                <a:r>
                  <a:rPr sz="1200" b="0" dirty="0">
                    <a:solidFill>
                      <a:srgbClr val="1F3864"/>
                    </a:solidFill>
                    <a:latin typeface="Calibri"/>
                  </a:rPr>
                  <a:t>Now explained — no model fit needed</a:t>
                </a:r>
              </a:p>
              <a:p>
                <a:pPr algn="ctr"/>
                <a:endParaRPr sz="1200" b="0" dirty="0">
                  <a:solidFill>
                    <a:srgbClr val="1F3864"/>
                  </a:solidFill>
                  <a:latin typeface="Calibri"/>
                </a:endParaRPr>
              </a:p>
              <a:p>
                <a:pPr algn="ctr"/>
                <a:r>
                  <a:rPr sz="1200" b="1" dirty="0">
                    <a:solidFill>
                      <a:srgbClr val="1F3864"/>
                    </a:solidFill>
                    <a:latin typeface="Calibri"/>
                  </a:rPr>
                  <a:t>DATA3 vs published contour:</a:t>
                </a:r>
              </a:p>
              <a:p>
                <a:pPr algn="ctr"/>
                <a:r>
                  <a:rPr sz="1200" b="0" dirty="0" err="1">
                    <a:solidFill>
                      <a:srgbClr val="1F3864"/>
                    </a:solidFill>
                    <a:latin typeface="Calibri"/>
                  </a:rPr>
                  <a:t>σ</a:t>
                </a:r>
                <a:r>
                  <a:rPr sz="1200" b="0" dirty="0">
                    <a:solidFill>
                      <a:srgbClr val="1F3864"/>
                    </a:solidFill>
                    <a:latin typeface="Calibri"/>
                  </a:rPr>
                  <a:t> flat → identifiability gap</a:t>
                </a: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720" y="2834640"/>
                <a:ext cx="3566160" cy="21031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1F3864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1500" b="1" i="0" dirty="0">
                <a:solidFill>
                  <a:srgbClr val="1F3864"/>
                </a:solidFill>
                <a:latin typeface="Calibri"/>
              </a:rPr>
              <a:t>Keshav Kasturi Rangan  ·  Dowling Group  ·  University of Notre Dame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Collaborator briefing  ·  May 27, 2026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1.  Measured Data → Model Inputs:  Loader Fidelity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70,101 / 70,101 data points GOOD</a:t>
            </a:r>
          </a:p>
          <a:p>
            <a:pPr algn="ctr"/>
            <a:r>
              <a:rPr sz="1300" b="0">
                <a:solidFill>
                  <a:srgbClr val="1F3864"/>
                </a:solidFill>
                <a:latin typeface="Calibri"/>
              </a:rPr>
              <a:t>13 single-salt sheets · 0 warnings · 0 bad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Calibri"/>
              </a:rPr>
              <a:t>Source: DATA3_loader_fidelity_audit_2026-05-27.xlsx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1327276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What the audit verifies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Read raw Excel directly with pandas — no library code in the path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Load via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lib.loadxlsx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→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data_stru</a:t>
            </a:r>
            <a:endParaRPr sz="1300" b="0" i="0" dirty="0">
              <a:solidFill>
                <a:srgbClr val="101010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Apply documented transformations to raw data, then compare row-by-row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1 % relative + absolute-floor tolerance per data point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ICP sidebar, calibration points</a:t>
            </a:r>
            <a:r>
              <a:rPr lang="en-US" sz="1300" b="0" i="0" dirty="0">
                <a:solidFill>
                  <a:srgbClr val="101010"/>
                </a:solidFill>
                <a:latin typeface="Calibri"/>
              </a:rPr>
              <a:t>, 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header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Loader transformations (single documented formula per variable)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75991"/>
              </p:ext>
            </p:extLst>
          </p:nvPr>
        </p:nvGraphicFramePr>
        <p:xfrm>
          <a:off x="6035040" y="1417320"/>
          <a:ext cx="5760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Time (s)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Mass (g)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Per-vial baseline subtracted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Pressure (psi)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Retentate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Retentate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EC25 temperature compensation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Permeate Temp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Permeate Cond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EC25 + tube-transit time shift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Vial Swap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1:1 preserved (used to slice vials)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ICP (cV_avg per vial)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Dilution × molar mass per vial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E7D32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The audit XLSX (shown in meeting) is the formal evidence — every point is either preserved or transformed by a formula.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3137"/>
            <a:ext cx="11247120" cy="542446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 dirty="0">
                <a:solidFill>
                  <a:srgbClr val="101010"/>
                </a:solidFill>
                <a:latin typeface="Calibri"/>
              </a:rPr>
              <a:t>2.  Physical Bounds on  </a:t>
            </a:r>
            <a:r>
              <a:rPr sz="3000" b="1" i="0" dirty="0" err="1">
                <a:solidFill>
                  <a:srgbClr val="101010"/>
                </a:solidFill>
                <a:latin typeface="Calibri"/>
              </a:rPr>
              <a:t>L_p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,  B,  </a:t>
            </a:r>
            <a:r>
              <a:rPr sz="3000" b="1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  — Do</a:t>
            </a:r>
            <a:r>
              <a:rPr lang="en-US" sz="3000" b="1" i="0" dirty="0">
                <a:solidFill>
                  <a:srgbClr val="101010"/>
                </a:solidFill>
                <a:latin typeface="Calibri"/>
              </a:rPr>
              <a:t>es B</a:t>
            </a:r>
            <a:r>
              <a:rPr sz="3000" b="1" i="0" dirty="0">
                <a:solidFill>
                  <a:srgbClr val="101010"/>
                </a:solidFill>
                <a:latin typeface="Calibri"/>
              </a:rPr>
              <a:t> Change with Salt?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120640" cy="137160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Same membrane → same box.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Salt changes the fitted value,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not the bound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5303520" cy="2142884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 i="0" dirty="0">
                <a:solidFill>
                  <a:srgbClr val="1F3864"/>
                </a:solidFill>
                <a:latin typeface="Calibri"/>
              </a:rPr>
              <a:t>Per-parameter reasoning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∈ [0, 1] for any salt — it is a reflection coefficient, physically bounded.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300" b="0" i="0" dirty="0" err="1">
                <a:solidFill>
                  <a:srgbClr val="101010"/>
                </a:solidFill>
                <a:latin typeface="Calibri"/>
              </a:rPr>
              <a:t>L_p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 is a membrane property (water permeability) — independent of the salt.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B is the most likely to move with salt</a:t>
            </a:r>
            <a:r>
              <a:rPr lang="en-US" sz="1300" b="0" i="0" dirty="0">
                <a:solidFill>
                  <a:srgbClr val="101010"/>
                </a:solidFill>
                <a:latin typeface="Calibri"/>
              </a:rPr>
              <a:t> (currently using the same bounds)</a:t>
            </a:r>
            <a:r>
              <a:rPr sz="1300" b="0" i="0" dirty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/>
            <a:endParaRPr sz="1300" b="0" i="0" dirty="0">
              <a:solidFill>
                <a:srgbClr val="101010"/>
              </a:solidFill>
              <a:latin typeface="Calibri"/>
            </a:endParaRPr>
          </a:p>
          <a:p>
            <a:pPr algn="l"/>
            <a:r>
              <a:rPr sz="1400" b="1" i="0" dirty="0">
                <a:solidFill>
                  <a:srgbClr val="1F3864"/>
                </a:solidFill>
                <a:latin typeface="Calibri"/>
              </a:rPr>
              <a:t>When to revisit the bounds: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Different membrane,  or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 very different salt family,  or</a:t>
            </a:r>
          </a:p>
          <a:p>
            <a:pPr algn="l"/>
            <a:r>
              <a:rPr sz="1300" b="0" i="0" dirty="0">
                <a:solidFill>
                  <a:srgbClr val="101010"/>
                </a:solidFill>
                <a:latin typeface="Calibri"/>
              </a:rPr>
              <a:t>• A different model form (e.g. exchanged B parametrization).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Published parameter box — used across all 13 single-salt sheets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17320"/>
          <a:ext cx="576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Bound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this range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[0.5, 50]   L/(m²·hr·bar)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Membrane water permeability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[0, 30]   μm/s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Solute-permeability term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[0, 1]   dimensionless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01010"/>
                          </a:solidFill>
                          <a:latin typeface="Calibri"/>
                        </a:rPr>
                        <a:t>Reflection coefficient — physically bounded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6035040" y="3909060"/>
                <a:ext cx="5760720" cy="1645920"/>
              </a:xfrm>
              <a:prstGeom prst="roundRect">
                <a:avLst/>
              </a:prstGeom>
              <a:solidFill>
                <a:srgbClr val="D6E5F4"/>
              </a:solidFill>
              <a:ln w="9525">
                <a:solidFill>
                  <a:srgbClr val="1F386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0000" tIns="60000" rIns="100000" bIns="600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sz="1600" b="1" i="1" dirty="0" smtClean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1" i="1" dirty="0" smtClean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US" sz="1600" b="1" i="1" dirty="0" err="1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1600" b="1" i="1" dirty="0" err="1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b="1" i="1" dirty="0" err="1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 · (</m:t>
                      </m:r>
                      <m:r>
                        <a:rPr lang="en-US" sz="1600" b="1" i="0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1600" b="1" i="1" dirty="0" err="1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sz="1600" b="1" i="0" dirty="0" err="1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1600" b="1" i="1" dirty="0">
                          <a:solidFill>
                            <a:srgbClr val="1F386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>
                  <a:solidFill>
                    <a:srgbClr val="1F3864"/>
                  </a:solidFill>
                  <a:latin typeface="Calibri"/>
                </a:endParaRPr>
              </a:p>
              <a:p>
                <a:pPr algn="l"/>
                <a14:m/>
              </a:p>
              <a:p>
                <a:pPr algn="l"/>
                <a:r>
                  <a:rPr sz="1100" b="0" dirty="0">
                    <a:solidFill>
                      <a:srgbClr val="1F3864"/>
                    </a:solidFill>
                    <a:latin typeface="Calibri"/>
                  </a:rPr>
                  <a:t>, so its identifiability depends on how much </a:t>
                </a:r>
                <a:r>
                  <a:rPr sz="1100" b="0" dirty="0" err="1">
                    <a:solidFill>
                      <a:srgbClr val="1F3864"/>
                    </a:solidFill>
                    <a:latin typeface="Calibri"/>
                  </a:rPr>
                  <a:t>Δ</a:t>
                </a:r>
                <a:r>
                  <a:rPr sz="1100" b="0" dirty="0">
                    <a:solidFill>
                      <a:srgbClr val="1F3864"/>
                    </a:solidFill>
                    <a:latin typeface="Calibri"/>
                  </a:rPr>
                  <a:t>π varies during the run.</a:t>
                </a: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40" y="3909060"/>
                <a:ext cx="5760720" cy="16459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1F3864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r>
              <a:rPr sz="1400" b="1" dirty="0">
                <a:solidFill>
                  <a:srgbClr val="1F3864"/>
                </a:solidFill>
                <a:latin typeface="Calibri"/>
              </a:rPr>
              <a:t>Take-away: 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σ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is bounded by physics;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should be independent of </a:t>
            </a:r>
            <a:r>
              <a:rPr lang="en-US" sz="1400" b="1" dirty="0">
                <a:solidFill>
                  <a:srgbClr val="1F3864"/>
                </a:solidFill>
              </a:rPr>
              <a:t>the salt,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but what should I do with B?</a:t>
            </a:r>
            <a:endParaRPr sz="1400" b="1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3.  Mass-per-Vial Pattern is Explained by  ΔP − σ·Δπ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/>
              <p:cNvSpPr/>
              <p:nvPr/>
            </p:nvSpPr>
            <p:spPr>
              <a:xfrm>
                <a:off x="457200" y="1051560"/>
                <a:ext cx="5486400" cy="1280160"/>
              </a:xfrm>
              <a:prstGeom prst="roundRect">
                <a:avLst/>
              </a:prstGeom>
              <a:solidFill>
                <a:srgbClr val="D6E5F4"/>
              </a:solidFill>
              <a:ln w="9525">
                <a:solidFill>
                  <a:srgbClr val="1F386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0000" tIns="60000" rIns="100000" bIns="60000" rtlCol="0" anchor="ctr"/>
              <a:lstStyle/>
              <a:p>
                <a:pPr algn="l"/>
                <a:r>
                  <a:rPr sz="1700" b="1" dirty="0">
                    <a:solidFill>
                      <a:srgbClr val="1F3864"/>
                    </a:solidFill>
                    <a:latin typeface="Calibri"/>
                  </a:rPr>
                  <a:t>Flux equation:   </a:t>
                </a:r>
                <a14:m>
                  <m:oMath xmlns:m="http://schemas.openxmlformats.org/officeDocument/2006/math">
                    <m:r>
                      <a:rPr lang="en-US" sz="1700" b="1" i="1" dirty="0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1700" b="1" i="1" dirty="0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700" b="1" i="1" dirty="0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 =  </m:t>
                    </m:r>
                    <m:r>
                      <a:rPr lang="en-US" sz="1700" b="1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1700" b="1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700" b="1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· (</m:t>
                    </m:r>
                    <m:r>
                      <a:rPr lang="en-US" sz="1700" b="1" i="0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700" b="1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US" sz="1700" b="1" i="0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sz="1700" b="1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algn="l"/>
                <a:r>
                  <a:rPr sz="1300" b="0" dirty="0">
                    <a:solidFill>
                      <a:srgbClr val="1F3864"/>
                    </a:solidFill>
                    <a:latin typeface="Calibri"/>
                  </a:rPr>
                  <a:t>ΔP is constant.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 b="0" i="0" dirty="0" smtClean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𝜈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𝑐h𝑎𝑛𝑔𝑒𝑠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300" b="0" i="1" dirty="0" err="1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sz="1300" b="0" i="1" dirty="0">
                        <a:solidFill>
                          <a:srgbClr val="1F3864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sz="1300" b="0" dirty="0">
                  <a:solidFill>
                    <a:srgbClr val="1F3864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1560"/>
                <a:ext cx="5486400" cy="128016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1F3864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Predicted mass-per-vial pattern (no model fit required)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548639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c_F(t)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Δπ(t)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ΔP − σ·Δπ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Mass per vial</a:t>
                      </a:r>
                    </a:p>
                  </a:txBody>
                  <a:tcPr marL="60000" marR="60000" marT="30000" marB="300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0394A"/>
                          </a:solidFill>
                          <a:latin typeface="Calibri"/>
                        </a:rPr>
                        <a:t>Concentrating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rises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shrinks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4A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Diluting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falls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1010"/>
                          </a:solidFill>
                          <a:latin typeface="Calibri"/>
                        </a:rPr>
                        <a:t>grows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60000" marR="60000" marT="30000" marB="30000" anchor="ctr">
                    <a:solidFill>
                      <a:srgbClr val="D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7315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MC3.07.22.24_SNaCl — diluting run (Δπ_initial &gt; ΔP)</a:t>
            </a:r>
          </a:p>
        </p:txBody>
      </p:sp>
      <p:pic>
        <p:nvPicPr>
          <p:cNvPr id="8" name="Picture 7" descr="applied_vs_osmotic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852160" cy="26575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3492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Orange ΔP constant · magenta Δπ(t) built from measured c_F — pure data, no 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43870"/>
            <a:ext cx="5486399" cy="86549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The slope of mass per vial across the run is the direct signature of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Δ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π 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in the 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concentrating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/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diluting</a:t>
            </a:r>
            <a:r>
              <a:rPr lang="en-US" sz="1400" b="1" dirty="0">
                <a:solidFill>
                  <a:srgbClr val="1F3864"/>
                </a:solidFill>
                <a:latin typeface="Calibri"/>
              </a:rPr>
              <a:t> regime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1AAD6F-1DD3-FFC3-2A13-285E4DE63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73647"/>
            <a:ext cx="5669280" cy="25528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4.  Workflow Reproduces Published Contour — DATA3 σ Stays Flat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Published-paper reproduction (DATA1 / KCl filtration) — byte-equivalent</a:t>
            </a:r>
          </a:p>
        </p:txBody>
      </p:sp>
      <p:pic>
        <p:nvPicPr>
          <p:cNvPr id="4" name="Picture 3" descr="data501.1_base_contour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69280" cy="1502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520440"/>
            <a:ext cx="5669280" cy="59436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200" b="1" dirty="0">
                <a:solidFill>
                  <a:srgbClr val="1F3864"/>
                </a:solidFill>
                <a:latin typeface="Calibri"/>
              </a:rPr>
              <a:t>Sharp dark band on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≈ 4 →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L_p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well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60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Same workflow on DATA3:  MC2.05.07.24_NaCl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669280" cy="14977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3520440"/>
            <a:ext cx="5669280" cy="594360"/>
          </a:xfrm>
          <a:prstGeom prst="roundRect">
            <a:avLst/>
          </a:prstGeom>
          <a:solidFill>
            <a:srgbClr val="FCE4E4"/>
          </a:solidFill>
          <a:ln w="9525">
            <a:solidFill>
              <a:srgbClr val="C0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200" b="1" dirty="0">
                <a:solidFill>
                  <a:srgbClr val="C0394A"/>
                </a:solidFill>
                <a:latin typeface="Calibri"/>
              </a:rPr>
              <a:t>Bands run horizontal across </a:t>
            </a:r>
            <a:r>
              <a:rPr sz="1200" b="1" dirty="0" err="1">
                <a:solidFill>
                  <a:srgbClr val="C0394A"/>
                </a:solidFill>
                <a:latin typeface="Calibri"/>
              </a:rPr>
              <a:t>σ</a:t>
            </a:r>
            <a:r>
              <a:rPr sz="1200" b="1" dirty="0">
                <a:solidFill>
                  <a:srgbClr val="C0394A"/>
                </a:solidFill>
                <a:latin typeface="Calibri"/>
              </a:rPr>
              <a:t> → </a:t>
            </a:r>
            <a:r>
              <a:rPr sz="1200" b="1" dirty="0" err="1">
                <a:solidFill>
                  <a:srgbClr val="C0394A"/>
                </a:solidFill>
                <a:latin typeface="Calibri"/>
              </a:rPr>
              <a:t>σ</a:t>
            </a:r>
            <a:r>
              <a:rPr sz="1200" b="1" dirty="0">
                <a:solidFill>
                  <a:srgbClr val="C0394A"/>
                </a:solidFill>
                <a:latin typeface="Calibri"/>
              </a:rPr>
              <a:t> is unidentifiable</a:t>
            </a:r>
          </a:p>
          <a:p>
            <a:r>
              <a:rPr sz="1100" b="0" dirty="0" err="1">
                <a:solidFill>
                  <a:srgbClr val="C0394A"/>
                </a:solidFill>
                <a:latin typeface="Calibri"/>
              </a:rPr>
              <a:t>L_p</a:t>
            </a:r>
            <a:r>
              <a:rPr sz="1100" b="0" dirty="0">
                <a:solidFill>
                  <a:srgbClr val="C0394A"/>
                </a:solidFill>
                <a:latin typeface="Calibri"/>
              </a:rPr>
              <a:t> </a:t>
            </a:r>
            <a:r>
              <a:rPr lang="en-US" sz="1100" dirty="0">
                <a:solidFill>
                  <a:srgbClr val="C0394A"/>
                </a:solidFill>
              </a:rPr>
              <a:t>has </a:t>
            </a:r>
            <a:r>
              <a:rPr lang="en-US" sz="1100" dirty="0">
                <a:solidFill>
                  <a:srgbClr val="C0394A"/>
                </a:solidFill>
                <a:latin typeface="Calibri"/>
              </a:rPr>
              <a:t>a range of </a:t>
            </a:r>
            <a:r>
              <a:rPr lang="en-US" sz="1100" dirty="0">
                <a:solidFill>
                  <a:srgbClr val="C0394A"/>
                </a:solidFill>
              </a:rPr>
              <a:t>8–10 </a:t>
            </a:r>
            <a:r>
              <a:rPr lang="en-US" sz="1100" dirty="0">
                <a:solidFill>
                  <a:srgbClr val="C0394A"/>
                </a:solidFill>
                <a:sym typeface="Wingdings" pitchFamily="2" charset="2"/>
              </a:rPr>
              <a:t> too wide a range</a:t>
            </a:r>
            <a:endParaRPr sz="1100" b="0" dirty="0">
              <a:solidFill>
                <a:srgbClr val="C039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Why estimability is harder in DATA3 — same model, different driving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338560" cy="634779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multiplies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π in the flux equation. When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π stays small over the run (concentrating runs at low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c_F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),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has almost no leverage on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J_w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.</a:t>
            </a:r>
          </a:p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DATA3 single-salt sheets are short and stay near steady-state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c_F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→ contour is flat in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→ optimizer pins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at a bound.</a:t>
            </a:r>
          </a:p>
          <a:p>
            <a:pPr algn="l"/>
            <a:r>
              <a:rPr sz="1200" b="0" i="0" dirty="0">
                <a:solidFill>
                  <a:srgbClr val="101010"/>
                </a:solidFill>
                <a:latin typeface="Calibri"/>
              </a:rPr>
              <a:t>• </a:t>
            </a:r>
            <a:r>
              <a:rPr lang="en-US" sz="1200" b="0" i="0" dirty="0">
                <a:solidFill>
                  <a:srgbClr val="101010"/>
                </a:solidFill>
                <a:latin typeface="Calibri"/>
              </a:rPr>
              <a:t>I will need to look across experiments to observe behavior where </a:t>
            </a:r>
            <a:r>
              <a:rPr sz="12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01010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01010"/>
                </a:solidFill>
                <a:latin typeface="Calibri"/>
              </a:rPr>
              <a:t>is varied.</a:t>
            </a:r>
            <a:endParaRPr sz="1200" b="0" i="0" dirty="0">
              <a:solidFill>
                <a:srgbClr val="10101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338560" cy="64008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400" b="1" dirty="0">
                <a:solidFill>
                  <a:srgbClr val="1F3864"/>
                </a:solidFill>
                <a:latin typeface="Calibri"/>
              </a:rPr>
              <a:t>Take-away:  Published reproduction confirms the workflow is correct.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l"/>
            <a:r>
              <a:rPr sz="3000" b="1" i="0">
                <a:solidFill>
                  <a:srgbClr val="101010"/>
                </a:solidFill>
                <a:latin typeface="Calibri"/>
              </a:rPr>
              <a:t>5.  Summary  ·  What I'd Like to Discuss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 dirty="0">
                <a:solidFill>
                  <a:srgbClr val="1F3864"/>
                </a:solidFill>
                <a:latin typeface="Calibri"/>
              </a:rPr>
              <a:t>1 · Data integrity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70,101 / 70,101 GOOD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40/40 metadata ✓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Calibration R² 0.99–0.999</a:t>
            </a:r>
          </a:p>
          <a:p>
            <a:pPr algn="l"/>
            <a:r>
              <a:rPr sz="1300" b="0" dirty="0">
                <a:solidFill>
                  <a:srgbClr val="1F3864"/>
                </a:solidFill>
                <a:latin typeface="Calibri"/>
              </a:rPr>
              <a:t>• Audit XLSX is the deliverable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9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2 · Bounds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L_p ∈ [0.5, 50]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B  ∈ [0, 30]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σ  ∈ [0, 1]  (physics-fixed)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Same box for all 13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8" y="1097280"/>
            <a:ext cx="3749039" cy="2103120"/>
          </a:xfrm>
          <a:prstGeom prst="roundRect">
            <a:avLst/>
          </a:prstGeom>
          <a:solidFill>
            <a:srgbClr val="D6E5F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60000" rIns="100000" bIns="60000" rtlCol="0" anchor="ctr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3 · Pattern + estimability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Mass-per-vial slope = Δπ signature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Published contour reproduces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• DATA3 σ-band flat → identifiability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Calibri"/>
              </a:rPr>
              <a:t>  gap is experimental, not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Open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338560" cy="511668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 i="0" dirty="0">
                <a:solidFill>
                  <a:srgbClr val="101010"/>
                </a:solidFill>
                <a:latin typeface="Calibri"/>
              </a:rPr>
              <a:t>• Is the published bound on B  ([0, 30]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μm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/s)  still appropriate for the DATA3 salts (NaCl,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CaCl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₂,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LaCl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₃), or do we revisit?</a:t>
            </a:r>
          </a:p>
          <a:p>
            <a:pPr algn="l"/>
            <a:r>
              <a:rPr sz="1400" b="0" i="0" dirty="0">
                <a:solidFill>
                  <a:srgbClr val="101010"/>
                </a:solidFill>
                <a:latin typeface="Calibri"/>
              </a:rPr>
              <a:t>• On the diluting sheet MC3.SNaCl, the data already shows 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Δ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π &gt; ΔP  at t = 0 — do we lean on that sheet as the </a:t>
            </a:r>
            <a:r>
              <a:rPr sz="1400" b="0" i="0" dirty="0" err="1">
                <a:solidFill>
                  <a:srgbClr val="101010"/>
                </a:solidFill>
                <a:latin typeface="Calibri"/>
              </a:rPr>
              <a:t>σ</a:t>
            </a:r>
            <a:r>
              <a:rPr sz="1400" b="0" i="0" dirty="0">
                <a:solidFill>
                  <a:srgbClr val="101010"/>
                </a:solidFill>
                <a:latin typeface="Calibri"/>
              </a:rPr>
              <a:t>-identifying anchor for the </a:t>
            </a:r>
            <a:r>
              <a:rPr sz="1400" b="0" i="0">
                <a:solidFill>
                  <a:srgbClr val="101010"/>
                </a:solidFill>
                <a:latin typeface="Calibri"/>
              </a:rPr>
              <a:t>campaign?</a:t>
            </a:r>
            <a:endParaRPr sz="1400" b="0" i="0" dirty="0">
              <a:solidFill>
                <a:srgbClr val="101010"/>
              </a:solidFill>
              <a:latin typeface="Calibri"/>
            </a:endParaRP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0"/>
            <a:ext cx="1567543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64465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DATA3 Single-Salt Status — May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0000" tIns="40000" rIns="60000" bIns="40000" anchor="ctr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1136</Words>
  <Application>Microsoft Macintosh PowerPoint</Application>
  <PresentationFormat>Widescreen</PresentationFormat>
  <Paragraphs>155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Kasturi Rangan</cp:lastModifiedBy>
  <cp:revision>2</cp:revision>
  <dcterms:created xsi:type="dcterms:W3CDTF">2013-01-27T09:14:16Z</dcterms:created>
  <dcterms:modified xsi:type="dcterms:W3CDTF">2026-05-27T13:24:16Z</dcterms:modified>
  <cp:category/>
</cp:coreProperties>
</file>
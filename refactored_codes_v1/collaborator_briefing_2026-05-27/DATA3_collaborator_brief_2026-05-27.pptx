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F3A93"/>
                </a:solidFill>
                <a:latin typeface="Cambria"/>
              </a:rPr>
              <a:t>DATA3 Single-Salt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1F3A93"/>
                </a:solidFill>
                <a:latin typeface="Cambria"/>
              </a:rPr>
              <a:t>Data validation, parameter bounds, mass-pattern physics,</a:t>
            </a:r>
          </a:p>
          <a:p>
            <a:pPr algn="ctr"/>
            <a:r>
              <a:rPr sz="2200" b="0" i="1">
                <a:solidFill>
                  <a:srgbClr val="1F3A93"/>
                </a:solidFill>
                <a:latin typeface="Cambria"/>
              </a:rPr>
              <a:t>and parameter-estimability outlook</a:t>
            </a:r>
          </a:p>
        </p:txBody>
      </p:sp>
      <p:pic>
        <p:nvPicPr>
          <p:cNvPr id="4" name="Picture 3" descr="applied_vs_osmotic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06183"/>
            <a:ext cx="3383280" cy="1514514"/>
          </a:xfrm>
          <a:prstGeom prst="rect">
            <a:avLst/>
          </a:prstGeom>
        </p:spPr>
      </p:pic>
      <p:pic>
        <p:nvPicPr>
          <p:cNvPr id="5" name="Picture 4" descr="applied_vs_osmotic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95253"/>
            <a:ext cx="3383280" cy="1536374"/>
          </a:xfrm>
          <a:prstGeom prst="rect">
            <a:avLst/>
          </a:prstGeom>
        </p:spPr>
      </p:pic>
      <p:pic>
        <p:nvPicPr>
          <p:cNvPr id="6" name="Picture 5" descr="paper-x_sigma-y_Lp-m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061" y="3566160"/>
            <a:ext cx="2213478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01010"/>
                </a:solidFill>
                <a:latin typeface="Cambria"/>
              </a:rPr>
              <a:t>Keshav Kasturi Rangan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B6B6B"/>
                </a:solidFill>
                <a:latin typeface="Cambria"/>
              </a:rPr>
              <a:t>Collaborator brief  ·  May 27,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Arial"/>
              </a:rPr>
              <a:t>UNIVERSITY OF NOTRE DAME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0101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01010"/>
                </a:solidFill>
                <a:latin typeface="Cambria"/>
              </a:rPr>
              <a:t>Measured data processing —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Arial"/>
              </a:rPr>
              <a:t>DATA3_loader_fidelity_audit_2026-05-27.xlsx  —  one row per data point  ·  one tab per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93"/>
                </a:solidFill>
                <a:latin typeface="Arial"/>
              </a:rPr>
              <a:t>Time-series columns  (cols 0–7)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C5F2D"/>
                </a:solidFill>
                <a:latin typeface="Cambria"/>
              </a:rPr>
              <a:t>70,101 / 70,101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1010"/>
                </a:solidFill>
                <a:latin typeface="Arial"/>
              </a:rPr>
              <a:t>data points classified GOOD  (100 %)</a:t>
            </a:r>
          </a:p>
          <a:p>
            <a:pPr algn="l"/>
            <a:r>
              <a:rPr sz="1200" b="0" i="0">
                <a:solidFill>
                  <a:srgbClr val="101010"/>
                </a:solidFill>
                <a:latin typeface="Arial"/>
              </a:rPr>
              <a:t>0 warnings  ·  0 bad   across 13 sheets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486400" cy="219456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93"/>
                </a:solidFill>
                <a:latin typeface="Arial"/>
              </a:rPr>
              <a:t>Header metadata  (rows 0–14)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C5F2D"/>
                </a:solidFill>
                <a:latin typeface="Cambria"/>
              </a:rPr>
              <a:t>40 / 40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089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1010"/>
                </a:solidFill>
                <a:latin typeface="Arial"/>
              </a:rPr>
              <a:t>strict-equality matches  (Notes, M_F0, salt names, etc.)</a:t>
            </a:r>
          </a:p>
          <a:p>
            <a:pPr algn="l"/>
            <a:r>
              <a:rPr sz="1200" b="0" i="0">
                <a:solidFill>
                  <a:srgbClr val="101010"/>
                </a:solidFill>
                <a:latin typeface="Arial"/>
              </a:rPr>
              <a:t>+ ICP calibration R² = 0.99–0.999 across all 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010"/>
                </a:solidFill>
                <a:latin typeface="Arial"/>
              </a:rPr>
              <a:t>Two documented loader transformations  —  everything else is byte-equivalent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5486400" cy="1645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010"/>
                </a:solidFill>
                <a:latin typeface="Arial"/>
              </a:rPr>
              <a:t>1.  Mass — per-vial baseline subtraction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Each vial starts at 0 g so mass-vs-time fits compare cleanly across vials.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480560"/>
            <a:ext cx="5486400" cy="1645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010"/>
                </a:solidFill>
                <a:latin typeface="Arial"/>
              </a:rPr>
              <a:t>2.  Conductivity — EC25 temperature compensation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9377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σ_25 = σ_T · (1 + α · (25 − T))  with salt-specific α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(NaCl 0.021, CaCl₂ 0.023, LaCl₃ 0.025 /°C)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Reference:  Architecture.md  §14 (data validation)  ·  audit xlsx open in the meeting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Arial"/>
              </a:rPr>
              <a:t>UNIVERSITY OF NOTRE DAME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0101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01010"/>
                </a:solidFill>
                <a:latin typeface="Cambria"/>
              </a:rPr>
              <a:t>Parameter bounds — what changes with the salt, and what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B6B6B"/>
                </a:solidFill>
                <a:latin typeface="Arial"/>
              </a:rPr>
              <a:t>Same model, same membrane, different salt  →  same bounds, different fitted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The published parameter box used across the entire campaign: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657600" cy="237744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93"/>
                </a:solidFill>
                <a:latin typeface="Arial"/>
              </a:rPr>
              <a:t>L_p   (water permeability)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1010"/>
                </a:solidFill>
                <a:latin typeface="Cambria"/>
              </a:rPr>
              <a:t>[ 0.5 ,  50 ]</a:t>
            </a:r>
          </a:p>
          <a:p>
            <a:pPr algn="l"/>
            <a:r>
              <a:rPr sz="2200" b="1" i="0">
                <a:solidFill>
                  <a:srgbClr val="101010"/>
                </a:solidFill>
                <a:latin typeface="Cambria"/>
              </a:rPr>
              <a:t>L · m⁻² · h⁻¹ · bar⁻¹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Membrane property — not salt-specific.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Same bounds across the campaign.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103120"/>
            <a:ext cx="3657600" cy="237744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240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93"/>
                </a:solidFill>
                <a:latin typeface="Arial"/>
              </a:rPr>
              <a:t>B   (solute permeability)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1010"/>
                </a:solidFill>
                <a:latin typeface="Cambria"/>
              </a:rPr>
              <a:t>[ 0 ,  30 ]</a:t>
            </a:r>
          </a:p>
          <a:p>
            <a:pPr algn="l"/>
            <a:r>
              <a:rPr sz="2200" b="1" i="0">
                <a:solidFill>
                  <a:srgbClr val="101010"/>
                </a:solidFill>
                <a:latin typeface="Cambria"/>
              </a:rPr>
              <a:t>μmol · cm⁻² · s⁻¹ · mM⁻¹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7490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Moves most with salt, but published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box kept constant across campaign.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657600" cy="237744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93"/>
                </a:solidFill>
                <a:latin typeface="Arial"/>
              </a:rPr>
              <a:t>σ   (reflection coefficient)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1010"/>
                </a:solidFill>
                <a:latin typeface="Cambria"/>
              </a:rPr>
              <a:t>[ 0 ,  1 ]</a:t>
            </a:r>
          </a:p>
          <a:p>
            <a:pPr algn="l"/>
            <a:r>
              <a:rPr sz="2200" b="1" i="0">
                <a:solidFill>
                  <a:srgbClr val="101010"/>
                </a:solidFill>
                <a:latin typeface="Cambria"/>
              </a:rPr>
              <a:t>dimensionless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Hard physical bound — true for any salt.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Reflection: 0 = transparent, 1 = perfect.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Arial"/>
              </a:rPr>
              <a:t>Rule of thumb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1010"/>
                </a:solidFill>
                <a:latin typeface="Arial"/>
              </a:rPr>
              <a:t>•   Same model, same membrane, different salt  →  same bounds, different fitted values</a:t>
            </a:r>
          </a:p>
          <a:p>
            <a:pPr algn="l"/>
            <a:r>
              <a:rPr sz="1200" b="0" i="0">
                <a:solidFill>
                  <a:srgbClr val="101010"/>
                </a:solidFill>
                <a:latin typeface="Arial"/>
              </a:rPr>
              <a:t>•   Different membrane, salt family, or model form  →  revisit the bounds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Source:  refactored_ucb_library.py  ·  model_construct_inter (Var declarations)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Arial"/>
              </a:rPr>
              <a:t>UNIVERSITY OF NOTRE DAME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0101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01010"/>
                </a:solidFill>
                <a:latin typeface="Cambria"/>
              </a:rPr>
              <a:t>Mass per vial — rising in dilution, falling in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Arial"/>
              </a:rPr>
              <a:t>Spiegler–Kedem flux: Jw = Lp · (ΔP − σ · Δπ).  ΔP is constant; Δπ tracks cF(t).  The pattern is expected.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85042"/>
                </a:solidFill>
                <a:latin typeface="Arial"/>
              </a:rPr>
              <a:t>CONCENTRATING  ·  MC2.05.07.24_NaCl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C5F2D"/>
                </a:solidFill>
                <a:latin typeface="Arial"/>
              </a:rPr>
              <a:t>DILUTING  ·  MC3.07.22.24_SNaCl</a:t>
            </a:r>
          </a:p>
        </p:txBody>
      </p:sp>
      <p:pic>
        <p:nvPicPr>
          <p:cNvPr id="6" name="Picture 5" descr="applied_vs_osmotic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8682"/>
            <a:ext cx="5669280" cy="2537835"/>
          </a:xfrm>
          <a:prstGeom prst="rect">
            <a:avLst/>
          </a:prstGeom>
        </p:spPr>
      </p:pic>
      <p:pic>
        <p:nvPicPr>
          <p:cNvPr id="7" name="Picture 6" descr="applied_vs_osmotic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70367"/>
            <a:ext cx="5669280" cy="25744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5669280" cy="914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5099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cF rises 0.88 → 35.7 mM  ·  Δπ_end / ΔP = 0.54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→ net driving force shrinks → mass per vial DECREASES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577840"/>
            <a:ext cx="5669280" cy="914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565099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cF falls 95.5 → 10.4 mM  ·  Δπ_end / ΔP = 0.14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→ net driving force grows → mass per vial INCREASES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Arial"/>
              </a:rPr>
              <a:t>UNIVERSITY OF NOTRE DAME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0101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01010"/>
                </a:solidFill>
                <a:latin typeface="Cambria"/>
              </a:rPr>
              <a:t>DATA2 paper figures — regenerated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Arial"/>
              </a:rPr>
              <a:t>28 figures + 4 tables  ·  pytest regression within 1 % tolerance  ·  same fits, same plots, same paper</a:t>
            </a:r>
          </a:p>
        </p:txBody>
      </p:sp>
      <p:pic>
        <p:nvPicPr>
          <p:cNvPr id="4" name="Picture 3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954"/>
            <a:ext cx="6858000" cy="4354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figure_6 (regenerated)  —  matches the published paper figure-by-figure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389120" cy="475488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93"/>
                </a:solidFill>
                <a:latin typeface="Arial"/>
              </a:rPr>
              <a:t>What this confirms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1010"/>
                </a:solidFill>
                <a:latin typeface="Arial"/>
              </a:rPr>
              <a:t>DATA1 / DATA2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3172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• 28 DATA2 figures regenerated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•  pytest:  2 PASS within 1 % tolerance in 1.24 s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•  4 guards-test cases: σ-bounds, cF-floor, perm-probe, retentate-anchor — all inert for DATA1 / DATA2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DATA3 single-salt edits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•  All knobs guarded behind workflow_family == "DATA3"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•  None can leak into DATA1 / DATA2 model construction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►  Our DATA3 work has NOT broken the published-paper paths.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Arial"/>
              </a:rPr>
              <a:t>UNIVERSITY OF NOTRE DAME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0101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01010"/>
                </a:solidFill>
                <a:latin typeface="Cambria"/>
              </a:rPr>
              <a:t>DATA3 contour  ·  why parameter estimability is harder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Arial"/>
              </a:rPr>
              <a:t>Mass-channel objective surface on the σ – L_p plane  ·  MC2.05.07.24_NaCl  ·  B held at centering value (18.1)</a:t>
            </a:r>
          </a:p>
        </p:txBody>
      </p:sp>
      <p:pic>
        <p:nvPicPr>
          <p:cNvPr id="4" name="Picture 3" descr="paper-x_sigma-y_Lp-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93" y="1463040"/>
            <a:ext cx="461141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paper-x_sigma-y_Lp-mass.png  (regenerated from refactored workflow)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212080" cy="146304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93"/>
                </a:solidFill>
                <a:latin typeface="Arial"/>
              </a:rPr>
              <a:t>What the heatmap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659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Long, narrow basin elongated in σ.  Any σ from ~ 0.3 to ~ 0.85 gives almost the same mass-channel objective when L_p is adjusted in tandem.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063240"/>
            <a:ext cx="5212080" cy="14630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200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Arial"/>
              </a:rPr>
              <a:t>DATA1 / DATA2 contrast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566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On DATA1 / DATA2 sheets the basin closes into a tight, well-localized minimum.  Single salt + uniform regime = strong identifiability.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663440"/>
            <a:ext cx="5212080" cy="155448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800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Arial"/>
              </a:rPr>
              <a:t>Consequence for DATA3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16636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Flat σ × L_p basin + multi-salt + mixed regime  ⇒  σ pins at a bound on most NaCl sheets.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Next: lumped σ·L_p diagnostic to test if the PRODUCT is well-determined when each separately is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Arial"/>
              </a:rPr>
              <a:t>UNIVERSITY OF NOTRE DAME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0101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01010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Arial"/>
              </a:rPr>
              <a:t>Confirmed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5669280" cy="429768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✓  Data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70,101 / 70,101 data points audited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✓  Parameter bounds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L_p ∈ [0.5, 50]  ·  B ∈ [0, 30]  ·  σ ∈ [0, 1] (campaign-wide)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✓  Mass-per-vial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Explained by ΔP-vs-Δπ; visible directly in 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✓  DATA1 / DATA2 unaffected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pytest within 1 % tolerance; guards-test 4/4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✓  Raw-conductivity plotting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New conductivity-&lt;prefix&gt;.png per sheet in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2C5F2D"/>
                </a:solidFill>
                <a:latin typeface="Arial"/>
              </a:rPr>
              <a:t>►  We are NOT 'not plotting the data file'.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Arial"/>
              </a:rPr>
              <a:t>Open /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74519"/>
            <a:ext cx="5486400" cy="4297680"/>
          </a:xfrm>
          <a:prstGeom prst="roundRect">
            <a:avLst/>
          </a:prstGeom>
          <a:solidFill>
            <a:srgbClr val="D9E3F1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•  DATA3 σ pinning on NaCl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317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Contour basin is flat along σ × L_p (slide 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889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•  Lumped σ · L_p diagnostic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10896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Fit σ · L_p as one parameter at a fixed-B grid;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separate σ and L_p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4903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•  Retentate ICP as 2nd anchor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06908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Toggle NF270_USE_RETENTATE_ICP_ANCHOR wired;</a:t>
            </a:r>
          </a:p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opt-in for next rollout iteration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09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010"/>
                </a:solidFill>
                <a:latin typeface="Arial"/>
              </a:rPr>
              <a:t>•  CaCl₂ / LaCl₃ recipe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02920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010"/>
                </a:solidFill>
                <a:latin typeface="Arial"/>
              </a:rPr>
              <a:t>Separate strategy planned — out of scope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60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B85042"/>
                </a:solidFill>
                <a:latin typeface="Arial"/>
              </a:rPr>
              <a:t>►  Next deliverable: lumped diagnostic + repeat rollout.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Arial"/>
              </a:rPr>
              <a:t>UNIVERSITY OF NOTRE DAME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0101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
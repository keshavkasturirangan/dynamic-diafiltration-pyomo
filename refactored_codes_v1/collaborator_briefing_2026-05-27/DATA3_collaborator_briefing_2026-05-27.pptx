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2468880"/>
          </a:xfrm>
          <a:prstGeom prst="rect">
            <a:avLst/>
          </a:prstGeom>
          <a:solidFill>
            <a:srgbClr val="D6E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182880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4000" b="1" i="0">
                <a:solidFill>
                  <a:srgbClr val="1F3864"/>
                </a:solidFill>
                <a:latin typeface="Cambria"/>
              </a:rPr>
              <a:t>DATA3 Single-Salt Campaign</a:t>
            </a:r>
          </a:p>
          <a:p>
            <a:pPr algn="ctr"/>
            <a:r>
              <a:rPr sz="3000" b="0" i="1">
                <a:solidFill>
                  <a:srgbClr val="1F3864"/>
                </a:solidFill>
                <a:latin typeface="Cambria"/>
              </a:rPr>
              <a:t>Data Validation, Parameter Bounds, and Estimability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34640"/>
            <a:ext cx="3566160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ctr"/>
            <a:r>
              <a:rPr sz="1600" b="1">
                <a:solidFill>
                  <a:srgbClr val="1F3864"/>
                </a:solidFill>
                <a:latin typeface="Calibri"/>
              </a:rPr>
              <a:t>Data validation</a:t>
            </a:r>
          </a:p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70,101 / 70,101</a:t>
            </a:r>
          </a:p>
          <a:p>
            <a:pPr algn="ctr"/>
            <a:r>
              <a:rPr sz="1400" b="0">
                <a:solidFill>
                  <a:srgbClr val="1F3864"/>
                </a:solidFill>
                <a:latin typeface="Calibri"/>
              </a:rPr>
              <a:t>audited data points GOOD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Calibri"/>
              </a:rPr>
              <a:t>13 single-salt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2834640"/>
            <a:ext cx="3566160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ctr"/>
            <a:r>
              <a:rPr sz="1600" b="1">
                <a:solidFill>
                  <a:srgbClr val="1F3864"/>
                </a:solidFill>
                <a:latin typeface="Calibri"/>
              </a:rPr>
              <a:t>Parameter bounds</a:t>
            </a:r>
          </a:p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L_p ∈ [0.5, 50]</a:t>
            </a:r>
          </a:p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B ∈ [0, 30],  σ ∈ [0, 1]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Calibri"/>
              </a:rPr>
              <a:t>Same membrane → same box,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Calibri"/>
              </a:rPr>
              <a:t>salt changes the fit, not the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834640"/>
            <a:ext cx="3566160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ctr"/>
            <a:r>
              <a:rPr sz="1600" b="1">
                <a:solidFill>
                  <a:srgbClr val="1F3864"/>
                </a:solidFill>
                <a:latin typeface="Calibri"/>
              </a:rPr>
              <a:t>Mass-per-vial pattern</a:t>
            </a:r>
          </a:p>
          <a:p>
            <a:pPr algn="ctr"/>
            <a:r>
              <a:rPr sz="2200" b="1">
                <a:solidFill>
                  <a:srgbClr val="1F3864"/>
                </a:solidFill>
                <a:latin typeface="Calibri"/>
              </a:rPr>
              <a:t>Δπ(t) drives J_w(t)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Calibri"/>
              </a:rPr>
              <a:t>Now explained — no model fit needed</a:t>
            </a:r>
          </a:p>
          <a:p>
            <a:pPr algn="ctr"/>
            <a:r>
              <a:rPr sz="600" b="0">
                <a:solidFill>
                  <a:srgbClr val="1F3864"/>
                </a:solidFill>
                <a:latin typeface="Calibri"/>
              </a:rPr>
              <a:t/>
            </a:r>
          </a:p>
          <a:p>
            <a:pPr algn="ctr"/>
            <a:r>
              <a:rPr sz="1200" b="1">
                <a:solidFill>
                  <a:srgbClr val="1F3864"/>
                </a:solidFill>
                <a:latin typeface="Calibri"/>
              </a:rPr>
              <a:t>DATA3 vs published contour: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Calibri"/>
              </a:rPr>
              <a:t>σ flat → identifiability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Keshav Kasturi Rangan  ·  Dowling Group  ·  University of Notre Dame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Collaborator briefing  ·  May 27, 2026</a:t>
            </a:r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1.  Measured Data → Model Inputs:  Loader Fidelity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120640" cy="137160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70,101 / 70,101 data points GOOD</a:t>
            </a:r>
          </a:p>
          <a:p>
            <a:pPr algn="ctr"/>
            <a:r>
              <a:rPr sz="1300" b="0">
                <a:solidFill>
                  <a:srgbClr val="1F3864"/>
                </a:solidFill>
                <a:latin typeface="Calibri"/>
              </a:rPr>
              <a:t>13 single-salt sheets · 0 warnings · 0 bad</a:t>
            </a:r>
          </a:p>
          <a:p>
            <a:pPr algn="ctr"/>
            <a:r>
              <a:rPr sz="1100" b="0">
                <a:solidFill>
                  <a:srgbClr val="1F3864"/>
                </a:solidFill>
                <a:latin typeface="Calibri"/>
              </a:rPr>
              <a:t>Source: DATA3_loader_fidelity_audit_2026-05-27.xlsx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5303520" cy="301752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What the audit verifies</a:t>
            </a:r>
          </a:p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• Read raw Excel directly with pandas — no library code in the path</a:t>
            </a:r>
          </a:p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• Load via lib.loadxlsx → data_stru</a:t>
            </a:r>
          </a:p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• Apply documented transformations to raw data, then compare row-by-row</a:t>
            </a:r>
          </a:p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• 1 % relative + absolute-floor tolerance per data point</a:t>
            </a:r>
          </a:p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• Extended blocks: ICP sidebar, calibration points (R² 0.99–0.999), header metadata (40/40 ✓)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05156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Loader transformations (single documented formula per variable)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417320"/>
          <a:ext cx="5760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108960"/>
                <a:gridCol w="82296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Transformation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Time (s)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1:1 preserved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Mass (g)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Per-vial baseline subtracted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Pressure (psi)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1:1 preserved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Retentate Temp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1:1 preserved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Retentate Cond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EC25 temperature compensation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Permeate Temp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1:1 preserved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Permeate Cond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EC25 + tube-transit time shift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Vial Swap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1:1 preserved (used to slice vials)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ICP (cV_avg per vial)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Dilution × molar mass per vial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669280"/>
            <a:ext cx="11338560" cy="64008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Take-away:  The audit XLSX (shown in meeting) is the formal evidence — every point is either preserved or transformed by a single documented formula.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2.  Physical Bounds on  L_p,  B,  σ  — Do They Change with Salt?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120640" cy="137160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Same membrane → same box.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Salt changes the fitted value,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not the bound itself.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5303520" cy="31089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Per-parameter reasoning</a:t>
            </a:r>
          </a:p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• σ ∈ [0, 1] for any salt — it is a reflection coefficient, physically bounded.</a:t>
            </a:r>
          </a:p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• L_p is a membrane property (water permeability) — independent of the salt.</a:t>
            </a:r>
          </a:p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• B is the one most likely to move with salt, but the published workflow keeps the same box across the campaign.</a:t>
            </a:r>
          </a:p>
          <a:p>
            <a:pPr algn="l"/>
            <a:r>
              <a:rPr sz="600" b="0" i="0">
                <a:solidFill>
                  <a:srgbClr val="101010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When to revisit the bounds:</a:t>
            </a:r>
          </a:p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• Different membrane,  or</a:t>
            </a:r>
          </a:p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• A very different salt family,  or</a:t>
            </a:r>
          </a:p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• A different model form (e.g. exchanged B parametrization).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05156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Published parameter box — used across all 13 single-salt sheets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417320"/>
          <a:ext cx="5760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21945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Bound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Why this range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1F3864"/>
                          </a:solidFill>
                          <a:latin typeface="Calibri"/>
                        </a:rPr>
                        <a:t>L_p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101010"/>
                          </a:solidFill>
                          <a:latin typeface="Calibri"/>
                        </a:rPr>
                        <a:t>[0.5, 50]   L/(m²·hr·bar)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101010"/>
                          </a:solidFill>
                          <a:latin typeface="Calibri"/>
                        </a:rPr>
                        <a:t>Membrane water permeability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1F386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101010"/>
                          </a:solidFill>
                          <a:latin typeface="Calibri"/>
                        </a:rPr>
                        <a:t>[0, 30]   μm/s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101010"/>
                          </a:solidFill>
                          <a:latin typeface="Calibri"/>
                        </a:rPr>
                        <a:t>Solute-permeability term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1F3864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101010"/>
                          </a:solidFill>
                          <a:latin typeface="Calibri"/>
                        </a:rPr>
                        <a:t>[0, 1]   dimensionless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>
                          <a:solidFill>
                            <a:srgbClr val="101010"/>
                          </a:solidFill>
                          <a:latin typeface="Calibri"/>
                        </a:rPr>
                        <a:t>Reflection coefficient — physically bounded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035040" y="4023360"/>
            <a:ext cx="5760720" cy="16459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Spiegler–Kedem driving force</a:t>
            </a:r>
          </a:p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J_w  =  L_p · (ΔP − σ · Δπ)</a:t>
            </a:r>
          </a:p>
          <a:p>
            <a:pPr algn="l"/>
            <a:r>
              <a:rPr sz="1400" b="0">
                <a:solidFill>
                  <a:srgbClr val="1F3864"/>
                </a:solidFill>
                <a:latin typeface="Calibri"/>
              </a:rPr>
              <a:t>J_s  =  B · (c_F − c_P)  +  (1 − σ) · J_w · c̄</a:t>
            </a:r>
          </a:p>
          <a:p>
            <a:pPr algn="l"/>
            <a:r>
              <a:rPr sz="1100" b="0">
                <a:solidFill>
                  <a:srgbClr val="1F3864"/>
                </a:solidFill>
                <a:latin typeface="Calibri"/>
              </a:rPr>
              <a:t>σ enters multiplicatively on Δπ, so its identifiability depends on how much Δπ varies during the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669280"/>
            <a:ext cx="11338560" cy="64008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Take-away:  σ is bounded by physics; L_p and B by the published workflow box. Don't move the box just because the salt changed.</a:t>
            </a:r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3.  Mass-per-Vial Pattern is Explained by  ΔP − σ·Δπ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486400" cy="128016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700" b="1">
                <a:solidFill>
                  <a:srgbClr val="1F3864"/>
                </a:solidFill>
                <a:latin typeface="Calibri"/>
              </a:rPr>
              <a:t>Flux equation:   J_w  =  L_p · (ΔP − σ · Δπ)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ΔP is constant.  Δπ ≈ c_F · ν · R · T  changes with c_F(t).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Predicted mass-per-vial pattern (no model fit required)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834640"/>
          <a:ext cx="548639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371"/>
                <a:gridCol w="870857"/>
                <a:gridCol w="870857"/>
                <a:gridCol w="1132114"/>
                <a:gridCol w="121920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c_F(t)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Δπ(t)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ΔP − σ·Δπ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Mass per vial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C0394A"/>
                          </a:solidFill>
                          <a:latin typeface="Calibri"/>
                        </a:rPr>
                        <a:t>Concentrating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rises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rises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shrinks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0394A"/>
                          </a:solidFill>
                          <a:latin typeface="Calibri"/>
                        </a:rPr>
                        <a:t>decreases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Diluting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falls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falls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00">
                          <a:solidFill>
                            <a:srgbClr val="101010"/>
                          </a:solidFill>
                          <a:latin typeface="Calibri"/>
                        </a:rPr>
                        <a:t>grows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increases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120640"/>
            <a:ext cx="5486400" cy="54864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200" b="1">
                <a:solidFill>
                  <a:srgbClr val="1F3864"/>
                </a:solidFill>
                <a:latin typeface="Calibri"/>
              </a:rPr>
              <a:t>Pattern is visible directly in the data file — no parameter estimation involved.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5156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MC3.07.22.24_SNaCl — diluting run (Δπ_initial &gt; ΔP)</a:t>
            </a:r>
          </a:p>
        </p:txBody>
      </p:sp>
      <p:pic>
        <p:nvPicPr>
          <p:cNvPr id="8" name="Picture 7" descr="applied_vs_osmotic-JAO_072224_NF270_MC3_SNaCl_NaCl_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17320"/>
            <a:ext cx="5852160" cy="26575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34924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Orange ΔP constant · magenta Δπ(t) built from measured c_F — pure data, no 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69280"/>
            <a:ext cx="11338560" cy="64008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Take-away:  The slope of mass per vial across the run is the direct signature of Δπ shutting down (concentrating) or releasing (diluting) the flux.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4.  Workflow Reproduces Published Contour — DATA3 σ Stays Flat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Published-paper reproduction (DATA1 / KCl filtration) — byte-equivalent</a:t>
            </a:r>
          </a:p>
        </p:txBody>
      </p:sp>
      <p:pic>
        <p:nvPicPr>
          <p:cNvPr id="4" name="Picture 3" descr="data501.1_base_contour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669280" cy="150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3520440"/>
            <a:ext cx="5669280" cy="82296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200" b="1">
                <a:solidFill>
                  <a:srgbClr val="1F3864"/>
                </a:solidFill>
                <a:latin typeface="Calibri"/>
              </a:rPr>
              <a:t>Sharp dark band on L_p ≈ 4 → L_p well identified</a:t>
            </a:r>
          </a:p>
          <a:p>
            <a:pPr algn="l"/>
            <a:r>
              <a:rPr sz="1100" b="0">
                <a:solidFill>
                  <a:srgbClr val="1F3864"/>
                </a:solidFill>
                <a:latin typeface="Calibri"/>
              </a:rPr>
              <a:t>(σ-axis still flat — published paper had the same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601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Same workflow on DATA3:  MC2.05.07.24_NaCl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5669280" cy="14977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3520440"/>
            <a:ext cx="5669280" cy="822960"/>
          </a:xfrm>
          <a:prstGeom prst="roundRect">
            <a:avLst/>
          </a:prstGeom>
          <a:solidFill>
            <a:srgbClr val="FCE4E4"/>
          </a:solidFill>
          <a:ln w="9525">
            <a:solidFill>
              <a:srgbClr val="C0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200" b="1">
                <a:solidFill>
                  <a:srgbClr val="C0394A"/>
                </a:solidFill>
                <a:latin typeface="Calibri"/>
              </a:rPr>
              <a:t>Bands run horizontal across σ → σ is unidentifiable</a:t>
            </a:r>
          </a:p>
          <a:p>
            <a:pPr algn="l"/>
            <a:r>
              <a:rPr sz="1100" b="0">
                <a:solidFill>
                  <a:srgbClr val="C0394A"/>
                </a:solidFill>
                <a:latin typeface="Calibri"/>
              </a:rPr>
              <a:t>L_p ≈ 8–10 minimum is broad — wider than the published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Why estimability is harder in DATA3 — same model, different driving 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0" i="0">
                <a:solidFill>
                  <a:srgbClr val="101010"/>
                </a:solidFill>
                <a:latin typeface="Calibri"/>
              </a:rPr>
              <a:t>• σ multiplies Δπ in the flux equation. When Δπ stays small over the run (concentrating runs at low c_F), σ has almost no leverage on J_w.</a:t>
            </a:r>
          </a:p>
          <a:p>
            <a:pPr algn="l"/>
            <a:r>
              <a:rPr sz="1200" b="0" i="0">
                <a:solidFill>
                  <a:srgbClr val="101010"/>
                </a:solidFill>
                <a:latin typeface="Calibri"/>
              </a:rPr>
              <a:t>• DATA3 single-salt sheets are short and stay near steady-state c_F → contour is flat in σ → optimizer pins σ at a bound.</a:t>
            </a:r>
          </a:p>
          <a:p>
            <a:pPr algn="l"/>
            <a:r>
              <a:rPr sz="1200" b="0" i="0">
                <a:solidFill>
                  <a:srgbClr val="101010"/>
                </a:solidFill>
                <a:latin typeface="Calibri"/>
              </a:rPr>
              <a:t>• Connects to slide 3: the bounds are correct, the data is correct — what's missing is a regime that exercises σ (Δπ_end / ΔP closer to 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69280"/>
            <a:ext cx="11338560" cy="64008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Take-away:  Published reproduction confirms the workflow is correct. DATA3 σ-flat contour points to an experimental-design gap, not a code gap.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5.  Summary  ·  What I'd Like to Discuss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749039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1 · Data integrity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70,101 / 70,101 GOOD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40/40 metadata ✓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Calibration R² 0.99–0.999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Audit XLSX is the deliverable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399" y="1097280"/>
            <a:ext cx="3749039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2 · Bounds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L_p ∈ [0.5, 50]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B  ∈ [0, 30]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σ  ∈ [0, 1]  (physics-fixed)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Same box for all 13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598" y="1097280"/>
            <a:ext cx="3749039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60000" bIns="60000"/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3 · Pattern + estimability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Mass-per-vial slope = Δπ signature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Published contour reproduces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DATA3 σ-band flat → identifiability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  gap is experimental, not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Open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11338560" cy="182880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400" b="0" i="0">
                <a:solidFill>
                  <a:srgbClr val="101010"/>
                </a:solidFill>
                <a:latin typeface="Calibri"/>
              </a:rPr>
              <a:t>• Should we run a targeted diluting sheet at c_F where  Δπ_end / ΔP  approaches 1, so σ becomes identifiable?</a:t>
            </a:r>
          </a:p>
          <a:p>
            <a:pPr algn="l"/>
            <a:r>
              <a:rPr sz="1400" b="0" i="0">
                <a:solidFill>
                  <a:srgbClr val="101010"/>
                </a:solidFill>
                <a:latin typeface="Calibri"/>
              </a:rPr>
              <a:t>• Is the published bound on B  ([0, 30] μm/s)  still appropriate for the DATA3 salts (NaCl, CaCl₂, LaCl₃), or do we revisit?</a:t>
            </a:r>
          </a:p>
          <a:p>
            <a:pPr algn="l"/>
            <a:r>
              <a:rPr sz="1400" b="0" i="0">
                <a:solidFill>
                  <a:srgbClr val="101010"/>
                </a:solidFill>
                <a:latin typeface="Calibri"/>
              </a:rPr>
              <a:t>• On the diluting sheet MC3.SNaCl, the data already shows  Δπ &gt; ΔP  at t = 0 — do we lean on that sheet as the σ-identifying anchor for the campaign?</a:t>
            </a:r>
          </a:p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• Backup material: the loader-fidelity XLSX has 15 tabs ready to walk through anywhere we need to go deeper.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
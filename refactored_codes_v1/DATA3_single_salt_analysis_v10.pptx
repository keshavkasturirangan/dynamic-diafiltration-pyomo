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26.tmp" ContentType="image/png"/>
  <Override PartName="/ppt/media/image36.tmp" ContentType="image/png"/>
  <Override PartName="/ppt/media/image5.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60" r:id="rId2"/>
    <p:sldMasterId id="2147483685" r:id="rId3"/>
  </p:sldMasterIdLst>
  <p:notesMasterIdLst>
    <p:notesMasterId r:id="rId63"/>
  </p:notesMasterIdLst>
  <p:sldIdLst>
    <p:sldId id="1650" r:id="rId4"/>
    <p:sldId id="268" r:id="rId5"/>
    <p:sldId id="269" r:id="rId6"/>
    <p:sldId id="2147472467" r:id="rId86"/>
    <p:sldId id="2147472468" r:id="rId87"/>
    <p:sldId id="2147472469" r:id="rId88"/>
    <p:sldId id="2147472470" r:id="rId89"/>
    <p:sldId id="2147472471" r:id="rId90"/>
    <p:sldId id="271" r:id="rId9"/>
    <p:sldId id="2147472472" r:id="rId91"/>
    <p:sldId id="2147472473" r:id="rId92"/>
    <p:sldId id="2147472474" r:id="rId93"/>
    <p:sldId id="2147472475" r:id="rId94"/>
    <p:sldId id="2147472476" r:id="rId95"/>
    <p:sldId id="2147472456" r:id="rId75"/>
    <p:sldId id="2147472457" r:id="rId76"/>
    <p:sldId id="2147472458" r:id="rId77"/>
    <p:sldId id="2147472459" r:id="rId69"/>
    <p:sldId id="2147472460" r:id="rId68"/>
    <p:sldId id="2147472461" r:id="rId67"/>
    <p:sldId id="2147472462" r:id="rId66"/>
    <p:sldId id="2147472463" r:id="rId65"/>
    <p:sldId id="2147472464" r:id="rId64"/>
    <p:sldId id="2147472465" r:id="rId84"/>
    <p:sldId id="2147472466" r:id="rId85"/>
    <p:sldId id="2147472477" r:id="rId96"/>
    <p:sldId id="2147472478" r:id="rId97"/>
    <p:sldId id="2147472482" r:id="rId101"/>
    <p:sldId id="2147472483" r:id="rId102"/>
    <p:sldId id="2147472479" r:id="rId98"/>
    <p:sldId id="2147472493" r:id="rId112"/>
    <p:sldId id="2147472494" r:id="rId113"/>
    <p:sldId id="2147472480" r:id="rId99"/>
    <p:sldId id="2147472481" r:id="rId100"/>
    <p:sldId id="267" r:id="rId17"/>
    <p:sldId id="261" r:id="rId7"/>
    <p:sldId id="262" r:id="rId8"/>
    <p:sldId id="266" r:id="rId10"/>
    <p:sldId id="259" r:id="rId11"/>
    <p:sldId id="260" r:id="rId12"/>
    <p:sldId id="2147472431" r:id="rId13"/>
    <p:sldId id="287" r:id="rId14"/>
    <p:sldId id="2147472432" r:id="rId15"/>
    <p:sldId id="289" r:id="rId16"/>
    <p:sldId id="2147472451" r:id="rId70"/>
    <p:sldId id="2147472452" r:id="rId71"/>
    <p:sldId id="2147472453" r:id="rId72"/>
    <p:sldId id="2147472454" r:id="rId73"/>
    <p:sldId id="2147472455" r:id="rId74"/>
    <p:sldId id="2147472426" r:id="rId18"/>
    <p:sldId id="2147472427" r:id="rId19"/>
    <p:sldId id="2147472425" r:id="rId20"/>
    <p:sldId id="2147472428" r:id="rId21"/>
    <p:sldId id="2147472429" r:id="rId22"/>
    <p:sldId id="2147472430" r:id="rId23"/>
    <p:sldId id="2147472433" r:id="rId24"/>
    <p:sldId id="2147472434" r:id="rId25"/>
    <p:sldId id="2147472435" r:id="rId26"/>
    <p:sldId id="2147472436" r:id="rId27"/>
    <p:sldId id="2147472437" r:id="rId28"/>
    <p:sldId id="2147472438" r:id="rId29"/>
    <p:sldId id="2147472439" r:id="rId30"/>
    <p:sldId id="2147472440" r:id="rId31"/>
    <p:sldId id="2147472441" r:id="rId32"/>
    <p:sldId id="2147472442" r:id="rId33"/>
    <p:sldId id="2147472443" r:id="rId34"/>
    <p:sldId id="2147472444" r:id="rId35"/>
    <p:sldId id="2147472445" r:id="rId36"/>
    <p:sldId id="2147472446" r:id="rId37"/>
    <p:sldId id="2147472447" r:id="rId38"/>
    <p:sldId id="2147472448" r:id="rId39"/>
    <p:sldId id="2147472449" r:id="rId40"/>
    <p:sldId id="2147472450"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147472387" r:id="rId56"/>
    <p:sldId id="2147472414" r:id="rId57"/>
    <p:sldId id="2147472421" r:id="rId58"/>
    <p:sldId id="388" r:id="rId59"/>
    <p:sldId id="288" r:id="rId60"/>
    <p:sldId id="286" r:id="rId61"/>
    <p:sldId id="1562" r:id="rId62"/>
    <p:sldId id="2147472484" r:id="rId103"/>
    <p:sldId id="2147472485" r:id="rId104"/>
    <p:sldId id="2147472486" r:id="rId105"/>
    <p:sldId id="2147472487" r:id="rId106"/>
    <p:sldId id="2147472488" r:id="rId107"/>
    <p:sldId id="2147472489" r:id="rId108"/>
    <p:sldId id="2147472490" r:id="rId109"/>
    <p:sldId id="2147472491" r:id="rId110"/>
    <p:sldId id="2147472492" r:id="rId111"/>
    <p:sldId id="2147472495" r:id="rId114"/>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8" roundtripDataSignature="AMtx7miHo73YM/FpLJf3RZrsEBtSyY5JP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exander Dowli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5"/>
    <a:srgbClr val="E8ECF6"/>
    <a:srgbClr val="CDD4EB"/>
    <a:srgbClr val="0022F5"/>
    <a:srgbClr val="008500"/>
    <a:srgbClr val="3792EA"/>
    <a:srgbClr val="FF0000"/>
    <a:srgbClr val="B7B7B7"/>
    <a:srgbClr val="F3CABF"/>
    <a:srgbClr val="C4D8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697DE5-9888-468C-86D8-FFF9E8A69FE0}">
  <a:tblStyle styleId="{06697DE5-9888-468C-86D8-FFF9E8A69FE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EE8E175-17EB-43BB-9359-DD97DDB5028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81" autoAdjust="0"/>
    <p:restoredTop sz="78849" autoAdjust="0"/>
  </p:normalViewPr>
  <p:slideViewPr>
    <p:cSldViewPr snapToGrid="0" snapToObjects="1">
      <p:cViewPr varScale="1">
        <p:scale>
          <a:sx n="78" d="100"/>
          <a:sy n="78" d="100"/>
        </p:scale>
        <p:origin x="928" y="1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8" d="100"/>
          <a:sy n="78" d="100"/>
        </p:scale>
        <p:origin x="906" y="4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34.xml"/><Relationship Id="rId8" Type="http://schemas.openxmlformats.org/officeDocument/2006/relationships/slide" Target="slides/slide35.xml"/><Relationship Id="rId9" Type="http://schemas.openxmlformats.org/officeDocument/2006/relationships/slide" Target="slides/slide9.xml"/><Relationship Id="rId10" Type="http://schemas.openxmlformats.org/officeDocument/2006/relationships/slide" Target="slides/slide36.xml"/><Relationship Id="rId11" Type="http://schemas.openxmlformats.org/officeDocument/2006/relationships/slide" Target="slides/slide37.xml"/><Relationship Id="rId12" Type="http://schemas.openxmlformats.org/officeDocument/2006/relationships/slide" Target="slides/slide38.xml"/><Relationship Id="rId13" Type="http://schemas.openxmlformats.org/officeDocument/2006/relationships/slide" Target="slides/slide39.xml"/><Relationship Id="rId14" Type="http://schemas.openxmlformats.org/officeDocument/2006/relationships/slide" Target="slides/slide40.xml"/><Relationship Id="rId15" Type="http://schemas.openxmlformats.org/officeDocument/2006/relationships/slide" Target="slides/slide41.xml"/><Relationship Id="rId16" Type="http://schemas.openxmlformats.org/officeDocument/2006/relationships/slide" Target="slides/slide42.xml"/><Relationship Id="rId17" Type="http://schemas.openxmlformats.org/officeDocument/2006/relationships/slide" Target="slides/slide33.xml"/><Relationship Id="rId18" Type="http://schemas.openxmlformats.org/officeDocument/2006/relationships/slide" Target="slides/slide48.xml"/><Relationship Id="rId19" Type="http://schemas.openxmlformats.org/officeDocument/2006/relationships/slide" Target="slides/slide49.xml"/><Relationship Id="rId20" Type="http://schemas.openxmlformats.org/officeDocument/2006/relationships/slide" Target="slides/slide50.xml"/><Relationship Id="rId21" Type="http://schemas.openxmlformats.org/officeDocument/2006/relationships/slide" Target="slides/slide51.xml"/><Relationship Id="rId22" Type="http://schemas.openxmlformats.org/officeDocument/2006/relationships/slide" Target="slides/slide52.xml"/><Relationship Id="rId23" Type="http://schemas.openxmlformats.org/officeDocument/2006/relationships/slide" Target="slides/slide53.xml"/><Relationship Id="rId24" Type="http://schemas.openxmlformats.org/officeDocument/2006/relationships/slide" Target="slides/slide54.xml"/><Relationship Id="rId25" Type="http://schemas.openxmlformats.org/officeDocument/2006/relationships/slide" Target="slides/slide55.xml"/><Relationship Id="rId26" Type="http://schemas.openxmlformats.org/officeDocument/2006/relationships/slide" Target="slides/slide56.xml"/><Relationship Id="rId27" Type="http://schemas.openxmlformats.org/officeDocument/2006/relationships/slide" Target="slides/slide57.xml"/><Relationship Id="rId28" Type="http://schemas.openxmlformats.org/officeDocument/2006/relationships/slide" Target="slides/slide58.xml"/><Relationship Id="rId29" Type="http://schemas.openxmlformats.org/officeDocument/2006/relationships/slide" Target="slides/slide59.xml"/><Relationship Id="rId30" Type="http://schemas.openxmlformats.org/officeDocument/2006/relationships/slide" Target="slides/slide60.xml"/><Relationship Id="rId31" Type="http://schemas.openxmlformats.org/officeDocument/2006/relationships/slide" Target="slides/slide61.xml"/><Relationship Id="rId32" Type="http://schemas.openxmlformats.org/officeDocument/2006/relationships/slide" Target="slides/slide62.xml"/><Relationship Id="rId33" Type="http://schemas.openxmlformats.org/officeDocument/2006/relationships/slide" Target="slides/slide63.xml"/><Relationship Id="rId34" Type="http://schemas.openxmlformats.org/officeDocument/2006/relationships/slide" Target="slides/slide64.xml"/><Relationship Id="rId35" Type="http://schemas.openxmlformats.org/officeDocument/2006/relationships/slide" Target="slides/slide65.xml"/><Relationship Id="rId36" Type="http://schemas.openxmlformats.org/officeDocument/2006/relationships/slide" Target="slides/slide66.xml"/><Relationship Id="rId37" Type="http://schemas.openxmlformats.org/officeDocument/2006/relationships/slide" Target="slides/slide67.xml"/><Relationship Id="rId38" Type="http://schemas.openxmlformats.org/officeDocument/2006/relationships/slide" Target="slides/slide68.xml"/><Relationship Id="rId39" Type="http://schemas.openxmlformats.org/officeDocument/2006/relationships/slide" Target="slides/slide69.xml"/><Relationship Id="rId40" Type="http://schemas.openxmlformats.org/officeDocument/2006/relationships/slide" Target="slides/slide70.xml"/><Relationship Id="rId41" Type="http://schemas.openxmlformats.org/officeDocument/2006/relationships/slide" Target="slides/slide71.xml"/><Relationship Id="rId42" Type="http://schemas.openxmlformats.org/officeDocument/2006/relationships/slide" Target="slides/slide72.xml"/><Relationship Id="rId43" Type="http://schemas.openxmlformats.org/officeDocument/2006/relationships/slide" Target="slides/slide73.xml"/><Relationship Id="rId44" Type="http://schemas.openxmlformats.org/officeDocument/2006/relationships/slide" Target="slides/slide74.xml"/><Relationship Id="rId45" Type="http://schemas.openxmlformats.org/officeDocument/2006/relationships/slide" Target="slides/slide75.xml"/><Relationship Id="rId46" Type="http://schemas.openxmlformats.org/officeDocument/2006/relationships/slide" Target="slides/slide76.xml"/><Relationship Id="rId47" Type="http://schemas.openxmlformats.org/officeDocument/2006/relationships/slide" Target="slides/slide77.xml"/><Relationship Id="rId48" Type="http://schemas.openxmlformats.org/officeDocument/2006/relationships/slide" Target="slides/slide78.xml"/><Relationship Id="rId49" Type="http://schemas.openxmlformats.org/officeDocument/2006/relationships/slide" Target="slides/slide79.xml"/><Relationship Id="rId50" Type="http://schemas.openxmlformats.org/officeDocument/2006/relationships/slide" Target="slides/slide80.xml"/><Relationship Id="rId51" Type="http://schemas.openxmlformats.org/officeDocument/2006/relationships/slide" Target="slides/slide81.xml"/><Relationship Id="rId52" Type="http://schemas.openxmlformats.org/officeDocument/2006/relationships/slide" Target="slides/slide82.xml"/><Relationship Id="rId53" Type="http://schemas.openxmlformats.org/officeDocument/2006/relationships/slide" Target="slides/slide83.xml"/><Relationship Id="rId54" Type="http://schemas.openxmlformats.org/officeDocument/2006/relationships/slide" Target="slides/slide84.xml"/><Relationship Id="rId55" Type="http://schemas.openxmlformats.org/officeDocument/2006/relationships/slide" Target="slides/slide85.xml"/><Relationship Id="rId56" Type="http://schemas.openxmlformats.org/officeDocument/2006/relationships/slide" Target="slides/slide86.xml"/><Relationship Id="rId57" Type="http://schemas.openxmlformats.org/officeDocument/2006/relationships/slide" Target="slides/slide87.xml"/><Relationship Id="rId58" Type="http://schemas.openxmlformats.org/officeDocument/2006/relationships/slide" Target="slides/slide88.xml"/><Relationship Id="rId59" Type="http://schemas.openxmlformats.org/officeDocument/2006/relationships/slide" Target="slides/slide89.xml"/><Relationship Id="rId60" Type="http://schemas.openxmlformats.org/officeDocument/2006/relationships/slide" Target="slides/slide90.xml"/><Relationship Id="rId61" Type="http://schemas.openxmlformats.org/officeDocument/2006/relationships/slide" Target="slides/slide91.xml"/><Relationship Id="rId62" Type="http://schemas.openxmlformats.org/officeDocument/2006/relationships/slide" Target="slides/slide92.xml"/><Relationship Id="rId63" Type="http://schemas.openxmlformats.org/officeDocument/2006/relationships/notesMaster" Target="notesMasters/notesMaster1.xml"/><Relationship Id="rId64" Type="http://schemas.openxmlformats.org/officeDocument/2006/relationships/slide" Target="slides/slide23.xml"/><Relationship Id="rId65" Type="http://schemas.openxmlformats.org/officeDocument/2006/relationships/slide" Target="slides/slide22.xml"/><Relationship Id="rId66" Type="http://schemas.openxmlformats.org/officeDocument/2006/relationships/slide" Target="slides/slide21.xml"/><Relationship Id="rId67" Type="http://schemas.openxmlformats.org/officeDocument/2006/relationships/slide" Target="slides/slide20.xml"/><Relationship Id="rId68" Type="http://schemas.openxmlformats.org/officeDocument/2006/relationships/slide" Target="slides/slide19.xml"/><Relationship Id="rId69" Type="http://schemas.openxmlformats.org/officeDocument/2006/relationships/slide" Target="slides/slide18.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3" Type="http://schemas.openxmlformats.org/officeDocument/2006/relationships/slide" Target="slides/slide46.xml"/><Relationship Id="rId74" Type="http://schemas.openxmlformats.org/officeDocument/2006/relationships/slide" Target="slides/slide47.xml"/><Relationship Id="rId75" Type="http://schemas.openxmlformats.org/officeDocument/2006/relationships/slide" Target="slides/slide15.xml"/><Relationship Id="rId76" Type="http://schemas.openxmlformats.org/officeDocument/2006/relationships/slide" Target="slides/slide16.xml"/><Relationship Id="rId77" Type="http://schemas.openxmlformats.org/officeDocument/2006/relationships/slide" Target="slides/slide17.xml"/><Relationship Id="rId78" Type="http://customschemas.google.com/relationships/presentationmetadata" Target="metadata"/><Relationship Id="rId79" Type="http://schemas.openxmlformats.org/officeDocument/2006/relationships/commentAuthors" Target="commentAuthors.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24.xml"/><Relationship Id="rId85" Type="http://schemas.openxmlformats.org/officeDocument/2006/relationships/slide" Target="slides/slide25.xml"/><Relationship Id="rId86" Type="http://schemas.openxmlformats.org/officeDocument/2006/relationships/slide" Target="slides/slide4.xml"/><Relationship Id="rId87" Type="http://schemas.openxmlformats.org/officeDocument/2006/relationships/slide" Target="slides/slide5.xml"/><Relationship Id="rId88" Type="http://schemas.openxmlformats.org/officeDocument/2006/relationships/slide" Target="slides/slide6.xml"/><Relationship Id="rId89" Type="http://schemas.openxmlformats.org/officeDocument/2006/relationships/slide" Target="slides/slide7.xml"/><Relationship Id="rId90" Type="http://schemas.openxmlformats.org/officeDocument/2006/relationships/slide" Target="slides/slide8.xml"/><Relationship Id="rId91" Type="http://schemas.openxmlformats.org/officeDocument/2006/relationships/slide" Target="slides/slide10.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26.xml"/><Relationship Id="rId97" Type="http://schemas.openxmlformats.org/officeDocument/2006/relationships/slide" Target="slides/slide27.xml"/><Relationship Id="rId98" Type="http://schemas.openxmlformats.org/officeDocument/2006/relationships/slide" Target="slides/slide30.xml"/><Relationship Id="rId99" Type="http://schemas.openxmlformats.org/officeDocument/2006/relationships/slide" Target="slides/slide31.xml"/><Relationship Id="rId100" Type="http://schemas.openxmlformats.org/officeDocument/2006/relationships/slide" Target="slides/slide32.xml"/><Relationship Id="rId101" Type="http://schemas.openxmlformats.org/officeDocument/2006/relationships/slide" Target="slides/slide28.xml"/><Relationship Id="rId102" Type="http://schemas.openxmlformats.org/officeDocument/2006/relationships/slide" Target="slides/slide29.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45" tIns="48309" rIns="96645" bIns="48309"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45" tIns="48309" rIns="96645" bIns="48309"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45" tIns="48309" rIns="96645" bIns="48309"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45" tIns="48309" rIns="96645" bIns="48309"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45" tIns="48309" rIns="96645" bIns="48309" anchor="b" anchorCtr="0">
            <a:noAutofit/>
          </a:bodyPr>
          <a:lstStyle/>
          <a:p>
            <a:pPr algn="r"/>
            <a:fld id="{00000000-1234-1234-1234-123412341234}" type="slidenum">
              <a:rPr lang="en-US" sz="1300" smtClean="0">
                <a:solidFill>
                  <a:schemeClr val="dk1"/>
                </a:solidFill>
                <a:latin typeface="Calibri"/>
                <a:ea typeface="Calibri"/>
                <a:cs typeface="Calibri"/>
                <a:sym typeface="Calibri"/>
              </a:rPr>
              <a:pPr algn="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p:txBody>
      </p:sp>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“Membrane characterization can be formulated as a dynamic inverse problem, where we estimate transport parameters from time-resolved experimental data.”</a:t>
            </a:r>
          </a:p>
          <a:p>
            <a:r>
              <a:rPr lang="en-US" dirty="0"/>
              <a:t>“However, these parameters are often poorly identifiable due to strong correlations, which leads to an ill-conditioned inference problem.”</a:t>
            </a:r>
          </a:p>
          <a:p>
            <a:r>
              <a:rPr lang="en-US" dirty="0"/>
              <a:t>“To address this, we adopt a closed-loop uncertainty quantification framework.”</a:t>
            </a:r>
          </a:p>
          <a:p>
            <a:r>
              <a:rPr lang="en-US" dirty="0"/>
              <a:t>👉 (point to diagram)</a:t>
            </a:r>
          </a:p>
          <a:p>
            <a:r>
              <a:rPr lang="en-US" dirty="0"/>
              <a:t>“We estimate parameters using weighted least squares, quantify uncertainty through sensitivities and the Fisher Information Matrix, and then design new experiments to improve identifiability.”</a:t>
            </a:r>
          </a:p>
          <a:p>
            <a:r>
              <a:rPr lang="en-US" dirty="0"/>
              <a:t>“This creates a sequential learning loop.”</a:t>
            </a:r>
          </a:p>
          <a:p>
            <a:r>
              <a:rPr lang="en-US" b="1" dirty="0"/>
              <a:t>Final line (slow down):</a:t>
            </a:r>
            <a:endParaRPr lang="en-US" dirty="0"/>
          </a:p>
          <a:p>
            <a:r>
              <a:rPr lang="en-US" dirty="0"/>
              <a:t>“Our goal is to reshape the information geometry of the problem so that the parameters become identifiable.”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7022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96BE-E720-A454-D678-EBB7233C8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24DEB-52FF-A1D4-EB34-66DB9E80F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A91A30-CF43-CD42-BCEA-726C7D54CD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0" i="0" u="none" strike="noStrike" cap="none" dirty="0">
              <a:solidFill>
                <a:schemeClr val="dk1"/>
              </a:solidFill>
              <a:latin typeface="Calibri"/>
              <a:ea typeface="等线" panose="02010600030101010101" pitchFamily="2" charset="-122"/>
              <a:cs typeface="Calibri"/>
              <a:sym typeface="Calibri"/>
            </a:endParaRPr>
          </a:p>
        </p:txBody>
      </p:sp>
      <p:sp>
        <p:nvSpPr>
          <p:cNvPr id="4" name="Slide Number Placeholder 3">
            <a:extLst>
              <a:ext uri="{FF2B5EF4-FFF2-40B4-BE49-F238E27FC236}">
                <a16:creationId xmlns:a16="http://schemas.microsoft.com/office/drawing/2014/main" id="{4224CBA5-D906-0D08-8030-5F59989679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17C7DD-FA44-4AAC-AD64-73983556F2E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046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988DF-A4CF-C495-3E37-382D93E1D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4291F-C3DB-499D-2B49-645F321B9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7EF673-93EE-208F-3027-80FF1DA0D3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0" i="0" u="none" strike="noStrike" cap="none" dirty="0">
              <a:solidFill>
                <a:schemeClr val="dk1"/>
              </a:solidFill>
              <a:latin typeface="Calibri"/>
              <a:ea typeface="等线" panose="02010600030101010101" pitchFamily="2" charset="-122"/>
              <a:cs typeface="Calibri"/>
              <a:sym typeface="Calibri"/>
            </a:endParaRPr>
          </a:p>
        </p:txBody>
      </p:sp>
      <p:sp>
        <p:nvSpPr>
          <p:cNvPr id="4" name="Slide Number Placeholder 3">
            <a:extLst>
              <a:ext uri="{FF2B5EF4-FFF2-40B4-BE49-F238E27FC236}">
                <a16:creationId xmlns:a16="http://schemas.microsoft.com/office/drawing/2014/main" id="{3E442D76-F0F7-6BCF-D32A-327874FB4E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17C7DD-FA44-4AAC-AD64-73983556F2E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012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0" i="0" u="none" strike="noStrike" cap="none" dirty="0">
              <a:solidFill>
                <a:schemeClr val="dk1"/>
              </a:solidFill>
              <a:latin typeface="Calibri"/>
              <a:ea typeface="等线" panose="02010600030101010101" pitchFamily="2" charset="-122"/>
              <a:cs typeface="Calibri"/>
              <a:sym typeface="Calibri"/>
            </a:endParaRPr>
          </a:p>
        </p:txBody>
      </p:sp>
      <p:sp>
        <p:nvSpPr>
          <p:cNvPr id="892" name="Google Shape;89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32938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a:lnSpc>
                <a:spcPct val="107000"/>
              </a:lnSpc>
              <a:spcBef>
                <a:spcPts val="0"/>
              </a:spcBef>
              <a:spcAft>
                <a:spcPts val="800"/>
              </a:spcAft>
            </a:pPr>
            <a:r>
              <a:rPr lang="en-US" sz="1800" dirty="0">
                <a:effectLst/>
                <a:latin typeface="Calibri" panose="020F0502020204030204" pitchFamily="34" charset="0"/>
                <a:ea typeface="等线" panose="02010600030101010101" pitchFamily="2" charset="-122"/>
                <a:cs typeface="Times New Roman" panose="02020603050405020304" pitchFamily="18" charset="0"/>
              </a:rPr>
              <a:t>model parameters, hydraulic permeability </a:t>
            </a:r>
            <a:r>
              <a:rPr lang="en-US" sz="1800" dirty="0" err="1">
                <a:effectLst/>
                <a:latin typeface="Calibri" panose="020F0502020204030204" pitchFamily="34" charset="0"/>
                <a:ea typeface="等线" panose="02010600030101010101" pitchFamily="2" charset="-122"/>
                <a:cs typeface="Times New Roman" panose="02020603050405020304" pitchFamily="18" charset="0"/>
              </a:rPr>
              <a:t>Lp</a:t>
            </a:r>
            <a:r>
              <a:rPr lang="en-US" sz="1800" dirty="0">
                <a:effectLst/>
                <a:latin typeface="Calibri" panose="020F0502020204030204" pitchFamily="34" charset="0"/>
                <a:ea typeface="等线" panose="02010600030101010101" pitchFamily="2" charset="-122"/>
                <a:cs typeface="Times New Roman" panose="02020603050405020304" pitchFamily="18" charset="0"/>
              </a:rPr>
              <a:t>, solute permeability coefficient B that correspond to the membrane transport properties,</a:t>
            </a:r>
          </a:p>
          <a:p>
            <a:pPr marL="0" marR="0">
              <a:lnSpc>
                <a:spcPct val="107000"/>
              </a:lnSpc>
              <a:spcBef>
                <a:spcPts val="0"/>
              </a:spcBef>
              <a:spcAft>
                <a:spcPts val="800"/>
              </a:spcAft>
            </a:pPr>
            <a:r>
              <a:rPr lang="en-US" sz="1800" dirty="0">
                <a:effectLst/>
                <a:latin typeface="Calibri" panose="020F0502020204030204" pitchFamily="34" charset="0"/>
                <a:ea typeface="等线" panose="02010600030101010101" pitchFamily="2" charset="-122"/>
                <a:cs typeface="Times New Roman" panose="02020603050405020304" pitchFamily="18" charset="0"/>
              </a:rPr>
              <a:t>and reflection coefficient sigma that depends on the thermodynamics of the membrane-solution interface. </a:t>
            </a:r>
          </a:p>
        </p:txBody>
      </p:sp>
      <p:sp>
        <p:nvSpPr>
          <p:cNvPr id="892" name="Google Shape;89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2" name="Google Shape;87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3917984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D2AD-EF1C-3132-3127-1573B17BC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7E206-88FA-6E1D-187D-037D33AE9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855EA-0AA7-4AD6-A8D2-2F3A5F94C71E}"/>
              </a:ext>
            </a:extLst>
          </p:cNvPr>
          <p:cNvSpPr>
            <a:spLocks noGrp="1"/>
          </p:cNvSpPr>
          <p:nvPr>
            <p:ph type="body" idx="1"/>
          </p:nvPr>
        </p:nvSpPr>
        <p:spPr/>
        <p:txBody>
          <a:bodyPr/>
          <a:lstStyle/>
          <a:p>
            <a:pPr marL="0">
              <a:lnSpc>
                <a:spcPct val="107000"/>
              </a:lnSpc>
              <a:spcAft>
                <a:spcPts val="846"/>
              </a:spcAft>
            </a:pPr>
            <a:endParaRPr lang="en-US" dirty="0">
              <a:latin typeface="Calibri" panose="020F0502020204030204" pitchFamily="34" charset="0"/>
              <a:ea typeface="等线" panose="02010600030101010101" pitchFamily="2" charset="-122"/>
              <a:cs typeface="Times New Roman" panose="02020603050405020304" pitchFamily="18" charset="0"/>
            </a:endParaRPr>
          </a:p>
        </p:txBody>
      </p:sp>
      <p:sp>
        <p:nvSpPr>
          <p:cNvPr id="4" name="Slide Number Placeholder 3">
            <a:extLst>
              <a:ext uri="{FF2B5EF4-FFF2-40B4-BE49-F238E27FC236}">
                <a16:creationId xmlns:a16="http://schemas.microsoft.com/office/drawing/2014/main" id="{6BD39BC1-6B0C-3EE4-3394-F10324828B6F}"/>
              </a:ext>
            </a:extLst>
          </p:cNvPr>
          <p:cNvSpPr>
            <a:spLocks noGrp="1"/>
          </p:cNvSpPr>
          <p:nvPr>
            <p:ph type="sldNum" idx="12"/>
          </p:nvPr>
        </p:nvSpPr>
        <p:spPr/>
        <p:txBody>
          <a:bodyPr/>
          <a:lstStyle/>
          <a:p>
            <a:pPr algn="r" defTabSz="966612"/>
            <a:fld id="{00000000-1234-1234-1234-123412341234}" type="slidenum">
              <a:rPr lang="en-US" sz="1300">
                <a:latin typeface="Calibri"/>
                <a:ea typeface="Calibri"/>
                <a:cs typeface="Calibri"/>
                <a:sym typeface="Calibri"/>
              </a:rPr>
              <a:pPr algn="r" defTabSz="966612"/>
              <a:t>59</a:t>
            </a:fld>
            <a:endParaRPr lang="en-US" sz="1300">
              <a:latin typeface="Calibri"/>
              <a:ea typeface="Calibri"/>
              <a:cs typeface="Calibri"/>
              <a:sym typeface="Calibri"/>
            </a:endParaRPr>
          </a:p>
        </p:txBody>
      </p:sp>
    </p:spTree>
    <p:extLst>
      <p:ext uri="{BB962C8B-B14F-4D97-AF65-F5344CB8AC3E}">
        <p14:creationId xmlns:p14="http://schemas.microsoft.com/office/powerpoint/2010/main" val="4009369594"/>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SPEAKER NOTES — where these numbers come from</a:t>
            </a:r>
          </a:p>
          <a:p/>
          <a:p>
            <a:r>
              <a:t>1. The L_p ∈ [0.5, 50] and σ ∈ [0, 1] bounds are inherited verbatim from the published DATA1/DATA2 KCl experiments (Kasturi et al.). Self-cite.</a:t>
            </a:r>
          </a:p>
          <a:p/>
          <a:p>
            <a:r>
              <a:t>2. Aqueous limiting diffusion coefficients D⁰ at 25 °C used in the</a:t>
            </a:r>
          </a:p>
          <a:p>
            <a:r>
              <a:t>Stokes-Einstein argument:</a:t>
            </a:r>
          </a:p>
          <a:p>
            <a:r>
              <a:t>      D⁰(NaCl)  = 1.61 × 10⁻⁹ m²/s</a:t>
            </a:r>
          </a:p>
          <a:p>
            <a:r>
              <a:t>      D⁰(CaCl₂) = 1.33 × 10⁻⁹ m²/s</a:t>
            </a:r>
          </a:p>
          <a:p>
            <a:r>
              <a:t>      D⁰(LaCl₃) = 1.29 × 10⁻⁹ m²/s</a:t>
            </a:r>
          </a:p>
          <a:p>
            <a:r>
              <a:t>   Source: Vanýsek, CRC Handbook (ionic conductivity at infinite dilution),</a:t>
            </a:r>
          </a:p>
          <a:p>
            <a:r>
              <a:t>   corroborated by Rard &amp; Miller, J. Solution Chem. 8, 701 (1979) for NaCl/</a:t>
            </a:r>
          </a:p>
          <a:p>
            <a:r>
              <a:t>   CaCl₂ and Ribeiro et al., Electrochim. Acta (2008) for CaCl₂.</a:t>
            </a:r>
          </a:p>
          <a:p/>
          <a:p>
            <a:r>
              <a:t>3. The 'halve B per +1 cation charge' rule comes from combining</a:t>
            </a:r>
          </a:p>
          <a:p>
            <a:r>
              <a:t>   Stokes-Einstein (B ∝ D⁰) with the z²-scaling of the Born self-energy</a:t>
            </a:r>
          </a:p>
          <a:p>
            <a:r>
              <a:t>   for placing an ion in the low-dielectric pore (partition coefficient</a:t>
            </a:r>
          </a:p>
          <a:p>
            <a:r>
              <a:t>   ratios 1 : 4 : 9 for z = +1, +2, +3). Sources: Yaroshchuk, Adv. Colloid</a:t>
            </a:r>
          </a:p>
          <a:p>
            <a:r>
              <a:t>   Interface Sci. 85, 193 (2000); Bandini &amp; Vezzani, Chem. Eng. Sci. 58,</a:t>
            </a:r>
          </a:p>
          <a:p>
            <a:r>
              <a:t>   3303 (2003).</a:t>
            </a:r>
          </a:p>
          <a:p/>
          <a:p>
            <a:r>
              <a:t>4. NF270-specific solute-permeability values found in literature (anchors</a:t>
            </a:r>
          </a:p>
          <a:p>
            <a:r>
              <a:t>   only — do NOT cite as authoritative single-salt B):</a:t>
            </a:r>
          </a:p>
          <a:p>
            <a:r>
              <a:t>      Nair et al., Membranes 8(3), 78 (2018):  multi-ion seawater fit on</a:t>
            </a:r>
          </a:p>
          <a:p>
            <a:r>
              <a:t>      NF270 reports B(Cl⁻) ≈ 21, B(Na⁺) ≈ 1.5, B(Ca²⁺) ≈ 18.8 µm/s, with</a:t>
            </a:r>
          </a:p>
          <a:p>
            <a:r>
              <a:t>      σ(Ca²⁺) = 0.41, σ(Na⁺) = 0.19. Note: their B(Ca²⁺) &gt; B(Na⁺) is the</a:t>
            </a:r>
          </a:p>
          <a:p>
            <a:r>
              <a:t>      opposite of what Stokes-Einstein + dielectric exclusion predicts —</a:t>
            </a:r>
          </a:p>
          <a:p>
            <a:r>
              <a:t>      this is an artifact of fitting per-ion permeabilities to coupled</a:t>
            </a:r>
          </a:p>
          <a:p>
            <a:r>
              <a:t>      multi-ion flux data, not a true single-salt B.</a:t>
            </a:r>
          </a:p>
          <a:p/>
          <a:p>
            <a:r>
              <a:t>      Lachheb et al., ChemistryOpen (2025):  reports σ(Na⁺) = 0.55–0.69 and</a:t>
            </a:r>
          </a:p>
          <a:p>
            <a:r>
              <a:t>      σ(Cl⁻) = 0.59–0.61 on NF270 at 2–6 g/L TDS. Their accompanying B</a:t>
            </a:r>
          </a:p>
          <a:p>
            <a:r>
              <a:t>      values for NaCl on NF270 were adversarially refuted in our deep-</a:t>
            </a:r>
          </a:p>
          <a:p>
            <a:r>
              <a:t>      research verification (vote 0-3) and should not be cited.</a:t>
            </a:r>
          </a:p>
          <a:p/>
          <a:p>
            <a:r>
              <a:t>      No peer-reviewed single-salt LaCl₃ B on NF270 was located. The</a:t>
            </a:r>
          </a:p>
          <a:p>
            <a:r>
              <a:t>      LaCl₃ bound is set entirely by physics extrapolation.</a:t>
            </a:r>
          </a:p>
          <a:p/>
          <a:p>
            <a:r>
              <a:t>5. Current code bound (refactored_ucb_library.py:1683) is the unified</a:t>
            </a:r>
          </a:p>
          <a:p>
            <a:r>
              <a:t>   [1e-6, 50] µm/s, raised from [0, 30] on 2026-05-24 when the three</a:t>
            </a:r>
          </a:p>
          <a:p>
            <a:r>
              <a:t>   CaCl₂ fits clipped at 30. Per-salt narrowing per the table above is</a:t>
            </a:r>
          </a:p>
          <a:p>
            <a:r>
              <a:t>   a proposed refinement, not yet implemented in code.</a:t>
            </a:r>
          </a:p>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800" b="1" i="0" u="none" strike="noStrike" cap="none">
                <a:solidFill>
                  <a:schemeClr val="dk1"/>
                </a:solidFill>
                <a:latin typeface="Arial"/>
                <a:ea typeface="Arial"/>
                <a:cs typeface="Arial"/>
                <a:sym typeface="Arial"/>
              </a:defRPr>
            </a:lvl1pPr>
            <a:lvl2pPr marL="0" lvl="1" indent="0" algn="r">
              <a:spcBef>
                <a:spcPts val="0"/>
              </a:spcBef>
              <a:buNone/>
              <a:defRPr sz="1800" b="1" i="0" u="none" strike="noStrike" cap="none">
                <a:solidFill>
                  <a:schemeClr val="dk1"/>
                </a:solidFill>
                <a:latin typeface="Arial"/>
                <a:ea typeface="Arial"/>
                <a:cs typeface="Arial"/>
                <a:sym typeface="Arial"/>
              </a:defRPr>
            </a:lvl2pPr>
            <a:lvl3pPr marL="0" lvl="2" indent="0" algn="r">
              <a:spcBef>
                <a:spcPts val="0"/>
              </a:spcBef>
              <a:buNone/>
              <a:defRPr sz="1800" b="1" i="0" u="none" strike="noStrike" cap="none">
                <a:solidFill>
                  <a:schemeClr val="dk1"/>
                </a:solidFill>
                <a:latin typeface="Arial"/>
                <a:ea typeface="Arial"/>
                <a:cs typeface="Arial"/>
                <a:sym typeface="Arial"/>
              </a:defRPr>
            </a:lvl3pPr>
            <a:lvl4pPr marL="0" lvl="3" indent="0" algn="r">
              <a:spcBef>
                <a:spcPts val="0"/>
              </a:spcBef>
              <a:buNone/>
              <a:defRPr sz="1800" b="1" i="0" u="none" strike="noStrike" cap="none">
                <a:solidFill>
                  <a:schemeClr val="dk1"/>
                </a:solidFill>
                <a:latin typeface="Arial"/>
                <a:ea typeface="Arial"/>
                <a:cs typeface="Arial"/>
                <a:sym typeface="Arial"/>
              </a:defRPr>
            </a:lvl4pPr>
            <a:lvl5pPr marL="0" lvl="4" indent="0" algn="r">
              <a:spcBef>
                <a:spcPts val="0"/>
              </a:spcBef>
              <a:buNone/>
              <a:defRPr sz="1800" b="1" i="0" u="none" strike="noStrike" cap="none">
                <a:solidFill>
                  <a:schemeClr val="dk1"/>
                </a:solidFill>
                <a:latin typeface="Arial"/>
                <a:ea typeface="Arial"/>
                <a:cs typeface="Arial"/>
                <a:sym typeface="Arial"/>
              </a:defRPr>
            </a:lvl5pPr>
            <a:lvl6pPr marL="0" lvl="5" indent="0" algn="r">
              <a:spcBef>
                <a:spcPts val="0"/>
              </a:spcBef>
              <a:buNone/>
              <a:defRPr sz="1800" b="1" i="0" u="none" strike="noStrike" cap="none">
                <a:solidFill>
                  <a:schemeClr val="dk1"/>
                </a:solidFill>
                <a:latin typeface="Arial"/>
                <a:ea typeface="Arial"/>
                <a:cs typeface="Arial"/>
                <a:sym typeface="Arial"/>
              </a:defRPr>
            </a:lvl6pPr>
            <a:lvl7pPr marL="0" lvl="6" indent="0" algn="r">
              <a:spcBef>
                <a:spcPts val="0"/>
              </a:spcBef>
              <a:buNone/>
              <a:defRPr sz="1800" b="1" i="0" u="none" strike="noStrike" cap="none">
                <a:solidFill>
                  <a:schemeClr val="dk1"/>
                </a:solidFill>
                <a:latin typeface="Arial"/>
                <a:ea typeface="Arial"/>
                <a:cs typeface="Arial"/>
                <a:sym typeface="Arial"/>
              </a:defRPr>
            </a:lvl7pPr>
            <a:lvl8pPr marL="0" lvl="7" indent="0" algn="r">
              <a:spcBef>
                <a:spcPts val="0"/>
              </a:spcBef>
              <a:buNone/>
              <a:defRPr sz="1800" b="1" i="0" u="none" strike="noStrike" cap="none">
                <a:solidFill>
                  <a:schemeClr val="dk1"/>
                </a:solidFill>
                <a:latin typeface="Arial"/>
                <a:ea typeface="Arial"/>
                <a:cs typeface="Arial"/>
                <a:sym typeface="Arial"/>
              </a:defRPr>
            </a:lvl8pPr>
            <a:lvl9pPr marL="0" lvl="8" indent="0" algn="r">
              <a:spcBef>
                <a:spcPts val="0"/>
              </a:spcBef>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5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5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2" name="Google Shape;42;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5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5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5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5" name="Google Shape;55;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2" name="Google Shape;62;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6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7" name="Google Shape;67;p6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9" name="Google Shape;69;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0"/>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61"/>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1"/>
          <p:cNvSpPr txBox="1">
            <a:spLocks noGrp="1"/>
          </p:cNvSpPr>
          <p:nvPr>
            <p:ph type="body" idx="1"/>
          </p:nvPr>
        </p:nvSpPr>
        <p:spPr>
          <a:xfrm rot="5400000">
            <a:off x="3493362" y="-2344223"/>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5" name="Google Shape;75;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3"/>
        <p:cNvGrpSpPr/>
        <p:nvPr/>
      </p:nvGrpSpPr>
      <p:grpSpPr>
        <a:xfrm>
          <a:off x="0" y="0"/>
          <a:ext cx="0" cy="0"/>
          <a:chOff x="0" y="0"/>
          <a:chExt cx="0" cy="0"/>
        </a:xfrm>
      </p:grpSpPr>
      <p:sp>
        <p:nvSpPr>
          <p:cNvPr id="34" name="Google Shape;34;p5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1725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sz="1800">
                <a:solidFill>
                  <a:schemeClr val="tx1"/>
                </a:solidFill>
              </a:defRPr>
            </a:lvl1pPr>
          </a:lstStyle>
          <a:p>
            <a:fld id="{1756F3D0-7E86-AC43-9E81-92FE9637AEC8}" type="slidenum">
              <a:rPr lang="en-US" smtClean="0"/>
              <a:pPr/>
              <a:t>‹#›</a:t>
            </a:fld>
            <a:endParaRPr lang="en-US" dirty="0"/>
          </a:p>
        </p:txBody>
      </p:sp>
    </p:spTree>
    <p:extLst>
      <p:ext uri="{BB962C8B-B14F-4D97-AF65-F5344CB8AC3E}">
        <p14:creationId xmlns:p14="http://schemas.microsoft.com/office/powerpoint/2010/main" val="3332211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719497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111568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1317668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2538863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1459477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3015280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2163235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2287563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325064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dirty="0"/>
          </a:p>
        </p:txBody>
      </p:sp>
    </p:spTree>
    <p:extLst>
      <p:ext uri="{BB962C8B-B14F-4D97-AF65-F5344CB8AC3E}">
        <p14:creationId xmlns:p14="http://schemas.microsoft.com/office/powerpoint/2010/main" val="228524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800">
                <a:solidFill>
                  <a:schemeClr val="tx1"/>
                </a:solidFill>
              </a:defRPr>
            </a:lvl1pPr>
          </a:lstStyle>
          <a:p>
            <a:fld id="{1756F3D0-7E86-AC43-9E81-92FE9637AEC8}" type="slidenum">
              <a:rPr lang="en-US" smtClean="0"/>
              <a:pPr/>
              <a:t>‹#›</a:t>
            </a:fld>
            <a:endParaRPr lang="en-US" dirty="0"/>
          </a:p>
        </p:txBody>
      </p:sp>
    </p:spTree>
    <p:extLst>
      <p:ext uri="{BB962C8B-B14F-4D97-AF65-F5344CB8AC3E}">
        <p14:creationId xmlns:p14="http://schemas.microsoft.com/office/powerpoint/2010/main" val="37648177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a:p>
        </p:txBody>
      </p:sp>
      <p:sp>
        <p:nvSpPr>
          <p:cNvPr id="7" name="Content Placeholder 2">
            <a:extLst>
              <a:ext uri="{FF2B5EF4-FFF2-40B4-BE49-F238E27FC236}">
                <a16:creationId xmlns:a16="http://schemas.microsoft.com/office/drawing/2014/main" id="{A2B1E1D2-72A9-9FD3-67EA-EE0005BB67FD}"/>
              </a:ext>
            </a:extLst>
          </p:cNvPr>
          <p:cNvSpPr>
            <a:spLocks noGrp="1"/>
          </p:cNvSpPr>
          <p:nvPr>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5">
            <a:extLst>
              <a:ext uri="{FF2B5EF4-FFF2-40B4-BE49-F238E27FC236}">
                <a16:creationId xmlns:a16="http://schemas.microsoft.com/office/drawing/2014/main" id="{63D6328E-A9E1-FD12-C995-CF3D2729D2CE}"/>
              </a:ext>
            </a:extLst>
          </p:cNvPr>
          <p:cNvSpPr>
            <a:spLocks noGrp="1"/>
          </p:cNvSpPr>
          <p:nvPr>
            <p:ph type="title"/>
          </p:nvPr>
        </p:nvSpPr>
        <p:spPr>
          <a:xfrm>
            <a:off x="609600" y="182565"/>
            <a:ext cx="10972801" cy="549275"/>
          </a:xfrm>
        </p:spPr>
        <p:txBody>
          <a:bodyPr/>
          <a:lstStyle/>
          <a:p>
            <a:r>
              <a:rPr lang="en-US"/>
              <a:t>Click to edit Master title style</a:t>
            </a:r>
          </a:p>
        </p:txBody>
      </p:sp>
      <p:sp>
        <p:nvSpPr>
          <p:cNvPr id="9" name="Slide Number Placeholder 2">
            <a:extLst>
              <a:ext uri="{FF2B5EF4-FFF2-40B4-BE49-F238E27FC236}">
                <a16:creationId xmlns:a16="http://schemas.microsoft.com/office/drawing/2014/main" id="{6B2E5501-FFAD-A888-C3A6-6DDCDBEAB4B9}"/>
              </a:ext>
            </a:extLst>
          </p:cNvPr>
          <p:cNvSpPr>
            <a:spLocks noGrp="1"/>
          </p:cNvSpPr>
          <p:nvPr>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02247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F3D0-7E86-AC43-9E81-92FE9637AEC8}" type="slidenum">
              <a:rPr lang="en-US" smtClean="0"/>
              <a:t>‹#›</a:t>
            </a:fld>
            <a:endParaRPr lang="en-US"/>
          </a:p>
        </p:txBody>
      </p:sp>
    </p:spTree>
    <p:extLst>
      <p:ext uri="{BB962C8B-B14F-4D97-AF65-F5344CB8AC3E}">
        <p14:creationId xmlns:p14="http://schemas.microsoft.com/office/powerpoint/2010/main" val="35933224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82231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679448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48127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75419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18031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151223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35004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52778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1971646"/>
      </p:ext>
    </p:extLst>
  </p:cSld>
  <p:clrMapOvr>
    <a:masterClrMapping/>
  </p:clrMapOvr>
  <p:transition spd="med" advClick="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0640329"/>
      </p:ext>
    </p:extLst>
  </p:cSld>
  <p:clrMapOvr>
    <a:masterClrMapping/>
  </p:clrMapOvr>
  <p:transition spd="med" advClick="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94342455"/>
      </p:ext>
    </p:extLst>
  </p:cSld>
  <p:clrMapOvr>
    <a:masterClrMapping/>
  </p:clrMapOvr>
  <p:transition spd="med" advClick="0"/>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535491"/>
      </p:ext>
    </p:extLst>
  </p:cSld>
  <p:clrMapOvr>
    <a:masterClrMapping/>
  </p:clrMapOvr>
  <p:transition spd="med" advClick="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0906766"/>
      </p:ext>
    </p:extLst>
  </p:cSld>
  <p:clrMapOvr>
    <a:masterClrMapping/>
  </p:clrMapOvr>
  <p:transition spd="med" advClick="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0157082"/>
      </p:ext>
    </p:extLst>
  </p:cSld>
  <p:clrMapOvr>
    <a:masterClrMapping/>
  </p:clrMapOvr>
  <p:transition spd="med" advClick="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2475974"/>
      </p:ext>
    </p:extLst>
  </p:cSld>
  <p:clrMapOvr>
    <a:masterClrMapping/>
  </p:clrMapOvr>
  <p:transition spd="med" advClick="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2034264"/>
      </p:ext>
    </p:extLst>
  </p:cSld>
  <p:clrMapOvr>
    <a:masterClrMapping/>
  </p:clrMapOvr>
  <p:transition spd="med" advClick="0"/>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7209242"/>
      </p:ext>
    </p:extLst>
  </p:cSld>
  <p:clrMapOvr>
    <a:masterClrMapping/>
  </p:clrMapOvr>
  <p:transition spd="med" advClick="0"/>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52447285"/>
      </p:ext>
    </p:extLst>
  </p:cSld>
  <p:clrMapOvr>
    <a:masterClrMapping/>
  </p:clrMapOvr>
  <p:transition spd="med" advClick="0"/>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3679103"/>
      </p:ext>
    </p:extLst>
  </p:cSld>
  <p:clrMapOvr>
    <a:masterClrMapping/>
  </p:clrMapOvr>
  <p:transition spd="med" advClick="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8687771"/>
      </p:ext>
    </p:extLst>
  </p:cSld>
  <p:clrMapOvr>
    <a:masterClrMapping/>
  </p:clrMapOvr>
  <p:transition spd="med" advClick="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4360296"/>
      </p:ext>
    </p:extLst>
  </p:cSld>
  <p:clrMapOvr>
    <a:masterClrMapping/>
  </p:clrMapOvr>
  <p:transition spd="med" advClick="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7250546"/>
      </p:ext>
    </p:extLst>
  </p:cSld>
  <p:clrMapOvr>
    <a:masterClrMapping/>
  </p:clrMapOvr>
  <p:transition spd="med" advClick="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0434315"/>
      </p:ext>
    </p:extLst>
  </p:cSld>
  <p:clrMapOvr>
    <a:masterClrMapping/>
  </p:clrMapOvr>
  <p:transition spd="med" advClick="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94143833"/>
      </p:ext>
    </p:extLst>
  </p:cSld>
  <p:clrMapOvr>
    <a:masterClrMapping/>
  </p:clrMapOvr>
  <p:transition spd="med" advClick="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48003342"/>
      </p:ext>
    </p:extLst>
  </p:cSld>
  <p:clrMapOvr>
    <a:masterClrMapping/>
  </p:clrMapOvr>
  <p:transition spd="med" advClick="0"/>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a:xfrm>
            <a:off x="609599" y="827482"/>
            <a:ext cx="10972801" cy="5307788"/>
          </a:xfrm>
        </p:spPr>
        <p:txBody>
          <a:bodyPr>
            <a:normAutofit/>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userDrawn="1">
            <p:ph type="title"/>
          </p:nvPr>
        </p:nvSpPr>
        <p:spPr/>
        <p:txBody>
          <a:bodyPr/>
          <a:lstStyle/>
          <a:p>
            <a:r>
              <a:rPr lang="en-US"/>
              <a:t>Click to edit Master title style</a:t>
            </a:r>
          </a:p>
        </p:txBody>
      </p:sp>
      <p:sp>
        <p:nvSpPr>
          <p:cNvPr id="7" name="Slide Number Placeholder 2"/>
          <p:cNvSpPr>
            <a:spLocks noGrp="1"/>
          </p:cNvSpPr>
          <p:nvPr userDrawn="1">
            <p:ph type="sldNum" sz="quarter" idx="4"/>
          </p:nvPr>
        </p:nvSpPr>
        <p:spPr>
          <a:xfrm>
            <a:off x="9068573" y="6400801"/>
            <a:ext cx="284395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67AC3-44BE-1249-A8B0-A1E33CC73C3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3215813"/>
      </p:ext>
    </p:extLst>
  </p:cSld>
  <p:clrMapOvr>
    <a:masterClrMapping/>
  </p:clrMapOvr>
  <p:transition spd="med" advClick="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theme" Target="../theme/theme2.xml"/><Relationship Id="rId13"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slideLayout" Target="../slideLayouts/slideLayout40.xml"/><Relationship Id="rId20" Type="http://schemas.openxmlformats.org/officeDocument/2006/relationships/slideLayout" Target="../slideLayouts/slideLayout41.xml"/><Relationship Id="rId21" Type="http://schemas.openxmlformats.org/officeDocument/2006/relationships/slideLayout" Target="../slideLayouts/slideLayout42.xml"/><Relationship Id="rId22" Type="http://schemas.openxmlformats.org/officeDocument/2006/relationships/slideLayout" Target="../slideLayouts/slideLayout43.xml"/><Relationship Id="rId23" Type="http://schemas.openxmlformats.org/officeDocument/2006/relationships/slideLayout" Target="../slideLayouts/slideLayout44.xml"/><Relationship Id="rId24" Type="http://schemas.openxmlformats.org/officeDocument/2006/relationships/slideLayout" Target="../slideLayouts/slideLayout45.xml"/><Relationship Id="rId25" Type="http://schemas.openxmlformats.org/officeDocument/2006/relationships/slideLayout" Target="../slideLayouts/slideLayout46.xml"/><Relationship Id="rId26" Type="http://schemas.openxmlformats.org/officeDocument/2006/relationships/slideLayout" Target="../slideLayouts/slideLayout47.xml"/><Relationship Id="rId27" Type="http://schemas.openxmlformats.org/officeDocument/2006/relationships/slideLayout" Target="../slideLayouts/slideLayout48.xml"/><Relationship Id="rId28" Type="http://schemas.openxmlformats.org/officeDocument/2006/relationships/slideLayout" Target="../slideLayouts/slideLayout49.xml"/><Relationship Id="rId29" Type="http://schemas.openxmlformats.org/officeDocument/2006/relationships/slideLayout" Target="../slideLayouts/slideLayout50.xml"/><Relationship Id="rId30" Type="http://schemas.openxmlformats.org/officeDocument/2006/relationships/theme" Target="../theme/theme3.xml"/><Relationship Id="rId31" Type="http://schemas.openxmlformats.org/officeDocument/2006/relationships/image" Target="../media/image3.tiff"/><Relationship Id="rId3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1"/>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5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1" i="0" u="none" strike="noStrike" cap="none">
                <a:solidFill>
                  <a:schemeClr val="dk1"/>
                </a:solidFill>
                <a:latin typeface="Arial"/>
                <a:ea typeface="Arial"/>
                <a:cs typeface="Arial"/>
                <a:sym typeface="Arial"/>
              </a:defRPr>
            </a:lvl1pPr>
            <a:lvl2pPr marL="0" marR="0" lvl="1" indent="0" algn="r" rtl="0">
              <a:spcBef>
                <a:spcPts val="0"/>
              </a:spcBef>
              <a:buNone/>
              <a:defRPr sz="1800" b="1" i="0" u="none" strike="noStrike" cap="none">
                <a:solidFill>
                  <a:schemeClr val="dk1"/>
                </a:solidFill>
                <a:latin typeface="Arial"/>
                <a:ea typeface="Arial"/>
                <a:cs typeface="Arial"/>
                <a:sym typeface="Arial"/>
              </a:defRPr>
            </a:lvl2pPr>
            <a:lvl3pPr marL="0" marR="0" lvl="2" indent="0" algn="r" rtl="0">
              <a:spcBef>
                <a:spcPts val="0"/>
              </a:spcBef>
              <a:buNone/>
              <a:defRPr sz="1800" b="1" i="0" u="none" strike="noStrike" cap="none">
                <a:solidFill>
                  <a:schemeClr val="dk1"/>
                </a:solidFill>
                <a:latin typeface="Arial"/>
                <a:ea typeface="Arial"/>
                <a:cs typeface="Arial"/>
                <a:sym typeface="Arial"/>
              </a:defRPr>
            </a:lvl3pPr>
            <a:lvl4pPr marL="0" marR="0" lvl="3" indent="0" algn="r" rtl="0">
              <a:spcBef>
                <a:spcPts val="0"/>
              </a:spcBef>
              <a:buNone/>
              <a:defRPr sz="1800" b="1" i="0" u="none" strike="noStrike" cap="none">
                <a:solidFill>
                  <a:schemeClr val="dk1"/>
                </a:solidFill>
                <a:latin typeface="Arial"/>
                <a:ea typeface="Arial"/>
                <a:cs typeface="Arial"/>
                <a:sym typeface="Arial"/>
              </a:defRPr>
            </a:lvl4pPr>
            <a:lvl5pPr marL="0" marR="0" lvl="4" indent="0" algn="r" rtl="0">
              <a:spcBef>
                <a:spcPts val="0"/>
              </a:spcBef>
              <a:buNone/>
              <a:defRPr sz="1800" b="1" i="0" u="none" strike="noStrike" cap="none">
                <a:solidFill>
                  <a:schemeClr val="dk1"/>
                </a:solidFill>
                <a:latin typeface="Arial"/>
                <a:ea typeface="Arial"/>
                <a:cs typeface="Arial"/>
                <a:sym typeface="Arial"/>
              </a:defRPr>
            </a:lvl5pPr>
            <a:lvl6pPr marL="0" marR="0" lvl="5" indent="0" algn="r" rtl="0">
              <a:spcBef>
                <a:spcPts val="0"/>
              </a:spcBef>
              <a:buNone/>
              <a:defRPr sz="1800" b="1" i="0" u="none" strike="noStrike" cap="none">
                <a:solidFill>
                  <a:schemeClr val="dk1"/>
                </a:solidFill>
                <a:latin typeface="Arial"/>
                <a:ea typeface="Arial"/>
                <a:cs typeface="Arial"/>
                <a:sym typeface="Arial"/>
              </a:defRPr>
            </a:lvl6pPr>
            <a:lvl7pPr marL="0" marR="0" lvl="6" indent="0" algn="r" rtl="0">
              <a:spcBef>
                <a:spcPts val="0"/>
              </a:spcBef>
              <a:buNone/>
              <a:defRPr sz="1800" b="1" i="0" u="none" strike="noStrike" cap="none">
                <a:solidFill>
                  <a:schemeClr val="dk1"/>
                </a:solidFill>
                <a:latin typeface="Arial"/>
                <a:ea typeface="Arial"/>
                <a:cs typeface="Arial"/>
                <a:sym typeface="Arial"/>
              </a:defRPr>
            </a:lvl7pPr>
            <a:lvl8pPr marL="0" marR="0" lvl="7" indent="0" algn="r" rtl="0">
              <a:spcBef>
                <a:spcPts val="0"/>
              </a:spcBef>
              <a:buNone/>
              <a:defRPr sz="1800" b="1" i="0" u="none" strike="noStrike" cap="none">
                <a:solidFill>
                  <a:schemeClr val="dk1"/>
                </a:solidFill>
                <a:latin typeface="Arial"/>
                <a:ea typeface="Arial"/>
                <a:cs typeface="Arial"/>
                <a:sym typeface="Arial"/>
              </a:defRPr>
            </a:lvl8pPr>
            <a:lvl9pPr marL="0" marR="0" lvl="8" indent="0" algn="r" rtl="0">
              <a:spcBef>
                <a:spcPts val="0"/>
              </a:spcBef>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51"/>
          <p:cNvPicPr preferRelativeResize="0"/>
          <p:nvPr/>
        </p:nvPicPr>
        <p:blipFill rotWithShape="1">
          <a:blip r:embed="rId12">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719" r:id="rId1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8584" y="126586"/>
            <a:ext cx="11980590" cy="78781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8584" y="1020555"/>
            <a:ext cx="11980590" cy="525103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365974" y="6424611"/>
            <a:ext cx="2743200" cy="365125"/>
          </a:xfrm>
          <a:prstGeom prst="rect">
            <a:avLst/>
          </a:prstGeom>
        </p:spPr>
        <p:txBody>
          <a:bodyPr vert="horz" lIns="91440" tIns="45720" rIns="91440" bIns="45720" rtlCol="0" anchor="ctr"/>
          <a:lstStyle>
            <a:lvl1pPr algn="r">
              <a:defRPr sz="1800" b="1">
                <a:solidFill>
                  <a:schemeClr val="tx1"/>
                </a:solidFill>
              </a:defRPr>
            </a:lvl1pPr>
          </a:lstStyle>
          <a:p>
            <a:fld id="{1756F3D0-7E86-AC43-9E81-92FE9637AEC8}" type="slidenum">
              <a:rPr lang="en-US" smtClean="0"/>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28584" y="6507526"/>
            <a:ext cx="1209476" cy="282211"/>
          </a:xfrm>
          <a:prstGeom prst="rect">
            <a:avLst/>
          </a:prstGeom>
        </p:spPr>
      </p:pic>
    </p:spTree>
    <p:extLst>
      <p:ext uri="{BB962C8B-B14F-4D97-AF65-F5344CB8AC3E}">
        <p14:creationId xmlns:p14="http://schemas.microsoft.com/office/powerpoint/2010/main" val="2072197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8584" y="126586"/>
            <a:ext cx="11980590" cy="78781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8584" y="1020555"/>
            <a:ext cx="11980590" cy="525103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365974" y="6424611"/>
            <a:ext cx="2743200" cy="365125"/>
          </a:xfrm>
          <a:prstGeom prst="rect">
            <a:avLst/>
          </a:prstGeom>
        </p:spPr>
        <p:txBody>
          <a:bodyPr vert="horz" lIns="91440" tIns="45720" rIns="91440" bIns="45720" rtlCol="0" anchor="ctr"/>
          <a:lstStyle>
            <a:lvl1pPr algn="r">
              <a:defRPr sz="1800" b="1">
                <a:solidFill>
                  <a:schemeClr val="tx1"/>
                </a:solidFill>
              </a:defRPr>
            </a:lvl1pPr>
          </a:lstStyle>
          <a:p>
            <a:fld id="{41B67AC3-44BE-1249-A8B0-A1E33CC73C33}" type="slidenum">
              <a:rPr lang="en-US" smtClean="0">
                <a:solidFill>
                  <a:prstClr val="black">
                    <a:tint val="75000"/>
                  </a:prstClr>
                </a:solidFill>
              </a:rPr>
              <a:pPr/>
              <a:t>‹#›</a:t>
            </a:fld>
            <a:endParaRPr lang="en-US">
              <a:solidFill>
                <a:prstClr val="black">
                  <a:tint val="75000"/>
                </a:prstClr>
              </a:solidFill>
            </a:endParaRPr>
          </a:p>
        </p:txBody>
      </p:sp>
      <p:pic>
        <p:nvPicPr>
          <p:cNvPr id="4" name="Picture 3">
            <a:extLst>
              <a:ext uri="{FF2B5EF4-FFF2-40B4-BE49-F238E27FC236}">
                <a16:creationId xmlns:a16="http://schemas.microsoft.com/office/drawing/2014/main" id="{121F2810-152E-88D5-CED5-86AAB06B08DC}"/>
              </a:ext>
            </a:extLst>
          </p:cNvPr>
          <p:cNvPicPr>
            <a:picLocks noChangeAspect="1"/>
          </p:cNvPicPr>
          <p:nvPr userDrawn="1"/>
        </p:nvPicPr>
        <p:blipFill rotWithShape="1">
          <a:blip r:embed="rId31"/>
          <a:srcRect l="96653" r="770"/>
          <a:stretch/>
        </p:blipFill>
        <p:spPr>
          <a:xfrm>
            <a:off x="1559942" y="6169025"/>
            <a:ext cx="10632057" cy="688975"/>
          </a:xfrm>
          <a:prstGeom prst="rect">
            <a:avLst/>
          </a:prstGeom>
        </p:spPr>
      </p:pic>
      <p:pic>
        <p:nvPicPr>
          <p:cNvPr id="7" name="Picture 6">
            <a:extLst>
              <a:ext uri="{FF2B5EF4-FFF2-40B4-BE49-F238E27FC236}">
                <a16:creationId xmlns:a16="http://schemas.microsoft.com/office/drawing/2014/main" id="{380352DB-239B-316A-8F82-E495F1474D35}"/>
              </a:ext>
            </a:extLst>
          </p:cNvPr>
          <p:cNvPicPr>
            <a:picLocks noChangeAspect="1"/>
          </p:cNvPicPr>
          <p:nvPr userDrawn="1"/>
        </p:nvPicPr>
        <p:blipFill>
          <a:blip r:embed="rId31"/>
          <a:stretch>
            <a:fillRect/>
          </a:stretch>
        </p:blipFill>
        <p:spPr>
          <a:xfrm>
            <a:off x="-3" y="6169024"/>
            <a:ext cx="1559943" cy="688975"/>
          </a:xfrm>
          <a:prstGeom prst="rect">
            <a:avLst/>
          </a:prstGeom>
        </p:spPr>
      </p:pic>
      <p:pic>
        <p:nvPicPr>
          <p:cNvPr id="9" name="Picture 8">
            <a:extLst>
              <a:ext uri="{FF2B5EF4-FFF2-40B4-BE49-F238E27FC236}">
                <a16:creationId xmlns:a16="http://schemas.microsoft.com/office/drawing/2014/main" id="{BC890BDC-BB55-DEB4-8AEA-3B808BD30195}"/>
              </a:ext>
            </a:extLst>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1559941" y="6398564"/>
            <a:ext cx="1209476" cy="282211"/>
          </a:xfrm>
          <a:prstGeom prst="rect">
            <a:avLst/>
          </a:prstGeom>
        </p:spPr>
      </p:pic>
    </p:spTree>
    <p:extLst>
      <p:ext uri="{BB962C8B-B14F-4D97-AF65-F5344CB8AC3E}">
        <p14:creationId xmlns:p14="http://schemas.microsoft.com/office/powerpoint/2010/main" val="238568428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49.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png"/><Relationship Id="rId3"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0.png"/><Relationship Id="rId3" Type="http://schemas.openxmlformats.org/officeDocument/2006/relationships/image" Target="../media/image10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tmp"/><Relationship Id="rId12" Type="http://schemas.openxmlformats.org/officeDocument/2006/relationships/image" Target="../media/image27.png"/><Relationship Id="rId13" Type="http://schemas.openxmlformats.org/officeDocument/2006/relationships/image" Target="../media/image28.jpeg"/><Relationship Id="rId14" Type="http://schemas.openxmlformats.org/officeDocument/2006/relationships/image" Target="../media/image29.jpeg"/><Relationship Id="rId15" Type="http://schemas.openxmlformats.org/officeDocument/2006/relationships/image" Target="../media/image30.jpeg"/><Relationship Id="rId16" Type="http://schemas.openxmlformats.org/officeDocument/2006/relationships/image" Target="../media/image31.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tmp"/><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8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41.png"/><Relationship Id="rId7" Type="http://schemas.openxmlformats.org/officeDocument/2006/relationships/image" Target="../media/image37.png"/><Relationship Id="rId8" Type="http://schemas.openxmlformats.org/officeDocument/2006/relationships/image" Target="../media/image36.tmp"/><Relationship Id="rId9" Type="http://schemas.openxmlformats.org/officeDocument/2006/relationships/image" Target="../media/image8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5.png"/><Relationship Id="rId4" Type="http://schemas.openxmlformats.org/officeDocument/2006/relationships/image" Target="../media/image420.png"/><Relationship Id="rId5" Type="http://schemas.openxmlformats.org/officeDocument/2006/relationships/image" Target="../media/image430.png"/><Relationship Id="rId6" Type="http://schemas.openxmlformats.org/officeDocument/2006/relationships/image" Target="../media/image440.png"/><Relationship Id="rId7" Type="http://schemas.openxmlformats.org/officeDocument/2006/relationships/image" Target="../media/image400.png"/><Relationship Id="rId8" Type="http://schemas.openxmlformats.org/officeDocument/2006/relationships/image" Target="../media/image46.png"/><Relationship Id="rId9" Type="http://schemas.openxmlformats.org/officeDocument/2006/relationships/image" Target="../media/image4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6.png"/><Relationship Id="rId3" Type="http://schemas.openxmlformats.org/officeDocument/2006/relationships/image" Target="../media/image8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
        <p:cNvGrpSpPr/>
        <p:nvPr/>
      </p:nvGrpSpPr>
      <p:grpSpPr>
        <a:xfrm>
          <a:off x="0" y="0"/>
          <a:ext cx="0" cy="0"/>
          <a:chOff x="0" y="0"/>
          <a:chExt cx="0" cy="0"/>
        </a:xfrm>
      </p:grpSpPr>
      <p:sp>
        <p:nvSpPr>
          <p:cNvPr id="3" name="Rectangle 2">
            <a:extLst>
              <a:ext uri="{FF2B5EF4-FFF2-40B4-BE49-F238E27FC236}">
                <a16:creationId xmlns:a16="http://schemas.microsoft.com/office/drawing/2014/main" id="{0B2F3F04-FC14-EA67-DF2A-2DC32BA4EA8A}"/>
              </a:ext>
            </a:extLst>
          </p:cNvPr>
          <p:cNvSpPr/>
          <p:nvPr/>
        </p:nvSpPr>
        <p:spPr>
          <a:xfrm>
            <a:off x="-4" y="2280092"/>
            <a:ext cx="12192004" cy="2342493"/>
          </a:xfrm>
          <a:prstGeom prst="rect">
            <a:avLst/>
          </a:prstGeom>
          <a:gradFill>
            <a:gsLst>
              <a:gs pos="0">
                <a:schemeClr val="accent1">
                  <a:tint val="100000"/>
                  <a:shade val="100000"/>
                  <a:satMod val="130000"/>
                  <a:lumMod val="0"/>
                  <a:lumOff val="100000"/>
                  <a:alpha val="51049"/>
                </a:schemeClr>
              </a:gs>
              <a:gs pos="100000">
                <a:schemeClr val="accent1">
                  <a:tint val="50000"/>
                  <a:shade val="100000"/>
                  <a:satMod val="35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87" name="Google Shape;87;p1"/>
          <p:cNvSpPr txBox="1">
            <a:spLocks noGrp="1"/>
          </p:cNvSpPr>
          <p:nvPr>
            <p:ph type="ctrTitle"/>
          </p:nvPr>
        </p:nvSpPr>
        <p:spPr>
          <a:xfrm>
            <a:off x="-4" y="73155"/>
            <a:ext cx="12192000" cy="1184523"/>
          </a:xfrm>
          <a:prstGeom prst="rect">
            <a:avLst/>
          </a:prstGeom>
          <a:noFill/>
          <a:ln>
            <a:noFill/>
          </a:ln>
        </p:spPr>
        <p:txBody>
          <a:bodyPr spcFirstLastPara="1" wrap="square" lIns="91425" tIns="45700" rIns="91425" bIns="45700" anchor="ctr" anchorCtr="0">
            <a:noAutofit/>
          </a:bodyPr>
          <a:lstStyle/>
          <a:p>
            <a:pPr lvl="0">
              <a:buSzPct val="100000"/>
            </a:pPr>
            <a:r>
              <a:rPr lang="en-US" sz="4400" b="0" kern="1200" dirty="0">
                <a:solidFill>
                  <a:srgbClr val="0022F5"/>
                </a:solidFill>
                <a:latin typeface="Baskerville" panose="02020502070401020303" pitchFamily="18" charset="0"/>
                <a:ea typeface="Baskerville" panose="02020502070401020303" pitchFamily="18" charset="0"/>
                <a:cs typeface="+mn-cs"/>
              </a:rPr>
              <a:t>DATA-3: Single Salt Analysis</a:t>
            </a:r>
            <a:endParaRPr lang="en-US" sz="4000" dirty="0">
              <a:solidFill>
                <a:srgbClr val="0022F5"/>
              </a:solidFill>
            </a:endParaRPr>
          </a:p>
        </p:txBody>
      </p:sp>
      <p:sp>
        <p:nvSpPr>
          <p:cNvPr id="7" name="Subtitle 2">
            <a:extLst>
              <a:ext uri="{FF2B5EF4-FFF2-40B4-BE49-F238E27FC236}">
                <a16:creationId xmlns:a16="http://schemas.microsoft.com/office/drawing/2014/main" id="{52275AFC-6E58-4F7D-85DA-86F8E363062F}"/>
              </a:ext>
            </a:extLst>
          </p:cNvPr>
          <p:cNvSpPr txBox="1">
            <a:spLocks/>
          </p:cNvSpPr>
          <p:nvPr/>
        </p:nvSpPr>
        <p:spPr>
          <a:xfrm>
            <a:off x="1900320" y="4731704"/>
            <a:ext cx="8391356" cy="22405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800" b="1" dirty="0">
                <a:latin typeface="Baskerville" panose="02020502070401020303" pitchFamily="18" charset="0"/>
                <a:ea typeface="Baskerville" panose="02020502070401020303" pitchFamily="18" charset="0"/>
              </a:rPr>
              <a:t>Keshav Kasturi Rangan</a:t>
            </a:r>
          </a:p>
          <a:p>
            <a:pPr marL="0" indent="0" algn="ctr">
              <a:buNone/>
            </a:pPr>
            <a:endParaRPr lang="en-US" sz="1800" dirty="0">
              <a:latin typeface="Baskerville" panose="02020502070401020303" pitchFamily="18" charset="0"/>
              <a:ea typeface="Baskerville" panose="02020502070401020303" pitchFamily="18" charset="0"/>
            </a:endParaRPr>
          </a:p>
          <a:p>
            <a:pPr marL="0" indent="0" algn="ctr">
              <a:buNone/>
            </a:pPr>
            <a:r>
              <a:rPr lang="en-US" sz="2400" dirty="0">
                <a:latin typeface="Baskerville" panose="02020502070401020303" pitchFamily="18" charset="0"/>
                <a:ea typeface="Baskerville" panose="02020502070401020303" pitchFamily="18" charset="0"/>
                <a:cs typeface="CMU Sans Serif Medium" charset="0"/>
              </a:rPr>
              <a:t>Group Meeting</a:t>
            </a:r>
            <a:br>
              <a:rPr lang="en-US" sz="2400" dirty="0">
                <a:latin typeface="Baskerville" panose="02020502070401020303" pitchFamily="18" charset="0"/>
                <a:ea typeface="Baskerville" panose="02020502070401020303" pitchFamily="18" charset="0"/>
                <a:cs typeface="CMU Sans Serif Medium" charset="0"/>
              </a:rPr>
            </a:br>
            <a:endParaRPr lang="en-US" sz="2400" dirty="0">
              <a:latin typeface="Baskerville" panose="02020502070401020303" pitchFamily="18" charset="0"/>
              <a:ea typeface="Baskerville" panose="02020502070401020303" pitchFamily="18" charset="0"/>
              <a:cs typeface="CMU Sans Serif Medium" charset="0"/>
            </a:endParaRPr>
          </a:p>
          <a:p>
            <a:pPr marL="0" indent="0" algn="ctr">
              <a:buNone/>
            </a:pPr>
            <a:r>
              <a:rPr lang="en-US" sz="1800" dirty="0">
                <a:latin typeface="Baskerville" panose="02020502070401020303" pitchFamily="18" charset="0"/>
                <a:ea typeface="Baskerville" panose="02020502070401020303" pitchFamily="18" charset="0"/>
                <a:cs typeface="CMU Sans Serif Medium" charset="0"/>
              </a:rPr>
              <a:t>May 20, 2026</a:t>
            </a:r>
          </a:p>
        </p:txBody>
      </p:sp>
      <p:pic>
        <p:nvPicPr>
          <p:cNvPr id="12" name="Graphic 11" descr="Laptop outline">
            <a:extLst>
              <a:ext uri="{FF2B5EF4-FFF2-40B4-BE49-F238E27FC236}">
                <a16:creationId xmlns:a16="http://schemas.microsoft.com/office/drawing/2014/main" id="{AC631908-BEAB-4111-8A6D-E68D8DA18D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67170" y="2084502"/>
            <a:ext cx="2688995" cy="2688995"/>
          </a:xfrm>
          <a:prstGeom prst="rect">
            <a:avLst/>
          </a:prstGeom>
        </p:spPr>
      </p:pic>
      <p:cxnSp>
        <p:nvCxnSpPr>
          <p:cNvPr id="18" name="Straight Arrow Connector 17">
            <a:extLst>
              <a:ext uri="{FF2B5EF4-FFF2-40B4-BE49-F238E27FC236}">
                <a16:creationId xmlns:a16="http://schemas.microsoft.com/office/drawing/2014/main" id="{8860FEE7-11A4-8BB9-493C-DED9ADD8470B}"/>
              </a:ext>
            </a:extLst>
          </p:cNvPr>
          <p:cNvCxnSpPr/>
          <p:nvPr/>
        </p:nvCxnSpPr>
        <p:spPr>
          <a:xfrm>
            <a:off x="6338457" y="2798618"/>
            <a:ext cx="2431473" cy="0"/>
          </a:xfrm>
          <a:prstGeom prst="straightConnector1">
            <a:avLst/>
          </a:prstGeom>
          <a:ln w="76200">
            <a:solidFill>
              <a:schemeClr val="tx2">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3A60E30-1307-1333-A2EE-59F495F57048}"/>
              </a:ext>
            </a:extLst>
          </p:cNvPr>
          <p:cNvCxnSpPr>
            <a:cxnSpLocks/>
          </p:cNvCxnSpPr>
          <p:nvPr/>
        </p:nvCxnSpPr>
        <p:spPr>
          <a:xfrm flipH="1">
            <a:off x="6368811" y="4087091"/>
            <a:ext cx="2370764" cy="0"/>
          </a:xfrm>
          <a:prstGeom prst="straightConnector1">
            <a:avLst/>
          </a:prstGeom>
          <a:ln w="76200">
            <a:solidFill>
              <a:schemeClr val="tx2">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Google Shape;87;p1">
            <a:extLst>
              <a:ext uri="{FF2B5EF4-FFF2-40B4-BE49-F238E27FC236}">
                <a16:creationId xmlns:a16="http://schemas.microsoft.com/office/drawing/2014/main" id="{22397273-8049-FF5A-D6D2-2C34A9E2A28B}"/>
              </a:ext>
            </a:extLst>
          </p:cNvPr>
          <p:cNvSpPr txBox="1">
            <a:spLocks/>
          </p:cNvSpPr>
          <p:nvPr/>
        </p:nvSpPr>
        <p:spPr>
          <a:xfrm>
            <a:off x="5987715" y="3049824"/>
            <a:ext cx="3132955" cy="80302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6000"/>
              <a:buFont typeface="Arial"/>
              <a:buNone/>
              <a:defRPr sz="6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ct val="100000"/>
            </a:pPr>
            <a:r>
              <a:rPr lang="en-US" sz="2800" b="0" kern="1200" dirty="0">
                <a:solidFill>
                  <a:schemeClr val="tx1"/>
                </a:solidFill>
                <a:latin typeface="Baskerville" panose="02020502070401020303" pitchFamily="18" charset="0"/>
                <a:ea typeface="Baskerville" panose="02020502070401020303" pitchFamily="18" charset="0"/>
                <a:cs typeface="+mn-cs"/>
              </a:rPr>
              <a:t>Digital Model (Current Setup)</a:t>
            </a:r>
            <a:endParaRPr lang="en-US" sz="2800" dirty="0">
              <a:solidFill>
                <a:schemeClr val="tx1"/>
              </a:solidFill>
            </a:endParaRPr>
          </a:p>
        </p:txBody>
      </p:sp>
      <p:pic>
        <p:nvPicPr>
          <p:cNvPr id="23" name="Picture 22">
            <a:extLst>
              <a:ext uri="{FF2B5EF4-FFF2-40B4-BE49-F238E27FC236}">
                <a16:creationId xmlns:a16="http://schemas.microsoft.com/office/drawing/2014/main" id="{8EE2D3EF-44CA-6A8C-8F8C-0F3F56207E2D}"/>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875" y="2281379"/>
            <a:ext cx="6082918" cy="234249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01 · CODE STRUCTURE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01</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How the workflow is organized — roots, trunk, branches</a:t>
            </a:r>
          </a:p>
        </p:txBody>
      </p:sp>
      <p:sp>
        <p:nvSpPr>
          <p:cNvPr id="7" name="Rectangle 6"/>
          <p:cNvSpPr/>
          <p:nvPr/>
        </p:nvSpPr>
        <p:spPr>
          <a:xfrm>
            <a:off x="457200" y="1417320"/>
            <a:ext cx="361188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36118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44752"/>
            <a:ext cx="3611880" cy="329184"/>
          </a:xfrm>
          <a:prstGeom prst="rect">
            <a:avLst/>
          </a:prstGeom>
          <a:noFill/>
        </p:spPr>
        <p:txBody>
          <a:bodyPr wrap="square" lIns="0" tIns="0" rIns="0" bIns="0" anchor="ctr">
            <a:spAutoFit/>
          </a:bodyPr>
          <a:lstStyle/>
          <a:p>
            <a:pPr algn="ctr"/>
            <a:r>
              <a:rPr sz="1400" b="1" i="0">
                <a:solidFill>
                  <a:srgbClr val="FFFFFF"/>
                </a:solidFill>
                <a:latin typeface="Calibri"/>
              </a:rPr>
              <a:t>ROOTS — loaders</a:t>
            </a:r>
          </a:p>
        </p:txBody>
      </p:sp>
      <p:sp>
        <p:nvSpPr>
          <p:cNvPr id="10" name="TextBox 9"/>
          <p:cNvSpPr txBox="1"/>
          <p:nvPr/>
        </p:nvSpPr>
        <p:spPr>
          <a:xfrm>
            <a:off x="685800" y="1920240"/>
            <a:ext cx="3200400" cy="320040"/>
          </a:xfrm>
          <a:prstGeom prst="rect">
            <a:avLst/>
          </a:prstGeom>
          <a:noFill/>
        </p:spPr>
        <p:txBody>
          <a:bodyPr wrap="square" lIns="0" tIns="0" rIns="0" bIns="0" anchor="t">
            <a:spAutoFit/>
          </a:bodyPr>
          <a:lstStyle/>
          <a:p>
            <a:pPr algn="l"/>
            <a:r>
              <a:rPr sz="1200" b="1" i="0">
                <a:solidFill>
                  <a:srgbClr val="065A82"/>
                </a:solidFill>
                <a:latin typeface="Consolas"/>
              </a:rPr>
              <a:t>loadmat(path)</a:t>
            </a:r>
          </a:p>
        </p:txBody>
      </p:sp>
      <p:sp>
        <p:nvSpPr>
          <p:cNvPr id="11" name="TextBox 10"/>
          <p:cNvSpPr txBox="1"/>
          <p:nvPr/>
        </p:nvSpPr>
        <p:spPr>
          <a:xfrm>
            <a:off x="777240" y="2240280"/>
            <a:ext cx="3108960" cy="365760"/>
          </a:xfrm>
          <a:prstGeom prst="rect">
            <a:avLst/>
          </a:prstGeom>
          <a:noFill/>
        </p:spPr>
        <p:txBody>
          <a:bodyPr wrap="square" lIns="0" tIns="0" rIns="0" bIns="0" anchor="t">
            <a:spAutoFit/>
          </a:bodyPr>
          <a:lstStyle/>
          <a:p>
            <a:pPr algn="l"/>
            <a:r>
              <a:rPr sz="1000" b="0" i="0">
                <a:solidFill>
                  <a:srgbClr val="1E293B"/>
                </a:solidFill>
                <a:latin typeface="Calibri"/>
              </a:rPr>
              <a:t>DATA1 / DATA2  (.mat experiment files)</a:t>
            </a:r>
          </a:p>
        </p:txBody>
      </p:sp>
      <p:sp>
        <p:nvSpPr>
          <p:cNvPr id="12" name="TextBox 11"/>
          <p:cNvSpPr txBox="1"/>
          <p:nvPr/>
        </p:nvSpPr>
        <p:spPr>
          <a:xfrm>
            <a:off x="685800" y="2651760"/>
            <a:ext cx="3200400" cy="320040"/>
          </a:xfrm>
          <a:prstGeom prst="rect">
            <a:avLst/>
          </a:prstGeom>
          <a:noFill/>
        </p:spPr>
        <p:txBody>
          <a:bodyPr wrap="square" lIns="0" tIns="0" rIns="0" bIns="0" anchor="t">
            <a:spAutoFit/>
          </a:bodyPr>
          <a:lstStyle/>
          <a:p>
            <a:pPr algn="l"/>
            <a:r>
              <a:rPr sz="1200" b="1" i="0">
                <a:solidFill>
                  <a:srgbClr val="065A82"/>
                </a:solidFill>
                <a:latin typeface="Consolas"/>
              </a:rPr>
              <a:t>loadxlsx(path, sheet=…)</a:t>
            </a:r>
          </a:p>
        </p:txBody>
      </p:sp>
      <p:sp>
        <p:nvSpPr>
          <p:cNvPr id="13" name="TextBox 12"/>
          <p:cNvSpPr txBox="1"/>
          <p:nvPr/>
        </p:nvSpPr>
        <p:spPr>
          <a:xfrm>
            <a:off x="777240" y="2971800"/>
            <a:ext cx="3108960" cy="365760"/>
          </a:xfrm>
          <a:prstGeom prst="rect">
            <a:avLst/>
          </a:prstGeom>
          <a:noFill/>
        </p:spPr>
        <p:txBody>
          <a:bodyPr wrap="square" lIns="0" tIns="0" rIns="0" bIns="0" anchor="t">
            <a:spAutoFit/>
          </a:bodyPr>
          <a:lstStyle/>
          <a:p>
            <a:pPr algn="l"/>
            <a:r>
              <a:rPr sz="1000" b="0" i="0">
                <a:solidFill>
                  <a:srgbClr val="1E293B"/>
                </a:solidFill>
                <a:latin typeface="Calibri"/>
              </a:rPr>
              <a:t>DATA3 / NF270  (.xlsx campaign files)</a:t>
            </a:r>
          </a:p>
        </p:txBody>
      </p:sp>
      <p:sp>
        <p:nvSpPr>
          <p:cNvPr id="14" name="TextBox 13"/>
          <p:cNvSpPr txBox="1"/>
          <p:nvPr/>
        </p:nvSpPr>
        <p:spPr>
          <a:xfrm>
            <a:off x="685800" y="3429000"/>
            <a:ext cx="3200400" cy="640080"/>
          </a:xfrm>
          <a:prstGeom prst="rect">
            <a:avLst/>
          </a:prstGeom>
          <a:noFill/>
        </p:spPr>
        <p:txBody>
          <a:bodyPr wrap="square" lIns="0" tIns="0" rIns="0" bIns="0" anchor="t">
            <a:spAutoFit/>
          </a:bodyPr>
          <a:lstStyle/>
          <a:p>
            <a:pPr algn="l"/>
            <a:r>
              <a:rPr sz="1000" b="0" i="1">
                <a:solidFill>
                  <a:srgbClr val="64748B"/>
                </a:solidFill>
                <a:latin typeface="Calibri"/>
              </a:rPr>
              <a:t>Both return the same data_stru dict shape:
data_config + data_raw[vial].</a:t>
            </a:r>
          </a:p>
        </p:txBody>
      </p:sp>
      <p:sp>
        <p:nvSpPr>
          <p:cNvPr id="15" name="TextBox 14"/>
          <p:cNvSpPr txBox="1"/>
          <p:nvPr/>
        </p:nvSpPr>
        <p:spPr>
          <a:xfrm>
            <a:off x="685800" y="4160520"/>
            <a:ext cx="3200400" cy="1645920"/>
          </a:xfrm>
          <a:prstGeom prst="rect">
            <a:avLst/>
          </a:prstGeom>
          <a:noFill/>
        </p:spPr>
        <p:txBody>
          <a:bodyPr wrap="square" lIns="0" tIns="0" rIns="0" bIns="0" anchor="t">
            <a:spAutoFit/>
          </a:bodyPr>
          <a:lstStyle/>
          <a:p>
            <a:pPr algn="l"/>
            <a:r>
              <a:rPr sz="900" b="0" i="0" dirty="0" err="1">
                <a:solidFill>
                  <a:srgbClr val="1E293B"/>
                </a:solidFill>
                <a:latin typeface="Consolas"/>
              </a:rPr>
              <a:t>data_config</a:t>
            </a:r>
            <a:r>
              <a:rPr sz="900" b="0" i="0" dirty="0">
                <a:solidFill>
                  <a:srgbClr val="1E293B"/>
                </a:solidFill>
                <a:latin typeface="Consolas"/>
              </a:rPr>
              <a:t>:
  n, n_v0, </a:t>
            </a:r>
            <a:r>
              <a:rPr sz="900" b="0" i="0" dirty="0" err="1">
                <a:solidFill>
                  <a:srgbClr val="1E293B"/>
                </a:solidFill>
                <a:latin typeface="Consolas"/>
              </a:rPr>
              <a:t>n_extra</a:t>
            </a:r>
            <a:r>
              <a:rPr sz="900" b="0" i="0" dirty="0">
                <a:solidFill>
                  <a:srgbClr val="1E293B"/>
                </a:solidFill>
                <a:latin typeface="Consolas"/>
              </a:rPr>
              <a:t>, </a:t>
            </a:r>
            <a:r>
              <a:rPr sz="900" b="0" i="0" dirty="0" err="1">
                <a:solidFill>
                  <a:srgbClr val="1E293B"/>
                </a:solidFill>
                <a:latin typeface="Consolas"/>
              </a:rPr>
              <a:t>n_h</a:t>
            </a:r>
            <a:r>
              <a:rPr sz="900" b="0" i="0" dirty="0">
                <a:solidFill>
                  <a:srgbClr val="1E293B"/>
                </a:solidFill>
                <a:latin typeface="Consolas"/>
              </a:rPr>
              <a:t>, </a:t>
            </a:r>
            <a:r>
              <a:rPr sz="900" b="0" i="0" dirty="0" err="1">
                <a:solidFill>
                  <a:srgbClr val="1E293B"/>
                </a:solidFill>
                <a:latin typeface="Consolas"/>
              </a:rPr>
              <a:t>n_A</a:t>
            </a:r>
            <a:r>
              <a:rPr sz="900" b="0" i="0" dirty="0">
                <a:solidFill>
                  <a:srgbClr val="1E293B"/>
                </a:solidFill>
                <a:latin typeface="Consolas"/>
              </a:rPr>
              <a:t>
  M_F0, M_O, C_F0, C_D
  </a:t>
            </a:r>
            <a:r>
              <a:rPr sz="900" b="0" i="0" dirty="0" err="1">
                <a:solidFill>
                  <a:srgbClr val="1E293B"/>
                </a:solidFill>
                <a:latin typeface="Consolas"/>
              </a:rPr>
              <a:t>delP</a:t>
            </a:r>
            <a:r>
              <a:rPr sz="900" b="0" i="0" dirty="0">
                <a:solidFill>
                  <a:srgbClr val="1E293B"/>
                </a:solidFill>
                <a:latin typeface="Consolas"/>
              </a:rPr>
              <a:t>, Temp, Am, rho
  Lp0, B0, sigma0, theta0
</a:t>
            </a:r>
            <a:r>
              <a:rPr sz="900" b="0" i="0" dirty="0" err="1">
                <a:solidFill>
                  <a:srgbClr val="1E293B"/>
                </a:solidFill>
                <a:latin typeface="Consolas"/>
              </a:rPr>
              <a:t>data_raw</a:t>
            </a:r>
            <a:r>
              <a:rPr sz="900" b="0" i="0" dirty="0">
                <a:solidFill>
                  <a:srgbClr val="1E293B"/>
                </a:solidFill>
                <a:latin typeface="Consolas"/>
              </a:rPr>
              <a:t>[</a:t>
            </a:r>
            <a:r>
              <a:rPr sz="900" b="0" i="0" dirty="0" err="1">
                <a:solidFill>
                  <a:srgbClr val="1E293B"/>
                </a:solidFill>
                <a:latin typeface="Consolas"/>
              </a:rPr>
              <a:t>i</a:t>
            </a:r>
            <a:r>
              <a:rPr sz="900" b="0" i="0" dirty="0">
                <a:solidFill>
                  <a:srgbClr val="1E293B"/>
                </a:solidFill>
                <a:latin typeface="Consolas"/>
              </a:rPr>
              <a:t>]:
  time, mass, </a:t>
            </a:r>
            <a:r>
              <a:rPr sz="900" b="0" i="0" dirty="0" err="1">
                <a:solidFill>
                  <a:srgbClr val="1E293B"/>
                </a:solidFill>
                <a:latin typeface="Consolas"/>
              </a:rPr>
              <a:t>cF_exp</a:t>
            </a:r>
            <a:r>
              <a:rPr sz="900" b="0" i="0" dirty="0">
                <a:solidFill>
                  <a:srgbClr val="1E293B"/>
                </a:solidFill>
                <a:latin typeface="Consolas"/>
              </a:rPr>
              <a:t>, </a:t>
            </a:r>
            <a:r>
              <a:rPr sz="900" b="0" i="0" dirty="0" err="1">
                <a:solidFill>
                  <a:srgbClr val="1E293B"/>
                </a:solidFill>
                <a:latin typeface="Consolas"/>
              </a:rPr>
              <a:t>cV_avg</a:t>
            </a:r>
            <a:endParaRPr sz="900" b="0" i="0" dirty="0">
              <a:solidFill>
                <a:srgbClr val="1E293B"/>
              </a:solidFill>
              <a:latin typeface="Consolas"/>
            </a:endParaRPr>
          </a:p>
        </p:txBody>
      </p:sp>
      <p:sp>
        <p:nvSpPr>
          <p:cNvPr id="16" name="Rectangle 15"/>
          <p:cNvSpPr/>
          <p:nvPr/>
        </p:nvSpPr>
        <p:spPr>
          <a:xfrm>
            <a:off x="4251960" y="1417320"/>
            <a:ext cx="370332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51960" y="1417320"/>
            <a:ext cx="370332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1444752"/>
            <a:ext cx="3703320" cy="329184"/>
          </a:xfrm>
          <a:prstGeom prst="rect">
            <a:avLst/>
          </a:prstGeom>
          <a:noFill/>
        </p:spPr>
        <p:txBody>
          <a:bodyPr wrap="square" lIns="0" tIns="0" rIns="0" bIns="0" anchor="ctr">
            <a:spAutoFit/>
          </a:bodyPr>
          <a:lstStyle/>
          <a:p>
            <a:pPr algn="ctr"/>
            <a:r>
              <a:rPr sz="1400" b="1" i="0">
                <a:solidFill>
                  <a:srgbClr val="FFFFFF"/>
                </a:solidFill>
                <a:latin typeface="Calibri"/>
              </a:rPr>
              <a:t>TRUNK — process</a:t>
            </a:r>
          </a:p>
        </p:txBody>
      </p:sp>
      <p:sp>
        <p:nvSpPr>
          <p:cNvPr id="19" name="TextBox 18"/>
          <p:cNvSpPr txBox="1"/>
          <p:nvPr/>
        </p:nvSpPr>
        <p:spPr>
          <a:xfrm>
            <a:off x="4480560" y="1920240"/>
            <a:ext cx="3291840" cy="320040"/>
          </a:xfrm>
          <a:prstGeom prst="rect">
            <a:avLst/>
          </a:prstGeom>
          <a:noFill/>
        </p:spPr>
        <p:txBody>
          <a:bodyPr wrap="square" lIns="0" tIns="0" rIns="0" bIns="0" anchor="t">
            <a:spAutoFit/>
          </a:bodyPr>
          <a:lstStyle/>
          <a:p>
            <a:pPr algn="l"/>
            <a:r>
              <a:rPr sz="1200" b="1" i="0">
                <a:solidFill>
                  <a:srgbClr val="1C7293"/>
                </a:solidFill>
                <a:latin typeface="Consolas"/>
              </a:rPr>
              <a:t>model_construct_inter</a:t>
            </a:r>
          </a:p>
        </p:txBody>
      </p:sp>
      <p:sp>
        <p:nvSpPr>
          <p:cNvPr id="20" name="TextBox 19"/>
          <p:cNvSpPr txBox="1"/>
          <p:nvPr/>
        </p:nvSpPr>
        <p:spPr>
          <a:xfrm>
            <a:off x="4572000" y="2240280"/>
            <a:ext cx="3200400" cy="274320"/>
          </a:xfrm>
          <a:prstGeom prst="rect">
            <a:avLst/>
          </a:prstGeom>
          <a:noFill/>
        </p:spPr>
        <p:txBody>
          <a:bodyPr wrap="square" lIns="0" tIns="0" rIns="0" bIns="0" anchor="t">
            <a:spAutoFit/>
          </a:bodyPr>
          <a:lstStyle/>
          <a:p>
            <a:pPr algn="l"/>
            <a:r>
              <a:rPr sz="1000" b="0" i="0">
                <a:solidFill>
                  <a:srgbClr val="1E293B"/>
                </a:solidFill>
                <a:latin typeface="Calibri"/>
              </a:rPr>
              <a:t>Pyomo IDAES model</a:t>
            </a:r>
          </a:p>
        </p:txBody>
      </p:sp>
      <p:sp>
        <p:nvSpPr>
          <p:cNvPr id="21" name="TextBox 20"/>
          <p:cNvSpPr txBox="1"/>
          <p:nvPr/>
        </p:nvSpPr>
        <p:spPr>
          <a:xfrm>
            <a:off x="4480560" y="2606040"/>
            <a:ext cx="3291840" cy="320040"/>
          </a:xfrm>
          <a:prstGeom prst="rect">
            <a:avLst/>
          </a:prstGeom>
          <a:noFill/>
        </p:spPr>
        <p:txBody>
          <a:bodyPr wrap="square" lIns="0" tIns="0" rIns="0" bIns="0" anchor="t">
            <a:spAutoFit/>
          </a:bodyPr>
          <a:lstStyle/>
          <a:p>
            <a:pPr algn="l"/>
            <a:r>
              <a:rPr sz="1200" b="1" i="0">
                <a:solidFill>
                  <a:srgbClr val="1C7293"/>
                </a:solidFill>
                <a:latin typeface="Consolas"/>
              </a:rPr>
              <a:t>solve_model(...)</a:t>
            </a:r>
          </a:p>
        </p:txBody>
      </p:sp>
      <p:sp>
        <p:nvSpPr>
          <p:cNvPr id="22" name="TextBox 21"/>
          <p:cNvSpPr txBox="1"/>
          <p:nvPr/>
        </p:nvSpPr>
        <p:spPr>
          <a:xfrm>
            <a:off x="4572000" y="2926080"/>
            <a:ext cx="3200400" cy="274320"/>
          </a:xfrm>
          <a:prstGeom prst="rect">
            <a:avLst/>
          </a:prstGeom>
          <a:noFill/>
        </p:spPr>
        <p:txBody>
          <a:bodyPr wrap="square" lIns="0" tIns="0" rIns="0" bIns="0" anchor="t">
            <a:spAutoFit/>
          </a:bodyPr>
          <a:lstStyle/>
          <a:p>
            <a:pPr algn="l"/>
            <a:r>
              <a:rPr sz="1000" b="0" i="0">
                <a:solidFill>
                  <a:srgbClr val="1E293B"/>
                </a:solidFill>
                <a:latin typeface="Calibri"/>
              </a:rPr>
              <a:t>ParmEst + multistart</a:t>
            </a:r>
          </a:p>
        </p:txBody>
      </p:sp>
      <p:sp>
        <p:nvSpPr>
          <p:cNvPr id="23" name="TextBox 22"/>
          <p:cNvSpPr txBox="1"/>
          <p:nvPr/>
        </p:nvSpPr>
        <p:spPr>
          <a:xfrm>
            <a:off x="4480560" y="3291840"/>
            <a:ext cx="3291840" cy="320040"/>
          </a:xfrm>
          <a:prstGeom prst="rect">
            <a:avLst/>
          </a:prstGeom>
          <a:noFill/>
        </p:spPr>
        <p:txBody>
          <a:bodyPr wrap="square" lIns="0" tIns="0" rIns="0" bIns="0" anchor="t">
            <a:spAutoFit/>
          </a:bodyPr>
          <a:lstStyle/>
          <a:p>
            <a:pPr algn="l"/>
            <a:r>
              <a:rPr sz="1200" b="1" i="0">
                <a:solidFill>
                  <a:srgbClr val="1C7293"/>
                </a:solidFill>
                <a:latin typeface="Consolas"/>
              </a:rPr>
              <a:t>solve_mass_balance_only</a:t>
            </a:r>
          </a:p>
        </p:txBody>
      </p:sp>
      <p:sp>
        <p:nvSpPr>
          <p:cNvPr id="24" name="TextBox 23"/>
          <p:cNvSpPr txBox="1"/>
          <p:nvPr/>
        </p:nvSpPr>
        <p:spPr>
          <a:xfrm>
            <a:off x="4572000" y="3611880"/>
            <a:ext cx="3200400" cy="274320"/>
          </a:xfrm>
          <a:prstGeom prst="rect">
            <a:avLst/>
          </a:prstGeom>
          <a:noFill/>
        </p:spPr>
        <p:txBody>
          <a:bodyPr wrap="square" lIns="0" tIns="0" rIns="0" bIns="0" anchor="t">
            <a:spAutoFit/>
          </a:bodyPr>
          <a:lstStyle/>
          <a:p>
            <a:pPr algn="l"/>
            <a:r>
              <a:rPr sz="1000" b="0" i="0">
                <a:solidFill>
                  <a:srgbClr val="1E293B"/>
                </a:solidFill>
                <a:latin typeface="Calibri"/>
              </a:rPr>
              <a:t>σ=0 closed-form (litmus)</a:t>
            </a:r>
          </a:p>
        </p:txBody>
      </p:sp>
      <p:sp>
        <p:nvSpPr>
          <p:cNvPr id="25" name="TextBox 24"/>
          <p:cNvSpPr txBox="1"/>
          <p:nvPr/>
        </p:nvSpPr>
        <p:spPr>
          <a:xfrm>
            <a:off x="4480560" y="3977639"/>
            <a:ext cx="3291840" cy="320040"/>
          </a:xfrm>
          <a:prstGeom prst="rect">
            <a:avLst/>
          </a:prstGeom>
          <a:noFill/>
        </p:spPr>
        <p:txBody>
          <a:bodyPr wrap="square" lIns="0" tIns="0" rIns="0" bIns="0" anchor="t">
            <a:spAutoFit/>
          </a:bodyPr>
          <a:lstStyle/>
          <a:p>
            <a:pPr algn="l"/>
            <a:r>
              <a:rPr sz="1200" b="1" i="0">
                <a:solidFill>
                  <a:srgbClr val="1C7293"/>
                </a:solidFill>
                <a:latin typeface="Consolas"/>
              </a:rPr>
              <a:t>calc_FIM(...)</a:t>
            </a:r>
          </a:p>
        </p:txBody>
      </p:sp>
      <p:sp>
        <p:nvSpPr>
          <p:cNvPr id="26" name="TextBox 25"/>
          <p:cNvSpPr txBox="1"/>
          <p:nvPr/>
        </p:nvSpPr>
        <p:spPr>
          <a:xfrm>
            <a:off x="4572000" y="4297680"/>
            <a:ext cx="3200400" cy="274320"/>
          </a:xfrm>
          <a:prstGeom prst="rect">
            <a:avLst/>
          </a:prstGeom>
          <a:noFill/>
        </p:spPr>
        <p:txBody>
          <a:bodyPr wrap="square" lIns="0" tIns="0" rIns="0" bIns="0" anchor="t">
            <a:spAutoFit/>
          </a:bodyPr>
          <a:lstStyle/>
          <a:p>
            <a:pPr algn="l"/>
            <a:r>
              <a:rPr sz="1000" b="0" i="0">
                <a:solidFill>
                  <a:srgbClr val="1E293B"/>
                </a:solidFill>
                <a:latin typeface="Calibri"/>
              </a:rPr>
              <a:t>Fisher-information uncertainty</a:t>
            </a:r>
          </a:p>
        </p:txBody>
      </p:sp>
      <p:sp>
        <p:nvSpPr>
          <p:cNvPr id="27" name="TextBox 26"/>
          <p:cNvSpPr txBox="1"/>
          <p:nvPr/>
        </p:nvSpPr>
        <p:spPr>
          <a:xfrm>
            <a:off x="4480560" y="4663440"/>
            <a:ext cx="3291840" cy="320040"/>
          </a:xfrm>
          <a:prstGeom prst="rect">
            <a:avLst/>
          </a:prstGeom>
          <a:noFill/>
        </p:spPr>
        <p:txBody>
          <a:bodyPr wrap="square" lIns="0" tIns="0" rIns="0" bIns="0" anchor="t">
            <a:spAutoFit/>
          </a:bodyPr>
          <a:lstStyle/>
          <a:p>
            <a:pPr algn="l"/>
            <a:r>
              <a:rPr sz="1200" b="1" i="0">
                <a:solidFill>
                  <a:srgbClr val="1C7293"/>
                </a:solidFill>
                <a:latin typeface="Consolas"/>
              </a:rPr>
              <a:t>compute_doe_metrics</a:t>
            </a:r>
          </a:p>
        </p:txBody>
      </p:sp>
      <p:sp>
        <p:nvSpPr>
          <p:cNvPr id="28" name="TextBox 27"/>
          <p:cNvSpPr txBox="1"/>
          <p:nvPr/>
        </p:nvSpPr>
        <p:spPr>
          <a:xfrm>
            <a:off x="4572000" y="4983480"/>
            <a:ext cx="3200400" cy="274320"/>
          </a:xfrm>
          <a:prstGeom prst="rect">
            <a:avLst/>
          </a:prstGeom>
          <a:noFill/>
        </p:spPr>
        <p:txBody>
          <a:bodyPr wrap="square" lIns="0" tIns="0" rIns="0" bIns="0" anchor="t">
            <a:spAutoFit/>
          </a:bodyPr>
          <a:lstStyle/>
          <a:p>
            <a:pPr algn="l"/>
            <a:r>
              <a:rPr sz="1000" b="0" i="0">
                <a:solidFill>
                  <a:srgbClr val="1E293B"/>
                </a:solidFill>
                <a:latin typeface="Calibri"/>
              </a:rPr>
              <a:t>Pyomo.DoE D/A/E-optimality</a:t>
            </a:r>
          </a:p>
        </p:txBody>
      </p:sp>
      <p:sp>
        <p:nvSpPr>
          <p:cNvPr id="29" name="TextBox 28"/>
          <p:cNvSpPr txBox="1"/>
          <p:nvPr/>
        </p:nvSpPr>
        <p:spPr>
          <a:xfrm>
            <a:off x="4480560" y="5349240"/>
            <a:ext cx="3291840" cy="320040"/>
          </a:xfrm>
          <a:prstGeom prst="rect">
            <a:avLst/>
          </a:prstGeom>
          <a:noFill/>
        </p:spPr>
        <p:txBody>
          <a:bodyPr wrap="square" lIns="0" tIns="0" rIns="0" bIns="0" anchor="t">
            <a:spAutoFit/>
          </a:bodyPr>
          <a:lstStyle/>
          <a:p>
            <a:pPr algn="l"/>
            <a:r>
              <a:rPr sz="1200" b="1" i="0">
                <a:solidFill>
                  <a:srgbClr val="1C7293"/>
                </a:solidFill>
                <a:latin typeface="Consolas"/>
              </a:rPr>
              <a:t>design_next_experiment</a:t>
            </a:r>
          </a:p>
        </p:txBody>
      </p:sp>
      <p:sp>
        <p:nvSpPr>
          <p:cNvPr id="30" name="TextBox 29"/>
          <p:cNvSpPr txBox="1"/>
          <p:nvPr/>
        </p:nvSpPr>
        <p:spPr>
          <a:xfrm>
            <a:off x="4572000" y="5669280"/>
            <a:ext cx="3200400" cy="274320"/>
          </a:xfrm>
          <a:prstGeom prst="rect">
            <a:avLst/>
          </a:prstGeom>
          <a:noFill/>
        </p:spPr>
        <p:txBody>
          <a:bodyPr wrap="square" lIns="0" tIns="0" rIns="0" bIns="0" anchor="t">
            <a:spAutoFit/>
          </a:bodyPr>
          <a:lstStyle/>
          <a:p>
            <a:pPr algn="l"/>
            <a:r>
              <a:rPr sz="1000" b="0" i="0">
                <a:solidFill>
                  <a:srgbClr val="1E293B"/>
                </a:solidFill>
                <a:latin typeface="Calibri"/>
              </a:rPr>
              <a:t>Model discrimination output</a:t>
            </a:r>
          </a:p>
        </p:txBody>
      </p:sp>
      <p:sp>
        <p:nvSpPr>
          <p:cNvPr id="31" name="Rectangle 30"/>
          <p:cNvSpPr/>
          <p:nvPr/>
        </p:nvSpPr>
        <p:spPr>
          <a:xfrm>
            <a:off x="8138160" y="1417320"/>
            <a:ext cx="361188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38160" y="1417320"/>
            <a:ext cx="361188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38160" y="1444752"/>
            <a:ext cx="3611880" cy="329184"/>
          </a:xfrm>
          <a:prstGeom prst="rect">
            <a:avLst/>
          </a:prstGeom>
          <a:noFill/>
        </p:spPr>
        <p:txBody>
          <a:bodyPr wrap="square" lIns="0" tIns="0" rIns="0" bIns="0" anchor="ctr">
            <a:spAutoFit/>
          </a:bodyPr>
          <a:lstStyle/>
          <a:p>
            <a:pPr algn="ctr"/>
            <a:r>
              <a:rPr sz="1400" b="1" i="0">
                <a:solidFill>
                  <a:srgbClr val="21295C"/>
                </a:solidFill>
                <a:latin typeface="Calibri"/>
              </a:rPr>
              <a:t>BRANCHES — outputs</a:t>
            </a:r>
          </a:p>
        </p:txBody>
      </p:sp>
      <p:sp>
        <p:nvSpPr>
          <p:cNvPr id="34" name="TextBox 33"/>
          <p:cNvSpPr txBox="1"/>
          <p:nvPr/>
        </p:nvSpPr>
        <p:spPr>
          <a:xfrm>
            <a:off x="8366760" y="1920240"/>
            <a:ext cx="3291840" cy="320040"/>
          </a:xfrm>
          <a:prstGeom prst="rect">
            <a:avLst/>
          </a:prstGeom>
          <a:noFill/>
        </p:spPr>
        <p:txBody>
          <a:bodyPr wrap="square" lIns="0" tIns="0" rIns="0" bIns="0" anchor="t">
            <a:spAutoFit/>
          </a:bodyPr>
          <a:lstStyle/>
          <a:p>
            <a:pPr algn="l"/>
            <a:r>
              <a:rPr sz="1200" b="1" i="0">
                <a:solidFill>
                  <a:srgbClr val="02C39A"/>
                </a:solidFill>
                <a:latin typeface="Consolas"/>
              </a:rPr>
              <a:t>plot_sim_comparison</a:t>
            </a:r>
          </a:p>
        </p:txBody>
      </p:sp>
      <p:sp>
        <p:nvSpPr>
          <p:cNvPr id="35" name="TextBox 34"/>
          <p:cNvSpPr txBox="1"/>
          <p:nvPr/>
        </p:nvSpPr>
        <p:spPr>
          <a:xfrm>
            <a:off x="8458200" y="2240280"/>
            <a:ext cx="3200400" cy="274320"/>
          </a:xfrm>
          <a:prstGeom prst="rect">
            <a:avLst/>
          </a:prstGeom>
          <a:noFill/>
        </p:spPr>
        <p:txBody>
          <a:bodyPr wrap="square" lIns="0" tIns="0" rIns="0" bIns="0" anchor="t">
            <a:spAutoFit/>
          </a:bodyPr>
          <a:lstStyle/>
          <a:p>
            <a:pPr algn="l"/>
            <a:r>
              <a:rPr sz="1000" b="0" i="0">
                <a:solidFill>
                  <a:srgbClr val="1E293B"/>
                </a:solidFill>
                <a:latin typeface="Calibri"/>
              </a:rPr>
              <a:t>mass + conc + (stirred-cell)</a:t>
            </a:r>
          </a:p>
        </p:txBody>
      </p:sp>
      <p:sp>
        <p:nvSpPr>
          <p:cNvPr id="36" name="TextBox 35"/>
          <p:cNvSpPr txBox="1"/>
          <p:nvPr/>
        </p:nvSpPr>
        <p:spPr>
          <a:xfrm>
            <a:off x="8366760" y="2606040"/>
            <a:ext cx="3291840" cy="320040"/>
          </a:xfrm>
          <a:prstGeom prst="rect">
            <a:avLst/>
          </a:prstGeom>
          <a:noFill/>
        </p:spPr>
        <p:txBody>
          <a:bodyPr wrap="square" lIns="0" tIns="0" rIns="0" bIns="0" anchor="t">
            <a:spAutoFit/>
          </a:bodyPr>
          <a:lstStyle/>
          <a:p>
            <a:pPr algn="l"/>
            <a:r>
              <a:rPr sz="1200" b="1" i="0">
                <a:solidFill>
                  <a:srgbClr val="02C39A"/>
                </a:solidFill>
                <a:latin typeface="Consolas"/>
              </a:rPr>
              <a:t>render_*_parameters_table</a:t>
            </a:r>
          </a:p>
        </p:txBody>
      </p:sp>
      <p:sp>
        <p:nvSpPr>
          <p:cNvPr id="37" name="TextBox 36"/>
          <p:cNvSpPr txBox="1"/>
          <p:nvPr/>
        </p:nvSpPr>
        <p:spPr>
          <a:xfrm>
            <a:off x="8458200" y="2926080"/>
            <a:ext cx="3200400" cy="274320"/>
          </a:xfrm>
          <a:prstGeom prst="rect">
            <a:avLst/>
          </a:prstGeom>
          <a:noFill/>
        </p:spPr>
        <p:txBody>
          <a:bodyPr wrap="square" lIns="0" tIns="0" rIns="0" bIns="0" anchor="t">
            <a:spAutoFit/>
          </a:bodyPr>
          <a:lstStyle/>
          <a:p>
            <a:pPr algn="l"/>
            <a:r>
              <a:rPr sz="1000" b="0" i="0">
                <a:solidFill>
                  <a:srgbClr val="1E293B"/>
                </a:solidFill>
                <a:latin typeface="Calibri"/>
              </a:rPr>
              <a:t>per-campaign param tables</a:t>
            </a:r>
          </a:p>
        </p:txBody>
      </p:sp>
      <p:sp>
        <p:nvSpPr>
          <p:cNvPr id="38" name="TextBox 37"/>
          <p:cNvSpPr txBox="1"/>
          <p:nvPr/>
        </p:nvSpPr>
        <p:spPr>
          <a:xfrm>
            <a:off x="8366760" y="3291840"/>
            <a:ext cx="3291840" cy="320040"/>
          </a:xfrm>
          <a:prstGeom prst="rect">
            <a:avLst/>
          </a:prstGeom>
          <a:noFill/>
        </p:spPr>
        <p:txBody>
          <a:bodyPr wrap="square" lIns="0" tIns="0" rIns="0" bIns="0" anchor="t">
            <a:spAutoFit/>
          </a:bodyPr>
          <a:lstStyle/>
          <a:p>
            <a:pPr algn="l"/>
            <a:r>
              <a:rPr sz="1200" b="1" i="0">
                <a:solidFill>
                  <a:srgbClr val="02C39A"/>
                </a:solidFill>
                <a:latin typeface="Consolas"/>
              </a:rPr>
              <a:t>plot_contour</a:t>
            </a:r>
          </a:p>
        </p:txBody>
      </p:sp>
      <p:sp>
        <p:nvSpPr>
          <p:cNvPr id="39" name="TextBox 38"/>
          <p:cNvSpPr txBox="1"/>
          <p:nvPr/>
        </p:nvSpPr>
        <p:spPr>
          <a:xfrm>
            <a:off x="8458200" y="3611880"/>
            <a:ext cx="3200400" cy="274320"/>
          </a:xfrm>
          <a:prstGeom prst="rect">
            <a:avLst/>
          </a:prstGeom>
          <a:noFill/>
        </p:spPr>
        <p:txBody>
          <a:bodyPr wrap="square" lIns="0" tIns="0" rIns="0" bIns="0" anchor="t">
            <a:spAutoFit/>
          </a:bodyPr>
          <a:lstStyle/>
          <a:p>
            <a:pPr algn="l"/>
            <a:r>
              <a:rPr sz="1000" b="0" i="0">
                <a:solidFill>
                  <a:srgbClr val="1E293B"/>
                </a:solidFill>
                <a:latin typeface="Calibri"/>
              </a:rPr>
              <a:t>FIM heatmap / σ-sensitivity</a:t>
            </a:r>
          </a:p>
        </p:txBody>
      </p:sp>
      <p:sp>
        <p:nvSpPr>
          <p:cNvPr id="40" name="TextBox 39"/>
          <p:cNvSpPr txBox="1"/>
          <p:nvPr/>
        </p:nvSpPr>
        <p:spPr>
          <a:xfrm>
            <a:off x="8366760" y="3977639"/>
            <a:ext cx="3291840" cy="320040"/>
          </a:xfrm>
          <a:prstGeom prst="rect">
            <a:avLst/>
          </a:prstGeom>
          <a:noFill/>
        </p:spPr>
        <p:txBody>
          <a:bodyPr wrap="square" lIns="0" tIns="0" rIns="0" bIns="0" anchor="t">
            <a:spAutoFit/>
          </a:bodyPr>
          <a:lstStyle/>
          <a:p>
            <a:pPr algn="l"/>
            <a:r>
              <a:rPr sz="1200" b="1" i="0">
                <a:solidFill>
                  <a:srgbClr val="02C39A"/>
                </a:solidFill>
                <a:latin typeface="Consolas"/>
              </a:rPr>
              <a:t>render_nf270_fit_v2</a:t>
            </a:r>
          </a:p>
        </p:txBody>
      </p:sp>
      <p:sp>
        <p:nvSpPr>
          <p:cNvPr id="41" name="TextBox 40"/>
          <p:cNvSpPr txBox="1"/>
          <p:nvPr/>
        </p:nvSpPr>
        <p:spPr>
          <a:xfrm>
            <a:off x="8458200" y="4297680"/>
            <a:ext cx="3200400" cy="274320"/>
          </a:xfrm>
          <a:prstGeom prst="rect">
            <a:avLst/>
          </a:prstGeom>
          <a:noFill/>
        </p:spPr>
        <p:txBody>
          <a:bodyPr wrap="square" lIns="0" tIns="0" rIns="0" bIns="0" anchor="t">
            <a:spAutoFit/>
          </a:bodyPr>
          <a:lstStyle/>
          <a:p>
            <a:pPr algn="l"/>
            <a:r>
              <a:rPr sz="1000" b="0" i="0">
                <a:solidFill>
                  <a:srgbClr val="1E293B"/>
                </a:solidFill>
                <a:latin typeface="Calibri"/>
              </a:rPr>
              <a:t>NF270 saw-tooth + ICP overlay</a:t>
            </a:r>
          </a:p>
        </p:txBody>
      </p:sp>
      <p:sp>
        <p:nvSpPr>
          <p:cNvPr id="42" name="TextBox 41"/>
          <p:cNvSpPr txBox="1"/>
          <p:nvPr/>
        </p:nvSpPr>
        <p:spPr>
          <a:xfrm>
            <a:off x="8366760" y="4663440"/>
            <a:ext cx="3291840" cy="320040"/>
          </a:xfrm>
          <a:prstGeom prst="rect">
            <a:avLst/>
          </a:prstGeom>
          <a:noFill/>
        </p:spPr>
        <p:txBody>
          <a:bodyPr wrap="square" lIns="0" tIns="0" rIns="0" bIns="0" anchor="t">
            <a:spAutoFit/>
          </a:bodyPr>
          <a:lstStyle/>
          <a:p>
            <a:pPr algn="l"/>
            <a:r>
              <a:rPr sz="1200" b="1" i="0">
                <a:solidFill>
                  <a:srgbClr val="02C39A"/>
                </a:solidFill>
                <a:latin typeface="Consolas"/>
              </a:rPr>
              <a:t>report_paper_coverage</a:t>
            </a:r>
          </a:p>
        </p:txBody>
      </p:sp>
      <p:sp>
        <p:nvSpPr>
          <p:cNvPr id="43" name="TextBox 42"/>
          <p:cNvSpPr txBox="1"/>
          <p:nvPr/>
        </p:nvSpPr>
        <p:spPr>
          <a:xfrm>
            <a:off x="8458200" y="4983480"/>
            <a:ext cx="3200400" cy="274320"/>
          </a:xfrm>
          <a:prstGeom prst="rect">
            <a:avLst/>
          </a:prstGeom>
          <a:noFill/>
        </p:spPr>
        <p:txBody>
          <a:bodyPr wrap="square" lIns="0" tIns="0" rIns="0" bIns="0" anchor="t">
            <a:spAutoFit/>
          </a:bodyPr>
          <a:lstStyle/>
          <a:p>
            <a:pPr algn="l"/>
            <a:r>
              <a:rPr sz="1000" b="0" i="0">
                <a:solidFill>
                  <a:srgbClr val="1E293B"/>
                </a:solidFill>
                <a:latin typeface="Calibri"/>
              </a:rPr>
              <a:t>checklist vs published figs</a:t>
            </a:r>
          </a:p>
        </p:txBody>
      </p:sp>
      <p:sp>
        <p:nvSpPr>
          <p:cNvPr id="44" name="TextBox 43"/>
          <p:cNvSpPr txBox="1"/>
          <p:nvPr/>
        </p:nvSpPr>
        <p:spPr>
          <a:xfrm>
            <a:off x="8366760" y="5349240"/>
            <a:ext cx="3291840" cy="320040"/>
          </a:xfrm>
          <a:prstGeom prst="rect">
            <a:avLst/>
          </a:prstGeom>
          <a:noFill/>
        </p:spPr>
        <p:txBody>
          <a:bodyPr wrap="square" lIns="0" tIns="0" rIns="0" bIns="0" anchor="t">
            <a:spAutoFit/>
          </a:bodyPr>
          <a:lstStyle/>
          <a:p>
            <a:pPr algn="l"/>
            <a:r>
              <a:rPr sz="1200" b="1" i="0">
                <a:solidFill>
                  <a:srgbClr val="02C39A"/>
                </a:solidFill>
                <a:latin typeface="Consolas"/>
              </a:rPr>
              <a:t>run_data3_time_series_plots</a:t>
            </a:r>
          </a:p>
        </p:txBody>
      </p:sp>
      <p:sp>
        <p:nvSpPr>
          <p:cNvPr id="45" name="TextBox 44"/>
          <p:cNvSpPr txBox="1"/>
          <p:nvPr/>
        </p:nvSpPr>
        <p:spPr>
          <a:xfrm>
            <a:off x="8458200" y="5669280"/>
            <a:ext cx="3200400" cy="274320"/>
          </a:xfrm>
          <a:prstGeom prst="rect">
            <a:avLst/>
          </a:prstGeom>
          <a:noFill/>
        </p:spPr>
        <p:txBody>
          <a:bodyPr wrap="square" lIns="0" tIns="0" rIns="0" bIns="0" anchor="t">
            <a:spAutoFit/>
          </a:bodyPr>
          <a:lstStyle/>
          <a:p>
            <a:pPr algn="l"/>
            <a:r>
              <a:rPr sz="1000" b="0" i="0">
                <a:solidFill>
                  <a:srgbClr val="1E293B"/>
                </a:solidFill>
                <a:latin typeface="Calibri"/>
              </a:rPr>
              <a:t>DATA3 custom-file figures</a:t>
            </a:r>
          </a:p>
        </p:txBody>
      </p:sp>
      <p:sp>
        <p:nvSpPr>
          <p:cNvPr id="46" name="TextBox 45"/>
          <p:cNvSpPr txBox="1"/>
          <p:nvPr/>
        </p:nvSpPr>
        <p:spPr>
          <a:xfrm>
            <a:off x="457200" y="6172200"/>
            <a:ext cx="11247120" cy="274320"/>
          </a:xfrm>
          <a:prstGeom prst="rect">
            <a:avLst/>
          </a:prstGeom>
          <a:noFill/>
        </p:spPr>
        <p:txBody>
          <a:bodyPr wrap="square" lIns="0" tIns="0" rIns="0" bIns="0" anchor="t">
            <a:spAutoFit/>
          </a:bodyPr>
          <a:lstStyle/>
          <a:p>
            <a:pPr algn="ctr"/>
            <a:r>
              <a:rPr sz="1000" b="0" i="1">
                <a:solidFill>
                  <a:srgbClr val="64748B"/>
                </a:solidFill>
                <a:latin typeface="Calibri"/>
              </a:rPr>
              <a:t>All public API in refactored_ucb_library.py. conductivity_paper.py is the only sibling, frozen.</a:t>
            </a:r>
          </a:p>
        </p:txBody>
      </p:sp>
      <p:sp>
        <p:nvSpPr>
          <p:cNvPr id="47" name="Rectangle 46"/>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49" name="TextBox 48"/>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1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02 · HOW TO RUN IT</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02</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The runfile asks four questions, then dispatches</a:t>
            </a:r>
          </a:p>
        </p:txBody>
      </p:sp>
      <p:sp>
        <p:nvSpPr>
          <p:cNvPr id="7" name="Rectangle 6"/>
          <p:cNvSpPr/>
          <p:nvPr/>
        </p:nvSpPr>
        <p:spPr>
          <a:xfrm>
            <a:off x="457200" y="141732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9144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7724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00200"/>
            <a:ext cx="777240" cy="640080"/>
          </a:xfrm>
          <a:prstGeom prst="rect">
            <a:avLst/>
          </a:prstGeom>
          <a:noFill/>
        </p:spPr>
        <p:txBody>
          <a:bodyPr wrap="square" lIns="0" tIns="0" rIns="0" bIns="0" anchor="ctr">
            <a:spAutoFit/>
          </a:bodyPr>
          <a:lstStyle/>
          <a:p>
            <a:pPr algn="ctr"/>
            <a:r>
              <a:rPr sz="2000" b="1" i="0">
                <a:solidFill>
                  <a:srgbClr val="FFFFFF"/>
                </a:solidFill>
                <a:latin typeface="Calibri"/>
              </a:rPr>
              <a:t>1</a:t>
            </a:r>
          </a:p>
        </p:txBody>
      </p:sp>
      <p:sp>
        <p:nvSpPr>
          <p:cNvPr id="11" name="TextBox 10"/>
          <p:cNvSpPr txBox="1"/>
          <p:nvPr/>
        </p:nvSpPr>
        <p:spPr>
          <a:xfrm>
            <a:off x="1600200" y="1554480"/>
            <a:ext cx="5029200" cy="365760"/>
          </a:xfrm>
          <a:prstGeom prst="rect">
            <a:avLst/>
          </a:prstGeom>
          <a:noFill/>
        </p:spPr>
        <p:txBody>
          <a:bodyPr wrap="square" lIns="0" tIns="0" rIns="0" bIns="0" anchor="t">
            <a:spAutoFit/>
          </a:bodyPr>
          <a:lstStyle/>
          <a:p>
            <a:pPr algn="l"/>
            <a:r>
              <a:rPr sz="1400" b="1" i="0">
                <a:solidFill>
                  <a:srgbClr val="1E293B"/>
                </a:solidFill>
                <a:latin typeface="Calibri"/>
              </a:rPr>
              <a:t>ROOT — pick a data source</a:t>
            </a:r>
          </a:p>
        </p:txBody>
      </p:sp>
      <p:sp>
        <p:nvSpPr>
          <p:cNvPr id="12" name="TextBox 11"/>
          <p:cNvSpPr txBox="1"/>
          <p:nvPr/>
        </p:nvSpPr>
        <p:spPr>
          <a:xfrm>
            <a:off x="1600200" y="1920240"/>
            <a:ext cx="5029200" cy="502920"/>
          </a:xfrm>
          <a:prstGeom prst="rect">
            <a:avLst/>
          </a:prstGeom>
          <a:noFill/>
        </p:spPr>
        <p:txBody>
          <a:bodyPr wrap="square" lIns="0" tIns="0" rIns="0" bIns="0" anchor="t">
            <a:spAutoFit/>
          </a:bodyPr>
          <a:lstStyle/>
          <a:p>
            <a:pPr algn="l"/>
            <a:r>
              <a:rPr sz="1100" b="0" i="0">
                <a:solidFill>
                  <a:srgbClr val="1E293B"/>
                </a:solidFill>
                <a:latin typeface="Calibri"/>
              </a:rPr>
              <a:t>Which campaign or file are you working from?</a:t>
            </a:r>
          </a:p>
        </p:txBody>
      </p:sp>
      <p:sp>
        <p:nvSpPr>
          <p:cNvPr id="13" name="TextBox 12"/>
          <p:cNvSpPr txBox="1"/>
          <p:nvPr/>
        </p:nvSpPr>
        <p:spPr>
          <a:xfrm>
            <a:off x="6858000" y="155448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14" name="TextBox 13"/>
          <p:cNvSpPr txBox="1"/>
          <p:nvPr/>
        </p:nvSpPr>
        <p:spPr>
          <a:xfrm>
            <a:off x="6858000" y="1874519"/>
            <a:ext cx="4754880" cy="548640"/>
          </a:xfrm>
          <a:prstGeom prst="rect">
            <a:avLst/>
          </a:prstGeom>
          <a:noFill/>
        </p:spPr>
        <p:txBody>
          <a:bodyPr wrap="square" lIns="0" tIns="0" rIns="0" bIns="0" anchor="t">
            <a:spAutoFit/>
          </a:bodyPr>
          <a:lstStyle/>
          <a:p>
            <a:pPr algn="l"/>
            <a:r>
              <a:rPr sz="1000" b="0" i="0">
                <a:solidFill>
                  <a:srgbClr val="1E293B"/>
                </a:solidFill>
                <a:latin typeface="Consolas"/>
              </a:rPr>
              <a:t>1 DATA1   2 DATA2   3 DATA3 / NF270   4 custom file</a:t>
            </a:r>
          </a:p>
        </p:txBody>
      </p:sp>
      <p:sp>
        <p:nvSpPr>
          <p:cNvPr id="15" name="Rectangle 14"/>
          <p:cNvSpPr/>
          <p:nvPr/>
        </p:nvSpPr>
        <p:spPr>
          <a:xfrm>
            <a:off x="457200" y="251460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514600"/>
            <a:ext cx="9144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697480"/>
            <a:ext cx="7772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697480"/>
            <a:ext cx="777240" cy="640080"/>
          </a:xfrm>
          <a:prstGeom prst="rect">
            <a:avLst/>
          </a:prstGeom>
          <a:noFill/>
        </p:spPr>
        <p:txBody>
          <a:bodyPr wrap="square" lIns="0" tIns="0" rIns="0" bIns="0" anchor="ctr">
            <a:spAutoFit/>
          </a:bodyPr>
          <a:lstStyle/>
          <a:p>
            <a:pPr algn="ctr"/>
            <a:r>
              <a:rPr sz="2000" b="1" i="0">
                <a:solidFill>
                  <a:srgbClr val="FFFFFF"/>
                </a:solidFill>
                <a:latin typeface="Calibri"/>
              </a:rPr>
              <a:t>2</a:t>
            </a:r>
          </a:p>
        </p:txBody>
      </p:sp>
      <p:sp>
        <p:nvSpPr>
          <p:cNvPr id="19" name="TextBox 18"/>
          <p:cNvSpPr txBox="1"/>
          <p:nvPr/>
        </p:nvSpPr>
        <p:spPr>
          <a:xfrm>
            <a:off x="1600200" y="2651760"/>
            <a:ext cx="5029200" cy="365760"/>
          </a:xfrm>
          <a:prstGeom prst="rect">
            <a:avLst/>
          </a:prstGeom>
          <a:noFill/>
        </p:spPr>
        <p:txBody>
          <a:bodyPr wrap="square" lIns="0" tIns="0" rIns="0" bIns="0" anchor="t">
            <a:spAutoFit/>
          </a:bodyPr>
          <a:lstStyle/>
          <a:p>
            <a:pPr algn="l"/>
            <a:r>
              <a:rPr sz="1400" b="1" i="0">
                <a:solidFill>
                  <a:srgbClr val="1E293B"/>
                </a:solidFill>
                <a:latin typeface="Calibri"/>
              </a:rPr>
              <a:t>SUBSET — narrow within the root</a:t>
            </a:r>
          </a:p>
        </p:txBody>
      </p:sp>
      <p:sp>
        <p:nvSpPr>
          <p:cNvPr id="20" name="TextBox 19"/>
          <p:cNvSpPr txBox="1"/>
          <p:nvPr/>
        </p:nvSpPr>
        <p:spPr>
          <a:xfrm>
            <a:off x="1600200" y="3017520"/>
            <a:ext cx="5029200" cy="502920"/>
          </a:xfrm>
          <a:prstGeom prst="rect">
            <a:avLst/>
          </a:prstGeom>
          <a:noFill/>
        </p:spPr>
        <p:txBody>
          <a:bodyPr wrap="square" lIns="0" tIns="0" rIns="0" bIns="0" anchor="t">
            <a:spAutoFit/>
          </a:bodyPr>
          <a:lstStyle/>
          <a:p>
            <a:pPr algn="l"/>
            <a:r>
              <a:rPr sz="1100" b="0" i="0">
                <a:solidFill>
                  <a:srgbClr val="1E293B"/>
                </a:solidFill>
                <a:latin typeface="Calibri"/>
              </a:rPr>
              <a:t>Within the chosen root, which sheets / files to run?</a:t>
            </a:r>
          </a:p>
        </p:txBody>
      </p:sp>
      <p:sp>
        <p:nvSpPr>
          <p:cNvPr id="21" name="TextBox 20"/>
          <p:cNvSpPr txBox="1"/>
          <p:nvPr/>
        </p:nvSpPr>
        <p:spPr>
          <a:xfrm>
            <a:off x="6858000" y="265176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22" name="TextBox 21"/>
          <p:cNvSpPr txBox="1"/>
          <p:nvPr/>
        </p:nvSpPr>
        <p:spPr>
          <a:xfrm>
            <a:off x="6858000" y="2971800"/>
            <a:ext cx="4754880" cy="548640"/>
          </a:xfrm>
          <a:prstGeom prst="rect">
            <a:avLst/>
          </a:prstGeom>
          <a:noFill/>
        </p:spPr>
        <p:txBody>
          <a:bodyPr wrap="square" lIns="0" tIns="0" rIns="0" bIns="0" anchor="t">
            <a:spAutoFit/>
          </a:bodyPr>
          <a:lstStyle/>
          <a:p>
            <a:pPr algn="l"/>
            <a:r>
              <a:rPr sz="1000" b="0" i="0">
                <a:solidFill>
                  <a:srgbClr val="1E293B"/>
                </a:solidFill>
                <a:latin typeface="Consolas"/>
              </a:rPr>
              <a:t>DATA3: all 26 | single-salt 11 | one sheet | fast 3</a:t>
            </a:r>
          </a:p>
        </p:txBody>
      </p:sp>
      <p:sp>
        <p:nvSpPr>
          <p:cNvPr id="23" name="Rectangle 22"/>
          <p:cNvSpPr/>
          <p:nvPr/>
        </p:nvSpPr>
        <p:spPr>
          <a:xfrm>
            <a:off x="457200" y="361188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611880"/>
            <a:ext cx="91440" cy="10058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3794760"/>
            <a:ext cx="777240" cy="6400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794760"/>
            <a:ext cx="777240" cy="640080"/>
          </a:xfrm>
          <a:prstGeom prst="rect">
            <a:avLst/>
          </a:prstGeom>
          <a:noFill/>
        </p:spPr>
        <p:txBody>
          <a:bodyPr wrap="square" lIns="0" tIns="0" rIns="0" bIns="0" anchor="ctr">
            <a:spAutoFit/>
          </a:bodyPr>
          <a:lstStyle/>
          <a:p>
            <a:pPr algn="ctr"/>
            <a:r>
              <a:rPr sz="2000" b="1" i="0">
                <a:solidFill>
                  <a:srgbClr val="FFFFFF"/>
                </a:solidFill>
                <a:latin typeface="Calibri"/>
              </a:rPr>
              <a:t>3</a:t>
            </a:r>
          </a:p>
        </p:txBody>
      </p:sp>
      <p:sp>
        <p:nvSpPr>
          <p:cNvPr id="27" name="TextBox 26"/>
          <p:cNvSpPr txBox="1"/>
          <p:nvPr/>
        </p:nvSpPr>
        <p:spPr>
          <a:xfrm>
            <a:off x="1600200" y="3749040"/>
            <a:ext cx="5029200" cy="365760"/>
          </a:xfrm>
          <a:prstGeom prst="rect">
            <a:avLst/>
          </a:prstGeom>
          <a:noFill/>
        </p:spPr>
        <p:txBody>
          <a:bodyPr wrap="square" lIns="0" tIns="0" rIns="0" bIns="0" anchor="t">
            <a:spAutoFit/>
          </a:bodyPr>
          <a:lstStyle/>
          <a:p>
            <a:pPr algn="l"/>
            <a:r>
              <a:rPr sz="1400" b="1" i="0">
                <a:solidFill>
                  <a:srgbClr val="1E293B"/>
                </a:solidFill>
                <a:latin typeface="Calibri"/>
              </a:rPr>
              <a:t>TRUNK — pick the workflow</a:t>
            </a:r>
          </a:p>
        </p:txBody>
      </p:sp>
      <p:sp>
        <p:nvSpPr>
          <p:cNvPr id="28" name="TextBox 27"/>
          <p:cNvSpPr txBox="1"/>
          <p:nvPr/>
        </p:nvSpPr>
        <p:spPr>
          <a:xfrm>
            <a:off x="1600200" y="4114800"/>
            <a:ext cx="5029200" cy="502920"/>
          </a:xfrm>
          <a:prstGeom prst="rect">
            <a:avLst/>
          </a:prstGeom>
          <a:noFill/>
        </p:spPr>
        <p:txBody>
          <a:bodyPr wrap="square" lIns="0" tIns="0" rIns="0" bIns="0" anchor="t">
            <a:spAutoFit/>
          </a:bodyPr>
          <a:lstStyle/>
          <a:p>
            <a:pPr algn="l"/>
            <a:r>
              <a:rPr sz="1100" b="0" i="0">
                <a:solidFill>
                  <a:srgbClr val="1E293B"/>
                </a:solidFill>
                <a:latin typeface="Calibri"/>
              </a:rPr>
              <a:t>Simulate, fit, multistart, FIM, DoE, or mass-litmus.</a:t>
            </a:r>
          </a:p>
        </p:txBody>
      </p:sp>
      <p:sp>
        <p:nvSpPr>
          <p:cNvPr id="29" name="TextBox 28"/>
          <p:cNvSpPr txBox="1"/>
          <p:nvPr/>
        </p:nvSpPr>
        <p:spPr>
          <a:xfrm>
            <a:off x="6858000" y="374904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30" name="TextBox 29"/>
          <p:cNvSpPr txBox="1"/>
          <p:nvPr/>
        </p:nvSpPr>
        <p:spPr>
          <a:xfrm>
            <a:off x="6858000" y="4069080"/>
            <a:ext cx="4754880" cy="548640"/>
          </a:xfrm>
          <a:prstGeom prst="rect">
            <a:avLst/>
          </a:prstGeom>
          <a:noFill/>
        </p:spPr>
        <p:txBody>
          <a:bodyPr wrap="square" lIns="0" tIns="0" rIns="0" bIns="0" anchor="t">
            <a:spAutoFit/>
          </a:bodyPr>
          <a:lstStyle/>
          <a:p>
            <a:pPr algn="l"/>
            <a:r>
              <a:rPr sz="1000" b="0" i="0">
                <a:solidFill>
                  <a:srgbClr val="1E293B"/>
                </a:solidFill>
                <a:latin typeface="Consolas"/>
              </a:rPr>
              <a:t>0 manifest default   3 fit+multistart   4 + FIM   5 + DoE   6 mass-litmus</a:t>
            </a:r>
          </a:p>
        </p:txBody>
      </p:sp>
      <p:sp>
        <p:nvSpPr>
          <p:cNvPr id="31" name="Rectangle 30"/>
          <p:cNvSpPr/>
          <p:nvPr/>
        </p:nvSpPr>
        <p:spPr>
          <a:xfrm>
            <a:off x="457200" y="470916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709160"/>
            <a:ext cx="91440" cy="10058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4892040"/>
            <a:ext cx="777240" cy="6400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4892040"/>
            <a:ext cx="777240" cy="640080"/>
          </a:xfrm>
          <a:prstGeom prst="rect">
            <a:avLst/>
          </a:prstGeom>
          <a:noFill/>
        </p:spPr>
        <p:txBody>
          <a:bodyPr wrap="square" lIns="0" tIns="0" rIns="0" bIns="0" anchor="ctr">
            <a:spAutoFit/>
          </a:bodyPr>
          <a:lstStyle/>
          <a:p>
            <a:pPr algn="ctr"/>
            <a:r>
              <a:rPr sz="2000" b="1" i="0">
                <a:solidFill>
                  <a:srgbClr val="FFFFFF"/>
                </a:solidFill>
                <a:latin typeface="Calibri"/>
              </a:rPr>
              <a:t>4</a:t>
            </a:r>
          </a:p>
        </p:txBody>
      </p:sp>
      <p:sp>
        <p:nvSpPr>
          <p:cNvPr id="35" name="TextBox 34"/>
          <p:cNvSpPr txBox="1"/>
          <p:nvPr/>
        </p:nvSpPr>
        <p:spPr>
          <a:xfrm>
            <a:off x="1600200" y="4846320"/>
            <a:ext cx="5029200" cy="365760"/>
          </a:xfrm>
          <a:prstGeom prst="rect">
            <a:avLst/>
          </a:prstGeom>
          <a:noFill/>
        </p:spPr>
        <p:txBody>
          <a:bodyPr wrap="square" lIns="0" tIns="0" rIns="0" bIns="0" anchor="t">
            <a:spAutoFit/>
          </a:bodyPr>
          <a:lstStyle/>
          <a:p>
            <a:pPr algn="l"/>
            <a:r>
              <a:rPr sz="1400" b="1" i="0">
                <a:solidFill>
                  <a:srgbClr val="1E293B"/>
                </a:solidFill>
                <a:latin typeface="Calibri"/>
              </a:rPr>
              <a:t>BRANCHES — choose outputs</a:t>
            </a:r>
          </a:p>
        </p:txBody>
      </p:sp>
      <p:sp>
        <p:nvSpPr>
          <p:cNvPr id="36" name="TextBox 35"/>
          <p:cNvSpPr txBox="1"/>
          <p:nvPr/>
        </p:nvSpPr>
        <p:spPr>
          <a:xfrm>
            <a:off x="1600200" y="5212080"/>
            <a:ext cx="5029200" cy="502920"/>
          </a:xfrm>
          <a:prstGeom prst="rect">
            <a:avLst/>
          </a:prstGeom>
          <a:noFill/>
        </p:spPr>
        <p:txBody>
          <a:bodyPr wrap="square" lIns="0" tIns="0" rIns="0" bIns="0" anchor="t">
            <a:spAutoFit/>
          </a:bodyPr>
          <a:lstStyle/>
          <a:p>
            <a:pPr algn="l"/>
            <a:r>
              <a:rPr sz="1100" b="0" i="0">
                <a:solidFill>
                  <a:srgbClr val="1E293B"/>
                </a:solidFill>
                <a:latin typeface="Calibri"/>
              </a:rPr>
              <a:t>Which plots / tables to produce.</a:t>
            </a:r>
          </a:p>
        </p:txBody>
      </p:sp>
      <p:sp>
        <p:nvSpPr>
          <p:cNvPr id="37" name="TextBox 36"/>
          <p:cNvSpPr txBox="1"/>
          <p:nvPr/>
        </p:nvSpPr>
        <p:spPr>
          <a:xfrm>
            <a:off x="6858000" y="484632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38" name="TextBox 37"/>
          <p:cNvSpPr txBox="1"/>
          <p:nvPr/>
        </p:nvSpPr>
        <p:spPr>
          <a:xfrm>
            <a:off x="6858000" y="5166360"/>
            <a:ext cx="4754880" cy="548640"/>
          </a:xfrm>
          <a:prstGeom prst="rect">
            <a:avLst/>
          </a:prstGeom>
          <a:noFill/>
        </p:spPr>
        <p:txBody>
          <a:bodyPr wrap="square" lIns="0" tIns="0" rIns="0" bIns="0" anchor="t">
            <a:spAutoFit/>
          </a:bodyPr>
          <a:lstStyle/>
          <a:p>
            <a:pPr algn="l"/>
            <a:r>
              <a:rPr sz="1000" b="0" i="0">
                <a:solidFill>
                  <a:srgbClr val="1E293B"/>
                </a:solidFill>
                <a:latin typeface="Consolas"/>
              </a:rPr>
              <a:t>m mass   c conc   p params   f FIM heatmap   d DoE   all</a:t>
            </a:r>
          </a:p>
        </p:txBody>
      </p:sp>
      <p:sp>
        <p:nvSpPr>
          <p:cNvPr id="39" name="Rectangle 38"/>
          <p:cNvSpPr/>
          <p:nvPr/>
        </p:nvSpPr>
        <p:spPr>
          <a:xfrm>
            <a:off x="457200" y="5806440"/>
            <a:ext cx="1124712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5852160"/>
            <a:ext cx="10972800" cy="411480"/>
          </a:xfrm>
          <a:prstGeom prst="rect">
            <a:avLst/>
          </a:prstGeom>
          <a:noFill/>
        </p:spPr>
        <p:txBody>
          <a:bodyPr wrap="square" lIns="0" tIns="0" rIns="0" bIns="0" anchor="t">
            <a:spAutoFit/>
          </a:bodyPr>
          <a:lstStyle/>
          <a:p>
            <a:pPr algn="l"/>
            <a:r>
              <a:rPr sz="1200" b="1" i="0">
                <a:solidFill>
                  <a:srgbClr val="FFFFFF"/>
                </a:solidFill>
                <a:latin typeface="Calibri"/>
              </a:rPr>
              <a:t>→ DISPATCH:  materialize_all(...) for DATA1 / DATA2 / DATA3,  or  run_pipeline(...) for custom files.</a:t>
            </a:r>
          </a:p>
        </p:txBody>
      </p:sp>
      <p:sp>
        <p:nvSpPr>
          <p:cNvPr id="41" name="Rectangle 40"/>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43" name="TextBox 42"/>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2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03A · CURRENT FIT RESULTS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03a</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Current fit results  ·  NaCl, diluting regime  ·  2 sheets</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NaCl dilution: model tracks data well (when σ stays in the interior)</a:t>
            </a:r>
          </a:p>
        </p:txBody>
      </p:sp>
      <p:sp>
        <p:nvSpPr>
          <p:cNvPr id="8" name="TextBox 7"/>
          <p:cNvSpPr txBox="1"/>
          <p:nvPr/>
        </p:nvSpPr>
        <p:spPr>
          <a:xfrm>
            <a:off x="457200" y="1234440"/>
            <a:ext cx="5486400" cy="274320"/>
          </a:xfrm>
          <a:prstGeom prst="rect">
            <a:avLst/>
          </a:prstGeom>
          <a:noFill/>
        </p:spPr>
        <p:txBody>
          <a:bodyPr wrap="square" lIns="50800" rIns="50800" tIns="25400" bIns="25400">
            <a:spAutoFit/>
          </a:bodyPr>
          <a:lstStyle/>
          <a:p>
            <a:pPr algn="l"/>
            <a:r>
              <a:rPr sz="1100" b="1" i="0">
                <a:solidFill>
                  <a:srgbClr val="065A82"/>
                </a:solidFill>
                <a:latin typeface="Calibri"/>
              </a:rPr>
              <a:t>MASS  (g vs min)</a:t>
            </a:r>
          </a:p>
        </p:txBody>
      </p:sp>
      <p:sp>
        <p:nvSpPr>
          <p:cNvPr id="9" name="TextBox 8"/>
          <p:cNvSpPr txBox="1"/>
          <p:nvPr/>
        </p:nvSpPr>
        <p:spPr>
          <a:xfrm>
            <a:off x="6248400" y="1234440"/>
            <a:ext cx="5486400" cy="274320"/>
          </a:xfrm>
          <a:prstGeom prst="rect">
            <a:avLst/>
          </a:prstGeom>
          <a:noFill/>
        </p:spPr>
        <p:txBody>
          <a:bodyPr wrap="square" lIns="50800" rIns="50800" tIns="25400" bIns="25400">
            <a:spAutoFit/>
          </a:bodyPr>
          <a:lstStyle/>
          <a:p>
            <a:pPr algn="r"/>
            <a:r>
              <a:rPr sz="1100" b="1" i="0">
                <a:solidFill>
                  <a:srgbClr val="065A82"/>
                </a:solidFill>
                <a:latin typeface="Calibri"/>
              </a:rPr>
              <a:t>CONCENTRATION  (mM vs min)</a:t>
            </a:r>
          </a:p>
        </p:txBody>
      </p:sp>
      <p:pic>
        <p:nvPicPr>
          <p:cNvPr id="10" name="Picture 9" descr="mass-JAO_072224_NF270_MC3_SNaCl_NaCl_07.22.24_SNaCl.png"/>
          <p:cNvPicPr>
            <a:picLocks noChangeAspect="1"/>
          </p:cNvPicPr>
          <p:nvPr/>
        </p:nvPicPr>
        <p:blipFill>
          <a:blip r:embed="rId2"/>
          <a:stretch>
            <a:fillRect/>
          </a:stretch>
        </p:blipFill>
        <p:spPr>
          <a:xfrm>
            <a:off x="548640" y="1508760"/>
            <a:ext cx="5455920" cy="1828800"/>
          </a:xfrm>
          <a:prstGeom prst="rect">
            <a:avLst/>
          </a:prstGeom>
        </p:spPr>
      </p:pic>
      <p:pic>
        <p:nvPicPr>
          <p:cNvPr id="11" name="Picture 10" descr="concentration-JAO_072224_NF270_MC3_SNaCl_NaCl_07.22.24_SNaCl.png"/>
          <p:cNvPicPr>
            <a:picLocks noChangeAspect="1"/>
          </p:cNvPicPr>
          <p:nvPr/>
        </p:nvPicPr>
        <p:blipFill>
          <a:blip r:embed="rId3"/>
          <a:stretch>
            <a:fillRect/>
          </a:stretch>
        </p:blipFill>
        <p:spPr>
          <a:xfrm>
            <a:off x="548640" y="3429000"/>
            <a:ext cx="5455920" cy="1828800"/>
          </a:xfrm>
          <a:prstGeom prst="rect">
            <a:avLst/>
          </a:prstGeom>
        </p:spPr>
      </p:pic>
      <p:sp>
        <p:nvSpPr>
          <p:cNvPr id="12" name="Rectangle 11"/>
          <p:cNvSpPr/>
          <p:nvPr/>
        </p:nvSpPr>
        <p:spPr>
          <a:xfrm>
            <a:off x="548640" y="5303520"/>
            <a:ext cx="5455920" cy="27432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303520"/>
            <a:ext cx="5455920" cy="274320"/>
          </a:xfrm>
          <a:prstGeom prst="rect">
            <a:avLst/>
          </a:prstGeom>
          <a:noFill/>
        </p:spPr>
        <p:txBody>
          <a:bodyPr wrap="square" lIns="50800" rIns="50800" tIns="25400" bIns="25400">
            <a:spAutoFit/>
          </a:bodyPr>
          <a:lstStyle/>
          <a:p>
            <a:pPr algn="ctr"/>
            <a:r>
              <a:rPr sz="1000" b="1" i="0">
                <a:solidFill>
                  <a:srgbClr val="FFFFFF"/>
                </a:solidFill>
                <a:latin typeface="Calibri"/>
              </a:rPr>
              <a:t>MC3 SNaCl  ·  95 → 10 mM</a:t>
            </a:r>
          </a:p>
        </p:txBody>
      </p:sp>
      <p:pic>
        <p:nvPicPr>
          <p:cNvPr id="14" name="Picture 13" descr="mass-JAO_072324_NF270_MC5_NaClS2_NaCl_07.23.24_S2NaCl.png"/>
          <p:cNvPicPr>
            <a:picLocks noChangeAspect="1"/>
          </p:cNvPicPr>
          <p:nvPr/>
        </p:nvPicPr>
        <p:blipFill>
          <a:blip r:embed="rId4"/>
          <a:stretch>
            <a:fillRect/>
          </a:stretch>
        </p:blipFill>
        <p:spPr>
          <a:xfrm>
            <a:off x="6187440" y="1508760"/>
            <a:ext cx="5455920" cy="1828800"/>
          </a:xfrm>
          <a:prstGeom prst="rect">
            <a:avLst/>
          </a:prstGeom>
        </p:spPr>
      </p:pic>
      <p:pic>
        <p:nvPicPr>
          <p:cNvPr id="15" name="Picture 14" descr="concentration-JAO_072324_NF270_MC5_NaClS2_NaCl_07.23.24_S2NaCl.png"/>
          <p:cNvPicPr>
            <a:picLocks noChangeAspect="1"/>
          </p:cNvPicPr>
          <p:nvPr/>
        </p:nvPicPr>
        <p:blipFill>
          <a:blip r:embed="rId5"/>
          <a:stretch>
            <a:fillRect/>
          </a:stretch>
        </p:blipFill>
        <p:spPr>
          <a:xfrm>
            <a:off x="6187440" y="3429000"/>
            <a:ext cx="5455920" cy="1828800"/>
          </a:xfrm>
          <a:prstGeom prst="rect">
            <a:avLst/>
          </a:prstGeom>
        </p:spPr>
      </p:pic>
      <p:sp>
        <p:nvSpPr>
          <p:cNvPr id="16" name="Rectangle 15"/>
          <p:cNvSpPr/>
          <p:nvPr/>
        </p:nvSpPr>
        <p:spPr>
          <a:xfrm>
            <a:off x="6187440" y="5303520"/>
            <a:ext cx="5455920" cy="27432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7440" y="5303520"/>
            <a:ext cx="5455920" cy="274320"/>
          </a:xfrm>
          <a:prstGeom prst="rect">
            <a:avLst/>
          </a:prstGeom>
          <a:noFill/>
        </p:spPr>
        <p:txBody>
          <a:bodyPr wrap="square" lIns="50800" rIns="50800" tIns="25400" bIns="25400">
            <a:spAutoFit/>
          </a:bodyPr>
          <a:lstStyle/>
          <a:p>
            <a:pPr algn="ctr"/>
            <a:r>
              <a:rPr sz="1000" b="1" i="0">
                <a:solidFill>
                  <a:srgbClr val="FFFFFF"/>
                </a:solidFill>
                <a:latin typeface="Calibri"/>
              </a:rPr>
              <a:t>MC5 S2NaCl  ·  93 → 16 mM</a:t>
            </a:r>
          </a:p>
        </p:txBody>
      </p:sp>
      <p:sp>
        <p:nvSpPr>
          <p:cNvPr id="18" name="Rectangle 17"/>
          <p:cNvSpPr/>
          <p:nvPr/>
        </p:nvSpPr>
        <p:spPr>
          <a:xfrm>
            <a:off x="457200" y="585216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91616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MC3 SNaCl is the only sheet in the whole campaign with interior σ (≈0.45). MC5 S2NaCl drifts to σ = 0 wall — same cF-over-weighting we'll diagnose later.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03B · CURRENT FIT RESULTS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03b</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Current fit results  ·  NaCl, concentrating regime  ·  4 sheets</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NaCl concentration: characteristic mass shortfall on every sheet</a:t>
            </a:r>
          </a:p>
        </p:txBody>
      </p:sp>
      <p:sp>
        <p:nvSpPr>
          <p:cNvPr id="8" name="TextBox 7"/>
          <p:cNvSpPr txBox="1"/>
          <p:nvPr/>
        </p:nvSpPr>
        <p:spPr>
          <a:xfrm>
            <a:off x="457200" y="1234440"/>
            <a:ext cx="5486400" cy="274320"/>
          </a:xfrm>
          <a:prstGeom prst="rect">
            <a:avLst/>
          </a:prstGeom>
          <a:noFill/>
        </p:spPr>
        <p:txBody>
          <a:bodyPr wrap="square" lIns="50800" rIns="50800" tIns="25400" bIns="25400">
            <a:spAutoFit/>
          </a:bodyPr>
          <a:lstStyle/>
          <a:p>
            <a:pPr algn="l"/>
            <a:r>
              <a:rPr sz="1100" b="1" i="0">
                <a:solidFill>
                  <a:srgbClr val="065A82"/>
                </a:solidFill>
                <a:latin typeface="Calibri"/>
              </a:rPr>
              <a:t>MASS  (g vs min)</a:t>
            </a:r>
          </a:p>
        </p:txBody>
      </p:sp>
      <p:sp>
        <p:nvSpPr>
          <p:cNvPr id="9" name="TextBox 8"/>
          <p:cNvSpPr txBox="1"/>
          <p:nvPr/>
        </p:nvSpPr>
        <p:spPr>
          <a:xfrm>
            <a:off x="6248400" y="1234440"/>
            <a:ext cx="5486400" cy="274320"/>
          </a:xfrm>
          <a:prstGeom prst="rect">
            <a:avLst/>
          </a:prstGeom>
          <a:noFill/>
        </p:spPr>
        <p:txBody>
          <a:bodyPr wrap="square" lIns="50800" rIns="50800" tIns="25400" bIns="25400">
            <a:spAutoFit/>
          </a:bodyPr>
          <a:lstStyle/>
          <a:p>
            <a:pPr algn="r"/>
            <a:r>
              <a:rPr sz="1100" b="1" i="0">
                <a:solidFill>
                  <a:srgbClr val="065A82"/>
                </a:solidFill>
                <a:latin typeface="Calibri"/>
              </a:rPr>
              <a:t>CONCENTRATION  (mM vs min)</a:t>
            </a:r>
          </a:p>
        </p:txBody>
      </p:sp>
      <p:pic>
        <p:nvPicPr>
          <p:cNvPr id="10" name="Picture 9" descr="mass-JAO_050724_NF270_MC2_NaCl_NaCl_05.07.24_NaCl.png"/>
          <p:cNvPicPr>
            <a:picLocks noChangeAspect="1"/>
          </p:cNvPicPr>
          <p:nvPr/>
        </p:nvPicPr>
        <p:blipFill>
          <a:blip r:embed="rId2"/>
          <a:stretch>
            <a:fillRect/>
          </a:stretch>
        </p:blipFill>
        <p:spPr>
          <a:xfrm>
            <a:off x="548640" y="1508760"/>
            <a:ext cx="2636520" cy="1828800"/>
          </a:xfrm>
          <a:prstGeom prst="rect">
            <a:avLst/>
          </a:prstGeom>
        </p:spPr>
      </p:pic>
      <p:pic>
        <p:nvPicPr>
          <p:cNvPr id="11" name="Picture 10" descr="concentration-JAO_050724_NF270_MC2_NaCl_NaCl_05.07.24_NaCl.png"/>
          <p:cNvPicPr>
            <a:picLocks noChangeAspect="1"/>
          </p:cNvPicPr>
          <p:nvPr/>
        </p:nvPicPr>
        <p:blipFill>
          <a:blip r:embed="rId3"/>
          <a:stretch>
            <a:fillRect/>
          </a:stretch>
        </p:blipFill>
        <p:spPr>
          <a:xfrm>
            <a:off x="548640" y="3429000"/>
            <a:ext cx="2636520" cy="1828800"/>
          </a:xfrm>
          <a:prstGeom prst="rect">
            <a:avLst/>
          </a:prstGeom>
        </p:spPr>
      </p:pic>
      <p:sp>
        <p:nvSpPr>
          <p:cNvPr id="12" name="Rectangle 11"/>
          <p:cNvSpPr/>
          <p:nvPr/>
        </p:nvSpPr>
        <p:spPr>
          <a:xfrm>
            <a:off x="548640" y="5303520"/>
            <a:ext cx="26365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303520"/>
            <a:ext cx="2636520" cy="274320"/>
          </a:xfrm>
          <a:prstGeom prst="rect">
            <a:avLst/>
          </a:prstGeom>
          <a:noFill/>
        </p:spPr>
        <p:txBody>
          <a:bodyPr wrap="square" lIns="50800" rIns="50800" tIns="25400" bIns="25400">
            <a:spAutoFit/>
          </a:bodyPr>
          <a:lstStyle/>
          <a:p>
            <a:pPr algn="ctr"/>
            <a:r>
              <a:rPr sz="1000" b="1" i="0">
                <a:solidFill>
                  <a:srgbClr val="FFFFFF"/>
                </a:solidFill>
                <a:latin typeface="Calibri"/>
              </a:rPr>
              <a:t>MC2 NaCl</a:t>
            </a:r>
          </a:p>
        </p:txBody>
      </p:sp>
      <p:pic>
        <p:nvPicPr>
          <p:cNvPr id="14" name="Picture 13" descr="mass-LL_071124_NF270_MC4_S_NaCl_07.11.24_SNaCl.png"/>
          <p:cNvPicPr>
            <a:picLocks noChangeAspect="1"/>
          </p:cNvPicPr>
          <p:nvPr/>
        </p:nvPicPr>
        <p:blipFill>
          <a:blip r:embed="rId4"/>
          <a:stretch>
            <a:fillRect/>
          </a:stretch>
        </p:blipFill>
        <p:spPr>
          <a:xfrm>
            <a:off x="3368040" y="1508760"/>
            <a:ext cx="2636520" cy="1828800"/>
          </a:xfrm>
          <a:prstGeom prst="rect">
            <a:avLst/>
          </a:prstGeom>
        </p:spPr>
      </p:pic>
      <p:pic>
        <p:nvPicPr>
          <p:cNvPr id="15" name="Picture 14" descr="concentration-LL_071124_NF270_MC4_S_NaCl_07.11.24_SNaCl.png"/>
          <p:cNvPicPr>
            <a:picLocks noChangeAspect="1"/>
          </p:cNvPicPr>
          <p:nvPr/>
        </p:nvPicPr>
        <p:blipFill>
          <a:blip r:embed="rId5"/>
          <a:stretch>
            <a:fillRect/>
          </a:stretch>
        </p:blipFill>
        <p:spPr>
          <a:xfrm>
            <a:off x="3368040" y="3429000"/>
            <a:ext cx="2636520" cy="1828800"/>
          </a:xfrm>
          <a:prstGeom prst="rect">
            <a:avLst/>
          </a:prstGeom>
        </p:spPr>
      </p:pic>
      <p:sp>
        <p:nvSpPr>
          <p:cNvPr id="16" name="Rectangle 15"/>
          <p:cNvSpPr/>
          <p:nvPr/>
        </p:nvSpPr>
        <p:spPr>
          <a:xfrm>
            <a:off x="3368040" y="5303520"/>
            <a:ext cx="26365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8040" y="5303520"/>
            <a:ext cx="2636520" cy="274320"/>
          </a:xfrm>
          <a:prstGeom prst="rect">
            <a:avLst/>
          </a:prstGeom>
          <a:noFill/>
        </p:spPr>
        <p:txBody>
          <a:bodyPr wrap="square" lIns="50800" rIns="50800" tIns="25400" bIns="25400">
            <a:spAutoFit/>
          </a:bodyPr>
          <a:lstStyle/>
          <a:p>
            <a:pPr algn="ctr"/>
            <a:r>
              <a:rPr sz="1000" b="1" i="0">
                <a:solidFill>
                  <a:srgbClr val="FFFFFF"/>
                </a:solidFill>
                <a:latin typeface="Calibri"/>
              </a:rPr>
              <a:t>MC4 SNaCl</a:t>
            </a:r>
          </a:p>
        </p:txBody>
      </p:sp>
      <p:pic>
        <p:nvPicPr>
          <p:cNvPr id="18" name="Picture 17" descr="mass-JAO_072324_NF270_MC5_NaCl_NaCl_07.23.24_NaCl.png"/>
          <p:cNvPicPr>
            <a:picLocks noChangeAspect="1"/>
          </p:cNvPicPr>
          <p:nvPr/>
        </p:nvPicPr>
        <p:blipFill>
          <a:blip r:embed="rId6"/>
          <a:stretch>
            <a:fillRect/>
          </a:stretch>
        </p:blipFill>
        <p:spPr>
          <a:xfrm>
            <a:off x="6187440" y="1508760"/>
            <a:ext cx="2636520" cy="1828800"/>
          </a:xfrm>
          <a:prstGeom prst="rect">
            <a:avLst/>
          </a:prstGeom>
        </p:spPr>
      </p:pic>
      <p:pic>
        <p:nvPicPr>
          <p:cNvPr id="19" name="Picture 18" descr="concentration-JAO_072324_NF270_MC5_NaCl_NaCl_07.23.24_NaCl.png"/>
          <p:cNvPicPr>
            <a:picLocks noChangeAspect="1"/>
          </p:cNvPicPr>
          <p:nvPr/>
        </p:nvPicPr>
        <p:blipFill>
          <a:blip r:embed="rId7"/>
          <a:stretch>
            <a:fillRect/>
          </a:stretch>
        </p:blipFill>
        <p:spPr>
          <a:xfrm>
            <a:off x="6187440" y="3429000"/>
            <a:ext cx="2636520" cy="1828800"/>
          </a:xfrm>
          <a:prstGeom prst="rect">
            <a:avLst/>
          </a:prstGeom>
        </p:spPr>
      </p:pic>
      <p:sp>
        <p:nvSpPr>
          <p:cNvPr id="20" name="Rectangle 19"/>
          <p:cNvSpPr/>
          <p:nvPr/>
        </p:nvSpPr>
        <p:spPr>
          <a:xfrm>
            <a:off x="6187440" y="5303520"/>
            <a:ext cx="26365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87440" y="5303520"/>
            <a:ext cx="2636520" cy="274320"/>
          </a:xfrm>
          <a:prstGeom prst="rect">
            <a:avLst/>
          </a:prstGeom>
          <a:noFill/>
        </p:spPr>
        <p:txBody>
          <a:bodyPr wrap="square" lIns="50800" rIns="50800" tIns="25400" bIns="25400">
            <a:spAutoFit/>
          </a:bodyPr>
          <a:lstStyle/>
          <a:p>
            <a:pPr algn="ctr"/>
            <a:r>
              <a:rPr sz="1000" b="1" i="0">
                <a:solidFill>
                  <a:srgbClr val="FFFFFF"/>
                </a:solidFill>
                <a:latin typeface="Calibri"/>
              </a:rPr>
              <a:t>MC5 NaCl</a:t>
            </a:r>
          </a:p>
        </p:txBody>
      </p:sp>
      <p:pic>
        <p:nvPicPr>
          <p:cNvPr id="22" name="Picture 21" descr="mass-JAO_072324_NF270_MC5_SNaCl_NaCl_07.23.24_SNaCl.png"/>
          <p:cNvPicPr>
            <a:picLocks noChangeAspect="1"/>
          </p:cNvPicPr>
          <p:nvPr/>
        </p:nvPicPr>
        <p:blipFill>
          <a:blip r:embed="rId8"/>
          <a:stretch>
            <a:fillRect/>
          </a:stretch>
        </p:blipFill>
        <p:spPr>
          <a:xfrm>
            <a:off x="9006840" y="1508760"/>
            <a:ext cx="2636520" cy="1828800"/>
          </a:xfrm>
          <a:prstGeom prst="rect">
            <a:avLst/>
          </a:prstGeom>
        </p:spPr>
      </p:pic>
      <p:pic>
        <p:nvPicPr>
          <p:cNvPr id="23" name="Picture 22" descr="concentration-JAO_072324_NF270_MC5_SNaCl_NaCl_07.23.24_SNaCl.png"/>
          <p:cNvPicPr>
            <a:picLocks noChangeAspect="1"/>
          </p:cNvPicPr>
          <p:nvPr/>
        </p:nvPicPr>
        <p:blipFill>
          <a:blip r:embed="rId9"/>
          <a:stretch>
            <a:fillRect/>
          </a:stretch>
        </p:blipFill>
        <p:spPr>
          <a:xfrm>
            <a:off x="9006840" y="3429000"/>
            <a:ext cx="2636520" cy="1828800"/>
          </a:xfrm>
          <a:prstGeom prst="rect">
            <a:avLst/>
          </a:prstGeom>
        </p:spPr>
      </p:pic>
      <p:sp>
        <p:nvSpPr>
          <p:cNvPr id="24" name="Rectangle 23"/>
          <p:cNvSpPr/>
          <p:nvPr/>
        </p:nvSpPr>
        <p:spPr>
          <a:xfrm>
            <a:off x="9006840" y="5303520"/>
            <a:ext cx="26365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5303520"/>
            <a:ext cx="2636520" cy="274320"/>
          </a:xfrm>
          <a:prstGeom prst="rect">
            <a:avLst/>
          </a:prstGeom>
          <a:noFill/>
        </p:spPr>
        <p:txBody>
          <a:bodyPr wrap="square" lIns="50800" rIns="50800" tIns="25400" bIns="25400">
            <a:spAutoFit/>
          </a:bodyPr>
          <a:lstStyle/>
          <a:p>
            <a:pPr algn="ctr"/>
            <a:r>
              <a:rPr sz="1000" b="1" i="0">
                <a:solidFill>
                  <a:srgbClr val="FFFFFF"/>
                </a:solidFill>
                <a:latin typeface="Calibri"/>
              </a:rPr>
              <a:t>MC5 SNaCl</a:t>
            </a:r>
          </a:p>
        </p:txBody>
      </p:sp>
      <p:sp>
        <p:nvSpPr>
          <p:cNvPr id="26" name="Rectangle 25"/>
          <p:cNvSpPr/>
          <p:nvPr/>
        </p:nvSpPr>
        <p:spPr>
          <a:xfrm>
            <a:off x="457200" y="585216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91616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Mass predictions plateau below the per-vial cap on every concentrating sheet. σ pins at the wall (1.0 or 0.0) on all four — same pathology, different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03C · CURRENT FIT RESULTS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03c</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6A3399"/>
                </a:solidFill>
                <a:latin typeface="Calibri"/>
              </a:rPr>
              <a:t>Current fit results  ·  CaCl₂  ·  divalent  ·  3 sheets</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CaCl₂ (divalent): osmotic over-correction amplified by ni = 3</a:t>
            </a:r>
          </a:p>
        </p:txBody>
      </p:sp>
      <p:sp>
        <p:nvSpPr>
          <p:cNvPr id="8" name="TextBox 7"/>
          <p:cNvSpPr txBox="1"/>
          <p:nvPr/>
        </p:nvSpPr>
        <p:spPr>
          <a:xfrm>
            <a:off x="457200" y="1234440"/>
            <a:ext cx="5486400" cy="274320"/>
          </a:xfrm>
          <a:prstGeom prst="rect">
            <a:avLst/>
          </a:prstGeom>
          <a:noFill/>
        </p:spPr>
        <p:txBody>
          <a:bodyPr wrap="square" lIns="50800" rIns="50800" tIns="25400" bIns="25400">
            <a:spAutoFit/>
          </a:bodyPr>
          <a:lstStyle/>
          <a:p>
            <a:pPr algn="l"/>
            <a:r>
              <a:rPr sz="1100" b="1" i="0">
                <a:solidFill>
                  <a:srgbClr val="065A82"/>
                </a:solidFill>
                <a:latin typeface="Calibri"/>
              </a:rPr>
              <a:t>MASS  (g vs min)</a:t>
            </a:r>
          </a:p>
        </p:txBody>
      </p:sp>
      <p:sp>
        <p:nvSpPr>
          <p:cNvPr id="9" name="TextBox 8"/>
          <p:cNvSpPr txBox="1"/>
          <p:nvPr/>
        </p:nvSpPr>
        <p:spPr>
          <a:xfrm>
            <a:off x="6248400" y="1234440"/>
            <a:ext cx="5486400" cy="274320"/>
          </a:xfrm>
          <a:prstGeom prst="rect">
            <a:avLst/>
          </a:prstGeom>
          <a:noFill/>
        </p:spPr>
        <p:txBody>
          <a:bodyPr wrap="square" lIns="50800" rIns="50800" tIns="25400" bIns="25400">
            <a:spAutoFit/>
          </a:bodyPr>
          <a:lstStyle/>
          <a:p>
            <a:pPr algn="r"/>
            <a:r>
              <a:rPr sz="1100" b="1" i="0">
                <a:solidFill>
                  <a:srgbClr val="065A82"/>
                </a:solidFill>
                <a:latin typeface="Calibri"/>
              </a:rPr>
              <a:t>CONCENTRATION  (mM vs min)</a:t>
            </a:r>
          </a:p>
        </p:txBody>
      </p:sp>
      <p:pic>
        <p:nvPicPr>
          <p:cNvPr id="10" name="Picture 9" descr="mass-JAO_050724_NF270_MC2_CaCl2_CaCl2_05.07.24_CaCl2.png"/>
          <p:cNvPicPr>
            <a:picLocks noChangeAspect="1"/>
          </p:cNvPicPr>
          <p:nvPr/>
        </p:nvPicPr>
        <p:blipFill>
          <a:blip r:embed="rId2"/>
          <a:stretch>
            <a:fillRect/>
          </a:stretch>
        </p:blipFill>
        <p:spPr>
          <a:xfrm>
            <a:off x="548640" y="1508760"/>
            <a:ext cx="3576320" cy="1828800"/>
          </a:xfrm>
          <a:prstGeom prst="rect">
            <a:avLst/>
          </a:prstGeom>
        </p:spPr>
      </p:pic>
      <p:pic>
        <p:nvPicPr>
          <p:cNvPr id="11" name="Picture 10" descr="concentration-JAO_050724_NF270_MC2_CaCl2_CaCl2_05.07.24_CaCl2.png"/>
          <p:cNvPicPr>
            <a:picLocks noChangeAspect="1"/>
          </p:cNvPicPr>
          <p:nvPr/>
        </p:nvPicPr>
        <p:blipFill>
          <a:blip r:embed="rId3"/>
          <a:stretch>
            <a:fillRect/>
          </a:stretch>
        </p:blipFill>
        <p:spPr>
          <a:xfrm>
            <a:off x="548640" y="3429000"/>
            <a:ext cx="3576320" cy="1828800"/>
          </a:xfrm>
          <a:prstGeom prst="rect">
            <a:avLst/>
          </a:prstGeom>
        </p:spPr>
      </p:pic>
      <p:sp>
        <p:nvSpPr>
          <p:cNvPr id="12" name="Rectangle 11"/>
          <p:cNvSpPr/>
          <p:nvPr/>
        </p:nvSpPr>
        <p:spPr>
          <a:xfrm>
            <a:off x="548640" y="5303520"/>
            <a:ext cx="3576320" cy="27432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303520"/>
            <a:ext cx="3576320" cy="274320"/>
          </a:xfrm>
          <a:prstGeom prst="rect">
            <a:avLst/>
          </a:prstGeom>
          <a:noFill/>
        </p:spPr>
        <p:txBody>
          <a:bodyPr wrap="square" lIns="50800" rIns="50800" tIns="25400" bIns="25400">
            <a:spAutoFit/>
          </a:bodyPr>
          <a:lstStyle/>
          <a:p>
            <a:pPr algn="ctr"/>
            <a:r>
              <a:rPr sz="1000" b="1" i="0">
                <a:solidFill>
                  <a:srgbClr val="FFFFFF"/>
                </a:solidFill>
                <a:latin typeface="Calibri"/>
              </a:rPr>
              <a:t>MC2 CaCl₂</a:t>
            </a:r>
          </a:p>
        </p:txBody>
      </p:sp>
      <p:pic>
        <p:nvPicPr>
          <p:cNvPr id="14" name="Picture 13" descr="mass-JAO_071124_NF270_MC3_SCaCl2_CaCl2_07.11.24_SCaCl2.png"/>
          <p:cNvPicPr>
            <a:picLocks noChangeAspect="1"/>
          </p:cNvPicPr>
          <p:nvPr/>
        </p:nvPicPr>
        <p:blipFill>
          <a:blip r:embed="rId4"/>
          <a:stretch>
            <a:fillRect/>
          </a:stretch>
        </p:blipFill>
        <p:spPr>
          <a:xfrm>
            <a:off x="4307840" y="1508760"/>
            <a:ext cx="3576320" cy="1828800"/>
          </a:xfrm>
          <a:prstGeom prst="rect">
            <a:avLst/>
          </a:prstGeom>
        </p:spPr>
      </p:pic>
      <p:pic>
        <p:nvPicPr>
          <p:cNvPr id="15" name="Picture 14" descr="concentration-JAO_071124_NF270_MC3_SCaCl2_CaCl2_07.11.24_SCaCl2.png"/>
          <p:cNvPicPr>
            <a:picLocks noChangeAspect="1"/>
          </p:cNvPicPr>
          <p:nvPr/>
        </p:nvPicPr>
        <p:blipFill>
          <a:blip r:embed="rId5"/>
          <a:stretch>
            <a:fillRect/>
          </a:stretch>
        </p:blipFill>
        <p:spPr>
          <a:xfrm>
            <a:off x="4307840" y="3429000"/>
            <a:ext cx="3576320" cy="1828800"/>
          </a:xfrm>
          <a:prstGeom prst="rect">
            <a:avLst/>
          </a:prstGeom>
        </p:spPr>
      </p:pic>
      <p:sp>
        <p:nvSpPr>
          <p:cNvPr id="16" name="Rectangle 15"/>
          <p:cNvSpPr/>
          <p:nvPr/>
        </p:nvSpPr>
        <p:spPr>
          <a:xfrm>
            <a:off x="4307840" y="5303520"/>
            <a:ext cx="3576320" cy="27432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7840" y="5303520"/>
            <a:ext cx="3576320" cy="274320"/>
          </a:xfrm>
          <a:prstGeom prst="rect">
            <a:avLst/>
          </a:prstGeom>
          <a:noFill/>
        </p:spPr>
        <p:txBody>
          <a:bodyPr wrap="square" lIns="50800" rIns="50800" tIns="25400" bIns="25400">
            <a:spAutoFit/>
          </a:bodyPr>
          <a:lstStyle/>
          <a:p>
            <a:pPr algn="ctr"/>
            <a:r>
              <a:rPr sz="1000" b="1" i="0">
                <a:solidFill>
                  <a:srgbClr val="FFFFFF"/>
                </a:solidFill>
                <a:latin typeface="Calibri"/>
              </a:rPr>
              <a:t>MC3 SCaCl₂</a:t>
            </a:r>
          </a:p>
        </p:txBody>
      </p:sp>
      <p:pic>
        <p:nvPicPr>
          <p:cNvPr id="18" name="Picture 17" descr="mass-JAO_071224_NF270_MC3_S2CaCl2_CaCl2_07.12.24_S2CaCl2.png"/>
          <p:cNvPicPr>
            <a:picLocks noChangeAspect="1"/>
          </p:cNvPicPr>
          <p:nvPr/>
        </p:nvPicPr>
        <p:blipFill>
          <a:blip r:embed="rId6"/>
          <a:stretch>
            <a:fillRect/>
          </a:stretch>
        </p:blipFill>
        <p:spPr>
          <a:xfrm>
            <a:off x="8067040" y="1508760"/>
            <a:ext cx="3576320" cy="1828800"/>
          </a:xfrm>
          <a:prstGeom prst="rect">
            <a:avLst/>
          </a:prstGeom>
        </p:spPr>
      </p:pic>
      <p:pic>
        <p:nvPicPr>
          <p:cNvPr id="19" name="Picture 18" descr="concentration-JAO_071224_NF270_MC3_S2CaCl2_CaCl2_07.12.24_S2CaCl2.png"/>
          <p:cNvPicPr>
            <a:picLocks noChangeAspect="1"/>
          </p:cNvPicPr>
          <p:nvPr/>
        </p:nvPicPr>
        <p:blipFill>
          <a:blip r:embed="rId7"/>
          <a:stretch>
            <a:fillRect/>
          </a:stretch>
        </p:blipFill>
        <p:spPr>
          <a:xfrm>
            <a:off x="8067040" y="3429000"/>
            <a:ext cx="3576320" cy="1828800"/>
          </a:xfrm>
          <a:prstGeom prst="rect">
            <a:avLst/>
          </a:prstGeom>
        </p:spPr>
      </p:pic>
      <p:sp>
        <p:nvSpPr>
          <p:cNvPr id="20" name="Rectangle 19"/>
          <p:cNvSpPr/>
          <p:nvPr/>
        </p:nvSpPr>
        <p:spPr>
          <a:xfrm>
            <a:off x="8067040" y="5303520"/>
            <a:ext cx="3576320" cy="27432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67040" y="5303520"/>
            <a:ext cx="3576320" cy="274320"/>
          </a:xfrm>
          <a:prstGeom prst="rect">
            <a:avLst/>
          </a:prstGeom>
          <a:noFill/>
        </p:spPr>
        <p:txBody>
          <a:bodyPr wrap="square" lIns="50800" rIns="50800" tIns="25400" bIns="25400">
            <a:spAutoFit/>
          </a:bodyPr>
          <a:lstStyle/>
          <a:p>
            <a:pPr algn="ctr"/>
            <a:r>
              <a:rPr sz="1000" b="1" i="0">
                <a:solidFill>
                  <a:srgbClr val="FFFFFF"/>
                </a:solidFill>
                <a:latin typeface="Calibri"/>
              </a:rPr>
              <a:t>MC3 S2CaCl₂  ·  worst</a:t>
            </a:r>
          </a:p>
        </p:txBody>
      </p:sp>
      <p:sp>
        <p:nvSpPr>
          <p:cNvPr id="22" name="Rectangle 21"/>
          <p:cNvSpPr/>
          <p:nvPr/>
        </p:nvSpPr>
        <p:spPr>
          <a:xfrm>
            <a:off x="457200" y="585216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91616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Mass shortfall is larger than NaCl C-regime because per-mM osmotic contribution is 1.5× higher. MC3 S2CaCl₂ is worst case: σ AND B at their bounds simultaneously.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03D · CURRENT FIT RESULTS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03d</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Current fit results  ·  LaCl₃  ·  trivalent  ·  2 sheets</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LaCl₃ (trivalent): worst mass shortfall and Lp channel disagreement</a:t>
            </a:r>
          </a:p>
        </p:txBody>
      </p:sp>
      <p:sp>
        <p:nvSpPr>
          <p:cNvPr id="8" name="TextBox 7"/>
          <p:cNvSpPr txBox="1"/>
          <p:nvPr/>
        </p:nvSpPr>
        <p:spPr>
          <a:xfrm>
            <a:off x="457200" y="1234440"/>
            <a:ext cx="5486400" cy="274320"/>
          </a:xfrm>
          <a:prstGeom prst="rect">
            <a:avLst/>
          </a:prstGeom>
          <a:noFill/>
        </p:spPr>
        <p:txBody>
          <a:bodyPr wrap="square" lIns="50800" rIns="50800" tIns="25400" bIns="25400">
            <a:spAutoFit/>
          </a:bodyPr>
          <a:lstStyle/>
          <a:p>
            <a:pPr algn="l"/>
            <a:r>
              <a:rPr sz="1100" b="1" i="0">
                <a:solidFill>
                  <a:srgbClr val="065A82"/>
                </a:solidFill>
                <a:latin typeface="Calibri"/>
              </a:rPr>
              <a:t>MASS  (g vs min)</a:t>
            </a:r>
          </a:p>
        </p:txBody>
      </p:sp>
      <p:sp>
        <p:nvSpPr>
          <p:cNvPr id="9" name="TextBox 8"/>
          <p:cNvSpPr txBox="1"/>
          <p:nvPr/>
        </p:nvSpPr>
        <p:spPr>
          <a:xfrm>
            <a:off x="6248400" y="1234440"/>
            <a:ext cx="5486400" cy="274320"/>
          </a:xfrm>
          <a:prstGeom prst="rect">
            <a:avLst/>
          </a:prstGeom>
          <a:noFill/>
        </p:spPr>
        <p:txBody>
          <a:bodyPr wrap="square" lIns="50800" rIns="50800" tIns="25400" bIns="25400">
            <a:spAutoFit/>
          </a:bodyPr>
          <a:lstStyle/>
          <a:p>
            <a:pPr algn="r"/>
            <a:r>
              <a:rPr sz="1100" b="1" i="0">
                <a:solidFill>
                  <a:srgbClr val="065A82"/>
                </a:solidFill>
                <a:latin typeface="Calibri"/>
              </a:rPr>
              <a:t>CONCENTRATION  (mM vs min)</a:t>
            </a:r>
          </a:p>
        </p:txBody>
      </p:sp>
      <p:pic>
        <p:nvPicPr>
          <p:cNvPr id="10" name="Picture 9" descr="mass-JAO_052124_NF270_MC2_LaCl3_LaCl3_05.21.24_LaCl3.png"/>
          <p:cNvPicPr>
            <a:picLocks noChangeAspect="1"/>
          </p:cNvPicPr>
          <p:nvPr/>
        </p:nvPicPr>
        <p:blipFill>
          <a:blip r:embed="rId2"/>
          <a:stretch>
            <a:fillRect/>
          </a:stretch>
        </p:blipFill>
        <p:spPr>
          <a:xfrm>
            <a:off x="548640" y="1508760"/>
            <a:ext cx="5455920" cy="1828800"/>
          </a:xfrm>
          <a:prstGeom prst="rect">
            <a:avLst/>
          </a:prstGeom>
        </p:spPr>
      </p:pic>
      <p:pic>
        <p:nvPicPr>
          <p:cNvPr id="11" name="Picture 10" descr="concentration-JAO_052124_NF270_MC2_LaCl3_LaCl3_05.21.24_LaCl3.png"/>
          <p:cNvPicPr>
            <a:picLocks noChangeAspect="1"/>
          </p:cNvPicPr>
          <p:nvPr/>
        </p:nvPicPr>
        <p:blipFill>
          <a:blip r:embed="rId3"/>
          <a:stretch>
            <a:fillRect/>
          </a:stretch>
        </p:blipFill>
        <p:spPr>
          <a:xfrm>
            <a:off x="548640" y="3429000"/>
            <a:ext cx="5455920" cy="1828800"/>
          </a:xfrm>
          <a:prstGeom prst="rect">
            <a:avLst/>
          </a:prstGeom>
        </p:spPr>
      </p:pic>
      <p:sp>
        <p:nvSpPr>
          <p:cNvPr id="12" name="Rectangle 11"/>
          <p:cNvSpPr/>
          <p:nvPr/>
        </p:nvSpPr>
        <p:spPr>
          <a:xfrm>
            <a:off x="548640" y="5303520"/>
            <a:ext cx="54559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303520"/>
            <a:ext cx="5455920" cy="274320"/>
          </a:xfrm>
          <a:prstGeom prst="rect">
            <a:avLst/>
          </a:prstGeom>
          <a:noFill/>
        </p:spPr>
        <p:txBody>
          <a:bodyPr wrap="square" lIns="50800" rIns="50800" tIns="25400" bIns="25400">
            <a:spAutoFit/>
          </a:bodyPr>
          <a:lstStyle/>
          <a:p>
            <a:pPr algn="ctr"/>
            <a:r>
              <a:rPr sz="1000" b="1" i="0">
                <a:solidFill>
                  <a:srgbClr val="FFFFFF"/>
                </a:solidFill>
                <a:latin typeface="Calibri"/>
              </a:rPr>
              <a:t>MC2 LaCl₃</a:t>
            </a:r>
          </a:p>
        </p:txBody>
      </p:sp>
      <p:pic>
        <p:nvPicPr>
          <p:cNvPr id="14" name="Picture 13" descr="mass-LL_071124_NF270_MC_4_LaCl3_07.11.24_SLaCl3.png"/>
          <p:cNvPicPr>
            <a:picLocks noChangeAspect="1"/>
          </p:cNvPicPr>
          <p:nvPr/>
        </p:nvPicPr>
        <p:blipFill>
          <a:blip r:embed="rId4"/>
          <a:stretch>
            <a:fillRect/>
          </a:stretch>
        </p:blipFill>
        <p:spPr>
          <a:xfrm>
            <a:off x="6187440" y="1508760"/>
            <a:ext cx="5455920" cy="1828800"/>
          </a:xfrm>
          <a:prstGeom prst="rect">
            <a:avLst/>
          </a:prstGeom>
        </p:spPr>
      </p:pic>
      <p:pic>
        <p:nvPicPr>
          <p:cNvPr id="15" name="Picture 14" descr="concentration-LL_071124_NF270_MC_4_LaCl3_07.11.24_SLaCl3.png"/>
          <p:cNvPicPr>
            <a:picLocks noChangeAspect="1"/>
          </p:cNvPicPr>
          <p:nvPr/>
        </p:nvPicPr>
        <p:blipFill>
          <a:blip r:embed="rId5"/>
          <a:stretch>
            <a:fillRect/>
          </a:stretch>
        </p:blipFill>
        <p:spPr>
          <a:xfrm>
            <a:off x="6187440" y="3429000"/>
            <a:ext cx="5455920" cy="1828800"/>
          </a:xfrm>
          <a:prstGeom prst="rect">
            <a:avLst/>
          </a:prstGeom>
        </p:spPr>
      </p:pic>
      <p:sp>
        <p:nvSpPr>
          <p:cNvPr id="16" name="Rectangle 15"/>
          <p:cNvSpPr/>
          <p:nvPr/>
        </p:nvSpPr>
        <p:spPr>
          <a:xfrm>
            <a:off x="6187440" y="5303520"/>
            <a:ext cx="5455920" cy="2743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7440" y="5303520"/>
            <a:ext cx="5455920" cy="274320"/>
          </a:xfrm>
          <a:prstGeom prst="rect">
            <a:avLst/>
          </a:prstGeom>
          <a:noFill/>
        </p:spPr>
        <p:txBody>
          <a:bodyPr wrap="square" lIns="50800" rIns="50800" tIns="25400" bIns="25400">
            <a:spAutoFit/>
          </a:bodyPr>
          <a:lstStyle/>
          <a:p>
            <a:pPr algn="ctr"/>
            <a:r>
              <a:rPr sz="1000" b="1" i="0">
                <a:solidFill>
                  <a:srgbClr val="FFFFFF"/>
                </a:solidFill>
                <a:latin typeface="Calibri"/>
              </a:rPr>
              <a:t>MC4 SLaCl₃</a:t>
            </a:r>
          </a:p>
        </p:txBody>
      </p:sp>
      <p:sp>
        <p:nvSpPr>
          <p:cNvPr id="18" name="Rectangle 17"/>
          <p:cNvSpPr/>
          <p:nvPr/>
        </p:nvSpPr>
        <p:spPr>
          <a:xfrm>
            <a:off x="457200" y="585216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91616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Trivalent: ni = 4, so σ·ΔΠ is the dominant term in Jw. σ = 1 wall produces the campaign's worst mass shortfall. Channels disagree on Lp; needs physics fix, not just numerical fix.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04 · ACTION ITEMS COMPLETED</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04</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065A82"/>
                </a:solidFill>
                <a:latin typeface="Calibri"/>
              </a:rPr>
              <a:t>what's been done since the last update</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Four diagnostic + corrective actions delivered</a:t>
            </a:r>
          </a:p>
        </p:txBody>
      </p:sp>
      <p:sp>
        <p:nvSpPr>
          <p:cNvPr id="8" name="Rectangle 7"/>
          <p:cNvSpPr/>
          <p:nvPr/>
        </p:nvSpPr>
        <p:spPr>
          <a:xfrm>
            <a:off x="457200" y="1417320"/>
            <a:ext cx="777240" cy="100584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777240" cy="1005840"/>
          </a:xfrm>
          <a:prstGeom prst="rect">
            <a:avLst/>
          </a:prstGeom>
          <a:noFill/>
        </p:spPr>
        <p:txBody>
          <a:bodyPr wrap="square" lIns="50800" rIns="50800" tIns="25400" bIns="25400">
            <a:spAutoFit/>
          </a:bodyPr>
          <a:lstStyle/>
          <a:p>
            <a:pPr algn="ctr"/>
            <a:r>
              <a:rPr sz="2400" b="1" i="0">
                <a:solidFill>
                  <a:srgbClr val="FFFFFF"/>
                </a:solidFill>
                <a:latin typeface="Calibri"/>
              </a:rPr>
              <a:t>01</a:t>
            </a:r>
          </a:p>
        </p:txBody>
      </p:sp>
      <p:sp>
        <p:nvSpPr>
          <p:cNvPr id="10" name="Rectangle 9"/>
          <p:cNvSpPr/>
          <p:nvPr/>
        </p:nvSpPr>
        <p:spPr>
          <a:xfrm>
            <a:off x="1280160" y="1417320"/>
            <a:ext cx="104546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490472"/>
            <a:ext cx="10180320" cy="320040"/>
          </a:xfrm>
          <a:prstGeom prst="rect">
            <a:avLst/>
          </a:prstGeom>
          <a:noFill/>
        </p:spPr>
        <p:txBody>
          <a:bodyPr wrap="square" lIns="50800" rIns="50800" tIns="25400" bIns="25400">
            <a:spAutoFit/>
          </a:bodyPr>
          <a:lstStyle/>
          <a:p>
            <a:pPr algn="l"/>
            <a:r>
              <a:rPr sz="1400" b="1" i="0">
                <a:solidFill>
                  <a:srgbClr val="065A82"/>
                </a:solidFill>
                <a:latin typeface="Calibri"/>
              </a:rPr>
              <a:t>Mass-litmus test</a:t>
            </a:r>
          </a:p>
        </p:txBody>
      </p:sp>
      <p:sp>
        <p:nvSpPr>
          <p:cNvPr id="12" name="TextBox 11"/>
          <p:cNvSpPr txBox="1"/>
          <p:nvPr/>
        </p:nvSpPr>
        <p:spPr>
          <a:xfrm>
            <a:off x="1417320" y="1801368"/>
            <a:ext cx="10180320" cy="594360"/>
          </a:xfrm>
          <a:prstGeom prst="rect">
            <a:avLst/>
          </a:prstGeom>
          <a:noFill/>
        </p:spPr>
        <p:txBody>
          <a:bodyPr wrap="square" lIns="50800" rIns="50800" tIns="25400" bIns="25400">
            <a:spAutoFit/>
          </a:bodyPr>
          <a:lstStyle/>
          <a:p>
            <a:pPr algn="l"/>
            <a:r>
              <a:rPr sz="1100" b="0" i="0">
                <a:solidFill>
                  <a:srgbClr val="36454F"/>
                </a:solidFill>
                <a:latin typeface="Calibri"/>
              </a:rPr>
              <a:t>σ = 0 closed-form Lp regression (data_config['Lp0_method'] = 'data_driven'). Decouples Lp identifiability from the σ / B parameters. Lp from this is the data-driven seed for every NF270 fit.</a:t>
            </a:r>
          </a:p>
        </p:txBody>
      </p:sp>
      <p:sp>
        <p:nvSpPr>
          <p:cNvPr id="13" name="Rectangle 12"/>
          <p:cNvSpPr/>
          <p:nvPr/>
        </p:nvSpPr>
        <p:spPr>
          <a:xfrm>
            <a:off x="457200" y="2560320"/>
            <a:ext cx="777240" cy="10058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560320"/>
            <a:ext cx="777240" cy="1005840"/>
          </a:xfrm>
          <a:prstGeom prst="rect">
            <a:avLst/>
          </a:prstGeom>
          <a:noFill/>
        </p:spPr>
        <p:txBody>
          <a:bodyPr wrap="square" lIns="50800" rIns="50800" tIns="25400" bIns="25400">
            <a:spAutoFit/>
          </a:bodyPr>
          <a:lstStyle/>
          <a:p>
            <a:pPr algn="ctr"/>
            <a:r>
              <a:rPr sz="2400" b="1" i="0">
                <a:solidFill>
                  <a:srgbClr val="FFFFFF"/>
                </a:solidFill>
                <a:latin typeface="Calibri"/>
              </a:rPr>
              <a:t>02</a:t>
            </a:r>
          </a:p>
        </p:txBody>
      </p:sp>
      <p:sp>
        <p:nvSpPr>
          <p:cNvPr id="15" name="Rectangle 14"/>
          <p:cNvSpPr/>
          <p:nvPr/>
        </p:nvSpPr>
        <p:spPr>
          <a:xfrm>
            <a:off x="1280160" y="2560320"/>
            <a:ext cx="104546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633472"/>
            <a:ext cx="10180320" cy="320040"/>
          </a:xfrm>
          <a:prstGeom prst="rect">
            <a:avLst/>
          </a:prstGeom>
          <a:noFill/>
        </p:spPr>
        <p:txBody>
          <a:bodyPr wrap="square" lIns="50800" rIns="50800" tIns="25400" bIns="25400">
            <a:spAutoFit/>
          </a:bodyPr>
          <a:lstStyle/>
          <a:p>
            <a:pPr algn="l"/>
            <a:r>
              <a:rPr sz="1400" b="1" i="0">
                <a:solidFill>
                  <a:srgbClr val="065A82"/>
                </a:solidFill>
                <a:latin typeface="Calibri"/>
              </a:rPr>
              <a:t>Contour panels  ·  σ-Lp + B-Lp per sheet</a:t>
            </a:r>
          </a:p>
        </p:txBody>
      </p:sp>
      <p:sp>
        <p:nvSpPr>
          <p:cNvPr id="17" name="TextBox 16"/>
          <p:cNvSpPr txBox="1"/>
          <p:nvPr/>
        </p:nvSpPr>
        <p:spPr>
          <a:xfrm>
            <a:off x="1417320" y="2944368"/>
            <a:ext cx="10180320" cy="594360"/>
          </a:xfrm>
          <a:prstGeom prst="rect">
            <a:avLst/>
          </a:prstGeom>
          <a:noFill/>
        </p:spPr>
        <p:txBody>
          <a:bodyPr wrap="square" lIns="50800" rIns="50800" tIns="25400" bIns="25400">
            <a:spAutoFit/>
          </a:bodyPr>
          <a:lstStyle/>
          <a:p>
            <a:pPr algn="l"/>
            <a:r>
              <a:rPr sz="1100" b="0" i="0">
                <a:solidFill>
                  <a:srgbClr val="36454F"/>
                </a:solidFill>
                <a:latin typeface="Calibri"/>
              </a:rPr>
              <a:t>11 single-salt sheets × 2 sweeps (σ-Lp, B-Lp) = 22 panels. Reveals which channels constrain which parameter, and where the optimizer pins.</a:t>
            </a:r>
          </a:p>
        </p:txBody>
      </p:sp>
      <p:sp>
        <p:nvSpPr>
          <p:cNvPr id="18" name="Rectangle 17"/>
          <p:cNvSpPr/>
          <p:nvPr/>
        </p:nvSpPr>
        <p:spPr>
          <a:xfrm>
            <a:off x="457200" y="3703320"/>
            <a:ext cx="777240" cy="100584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777240" cy="1005840"/>
          </a:xfrm>
          <a:prstGeom prst="rect">
            <a:avLst/>
          </a:prstGeom>
          <a:noFill/>
        </p:spPr>
        <p:txBody>
          <a:bodyPr wrap="square" lIns="50800" rIns="50800" tIns="25400" bIns="25400">
            <a:spAutoFit/>
          </a:bodyPr>
          <a:lstStyle/>
          <a:p>
            <a:pPr algn="ctr"/>
            <a:r>
              <a:rPr sz="2400" b="1" i="0">
                <a:solidFill>
                  <a:srgbClr val="FFFFFF"/>
                </a:solidFill>
                <a:latin typeface="Calibri"/>
              </a:rPr>
              <a:t>03</a:t>
            </a:r>
          </a:p>
        </p:txBody>
      </p:sp>
      <p:sp>
        <p:nvSpPr>
          <p:cNvPr id="20" name="Rectangle 19"/>
          <p:cNvSpPr/>
          <p:nvPr/>
        </p:nvSpPr>
        <p:spPr>
          <a:xfrm>
            <a:off x="1280160" y="3703320"/>
            <a:ext cx="104546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776472"/>
            <a:ext cx="10180320" cy="320040"/>
          </a:xfrm>
          <a:prstGeom prst="rect">
            <a:avLst/>
          </a:prstGeom>
          <a:noFill/>
        </p:spPr>
        <p:txBody>
          <a:bodyPr wrap="square" lIns="50800" rIns="50800" tIns="25400" bIns="25400">
            <a:spAutoFit/>
          </a:bodyPr>
          <a:lstStyle/>
          <a:p>
            <a:pPr algn="l"/>
            <a:r>
              <a:rPr sz="1400" b="1" i="0">
                <a:solidFill>
                  <a:srgbClr val="065A82"/>
                </a:solidFill>
                <a:latin typeface="Calibri"/>
              </a:rPr>
              <a:t>Conductivity correction to 25 °C  (EC25)</a:t>
            </a:r>
          </a:p>
        </p:txBody>
      </p:sp>
      <p:sp>
        <p:nvSpPr>
          <p:cNvPr id="22" name="TextBox 21"/>
          <p:cNvSpPr txBox="1"/>
          <p:nvPr/>
        </p:nvSpPr>
        <p:spPr>
          <a:xfrm>
            <a:off x="1417320" y="4087368"/>
            <a:ext cx="10180320" cy="594360"/>
          </a:xfrm>
          <a:prstGeom prst="rect">
            <a:avLst/>
          </a:prstGeom>
          <a:noFill/>
        </p:spPr>
        <p:txBody>
          <a:bodyPr wrap="square" lIns="50800" rIns="50800" tIns="25400" bIns="25400">
            <a:spAutoFit/>
          </a:bodyPr>
          <a:lstStyle/>
          <a:p>
            <a:pPr algn="l"/>
            <a:r>
              <a:rPr sz="1100" b="0" i="0">
                <a:solidFill>
                  <a:srgbClr val="36454F"/>
                </a:solidFill>
                <a:latin typeface="Calibri"/>
              </a:rPr>
              <a:t>σ₂₅ = σ_T · (1 + α(25 − T)) applied per-row, per-stream at load time. Salt-specific α from Robinson &amp; Stokes; compensation flag on every NF270 data_stru.</a:t>
            </a:r>
          </a:p>
        </p:txBody>
      </p:sp>
      <p:sp>
        <p:nvSpPr>
          <p:cNvPr id="23" name="Rectangle 22"/>
          <p:cNvSpPr/>
          <p:nvPr/>
        </p:nvSpPr>
        <p:spPr>
          <a:xfrm>
            <a:off x="457200" y="4846320"/>
            <a:ext cx="777240" cy="100584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46320"/>
            <a:ext cx="777240" cy="1005840"/>
          </a:xfrm>
          <a:prstGeom prst="rect">
            <a:avLst/>
          </a:prstGeom>
          <a:noFill/>
        </p:spPr>
        <p:txBody>
          <a:bodyPr wrap="square" lIns="50800" rIns="50800" tIns="25400" bIns="25400">
            <a:spAutoFit/>
          </a:bodyPr>
          <a:lstStyle/>
          <a:p>
            <a:pPr algn="ctr"/>
            <a:r>
              <a:rPr sz="2400" b="1" i="0">
                <a:solidFill>
                  <a:srgbClr val="FFFFFF"/>
                </a:solidFill>
                <a:latin typeface="Calibri"/>
              </a:rPr>
              <a:t>04</a:t>
            </a:r>
          </a:p>
        </p:txBody>
      </p:sp>
      <p:sp>
        <p:nvSpPr>
          <p:cNvPr id="25" name="Rectangle 24"/>
          <p:cNvSpPr/>
          <p:nvPr/>
        </p:nvSpPr>
        <p:spPr>
          <a:xfrm>
            <a:off x="1280160" y="4846320"/>
            <a:ext cx="10454640" cy="1005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919472"/>
            <a:ext cx="10180320" cy="320040"/>
          </a:xfrm>
          <a:prstGeom prst="rect">
            <a:avLst/>
          </a:prstGeom>
          <a:noFill/>
        </p:spPr>
        <p:txBody>
          <a:bodyPr wrap="square" lIns="50800" rIns="50800" tIns="25400" bIns="25400">
            <a:spAutoFit/>
          </a:bodyPr>
          <a:lstStyle/>
          <a:p>
            <a:pPr algn="l"/>
            <a:r>
              <a:rPr sz="1400" b="1" i="0">
                <a:solidFill>
                  <a:srgbClr val="065A82"/>
                </a:solidFill>
                <a:latin typeface="Calibri"/>
              </a:rPr>
              <a:t>cF residual weighting evaluation  →  cF-floor fix</a:t>
            </a:r>
          </a:p>
        </p:txBody>
      </p:sp>
      <p:sp>
        <p:nvSpPr>
          <p:cNvPr id="27" name="TextBox 26"/>
          <p:cNvSpPr txBox="1"/>
          <p:nvPr/>
        </p:nvSpPr>
        <p:spPr>
          <a:xfrm>
            <a:off x="1417320" y="5230368"/>
            <a:ext cx="10180320" cy="594360"/>
          </a:xfrm>
          <a:prstGeom prst="rect">
            <a:avLst/>
          </a:prstGeom>
          <a:noFill/>
        </p:spPr>
        <p:txBody>
          <a:bodyPr wrap="square" lIns="50800" rIns="50800" tIns="25400" bIns="25400">
            <a:spAutoFit/>
          </a:bodyPr>
          <a:lstStyle/>
          <a:p>
            <a:pPr algn="l"/>
            <a:r>
              <a:rPr sz="1100" b="0" i="0">
                <a:solidFill>
                  <a:srgbClr val="36454F"/>
                </a:solidFill>
                <a:latin typeface="Calibri"/>
              </a:rPr>
              <a:t>Identified 0.3% relative cF weight as the over-constraint pulling σ to the wall. Proof: floor = 1 mM moves MC2 CaCl₂ σ from 1.0 → 0.38 (interior), total obj × 5.8 better.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05 · MASS-LITMUS BASELINE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05</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Bad ParmEst fit vs mass-litmus baseline — σ=0 closed-form Lp regression</a:t>
            </a:r>
          </a:p>
        </p:txBody>
      </p:sp>
      <p:pic>
        <p:nvPicPr>
          <p:cNvPr id="7" name="Picture 6" descr="_panel_4salt_compare.png"/>
          <p:cNvPicPr>
            <a:picLocks noChangeAspect="1"/>
          </p:cNvPicPr>
          <p:nvPr/>
        </p:nvPicPr>
        <p:blipFill>
          <a:blip r:embed="rId2"/>
          <a:stretch>
            <a:fillRect/>
          </a:stretch>
        </p:blipFill>
        <p:spPr>
          <a:xfrm>
            <a:off x="274320" y="1280160"/>
            <a:ext cx="11612880" cy="4937760"/>
          </a:xfrm>
          <a:prstGeom prst="rect">
            <a:avLst/>
          </a:prstGeom>
        </p:spPr>
      </p:pic>
      <p:sp>
        <p:nvSpPr>
          <p:cNvPr id="8" name="Rectangle 7"/>
          <p:cNvSpPr/>
          <p:nvPr/>
        </p:nvSpPr>
        <p:spPr>
          <a:xfrm>
            <a:off x="457200" y="6263640"/>
            <a:ext cx="11247120" cy="320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281928"/>
            <a:ext cx="11247120" cy="292608"/>
          </a:xfrm>
          <a:prstGeom prst="rect">
            <a:avLst/>
          </a:prstGeom>
          <a:noFill/>
        </p:spPr>
        <p:txBody>
          <a:bodyPr wrap="square" lIns="0" tIns="0" rIns="0" bIns="0" anchor="ctr">
            <a:spAutoFit/>
          </a:bodyPr>
          <a:lstStyle/>
          <a:p>
            <a:pPr algn="ctr"/>
            <a:r>
              <a:rPr sz="900" b="1" i="0">
                <a:solidFill>
                  <a:srgbClr val="FFFFFF"/>
                </a:solidFill>
                <a:latin typeface="Calibri"/>
              </a:rPr>
              <a:t>Left = ParmEst full fit (σ released, B fitted, IPOPT) — landed in the Mode B σ=1 corner.   Right = mass-litmus baseline:  σ=0, B dropped, Lp from closed-form regression Lp = slope · 36000 / (Am · ρ · ΔP)  where slope = Σ(Δt · m) / Σ(Δt²).  Always optimal by construction.  The baseline beats the full fit → σ/B parameters are not yet doing useful work; landscape problem, not model problem.</a:t>
            </a:r>
          </a:p>
        </p:txBody>
      </p:sp>
      <p:sp>
        <p:nvSpPr>
          <p:cNvPr id="10" name="Rectangle 9"/>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12" name="TextBox 11"/>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5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05 · MASS-LITMUS  ·  VS  CURRENT FITS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05</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mass-only Lp seed  vs  full ParmEst (Lp, B, σ)</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The mass-litmus baseline is what makes the σ pathology visible</a:t>
            </a:r>
          </a:p>
        </p:txBody>
      </p:sp>
      <p:sp>
        <p:nvSpPr>
          <p:cNvPr id="8" name="Rectangle 7"/>
          <p:cNvSpPr/>
          <p:nvPr/>
        </p:nvSpPr>
        <p:spPr>
          <a:xfrm>
            <a:off x="457200" y="1417320"/>
            <a:ext cx="554736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5547360" cy="365760"/>
          </a:xfrm>
          <a:prstGeom prst="rect">
            <a:avLst/>
          </a:prstGeom>
          <a:noFill/>
        </p:spPr>
        <p:txBody>
          <a:bodyPr wrap="square" lIns="50800" rIns="50800" tIns="25400" bIns="25400">
            <a:spAutoFit/>
          </a:bodyPr>
          <a:lstStyle/>
          <a:p>
            <a:pPr algn="ctr"/>
            <a:r>
              <a:rPr sz="1300" b="1" i="0">
                <a:solidFill>
                  <a:srgbClr val="FFFFFF"/>
                </a:solidFill>
                <a:latin typeface="Calibri"/>
              </a:rPr>
              <a:t>MASS-LITMUS BASELINE</a:t>
            </a:r>
          </a:p>
        </p:txBody>
      </p:sp>
      <p:sp>
        <p:nvSpPr>
          <p:cNvPr id="10" name="Rectangle 9"/>
          <p:cNvSpPr/>
          <p:nvPr/>
        </p:nvSpPr>
        <p:spPr>
          <a:xfrm>
            <a:off x="457200" y="1783080"/>
            <a:ext cx="5547360" cy="3749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20240"/>
            <a:ext cx="5181600" cy="3520440"/>
          </a:xfrm>
          <a:prstGeom prst="rect">
            <a:avLst/>
          </a:prstGeom>
          <a:noFill/>
        </p:spPr>
        <p:txBody>
          <a:bodyPr wrap="square" lIns="50800" rIns="50800" tIns="25400" bIns="25400">
            <a:spAutoFit/>
          </a:bodyPr>
          <a:lstStyle/>
          <a:p>
            <a:pPr algn="l"/>
            <a:r>
              <a:rPr sz="1100" b="0" i="0">
                <a:solidFill>
                  <a:srgbClr val="36454F"/>
                </a:solidFill>
                <a:latin typeface="Calibri"/>
              </a:rPr>
              <a:t>Fix:  σ = 0,  B = 10⁻⁶  (drop the rejection physics)</a:t>
            </a:r>
          </a:p>
          <a:p>
            <a:pPr algn="l"/>
            <a:r>
              <a:rPr sz="1100" b="0" i="0">
                <a:solidFill>
                  <a:srgbClr val="36454F"/>
                </a:solidFill>
                <a:latin typeface="Calibri"/>
              </a:rPr>
              <a:t>Closed-form regression on the mass channel only:</a:t>
            </a:r>
          </a:p>
          <a:p>
            <a:pPr algn="l"/>
            <a:r>
              <a:rPr sz="1100" b="0" i="0">
                <a:solidFill>
                  <a:srgbClr val="36454F"/>
                </a:solidFill>
                <a:latin typeface="Calibri"/>
              </a:rPr>
              <a:t>    Lp = slope · 36000 / (Aₘ · ρ · ΔP)</a:t>
            </a:r>
          </a:p>
          <a:p>
            <a:pPr algn="l"/>
            <a:r>
              <a:rPr sz="1100" b="0" i="0">
                <a:solidFill>
                  <a:srgbClr val="36454F"/>
                </a:solidFill>
                <a:latin typeface="Calibri"/>
              </a:rPr>
              <a:t>    slope = Σ(Δt · m) / Σ(Δt²)</a:t>
            </a:r>
          </a:p>
          <a:p>
            <a:pPr algn="l"/>
            <a:r>
              <a:rPr sz="1100" b="0" i="0">
                <a:solidFill>
                  <a:srgbClr val="36454F"/>
                </a:solidFill>
                <a:latin typeface="Calibri"/>
              </a:rPr>
              <a:t/>
            </a:r>
          </a:p>
          <a:p>
            <a:pPr algn="l"/>
            <a:r>
              <a:rPr sz="1100" b="0" i="0">
                <a:solidFill>
                  <a:srgbClr val="36454F"/>
                </a:solidFill>
                <a:latin typeface="Calibri"/>
              </a:rPr>
              <a:t>Pros:</a:t>
            </a:r>
          </a:p>
          <a:p>
            <a:pPr algn="l"/>
            <a:r>
              <a:rPr sz="1100" b="0" i="0">
                <a:solidFill>
                  <a:srgbClr val="36454F"/>
                </a:solidFill>
                <a:latin typeface="Calibri"/>
              </a:rPr>
              <a:t>  • Always converges; no IPOPT.</a:t>
            </a:r>
          </a:p>
          <a:p>
            <a:pPr algn="l"/>
            <a:r>
              <a:rPr sz="1100" b="0" i="0">
                <a:solidFill>
                  <a:srgbClr val="36454F"/>
                </a:solidFill>
                <a:latin typeface="Calibri"/>
              </a:rPr>
              <a:t>  • Lp identifiable from balance trace alone.</a:t>
            </a:r>
          </a:p>
          <a:p>
            <a:pPr algn="l"/>
            <a:r>
              <a:rPr sz="1100" b="0" i="0">
                <a:solidFill>
                  <a:srgbClr val="36454F"/>
                </a:solidFill>
                <a:latin typeface="Calibri"/>
              </a:rPr>
              <a:t>  • Gives the data-driven Lp seed for the full fit.</a:t>
            </a:r>
          </a:p>
          <a:p>
            <a:pPr algn="l"/>
            <a:r>
              <a:rPr sz="1100" b="0" i="0">
                <a:solidFill>
                  <a:srgbClr val="36454F"/>
                </a:solidFill>
                <a:latin typeface="Calibri"/>
              </a:rPr>
              <a:t/>
            </a:r>
          </a:p>
          <a:p>
            <a:pPr algn="l"/>
            <a:r>
              <a:rPr sz="1100" b="0" i="0">
                <a:solidFill>
                  <a:srgbClr val="36454F"/>
                </a:solidFill>
                <a:latin typeface="Calibri"/>
              </a:rPr>
              <a:t>Cons:</a:t>
            </a:r>
          </a:p>
          <a:p>
            <a:pPr algn="l"/>
            <a:r>
              <a:rPr sz="1100" b="0" i="0">
                <a:solidFill>
                  <a:srgbClr val="36454F"/>
                </a:solidFill>
                <a:latin typeface="Calibri"/>
              </a:rPr>
              <a:t>  • Cannot say anything about B or σ.</a:t>
            </a:r>
          </a:p>
          <a:p>
            <a:pPr algn="l"/>
            <a:r>
              <a:rPr sz="1100" b="0" i="0">
                <a:solidFill>
                  <a:srgbClr val="36454F"/>
                </a:solidFill>
                <a:latin typeface="Calibri"/>
              </a:rPr>
              <a:t>  • Treats rejection as zero — bad for high-σ membranes.</a:t>
            </a:r>
          </a:p>
        </p:txBody>
      </p:sp>
      <p:sp>
        <p:nvSpPr>
          <p:cNvPr id="12" name="Rectangle 11"/>
          <p:cNvSpPr/>
          <p:nvPr/>
        </p:nvSpPr>
        <p:spPr>
          <a:xfrm>
            <a:off x="6187440" y="1417320"/>
            <a:ext cx="554736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7440" y="1417320"/>
            <a:ext cx="5547360" cy="365760"/>
          </a:xfrm>
          <a:prstGeom prst="rect">
            <a:avLst/>
          </a:prstGeom>
          <a:noFill/>
        </p:spPr>
        <p:txBody>
          <a:bodyPr wrap="square" lIns="50800" rIns="50800" tIns="25400" bIns="25400">
            <a:spAutoFit/>
          </a:bodyPr>
          <a:lstStyle/>
          <a:p>
            <a:pPr algn="ctr"/>
            <a:r>
              <a:rPr sz="1300" b="1" i="0">
                <a:solidFill>
                  <a:srgbClr val="FFFFFF"/>
                </a:solidFill>
                <a:latin typeface="Calibri"/>
              </a:rPr>
              <a:t>FULL PARMEST FIT</a:t>
            </a:r>
          </a:p>
        </p:txBody>
      </p:sp>
      <p:sp>
        <p:nvSpPr>
          <p:cNvPr id="14" name="Rectangle 13"/>
          <p:cNvSpPr/>
          <p:nvPr/>
        </p:nvSpPr>
        <p:spPr>
          <a:xfrm>
            <a:off x="6187440" y="1783080"/>
            <a:ext cx="5547360" cy="3749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320" y="1920240"/>
            <a:ext cx="5181600" cy="3520440"/>
          </a:xfrm>
          <a:prstGeom prst="rect">
            <a:avLst/>
          </a:prstGeom>
          <a:noFill/>
        </p:spPr>
        <p:txBody>
          <a:bodyPr wrap="square" lIns="50800" rIns="50800" tIns="25400" bIns="25400">
            <a:spAutoFit/>
          </a:bodyPr>
          <a:lstStyle/>
          <a:p>
            <a:pPr algn="l"/>
            <a:r>
              <a:rPr sz="1100" b="0" i="0">
                <a:solidFill>
                  <a:srgbClr val="36454F"/>
                </a:solidFill>
                <a:latin typeface="Calibri"/>
              </a:rPr>
              <a:t>Fit:  (Lp, B, σ) all free via IPOPT.</a:t>
            </a:r>
          </a:p>
          <a:p>
            <a:pPr algn="l"/>
            <a:r>
              <a:rPr sz="1100" b="0" i="0">
                <a:solidFill>
                  <a:srgbClr val="36454F"/>
                </a:solidFill>
                <a:latin typeface="Calibri"/>
              </a:rPr>
              <a:t>Objective:  Σ weighted residuals across mass, cV, cF.</a:t>
            </a:r>
          </a:p>
          <a:p>
            <a:pPr algn="l"/>
            <a:r>
              <a:rPr sz="1100" b="0" i="0">
                <a:solidFill>
                  <a:srgbClr val="36454F"/>
                </a:solidFill>
                <a:latin typeface="Calibri"/>
              </a:rPr>
              <a:t/>
            </a:r>
          </a:p>
          <a:p>
            <a:pPr algn="l"/>
            <a:r>
              <a:rPr sz="1100" b="0" i="0">
                <a:solidFill>
                  <a:srgbClr val="36454F"/>
                </a:solidFill>
                <a:latin typeface="Calibri"/>
              </a:rPr>
              <a:t>What we observe:</a:t>
            </a:r>
          </a:p>
          <a:p>
            <a:pPr algn="l"/>
            <a:r>
              <a:rPr sz="1100" b="0" i="0">
                <a:solidFill>
                  <a:srgbClr val="36454F"/>
                </a:solidFill>
                <a:latin typeface="Calibri"/>
              </a:rPr>
              <a:t>  • Lp from full fit ≈ Lp from mass-litmus on dilution sheets.</a:t>
            </a:r>
          </a:p>
          <a:p>
            <a:pPr algn="l"/>
            <a:r>
              <a:rPr sz="1100" b="0" i="0">
                <a:solidFill>
                  <a:srgbClr val="36454F"/>
                </a:solidFill>
                <a:latin typeface="Calibri"/>
              </a:rPr>
              <a:t>  • On concentration sheets:  Lp_full ≠ Lp_litmus —</a:t>
            </a:r>
          </a:p>
          <a:p>
            <a:pPr algn="l"/>
            <a:r>
              <a:rPr sz="1100" b="0" i="0">
                <a:solidFill>
                  <a:srgbClr val="36454F"/>
                </a:solidFill>
                <a:latin typeface="Calibri"/>
              </a:rPr>
              <a:t>      σ pulls Lp away from the mass-only optimum.</a:t>
            </a:r>
          </a:p>
          <a:p>
            <a:pPr algn="l"/>
            <a:r>
              <a:rPr sz="1100" b="0" i="0">
                <a:solidFill>
                  <a:srgbClr val="36454F"/>
                </a:solidFill>
                <a:latin typeface="Calibri"/>
              </a:rPr>
              <a:t/>
            </a:r>
          </a:p>
          <a:p>
            <a:pPr algn="l"/>
            <a:r>
              <a:rPr sz="1100" b="0" i="0">
                <a:solidFill>
                  <a:srgbClr val="36454F"/>
                </a:solidFill>
                <a:latin typeface="Calibri"/>
              </a:rPr>
              <a:t>Interpretation:</a:t>
            </a:r>
          </a:p>
          <a:p>
            <a:pPr algn="l"/>
            <a:r>
              <a:rPr sz="1100" b="0" i="0">
                <a:solidFill>
                  <a:srgbClr val="36454F"/>
                </a:solidFill>
                <a:latin typeface="Calibri"/>
              </a:rPr>
              <a:t>  • Mismatch between Lp_full and Lp_litmus is a direct</a:t>
            </a:r>
          </a:p>
          <a:p>
            <a:pPr algn="l"/>
            <a:r>
              <a:rPr sz="1100" b="0" i="0">
                <a:solidFill>
                  <a:srgbClr val="36454F"/>
                </a:solidFill>
                <a:latin typeface="Calibri"/>
              </a:rPr>
              <a:t>      measure of how much the σ pathology is corrupting Lp.</a:t>
            </a:r>
          </a:p>
          <a:p>
            <a:pPr algn="l"/>
            <a:r>
              <a:rPr sz="1100" b="0" i="0">
                <a:solidFill>
                  <a:srgbClr val="36454F"/>
                </a:solidFill>
                <a:latin typeface="Calibri"/>
              </a:rPr>
              <a:t>  • Larger gap → more σ-induced bias.</a:t>
            </a:r>
          </a:p>
        </p:txBody>
      </p:sp>
      <p:sp>
        <p:nvSpPr>
          <p:cNvPr id="16" name="Rectangle 15"/>
          <p:cNvSpPr/>
          <p:nvPr/>
        </p:nvSpPr>
        <p:spPr>
          <a:xfrm>
            <a:off x="457200" y="571500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77900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Mass-litmus is the ground-truth Lp for low-σ-influence cases.  Its discrepancy with the full fit is itself the diagnostic for σ-identifiability failure.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06 · CONTOUR PANELS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06</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065A82"/>
                </a:solidFill>
                <a:latin typeface="Calibri"/>
              </a:rPr>
              <a:t>DATA1-style 50×50 σ-Lp and B-Lp sweeps  ·  per single-salt sheet</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What the per-channel residual surfaces tell us about identifiability</a:t>
            </a:r>
          </a:p>
        </p:txBody>
      </p:sp>
      <p:sp>
        <p:nvSpPr>
          <p:cNvPr id="8" name="TextBox 7"/>
          <p:cNvSpPr txBox="1"/>
          <p:nvPr/>
        </p:nvSpPr>
        <p:spPr>
          <a:xfrm>
            <a:off x="457200" y="137160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FORWARD SIMULATION OBJECTIVE  (per channel, per grid point):</a:t>
            </a:r>
          </a:p>
        </p:txBody>
      </p:sp>
      <p:sp>
        <p:nvSpPr>
          <p:cNvPr id="9" name="Rectangle 8"/>
          <p:cNvSpPr/>
          <p:nvPr/>
        </p:nvSpPr>
        <p:spPr>
          <a:xfrm>
            <a:off x="457200" y="1691640"/>
            <a:ext cx="11277600" cy="9601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83080"/>
            <a:ext cx="10911840" cy="822960"/>
          </a:xfrm>
          <a:prstGeom prst="rect">
            <a:avLst/>
          </a:prstGeom>
          <a:noFill/>
        </p:spPr>
        <p:txBody>
          <a:bodyPr wrap="square" lIns="50800" rIns="50800" tIns="25400" bIns="25400">
            <a:spAutoFit/>
          </a:bodyPr>
          <a:lstStyle/>
          <a:p>
            <a:pPr algn="l"/>
            <a:r>
              <a:rPr sz="1200" b="0" i="0">
                <a:solidFill>
                  <a:srgbClr val="FFFFFF"/>
                </a:solidFill>
                <a:latin typeface="Consolas"/>
              </a:rPr>
              <a:t>Obj_mass(θ_x, Lp)         =  Σᵢ ((mᵢ_pred − mᵢ_meas) / σm)²</a:t>
            </a:r>
          </a:p>
          <a:p>
            <a:pPr algn="l"/>
            <a:r>
              <a:rPr sz="1200" b="0" i="0">
                <a:solidFill>
                  <a:srgbClr val="FFFFFF"/>
                </a:solidFill>
                <a:latin typeface="Consolas"/>
              </a:rPr>
              <a:t>Obj_concentration(θ_x, Lp) =  Σᵢ ((cVᵢ_pred − cVᵢ_meas) / σcV)²</a:t>
            </a:r>
          </a:p>
          <a:p>
            <a:pPr algn="l"/>
            <a:r>
              <a:rPr sz="1200" b="0" i="0">
                <a:solidFill>
                  <a:srgbClr val="FFFFFF"/>
                </a:solidFill>
                <a:latin typeface="Consolas"/>
              </a:rPr>
              <a:t>Obj_retentate(θ_x, Lp)     =  Σᵢ ((cFᵢ_pred − cFᵢ_meas) / σcF)²</a:t>
            </a:r>
          </a:p>
        </p:txBody>
      </p:sp>
      <p:sp>
        <p:nvSpPr>
          <p:cNvPr id="11" name="Rectangle 10"/>
          <p:cNvSpPr/>
          <p:nvPr/>
        </p:nvSpPr>
        <p:spPr>
          <a:xfrm>
            <a:off x="457200" y="2834640"/>
            <a:ext cx="369824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83464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1.  Channel basin position</a:t>
            </a:r>
          </a:p>
        </p:txBody>
      </p:sp>
      <p:sp>
        <p:nvSpPr>
          <p:cNvPr id="13" name="Rectangle 12"/>
          <p:cNvSpPr/>
          <p:nvPr/>
        </p:nvSpPr>
        <p:spPr>
          <a:xfrm>
            <a:off x="457200" y="3200400"/>
            <a:ext cx="3698240"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3756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Each channel forms its own basin in (σ, Lp) space.</a:t>
            </a:r>
          </a:p>
          <a:p>
            <a:pPr algn="l"/>
            <a:r>
              <a:rPr sz="1100" b="0" i="0">
                <a:solidFill>
                  <a:srgbClr val="36454F"/>
                </a:solidFill>
                <a:latin typeface="Calibri"/>
              </a:rPr>
              <a:t>If basins COINCIDE → all channels agree → fit is well-identified.</a:t>
            </a:r>
          </a:p>
          <a:p>
            <a:pPr algn="l"/>
            <a:r>
              <a:rPr sz="1100" b="0" i="0">
                <a:solidFill>
                  <a:srgbClr val="36454F"/>
                </a:solidFill>
                <a:latin typeface="Calibri"/>
              </a:rPr>
              <a:t>If basins SEPARATE → channels disagree → fit is a compromise (LaCl₃).</a:t>
            </a:r>
          </a:p>
        </p:txBody>
      </p:sp>
      <p:sp>
        <p:nvSpPr>
          <p:cNvPr id="15" name="Rectangle 14"/>
          <p:cNvSpPr/>
          <p:nvPr/>
        </p:nvSpPr>
        <p:spPr>
          <a:xfrm>
            <a:off x="4246880" y="2834640"/>
            <a:ext cx="3698240" cy="36576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46880" y="283464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2.  σ wall pinning</a:t>
            </a:r>
          </a:p>
        </p:txBody>
      </p:sp>
      <p:sp>
        <p:nvSpPr>
          <p:cNvPr id="17" name="Rectangle 16"/>
          <p:cNvSpPr/>
          <p:nvPr/>
        </p:nvSpPr>
        <p:spPr>
          <a:xfrm>
            <a:off x="4246880" y="3200400"/>
            <a:ext cx="3698240"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9760" y="333756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10 of 11 sheets show σ pinned at a bound (1.0 or 0.0).</a:t>
            </a:r>
          </a:p>
          <a:p>
            <a:pPr algn="l"/>
            <a:r>
              <a:rPr sz="1100" b="0" i="0">
                <a:solidFill>
                  <a:srgbClr val="36454F"/>
                </a:solidFill>
                <a:latin typeface="Calibri"/>
              </a:rPr>
              <a:t>Only MC3 SNaCl has σ in the interior (≈ 0.45).</a:t>
            </a:r>
          </a:p>
          <a:p>
            <a:pPr algn="l"/>
            <a:r>
              <a:rPr sz="1100" b="0" i="0">
                <a:solidFill>
                  <a:srgbClr val="36454F"/>
                </a:solidFill>
                <a:latin typeface="Calibri"/>
              </a:rPr>
              <a:t>The wall is where the objective minimum genuinely sits — not a solver failure.</a:t>
            </a:r>
          </a:p>
        </p:txBody>
      </p:sp>
      <p:sp>
        <p:nvSpPr>
          <p:cNvPr id="19" name="Rectangle 18"/>
          <p:cNvSpPr/>
          <p:nvPr/>
        </p:nvSpPr>
        <p:spPr>
          <a:xfrm>
            <a:off x="8036560" y="2834640"/>
            <a:ext cx="369824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36560" y="283464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3.  B identifiability</a:t>
            </a:r>
          </a:p>
        </p:txBody>
      </p:sp>
      <p:sp>
        <p:nvSpPr>
          <p:cNvPr id="21" name="Rectangle 20"/>
          <p:cNvSpPr/>
          <p:nvPr/>
        </p:nvSpPr>
        <p:spPr>
          <a:xfrm>
            <a:off x="8036560" y="3200400"/>
            <a:ext cx="3698240"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9440" y="333756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On every panel, Obj_mass and Obj_retentate are flat in B (horizontal bands).</a:t>
            </a:r>
          </a:p>
          <a:p>
            <a:pPr algn="l"/>
            <a:r>
              <a:rPr sz="1100" b="0" i="0">
                <a:solidFill>
                  <a:srgbClr val="36454F"/>
                </a:solidFill>
                <a:latin typeface="Calibri"/>
              </a:rPr>
              <a:t>Only Obj_concentration (cV channel) responds to B.</a:t>
            </a:r>
          </a:p>
          <a:p>
            <a:pPr algn="l"/>
            <a:r>
              <a:rPr sz="1100" b="0" i="0">
                <a:solidFill>
                  <a:srgbClr val="36454F"/>
                </a:solidFill>
                <a:latin typeface="Calibri"/>
              </a:rPr>
              <a:t>B is a one-channel parameter campaign-wide — structural, not a numerical issue.</a:t>
            </a:r>
          </a:p>
        </p:txBody>
      </p:sp>
      <p:sp>
        <p:nvSpPr>
          <p:cNvPr id="23" name="Rectangle 22"/>
          <p:cNvSpPr/>
          <p:nvPr/>
        </p:nvSpPr>
        <p:spPr>
          <a:xfrm>
            <a:off x="457200" y="566928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73328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The next 3 slides walk one representative σ-Lp panel per salt group with bullet-level commentary.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06A · CONTOUR  ·  NACL</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06a</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NaCl</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NaCl: dilution interior basin vs concentration σ wall</a:t>
            </a:r>
          </a:p>
        </p:txBody>
      </p:sp>
      <p:pic>
        <p:nvPicPr>
          <p:cNvPr id="8" name="Picture 7" descr="objcontour-x_sigma-y_Lp.png"/>
          <p:cNvPicPr>
            <a:picLocks noChangeAspect="1"/>
          </p:cNvPicPr>
          <p:nvPr/>
        </p:nvPicPr>
        <p:blipFill>
          <a:blip r:embed="rId2"/>
          <a:stretch>
            <a:fillRect/>
          </a:stretch>
        </p:blipFill>
        <p:spPr>
          <a:xfrm>
            <a:off x="1752600" y="1371600"/>
            <a:ext cx="8686800" cy="2606040"/>
          </a:xfrm>
          <a:prstGeom prst="rect">
            <a:avLst/>
          </a:prstGeom>
        </p:spPr>
      </p:pic>
      <p:sp>
        <p:nvSpPr>
          <p:cNvPr id="9" name="TextBox 8"/>
          <p:cNvSpPr txBox="1"/>
          <p:nvPr/>
        </p:nvSpPr>
        <p:spPr>
          <a:xfrm>
            <a:off x="457200" y="4023360"/>
            <a:ext cx="11277600" cy="274320"/>
          </a:xfrm>
          <a:prstGeom prst="rect">
            <a:avLst/>
          </a:prstGeom>
          <a:noFill/>
        </p:spPr>
        <p:txBody>
          <a:bodyPr wrap="square" lIns="50800" rIns="50800" tIns="25400" bIns="25400">
            <a:spAutoFit/>
          </a:bodyPr>
          <a:lstStyle/>
          <a:p>
            <a:pPr algn="ctr"/>
            <a:r>
              <a:rPr sz="1000" b="0" i="1">
                <a:solidFill>
                  <a:srgbClr val="707070"/>
                </a:solidFill>
                <a:latin typeface="Calibri"/>
              </a:rPr>
              <a:t>σ-Lp panel  ·  MC3.07.22.24_SNaCl  ·  per-channel log₁₀(Obj)</a:t>
            </a:r>
          </a:p>
        </p:txBody>
      </p:sp>
      <p:sp>
        <p:nvSpPr>
          <p:cNvPr id="10" name="Rectangle 9"/>
          <p:cNvSpPr/>
          <p:nvPr/>
        </p:nvSpPr>
        <p:spPr>
          <a:xfrm>
            <a:off x="457200" y="4434840"/>
            <a:ext cx="73152" cy="17373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434840"/>
            <a:ext cx="11094720" cy="1737360"/>
          </a:xfrm>
          <a:prstGeom prst="rect">
            <a:avLst/>
          </a:prstGeom>
          <a:noFill/>
        </p:spPr>
        <p:txBody>
          <a:bodyPr wrap="square" lIns="50800" rIns="50800" tIns="25400" bIns="25400">
            <a:spAutoFit/>
          </a:bodyPr>
          <a:lstStyle/>
          <a:p>
            <a:pPr algn="l"/>
            <a:r>
              <a:rPr sz="1200" b="0" i="0">
                <a:solidFill>
                  <a:srgbClr val="36454F"/>
                </a:solidFill>
                <a:latin typeface="Calibri"/>
              </a:rPr>
              <a:t/>
            </a:r>
            <a:r>
              <a:rPr sz="1300">
                <a:solidFill>
                  <a:srgbClr val="36454F"/>
                </a:solidFill>
                <a:latin typeface="Calibri"/>
              </a:rPr>
              <a:t>•  Dilution baseline (MC3 SNaCl) — all three Obj surfaces have low-objective regions that overlap at σ ≈ 0.45, Lp ≈ 8.  Channels agree.</a:t>
            </a:r>
          </a:p>
          <a:p>
            <a:pPr>
              <a:spcBef>
                <a:spcPts val="600"/>
              </a:spcBef>
            </a:pPr>
            <a:r>
              <a:rPr sz="1300">
                <a:solidFill>
                  <a:srgbClr val="36454F"/>
                </a:solidFill>
                <a:latin typeface="Calibri"/>
              </a:rPr>
              <a:t>•  Compare against the concentration-regime σ-Lp panels (MC5 NaCl): the cV channel surface is flat in σ but pulls Lp basin sharply — no σ agreement.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06B · CONTOUR  ·  CACL₂</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06b</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6A3399"/>
                </a:solidFill>
                <a:latin typeface="Calibri"/>
              </a:rPr>
              <a:t>CaCl₂</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CaCl₂: σ-axis flat across [0, 1], B at extreme bound</a:t>
            </a:r>
          </a:p>
        </p:txBody>
      </p:sp>
      <p:pic>
        <p:nvPicPr>
          <p:cNvPr id="8" name="Picture 7" descr="objcontour-x_sigma-y_Lp.png"/>
          <p:cNvPicPr>
            <a:picLocks noChangeAspect="1"/>
          </p:cNvPicPr>
          <p:nvPr/>
        </p:nvPicPr>
        <p:blipFill>
          <a:blip r:embed="rId2"/>
          <a:stretch>
            <a:fillRect/>
          </a:stretch>
        </p:blipFill>
        <p:spPr>
          <a:xfrm>
            <a:off x="1752600" y="1371600"/>
            <a:ext cx="8686800" cy="2606040"/>
          </a:xfrm>
          <a:prstGeom prst="rect">
            <a:avLst/>
          </a:prstGeom>
        </p:spPr>
      </p:pic>
      <p:sp>
        <p:nvSpPr>
          <p:cNvPr id="9" name="TextBox 8"/>
          <p:cNvSpPr txBox="1"/>
          <p:nvPr/>
        </p:nvSpPr>
        <p:spPr>
          <a:xfrm>
            <a:off x="457200" y="4023360"/>
            <a:ext cx="11277600" cy="274320"/>
          </a:xfrm>
          <a:prstGeom prst="rect">
            <a:avLst/>
          </a:prstGeom>
          <a:noFill/>
        </p:spPr>
        <p:txBody>
          <a:bodyPr wrap="square" lIns="50800" rIns="50800" tIns="25400" bIns="25400">
            <a:spAutoFit/>
          </a:bodyPr>
          <a:lstStyle/>
          <a:p>
            <a:pPr algn="ctr"/>
            <a:r>
              <a:rPr sz="1000" b="0" i="1">
                <a:solidFill>
                  <a:srgbClr val="707070"/>
                </a:solidFill>
                <a:latin typeface="Calibri"/>
              </a:rPr>
              <a:t>σ-Lp panel  ·  MC3.07.12.24_S2CaCl2  ·  per-channel log₁₀(Obj)</a:t>
            </a:r>
          </a:p>
        </p:txBody>
      </p:sp>
      <p:sp>
        <p:nvSpPr>
          <p:cNvPr id="10" name="Rectangle 9"/>
          <p:cNvSpPr/>
          <p:nvPr/>
        </p:nvSpPr>
        <p:spPr>
          <a:xfrm>
            <a:off x="457200" y="4434840"/>
            <a:ext cx="73152" cy="173736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434840"/>
            <a:ext cx="11094720" cy="1737360"/>
          </a:xfrm>
          <a:prstGeom prst="rect">
            <a:avLst/>
          </a:prstGeom>
          <a:noFill/>
        </p:spPr>
        <p:txBody>
          <a:bodyPr wrap="square" lIns="50800" rIns="50800" tIns="25400" bIns="25400">
            <a:spAutoFit/>
          </a:bodyPr>
          <a:lstStyle/>
          <a:p>
            <a:pPr algn="l"/>
            <a:r>
              <a:rPr sz="1200" b="0" i="0">
                <a:solidFill>
                  <a:srgbClr val="36454F"/>
                </a:solidFill>
                <a:latin typeface="Calibri"/>
              </a:rPr>
              <a:t/>
            </a:r>
            <a:r>
              <a:rPr sz="1300">
                <a:solidFill>
                  <a:srgbClr val="36454F"/>
                </a:solidFill>
                <a:latin typeface="Calibri"/>
              </a:rPr>
              <a:t>•  All three Obj surfaces show no minimum in σ; objective slides to whichever wall (here σ = 1) wins on the cF channel.</a:t>
            </a:r>
          </a:p>
          <a:p>
            <a:pPr>
              <a:spcBef>
                <a:spcPts val="600"/>
              </a:spcBef>
            </a:pPr>
            <a:r>
              <a:rPr sz="1300">
                <a:solidFill>
                  <a:srgbClr val="36454F"/>
                </a:solidFill>
                <a:latin typeface="Calibri"/>
              </a:rPr>
              <a:t>•  B also runs off the right edge — channels can't pin B even with σ pegged. Worst-case sheet for the constant-(B, σ)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06C · CONTOUR  ·  LACL₃</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06c</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LaCl₃</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LaCl₃: channel disagreement on Lp</a:t>
            </a:r>
          </a:p>
        </p:txBody>
      </p:sp>
      <p:pic>
        <p:nvPicPr>
          <p:cNvPr id="8" name="Picture 7" descr="objcontour-x_sigma-y_Lp.png"/>
          <p:cNvPicPr>
            <a:picLocks noChangeAspect="1"/>
          </p:cNvPicPr>
          <p:nvPr/>
        </p:nvPicPr>
        <p:blipFill>
          <a:blip r:embed="rId2"/>
          <a:stretch>
            <a:fillRect/>
          </a:stretch>
        </p:blipFill>
        <p:spPr>
          <a:xfrm>
            <a:off x="1752600" y="1371600"/>
            <a:ext cx="8686800" cy="2606040"/>
          </a:xfrm>
          <a:prstGeom prst="rect">
            <a:avLst/>
          </a:prstGeom>
        </p:spPr>
      </p:pic>
      <p:sp>
        <p:nvSpPr>
          <p:cNvPr id="9" name="TextBox 8"/>
          <p:cNvSpPr txBox="1"/>
          <p:nvPr/>
        </p:nvSpPr>
        <p:spPr>
          <a:xfrm>
            <a:off x="457200" y="4023360"/>
            <a:ext cx="11277600" cy="274320"/>
          </a:xfrm>
          <a:prstGeom prst="rect">
            <a:avLst/>
          </a:prstGeom>
          <a:noFill/>
        </p:spPr>
        <p:txBody>
          <a:bodyPr wrap="square" lIns="50800" rIns="50800" tIns="25400" bIns="25400">
            <a:spAutoFit/>
          </a:bodyPr>
          <a:lstStyle/>
          <a:p>
            <a:pPr algn="ctr"/>
            <a:r>
              <a:rPr sz="1000" b="0" i="1">
                <a:solidFill>
                  <a:srgbClr val="707070"/>
                </a:solidFill>
                <a:latin typeface="Calibri"/>
              </a:rPr>
              <a:t>σ-Lp panel  ·  MC2.05.21.24_LaCl3  ·  per-channel log₁₀(Obj)</a:t>
            </a:r>
          </a:p>
        </p:txBody>
      </p:sp>
      <p:sp>
        <p:nvSpPr>
          <p:cNvPr id="10" name="Rectangle 9"/>
          <p:cNvSpPr/>
          <p:nvPr/>
        </p:nvSpPr>
        <p:spPr>
          <a:xfrm>
            <a:off x="457200" y="4434840"/>
            <a:ext cx="73152" cy="173736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434840"/>
            <a:ext cx="11094720" cy="1737360"/>
          </a:xfrm>
          <a:prstGeom prst="rect">
            <a:avLst/>
          </a:prstGeom>
          <a:noFill/>
        </p:spPr>
        <p:txBody>
          <a:bodyPr wrap="square" lIns="50800" rIns="50800" tIns="25400" bIns="25400">
            <a:spAutoFit/>
          </a:bodyPr>
          <a:lstStyle/>
          <a:p>
            <a:pPr algn="l"/>
            <a:r>
              <a:rPr sz="1200" b="0" i="0">
                <a:solidFill>
                  <a:srgbClr val="36454F"/>
                </a:solidFill>
                <a:latin typeface="Calibri"/>
              </a:rPr>
              <a:t/>
            </a:r>
            <a:r>
              <a:rPr sz="1300">
                <a:solidFill>
                  <a:srgbClr val="36454F"/>
                </a:solidFill>
                <a:latin typeface="Calibri"/>
              </a:rPr>
              <a:t>•  Obj_mass + Obj_retentate prefer Lp ≈ 5; Obj_concentration prefers Lp ≈ 2.5.  Compromise fit (Lp = 2.49) satisfies neither.</a:t>
            </a:r>
          </a:p>
          <a:p>
            <a:pPr>
              <a:spcBef>
                <a:spcPts val="600"/>
              </a:spcBef>
            </a:pPr>
            <a:r>
              <a:rPr sz="1300">
                <a:solidFill>
                  <a:srgbClr val="36454F"/>
                </a:solidFill>
                <a:latin typeface="Calibri"/>
              </a:rPr>
              <a:t>•  σ surface is flat across the full unit interval — neither floor nor σ prior alone recovers a sensible fit (see warm-start slides).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15A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15a</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NaCl  ·  diluting regime  ·  1 of 2</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MC3.07.22.24_SNaCl  —  the only interior-σ fit in the campaign</a:t>
            </a:r>
          </a:p>
        </p:txBody>
      </p:sp>
      <p:pic>
        <p:nvPicPr>
          <p:cNvPr id="8" name="Picture 7" descr="MC3.07.22.24_S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σ lands in the interior at 0.45 — only sheet in the campaign where the optimizer does NOT pin σ at a bound.</a:t>
            </a:r>
          </a:p>
          <a:p>
            <a:pPr algn="l">
              <a:spcBef>
                <a:spcPts val="600"/>
              </a:spcBef>
            </a:pPr>
            <a:r>
              <a:rPr sz="1300">
                <a:solidFill>
                  <a:srgbClr val="36454F"/>
                </a:solidFill>
                <a:latin typeface="Calibri"/>
              </a:rPr>
              <a:t>•  All three channels (mass / retentate / vial-ICP) agree on Lp ≈ 8.2 ; this is what a 'good' diafiltration fit looks like and serves as the calibration baseline for every other slide.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15B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15b</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8800"/>
                </a:solidFill>
                <a:latin typeface="Calibri"/>
              </a:rPr>
              <a:t>NaCl  ·  diluting regime  ·  2 of 2</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MC5.07.23.24_S2NaCl  —  dilution but σ pinned at 0 (surprise)</a:t>
            </a:r>
          </a:p>
        </p:txBody>
      </p:sp>
      <p:pic>
        <p:nvPicPr>
          <p:cNvPr id="8" name="Picture 7" descr="MC5.07.23.24_S2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Despite the dilution direction, σ slid to the opposite wall (0.0) and Lp landed at 7.4 — different pathology than the other dilution sheet.</a:t>
            </a:r>
          </a:p>
          <a:p>
            <a:pPr algn="l">
              <a:spcBef>
                <a:spcPts val="600"/>
              </a:spcBef>
            </a:pPr>
            <a:r>
              <a:rPr sz="1300">
                <a:solidFill>
                  <a:srgbClr val="36454F"/>
                </a:solidFill>
                <a:latin typeface="Calibri"/>
              </a:rPr>
              <a:t>•  Same root cause as the concentration-regime fits: the 0.3% cF residual weight over-constrains the retentate channel, pulling σ to a bound. The cF floor experiment is needed here too.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15C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15c</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NaCl  ·  concentrating regime  ·  1 of 4</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MC2.05.07.24_NaCl  —  σ=1 wall, characteristic mass shortfall</a:t>
            </a:r>
          </a:p>
        </p:txBody>
      </p:sp>
      <p:pic>
        <p:nvPicPr>
          <p:cNvPr id="8" name="Picture 7" descr="MC2.05.07.24_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σ=1 means the model is asserting full osmotic backpressure even at end-of-run cF ~ 25 mM — Jw is suppressed and predicted per-vial mass plateaus below the 1 g cap.</a:t>
            </a:r>
          </a:p>
          <a:p>
            <a:pPr algn="l">
              <a:spcBef>
                <a:spcPts val="600"/>
              </a:spcBef>
            </a:pPr>
            <a:r>
              <a:rPr sz="1300">
                <a:solidFill>
                  <a:srgbClr val="36454F"/>
                </a:solidFill>
                <a:latin typeface="Calibri"/>
              </a:rPr>
              <a:t>•  Lp ≈ 9.96 from this fit is therefore a compromise, not the true membrane permeability.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15D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15d</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NaCl  ·  concentrating regime  ·  2 of 4</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MC4.07.11.24_SNaCl  —  σ=0 wall (the cF-floor proof case)</a:t>
            </a:r>
          </a:p>
        </p:txBody>
      </p:sp>
      <p:pic>
        <p:nvPicPr>
          <p:cNvPr id="8" name="Picture 7" descr="MC4.07.11.24_S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Same over-weighted cF channel, but here the optimizer slid to σ=0 (zero rejection) instead of σ=1 — direction depends on the cF channel's residual sign.</a:t>
            </a:r>
          </a:p>
          <a:p>
            <a:pPr algn="l">
              <a:spcBef>
                <a:spcPts val="600"/>
              </a:spcBef>
            </a:pPr>
            <a:r>
              <a:rPr sz="1300">
                <a:solidFill>
                  <a:srgbClr val="36454F"/>
                </a:solidFill>
                <a:latin typeface="Calibri"/>
              </a:rPr>
              <a:t>•  Floor fix (NF270_CF_RESIDUAL_FLOOR_MM = 1) recovers σ to 0.46 (interior) and obj_retentate drops 200× — proof point for the diagnosis.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15E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15e</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NaCl  ·  concentrating regime  ·  3 of 4</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MC5.07.23.24_NaCl  —  σ=1 wall, 1 g/vial low-leverage case</a:t>
            </a:r>
          </a:p>
        </p:txBody>
      </p:sp>
      <p:pic>
        <p:nvPicPr>
          <p:cNvPr id="8" name="Picture 7" descr="MC5.07.23.24_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Concentrating from 0.9 → 107 mM at 1 g/vial sampling — the cV channel has the least information leverage anywhere in the campaign.</a:t>
            </a:r>
          </a:p>
          <a:p>
            <a:pPr algn="l">
              <a:spcBef>
                <a:spcPts val="600"/>
              </a:spcBef>
            </a:pPr>
            <a:r>
              <a:rPr sz="1300">
                <a:solidFill>
                  <a:srgbClr val="36454F"/>
                </a:solidFill>
                <a:latin typeface="Calibri"/>
              </a:rPr>
              <a:t>•  Permeate prediction (red shelf) sits well below the cyan ICP measurements throughout — visible signature of the σ=1 wall.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15F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15f</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NaCl  ·  concentrating regime  ·  4 of 4</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MC5.07.23.24_SNaCl  —  near-replicate of MC5 NaCl with same pathology</a:t>
            </a:r>
          </a:p>
        </p:txBody>
      </p:sp>
      <p:pic>
        <p:nvPicPr>
          <p:cNvPr id="8" name="Picture 7" descr="MC5.07.23.24_SNaCl.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Same σ=1 wall and similar mass shortfall — confirms the pathology is reproducible across operator replicates, not a single-run artifact.</a:t>
            </a:r>
          </a:p>
          <a:p>
            <a:pPr algn="l">
              <a:spcBef>
                <a:spcPts val="600"/>
              </a:spcBef>
            </a:pPr>
            <a:r>
              <a:rPr sz="1300">
                <a:solidFill>
                  <a:srgbClr val="36454F"/>
                </a:solidFill>
                <a:latin typeface="Calibri"/>
              </a:rPr>
              <a:t>•  Same fit-quality fix expected: cF residual floor should release σ to ~0.5 interior, consistent with MC4 SNaCl proof.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15G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15g</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6A3399"/>
                </a:solidFill>
                <a:latin typeface="Calibri"/>
              </a:rPr>
              <a:t>CaCl₂  ·  divalent  ·  1 of 3</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MC2.05.07.24_CaCl2  —  divalent amplifies the σ=1 pathology</a:t>
            </a:r>
          </a:p>
        </p:txBody>
      </p:sp>
      <p:pic>
        <p:nvPicPr>
          <p:cNvPr id="8" name="Picture 7" descr="MC2.05.07.24_CaCl2.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ni = 3 (vs 2 for NaCl) → per-mM osmotic contribution is 1.5× larger, so σ=1 over-suppresses Jw even harder than on NaCl.</a:t>
            </a:r>
          </a:p>
          <a:p>
            <a:pPr algn="l">
              <a:spcBef>
                <a:spcPts val="600"/>
              </a:spcBef>
            </a:pPr>
            <a:r>
              <a:rPr sz="1300">
                <a:solidFill>
                  <a:srgbClr val="36454F"/>
                </a:solidFill>
                <a:latin typeface="Calibri"/>
              </a:rPr>
              <a:t>•  Floor experiment on this sheet released σ from 1.0 → 0.38 and improved total objective 5.8×. Strongest single proof of the σ-identifiability story.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15H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15h</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6A3399"/>
                </a:solidFill>
                <a:latin typeface="Calibri"/>
              </a:rPr>
              <a:t>CaCl₂  ·  divalent  ·  2 of 3</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MC3.07.11.24_SCaCl2  —  σ=1 wall, B identified only by cV channel</a:t>
            </a:r>
          </a:p>
        </p:txBody>
      </p:sp>
      <p:pic>
        <p:nvPicPr>
          <p:cNvPr id="8" name="Picture 7" descr="MC3.07.11.24_SCaCl2.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Same σ=1 pathology; B ≈ 9 is driven entirely by the vial-ICP channel (the contour panels showed mass + retentate are essentially flat in B).</a:t>
            </a:r>
          </a:p>
          <a:p>
            <a:pPr algn="l">
              <a:spcBef>
                <a:spcPts val="600"/>
              </a:spcBef>
            </a:pPr>
            <a:r>
              <a:rPr sz="1300">
                <a:solidFill>
                  <a:srgbClr val="36454F"/>
                </a:solidFill>
                <a:latin typeface="Calibri"/>
              </a:rPr>
              <a:t>•  B is a one-channel parameter in this campaign — improving B identifiability would require a perturbation that drives B-sensitivity into either the mass or the cF channel.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15I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15i</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CaCl₂  ·  divalent  ·  3 of 3</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MC3.07.12.24_S2CaCl2  —  worst case: σ AND B both at bounds</a:t>
            </a:r>
          </a:p>
        </p:txBody>
      </p:sp>
      <p:pic>
        <p:nvPicPr>
          <p:cNvPr id="8" name="Picture 7" descr="MC3.07.12.24_S2CaCl2.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Two of three parameters pegged: σ = 1.0 and B = 30 (upper bound). Reported Lp = 4.63 is held up by both walls + data, not by data alone.</a:t>
            </a:r>
          </a:p>
          <a:p>
            <a:pPr algn="l">
              <a:spcBef>
                <a:spcPts val="600"/>
              </a:spcBef>
            </a:pPr>
            <a:r>
              <a:rPr sz="1300">
                <a:solidFill>
                  <a:srgbClr val="36454F"/>
                </a:solidFill>
                <a:latin typeface="Calibri"/>
              </a:rPr>
              <a:t>•  Sidebar ICP also disagrees with continuous cF (retentate ICP 38.7 mM vs continuous-cF endpoint 21.7 mM); rejection collapses from R≈0.68 to R≈0.14 across the run — constant-(B, σ) model cannot represent this.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15J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15j</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LaCl₃  ·  trivalent  ·  1 of 2</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MC2.05.21.24_LaCl3  —  σ=1 + channel disagreement on Lp</a:t>
            </a:r>
          </a:p>
        </p:txBody>
      </p:sp>
      <p:pic>
        <p:nvPicPr>
          <p:cNvPr id="8" name="Picture 7" descr="MC2.05.21.24_LaCl3.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ni = 4 makes σ·ΔΠ the dominant term — σ=1 over-correction is the largest in the campaign on this sheet (worst mass shortfall).</a:t>
            </a:r>
          </a:p>
          <a:p>
            <a:pPr algn="l">
              <a:spcBef>
                <a:spcPts val="600"/>
              </a:spcBef>
            </a:pPr>
            <a:r>
              <a:rPr sz="1300">
                <a:solidFill>
                  <a:srgbClr val="36454F"/>
                </a:solidFill>
                <a:latin typeface="Calibri"/>
              </a:rPr>
              <a:t>•  Contour panels showed channel disagreement: mass + cF want Lp ≈ 5, cV wants Lp ≈ 2.5. Floor alone DOESN'T recover this — needs floor + literature σ prior (≈0.99) + possible ion-pairing correction.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15K · WARM-START FIT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15k</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LaCl₃  ·  trivalent  ·  2 of 2</a:t>
            </a:r>
          </a:p>
        </p:txBody>
      </p:sp>
      <p:sp>
        <p:nvSpPr>
          <p:cNvPr id="7" name="TextBox 6"/>
          <p:cNvSpPr txBox="1"/>
          <p:nvPr/>
        </p:nvSpPr>
        <p:spPr>
          <a:xfrm>
            <a:off x="457200" y="658368"/>
            <a:ext cx="10972800" cy="502920"/>
          </a:xfrm>
          <a:prstGeom prst="rect">
            <a:avLst/>
          </a:prstGeom>
          <a:noFill/>
        </p:spPr>
        <p:txBody>
          <a:bodyPr wrap="none" lIns="0" tIns="0" bIns="0">
            <a:spAutoFit/>
          </a:bodyPr>
          <a:lstStyle/>
          <a:p>
            <a:r>
              <a:rPr sz="2200" b="1">
                <a:solidFill>
                  <a:srgbClr val="065A82"/>
                </a:solidFill>
                <a:latin typeface="Calibri"/>
              </a:rPr>
              <a:t>MC4.07.11.24_SLaCl3  —  replicate trivalent pathology</a:t>
            </a:r>
          </a:p>
        </p:txBody>
      </p:sp>
      <p:pic>
        <p:nvPicPr>
          <p:cNvPr id="8" name="Picture 7" descr="MC4.07.11.24_SLaCl3.png"/>
          <p:cNvPicPr>
            <a:picLocks noChangeAspect="1"/>
          </p:cNvPicPr>
          <p:nvPr/>
        </p:nvPicPr>
        <p:blipFill>
          <a:blip r:embed="rId2"/>
          <a:stretch>
            <a:fillRect/>
          </a:stretch>
        </p:blipFill>
        <p:spPr>
          <a:xfrm>
            <a:off x="1066800" y="1325880"/>
            <a:ext cx="10058400" cy="4251960"/>
          </a:xfrm>
          <a:prstGeom prst="rect">
            <a:avLst/>
          </a:prstGeom>
        </p:spPr>
      </p:pic>
      <p:sp>
        <p:nvSpPr>
          <p:cNvPr id="9" name="Rectangle 8"/>
          <p:cNvSpPr/>
          <p:nvPr/>
        </p:nvSpPr>
        <p:spPr>
          <a:xfrm>
            <a:off x="457200" y="5715000"/>
            <a:ext cx="73152" cy="96012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15000"/>
            <a:ext cx="11003280" cy="960120"/>
          </a:xfrm>
          <a:prstGeom prst="rect">
            <a:avLst/>
          </a:prstGeom>
          <a:noFill/>
        </p:spPr>
        <p:txBody>
          <a:bodyPr wrap="square" lIns="50800" rIns="50800" tIns="50800" bIns="50800">
            <a:spAutoFit/>
          </a:bodyPr>
          <a:lstStyle/>
          <a:p>
            <a:pPr algn="l"/>
            <a:r>
              <a:rPr sz="1300">
                <a:solidFill>
                  <a:srgbClr val="36454F"/>
                </a:solidFill>
                <a:latin typeface="Calibri"/>
              </a:rPr>
              <a:t>•  Same σ=1 wall + low Lp (≈2.78) and tiny B (≈0.17) as MC2 LaCl3; replicate confirms the pathology is salt-specific, not sheet-specific.</a:t>
            </a:r>
          </a:p>
          <a:p>
            <a:pPr algn="l">
              <a:spcBef>
                <a:spcPts val="600"/>
              </a:spcBef>
            </a:pPr>
            <a:r>
              <a:rPr sz="1300">
                <a:solidFill>
                  <a:srgbClr val="36454F"/>
                </a:solidFill>
                <a:latin typeface="Calibri"/>
              </a:rPr>
              <a:t>•  Path forward for LaCl₃: combined floor + σ prior; if combined fix still pins σ at the new (interior) upper bound, the model genuinely needs ion-pairing correction in ΔΠ (effective ni &lt; 4 at end-of-run).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08 · WHY CHANGE THE 0.3% CF WEIGHT?</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08</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8800"/>
                </a:solidFill>
                <a:latin typeface="Calibri"/>
              </a:rPr>
              <a:t>the over-weighted retentate residual at high cF</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000" b="1">
                <a:solidFill>
                  <a:srgbClr val="065A82"/>
                </a:solidFill>
                <a:latin typeface="Calibri"/>
              </a:rPr>
              <a:t>0.3 % at 100 mM = 0.3 mM tolerance.  That's tighter than measurement noise.</a:t>
            </a:r>
          </a:p>
        </p:txBody>
      </p:sp>
      <p:sp>
        <p:nvSpPr>
          <p:cNvPr id="8" name="TextBox 7"/>
          <p:cNvSpPr txBox="1"/>
          <p:nvPr/>
        </p:nvSpPr>
        <p:spPr>
          <a:xfrm>
            <a:off x="457200" y="137160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CURRENT cF RESIDUAL SCALE (per measurement):</a:t>
            </a:r>
          </a:p>
        </p:txBody>
      </p:sp>
      <p:sp>
        <p:nvSpPr>
          <p:cNvPr id="9" name="Rectangle 8"/>
          <p:cNvSpPr/>
          <p:nvPr/>
        </p:nvSpPr>
        <p:spPr>
          <a:xfrm>
            <a:off x="457200" y="1691640"/>
            <a:ext cx="10058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91640"/>
            <a:ext cx="10058400" cy="365760"/>
          </a:xfrm>
          <a:prstGeom prst="rect">
            <a:avLst/>
          </a:prstGeom>
          <a:noFill/>
        </p:spPr>
        <p:txBody>
          <a:bodyPr wrap="square" lIns="50800" rIns="50800" tIns="25400" bIns="25400">
            <a:spAutoFit/>
          </a:bodyPr>
          <a:lstStyle/>
          <a:p>
            <a:pPr algn="ctr"/>
            <a:r>
              <a:rPr sz="1400" b="1" i="0">
                <a:solidFill>
                  <a:srgbClr val="FFFFFF"/>
                </a:solidFill>
                <a:latin typeface="Consolas"/>
              </a:rPr>
              <a:t>σ_cF[i] = 0.003 · cF_meas[i]    (current — relative 0.3 %)</a:t>
            </a:r>
          </a:p>
        </p:txBody>
      </p:sp>
      <p:sp>
        <p:nvSpPr>
          <p:cNvPr id="11" name="Rectangle 10"/>
          <p:cNvSpPr/>
          <p:nvPr/>
        </p:nvSpPr>
        <p:spPr>
          <a:xfrm>
            <a:off x="457200" y="2286000"/>
            <a:ext cx="11277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286000"/>
            <a:ext cx="11277600" cy="365760"/>
          </a:xfrm>
          <a:prstGeom prst="rect">
            <a:avLst/>
          </a:prstGeom>
          <a:noFill/>
        </p:spPr>
        <p:txBody>
          <a:bodyPr wrap="square" lIns="50800" rIns="50800" tIns="25400" bIns="25400">
            <a:spAutoFit/>
          </a:bodyPr>
          <a:lstStyle/>
          <a:p>
            <a:pPr algn="ctr"/>
            <a:r>
              <a:rPr sz="1100" b="1" i="0">
                <a:solidFill>
                  <a:srgbClr val="FFFFFF"/>
                </a:solidFill>
                <a:latin typeface="Calibri"/>
              </a:rPr>
              <a:t>Effective tolerance at typical cF values  (σ_cF =  0.003 · cF)</a:t>
            </a:r>
          </a:p>
        </p:txBody>
      </p:sp>
      <p:sp>
        <p:nvSpPr>
          <p:cNvPr id="13" name="Rectangle 12"/>
          <p:cNvSpPr/>
          <p:nvPr/>
        </p:nvSpPr>
        <p:spPr>
          <a:xfrm>
            <a:off x="457200" y="2651760"/>
            <a:ext cx="11277600" cy="1645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51760"/>
            <a:ext cx="1109472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88336"/>
            <a:ext cx="2286000" cy="201168"/>
          </a:xfrm>
          <a:prstGeom prst="rect">
            <a:avLst/>
          </a:prstGeom>
          <a:noFill/>
        </p:spPr>
        <p:txBody>
          <a:bodyPr wrap="square" lIns="50800" rIns="50800" tIns="25400" bIns="25400">
            <a:spAutoFit/>
          </a:bodyPr>
          <a:lstStyle/>
          <a:p>
            <a:pPr algn="l"/>
            <a:r>
              <a:rPr sz="1000" b="1" i="0">
                <a:solidFill>
                  <a:srgbClr val="065A82"/>
                </a:solidFill>
                <a:latin typeface="Consolas"/>
              </a:rPr>
              <a:t>cF</a:t>
            </a:r>
          </a:p>
        </p:txBody>
      </p:sp>
      <p:sp>
        <p:nvSpPr>
          <p:cNvPr id="16" name="TextBox 15"/>
          <p:cNvSpPr txBox="1"/>
          <p:nvPr/>
        </p:nvSpPr>
        <p:spPr>
          <a:xfrm>
            <a:off x="2926080" y="2688336"/>
            <a:ext cx="2286000" cy="201168"/>
          </a:xfrm>
          <a:prstGeom prst="rect">
            <a:avLst/>
          </a:prstGeom>
          <a:noFill/>
        </p:spPr>
        <p:txBody>
          <a:bodyPr wrap="square" lIns="50800" rIns="50800" tIns="25400" bIns="25400">
            <a:spAutoFit/>
          </a:bodyPr>
          <a:lstStyle/>
          <a:p>
            <a:pPr algn="l"/>
            <a:r>
              <a:rPr sz="1000" b="1" i="0">
                <a:solidFill>
                  <a:srgbClr val="065A82"/>
                </a:solidFill>
                <a:latin typeface="Consolas"/>
              </a:rPr>
              <a:t>0.003 · cF</a:t>
            </a:r>
          </a:p>
        </p:txBody>
      </p:sp>
      <p:sp>
        <p:nvSpPr>
          <p:cNvPr id="17" name="TextBox 16"/>
          <p:cNvSpPr txBox="1"/>
          <p:nvPr/>
        </p:nvSpPr>
        <p:spPr>
          <a:xfrm>
            <a:off x="5212080" y="2688336"/>
            <a:ext cx="3200400" cy="201168"/>
          </a:xfrm>
          <a:prstGeom prst="rect">
            <a:avLst/>
          </a:prstGeom>
          <a:noFill/>
        </p:spPr>
        <p:txBody>
          <a:bodyPr wrap="square" lIns="50800" rIns="50800" tIns="25400" bIns="25400">
            <a:spAutoFit/>
          </a:bodyPr>
          <a:lstStyle/>
          <a:p>
            <a:pPr algn="l"/>
            <a:r>
              <a:rPr sz="1000" b="1" i="0">
                <a:solidFill>
                  <a:srgbClr val="065A82"/>
                </a:solidFill>
                <a:latin typeface="Consolas"/>
              </a:rPr>
              <a:t>actual measurement noise floor</a:t>
            </a:r>
          </a:p>
        </p:txBody>
      </p:sp>
      <p:sp>
        <p:nvSpPr>
          <p:cNvPr id="18" name="TextBox 17"/>
          <p:cNvSpPr txBox="1"/>
          <p:nvPr/>
        </p:nvSpPr>
        <p:spPr>
          <a:xfrm>
            <a:off x="8412480" y="2688336"/>
            <a:ext cx="2286000" cy="201168"/>
          </a:xfrm>
          <a:prstGeom prst="rect">
            <a:avLst/>
          </a:prstGeom>
          <a:noFill/>
        </p:spPr>
        <p:txBody>
          <a:bodyPr wrap="square" lIns="50800" rIns="50800" tIns="25400" bIns="25400">
            <a:spAutoFit/>
          </a:bodyPr>
          <a:lstStyle/>
          <a:p>
            <a:pPr algn="l"/>
            <a:r>
              <a:rPr sz="1000" b="1" i="0">
                <a:solidFill>
                  <a:srgbClr val="065A82"/>
                </a:solidFill>
                <a:latin typeface="Consolas"/>
              </a:rPr>
              <a:t>WSSE behavior</a:t>
            </a:r>
          </a:p>
        </p:txBody>
      </p:sp>
      <p:sp>
        <p:nvSpPr>
          <p:cNvPr id="19" name="TextBox 18"/>
          <p:cNvSpPr txBox="1"/>
          <p:nvPr/>
        </p:nvSpPr>
        <p:spPr>
          <a:xfrm>
            <a:off x="640080" y="296265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1   mM</a:t>
            </a:r>
          </a:p>
        </p:txBody>
      </p:sp>
      <p:sp>
        <p:nvSpPr>
          <p:cNvPr id="20" name="TextBox 19"/>
          <p:cNvSpPr txBox="1"/>
          <p:nvPr/>
        </p:nvSpPr>
        <p:spPr>
          <a:xfrm>
            <a:off x="2926080" y="296265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0.003 mM</a:t>
            </a:r>
          </a:p>
        </p:txBody>
      </p:sp>
      <p:sp>
        <p:nvSpPr>
          <p:cNvPr id="21" name="TextBox 20"/>
          <p:cNvSpPr txBox="1"/>
          <p:nvPr/>
        </p:nvSpPr>
        <p:spPr>
          <a:xfrm>
            <a:off x="5212080" y="2962656"/>
            <a:ext cx="3200400" cy="201168"/>
          </a:xfrm>
          <a:prstGeom prst="rect">
            <a:avLst/>
          </a:prstGeom>
          <a:noFill/>
        </p:spPr>
        <p:txBody>
          <a:bodyPr wrap="square" lIns="50800" rIns="50800" tIns="25400" bIns="25400">
            <a:spAutoFit/>
          </a:bodyPr>
          <a:lstStyle/>
          <a:p>
            <a:pPr algn="l"/>
            <a:r>
              <a:rPr sz="1000" b="0" i="0">
                <a:solidFill>
                  <a:srgbClr val="36454F"/>
                </a:solidFill>
                <a:latin typeface="Consolas"/>
              </a:rPr>
              <a:t>≈ 0.02 mM  (probe)</a:t>
            </a:r>
          </a:p>
        </p:txBody>
      </p:sp>
      <p:sp>
        <p:nvSpPr>
          <p:cNvPr id="22" name="TextBox 21"/>
          <p:cNvSpPr txBox="1"/>
          <p:nvPr/>
        </p:nvSpPr>
        <p:spPr>
          <a:xfrm>
            <a:off x="8412480" y="296265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OK</a:t>
            </a:r>
          </a:p>
        </p:txBody>
      </p:sp>
      <p:sp>
        <p:nvSpPr>
          <p:cNvPr id="23" name="TextBox 22"/>
          <p:cNvSpPr txBox="1"/>
          <p:nvPr/>
        </p:nvSpPr>
        <p:spPr>
          <a:xfrm>
            <a:off x="640080" y="323697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10  mM</a:t>
            </a:r>
          </a:p>
        </p:txBody>
      </p:sp>
      <p:sp>
        <p:nvSpPr>
          <p:cNvPr id="24" name="TextBox 23"/>
          <p:cNvSpPr txBox="1"/>
          <p:nvPr/>
        </p:nvSpPr>
        <p:spPr>
          <a:xfrm>
            <a:off x="2926080" y="323697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0.03  mM</a:t>
            </a:r>
          </a:p>
        </p:txBody>
      </p:sp>
      <p:sp>
        <p:nvSpPr>
          <p:cNvPr id="25" name="TextBox 24"/>
          <p:cNvSpPr txBox="1"/>
          <p:nvPr/>
        </p:nvSpPr>
        <p:spPr>
          <a:xfrm>
            <a:off x="5212080" y="3236976"/>
            <a:ext cx="3200400" cy="201168"/>
          </a:xfrm>
          <a:prstGeom prst="rect">
            <a:avLst/>
          </a:prstGeom>
          <a:noFill/>
        </p:spPr>
        <p:txBody>
          <a:bodyPr wrap="square" lIns="50800" rIns="50800" tIns="25400" bIns="25400">
            <a:spAutoFit/>
          </a:bodyPr>
          <a:lstStyle/>
          <a:p>
            <a:pPr algn="l"/>
            <a:r>
              <a:rPr sz="1000" b="0" i="0">
                <a:solidFill>
                  <a:srgbClr val="36454F"/>
                </a:solidFill>
                <a:latin typeface="Consolas"/>
              </a:rPr>
              <a:t>≈ 0.2  mM  (Shedlovsky/probe)</a:t>
            </a:r>
          </a:p>
        </p:txBody>
      </p:sp>
      <p:sp>
        <p:nvSpPr>
          <p:cNvPr id="26" name="TextBox 25"/>
          <p:cNvSpPr txBox="1"/>
          <p:nvPr/>
        </p:nvSpPr>
        <p:spPr>
          <a:xfrm>
            <a:off x="8412480" y="323697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OK</a:t>
            </a:r>
          </a:p>
        </p:txBody>
      </p:sp>
      <p:sp>
        <p:nvSpPr>
          <p:cNvPr id="27" name="TextBox 26"/>
          <p:cNvSpPr txBox="1"/>
          <p:nvPr/>
        </p:nvSpPr>
        <p:spPr>
          <a:xfrm>
            <a:off x="640080" y="351129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50  mM</a:t>
            </a:r>
          </a:p>
        </p:txBody>
      </p:sp>
      <p:sp>
        <p:nvSpPr>
          <p:cNvPr id="28" name="TextBox 27"/>
          <p:cNvSpPr txBox="1"/>
          <p:nvPr/>
        </p:nvSpPr>
        <p:spPr>
          <a:xfrm>
            <a:off x="2926080" y="351129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0.15  mM</a:t>
            </a:r>
          </a:p>
        </p:txBody>
      </p:sp>
      <p:sp>
        <p:nvSpPr>
          <p:cNvPr id="29" name="TextBox 28"/>
          <p:cNvSpPr txBox="1"/>
          <p:nvPr/>
        </p:nvSpPr>
        <p:spPr>
          <a:xfrm>
            <a:off x="5212080" y="3511296"/>
            <a:ext cx="3200400" cy="201168"/>
          </a:xfrm>
          <a:prstGeom prst="rect">
            <a:avLst/>
          </a:prstGeom>
          <a:noFill/>
        </p:spPr>
        <p:txBody>
          <a:bodyPr wrap="square" lIns="50800" rIns="50800" tIns="25400" bIns="25400">
            <a:spAutoFit/>
          </a:bodyPr>
          <a:lstStyle/>
          <a:p>
            <a:pPr algn="l"/>
            <a:r>
              <a:rPr sz="1000" b="0" i="0">
                <a:solidFill>
                  <a:srgbClr val="36454F"/>
                </a:solidFill>
                <a:latin typeface="Consolas"/>
              </a:rPr>
              <a:t>≈ 1    mM</a:t>
            </a:r>
          </a:p>
        </p:txBody>
      </p:sp>
      <p:sp>
        <p:nvSpPr>
          <p:cNvPr id="30" name="TextBox 29"/>
          <p:cNvSpPr txBox="1"/>
          <p:nvPr/>
        </p:nvSpPr>
        <p:spPr>
          <a:xfrm>
            <a:off x="8412480" y="351129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tightening</a:t>
            </a:r>
          </a:p>
        </p:txBody>
      </p:sp>
      <p:sp>
        <p:nvSpPr>
          <p:cNvPr id="31" name="Rectangle 30"/>
          <p:cNvSpPr/>
          <p:nvPr/>
        </p:nvSpPr>
        <p:spPr>
          <a:xfrm>
            <a:off x="548640" y="3749040"/>
            <a:ext cx="11094720" cy="274320"/>
          </a:xfrm>
          <a:prstGeom prst="rect">
            <a:avLst/>
          </a:prstGeom>
          <a:solidFill>
            <a:srgbClr val="FEE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78561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100 mM</a:t>
            </a:r>
          </a:p>
        </p:txBody>
      </p:sp>
      <p:sp>
        <p:nvSpPr>
          <p:cNvPr id="33" name="TextBox 32"/>
          <p:cNvSpPr txBox="1"/>
          <p:nvPr/>
        </p:nvSpPr>
        <p:spPr>
          <a:xfrm>
            <a:off x="2926080" y="378561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0.30  mM</a:t>
            </a:r>
          </a:p>
        </p:txBody>
      </p:sp>
      <p:sp>
        <p:nvSpPr>
          <p:cNvPr id="34" name="TextBox 33"/>
          <p:cNvSpPr txBox="1"/>
          <p:nvPr/>
        </p:nvSpPr>
        <p:spPr>
          <a:xfrm>
            <a:off x="5212080" y="3785616"/>
            <a:ext cx="3200400" cy="201168"/>
          </a:xfrm>
          <a:prstGeom prst="rect">
            <a:avLst/>
          </a:prstGeom>
          <a:noFill/>
        </p:spPr>
        <p:txBody>
          <a:bodyPr wrap="square" lIns="50800" rIns="50800" tIns="25400" bIns="25400">
            <a:spAutoFit/>
          </a:bodyPr>
          <a:lstStyle/>
          <a:p>
            <a:pPr algn="l"/>
            <a:r>
              <a:rPr sz="1000" b="0" i="0">
                <a:solidFill>
                  <a:srgbClr val="36454F"/>
                </a:solidFill>
                <a:latin typeface="Consolas"/>
              </a:rPr>
              <a:t>≈ 1-2  mM</a:t>
            </a:r>
          </a:p>
        </p:txBody>
      </p:sp>
      <p:sp>
        <p:nvSpPr>
          <p:cNvPr id="35" name="TextBox 34"/>
          <p:cNvSpPr txBox="1"/>
          <p:nvPr/>
        </p:nvSpPr>
        <p:spPr>
          <a:xfrm>
            <a:off x="8412480" y="3785616"/>
            <a:ext cx="2286000" cy="201168"/>
          </a:xfrm>
          <a:prstGeom prst="rect">
            <a:avLst/>
          </a:prstGeom>
          <a:noFill/>
        </p:spPr>
        <p:txBody>
          <a:bodyPr wrap="square" lIns="50800" rIns="50800" tIns="25400" bIns="25400">
            <a:spAutoFit/>
          </a:bodyPr>
          <a:lstStyle/>
          <a:p>
            <a:pPr algn="l"/>
            <a:r>
              <a:rPr sz="1000" b="1" i="0">
                <a:solidFill>
                  <a:srgbClr val="CC3333"/>
                </a:solidFill>
                <a:latin typeface="Consolas"/>
              </a:rPr>
              <a:t>OVER-WEIGHTED (3-6×)</a:t>
            </a:r>
          </a:p>
        </p:txBody>
      </p:sp>
      <p:sp>
        <p:nvSpPr>
          <p:cNvPr id="36" name="Rectangle 35"/>
          <p:cNvSpPr/>
          <p:nvPr/>
        </p:nvSpPr>
        <p:spPr>
          <a:xfrm>
            <a:off x="548640" y="4023360"/>
            <a:ext cx="11094720" cy="274320"/>
          </a:xfrm>
          <a:prstGeom prst="rect">
            <a:avLst/>
          </a:prstGeom>
          <a:solidFill>
            <a:srgbClr val="FEE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05993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200 mM</a:t>
            </a:r>
          </a:p>
        </p:txBody>
      </p:sp>
      <p:sp>
        <p:nvSpPr>
          <p:cNvPr id="38" name="TextBox 37"/>
          <p:cNvSpPr txBox="1"/>
          <p:nvPr/>
        </p:nvSpPr>
        <p:spPr>
          <a:xfrm>
            <a:off x="2926080" y="4059936"/>
            <a:ext cx="2286000" cy="201168"/>
          </a:xfrm>
          <a:prstGeom prst="rect">
            <a:avLst/>
          </a:prstGeom>
          <a:noFill/>
        </p:spPr>
        <p:txBody>
          <a:bodyPr wrap="square" lIns="50800" rIns="50800" tIns="25400" bIns="25400">
            <a:spAutoFit/>
          </a:bodyPr>
          <a:lstStyle/>
          <a:p>
            <a:pPr algn="l"/>
            <a:r>
              <a:rPr sz="1000" b="0" i="0">
                <a:solidFill>
                  <a:srgbClr val="36454F"/>
                </a:solidFill>
                <a:latin typeface="Consolas"/>
              </a:rPr>
              <a:t>0.60  mM</a:t>
            </a:r>
          </a:p>
        </p:txBody>
      </p:sp>
      <p:sp>
        <p:nvSpPr>
          <p:cNvPr id="39" name="TextBox 38"/>
          <p:cNvSpPr txBox="1"/>
          <p:nvPr/>
        </p:nvSpPr>
        <p:spPr>
          <a:xfrm>
            <a:off x="5212080" y="4059936"/>
            <a:ext cx="3200400" cy="201168"/>
          </a:xfrm>
          <a:prstGeom prst="rect">
            <a:avLst/>
          </a:prstGeom>
          <a:noFill/>
        </p:spPr>
        <p:txBody>
          <a:bodyPr wrap="square" lIns="50800" rIns="50800" tIns="25400" bIns="25400">
            <a:spAutoFit/>
          </a:bodyPr>
          <a:lstStyle/>
          <a:p>
            <a:pPr algn="l"/>
            <a:r>
              <a:rPr sz="1000" b="0" i="0">
                <a:solidFill>
                  <a:srgbClr val="36454F"/>
                </a:solidFill>
                <a:latin typeface="Consolas"/>
              </a:rPr>
              <a:t>≈ 2-5  mM</a:t>
            </a:r>
          </a:p>
        </p:txBody>
      </p:sp>
      <p:sp>
        <p:nvSpPr>
          <p:cNvPr id="40" name="TextBox 39"/>
          <p:cNvSpPr txBox="1"/>
          <p:nvPr/>
        </p:nvSpPr>
        <p:spPr>
          <a:xfrm>
            <a:off x="8412480" y="4059936"/>
            <a:ext cx="2286000" cy="201168"/>
          </a:xfrm>
          <a:prstGeom prst="rect">
            <a:avLst/>
          </a:prstGeom>
          <a:noFill/>
        </p:spPr>
        <p:txBody>
          <a:bodyPr wrap="square" lIns="50800" rIns="50800" tIns="25400" bIns="25400">
            <a:spAutoFit/>
          </a:bodyPr>
          <a:lstStyle/>
          <a:p>
            <a:pPr algn="l"/>
            <a:r>
              <a:rPr sz="1000" b="1" i="0">
                <a:solidFill>
                  <a:srgbClr val="CC3333"/>
                </a:solidFill>
                <a:latin typeface="Consolas"/>
              </a:rPr>
              <a:t>BADLY OVER-WEIGHTED</a:t>
            </a:r>
          </a:p>
        </p:txBody>
      </p:sp>
      <p:sp>
        <p:nvSpPr>
          <p:cNvPr id="41" name="Rectangle 40"/>
          <p:cNvSpPr/>
          <p:nvPr/>
        </p:nvSpPr>
        <p:spPr>
          <a:xfrm>
            <a:off x="457200" y="4434840"/>
            <a:ext cx="11277600" cy="1280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434840"/>
            <a:ext cx="11277600" cy="274320"/>
          </a:xfrm>
          <a:prstGeom prst="rect">
            <a:avLst/>
          </a:prstGeom>
          <a:noFill/>
        </p:spPr>
        <p:txBody>
          <a:bodyPr wrap="square" lIns="50800" rIns="50800" tIns="25400" bIns="25400">
            <a:spAutoFit/>
          </a:bodyPr>
          <a:lstStyle/>
          <a:p>
            <a:pPr algn="ctr"/>
            <a:r>
              <a:rPr sz="1100" b="1" i="0">
                <a:solidFill>
                  <a:srgbClr val="065A82"/>
                </a:solidFill>
                <a:latin typeface="Calibri"/>
              </a:rPr>
              <a:t>WHY THE OPTIMIZER PEGS σ AT THE WALL</a:t>
            </a:r>
          </a:p>
        </p:txBody>
      </p:sp>
      <p:sp>
        <p:nvSpPr>
          <p:cNvPr id="43" name="TextBox 42"/>
          <p:cNvSpPr txBox="1"/>
          <p:nvPr/>
        </p:nvSpPr>
        <p:spPr>
          <a:xfrm>
            <a:off x="640080" y="4754880"/>
            <a:ext cx="10911840" cy="960120"/>
          </a:xfrm>
          <a:prstGeom prst="rect">
            <a:avLst/>
          </a:prstGeom>
          <a:noFill/>
        </p:spPr>
        <p:txBody>
          <a:bodyPr wrap="square" lIns="50800" rIns="50800" tIns="25400" bIns="25400">
            <a:spAutoFit/>
          </a:bodyPr>
          <a:lstStyle/>
          <a:p>
            <a:pPr algn="l"/>
            <a:r>
              <a:rPr sz="1050" b="0" i="0">
                <a:solidFill>
                  <a:srgbClr val="36454F"/>
                </a:solidFill>
                <a:latin typeface="Calibri"/>
              </a:rPr>
              <a:t>•  In concentrating sheets, end-of-run cF ≈ 100 mM.  A 0.3 mM tolerance forces the model to fit cF to a near-perfect match.</a:t>
            </a:r>
          </a:p>
          <a:p>
            <a:pPr algn="l"/>
            <a:r>
              <a:rPr sz="1050" b="0" i="0">
                <a:solidFill>
                  <a:srgbClr val="36454F"/>
                </a:solidFill>
                <a:latin typeface="Calibri"/>
              </a:rPr>
              <a:t>•  The ONLY way the model can hold cF down at end-of-run with rising cV is to crank σ to either 0 (perfect penetration → cF tracks dilution) or 1 (perfect rejection → cF accumulates).</a:t>
            </a:r>
          </a:p>
          <a:p>
            <a:pPr algn="l"/>
            <a:r>
              <a:rPr sz="1050" b="0" i="0">
                <a:solidFill>
                  <a:srgbClr val="36454F"/>
                </a:solidFill>
                <a:latin typeface="Calibri"/>
              </a:rPr>
              <a:t>•  Whichever wall the cF channel residuals prefer locally, the optimizer goes there.  Direction (0 vs 1) is sheet-specific; the WALL itself is the consistent pathology.</a:t>
            </a:r>
          </a:p>
        </p:txBody>
      </p:sp>
      <p:sp>
        <p:nvSpPr>
          <p:cNvPr id="44" name="Rectangle 43"/>
          <p:cNvSpPr/>
          <p:nvPr/>
        </p:nvSpPr>
        <p:spPr>
          <a:xfrm>
            <a:off x="457200" y="5852160"/>
            <a:ext cx="11277600" cy="41148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91616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Next slide:  the fix — apply an absolute floor on the cF residual.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09 · CF RESIDUAL FLOOR  ·  THE FIX</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09</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2C824A"/>
                </a:solidFill>
                <a:latin typeface="Calibri"/>
              </a:rPr>
              <a:t>absolute floor on the cF residual scale</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Cap the maximum cF weight at 1 mM — releases σ from the wall</a:t>
            </a:r>
          </a:p>
        </p:txBody>
      </p:sp>
      <p:sp>
        <p:nvSpPr>
          <p:cNvPr id="8" name="TextBox 7"/>
          <p:cNvSpPr txBox="1"/>
          <p:nvPr/>
        </p:nvSpPr>
        <p:spPr>
          <a:xfrm>
            <a:off x="457200" y="141732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PROPOSED cF RESIDUAL SCALE:</a:t>
            </a:r>
          </a:p>
        </p:txBody>
      </p:sp>
      <p:sp>
        <p:nvSpPr>
          <p:cNvPr id="9" name="Rectangle 8"/>
          <p:cNvSpPr/>
          <p:nvPr/>
        </p:nvSpPr>
        <p:spPr>
          <a:xfrm>
            <a:off x="457200" y="1691640"/>
            <a:ext cx="1127760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83080"/>
            <a:ext cx="11277600" cy="365760"/>
          </a:xfrm>
          <a:prstGeom prst="rect">
            <a:avLst/>
          </a:prstGeom>
          <a:noFill/>
        </p:spPr>
        <p:txBody>
          <a:bodyPr wrap="square" lIns="50800" rIns="50800" tIns="25400" bIns="25400">
            <a:spAutoFit/>
          </a:bodyPr>
          <a:lstStyle/>
          <a:p>
            <a:pPr algn="ctr"/>
            <a:r>
              <a:rPr sz="1600" b="1" i="0">
                <a:solidFill>
                  <a:srgbClr val="FFFFFF"/>
                </a:solidFill>
                <a:latin typeface="Consolas"/>
              </a:rPr>
              <a:t>σ_cF[i] = max(0.003 · cF_meas[i],  1.0 mM)</a:t>
            </a:r>
          </a:p>
        </p:txBody>
      </p:sp>
      <p:sp>
        <p:nvSpPr>
          <p:cNvPr id="11" name="TextBox 10"/>
          <p:cNvSpPr txBox="1"/>
          <p:nvPr/>
        </p:nvSpPr>
        <p:spPr>
          <a:xfrm>
            <a:off x="457200" y="2240280"/>
            <a:ext cx="11277600" cy="274320"/>
          </a:xfrm>
          <a:prstGeom prst="rect">
            <a:avLst/>
          </a:prstGeom>
          <a:noFill/>
        </p:spPr>
        <p:txBody>
          <a:bodyPr wrap="square" lIns="50800" rIns="50800" tIns="25400" bIns="25400">
            <a:spAutoFit/>
          </a:bodyPr>
          <a:lstStyle/>
          <a:p>
            <a:pPr algn="ctr"/>
            <a:r>
              <a:rPr sz="1000" b="0" i="1">
                <a:solidFill>
                  <a:srgbClr val="707070"/>
                </a:solidFill>
                <a:latin typeface="Calibri"/>
              </a:rPr>
              <a:t>(below cF ≈ 333 mM the floor is active; above, the legacy relative weight wins)</a:t>
            </a:r>
          </a:p>
        </p:txBody>
      </p:sp>
      <p:sp>
        <p:nvSpPr>
          <p:cNvPr id="12" name="Rectangle 11"/>
          <p:cNvSpPr/>
          <p:nvPr/>
        </p:nvSpPr>
        <p:spPr>
          <a:xfrm>
            <a:off x="457200" y="2743200"/>
            <a:ext cx="1127760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43200"/>
            <a:ext cx="11277600" cy="365760"/>
          </a:xfrm>
          <a:prstGeom prst="rect">
            <a:avLst/>
          </a:prstGeom>
          <a:noFill/>
        </p:spPr>
        <p:txBody>
          <a:bodyPr wrap="square" lIns="50800" rIns="50800" tIns="25400" bIns="25400">
            <a:spAutoFit/>
          </a:bodyPr>
          <a:lstStyle/>
          <a:p>
            <a:pPr algn="ctr"/>
            <a:r>
              <a:rPr sz="1200" b="1" i="0">
                <a:solidFill>
                  <a:srgbClr val="FFFFFF"/>
                </a:solidFill>
                <a:latin typeface="Calibri"/>
              </a:rPr>
              <a:t>PROOF POINT  ·  MC2.05.07.24_CaCl2  ·  defaults  vs  cF floor = 1 mM</a:t>
            </a:r>
          </a:p>
        </p:txBody>
      </p:sp>
      <p:sp>
        <p:nvSpPr>
          <p:cNvPr id="14" name="Rectangle 13"/>
          <p:cNvSpPr/>
          <p:nvPr/>
        </p:nvSpPr>
        <p:spPr>
          <a:xfrm>
            <a:off x="457200" y="3108960"/>
            <a:ext cx="1127760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154680"/>
            <a:ext cx="2286000" cy="182880"/>
          </a:xfrm>
          <a:prstGeom prst="rect">
            <a:avLst/>
          </a:prstGeom>
          <a:noFill/>
        </p:spPr>
        <p:txBody>
          <a:bodyPr wrap="square" lIns="50800" rIns="50800" tIns="25400" bIns="25400">
            <a:spAutoFit/>
          </a:bodyPr>
          <a:lstStyle/>
          <a:p>
            <a:pPr algn="l"/>
            <a:r>
              <a:rPr sz="1100" b="1" i="0">
                <a:solidFill>
                  <a:srgbClr val="065A82"/>
                </a:solidFill>
                <a:latin typeface="Consolas"/>
              </a:rPr>
              <a:t/>
            </a:r>
          </a:p>
        </p:txBody>
      </p:sp>
      <p:sp>
        <p:nvSpPr>
          <p:cNvPr id="16" name="TextBox 15"/>
          <p:cNvSpPr txBox="1"/>
          <p:nvPr/>
        </p:nvSpPr>
        <p:spPr>
          <a:xfrm>
            <a:off x="2926080" y="3154680"/>
            <a:ext cx="2743200" cy="182880"/>
          </a:xfrm>
          <a:prstGeom prst="rect">
            <a:avLst/>
          </a:prstGeom>
          <a:noFill/>
        </p:spPr>
        <p:txBody>
          <a:bodyPr wrap="square" lIns="50800" rIns="50800" tIns="25400" bIns="25400">
            <a:spAutoFit/>
          </a:bodyPr>
          <a:lstStyle/>
          <a:p>
            <a:pPr algn="l"/>
            <a:r>
              <a:rPr sz="1100" b="1" i="0">
                <a:solidFill>
                  <a:srgbClr val="065A82"/>
                </a:solidFill>
                <a:latin typeface="Consolas"/>
              </a:rPr>
              <a:t>baseline (no floor)</a:t>
            </a:r>
          </a:p>
        </p:txBody>
      </p:sp>
      <p:sp>
        <p:nvSpPr>
          <p:cNvPr id="17" name="TextBox 16"/>
          <p:cNvSpPr txBox="1"/>
          <p:nvPr/>
        </p:nvSpPr>
        <p:spPr>
          <a:xfrm>
            <a:off x="5669280" y="3154680"/>
            <a:ext cx="2743200" cy="182880"/>
          </a:xfrm>
          <a:prstGeom prst="rect">
            <a:avLst/>
          </a:prstGeom>
          <a:noFill/>
        </p:spPr>
        <p:txBody>
          <a:bodyPr wrap="square" lIns="50800" rIns="50800" tIns="25400" bIns="25400">
            <a:spAutoFit/>
          </a:bodyPr>
          <a:lstStyle/>
          <a:p>
            <a:pPr algn="l"/>
            <a:r>
              <a:rPr sz="1100" b="1" i="0">
                <a:solidFill>
                  <a:srgbClr val="065A82"/>
                </a:solidFill>
                <a:latin typeface="Consolas"/>
              </a:rPr>
              <a:t>with floor = 1 mM</a:t>
            </a:r>
          </a:p>
        </p:txBody>
      </p:sp>
      <p:sp>
        <p:nvSpPr>
          <p:cNvPr id="18" name="TextBox 17"/>
          <p:cNvSpPr txBox="1"/>
          <p:nvPr/>
        </p:nvSpPr>
        <p:spPr>
          <a:xfrm>
            <a:off x="8412480" y="3154680"/>
            <a:ext cx="2286000" cy="182880"/>
          </a:xfrm>
          <a:prstGeom prst="rect">
            <a:avLst/>
          </a:prstGeom>
          <a:noFill/>
        </p:spPr>
        <p:txBody>
          <a:bodyPr wrap="square" lIns="50800" rIns="50800" tIns="25400" bIns="25400">
            <a:spAutoFit/>
          </a:bodyPr>
          <a:lstStyle/>
          <a:p>
            <a:pPr algn="l"/>
            <a:r>
              <a:rPr sz="1100" b="1" i="0">
                <a:solidFill>
                  <a:srgbClr val="065A82"/>
                </a:solidFill>
                <a:latin typeface="Consolas"/>
              </a:rPr>
              <a:t>improvement</a:t>
            </a:r>
          </a:p>
        </p:txBody>
      </p:sp>
      <p:sp>
        <p:nvSpPr>
          <p:cNvPr id="19" name="TextBox 18"/>
          <p:cNvSpPr txBox="1"/>
          <p:nvPr/>
        </p:nvSpPr>
        <p:spPr>
          <a:xfrm>
            <a:off x="640080" y="342900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Lp</a:t>
            </a:r>
          </a:p>
        </p:txBody>
      </p:sp>
      <p:sp>
        <p:nvSpPr>
          <p:cNvPr id="20" name="TextBox 19"/>
          <p:cNvSpPr txBox="1"/>
          <p:nvPr/>
        </p:nvSpPr>
        <p:spPr>
          <a:xfrm>
            <a:off x="2926080" y="342900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4.00</a:t>
            </a:r>
          </a:p>
        </p:txBody>
      </p:sp>
      <p:sp>
        <p:nvSpPr>
          <p:cNvPr id="21" name="TextBox 20"/>
          <p:cNvSpPr txBox="1"/>
          <p:nvPr/>
        </p:nvSpPr>
        <p:spPr>
          <a:xfrm>
            <a:off x="5669280" y="342900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6.08</a:t>
            </a:r>
          </a:p>
        </p:txBody>
      </p:sp>
      <p:sp>
        <p:nvSpPr>
          <p:cNvPr id="22" name="TextBox 21"/>
          <p:cNvSpPr txBox="1"/>
          <p:nvPr/>
        </p:nvSpPr>
        <p:spPr>
          <a:xfrm>
            <a:off x="8412480" y="342900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+52 %</a:t>
            </a:r>
          </a:p>
        </p:txBody>
      </p:sp>
      <p:sp>
        <p:nvSpPr>
          <p:cNvPr id="23" name="TextBox 22"/>
          <p:cNvSpPr txBox="1"/>
          <p:nvPr/>
        </p:nvSpPr>
        <p:spPr>
          <a:xfrm>
            <a:off x="640080" y="370332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B</a:t>
            </a:r>
          </a:p>
        </p:txBody>
      </p:sp>
      <p:sp>
        <p:nvSpPr>
          <p:cNvPr id="24" name="TextBox 23"/>
          <p:cNvSpPr txBox="1"/>
          <p:nvPr/>
        </p:nvSpPr>
        <p:spPr>
          <a:xfrm>
            <a:off x="2926080" y="370332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0.50</a:t>
            </a:r>
          </a:p>
        </p:txBody>
      </p:sp>
      <p:sp>
        <p:nvSpPr>
          <p:cNvPr id="25" name="TextBox 24"/>
          <p:cNvSpPr txBox="1"/>
          <p:nvPr/>
        </p:nvSpPr>
        <p:spPr>
          <a:xfrm>
            <a:off x="5669280" y="370332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0.40</a:t>
            </a:r>
          </a:p>
        </p:txBody>
      </p:sp>
      <p:sp>
        <p:nvSpPr>
          <p:cNvPr id="26" name="TextBox 25"/>
          <p:cNvSpPr txBox="1"/>
          <p:nvPr/>
        </p:nvSpPr>
        <p:spPr>
          <a:xfrm>
            <a:off x="8412480" y="370332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small</a:t>
            </a:r>
          </a:p>
        </p:txBody>
      </p:sp>
      <p:sp>
        <p:nvSpPr>
          <p:cNvPr id="27" name="Rectangle 26"/>
          <p:cNvSpPr/>
          <p:nvPr/>
        </p:nvSpPr>
        <p:spPr>
          <a:xfrm>
            <a:off x="548640" y="3931920"/>
            <a:ext cx="11094720" cy="274320"/>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977640"/>
            <a:ext cx="2286000" cy="182880"/>
          </a:xfrm>
          <a:prstGeom prst="rect">
            <a:avLst/>
          </a:prstGeom>
          <a:noFill/>
        </p:spPr>
        <p:txBody>
          <a:bodyPr wrap="square" lIns="50800" rIns="50800" tIns="25400" bIns="25400">
            <a:spAutoFit/>
          </a:bodyPr>
          <a:lstStyle/>
          <a:p>
            <a:pPr algn="l"/>
            <a:r>
              <a:rPr sz="1100" b="1" i="0">
                <a:solidFill>
                  <a:srgbClr val="2C824A"/>
                </a:solidFill>
                <a:latin typeface="Consolas"/>
              </a:rPr>
              <a:t>σ</a:t>
            </a:r>
          </a:p>
        </p:txBody>
      </p:sp>
      <p:sp>
        <p:nvSpPr>
          <p:cNvPr id="29" name="TextBox 28"/>
          <p:cNvSpPr txBox="1"/>
          <p:nvPr/>
        </p:nvSpPr>
        <p:spPr>
          <a:xfrm>
            <a:off x="2926080" y="3977640"/>
            <a:ext cx="2743200" cy="182880"/>
          </a:xfrm>
          <a:prstGeom prst="rect">
            <a:avLst/>
          </a:prstGeom>
          <a:noFill/>
        </p:spPr>
        <p:txBody>
          <a:bodyPr wrap="square" lIns="50800" rIns="50800" tIns="25400" bIns="25400">
            <a:spAutoFit/>
          </a:bodyPr>
          <a:lstStyle/>
          <a:p>
            <a:pPr algn="l"/>
            <a:r>
              <a:rPr sz="1100" b="1" i="0">
                <a:solidFill>
                  <a:srgbClr val="2C824A"/>
                </a:solidFill>
                <a:latin typeface="Consolas"/>
              </a:rPr>
              <a:t>1.00  (wall)</a:t>
            </a:r>
          </a:p>
        </p:txBody>
      </p:sp>
      <p:sp>
        <p:nvSpPr>
          <p:cNvPr id="30" name="TextBox 29"/>
          <p:cNvSpPr txBox="1"/>
          <p:nvPr/>
        </p:nvSpPr>
        <p:spPr>
          <a:xfrm>
            <a:off x="5669280" y="3977640"/>
            <a:ext cx="2743200" cy="182880"/>
          </a:xfrm>
          <a:prstGeom prst="rect">
            <a:avLst/>
          </a:prstGeom>
          <a:noFill/>
        </p:spPr>
        <p:txBody>
          <a:bodyPr wrap="square" lIns="50800" rIns="50800" tIns="25400" bIns="25400">
            <a:spAutoFit/>
          </a:bodyPr>
          <a:lstStyle/>
          <a:p>
            <a:pPr algn="l"/>
            <a:r>
              <a:rPr sz="1100" b="1" i="0">
                <a:solidFill>
                  <a:srgbClr val="2C824A"/>
                </a:solidFill>
                <a:latin typeface="Consolas"/>
              </a:rPr>
              <a:t>0.38  (INTERIOR)</a:t>
            </a:r>
          </a:p>
        </p:txBody>
      </p:sp>
      <p:sp>
        <p:nvSpPr>
          <p:cNvPr id="31" name="TextBox 30"/>
          <p:cNvSpPr txBox="1"/>
          <p:nvPr/>
        </p:nvSpPr>
        <p:spPr>
          <a:xfrm>
            <a:off x="8412480" y="3977640"/>
            <a:ext cx="2286000" cy="182880"/>
          </a:xfrm>
          <a:prstGeom prst="rect">
            <a:avLst/>
          </a:prstGeom>
          <a:noFill/>
        </p:spPr>
        <p:txBody>
          <a:bodyPr wrap="square" lIns="50800" rIns="50800" tIns="25400" bIns="25400">
            <a:spAutoFit/>
          </a:bodyPr>
          <a:lstStyle/>
          <a:p>
            <a:pPr algn="l"/>
            <a:r>
              <a:rPr sz="1100" b="1" i="0">
                <a:solidFill>
                  <a:srgbClr val="2C824A"/>
                </a:solidFill>
                <a:latin typeface="Consolas"/>
              </a:rPr>
              <a:t>off the wall</a:t>
            </a:r>
          </a:p>
        </p:txBody>
      </p:sp>
      <p:sp>
        <p:nvSpPr>
          <p:cNvPr id="32" name="TextBox 31"/>
          <p:cNvSpPr txBox="1"/>
          <p:nvPr/>
        </p:nvSpPr>
        <p:spPr>
          <a:xfrm>
            <a:off x="640080" y="425196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obj_mass</a:t>
            </a:r>
          </a:p>
        </p:txBody>
      </p:sp>
      <p:sp>
        <p:nvSpPr>
          <p:cNvPr id="33" name="TextBox 32"/>
          <p:cNvSpPr txBox="1"/>
          <p:nvPr/>
        </p:nvSpPr>
        <p:spPr>
          <a:xfrm>
            <a:off x="2926080" y="425196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847.8</a:t>
            </a:r>
          </a:p>
        </p:txBody>
      </p:sp>
      <p:sp>
        <p:nvSpPr>
          <p:cNvPr id="34" name="TextBox 33"/>
          <p:cNvSpPr txBox="1"/>
          <p:nvPr/>
        </p:nvSpPr>
        <p:spPr>
          <a:xfrm>
            <a:off x="5669280" y="425196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173.1</a:t>
            </a:r>
          </a:p>
        </p:txBody>
      </p:sp>
      <p:sp>
        <p:nvSpPr>
          <p:cNvPr id="35" name="TextBox 34"/>
          <p:cNvSpPr txBox="1"/>
          <p:nvPr/>
        </p:nvSpPr>
        <p:spPr>
          <a:xfrm>
            <a:off x="8412480" y="425196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 4.9 better</a:t>
            </a:r>
          </a:p>
        </p:txBody>
      </p:sp>
      <p:sp>
        <p:nvSpPr>
          <p:cNvPr id="36" name="TextBox 35"/>
          <p:cNvSpPr txBox="1"/>
          <p:nvPr/>
        </p:nvSpPr>
        <p:spPr>
          <a:xfrm>
            <a:off x="640080" y="452628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obj_permeate</a:t>
            </a:r>
          </a:p>
        </p:txBody>
      </p:sp>
      <p:sp>
        <p:nvSpPr>
          <p:cNvPr id="37" name="TextBox 36"/>
          <p:cNvSpPr txBox="1"/>
          <p:nvPr/>
        </p:nvSpPr>
        <p:spPr>
          <a:xfrm>
            <a:off x="2926080" y="452628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790.3</a:t>
            </a:r>
          </a:p>
        </p:txBody>
      </p:sp>
      <p:sp>
        <p:nvSpPr>
          <p:cNvPr id="38" name="TextBox 37"/>
          <p:cNvSpPr txBox="1"/>
          <p:nvPr/>
        </p:nvSpPr>
        <p:spPr>
          <a:xfrm>
            <a:off x="5669280" y="452628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753.8</a:t>
            </a:r>
          </a:p>
        </p:txBody>
      </p:sp>
      <p:sp>
        <p:nvSpPr>
          <p:cNvPr id="39" name="TextBox 38"/>
          <p:cNvSpPr txBox="1"/>
          <p:nvPr/>
        </p:nvSpPr>
        <p:spPr>
          <a:xfrm>
            <a:off x="8412480" y="452628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flat</a:t>
            </a:r>
          </a:p>
        </p:txBody>
      </p:sp>
      <p:sp>
        <p:nvSpPr>
          <p:cNvPr id="40" name="TextBox 39"/>
          <p:cNvSpPr txBox="1"/>
          <p:nvPr/>
        </p:nvSpPr>
        <p:spPr>
          <a:xfrm>
            <a:off x="640080" y="480060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obj_retentate</a:t>
            </a:r>
          </a:p>
        </p:txBody>
      </p:sp>
      <p:sp>
        <p:nvSpPr>
          <p:cNvPr id="41" name="TextBox 40"/>
          <p:cNvSpPr txBox="1"/>
          <p:nvPr/>
        </p:nvSpPr>
        <p:spPr>
          <a:xfrm>
            <a:off x="2926080" y="480060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5081.4</a:t>
            </a:r>
          </a:p>
        </p:txBody>
      </p:sp>
      <p:sp>
        <p:nvSpPr>
          <p:cNvPr id="42" name="TextBox 41"/>
          <p:cNvSpPr txBox="1"/>
          <p:nvPr/>
        </p:nvSpPr>
        <p:spPr>
          <a:xfrm>
            <a:off x="5669280" y="4800600"/>
            <a:ext cx="2743200" cy="182880"/>
          </a:xfrm>
          <a:prstGeom prst="rect">
            <a:avLst/>
          </a:prstGeom>
          <a:noFill/>
        </p:spPr>
        <p:txBody>
          <a:bodyPr wrap="square" lIns="50800" rIns="50800" tIns="25400" bIns="25400">
            <a:spAutoFit/>
          </a:bodyPr>
          <a:lstStyle/>
          <a:p>
            <a:pPr algn="l"/>
            <a:r>
              <a:rPr sz="1100" b="0" i="0">
                <a:solidFill>
                  <a:srgbClr val="36454F"/>
                </a:solidFill>
                <a:latin typeface="Consolas"/>
              </a:rPr>
              <a:t>232.9</a:t>
            </a:r>
          </a:p>
        </p:txBody>
      </p:sp>
      <p:sp>
        <p:nvSpPr>
          <p:cNvPr id="43" name="TextBox 42"/>
          <p:cNvSpPr txBox="1"/>
          <p:nvPr/>
        </p:nvSpPr>
        <p:spPr>
          <a:xfrm>
            <a:off x="8412480" y="4800600"/>
            <a:ext cx="2286000" cy="182880"/>
          </a:xfrm>
          <a:prstGeom prst="rect">
            <a:avLst/>
          </a:prstGeom>
          <a:noFill/>
        </p:spPr>
        <p:txBody>
          <a:bodyPr wrap="square" lIns="50800" rIns="50800" tIns="25400" bIns="25400">
            <a:spAutoFit/>
          </a:bodyPr>
          <a:lstStyle/>
          <a:p>
            <a:pPr algn="l"/>
            <a:r>
              <a:rPr sz="1100" b="0" i="0">
                <a:solidFill>
                  <a:srgbClr val="36454F"/>
                </a:solidFill>
                <a:latin typeface="Consolas"/>
              </a:rPr>
              <a:t>× 21.8 better</a:t>
            </a:r>
          </a:p>
        </p:txBody>
      </p:sp>
      <p:sp>
        <p:nvSpPr>
          <p:cNvPr id="44" name="Rectangle 43"/>
          <p:cNvSpPr/>
          <p:nvPr/>
        </p:nvSpPr>
        <p:spPr>
          <a:xfrm>
            <a:off x="548640" y="5029200"/>
            <a:ext cx="11094720" cy="274320"/>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074920"/>
            <a:ext cx="2286000" cy="182880"/>
          </a:xfrm>
          <a:prstGeom prst="rect">
            <a:avLst/>
          </a:prstGeom>
          <a:noFill/>
        </p:spPr>
        <p:txBody>
          <a:bodyPr wrap="square" lIns="50800" rIns="50800" tIns="25400" bIns="25400">
            <a:spAutoFit/>
          </a:bodyPr>
          <a:lstStyle/>
          <a:p>
            <a:pPr algn="l"/>
            <a:r>
              <a:rPr sz="1100" b="1" i="0">
                <a:solidFill>
                  <a:srgbClr val="2C824A"/>
                </a:solidFill>
                <a:latin typeface="Consolas"/>
              </a:rPr>
              <a:t>TOTAL OBJ</a:t>
            </a:r>
          </a:p>
        </p:txBody>
      </p:sp>
      <p:sp>
        <p:nvSpPr>
          <p:cNvPr id="46" name="TextBox 45"/>
          <p:cNvSpPr txBox="1"/>
          <p:nvPr/>
        </p:nvSpPr>
        <p:spPr>
          <a:xfrm>
            <a:off x="2926080" y="5074920"/>
            <a:ext cx="2743200" cy="182880"/>
          </a:xfrm>
          <a:prstGeom prst="rect">
            <a:avLst/>
          </a:prstGeom>
          <a:noFill/>
        </p:spPr>
        <p:txBody>
          <a:bodyPr wrap="square" lIns="50800" rIns="50800" tIns="25400" bIns="25400">
            <a:spAutoFit/>
          </a:bodyPr>
          <a:lstStyle/>
          <a:p>
            <a:pPr algn="l"/>
            <a:r>
              <a:rPr sz="1100" b="1" i="0">
                <a:solidFill>
                  <a:srgbClr val="2C824A"/>
                </a:solidFill>
                <a:latin typeface="Consolas"/>
              </a:rPr>
              <a:t>6719.5</a:t>
            </a:r>
          </a:p>
        </p:txBody>
      </p:sp>
      <p:sp>
        <p:nvSpPr>
          <p:cNvPr id="47" name="TextBox 46"/>
          <p:cNvSpPr txBox="1"/>
          <p:nvPr/>
        </p:nvSpPr>
        <p:spPr>
          <a:xfrm>
            <a:off x="5669280" y="5074920"/>
            <a:ext cx="2743200" cy="182880"/>
          </a:xfrm>
          <a:prstGeom prst="rect">
            <a:avLst/>
          </a:prstGeom>
          <a:noFill/>
        </p:spPr>
        <p:txBody>
          <a:bodyPr wrap="square" lIns="50800" rIns="50800" tIns="25400" bIns="25400">
            <a:spAutoFit/>
          </a:bodyPr>
          <a:lstStyle/>
          <a:p>
            <a:pPr algn="l"/>
            <a:r>
              <a:rPr sz="1100" b="1" i="0">
                <a:solidFill>
                  <a:srgbClr val="2C824A"/>
                </a:solidFill>
                <a:latin typeface="Consolas"/>
              </a:rPr>
              <a:t>1159.8</a:t>
            </a:r>
          </a:p>
        </p:txBody>
      </p:sp>
      <p:sp>
        <p:nvSpPr>
          <p:cNvPr id="48" name="TextBox 47"/>
          <p:cNvSpPr txBox="1"/>
          <p:nvPr/>
        </p:nvSpPr>
        <p:spPr>
          <a:xfrm>
            <a:off x="8412480" y="5074920"/>
            <a:ext cx="2286000" cy="182880"/>
          </a:xfrm>
          <a:prstGeom prst="rect">
            <a:avLst/>
          </a:prstGeom>
          <a:noFill/>
        </p:spPr>
        <p:txBody>
          <a:bodyPr wrap="square" lIns="50800" rIns="50800" tIns="25400" bIns="25400">
            <a:spAutoFit/>
          </a:bodyPr>
          <a:lstStyle/>
          <a:p>
            <a:pPr algn="l"/>
            <a:r>
              <a:rPr sz="1100" b="1" i="0">
                <a:solidFill>
                  <a:srgbClr val="2C824A"/>
                </a:solidFill>
                <a:latin typeface="Consolas"/>
              </a:rPr>
              <a:t>× 5.8 BETTER</a:t>
            </a:r>
          </a:p>
        </p:txBody>
      </p:sp>
      <p:sp>
        <p:nvSpPr>
          <p:cNvPr id="49" name="Rectangle 48"/>
          <p:cNvSpPr/>
          <p:nvPr/>
        </p:nvSpPr>
        <p:spPr>
          <a:xfrm>
            <a:off x="457200" y="576072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82472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Same identical sheet, same data, same model — only the cF residual scale changed.  σ released, all channels improved together.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16 · PERMEATE PROBE CHANNEL  ·  NEW FIT TERM</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16</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02C39A"/>
                </a:solidFill>
                <a:latin typeface="Calibri"/>
              </a:rPr>
              <a:t>the unused 500×-richer data channel — now in the WSSE</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Continuous permeate-probe concentration as a 4th objective channel</a:t>
            </a:r>
          </a:p>
        </p:txBody>
      </p:sp>
      <p:sp>
        <p:nvSpPr>
          <p:cNvPr id="8" name="Rectangle 7"/>
          <p:cNvSpPr/>
          <p:nvPr/>
        </p:nvSpPr>
        <p:spPr>
          <a:xfrm>
            <a:off x="457200" y="1371600"/>
            <a:ext cx="11277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71600"/>
            <a:ext cx="11277600" cy="365760"/>
          </a:xfrm>
          <a:prstGeom prst="rect">
            <a:avLst/>
          </a:prstGeom>
          <a:noFill/>
        </p:spPr>
        <p:txBody>
          <a:bodyPr wrap="square" lIns="50800" rIns="50800" tIns="25400" bIns="25400">
            <a:spAutoFit/>
          </a:bodyPr>
          <a:lstStyle/>
          <a:p>
            <a:pPr algn="ctr"/>
            <a:r>
              <a:rPr sz="1200" b="1" i="0">
                <a:solidFill>
                  <a:srgbClr val="FFFFFF"/>
                </a:solidFill>
                <a:latin typeface="Calibri"/>
              </a:rPr>
              <a:t>DATA AVAILABILITY  ·  samples per vial in each channel</a:t>
            </a:r>
          </a:p>
        </p:txBody>
      </p:sp>
      <p:sp>
        <p:nvSpPr>
          <p:cNvPr id="10" name="Rectangle 9"/>
          <p:cNvSpPr/>
          <p:nvPr/>
        </p:nvSpPr>
        <p:spPr>
          <a:xfrm>
            <a:off x="457200" y="1737360"/>
            <a:ext cx="11277600" cy="1097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773936"/>
            <a:ext cx="4114800" cy="201168"/>
          </a:xfrm>
          <a:prstGeom prst="rect">
            <a:avLst/>
          </a:prstGeom>
          <a:noFill/>
        </p:spPr>
        <p:txBody>
          <a:bodyPr wrap="square" lIns="50800" rIns="50800" tIns="25400" bIns="25400">
            <a:spAutoFit/>
          </a:bodyPr>
          <a:lstStyle/>
          <a:p>
            <a:pPr algn="l"/>
            <a:r>
              <a:rPr sz="1100" b="0" i="0">
                <a:solidFill>
                  <a:srgbClr val="36454F"/>
                </a:solidFill>
                <a:latin typeface="Calibri"/>
              </a:rPr>
              <a:t>mass (balance trace)</a:t>
            </a:r>
          </a:p>
        </p:txBody>
      </p:sp>
      <p:sp>
        <p:nvSpPr>
          <p:cNvPr id="12" name="TextBox 11"/>
          <p:cNvSpPr txBox="1"/>
          <p:nvPr/>
        </p:nvSpPr>
        <p:spPr>
          <a:xfrm>
            <a:off x="5029200" y="1773936"/>
            <a:ext cx="2560320" cy="201168"/>
          </a:xfrm>
          <a:prstGeom prst="rect">
            <a:avLst/>
          </a:prstGeom>
          <a:noFill/>
        </p:spPr>
        <p:txBody>
          <a:bodyPr wrap="square" lIns="50800" rIns="50800" tIns="25400" bIns="25400">
            <a:spAutoFit/>
          </a:bodyPr>
          <a:lstStyle/>
          <a:p>
            <a:pPr algn="l"/>
            <a:r>
              <a:rPr sz="1100" b="0" i="0">
                <a:solidFill>
                  <a:srgbClr val="36454F"/>
                </a:solidFill>
                <a:latin typeface="Consolas"/>
              </a:rPr>
              <a:t>≈ 500 samples / vial</a:t>
            </a:r>
          </a:p>
        </p:txBody>
      </p:sp>
      <p:sp>
        <p:nvSpPr>
          <p:cNvPr id="13" name="TextBox 12"/>
          <p:cNvSpPr txBox="1"/>
          <p:nvPr/>
        </p:nvSpPr>
        <p:spPr>
          <a:xfrm>
            <a:off x="7772400" y="1773936"/>
            <a:ext cx="3200400" cy="201168"/>
          </a:xfrm>
          <a:prstGeom prst="rect">
            <a:avLst/>
          </a:prstGeom>
          <a:noFill/>
        </p:spPr>
        <p:txBody>
          <a:bodyPr wrap="square" lIns="50800" rIns="50800" tIns="25400" bIns="25400">
            <a:spAutoFit/>
          </a:bodyPr>
          <a:lstStyle/>
          <a:p>
            <a:pPr algn="l"/>
            <a:r>
              <a:rPr sz="1100" b="0" i="0">
                <a:solidFill>
                  <a:srgbClr val="707070"/>
                </a:solidFill>
                <a:latin typeface="Calibri"/>
              </a:rPr>
              <a:t>USED</a:t>
            </a:r>
          </a:p>
        </p:txBody>
      </p:sp>
      <p:sp>
        <p:nvSpPr>
          <p:cNvPr id="14" name="TextBox 13"/>
          <p:cNvSpPr txBox="1"/>
          <p:nvPr/>
        </p:nvSpPr>
        <p:spPr>
          <a:xfrm>
            <a:off x="731520" y="2048256"/>
            <a:ext cx="4114800" cy="201168"/>
          </a:xfrm>
          <a:prstGeom prst="rect">
            <a:avLst/>
          </a:prstGeom>
          <a:noFill/>
        </p:spPr>
        <p:txBody>
          <a:bodyPr wrap="square" lIns="50800" rIns="50800" tIns="25400" bIns="25400">
            <a:spAutoFit/>
          </a:bodyPr>
          <a:lstStyle/>
          <a:p>
            <a:pPr algn="l"/>
            <a:r>
              <a:rPr sz="1100" b="0" i="0">
                <a:solidFill>
                  <a:srgbClr val="36454F"/>
                </a:solidFill>
                <a:latin typeface="Calibri"/>
              </a:rPr>
              <a:t>retentate cF (probe → Shedlovsky)</a:t>
            </a:r>
          </a:p>
        </p:txBody>
      </p:sp>
      <p:sp>
        <p:nvSpPr>
          <p:cNvPr id="15" name="TextBox 14"/>
          <p:cNvSpPr txBox="1"/>
          <p:nvPr/>
        </p:nvSpPr>
        <p:spPr>
          <a:xfrm>
            <a:off x="5029200" y="2048256"/>
            <a:ext cx="2560320" cy="201168"/>
          </a:xfrm>
          <a:prstGeom prst="rect">
            <a:avLst/>
          </a:prstGeom>
          <a:noFill/>
        </p:spPr>
        <p:txBody>
          <a:bodyPr wrap="square" lIns="50800" rIns="50800" tIns="25400" bIns="25400">
            <a:spAutoFit/>
          </a:bodyPr>
          <a:lstStyle/>
          <a:p>
            <a:pPr algn="l"/>
            <a:r>
              <a:rPr sz="1100" b="0" i="0">
                <a:solidFill>
                  <a:srgbClr val="36454F"/>
                </a:solidFill>
                <a:latin typeface="Consolas"/>
              </a:rPr>
              <a:t>≈ 500 samples / vial</a:t>
            </a:r>
          </a:p>
        </p:txBody>
      </p:sp>
      <p:sp>
        <p:nvSpPr>
          <p:cNvPr id="16" name="TextBox 15"/>
          <p:cNvSpPr txBox="1"/>
          <p:nvPr/>
        </p:nvSpPr>
        <p:spPr>
          <a:xfrm>
            <a:off x="7772400" y="2048256"/>
            <a:ext cx="3200400" cy="201168"/>
          </a:xfrm>
          <a:prstGeom prst="rect">
            <a:avLst/>
          </a:prstGeom>
          <a:noFill/>
        </p:spPr>
        <p:txBody>
          <a:bodyPr wrap="square" lIns="50800" rIns="50800" tIns="25400" bIns="25400">
            <a:spAutoFit/>
          </a:bodyPr>
          <a:lstStyle/>
          <a:p>
            <a:pPr algn="l"/>
            <a:r>
              <a:rPr sz="1100" b="0" i="0">
                <a:solidFill>
                  <a:srgbClr val="707070"/>
                </a:solidFill>
                <a:latin typeface="Calibri"/>
              </a:rPr>
              <a:t>USED</a:t>
            </a:r>
          </a:p>
        </p:txBody>
      </p:sp>
      <p:sp>
        <p:nvSpPr>
          <p:cNvPr id="17" name="TextBox 16"/>
          <p:cNvSpPr txBox="1"/>
          <p:nvPr/>
        </p:nvSpPr>
        <p:spPr>
          <a:xfrm>
            <a:off x="731520" y="2322576"/>
            <a:ext cx="4114800" cy="201168"/>
          </a:xfrm>
          <a:prstGeom prst="rect">
            <a:avLst/>
          </a:prstGeom>
          <a:noFill/>
        </p:spPr>
        <p:txBody>
          <a:bodyPr wrap="square" lIns="50800" rIns="50800" tIns="25400" bIns="25400">
            <a:spAutoFit/>
          </a:bodyPr>
          <a:lstStyle/>
          <a:p>
            <a:pPr algn="l"/>
            <a:r>
              <a:rPr sz="1100" b="0" i="0">
                <a:solidFill>
                  <a:srgbClr val="36454F"/>
                </a:solidFill>
                <a:latin typeface="Calibri"/>
              </a:rPr>
              <a:t>permeate ICP (cV_avg, vial-integrated)</a:t>
            </a:r>
          </a:p>
        </p:txBody>
      </p:sp>
      <p:sp>
        <p:nvSpPr>
          <p:cNvPr id="18" name="TextBox 17"/>
          <p:cNvSpPr txBox="1"/>
          <p:nvPr/>
        </p:nvSpPr>
        <p:spPr>
          <a:xfrm>
            <a:off x="5029200" y="2322576"/>
            <a:ext cx="2560320" cy="201168"/>
          </a:xfrm>
          <a:prstGeom prst="rect">
            <a:avLst/>
          </a:prstGeom>
          <a:noFill/>
        </p:spPr>
        <p:txBody>
          <a:bodyPr wrap="square" lIns="50800" rIns="50800" tIns="25400" bIns="25400">
            <a:spAutoFit/>
          </a:bodyPr>
          <a:lstStyle/>
          <a:p>
            <a:pPr algn="l"/>
            <a:r>
              <a:rPr sz="1100" b="0" i="0">
                <a:solidFill>
                  <a:srgbClr val="36454F"/>
                </a:solidFill>
                <a:latin typeface="Consolas"/>
              </a:rPr>
              <a:t>    1 scalar / vial</a:t>
            </a:r>
          </a:p>
        </p:txBody>
      </p:sp>
      <p:sp>
        <p:nvSpPr>
          <p:cNvPr id="19" name="TextBox 18"/>
          <p:cNvSpPr txBox="1"/>
          <p:nvPr/>
        </p:nvSpPr>
        <p:spPr>
          <a:xfrm>
            <a:off x="7772400" y="2322576"/>
            <a:ext cx="3200400" cy="201168"/>
          </a:xfrm>
          <a:prstGeom prst="rect">
            <a:avLst/>
          </a:prstGeom>
          <a:noFill/>
        </p:spPr>
        <p:txBody>
          <a:bodyPr wrap="square" lIns="50800" rIns="50800" tIns="25400" bIns="25400">
            <a:spAutoFit/>
          </a:bodyPr>
          <a:lstStyle/>
          <a:p>
            <a:pPr algn="l"/>
            <a:r>
              <a:rPr sz="1100" b="0" i="0">
                <a:solidFill>
                  <a:srgbClr val="707070"/>
                </a:solidFill>
                <a:latin typeface="Calibri"/>
              </a:rPr>
              <a:t>USED</a:t>
            </a:r>
          </a:p>
        </p:txBody>
      </p:sp>
      <p:sp>
        <p:nvSpPr>
          <p:cNvPr id="20" name="Rectangle 19"/>
          <p:cNvSpPr/>
          <p:nvPr/>
        </p:nvSpPr>
        <p:spPr>
          <a:xfrm>
            <a:off x="548640" y="2560320"/>
            <a:ext cx="11094720" cy="274320"/>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596896"/>
            <a:ext cx="4114800" cy="201168"/>
          </a:xfrm>
          <a:prstGeom prst="rect">
            <a:avLst/>
          </a:prstGeom>
          <a:noFill/>
        </p:spPr>
        <p:txBody>
          <a:bodyPr wrap="square" lIns="50800" rIns="50800" tIns="25400" bIns="25400">
            <a:spAutoFit/>
          </a:bodyPr>
          <a:lstStyle/>
          <a:p>
            <a:pPr algn="l"/>
            <a:r>
              <a:rPr sz="1100" b="1" i="0">
                <a:solidFill>
                  <a:srgbClr val="2C824A"/>
                </a:solidFill>
                <a:latin typeface="Calibri"/>
              </a:rPr>
              <a:t>permeate probe (cV_perm_cond → mM)</a:t>
            </a:r>
          </a:p>
        </p:txBody>
      </p:sp>
      <p:sp>
        <p:nvSpPr>
          <p:cNvPr id="22" name="TextBox 21"/>
          <p:cNvSpPr txBox="1"/>
          <p:nvPr/>
        </p:nvSpPr>
        <p:spPr>
          <a:xfrm>
            <a:off x="5029200" y="2596896"/>
            <a:ext cx="2560320" cy="201168"/>
          </a:xfrm>
          <a:prstGeom prst="rect">
            <a:avLst/>
          </a:prstGeom>
          <a:noFill/>
        </p:spPr>
        <p:txBody>
          <a:bodyPr wrap="square" lIns="50800" rIns="50800" tIns="25400" bIns="25400">
            <a:spAutoFit/>
          </a:bodyPr>
          <a:lstStyle/>
          <a:p>
            <a:pPr algn="l"/>
            <a:r>
              <a:rPr sz="1100" b="1" i="0">
                <a:solidFill>
                  <a:srgbClr val="2C824A"/>
                </a:solidFill>
                <a:latin typeface="Consolas"/>
              </a:rPr>
              <a:t>≈ 500 samples / vial</a:t>
            </a:r>
          </a:p>
        </p:txBody>
      </p:sp>
      <p:sp>
        <p:nvSpPr>
          <p:cNvPr id="23" name="TextBox 22"/>
          <p:cNvSpPr txBox="1"/>
          <p:nvPr/>
        </p:nvSpPr>
        <p:spPr>
          <a:xfrm>
            <a:off x="7772400" y="2596896"/>
            <a:ext cx="3200400" cy="201168"/>
          </a:xfrm>
          <a:prstGeom prst="rect">
            <a:avLst/>
          </a:prstGeom>
          <a:noFill/>
        </p:spPr>
        <p:txBody>
          <a:bodyPr wrap="square" lIns="50800" rIns="50800" tIns="25400" bIns="25400">
            <a:spAutoFit/>
          </a:bodyPr>
          <a:lstStyle/>
          <a:p>
            <a:pPr algn="l"/>
            <a:r>
              <a:rPr sz="1100" b="1" i="0">
                <a:solidFill>
                  <a:srgbClr val="2C824A"/>
                </a:solidFill>
                <a:latin typeface="Calibri"/>
              </a:rPr>
              <a:t>**WAS IDLE — NOW ENABLED**</a:t>
            </a:r>
          </a:p>
        </p:txBody>
      </p:sp>
      <p:sp>
        <p:nvSpPr>
          <p:cNvPr id="24" name="TextBox 23"/>
          <p:cNvSpPr txBox="1"/>
          <p:nvPr/>
        </p:nvSpPr>
        <p:spPr>
          <a:xfrm>
            <a:off x="457200" y="283464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NEW OBJECTIVE TERM  (added to WSSE, DATA3-gated):</a:t>
            </a:r>
          </a:p>
        </p:txBody>
      </p:sp>
      <p:sp>
        <p:nvSpPr>
          <p:cNvPr id="25" name="Rectangle 24"/>
          <p:cNvSpPr/>
          <p:nvPr/>
        </p:nvSpPr>
        <p:spPr>
          <a:xfrm>
            <a:off x="457200" y="3127248"/>
            <a:ext cx="11277600" cy="5486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200400"/>
            <a:ext cx="11277600" cy="457200"/>
          </a:xfrm>
          <a:prstGeom prst="rect">
            <a:avLst/>
          </a:prstGeom>
          <a:noFill/>
        </p:spPr>
        <p:txBody>
          <a:bodyPr wrap="square" lIns="50800" rIns="50800" tIns="25400" bIns="25400">
            <a:spAutoFit/>
          </a:bodyPr>
          <a:lstStyle/>
          <a:p>
            <a:pPr algn="ctr"/>
            <a:r>
              <a:rPr sz="1400" b="1" i="0">
                <a:solidFill>
                  <a:srgbClr val="FFFFFF"/>
                </a:solidFill>
                <a:latin typeface="Consolas"/>
              </a:rPr>
              <a:t>Φ_perm  =  Σ_i [ (c_H(t_i) − cV_perm_exp(t_i)) / σ_perm ]²       (per-vial, samples ≥ n_v0)</a:t>
            </a:r>
          </a:p>
        </p:txBody>
      </p:sp>
      <p:sp>
        <p:nvSpPr>
          <p:cNvPr id="27" name="TextBox 26"/>
          <p:cNvSpPr txBox="1"/>
          <p:nvPr/>
        </p:nvSpPr>
        <p:spPr>
          <a:xfrm>
            <a:off x="457200" y="3703320"/>
            <a:ext cx="11277600" cy="274320"/>
          </a:xfrm>
          <a:prstGeom prst="rect">
            <a:avLst/>
          </a:prstGeom>
          <a:noFill/>
        </p:spPr>
        <p:txBody>
          <a:bodyPr wrap="square" lIns="50800" rIns="50800" tIns="25400" bIns="25400">
            <a:spAutoFit/>
          </a:bodyPr>
          <a:lstStyle/>
          <a:p>
            <a:pPr algn="ctr"/>
            <a:r>
              <a:rPr sz="1000" b="0" i="1">
                <a:solidFill>
                  <a:srgbClr val="707070"/>
                </a:solidFill>
                <a:latin typeface="Calibri"/>
              </a:rPr>
              <a:t>(c_H is the model's wall-concentration on the permeate side — physically what the probe measures)</a:t>
            </a:r>
          </a:p>
        </p:txBody>
      </p:sp>
      <p:sp>
        <p:nvSpPr>
          <p:cNvPr id="28" name="Rectangle 27"/>
          <p:cNvSpPr/>
          <p:nvPr/>
        </p:nvSpPr>
        <p:spPr>
          <a:xfrm>
            <a:off x="457200" y="4114800"/>
            <a:ext cx="1127760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114800"/>
            <a:ext cx="11277600" cy="365760"/>
          </a:xfrm>
          <a:prstGeom prst="rect">
            <a:avLst/>
          </a:prstGeom>
          <a:noFill/>
        </p:spPr>
        <p:txBody>
          <a:bodyPr wrap="square" lIns="50800" rIns="50800" tIns="25400" bIns="25400">
            <a:spAutoFit/>
          </a:bodyPr>
          <a:lstStyle/>
          <a:p>
            <a:pPr algn="ctr"/>
            <a:r>
              <a:rPr sz="1200" b="1" i="0">
                <a:solidFill>
                  <a:srgbClr val="FFFFFF"/>
                </a:solidFill>
                <a:latin typeface="Calibri"/>
              </a:rPr>
              <a:t>PROOF POINT  ·  MC2.05.07.24_CaCl2  ·  comparison</a:t>
            </a:r>
          </a:p>
        </p:txBody>
      </p:sp>
      <p:sp>
        <p:nvSpPr>
          <p:cNvPr id="30" name="Rectangle 29"/>
          <p:cNvSpPr/>
          <p:nvPr/>
        </p:nvSpPr>
        <p:spPr>
          <a:xfrm>
            <a:off x="457200" y="4480560"/>
            <a:ext cx="11277600"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517136"/>
            <a:ext cx="2560320" cy="258318"/>
          </a:xfrm>
          <a:prstGeom prst="rect">
            <a:avLst/>
          </a:prstGeom>
          <a:noFill/>
        </p:spPr>
        <p:txBody>
          <a:bodyPr wrap="square" lIns="50800" rIns="50800" tIns="25400" bIns="25400">
            <a:spAutoFit/>
          </a:bodyPr>
          <a:lstStyle/>
          <a:p>
            <a:pPr algn="l"/>
            <a:r>
              <a:rPr sz="1100" b="1" i="0">
                <a:solidFill>
                  <a:srgbClr val="065A82"/>
                </a:solidFill>
                <a:latin typeface="Consolas"/>
              </a:rPr>
              <a:t/>
            </a:r>
          </a:p>
        </p:txBody>
      </p:sp>
      <p:sp>
        <p:nvSpPr>
          <p:cNvPr id="32" name="TextBox 31"/>
          <p:cNvSpPr txBox="1"/>
          <p:nvPr/>
        </p:nvSpPr>
        <p:spPr>
          <a:xfrm>
            <a:off x="3200400" y="4517136"/>
            <a:ext cx="1005840" cy="258318"/>
          </a:xfrm>
          <a:prstGeom prst="rect">
            <a:avLst/>
          </a:prstGeom>
          <a:noFill/>
        </p:spPr>
        <p:txBody>
          <a:bodyPr wrap="square" lIns="50800" rIns="50800" tIns="25400" bIns="25400">
            <a:spAutoFit/>
          </a:bodyPr>
          <a:lstStyle/>
          <a:p>
            <a:pPr algn="ctr"/>
            <a:r>
              <a:rPr sz="1100" b="1" i="0">
                <a:solidFill>
                  <a:srgbClr val="065A82"/>
                </a:solidFill>
                <a:latin typeface="Consolas"/>
              </a:rPr>
              <a:t>Lp</a:t>
            </a:r>
          </a:p>
        </p:txBody>
      </p:sp>
      <p:sp>
        <p:nvSpPr>
          <p:cNvPr id="33" name="TextBox 32"/>
          <p:cNvSpPr txBox="1"/>
          <p:nvPr/>
        </p:nvSpPr>
        <p:spPr>
          <a:xfrm>
            <a:off x="4206240" y="4517136"/>
            <a:ext cx="1005840" cy="258318"/>
          </a:xfrm>
          <a:prstGeom prst="rect">
            <a:avLst/>
          </a:prstGeom>
          <a:noFill/>
        </p:spPr>
        <p:txBody>
          <a:bodyPr wrap="square" lIns="50800" rIns="50800" tIns="25400" bIns="25400">
            <a:spAutoFit/>
          </a:bodyPr>
          <a:lstStyle/>
          <a:p>
            <a:pPr algn="ctr"/>
            <a:r>
              <a:rPr sz="1100" b="1" i="0">
                <a:solidFill>
                  <a:srgbClr val="065A82"/>
                </a:solidFill>
                <a:latin typeface="Consolas"/>
              </a:rPr>
              <a:t>B</a:t>
            </a:r>
          </a:p>
        </p:txBody>
      </p:sp>
      <p:sp>
        <p:nvSpPr>
          <p:cNvPr id="34" name="TextBox 33"/>
          <p:cNvSpPr txBox="1"/>
          <p:nvPr/>
        </p:nvSpPr>
        <p:spPr>
          <a:xfrm>
            <a:off x="5212080" y="4517136"/>
            <a:ext cx="1280160" cy="258318"/>
          </a:xfrm>
          <a:prstGeom prst="rect">
            <a:avLst/>
          </a:prstGeom>
          <a:noFill/>
        </p:spPr>
        <p:txBody>
          <a:bodyPr wrap="square" lIns="50800" rIns="50800" tIns="25400" bIns="25400">
            <a:spAutoFit/>
          </a:bodyPr>
          <a:lstStyle/>
          <a:p>
            <a:pPr algn="ctr"/>
            <a:r>
              <a:rPr sz="1100" b="1" i="0">
                <a:solidFill>
                  <a:srgbClr val="065A82"/>
                </a:solidFill>
                <a:latin typeface="Consolas"/>
              </a:rPr>
              <a:t>σ</a:t>
            </a:r>
          </a:p>
        </p:txBody>
      </p:sp>
      <p:sp>
        <p:nvSpPr>
          <p:cNvPr id="35" name="TextBox 34"/>
          <p:cNvSpPr txBox="1"/>
          <p:nvPr/>
        </p:nvSpPr>
        <p:spPr>
          <a:xfrm>
            <a:off x="6492240" y="4517136"/>
            <a:ext cx="914400" cy="258318"/>
          </a:xfrm>
          <a:prstGeom prst="rect">
            <a:avLst/>
          </a:prstGeom>
          <a:noFill/>
        </p:spPr>
        <p:txBody>
          <a:bodyPr wrap="square" lIns="50800" rIns="50800" tIns="25400" bIns="25400">
            <a:spAutoFit/>
          </a:bodyPr>
          <a:lstStyle/>
          <a:p>
            <a:pPr algn="ctr"/>
            <a:r>
              <a:rPr sz="1100" b="1" i="0">
                <a:solidFill>
                  <a:srgbClr val="065A82"/>
                </a:solidFill>
                <a:latin typeface="Consolas"/>
              </a:rPr>
              <a:t>obj_m</a:t>
            </a:r>
          </a:p>
        </p:txBody>
      </p:sp>
      <p:sp>
        <p:nvSpPr>
          <p:cNvPr id="36" name="TextBox 35"/>
          <p:cNvSpPr txBox="1"/>
          <p:nvPr/>
        </p:nvSpPr>
        <p:spPr>
          <a:xfrm>
            <a:off x="7406640" y="4517136"/>
            <a:ext cx="914400" cy="258318"/>
          </a:xfrm>
          <a:prstGeom prst="rect">
            <a:avLst/>
          </a:prstGeom>
          <a:noFill/>
        </p:spPr>
        <p:txBody>
          <a:bodyPr wrap="square" lIns="50800" rIns="50800" tIns="25400" bIns="25400">
            <a:spAutoFit/>
          </a:bodyPr>
          <a:lstStyle/>
          <a:p>
            <a:pPr algn="ctr"/>
            <a:r>
              <a:rPr sz="1100" b="1" i="0">
                <a:solidFill>
                  <a:srgbClr val="065A82"/>
                </a:solidFill>
                <a:latin typeface="Consolas"/>
              </a:rPr>
              <a:t>obj_cv</a:t>
            </a:r>
          </a:p>
        </p:txBody>
      </p:sp>
      <p:sp>
        <p:nvSpPr>
          <p:cNvPr id="37" name="TextBox 36"/>
          <p:cNvSpPr txBox="1"/>
          <p:nvPr/>
        </p:nvSpPr>
        <p:spPr>
          <a:xfrm>
            <a:off x="8321040" y="4517136"/>
            <a:ext cx="914400" cy="258318"/>
          </a:xfrm>
          <a:prstGeom prst="rect">
            <a:avLst/>
          </a:prstGeom>
          <a:noFill/>
        </p:spPr>
        <p:txBody>
          <a:bodyPr wrap="square" lIns="50800" rIns="50800" tIns="25400" bIns="25400">
            <a:spAutoFit/>
          </a:bodyPr>
          <a:lstStyle/>
          <a:p>
            <a:pPr algn="ctr"/>
            <a:r>
              <a:rPr sz="1100" b="1" i="0">
                <a:solidFill>
                  <a:srgbClr val="065A82"/>
                </a:solidFill>
                <a:latin typeface="Consolas"/>
              </a:rPr>
              <a:t>obj_cr</a:t>
            </a:r>
          </a:p>
        </p:txBody>
      </p:sp>
      <p:sp>
        <p:nvSpPr>
          <p:cNvPr id="38" name="TextBox 37"/>
          <p:cNvSpPr txBox="1"/>
          <p:nvPr/>
        </p:nvSpPr>
        <p:spPr>
          <a:xfrm>
            <a:off x="9235440" y="4517136"/>
            <a:ext cx="914400" cy="258318"/>
          </a:xfrm>
          <a:prstGeom prst="rect">
            <a:avLst/>
          </a:prstGeom>
          <a:noFill/>
        </p:spPr>
        <p:txBody>
          <a:bodyPr wrap="square" lIns="50800" rIns="50800" tIns="25400" bIns="25400">
            <a:spAutoFit/>
          </a:bodyPr>
          <a:lstStyle/>
          <a:p>
            <a:pPr algn="ctr"/>
            <a:r>
              <a:rPr sz="1100" b="1" i="0">
                <a:solidFill>
                  <a:srgbClr val="065A82"/>
                </a:solidFill>
                <a:latin typeface="Consolas"/>
              </a:rPr>
              <a:t>obj_perm</a:t>
            </a:r>
          </a:p>
        </p:txBody>
      </p:sp>
      <p:sp>
        <p:nvSpPr>
          <p:cNvPr id="39" name="TextBox 38"/>
          <p:cNvSpPr txBox="1"/>
          <p:nvPr/>
        </p:nvSpPr>
        <p:spPr>
          <a:xfrm>
            <a:off x="640080" y="4848606"/>
            <a:ext cx="2560320" cy="258318"/>
          </a:xfrm>
          <a:prstGeom prst="rect">
            <a:avLst/>
          </a:prstGeom>
          <a:noFill/>
        </p:spPr>
        <p:txBody>
          <a:bodyPr wrap="square" lIns="50800" rIns="50800" tIns="25400" bIns="25400">
            <a:spAutoFit/>
          </a:bodyPr>
          <a:lstStyle/>
          <a:p>
            <a:pPr algn="l"/>
            <a:r>
              <a:rPr sz="1100" b="0" i="0">
                <a:solidFill>
                  <a:srgbClr val="36454F"/>
                </a:solidFill>
                <a:latin typeface="Consolas"/>
              </a:rPr>
              <a:t>(A) baseline</a:t>
            </a:r>
          </a:p>
        </p:txBody>
      </p:sp>
      <p:sp>
        <p:nvSpPr>
          <p:cNvPr id="40" name="TextBox 39"/>
          <p:cNvSpPr txBox="1"/>
          <p:nvPr/>
        </p:nvSpPr>
        <p:spPr>
          <a:xfrm>
            <a:off x="3200400" y="4848606"/>
            <a:ext cx="1005840" cy="258318"/>
          </a:xfrm>
          <a:prstGeom prst="rect">
            <a:avLst/>
          </a:prstGeom>
          <a:noFill/>
        </p:spPr>
        <p:txBody>
          <a:bodyPr wrap="square" lIns="50800" rIns="50800" tIns="25400" bIns="25400">
            <a:spAutoFit/>
          </a:bodyPr>
          <a:lstStyle/>
          <a:p>
            <a:pPr algn="ctr"/>
            <a:r>
              <a:rPr sz="1100" b="0" i="0">
                <a:solidFill>
                  <a:srgbClr val="36454F"/>
                </a:solidFill>
                <a:latin typeface="Consolas"/>
              </a:rPr>
              <a:t>4.00</a:t>
            </a:r>
          </a:p>
        </p:txBody>
      </p:sp>
      <p:sp>
        <p:nvSpPr>
          <p:cNvPr id="41" name="TextBox 40"/>
          <p:cNvSpPr txBox="1"/>
          <p:nvPr/>
        </p:nvSpPr>
        <p:spPr>
          <a:xfrm>
            <a:off x="4206240" y="4848606"/>
            <a:ext cx="1005840" cy="258318"/>
          </a:xfrm>
          <a:prstGeom prst="rect">
            <a:avLst/>
          </a:prstGeom>
          <a:noFill/>
        </p:spPr>
        <p:txBody>
          <a:bodyPr wrap="square" lIns="50800" rIns="50800" tIns="25400" bIns="25400">
            <a:spAutoFit/>
          </a:bodyPr>
          <a:lstStyle/>
          <a:p>
            <a:pPr algn="ctr"/>
            <a:r>
              <a:rPr sz="1100" b="0" i="0">
                <a:solidFill>
                  <a:srgbClr val="36454F"/>
                </a:solidFill>
                <a:latin typeface="Consolas"/>
              </a:rPr>
              <a:t>0.51</a:t>
            </a:r>
          </a:p>
        </p:txBody>
      </p:sp>
      <p:sp>
        <p:nvSpPr>
          <p:cNvPr id="42" name="TextBox 41"/>
          <p:cNvSpPr txBox="1"/>
          <p:nvPr/>
        </p:nvSpPr>
        <p:spPr>
          <a:xfrm>
            <a:off x="5212080" y="4848606"/>
            <a:ext cx="1280160" cy="258318"/>
          </a:xfrm>
          <a:prstGeom prst="rect">
            <a:avLst/>
          </a:prstGeom>
          <a:noFill/>
        </p:spPr>
        <p:txBody>
          <a:bodyPr wrap="square" lIns="50800" rIns="50800" tIns="25400" bIns="25400">
            <a:spAutoFit/>
          </a:bodyPr>
          <a:lstStyle/>
          <a:p>
            <a:pPr algn="ctr"/>
            <a:r>
              <a:rPr sz="1100" b="0" i="0">
                <a:solidFill>
                  <a:srgbClr val="36454F"/>
                </a:solidFill>
                <a:latin typeface="Consolas"/>
              </a:rPr>
              <a:t>1.00</a:t>
            </a:r>
          </a:p>
        </p:txBody>
      </p:sp>
      <p:sp>
        <p:nvSpPr>
          <p:cNvPr id="43" name="TextBox 42"/>
          <p:cNvSpPr txBox="1"/>
          <p:nvPr/>
        </p:nvSpPr>
        <p:spPr>
          <a:xfrm>
            <a:off x="6492240" y="484860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847</a:t>
            </a:r>
          </a:p>
        </p:txBody>
      </p:sp>
      <p:sp>
        <p:nvSpPr>
          <p:cNvPr id="44" name="TextBox 43"/>
          <p:cNvSpPr txBox="1"/>
          <p:nvPr/>
        </p:nvSpPr>
        <p:spPr>
          <a:xfrm>
            <a:off x="7406640" y="484860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789</a:t>
            </a:r>
          </a:p>
        </p:txBody>
      </p:sp>
      <p:sp>
        <p:nvSpPr>
          <p:cNvPr id="45" name="TextBox 44"/>
          <p:cNvSpPr txBox="1"/>
          <p:nvPr/>
        </p:nvSpPr>
        <p:spPr>
          <a:xfrm>
            <a:off x="8321040" y="484860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5081</a:t>
            </a:r>
          </a:p>
        </p:txBody>
      </p:sp>
      <p:sp>
        <p:nvSpPr>
          <p:cNvPr id="46" name="TextBox 45"/>
          <p:cNvSpPr txBox="1"/>
          <p:nvPr/>
        </p:nvSpPr>
        <p:spPr>
          <a:xfrm>
            <a:off x="9235440" y="484860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a:t>
            </a:r>
          </a:p>
        </p:txBody>
      </p:sp>
      <p:sp>
        <p:nvSpPr>
          <p:cNvPr id="47" name="TextBox 46"/>
          <p:cNvSpPr txBox="1"/>
          <p:nvPr/>
        </p:nvSpPr>
        <p:spPr>
          <a:xfrm>
            <a:off x="640080" y="5180076"/>
            <a:ext cx="2560320" cy="258318"/>
          </a:xfrm>
          <a:prstGeom prst="rect">
            <a:avLst/>
          </a:prstGeom>
          <a:noFill/>
        </p:spPr>
        <p:txBody>
          <a:bodyPr wrap="square" lIns="50800" rIns="50800" tIns="25400" bIns="25400">
            <a:spAutoFit/>
          </a:bodyPr>
          <a:lstStyle/>
          <a:p>
            <a:pPr algn="l"/>
            <a:r>
              <a:rPr sz="1100" b="0" i="0">
                <a:solidFill>
                  <a:srgbClr val="36454F"/>
                </a:solidFill>
                <a:latin typeface="Consolas"/>
              </a:rPr>
              <a:t>(B) +cF floor</a:t>
            </a:r>
          </a:p>
        </p:txBody>
      </p:sp>
      <p:sp>
        <p:nvSpPr>
          <p:cNvPr id="48" name="TextBox 47"/>
          <p:cNvSpPr txBox="1"/>
          <p:nvPr/>
        </p:nvSpPr>
        <p:spPr>
          <a:xfrm>
            <a:off x="3200400" y="5180076"/>
            <a:ext cx="1005840" cy="258318"/>
          </a:xfrm>
          <a:prstGeom prst="rect">
            <a:avLst/>
          </a:prstGeom>
          <a:noFill/>
        </p:spPr>
        <p:txBody>
          <a:bodyPr wrap="square" lIns="50800" rIns="50800" tIns="25400" bIns="25400">
            <a:spAutoFit/>
          </a:bodyPr>
          <a:lstStyle/>
          <a:p>
            <a:pPr algn="ctr"/>
            <a:r>
              <a:rPr sz="1100" b="0" i="0">
                <a:solidFill>
                  <a:srgbClr val="36454F"/>
                </a:solidFill>
                <a:latin typeface="Consolas"/>
              </a:rPr>
              <a:t>6.08</a:t>
            </a:r>
          </a:p>
        </p:txBody>
      </p:sp>
      <p:sp>
        <p:nvSpPr>
          <p:cNvPr id="49" name="TextBox 48"/>
          <p:cNvSpPr txBox="1"/>
          <p:nvPr/>
        </p:nvSpPr>
        <p:spPr>
          <a:xfrm>
            <a:off x="4206240" y="5180076"/>
            <a:ext cx="1005840" cy="258318"/>
          </a:xfrm>
          <a:prstGeom prst="rect">
            <a:avLst/>
          </a:prstGeom>
          <a:noFill/>
        </p:spPr>
        <p:txBody>
          <a:bodyPr wrap="square" lIns="50800" rIns="50800" tIns="25400" bIns="25400">
            <a:spAutoFit/>
          </a:bodyPr>
          <a:lstStyle/>
          <a:p>
            <a:pPr algn="ctr"/>
            <a:r>
              <a:rPr sz="1100" b="0" i="0">
                <a:solidFill>
                  <a:srgbClr val="36454F"/>
                </a:solidFill>
                <a:latin typeface="Consolas"/>
              </a:rPr>
              <a:t>0.40</a:t>
            </a:r>
          </a:p>
        </p:txBody>
      </p:sp>
      <p:sp>
        <p:nvSpPr>
          <p:cNvPr id="50" name="TextBox 49"/>
          <p:cNvSpPr txBox="1"/>
          <p:nvPr/>
        </p:nvSpPr>
        <p:spPr>
          <a:xfrm>
            <a:off x="5212080" y="5180076"/>
            <a:ext cx="1280160" cy="258318"/>
          </a:xfrm>
          <a:prstGeom prst="rect">
            <a:avLst/>
          </a:prstGeom>
          <a:noFill/>
        </p:spPr>
        <p:txBody>
          <a:bodyPr wrap="square" lIns="50800" rIns="50800" tIns="25400" bIns="25400">
            <a:spAutoFit/>
          </a:bodyPr>
          <a:lstStyle/>
          <a:p>
            <a:pPr algn="ctr"/>
            <a:r>
              <a:rPr sz="1100" b="0" i="0">
                <a:solidFill>
                  <a:srgbClr val="36454F"/>
                </a:solidFill>
                <a:latin typeface="Consolas"/>
              </a:rPr>
              <a:t>0.38</a:t>
            </a:r>
          </a:p>
        </p:txBody>
      </p:sp>
      <p:sp>
        <p:nvSpPr>
          <p:cNvPr id="51" name="TextBox 50"/>
          <p:cNvSpPr txBox="1"/>
          <p:nvPr/>
        </p:nvSpPr>
        <p:spPr>
          <a:xfrm>
            <a:off x="6492240" y="518007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173</a:t>
            </a:r>
          </a:p>
        </p:txBody>
      </p:sp>
      <p:sp>
        <p:nvSpPr>
          <p:cNvPr id="52" name="TextBox 51"/>
          <p:cNvSpPr txBox="1"/>
          <p:nvPr/>
        </p:nvSpPr>
        <p:spPr>
          <a:xfrm>
            <a:off x="7406640" y="518007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754</a:t>
            </a:r>
          </a:p>
        </p:txBody>
      </p:sp>
      <p:sp>
        <p:nvSpPr>
          <p:cNvPr id="53" name="TextBox 52"/>
          <p:cNvSpPr txBox="1"/>
          <p:nvPr/>
        </p:nvSpPr>
        <p:spPr>
          <a:xfrm>
            <a:off x="8321040" y="518007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233</a:t>
            </a:r>
          </a:p>
        </p:txBody>
      </p:sp>
      <p:sp>
        <p:nvSpPr>
          <p:cNvPr id="54" name="TextBox 53"/>
          <p:cNvSpPr txBox="1"/>
          <p:nvPr/>
        </p:nvSpPr>
        <p:spPr>
          <a:xfrm>
            <a:off x="9235440" y="5180076"/>
            <a:ext cx="914400" cy="258318"/>
          </a:xfrm>
          <a:prstGeom prst="rect">
            <a:avLst/>
          </a:prstGeom>
          <a:noFill/>
        </p:spPr>
        <p:txBody>
          <a:bodyPr wrap="square" lIns="50800" rIns="50800" tIns="25400" bIns="25400">
            <a:spAutoFit/>
          </a:bodyPr>
          <a:lstStyle/>
          <a:p>
            <a:pPr algn="ctr"/>
            <a:r>
              <a:rPr sz="1100" b="0" i="0">
                <a:solidFill>
                  <a:srgbClr val="36454F"/>
                </a:solidFill>
                <a:latin typeface="Consolas"/>
              </a:rPr>
              <a:t>—</a:t>
            </a:r>
          </a:p>
        </p:txBody>
      </p:sp>
      <p:sp>
        <p:nvSpPr>
          <p:cNvPr id="55" name="Rectangle 54"/>
          <p:cNvSpPr/>
          <p:nvPr/>
        </p:nvSpPr>
        <p:spPr>
          <a:xfrm>
            <a:off x="548640" y="5474970"/>
            <a:ext cx="11094720" cy="331470"/>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5511546"/>
            <a:ext cx="2560320" cy="258318"/>
          </a:xfrm>
          <a:prstGeom prst="rect">
            <a:avLst/>
          </a:prstGeom>
          <a:noFill/>
        </p:spPr>
        <p:txBody>
          <a:bodyPr wrap="square" lIns="50800" rIns="50800" tIns="25400" bIns="25400">
            <a:spAutoFit/>
          </a:bodyPr>
          <a:lstStyle/>
          <a:p>
            <a:pPr algn="l"/>
            <a:r>
              <a:rPr sz="1100" b="1" i="0">
                <a:solidFill>
                  <a:srgbClr val="2C824A"/>
                </a:solidFill>
                <a:latin typeface="Consolas"/>
              </a:rPr>
              <a:t>(C) +floor +perm-probe</a:t>
            </a:r>
          </a:p>
        </p:txBody>
      </p:sp>
      <p:sp>
        <p:nvSpPr>
          <p:cNvPr id="57" name="TextBox 56"/>
          <p:cNvSpPr txBox="1"/>
          <p:nvPr/>
        </p:nvSpPr>
        <p:spPr>
          <a:xfrm>
            <a:off x="3200400" y="5511546"/>
            <a:ext cx="1005840" cy="258318"/>
          </a:xfrm>
          <a:prstGeom prst="rect">
            <a:avLst/>
          </a:prstGeom>
          <a:noFill/>
        </p:spPr>
        <p:txBody>
          <a:bodyPr wrap="square" lIns="50800" rIns="50800" tIns="25400" bIns="25400">
            <a:spAutoFit/>
          </a:bodyPr>
          <a:lstStyle/>
          <a:p>
            <a:pPr algn="ctr"/>
            <a:r>
              <a:rPr sz="1100" b="1" i="0">
                <a:solidFill>
                  <a:srgbClr val="2C824A"/>
                </a:solidFill>
                <a:latin typeface="Consolas"/>
              </a:rPr>
              <a:t>5.62</a:t>
            </a:r>
          </a:p>
        </p:txBody>
      </p:sp>
      <p:sp>
        <p:nvSpPr>
          <p:cNvPr id="58" name="TextBox 57"/>
          <p:cNvSpPr txBox="1"/>
          <p:nvPr/>
        </p:nvSpPr>
        <p:spPr>
          <a:xfrm>
            <a:off x="4206240" y="5511546"/>
            <a:ext cx="1005840" cy="258318"/>
          </a:xfrm>
          <a:prstGeom prst="rect">
            <a:avLst/>
          </a:prstGeom>
          <a:noFill/>
        </p:spPr>
        <p:txBody>
          <a:bodyPr wrap="square" lIns="50800" rIns="50800" tIns="25400" bIns="25400">
            <a:spAutoFit/>
          </a:bodyPr>
          <a:lstStyle/>
          <a:p>
            <a:pPr algn="ctr"/>
            <a:r>
              <a:rPr sz="1100" b="1" i="0">
                <a:solidFill>
                  <a:srgbClr val="2C824A"/>
                </a:solidFill>
                <a:latin typeface="Consolas"/>
              </a:rPr>
              <a:t>0.15</a:t>
            </a:r>
          </a:p>
        </p:txBody>
      </p:sp>
      <p:sp>
        <p:nvSpPr>
          <p:cNvPr id="59" name="TextBox 58"/>
          <p:cNvSpPr txBox="1"/>
          <p:nvPr/>
        </p:nvSpPr>
        <p:spPr>
          <a:xfrm>
            <a:off x="5212080" y="5511546"/>
            <a:ext cx="1280160" cy="258318"/>
          </a:xfrm>
          <a:prstGeom prst="rect">
            <a:avLst/>
          </a:prstGeom>
          <a:noFill/>
        </p:spPr>
        <p:txBody>
          <a:bodyPr wrap="square" lIns="50800" rIns="50800" tIns="25400" bIns="25400">
            <a:spAutoFit/>
          </a:bodyPr>
          <a:lstStyle/>
          <a:p>
            <a:pPr algn="ctr"/>
            <a:r>
              <a:rPr sz="1100" b="1" i="0">
                <a:solidFill>
                  <a:srgbClr val="2C824A"/>
                </a:solidFill>
                <a:latin typeface="Consolas"/>
              </a:rPr>
              <a:t>**0.10**</a:t>
            </a:r>
          </a:p>
        </p:txBody>
      </p:sp>
      <p:sp>
        <p:nvSpPr>
          <p:cNvPr id="60" name="TextBox 59"/>
          <p:cNvSpPr txBox="1"/>
          <p:nvPr/>
        </p:nvSpPr>
        <p:spPr>
          <a:xfrm>
            <a:off x="6492240" y="5511546"/>
            <a:ext cx="914400" cy="258318"/>
          </a:xfrm>
          <a:prstGeom prst="rect">
            <a:avLst/>
          </a:prstGeom>
          <a:noFill/>
        </p:spPr>
        <p:txBody>
          <a:bodyPr wrap="square" lIns="50800" rIns="50800" tIns="25400" bIns="25400">
            <a:spAutoFit/>
          </a:bodyPr>
          <a:lstStyle/>
          <a:p>
            <a:pPr algn="ctr"/>
            <a:r>
              <a:rPr sz="1100" b="1" i="0">
                <a:solidFill>
                  <a:srgbClr val="2C824A"/>
                </a:solidFill>
                <a:latin typeface="Consolas"/>
              </a:rPr>
              <a:t>201</a:t>
            </a:r>
          </a:p>
        </p:txBody>
      </p:sp>
      <p:sp>
        <p:nvSpPr>
          <p:cNvPr id="61" name="TextBox 60"/>
          <p:cNvSpPr txBox="1"/>
          <p:nvPr/>
        </p:nvSpPr>
        <p:spPr>
          <a:xfrm>
            <a:off x="7406640" y="5511546"/>
            <a:ext cx="914400" cy="258318"/>
          </a:xfrm>
          <a:prstGeom prst="rect">
            <a:avLst/>
          </a:prstGeom>
          <a:noFill/>
        </p:spPr>
        <p:txBody>
          <a:bodyPr wrap="square" lIns="50800" rIns="50800" tIns="25400" bIns="25400">
            <a:spAutoFit/>
          </a:bodyPr>
          <a:lstStyle/>
          <a:p>
            <a:pPr algn="ctr"/>
            <a:r>
              <a:rPr sz="1100" b="1" i="0">
                <a:solidFill>
                  <a:srgbClr val="2C824A"/>
                </a:solidFill>
                <a:latin typeface="Consolas"/>
              </a:rPr>
              <a:t>887</a:t>
            </a:r>
          </a:p>
        </p:txBody>
      </p:sp>
      <p:sp>
        <p:nvSpPr>
          <p:cNvPr id="62" name="TextBox 61"/>
          <p:cNvSpPr txBox="1"/>
          <p:nvPr/>
        </p:nvSpPr>
        <p:spPr>
          <a:xfrm>
            <a:off x="8321040" y="5511546"/>
            <a:ext cx="914400" cy="258318"/>
          </a:xfrm>
          <a:prstGeom prst="rect">
            <a:avLst/>
          </a:prstGeom>
          <a:noFill/>
        </p:spPr>
        <p:txBody>
          <a:bodyPr wrap="square" lIns="50800" rIns="50800" tIns="25400" bIns="25400">
            <a:spAutoFit/>
          </a:bodyPr>
          <a:lstStyle/>
          <a:p>
            <a:pPr algn="ctr"/>
            <a:r>
              <a:rPr sz="1100" b="1" i="0">
                <a:solidFill>
                  <a:srgbClr val="2C824A"/>
                </a:solidFill>
                <a:latin typeface="Consolas"/>
              </a:rPr>
              <a:t>227</a:t>
            </a:r>
          </a:p>
        </p:txBody>
      </p:sp>
      <p:sp>
        <p:nvSpPr>
          <p:cNvPr id="63" name="TextBox 62"/>
          <p:cNvSpPr txBox="1"/>
          <p:nvPr/>
        </p:nvSpPr>
        <p:spPr>
          <a:xfrm>
            <a:off x="9235440" y="5511546"/>
            <a:ext cx="914400" cy="258318"/>
          </a:xfrm>
          <a:prstGeom prst="rect">
            <a:avLst/>
          </a:prstGeom>
          <a:noFill/>
        </p:spPr>
        <p:txBody>
          <a:bodyPr wrap="square" lIns="50800" rIns="50800" tIns="25400" bIns="25400">
            <a:spAutoFit/>
          </a:bodyPr>
          <a:lstStyle/>
          <a:p>
            <a:pPr algn="ctr"/>
            <a:r>
              <a:rPr sz="1100" b="1" i="0">
                <a:solidFill>
                  <a:srgbClr val="2C824A"/>
                </a:solidFill>
                <a:latin typeface="Consolas"/>
              </a:rPr>
              <a:t>93</a:t>
            </a:r>
          </a:p>
        </p:txBody>
      </p:sp>
      <p:sp>
        <p:nvSpPr>
          <p:cNvPr id="64" name="Rectangle 63"/>
          <p:cNvSpPr/>
          <p:nvPr/>
        </p:nvSpPr>
        <p:spPr>
          <a:xfrm>
            <a:off x="457200" y="571500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5779008"/>
            <a:ext cx="10911840" cy="320040"/>
          </a:xfrm>
          <a:prstGeom prst="rect">
            <a:avLst/>
          </a:prstGeom>
          <a:noFill/>
        </p:spPr>
        <p:txBody>
          <a:bodyPr wrap="square" lIns="50800" rIns="50800" tIns="25400" bIns="25400">
            <a:spAutoFit/>
          </a:bodyPr>
          <a:lstStyle/>
          <a:p>
            <a:pPr algn="l"/>
            <a:r>
              <a:rPr sz="1000" b="0" i="1">
                <a:solidFill>
                  <a:srgbClr val="FFFFFF"/>
                </a:solidFill>
                <a:latin typeface="Calibri"/>
              </a:rPr>
              <a:t>σ moves to 0.10 because the probe trace says more salt is getting through than ICP-OES alone suggests.  This is a meaningful identifiability finding — probe and ICP disagree about rejection.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17 · SEEDED LHS MULTISTART  ·  CROSS-SALT SEEDS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17</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6A3399"/>
                </a:solidFill>
                <a:latin typeface="Calibri"/>
              </a:rPr>
              <a:t>warm-start the LHS from contour grid + a sister-salt's best fit</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Latin-hypercube samples clustered around 3 explicit physics-informed seeds</a:t>
            </a:r>
          </a:p>
        </p:txBody>
      </p:sp>
      <p:sp>
        <p:nvSpPr>
          <p:cNvPr id="8" name="Rectangle 7"/>
          <p:cNvSpPr/>
          <p:nvPr/>
        </p:nvSpPr>
        <p:spPr>
          <a:xfrm>
            <a:off x="457200" y="1417320"/>
            <a:ext cx="369824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SEED 1 — Contour top-1</a:t>
            </a:r>
          </a:p>
        </p:txBody>
      </p:sp>
      <p:sp>
        <p:nvSpPr>
          <p:cNvPr id="10" name="Rectangle 9"/>
          <p:cNvSpPr/>
          <p:nvPr/>
        </p:nvSpPr>
        <p:spPr>
          <a:xfrm>
            <a:off x="457200" y="1783080"/>
            <a:ext cx="369824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2024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Lowest-WSSE grid point from this sheet's σ-Lp contour.</a:t>
            </a:r>
          </a:p>
          <a:p>
            <a:pPr algn="l"/>
            <a:r>
              <a:rPr sz="1100" b="0" i="0">
                <a:solidFill>
                  <a:srgbClr val="36454F"/>
                </a:solidFill>
                <a:latin typeface="Calibri"/>
              </a:rPr>
              <a:t>Captures the in-basin optimum already implied by the data.</a:t>
            </a:r>
          </a:p>
        </p:txBody>
      </p:sp>
      <p:sp>
        <p:nvSpPr>
          <p:cNvPr id="12" name="Rectangle 11"/>
          <p:cNvSpPr/>
          <p:nvPr/>
        </p:nvSpPr>
        <p:spPr>
          <a:xfrm>
            <a:off x="4246880" y="1417320"/>
            <a:ext cx="369824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6880" y="141732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SEED 2 — Contour top-2</a:t>
            </a:r>
          </a:p>
        </p:txBody>
      </p:sp>
      <p:sp>
        <p:nvSpPr>
          <p:cNvPr id="14" name="Rectangle 13"/>
          <p:cNvSpPr/>
          <p:nvPr/>
        </p:nvSpPr>
        <p:spPr>
          <a:xfrm>
            <a:off x="4246880" y="1783080"/>
            <a:ext cx="369824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9760" y="192024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Second-lowest grid point (B-Lp sweep most often).</a:t>
            </a:r>
          </a:p>
          <a:p>
            <a:pPr algn="l"/>
            <a:r>
              <a:rPr sz="1100" b="0" i="0">
                <a:solidFill>
                  <a:srgbClr val="36454F"/>
                </a:solidFill>
                <a:latin typeface="Calibri"/>
              </a:rPr>
              <a:t>Catches a SECOND basin if one exists on the same loss surface.</a:t>
            </a:r>
          </a:p>
        </p:txBody>
      </p:sp>
      <p:sp>
        <p:nvSpPr>
          <p:cNvPr id="16" name="Rectangle 15"/>
          <p:cNvSpPr/>
          <p:nvPr/>
        </p:nvSpPr>
        <p:spPr>
          <a:xfrm>
            <a:off x="8036560" y="1417320"/>
            <a:ext cx="369824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6560" y="141732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SEED 3 — Cross-salt reference</a:t>
            </a:r>
          </a:p>
        </p:txBody>
      </p:sp>
      <p:sp>
        <p:nvSpPr>
          <p:cNvPr id="18" name="Rectangle 17"/>
          <p:cNvSpPr/>
          <p:nvPr/>
        </p:nvSpPr>
        <p:spPr>
          <a:xfrm>
            <a:off x="8036560" y="1783080"/>
            <a:ext cx="3698240"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9440" y="1920240"/>
            <a:ext cx="3332480" cy="2011680"/>
          </a:xfrm>
          <a:prstGeom prst="rect">
            <a:avLst/>
          </a:prstGeom>
          <a:noFill/>
        </p:spPr>
        <p:txBody>
          <a:bodyPr wrap="square" lIns="50800" rIns="50800" tIns="25400" bIns="25400">
            <a:spAutoFit/>
          </a:bodyPr>
          <a:lstStyle/>
          <a:p>
            <a:pPr algn="l"/>
            <a:r>
              <a:rPr sz="1100" b="0" i="0">
                <a:solidFill>
                  <a:srgbClr val="36454F"/>
                </a:solidFill>
                <a:latin typeface="Calibri"/>
              </a:rPr>
              <a:t>When fitting CaCl₂ or LaCl₃: use MC3 SNaCl's interior-σ fit.</a:t>
            </a:r>
          </a:p>
          <a:p>
            <a:pPr algn="l"/>
            <a:r>
              <a:rPr sz="1100" b="0" i="0">
                <a:solidFill>
                  <a:srgbClr val="36454F"/>
                </a:solidFill>
                <a:latin typeface="Calibri"/>
              </a:rPr>
              <a:t>(Lp = 8.22, B = 14.7, σ = 0.45)  — the campaign's gold-standard θ.</a:t>
            </a:r>
          </a:p>
        </p:txBody>
      </p:sp>
      <p:sp>
        <p:nvSpPr>
          <p:cNvPr id="20" name="TextBox 19"/>
          <p:cNvSpPr txBox="1"/>
          <p:nvPr/>
        </p:nvSpPr>
        <p:spPr>
          <a:xfrm>
            <a:off x="457200" y="416052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METHOD  (DATA3-only, toggle NF270_MULTISTART_USE_CONTOUR_SEEDS):</a:t>
            </a:r>
          </a:p>
        </p:txBody>
      </p:sp>
      <p:sp>
        <p:nvSpPr>
          <p:cNvPr id="21" name="Rectangle 20"/>
          <p:cNvSpPr/>
          <p:nvPr/>
        </p:nvSpPr>
        <p:spPr>
          <a:xfrm>
            <a:off x="457200" y="4453128"/>
            <a:ext cx="11277600" cy="1280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526280"/>
            <a:ext cx="10911840" cy="1188720"/>
          </a:xfrm>
          <a:prstGeom prst="rect">
            <a:avLst/>
          </a:prstGeom>
          <a:noFill/>
        </p:spPr>
        <p:txBody>
          <a:bodyPr wrap="square" lIns="50800" rIns="50800" tIns="25400" bIns="25400">
            <a:spAutoFit/>
          </a:bodyPr>
          <a:lstStyle/>
          <a:p>
            <a:pPr algn="l"/>
            <a:r>
              <a:rPr sz="1100" b="0" i="0">
                <a:solidFill>
                  <a:srgbClr val="36454F"/>
                </a:solidFill>
                <a:latin typeface="Calibri"/>
              </a:rPr>
              <a:t>• 3 seeds × 1 deterministic restart each  =  3 fixed starts</a:t>
            </a:r>
          </a:p>
          <a:p>
            <a:pPr algn="l"/>
            <a:r>
              <a:rPr sz="1100" b="0" i="0">
                <a:solidFill>
                  <a:srgbClr val="36454F"/>
                </a:solidFill>
                <a:latin typeface="Calibri"/>
              </a:rPr>
              <a:t>•  +  N_LHS = 8 Latin-hypercube samples allocated round-robin across seeds, each within ±20 % box around its seed</a:t>
            </a:r>
          </a:p>
          <a:p>
            <a:pPr algn="l"/>
            <a:r>
              <a:rPr sz="1100" b="0" i="0">
                <a:solidFill>
                  <a:srgbClr val="36454F"/>
                </a:solidFill>
                <a:latin typeface="Calibri"/>
              </a:rPr>
              <a:t>• Total starts:  3 + 8 = 11   (vs 5–10 for uniform-LHS baseline)</a:t>
            </a:r>
          </a:p>
          <a:p>
            <a:pPr algn="l"/>
            <a:r>
              <a:rPr sz="1100" b="0" i="0">
                <a:solidFill>
                  <a:srgbClr val="36454F"/>
                </a:solidFill>
                <a:latin typeface="Calibri"/>
              </a:rPr>
              <a:t>• Each start runs full ParmEst (IPOPT); best by total WSSE wins.</a:t>
            </a:r>
          </a:p>
          <a:p>
            <a:pPr algn="l"/>
            <a:r>
              <a:rPr sz="1100" b="0" i="0">
                <a:solidFill>
                  <a:srgbClr val="36454F"/>
                </a:solidFill>
                <a:latin typeface="Calibri"/>
              </a:rPr>
              <a:t>• Pure LHS over the full bounds is the fallback when the toggle is OFF or the sheet's contour CSVs are missing.</a:t>
            </a:r>
          </a:p>
        </p:txBody>
      </p:sp>
      <p:sp>
        <p:nvSpPr>
          <p:cNvPr id="23" name="Rectangle 22"/>
          <p:cNvSpPr/>
          <p:nvPr/>
        </p:nvSpPr>
        <p:spPr>
          <a:xfrm>
            <a:off x="457200" y="571500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779008"/>
            <a:ext cx="10911840" cy="320040"/>
          </a:xfrm>
          <a:prstGeom prst="rect">
            <a:avLst/>
          </a:prstGeom>
          <a:noFill/>
        </p:spPr>
        <p:txBody>
          <a:bodyPr wrap="square" lIns="50800" rIns="50800" tIns="25400" bIns="25400">
            <a:spAutoFit/>
          </a:bodyPr>
          <a:lstStyle/>
          <a:p>
            <a:pPr algn="l"/>
            <a:r>
              <a:rPr sz="1000" b="0" i="1">
                <a:solidFill>
                  <a:srgbClr val="FFFFFF"/>
                </a:solidFill>
                <a:latin typeface="Calibri"/>
              </a:rPr>
              <a:t>MC2 CaCl₂ smoke-test:  seeded multistart converged to the SAME optimum as single-shot (10–15× slower).  Value is for sheets like LaCl₃ where channels disagree on Lp — there the cross-salt seed can break the symmetry.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10 · PROCESS MODEL  ·  CORE EQUATIONS</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10</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065A82"/>
                </a:solidFill>
                <a:latin typeface="Calibri"/>
              </a:rPr>
              <a:t>Spiegler–Kedem framework  ·  per-vial Pyomo model</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What the model solves at each integration step</a:t>
            </a:r>
          </a:p>
        </p:txBody>
      </p:sp>
      <p:sp>
        <p:nvSpPr>
          <p:cNvPr id="8" name="TextBox 7"/>
          <p:cNvSpPr txBox="1"/>
          <p:nvPr/>
        </p:nvSpPr>
        <p:spPr>
          <a:xfrm>
            <a:off x="457200" y="1417320"/>
            <a:ext cx="11277600" cy="228600"/>
          </a:xfrm>
          <a:prstGeom prst="rect">
            <a:avLst/>
          </a:prstGeom>
          <a:noFill/>
        </p:spPr>
        <p:txBody>
          <a:bodyPr wrap="square" lIns="50800" rIns="50800" tIns="25400" bIns="25400">
            <a:spAutoFit/>
          </a:bodyPr>
          <a:lstStyle/>
          <a:p>
            <a:pPr algn="l"/>
            <a:r>
              <a:rPr sz="1000" b="1" i="1">
                <a:solidFill>
                  <a:srgbClr val="02C39A"/>
                </a:solidFill>
                <a:latin typeface="Calibri"/>
              </a:rPr>
              <a:t>Water flux  ·  Starling / Kedem–Katchalsky</a:t>
            </a:r>
          </a:p>
        </p:txBody>
      </p:sp>
      <p:sp>
        <p:nvSpPr>
          <p:cNvPr id="9" name="Rectangle 8"/>
          <p:cNvSpPr/>
          <p:nvPr/>
        </p:nvSpPr>
        <p:spPr>
          <a:xfrm>
            <a:off x="457200" y="1664208"/>
            <a:ext cx="112776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09928"/>
            <a:ext cx="11277600" cy="365760"/>
          </a:xfrm>
          <a:prstGeom prst="rect">
            <a:avLst/>
          </a:prstGeom>
          <a:noFill/>
        </p:spPr>
        <p:txBody>
          <a:bodyPr wrap="square" lIns="50800" rIns="50800" tIns="25400" bIns="25400">
            <a:spAutoFit/>
          </a:bodyPr>
          <a:lstStyle/>
          <a:p>
            <a:pPr algn="ctr"/>
            <a:r>
              <a:rPr sz="1300" b="1" i="0">
                <a:solidFill>
                  <a:srgbClr val="FFFFFF"/>
                </a:solidFill>
                <a:latin typeface="Consolas"/>
              </a:rPr>
              <a:t>J_w  =  L_p · [ ΔP  −  σ · (c_In − c_H) · n_i · R · T ]</a:t>
            </a:r>
          </a:p>
        </p:txBody>
      </p:sp>
      <p:sp>
        <p:nvSpPr>
          <p:cNvPr id="11" name="TextBox 10"/>
          <p:cNvSpPr txBox="1"/>
          <p:nvPr/>
        </p:nvSpPr>
        <p:spPr>
          <a:xfrm>
            <a:off x="457200" y="2286000"/>
            <a:ext cx="11277600" cy="228600"/>
          </a:xfrm>
          <a:prstGeom prst="rect">
            <a:avLst/>
          </a:prstGeom>
          <a:noFill/>
        </p:spPr>
        <p:txBody>
          <a:bodyPr wrap="square" lIns="50800" rIns="50800" tIns="25400" bIns="25400">
            <a:spAutoFit/>
          </a:bodyPr>
          <a:lstStyle/>
          <a:p>
            <a:pPr algn="l"/>
            <a:r>
              <a:rPr sz="1000" b="1" i="1">
                <a:solidFill>
                  <a:srgbClr val="02C39A"/>
                </a:solidFill>
                <a:latin typeface="Calibri"/>
              </a:rPr>
              <a:t>Solute flux  ·  diffusive transport</a:t>
            </a:r>
          </a:p>
        </p:txBody>
      </p:sp>
      <p:sp>
        <p:nvSpPr>
          <p:cNvPr id="12" name="Rectangle 11"/>
          <p:cNvSpPr/>
          <p:nvPr/>
        </p:nvSpPr>
        <p:spPr>
          <a:xfrm>
            <a:off x="457200" y="2532888"/>
            <a:ext cx="112776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78608"/>
            <a:ext cx="11277600" cy="365760"/>
          </a:xfrm>
          <a:prstGeom prst="rect">
            <a:avLst/>
          </a:prstGeom>
          <a:noFill/>
        </p:spPr>
        <p:txBody>
          <a:bodyPr wrap="square" lIns="50800" rIns="50800" tIns="25400" bIns="25400">
            <a:spAutoFit/>
          </a:bodyPr>
          <a:lstStyle/>
          <a:p>
            <a:pPr algn="ctr"/>
            <a:r>
              <a:rPr sz="1300" b="1" i="0">
                <a:solidFill>
                  <a:srgbClr val="FFFFFF"/>
                </a:solidFill>
                <a:latin typeface="Consolas"/>
              </a:rPr>
              <a:t>J_s  =  B · (c_In − c_H)</a:t>
            </a:r>
          </a:p>
        </p:txBody>
      </p:sp>
      <p:sp>
        <p:nvSpPr>
          <p:cNvPr id="14" name="TextBox 13"/>
          <p:cNvSpPr txBox="1"/>
          <p:nvPr/>
        </p:nvSpPr>
        <p:spPr>
          <a:xfrm>
            <a:off x="457200" y="3154680"/>
            <a:ext cx="11277600" cy="228600"/>
          </a:xfrm>
          <a:prstGeom prst="rect">
            <a:avLst/>
          </a:prstGeom>
          <a:noFill/>
        </p:spPr>
        <p:txBody>
          <a:bodyPr wrap="square" lIns="50800" rIns="50800" tIns="25400" bIns="25400">
            <a:spAutoFit/>
          </a:bodyPr>
          <a:lstStyle/>
          <a:p>
            <a:pPr algn="l"/>
            <a:r>
              <a:rPr sz="1000" b="1" i="1">
                <a:solidFill>
                  <a:srgbClr val="02C39A"/>
                </a:solidFill>
                <a:latin typeface="Calibri"/>
              </a:rPr>
              <a:t>Mass accumulation in collection vial</a:t>
            </a:r>
          </a:p>
        </p:txBody>
      </p:sp>
      <p:sp>
        <p:nvSpPr>
          <p:cNvPr id="15" name="Rectangle 14"/>
          <p:cNvSpPr/>
          <p:nvPr/>
        </p:nvSpPr>
        <p:spPr>
          <a:xfrm>
            <a:off x="457200" y="3401568"/>
            <a:ext cx="112776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47288"/>
            <a:ext cx="11277600" cy="365760"/>
          </a:xfrm>
          <a:prstGeom prst="rect">
            <a:avLst/>
          </a:prstGeom>
          <a:noFill/>
        </p:spPr>
        <p:txBody>
          <a:bodyPr wrap="square" lIns="50800" rIns="50800" tIns="25400" bIns="25400">
            <a:spAutoFit/>
          </a:bodyPr>
          <a:lstStyle/>
          <a:p>
            <a:pPr algn="ctr"/>
            <a:r>
              <a:rPr sz="1300" b="1" i="0">
                <a:solidFill>
                  <a:srgbClr val="FFFFFF"/>
                </a:solidFill>
                <a:latin typeface="Consolas"/>
              </a:rPr>
              <a:t>d m_V / d t  =  J_w · A_m · ρ</a:t>
            </a:r>
          </a:p>
        </p:txBody>
      </p:sp>
      <p:sp>
        <p:nvSpPr>
          <p:cNvPr id="17" name="TextBox 16"/>
          <p:cNvSpPr txBox="1"/>
          <p:nvPr/>
        </p:nvSpPr>
        <p:spPr>
          <a:xfrm>
            <a:off x="457200" y="4023360"/>
            <a:ext cx="11277600" cy="228600"/>
          </a:xfrm>
          <a:prstGeom prst="rect">
            <a:avLst/>
          </a:prstGeom>
          <a:noFill/>
        </p:spPr>
        <p:txBody>
          <a:bodyPr wrap="square" lIns="50800" rIns="50800" tIns="25400" bIns="25400">
            <a:spAutoFit/>
          </a:bodyPr>
          <a:lstStyle/>
          <a:p>
            <a:pPr algn="l"/>
            <a:r>
              <a:rPr sz="1000" b="1" i="1">
                <a:solidFill>
                  <a:srgbClr val="02C39A"/>
                </a:solidFill>
                <a:latin typeface="Calibri"/>
              </a:rPr>
              <a:t>Solute accumulation in collection vial</a:t>
            </a:r>
          </a:p>
        </p:txBody>
      </p:sp>
      <p:sp>
        <p:nvSpPr>
          <p:cNvPr id="18" name="Rectangle 17"/>
          <p:cNvSpPr/>
          <p:nvPr/>
        </p:nvSpPr>
        <p:spPr>
          <a:xfrm>
            <a:off x="457200" y="4270248"/>
            <a:ext cx="112776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315968"/>
            <a:ext cx="11277600" cy="365760"/>
          </a:xfrm>
          <a:prstGeom prst="rect">
            <a:avLst/>
          </a:prstGeom>
          <a:noFill/>
        </p:spPr>
        <p:txBody>
          <a:bodyPr wrap="square" lIns="50800" rIns="50800" tIns="25400" bIns="25400">
            <a:spAutoFit/>
          </a:bodyPr>
          <a:lstStyle/>
          <a:p>
            <a:pPr algn="ctr"/>
            <a:r>
              <a:rPr sz="1300" b="1" i="0">
                <a:solidFill>
                  <a:srgbClr val="FFFFFF"/>
                </a:solidFill>
                <a:latin typeface="Consolas"/>
              </a:rPr>
              <a:t>d(m_V · c_V) / d t  =  J_s · A_m · ρ</a:t>
            </a:r>
          </a:p>
        </p:txBody>
      </p:sp>
      <p:sp>
        <p:nvSpPr>
          <p:cNvPr id="20" name="TextBox 19"/>
          <p:cNvSpPr txBox="1"/>
          <p:nvPr/>
        </p:nvSpPr>
        <p:spPr>
          <a:xfrm>
            <a:off x="457200" y="4892040"/>
            <a:ext cx="11277600" cy="228600"/>
          </a:xfrm>
          <a:prstGeom prst="rect">
            <a:avLst/>
          </a:prstGeom>
          <a:noFill/>
        </p:spPr>
        <p:txBody>
          <a:bodyPr wrap="square" lIns="50800" rIns="50800" tIns="25400" bIns="25400">
            <a:spAutoFit/>
          </a:bodyPr>
          <a:lstStyle/>
          <a:p>
            <a:pPr algn="l"/>
            <a:r>
              <a:rPr sz="1000" b="1" i="1">
                <a:solidFill>
                  <a:srgbClr val="02C39A"/>
                </a:solidFill>
                <a:latin typeface="Calibri"/>
              </a:rPr>
              <a:t>Concentration polarization (wall conc. via Sherwood)</a:t>
            </a:r>
          </a:p>
        </p:txBody>
      </p:sp>
      <p:sp>
        <p:nvSpPr>
          <p:cNvPr id="21" name="Rectangle 20"/>
          <p:cNvSpPr/>
          <p:nvPr/>
        </p:nvSpPr>
        <p:spPr>
          <a:xfrm>
            <a:off x="457200" y="5138928"/>
            <a:ext cx="112776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184648"/>
            <a:ext cx="11277600" cy="365760"/>
          </a:xfrm>
          <a:prstGeom prst="rect">
            <a:avLst/>
          </a:prstGeom>
          <a:noFill/>
        </p:spPr>
        <p:txBody>
          <a:bodyPr wrap="square" lIns="50800" rIns="50800" tIns="25400" bIns="25400">
            <a:spAutoFit/>
          </a:bodyPr>
          <a:lstStyle/>
          <a:p>
            <a:pPr algn="ctr"/>
            <a:r>
              <a:rPr sz="1300" b="1" i="0">
                <a:solidFill>
                  <a:srgbClr val="FFFFFF"/>
                </a:solidFill>
                <a:latin typeface="Consolas"/>
              </a:rPr>
              <a:t>c_In  =  c_F · exp(J_w / k)        c_H  =  (1 − σ) · c_In · exp(− J_w · (1 − σ) / B)</a:t>
            </a:r>
          </a:p>
        </p:txBody>
      </p:sp>
      <p:sp>
        <p:nvSpPr>
          <p:cNvPr id="23" name="Rectangle 22"/>
          <p:cNvSpPr/>
          <p:nvPr/>
        </p:nvSpPr>
        <p:spPr>
          <a:xfrm>
            <a:off x="457200" y="576072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82472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Free parameters (decision Vars):  L_p ∈ (0.5, 50),   B ∈ (10⁻⁶, 50),   σ ∈ (0, 1).   Pyomo + IDAES + IPOPT.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11 · PARAMETER ESTIMATION  ·  WSSE OBJECTIVE</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11</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065A82"/>
                </a:solidFill>
                <a:latin typeface="Calibri"/>
              </a:rPr>
              <a:t>weighted sum-of-squared errors  ·  three data channels</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What IPOPT minimizes when fitting (L_p, B, σ)</a:t>
            </a:r>
          </a:p>
        </p:txBody>
      </p:sp>
      <p:sp>
        <p:nvSpPr>
          <p:cNvPr id="8" name="TextBox 7"/>
          <p:cNvSpPr txBox="1"/>
          <p:nvPr/>
        </p:nvSpPr>
        <p:spPr>
          <a:xfrm>
            <a:off x="457200" y="1371600"/>
            <a:ext cx="10972800" cy="274320"/>
          </a:xfrm>
          <a:prstGeom prst="rect">
            <a:avLst/>
          </a:prstGeom>
          <a:noFill/>
        </p:spPr>
        <p:txBody>
          <a:bodyPr wrap="square" lIns="50800" rIns="50800" tIns="25400" bIns="25400">
            <a:spAutoFit/>
          </a:bodyPr>
          <a:lstStyle/>
          <a:p>
            <a:pPr algn="l"/>
            <a:r>
              <a:rPr sz="1000" b="1" i="1">
                <a:solidFill>
                  <a:srgbClr val="02C39A"/>
                </a:solidFill>
                <a:latin typeface="Calibri"/>
              </a:rPr>
              <a:t>OBJECTIVE FUNCTION  (sum over three data channels):</a:t>
            </a:r>
          </a:p>
        </p:txBody>
      </p:sp>
      <p:sp>
        <p:nvSpPr>
          <p:cNvPr id="9" name="Rectangle 8"/>
          <p:cNvSpPr/>
          <p:nvPr/>
        </p:nvSpPr>
        <p:spPr>
          <a:xfrm>
            <a:off x="457200" y="1691640"/>
            <a:ext cx="11277600" cy="146304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37360"/>
            <a:ext cx="11277600" cy="1371600"/>
          </a:xfrm>
          <a:prstGeom prst="rect">
            <a:avLst/>
          </a:prstGeom>
          <a:noFill/>
        </p:spPr>
        <p:txBody>
          <a:bodyPr wrap="square" lIns="50800" rIns="50800" tIns="25400" bIns="25400">
            <a:spAutoFit/>
          </a:bodyPr>
          <a:lstStyle/>
          <a:p>
            <a:pPr algn="ctr"/>
            <a:r>
              <a:rPr sz="1400" b="1" i="0">
                <a:solidFill>
                  <a:srgbClr val="FFFFFF"/>
                </a:solidFill>
                <a:latin typeface="Consolas"/>
              </a:rPr>
              <a:t>Φ(θ)  =  Σ_i [(m_pred_i − m_meas_i) / σ_m]²</a:t>
            </a:r>
          </a:p>
          <a:p>
            <a:pPr algn="ctr"/>
            <a:r>
              <a:rPr sz="1400" b="1" i="0">
                <a:solidFill>
                  <a:srgbClr val="FFFFFF"/>
                </a:solidFill>
                <a:latin typeface="Consolas"/>
              </a:rPr>
              <a:t>      +  Σ_i [(cV_pred_i − cV_meas_i) / σ_cV]²</a:t>
            </a:r>
          </a:p>
          <a:p>
            <a:pPr algn="ctr"/>
            <a:r>
              <a:rPr sz="1400" b="1" i="0">
                <a:solidFill>
                  <a:srgbClr val="FFFFFF"/>
                </a:solidFill>
                <a:latin typeface="Consolas"/>
              </a:rPr>
              <a:t>      +  Σ_i [(cF_pred_i − cF_meas_i) / σ_cF[i]]²</a:t>
            </a:r>
          </a:p>
        </p:txBody>
      </p:sp>
      <p:sp>
        <p:nvSpPr>
          <p:cNvPr id="11" name="Rectangle 10"/>
          <p:cNvSpPr/>
          <p:nvPr/>
        </p:nvSpPr>
        <p:spPr>
          <a:xfrm>
            <a:off x="457200" y="3383280"/>
            <a:ext cx="11277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83280"/>
            <a:ext cx="11277600" cy="365760"/>
          </a:xfrm>
          <a:prstGeom prst="rect">
            <a:avLst/>
          </a:prstGeom>
          <a:noFill/>
        </p:spPr>
        <p:txBody>
          <a:bodyPr wrap="square" lIns="50800" rIns="50800" tIns="25400" bIns="25400">
            <a:spAutoFit/>
          </a:bodyPr>
          <a:lstStyle/>
          <a:p>
            <a:pPr algn="ctr"/>
            <a:r>
              <a:rPr sz="1100" b="1" i="0">
                <a:solidFill>
                  <a:srgbClr val="FFFFFF"/>
                </a:solidFill>
                <a:latin typeface="Calibri"/>
              </a:rPr>
              <a:t>PER-CHANNEL RESIDUAL SCALES  (current convention, inherited from DATA2)</a:t>
            </a:r>
          </a:p>
        </p:txBody>
      </p:sp>
      <p:sp>
        <p:nvSpPr>
          <p:cNvPr id="13" name="Rectangle 12"/>
          <p:cNvSpPr/>
          <p:nvPr/>
        </p:nvSpPr>
        <p:spPr>
          <a:xfrm>
            <a:off x="457200" y="3749040"/>
            <a:ext cx="11277600"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785616"/>
            <a:ext cx="1645920" cy="292608"/>
          </a:xfrm>
          <a:prstGeom prst="rect">
            <a:avLst/>
          </a:prstGeom>
          <a:noFill/>
        </p:spPr>
        <p:txBody>
          <a:bodyPr wrap="square" lIns="50800" rIns="50800" tIns="25400" bIns="25400">
            <a:spAutoFit/>
          </a:bodyPr>
          <a:lstStyle/>
          <a:p>
            <a:pPr algn="l"/>
            <a:r>
              <a:rPr sz="1100" b="1" i="0">
                <a:solidFill>
                  <a:srgbClr val="065A82"/>
                </a:solidFill>
                <a:latin typeface="Consolas"/>
              </a:rPr>
              <a:t>channel</a:t>
            </a:r>
          </a:p>
        </p:txBody>
      </p:sp>
      <p:sp>
        <p:nvSpPr>
          <p:cNvPr id="15" name="TextBox 14"/>
          <p:cNvSpPr txBox="1"/>
          <p:nvPr/>
        </p:nvSpPr>
        <p:spPr>
          <a:xfrm>
            <a:off x="2286000" y="3785616"/>
            <a:ext cx="3931920" cy="292608"/>
          </a:xfrm>
          <a:prstGeom prst="rect">
            <a:avLst/>
          </a:prstGeom>
          <a:noFill/>
        </p:spPr>
        <p:txBody>
          <a:bodyPr wrap="square" lIns="50800" rIns="50800" tIns="25400" bIns="25400">
            <a:spAutoFit/>
          </a:bodyPr>
          <a:lstStyle/>
          <a:p>
            <a:pPr algn="l"/>
            <a:r>
              <a:rPr sz="1100" b="1" i="0">
                <a:solidFill>
                  <a:srgbClr val="065A82"/>
                </a:solidFill>
                <a:latin typeface="Consolas"/>
              </a:rPr>
              <a:t>scale formula</a:t>
            </a:r>
          </a:p>
        </p:txBody>
      </p:sp>
      <p:sp>
        <p:nvSpPr>
          <p:cNvPr id="16" name="TextBox 15"/>
          <p:cNvSpPr txBox="1"/>
          <p:nvPr/>
        </p:nvSpPr>
        <p:spPr>
          <a:xfrm>
            <a:off x="6217920" y="3785616"/>
            <a:ext cx="4572000" cy="292608"/>
          </a:xfrm>
          <a:prstGeom prst="rect">
            <a:avLst/>
          </a:prstGeom>
          <a:noFill/>
        </p:spPr>
        <p:txBody>
          <a:bodyPr wrap="square" lIns="50800" rIns="50800" tIns="25400" bIns="25400">
            <a:spAutoFit/>
          </a:bodyPr>
          <a:lstStyle/>
          <a:p>
            <a:pPr algn="l"/>
            <a:r>
              <a:rPr sz="1100" b="1" i="0">
                <a:solidFill>
                  <a:srgbClr val="065A82"/>
                </a:solidFill>
                <a:latin typeface="Consolas"/>
              </a:rPr>
              <a:t>interpretation</a:t>
            </a:r>
          </a:p>
        </p:txBody>
      </p:sp>
      <p:sp>
        <p:nvSpPr>
          <p:cNvPr id="17" name="TextBox 16"/>
          <p:cNvSpPr txBox="1"/>
          <p:nvPr/>
        </p:nvSpPr>
        <p:spPr>
          <a:xfrm>
            <a:off x="640080" y="4151376"/>
            <a:ext cx="1645920" cy="292608"/>
          </a:xfrm>
          <a:prstGeom prst="rect">
            <a:avLst/>
          </a:prstGeom>
          <a:noFill/>
        </p:spPr>
        <p:txBody>
          <a:bodyPr wrap="square" lIns="50800" rIns="50800" tIns="25400" bIns="25400">
            <a:spAutoFit/>
          </a:bodyPr>
          <a:lstStyle/>
          <a:p>
            <a:pPr algn="l"/>
            <a:r>
              <a:rPr sz="1100" b="0" i="0">
                <a:solidFill>
                  <a:srgbClr val="36454F"/>
                </a:solidFill>
                <a:latin typeface="Consolas"/>
              </a:rPr>
              <a:t>σ_m</a:t>
            </a:r>
          </a:p>
        </p:txBody>
      </p:sp>
      <p:sp>
        <p:nvSpPr>
          <p:cNvPr id="18" name="TextBox 17"/>
          <p:cNvSpPr txBox="1"/>
          <p:nvPr/>
        </p:nvSpPr>
        <p:spPr>
          <a:xfrm>
            <a:off x="2286000" y="4151376"/>
            <a:ext cx="3931920" cy="292608"/>
          </a:xfrm>
          <a:prstGeom prst="rect">
            <a:avLst/>
          </a:prstGeom>
          <a:noFill/>
        </p:spPr>
        <p:txBody>
          <a:bodyPr wrap="square" lIns="50800" rIns="50800" tIns="25400" bIns="25400">
            <a:spAutoFit/>
          </a:bodyPr>
          <a:lstStyle/>
          <a:p>
            <a:pPr algn="l"/>
            <a:r>
              <a:rPr sz="1100" b="0" i="0">
                <a:solidFill>
                  <a:srgbClr val="36454F"/>
                </a:solidFill>
                <a:latin typeface="Consolas"/>
              </a:rPr>
              <a:t>0.01 g  (constant)</a:t>
            </a:r>
          </a:p>
        </p:txBody>
      </p:sp>
      <p:sp>
        <p:nvSpPr>
          <p:cNvPr id="19" name="TextBox 18"/>
          <p:cNvSpPr txBox="1"/>
          <p:nvPr/>
        </p:nvSpPr>
        <p:spPr>
          <a:xfrm>
            <a:off x="6217920" y="4151376"/>
            <a:ext cx="4572000" cy="292608"/>
          </a:xfrm>
          <a:prstGeom prst="rect">
            <a:avLst/>
          </a:prstGeom>
          <a:noFill/>
        </p:spPr>
        <p:txBody>
          <a:bodyPr wrap="square" lIns="50800" rIns="50800" tIns="25400" bIns="25400">
            <a:spAutoFit/>
          </a:bodyPr>
          <a:lstStyle/>
          <a:p>
            <a:pPr algn="l"/>
            <a:r>
              <a:rPr sz="1100" b="0" i="0">
                <a:solidFill>
                  <a:srgbClr val="36454F"/>
                </a:solidFill>
                <a:latin typeface="Consolas"/>
              </a:rPr>
              <a:t>instrument noise, balance</a:t>
            </a:r>
          </a:p>
        </p:txBody>
      </p:sp>
      <p:sp>
        <p:nvSpPr>
          <p:cNvPr id="20" name="TextBox 19"/>
          <p:cNvSpPr txBox="1"/>
          <p:nvPr/>
        </p:nvSpPr>
        <p:spPr>
          <a:xfrm>
            <a:off x="640080" y="4517136"/>
            <a:ext cx="1645920" cy="292608"/>
          </a:xfrm>
          <a:prstGeom prst="rect">
            <a:avLst/>
          </a:prstGeom>
          <a:noFill/>
        </p:spPr>
        <p:txBody>
          <a:bodyPr wrap="square" lIns="50800" rIns="50800" tIns="25400" bIns="25400">
            <a:spAutoFit/>
          </a:bodyPr>
          <a:lstStyle/>
          <a:p>
            <a:pPr algn="l"/>
            <a:r>
              <a:rPr sz="1100" b="0" i="0">
                <a:solidFill>
                  <a:srgbClr val="36454F"/>
                </a:solidFill>
                <a:latin typeface="Consolas"/>
              </a:rPr>
              <a:t>σ_cV</a:t>
            </a:r>
          </a:p>
        </p:txBody>
      </p:sp>
      <p:sp>
        <p:nvSpPr>
          <p:cNvPr id="21" name="TextBox 20"/>
          <p:cNvSpPr txBox="1"/>
          <p:nvPr/>
        </p:nvSpPr>
        <p:spPr>
          <a:xfrm>
            <a:off x="2286000" y="4517136"/>
            <a:ext cx="3931920" cy="292608"/>
          </a:xfrm>
          <a:prstGeom prst="rect">
            <a:avLst/>
          </a:prstGeom>
          <a:noFill/>
        </p:spPr>
        <p:txBody>
          <a:bodyPr wrap="square" lIns="50800" rIns="50800" tIns="25400" bIns="25400">
            <a:spAutoFit/>
          </a:bodyPr>
          <a:lstStyle/>
          <a:p>
            <a:pPr algn="l"/>
            <a:r>
              <a:rPr sz="1100" b="0" i="0">
                <a:solidFill>
                  <a:srgbClr val="36454F"/>
                </a:solidFill>
                <a:latin typeface="Consolas"/>
              </a:rPr>
              <a:t>0.03 · cV_meas[i]    (3 %)</a:t>
            </a:r>
          </a:p>
        </p:txBody>
      </p:sp>
      <p:sp>
        <p:nvSpPr>
          <p:cNvPr id="22" name="TextBox 21"/>
          <p:cNvSpPr txBox="1"/>
          <p:nvPr/>
        </p:nvSpPr>
        <p:spPr>
          <a:xfrm>
            <a:off x="6217920" y="4517136"/>
            <a:ext cx="4572000" cy="292608"/>
          </a:xfrm>
          <a:prstGeom prst="rect">
            <a:avLst/>
          </a:prstGeom>
          <a:noFill/>
        </p:spPr>
        <p:txBody>
          <a:bodyPr wrap="square" lIns="50800" rIns="50800" tIns="25400" bIns="25400">
            <a:spAutoFit/>
          </a:bodyPr>
          <a:lstStyle/>
          <a:p>
            <a:pPr algn="l"/>
            <a:r>
              <a:rPr sz="1100" b="0" i="0">
                <a:solidFill>
                  <a:srgbClr val="36454F"/>
                </a:solidFill>
                <a:latin typeface="Consolas"/>
              </a:rPr>
              <a:t>ICP-OES relative uncertainty</a:t>
            </a:r>
          </a:p>
        </p:txBody>
      </p:sp>
      <p:sp>
        <p:nvSpPr>
          <p:cNvPr id="23" name="Rectangle 22"/>
          <p:cNvSpPr/>
          <p:nvPr/>
        </p:nvSpPr>
        <p:spPr>
          <a:xfrm>
            <a:off x="548640" y="4846320"/>
            <a:ext cx="11094720" cy="365760"/>
          </a:xfrm>
          <a:prstGeom prst="rect">
            <a:avLst/>
          </a:prstGeom>
          <a:solidFill>
            <a:srgbClr val="FEE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882896"/>
            <a:ext cx="1645920" cy="292608"/>
          </a:xfrm>
          <a:prstGeom prst="rect">
            <a:avLst/>
          </a:prstGeom>
          <a:noFill/>
        </p:spPr>
        <p:txBody>
          <a:bodyPr wrap="square" lIns="50800" rIns="50800" tIns="25400" bIns="25400">
            <a:spAutoFit/>
          </a:bodyPr>
          <a:lstStyle/>
          <a:p>
            <a:pPr algn="l"/>
            <a:r>
              <a:rPr sz="1100" b="1" i="0">
                <a:solidFill>
                  <a:srgbClr val="CC8800"/>
                </a:solidFill>
                <a:latin typeface="Consolas"/>
              </a:rPr>
              <a:t>σ_cF</a:t>
            </a:r>
          </a:p>
        </p:txBody>
      </p:sp>
      <p:sp>
        <p:nvSpPr>
          <p:cNvPr id="25" name="TextBox 24"/>
          <p:cNvSpPr txBox="1"/>
          <p:nvPr/>
        </p:nvSpPr>
        <p:spPr>
          <a:xfrm>
            <a:off x="2286000" y="4882896"/>
            <a:ext cx="3931920" cy="292608"/>
          </a:xfrm>
          <a:prstGeom prst="rect">
            <a:avLst/>
          </a:prstGeom>
          <a:noFill/>
        </p:spPr>
        <p:txBody>
          <a:bodyPr wrap="square" lIns="50800" rIns="50800" tIns="25400" bIns="25400">
            <a:spAutoFit/>
          </a:bodyPr>
          <a:lstStyle/>
          <a:p>
            <a:pPr algn="l"/>
            <a:r>
              <a:rPr sz="1100" b="1" i="0">
                <a:solidFill>
                  <a:srgbClr val="CC8800"/>
                </a:solidFill>
                <a:latin typeface="Consolas"/>
              </a:rPr>
              <a:t>0.003 · cF_meas[i]   (0.3 %)</a:t>
            </a:r>
          </a:p>
        </p:txBody>
      </p:sp>
      <p:sp>
        <p:nvSpPr>
          <p:cNvPr id="26" name="TextBox 25"/>
          <p:cNvSpPr txBox="1"/>
          <p:nvPr/>
        </p:nvSpPr>
        <p:spPr>
          <a:xfrm>
            <a:off x="6217920" y="4882896"/>
            <a:ext cx="4572000" cy="292608"/>
          </a:xfrm>
          <a:prstGeom prst="rect">
            <a:avLst/>
          </a:prstGeom>
          <a:noFill/>
        </p:spPr>
        <p:txBody>
          <a:bodyPr wrap="square" lIns="50800" rIns="50800" tIns="25400" bIns="25400">
            <a:spAutoFit/>
          </a:bodyPr>
          <a:lstStyle/>
          <a:p>
            <a:pPr algn="l"/>
            <a:r>
              <a:rPr sz="1100" b="1" i="0">
                <a:solidFill>
                  <a:srgbClr val="CC8800"/>
                </a:solidFill>
                <a:latin typeface="Consolas"/>
              </a:rPr>
              <a:t>in-line conductivity probe relative noise  ← over-weighted at high cF</a:t>
            </a:r>
          </a:p>
        </p:txBody>
      </p:sp>
      <p:sp>
        <p:nvSpPr>
          <p:cNvPr id="27" name="Rectangle 26"/>
          <p:cNvSpPr/>
          <p:nvPr/>
        </p:nvSpPr>
        <p:spPr>
          <a:xfrm>
            <a:off x="457200" y="576072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2472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The 0.3 % cF scale is the over-weight that drove the diagnosis on slide 08;  the floor on slide 09 is the corrective change.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12 · LACL₃  ·  THE PHYSICS GAP</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0" y="0"/>
            <a:ext cx="2194560" cy="292608"/>
          </a:xfrm>
          <a:prstGeom prst="rect">
            <a:avLst/>
          </a:prstGeom>
          <a:noFill/>
        </p:spPr>
        <p:txBody>
          <a:bodyPr wrap="none" lIns="0" rIns="50800" tIns="25400" bIns="25400">
            <a:spAutoFit/>
          </a:bodyPr>
          <a:lstStyle/>
          <a:p>
            <a:pPr algn="r"/>
            <a:r>
              <a:rPr sz="1100" b="1">
                <a:solidFill>
                  <a:srgbClr val="FFFFFF"/>
                </a:solidFill>
                <a:latin typeface="Calibri"/>
              </a:rPr>
              <a:t>12</a:t>
            </a:r>
          </a:p>
        </p:txBody>
      </p:sp>
      <p:sp>
        <p:nvSpPr>
          <p:cNvPr id="6" name="TextBox 5"/>
          <p:cNvSpPr txBox="1"/>
          <p:nvPr/>
        </p:nvSpPr>
        <p:spPr>
          <a:xfrm>
            <a:off x="457200" y="384048"/>
            <a:ext cx="10972800" cy="320040"/>
          </a:xfrm>
          <a:prstGeom prst="rect">
            <a:avLst/>
          </a:prstGeom>
          <a:noFill/>
        </p:spPr>
        <p:txBody>
          <a:bodyPr wrap="none" lIns="0" tIns="0" bIns="0">
            <a:spAutoFit/>
          </a:bodyPr>
          <a:lstStyle/>
          <a:p>
            <a:r>
              <a:rPr sz="1100" b="1" i="1" spc="200">
                <a:solidFill>
                  <a:srgbClr val="CC3333"/>
                </a:solidFill>
                <a:latin typeface="Calibri"/>
              </a:rPr>
              <a:t>why floor + σ prior alone do not recover LaCl₃</a:t>
            </a:r>
          </a:p>
        </p:txBody>
      </p:sp>
      <p:sp>
        <p:nvSpPr>
          <p:cNvPr id="7" name="TextBox 6"/>
          <p:cNvSpPr txBox="1"/>
          <p:nvPr/>
        </p:nvSpPr>
        <p:spPr>
          <a:xfrm>
            <a:off x="457200" y="658368"/>
            <a:ext cx="10972800" cy="640080"/>
          </a:xfrm>
          <a:prstGeom prst="rect">
            <a:avLst/>
          </a:prstGeom>
          <a:noFill/>
        </p:spPr>
        <p:txBody>
          <a:bodyPr wrap="none" lIns="0" tIns="0" bIns="0">
            <a:spAutoFit/>
          </a:bodyPr>
          <a:lstStyle/>
          <a:p>
            <a:r>
              <a:rPr sz="2200" b="1">
                <a:solidFill>
                  <a:srgbClr val="065A82"/>
                </a:solidFill>
                <a:latin typeface="Calibri"/>
              </a:rPr>
              <a:t>Constant-(B, σ) Spiegler–Kedem cannot represent trivalent ion-pairing</a:t>
            </a:r>
          </a:p>
        </p:txBody>
      </p:sp>
      <p:sp>
        <p:nvSpPr>
          <p:cNvPr id="8" name="Rectangle 7"/>
          <p:cNvSpPr/>
          <p:nvPr/>
        </p:nvSpPr>
        <p:spPr>
          <a:xfrm>
            <a:off x="457200" y="1417320"/>
            <a:ext cx="3698240" cy="36576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3698240" cy="365760"/>
          </a:xfrm>
          <a:prstGeom prst="rect">
            <a:avLst/>
          </a:prstGeom>
          <a:noFill/>
        </p:spPr>
        <p:txBody>
          <a:bodyPr wrap="square" lIns="50800" rIns="50800" tIns="25400" bIns="25400">
            <a:spAutoFit/>
          </a:bodyPr>
          <a:lstStyle/>
          <a:p>
            <a:pPr algn="ctr"/>
            <a:r>
              <a:rPr sz="1100" b="1" i="0">
                <a:solidFill>
                  <a:srgbClr val="FFFFFF"/>
                </a:solidFill>
                <a:latin typeface="Calibri"/>
              </a:rPr>
              <a:t>ION-PAIRING IN SOLUTION</a:t>
            </a:r>
          </a:p>
        </p:txBody>
      </p:sp>
      <p:sp>
        <p:nvSpPr>
          <p:cNvPr id="10" name="Rectangle 9"/>
          <p:cNvSpPr/>
          <p:nvPr/>
        </p:nvSpPr>
        <p:spPr>
          <a:xfrm>
            <a:off x="457200" y="1783080"/>
            <a:ext cx="3698240" cy="3749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74520"/>
            <a:ext cx="3423920" cy="3566160"/>
          </a:xfrm>
          <a:prstGeom prst="rect">
            <a:avLst/>
          </a:prstGeom>
          <a:noFill/>
        </p:spPr>
        <p:txBody>
          <a:bodyPr wrap="square" lIns="50800" rIns="50800" tIns="25400" bIns="25400">
            <a:spAutoFit/>
          </a:bodyPr>
          <a:lstStyle/>
          <a:p>
            <a:pPr algn="l"/>
            <a:r>
              <a:rPr sz="1000" b="0" i="0">
                <a:solidFill>
                  <a:srgbClr val="36454F"/>
                </a:solidFill>
                <a:latin typeface="Calibri"/>
              </a:rPr>
              <a:t>LaCl₃ does not fully dissociate at experimental concentrations:</a:t>
            </a:r>
          </a:p>
          <a:p>
            <a:pPr algn="l"/>
            <a:r>
              <a:rPr sz="1000" b="0" i="0">
                <a:solidFill>
                  <a:srgbClr val="36454F"/>
                </a:solidFill>
                <a:latin typeface="Calibri"/>
              </a:rPr>
              <a:t>       LaCl³⁺  ⇌  LaCl²⁺ + Cl⁻</a:t>
            </a:r>
          </a:p>
          <a:p>
            <a:pPr algn="l"/>
            <a:r>
              <a:rPr sz="1000" b="0" i="0">
                <a:solidFill>
                  <a:srgbClr val="36454F"/>
                </a:solidFill>
                <a:latin typeface="Calibri"/>
              </a:rPr>
              <a:t>       LaCl²⁺  ⇌  LaCl⁺ + Cl⁻</a:t>
            </a:r>
          </a:p>
          <a:p>
            <a:pPr algn="l"/>
            <a:r>
              <a:rPr sz="1000" b="0" i="0">
                <a:solidFill>
                  <a:srgbClr val="36454F"/>
                </a:solidFill>
                <a:latin typeface="Calibri"/>
              </a:rPr>
              <a:t/>
            </a:r>
          </a:p>
          <a:p>
            <a:pPr algn="l"/>
            <a:r>
              <a:rPr sz="1000" b="0" i="0">
                <a:solidFill>
                  <a:srgbClr val="36454F"/>
                </a:solidFill>
                <a:latin typeface="Calibri"/>
              </a:rPr>
              <a:t>Effective n_i drops below 4.</a:t>
            </a:r>
          </a:p>
          <a:p>
            <a:pPr algn="l"/>
            <a:r>
              <a:rPr sz="1000" b="0" i="0">
                <a:solidFill>
                  <a:srgbClr val="36454F"/>
                </a:solidFill>
                <a:latin typeface="Calibri"/>
              </a:rPr>
              <a:t>The osmotic term σ·(cIn − cH)·n_i·RT in J_w is therefore over-estimated by the model at high cF.</a:t>
            </a:r>
          </a:p>
          <a:p>
            <a:pPr algn="l"/>
            <a:r>
              <a:rPr sz="1000" b="0" i="0">
                <a:solidFill>
                  <a:srgbClr val="36454F"/>
                </a:solidFill>
                <a:latin typeface="Calibri"/>
              </a:rPr>
              <a:t/>
            </a:r>
          </a:p>
          <a:p>
            <a:pPr algn="l"/>
            <a:r>
              <a:rPr sz="1000" b="0" i="0">
                <a:solidFill>
                  <a:srgbClr val="36454F"/>
                </a:solidFill>
                <a:latin typeface="Calibri"/>
              </a:rPr>
              <a:t>RESULT:  the model thinks osmotic backpressure is larger than reality  →  Jw under-predicted  →  mass shortfall.</a:t>
            </a:r>
          </a:p>
        </p:txBody>
      </p:sp>
      <p:sp>
        <p:nvSpPr>
          <p:cNvPr id="12" name="Rectangle 11"/>
          <p:cNvSpPr/>
          <p:nvPr/>
        </p:nvSpPr>
        <p:spPr>
          <a:xfrm>
            <a:off x="4246880" y="1417320"/>
            <a:ext cx="369824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46880" y="1417320"/>
            <a:ext cx="3698240" cy="365760"/>
          </a:xfrm>
          <a:prstGeom prst="rect">
            <a:avLst/>
          </a:prstGeom>
          <a:noFill/>
        </p:spPr>
        <p:txBody>
          <a:bodyPr wrap="square" lIns="50800" rIns="50800" tIns="25400" bIns="25400">
            <a:spAutoFit/>
          </a:bodyPr>
          <a:lstStyle/>
          <a:p>
            <a:pPr algn="ctr"/>
            <a:r>
              <a:rPr sz="1100" b="1" i="0">
                <a:solidFill>
                  <a:srgbClr val="FFFFFF"/>
                </a:solidFill>
                <a:latin typeface="Calibri"/>
              </a:rPr>
              <a:t>CONCENTRATION-DEPENDENT σ</a:t>
            </a:r>
          </a:p>
        </p:txBody>
      </p:sp>
      <p:sp>
        <p:nvSpPr>
          <p:cNvPr id="14" name="Rectangle 13"/>
          <p:cNvSpPr/>
          <p:nvPr/>
        </p:nvSpPr>
        <p:spPr>
          <a:xfrm>
            <a:off x="4246880" y="1783080"/>
            <a:ext cx="3698240" cy="3749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4040" y="1874520"/>
            <a:ext cx="3423920" cy="3566160"/>
          </a:xfrm>
          <a:prstGeom prst="rect">
            <a:avLst/>
          </a:prstGeom>
          <a:noFill/>
        </p:spPr>
        <p:txBody>
          <a:bodyPr wrap="square" lIns="50800" rIns="50800" tIns="25400" bIns="25400">
            <a:spAutoFit/>
          </a:bodyPr>
          <a:lstStyle/>
          <a:p>
            <a:pPr algn="l"/>
            <a:r>
              <a:rPr sz="1000" b="0" i="0">
                <a:solidFill>
                  <a:srgbClr val="36454F"/>
                </a:solidFill>
                <a:latin typeface="Calibri"/>
              </a:rPr>
              <a:t>Real membranes show σ that decreases as cF rises (charge screening, pore-wall interaction).</a:t>
            </a:r>
          </a:p>
          <a:p>
            <a:pPr algn="l"/>
            <a:r>
              <a:rPr sz="1000" b="0" i="0">
                <a:solidFill>
                  <a:srgbClr val="36454F"/>
                </a:solidFill>
                <a:latin typeface="Calibri"/>
              </a:rPr>
              <a:t/>
            </a:r>
          </a:p>
          <a:p>
            <a:pPr algn="l"/>
            <a:r>
              <a:rPr sz="1000" b="0" i="0">
                <a:solidFill>
                  <a:srgbClr val="36454F"/>
                </a:solidFill>
                <a:latin typeface="Calibri"/>
              </a:rPr>
              <a:t>Spiegler–Kedem assumes σ = constant.</a:t>
            </a:r>
          </a:p>
          <a:p>
            <a:pPr algn="l"/>
            <a:r>
              <a:rPr sz="1000" b="0" i="0">
                <a:solidFill>
                  <a:srgbClr val="36454F"/>
                </a:solidFill>
                <a:latin typeface="Calibri"/>
              </a:rPr>
              <a:t>On LaCl₃ sheets, the observed rejection R drops 0.68 → 0.14 across the run.</a:t>
            </a:r>
          </a:p>
          <a:p>
            <a:pPr algn="l"/>
            <a:r>
              <a:rPr sz="1000" b="0" i="0">
                <a:solidFill>
                  <a:srgbClr val="36454F"/>
                </a:solidFill>
                <a:latin typeface="Calibri"/>
              </a:rPr>
              <a:t/>
            </a:r>
          </a:p>
          <a:p>
            <a:pPr algn="l"/>
            <a:r>
              <a:rPr sz="1000" b="0" i="0">
                <a:solidFill>
                  <a:srgbClr val="36454F"/>
                </a:solidFill>
                <a:latin typeface="Calibri"/>
              </a:rPr>
              <a:t>The optimizer's σ = 1 is the model's best compromise between early-vial (high R) and late-vial (low R) data.</a:t>
            </a:r>
          </a:p>
          <a:p>
            <a:pPr algn="l"/>
            <a:r>
              <a:rPr sz="1000" b="0" i="0">
                <a:solidFill>
                  <a:srgbClr val="36454F"/>
                </a:solidFill>
                <a:latin typeface="Calibri"/>
              </a:rPr>
              <a:t>Neither is fit correctly.</a:t>
            </a:r>
          </a:p>
        </p:txBody>
      </p:sp>
      <p:sp>
        <p:nvSpPr>
          <p:cNvPr id="16" name="Rectangle 15"/>
          <p:cNvSpPr/>
          <p:nvPr/>
        </p:nvSpPr>
        <p:spPr>
          <a:xfrm>
            <a:off x="8036560" y="1417320"/>
            <a:ext cx="3698240" cy="365760"/>
          </a:xfrm>
          <a:prstGeom prst="rect">
            <a:avLst/>
          </a:prstGeom>
          <a:solidFill>
            <a:srgbClr val="6A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6560" y="1417320"/>
            <a:ext cx="3698240" cy="365760"/>
          </a:xfrm>
          <a:prstGeom prst="rect">
            <a:avLst/>
          </a:prstGeom>
          <a:noFill/>
        </p:spPr>
        <p:txBody>
          <a:bodyPr wrap="square" lIns="50800" rIns="50800" tIns="25400" bIns="25400">
            <a:spAutoFit/>
          </a:bodyPr>
          <a:lstStyle/>
          <a:p>
            <a:pPr algn="ctr"/>
            <a:r>
              <a:rPr sz="1100" b="1" i="0">
                <a:solidFill>
                  <a:srgbClr val="FFFFFF"/>
                </a:solidFill>
                <a:latin typeface="Calibri"/>
              </a:rPr>
              <a:t>CHANNEL DISAGREEMENT  →  Lp ambiguous</a:t>
            </a:r>
          </a:p>
        </p:txBody>
      </p:sp>
      <p:sp>
        <p:nvSpPr>
          <p:cNvPr id="18" name="Rectangle 17"/>
          <p:cNvSpPr/>
          <p:nvPr/>
        </p:nvSpPr>
        <p:spPr>
          <a:xfrm>
            <a:off x="8036560" y="1783080"/>
            <a:ext cx="3698240" cy="3749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3720" y="1874520"/>
            <a:ext cx="3423920" cy="3566160"/>
          </a:xfrm>
          <a:prstGeom prst="rect">
            <a:avLst/>
          </a:prstGeom>
          <a:noFill/>
        </p:spPr>
        <p:txBody>
          <a:bodyPr wrap="square" lIns="50800" rIns="50800" tIns="25400" bIns="25400">
            <a:spAutoFit/>
          </a:bodyPr>
          <a:lstStyle/>
          <a:p>
            <a:pPr algn="l"/>
            <a:r>
              <a:rPr sz="1000" b="0" i="0">
                <a:solidFill>
                  <a:srgbClr val="36454F"/>
                </a:solidFill>
                <a:latin typeface="Calibri"/>
              </a:rPr>
              <a:t>Contour panels show:</a:t>
            </a:r>
          </a:p>
          <a:p>
            <a:pPr algn="l"/>
            <a:r>
              <a:rPr sz="1000" b="0" i="0">
                <a:solidFill>
                  <a:srgbClr val="36454F"/>
                </a:solidFill>
                <a:latin typeface="Calibri"/>
              </a:rPr>
              <a:t>    mass + cF channels  prefer Lp ≈ 5</a:t>
            </a:r>
          </a:p>
          <a:p>
            <a:pPr algn="l"/>
            <a:r>
              <a:rPr sz="1000" b="0" i="0">
                <a:solidFill>
                  <a:srgbClr val="36454F"/>
                </a:solidFill>
                <a:latin typeface="Calibri"/>
              </a:rPr>
              <a:t>    cV channel          prefers Lp ≈ 2.5</a:t>
            </a:r>
          </a:p>
          <a:p>
            <a:pPr algn="l"/>
            <a:r>
              <a:rPr sz="1000" b="0" i="0">
                <a:solidFill>
                  <a:srgbClr val="36454F"/>
                </a:solidFill>
                <a:latin typeface="Calibri"/>
              </a:rPr>
              <a:t/>
            </a:r>
          </a:p>
          <a:p>
            <a:pPr algn="l"/>
            <a:r>
              <a:rPr sz="1000" b="0" i="0">
                <a:solidFill>
                  <a:srgbClr val="36454F"/>
                </a:solidFill>
                <a:latin typeface="Calibri"/>
              </a:rPr>
              <a:t>Currently published Lp = 2.49 is the cV-channel basin (optimizer compromise).</a:t>
            </a:r>
          </a:p>
          <a:p>
            <a:pPr algn="l"/>
            <a:r>
              <a:rPr sz="1000" b="0" i="0">
                <a:solidFill>
                  <a:srgbClr val="36454F"/>
                </a:solidFill>
                <a:latin typeface="Calibri"/>
              </a:rPr>
              <a:t/>
            </a:r>
          </a:p>
          <a:p>
            <a:pPr algn="l"/>
            <a:r>
              <a:rPr sz="1000" b="0" i="0">
                <a:solidFill>
                  <a:srgbClr val="36454F"/>
                </a:solidFill>
                <a:latin typeface="Calibri"/>
              </a:rPr>
              <a:t>Without resolving the physics (n_i, σ(cF)), the right Lp is undefined — the model cannot say.</a:t>
            </a:r>
          </a:p>
        </p:txBody>
      </p:sp>
      <p:sp>
        <p:nvSpPr>
          <p:cNvPr id="20" name="Rectangle 19"/>
          <p:cNvSpPr/>
          <p:nvPr/>
        </p:nvSpPr>
        <p:spPr>
          <a:xfrm>
            <a:off x="457200" y="5715000"/>
            <a:ext cx="11277600" cy="502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779008"/>
            <a:ext cx="10911840" cy="411480"/>
          </a:xfrm>
          <a:prstGeom prst="rect">
            <a:avLst/>
          </a:prstGeom>
          <a:noFill/>
        </p:spPr>
        <p:txBody>
          <a:bodyPr wrap="square" lIns="50800" rIns="50800" tIns="25400" bIns="25400">
            <a:spAutoFit/>
          </a:bodyPr>
          <a:lstStyle/>
          <a:p>
            <a:pPr algn="l"/>
            <a:r>
              <a:rPr sz="1050" b="0" i="1">
                <a:solidFill>
                  <a:srgbClr val="FFFFFF"/>
                </a:solidFill>
                <a:latin typeface="Calibri"/>
              </a:rPr>
              <a:t>RECOMMENDED PATH:  (1) add ion-pairing equilibrium → effective n_i(cF);  (2) parameterize σ(cF) explicitly or use cF-dependent B-form;  (3) report Lp with explicit uncertainty range until #1+#2 are validated.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09 · OPEN QUESTIONS</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09</a:t>
            </a:r>
          </a:p>
        </p:txBody>
      </p:sp>
      <p:sp>
        <p:nvSpPr>
          <p:cNvPr id="6" name="TextBox 5"/>
          <p:cNvSpPr txBox="1"/>
          <p:nvPr/>
        </p:nvSpPr>
        <p:spPr>
          <a:xfrm>
            <a:off x="457200" y="502920"/>
            <a:ext cx="11247120" cy="400110"/>
          </a:xfrm>
          <a:prstGeom prst="rect">
            <a:avLst/>
          </a:prstGeom>
          <a:noFill/>
        </p:spPr>
        <p:txBody>
          <a:bodyPr wrap="square" lIns="0" tIns="0" rIns="0" bIns="0" anchor="t">
            <a:spAutoFit/>
          </a:bodyPr>
          <a:lstStyle/>
          <a:p>
            <a:pPr algn="l"/>
            <a:r>
              <a:rPr sz="2600" b="1" i="0" dirty="0">
                <a:solidFill>
                  <a:srgbClr val="21295C"/>
                </a:solidFill>
                <a:latin typeface="Calibri"/>
              </a:rPr>
              <a:t>Open questions</a:t>
            </a:r>
          </a:p>
        </p:txBody>
      </p:sp>
      <p:sp>
        <p:nvSpPr>
          <p:cNvPr id="7" name="Rectangle 6"/>
          <p:cNvSpPr/>
          <p:nvPr/>
        </p:nvSpPr>
        <p:spPr>
          <a:xfrm>
            <a:off x="457200" y="141732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914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77240" cy="7315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0020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Q1</a:t>
            </a:r>
          </a:p>
        </p:txBody>
      </p:sp>
      <p:sp>
        <p:nvSpPr>
          <p:cNvPr id="11" name="TextBox 10"/>
          <p:cNvSpPr txBox="1"/>
          <p:nvPr/>
        </p:nvSpPr>
        <p:spPr>
          <a:xfrm>
            <a:off x="1600200" y="1554480"/>
            <a:ext cx="7772400" cy="457200"/>
          </a:xfrm>
          <a:prstGeom prst="rect">
            <a:avLst/>
          </a:prstGeom>
          <a:noFill/>
        </p:spPr>
        <p:txBody>
          <a:bodyPr wrap="square" lIns="0" tIns="0" rIns="0" bIns="0" anchor="t">
            <a:spAutoFit/>
          </a:bodyPr>
          <a:lstStyle/>
          <a:p>
            <a:pPr algn="l"/>
            <a:r>
              <a:rPr sz="1400" b="1" i="0">
                <a:solidFill>
                  <a:srgbClr val="1E293B"/>
                </a:solidFill>
                <a:latin typeface="Calibri"/>
              </a:rPr>
              <a:t>σ reparameterization?</a:t>
            </a:r>
          </a:p>
        </p:txBody>
      </p:sp>
      <p:sp>
        <p:nvSpPr>
          <p:cNvPr id="12" name="TextBox 11"/>
          <p:cNvSpPr txBox="1"/>
          <p:nvPr/>
        </p:nvSpPr>
        <p:spPr>
          <a:xfrm>
            <a:off x="1600200" y="1920240"/>
            <a:ext cx="7772400" cy="184666"/>
          </a:xfrm>
          <a:prstGeom prst="rect">
            <a:avLst/>
          </a:prstGeom>
          <a:noFill/>
        </p:spPr>
        <p:txBody>
          <a:bodyPr wrap="square" lIns="0" tIns="0" rIns="0" bIns="0" anchor="t">
            <a:spAutoFit/>
          </a:bodyPr>
          <a:lstStyle/>
          <a:p>
            <a:pPr algn="l"/>
            <a:r>
              <a:rPr sz="1200" b="0" i="0" dirty="0">
                <a:solidFill>
                  <a:srgbClr val="1E293B"/>
                </a:solidFill>
                <a:latin typeface="Calibri"/>
              </a:rPr>
              <a:t>Should we </a:t>
            </a:r>
            <a:r>
              <a:rPr sz="1200" b="0" i="0" dirty="0" err="1">
                <a:solidFill>
                  <a:srgbClr val="1E293B"/>
                </a:solidFill>
                <a:latin typeface="Calibri"/>
              </a:rPr>
              <a:t>reparameterize</a:t>
            </a:r>
            <a:r>
              <a:rPr sz="1200" b="0" i="0" dirty="0">
                <a:solidFill>
                  <a:srgbClr val="1E293B"/>
                </a:solidFill>
                <a:latin typeface="Calibri"/>
              </a:rPr>
              <a:t> </a:t>
            </a:r>
            <a:r>
              <a:rPr sz="1200" b="0" i="0" dirty="0" err="1">
                <a:solidFill>
                  <a:srgbClr val="1E293B"/>
                </a:solidFill>
                <a:latin typeface="Calibri"/>
              </a:rPr>
              <a:t>σ</a:t>
            </a:r>
            <a:r>
              <a:rPr sz="1200" b="0" i="0" dirty="0">
                <a:solidFill>
                  <a:srgbClr val="1E293B"/>
                </a:solidFill>
                <a:latin typeface="Calibri"/>
              </a:rPr>
              <a:t> = exp(</a:t>
            </a:r>
            <a:r>
              <a:rPr sz="1200" b="0" i="0" dirty="0" err="1">
                <a:solidFill>
                  <a:srgbClr val="1E293B"/>
                </a:solidFill>
                <a:latin typeface="Calibri"/>
              </a:rPr>
              <a:t>η</a:t>
            </a:r>
            <a:r>
              <a:rPr sz="1200" b="0" i="0" dirty="0">
                <a:solidFill>
                  <a:srgbClr val="1E293B"/>
                </a:solidFill>
                <a:latin typeface="Calibri"/>
              </a:rPr>
              <a:t>)/(1+exp(</a:t>
            </a:r>
            <a:r>
              <a:rPr sz="1200" b="0" i="0" dirty="0" err="1">
                <a:solidFill>
                  <a:srgbClr val="1E293B"/>
                </a:solidFill>
                <a:latin typeface="Calibri"/>
              </a:rPr>
              <a:t>η</a:t>
            </a:r>
            <a:r>
              <a:rPr sz="1200" b="0" i="0" dirty="0">
                <a:solidFill>
                  <a:srgbClr val="1E293B"/>
                </a:solidFill>
                <a:latin typeface="Calibri"/>
              </a:rPr>
              <a:t>)), </a:t>
            </a:r>
            <a:r>
              <a:rPr sz="1200" b="0" i="0" dirty="0" err="1">
                <a:solidFill>
                  <a:srgbClr val="1E293B"/>
                </a:solidFill>
                <a:latin typeface="Calibri"/>
              </a:rPr>
              <a:t>η</a:t>
            </a:r>
            <a:r>
              <a:rPr sz="1200" b="0" i="0" dirty="0">
                <a:solidFill>
                  <a:srgbClr val="1E293B"/>
                </a:solidFill>
                <a:latin typeface="Calibri"/>
              </a:rPr>
              <a:t> ∈ </a:t>
            </a:r>
            <a:r>
              <a:rPr sz="1200" b="0" i="0" dirty="0" err="1">
                <a:solidFill>
                  <a:srgbClr val="1E293B"/>
                </a:solidFill>
                <a:latin typeface="Calibri"/>
              </a:rPr>
              <a:t>ℝ</a:t>
            </a:r>
            <a:r>
              <a:rPr sz="1200" b="0" i="0" dirty="0">
                <a:solidFill>
                  <a:srgbClr val="1E293B"/>
                </a:solidFill>
                <a:latin typeface="Calibri"/>
              </a:rPr>
              <a:t>, to eliminate the {</a:t>
            </a:r>
            <a:r>
              <a:rPr sz="1200" b="0" i="0" dirty="0" err="1">
                <a:solidFill>
                  <a:srgbClr val="1E293B"/>
                </a:solidFill>
                <a:latin typeface="Calibri"/>
              </a:rPr>
              <a:t>σ</a:t>
            </a:r>
            <a:r>
              <a:rPr sz="1200" b="0" i="0" dirty="0">
                <a:solidFill>
                  <a:srgbClr val="1E293B"/>
                </a:solidFill>
                <a:latin typeface="Calibri"/>
              </a:rPr>
              <a:t>=0, </a:t>
            </a:r>
            <a:r>
              <a:rPr sz="1200" b="0" i="0" dirty="0" err="1">
                <a:solidFill>
                  <a:srgbClr val="1E293B"/>
                </a:solidFill>
                <a:latin typeface="Calibri"/>
              </a:rPr>
              <a:t>σ</a:t>
            </a:r>
            <a:r>
              <a:rPr sz="1200" b="0" i="0" dirty="0">
                <a:solidFill>
                  <a:srgbClr val="1E293B"/>
                </a:solidFill>
                <a:latin typeface="Calibri"/>
              </a:rPr>
              <a:t>=1} corners? </a:t>
            </a:r>
          </a:p>
        </p:txBody>
      </p:sp>
      <p:sp>
        <p:nvSpPr>
          <p:cNvPr id="13" name="Rectangle 12"/>
          <p:cNvSpPr/>
          <p:nvPr/>
        </p:nvSpPr>
        <p:spPr>
          <a:xfrm>
            <a:off x="10058400" y="1783080"/>
            <a:ext cx="15544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0" y="180136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experimental</a:t>
            </a:r>
          </a:p>
        </p:txBody>
      </p:sp>
      <p:sp>
        <p:nvSpPr>
          <p:cNvPr id="15" name="Rectangle 14"/>
          <p:cNvSpPr/>
          <p:nvPr/>
        </p:nvSpPr>
        <p:spPr>
          <a:xfrm>
            <a:off x="457200" y="260604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606040"/>
            <a:ext cx="91440"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788920"/>
            <a:ext cx="777240"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78892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Q2</a:t>
            </a:r>
          </a:p>
        </p:txBody>
      </p:sp>
      <p:sp>
        <p:nvSpPr>
          <p:cNvPr id="19" name="TextBox 18"/>
          <p:cNvSpPr txBox="1"/>
          <p:nvPr/>
        </p:nvSpPr>
        <p:spPr>
          <a:xfrm>
            <a:off x="1600200" y="2743200"/>
            <a:ext cx="7772400" cy="457200"/>
          </a:xfrm>
          <a:prstGeom prst="rect">
            <a:avLst/>
          </a:prstGeom>
          <a:noFill/>
        </p:spPr>
        <p:txBody>
          <a:bodyPr wrap="square" lIns="0" tIns="0" rIns="0" bIns="0" anchor="t">
            <a:spAutoFit/>
          </a:bodyPr>
          <a:lstStyle/>
          <a:p>
            <a:pPr algn="l"/>
            <a:r>
              <a:rPr sz="1400" b="1" i="0">
                <a:solidFill>
                  <a:srgbClr val="1E293B"/>
                </a:solidFill>
                <a:latin typeface="Calibri"/>
              </a:rPr>
              <a:t>Two-stage fit?</a:t>
            </a:r>
          </a:p>
        </p:txBody>
      </p:sp>
      <p:sp>
        <p:nvSpPr>
          <p:cNvPr id="20" name="TextBox 19"/>
          <p:cNvSpPr txBox="1"/>
          <p:nvPr/>
        </p:nvSpPr>
        <p:spPr>
          <a:xfrm>
            <a:off x="1600200" y="3108960"/>
            <a:ext cx="7772400" cy="548640"/>
          </a:xfrm>
          <a:prstGeom prst="rect">
            <a:avLst/>
          </a:prstGeom>
          <a:noFill/>
        </p:spPr>
        <p:txBody>
          <a:bodyPr wrap="square" lIns="0" tIns="0" rIns="0" bIns="0" anchor="t">
            <a:spAutoFit/>
          </a:bodyPr>
          <a:lstStyle/>
          <a:p>
            <a:pPr algn="l"/>
            <a:r>
              <a:rPr sz="1200" b="0" i="0">
                <a:solidFill>
                  <a:srgbClr val="1E293B"/>
                </a:solidFill>
                <a:latin typeface="Calibri"/>
              </a:rPr>
              <a:t>Profile-likelihood approach: lock Lp from mass-litmus (Lp̂ = slope · 36000 / (Am · ρ · ΔP)), then fit (σ, B) on concentration only. Equivalent to a frequentist profile over the Lp axis.</a:t>
            </a:r>
          </a:p>
        </p:txBody>
      </p:sp>
      <p:sp>
        <p:nvSpPr>
          <p:cNvPr id="21" name="Rectangle 20"/>
          <p:cNvSpPr/>
          <p:nvPr/>
        </p:nvSpPr>
        <p:spPr>
          <a:xfrm>
            <a:off x="10058400" y="2971800"/>
            <a:ext cx="155448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0" y="299008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computational</a:t>
            </a:r>
          </a:p>
        </p:txBody>
      </p:sp>
      <p:sp>
        <p:nvSpPr>
          <p:cNvPr id="23" name="Rectangle 22"/>
          <p:cNvSpPr/>
          <p:nvPr/>
        </p:nvSpPr>
        <p:spPr>
          <a:xfrm>
            <a:off x="457200" y="379476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794760"/>
            <a:ext cx="91440" cy="10972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3977640"/>
            <a:ext cx="777240" cy="7315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97764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Q3</a:t>
            </a:r>
          </a:p>
        </p:txBody>
      </p:sp>
      <p:sp>
        <p:nvSpPr>
          <p:cNvPr id="27" name="TextBox 26"/>
          <p:cNvSpPr txBox="1"/>
          <p:nvPr/>
        </p:nvSpPr>
        <p:spPr>
          <a:xfrm>
            <a:off x="1600200" y="3931920"/>
            <a:ext cx="7772400" cy="457200"/>
          </a:xfrm>
          <a:prstGeom prst="rect">
            <a:avLst/>
          </a:prstGeom>
          <a:noFill/>
        </p:spPr>
        <p:txBody>
          <a:bodyPr wrap="square" lIns="0" tIns="0" rIns="0" bIns="0" anchor="t">
            <a:spAutoFit/>
          </a:bodyPr>
          <a:lstStyle/>
          <a:p>
            <a:pPr algn="l"/>
            <a:r>
              <a:rPr sz="1400" b="1" i="0">
                <a:solidFill>
                  <a:srgbClr val="1E293B"/>
                </a:solidFill>
                <a:latin typeface="Calibri"/>
              </a:rPr>
              <a:t>Interior σ box?</a:t>
            </a:r>
          </a:p>
        </p:txBody>
      </p:sp>
      <p:sp>
        <p:nvSpPr>
          <p:cNvPr id="28" name="TextBox 27"/>
          <p:cNvSpPr txBox="1"/>
          <p:nvPr/>
        </p:nvSpPr>
        <p:spPr>
          <a:xfrm>
            <a:off x="1600200" y="4297680"/>
            <a:ext cx="7772400" cy="548640"/>
          </a:xfrm>
          <a:prstGeom prst="rect">
            <a:avLst/>
          </a:prstGeom>
          <a:noFill/>
        </p:spPr>
        <p:txBody>
          <a:bodyPr wrap="square" lIns="0" tIns="0" rIns="0" bIns="0" anchor="t">
            <a:spAutoFit/>
          </a:bodyPr>
          <a:lstStyle/>
          <a:p>
            <a:pPr algn="l"/>
            <a:r>
              <a:rPr sz="1200" b="0" i="0">
                <a:solidFill>
                  <a:srgbClr val="1E293B"/>
                </a:solidFill>
                <a:latin typeface="Calibri"/>
              </a:rPr>
              <a:t>Tighten Pyomo Var bound from σ ∈ (0,1) to σ ∈ [0.30, 0.85]. If Obj jumps back up after constraining the interior, the corners are global minima → model is mis-specified.</a:t>
            </a:r>
          </a:p>
        </p:txBody>
      </p:sp>
      <p:sp>
        <p:nvSpPr>
          <p:cNvPr id="29" name="Rectangle 28"/>
          <p:cNvSpPr/>
          <p:nvPr/>
        </p:nvSpPr>
        <p:spPr>
          <a:xfrm>
            <a:off x="10058400" y="4160520"/>
            <a:ext cx="155448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0" y="417880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computational</a:t>
            </a:r>
          </a:p>
        </p:txBody>
      </p:sp>
      <p:sp>
        <p:nvSpPr>
          <p:cNvPr id="31" name="Rectangle 30"/>
          <p:cNvSpPr/>
          <p:nvPr/>
        </p:nvSpPr>
        <p:spPr>
          <a:xfrm>
            <a:off x="457200" y="498348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983480"/>
            <a:ext cx="91440" cy="10972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5166360"/>
            <a:ext cx="777240"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516636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Q4</a:t>
            </a:r>
          </a:p>
        </p:txBody>
      </p:sp>
      <p:sp>
        <p:nvSpPr>
          <p:cNvPr id="35" name="TextBox 34"/>
          <p:cNvSpPr txBox="1"/>
          <p:nvPr/>
        </p:nvSpPr>
        <p:spPr>
          <a:xfrm>
            <a:off x="1600200" y="5120640"/>
            <a:ext cx="7772400" cy="215444"/>
          </a:xfrm>
          <a:prstGeom prst="rect">
            <a:avLst/>
          </a:prstGeom>
          <a:noFill/>
        </p:spPr>
        <p:txBody>
          <a:bodyPr wrap="square" lIns="0" tIns="0" rIns="0" bIns="0" anchor="t">
            <a:spAutoFit/>
          </a:bodyPr>
          <a:lstStyle/>
          <a:p>
            <a:pPr algn="l"/>
            <a:r>
              <a:rPr sz="1400" b="1" i="0" dirty="0">
                <a:solidFill>
                  <a:srgbClr val="1E293B"/>
                </a:solidFill>
                <a:latin typeface="Calibri"/>
              </a:rPr>
              <a:t>Retentate weight?</a:t>
            </a:r>
            <a:r>
              <a:rPr lang="en-US" sz="1400" b="1" i="0" dirty="0">
                <a:solidFill>
                  <a:srgbClr val="1E293B"/>
                </a:solidFill>
                <a:latin typeface="Calibri"/>
              </a:rPr>
              <a:t> (GPT question)</a:t>
            </a:r>
            <a:endParaRPr sz="1400" b="1" i="0" dirty="0">
              <a:solidFill>
                <a:srgbClr val="1E293B"/>
              </a:solidFill>
              <a:latin typeface="Calibri"/>
            </a:endParaRPr>
          </a:p>
        </p:txBody>
      </p:sp>
      <p:sp>
        <p:nvSpPr>
          <p:cNvPr id="36" name="TextBox 35"/>
          <p:cNvSpPr txBox="1"/>
          <p:nvPr/>
        </p:nvSpPr>
        <p:spPr>
          <a:xfrm>
            <a:off x="1600200" y="5486400"/>
            <a:ext cx="7772400" cy="548640"/>
          </a:xfrm>
          <a:prstGeom prst="rect">
            <a:avLst/>
          </a:prstGeom>
          <a:noFill/>
        </p:spPr>
        <p:txBody>
          <a:bodyPr wrap="square" lIns="0" tIns="0" rIns="0" bIns="0" anchor="t">
            <a:spAutoFit/>
          </a:bodyPr>
          <a:lstStyle/>
          <a:p>
            <a:pPr algn="l"/>
            <a:r>
              <a:rPr sz="1200" b="0" i="0">
                <a:solidFill>
                  <a:srgbClr val="1E293B"/>
                </a:solidFill>
                <a:latin typeface="Calibri"/>
              </a:rPr>
              <a:t>Is 0.3% the right standard deviation for the in-line retentate conductivity probe? If actual noise is 1-2%, the cF term currently dominates the WSSE by 9-44× relative to truth. Easy sensitivity test.</a:t>
            </a:r>
          </a:p>
        </p:txBody>
      </p:sp>
      <p:sp>
        <p:nvSpPr>
          <p:cNvPr id="37" name="Rectangle 36"/>
          <p:cNvSpPr/>
          <p:nvPr/>
        </p:nvSpPr>
        <p:spPr>
          <a:xfrm>
            <a:off x="10058400" y="5349240"/>
            <a:ext cx="155448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0" y="536752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both</a:t>
            </a:r>
          </a:p>
        </p:txBody>
      </p:sp>
      <p:sp>
        <p:nvSpPr>
          <p:cNvPr id="39" name="Rectangle 38"/>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41" name="TextBox 40"/>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9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03 · REPRODUCIBILITY</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03</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lang="en-US" sz="2600" b="1" i="0" dirty="0">
                <a:solidFill>
                  <a:srgbClr val="21295C"/>
                </a:solidFill>
                <a:latin typeface="Calibri"/>
              </a:rPr>
              <a:t>Byte-i</a:t>
            </a:r>
            <a:r>
              <a:rPr sz="2600" b="1" i="0" dirty="0">
                <a:solidFill>
                  <a:srgbClr val="21295C"/>
                </a:solidFill>
                <a:latin typeface="Calibri"/>
              </a:rPr>
              <a:t>dentical replication of DATA1 + DATA2 published figures</a:t>
            </a:r>
          </a:p>
        </p:txBody>
      </p:sp>
      <p:sp>
        <p:nvSpPr>
          <p:cNvPr id="7" name="Rectangle 6"/>
          <p:cNvSpPr/>
          <p:nvPr/>
        </p:nvSpPr>
        <p:spPr>
          <a:xfrm>
            <a:off x="457200" y="1417320"/>
            <a:ext cx="5486400" cy="3657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44752"/>
            <a:ext cx="5486400" cy="184666"/>
          </a:xfrm>
          <a:prstGeom prst="rect">
            <a:avLst/>
          </a:prstGeom>
          <a:noFill/>
        </p:spPr>
        <p:txBody>
          <a:bodyPr wrap="square" lIns="0" tIns="0" rIns="0" bIns="0" anchor="t">
            <a:spAutoFit/>
          </a:bodyPr>
          <a:lstStyle/>
          <a:p>
            <a:pPr algn="ctr"/>
            <a:r>
              <a:rPr sz="1200" b="1" i="0" dirty="0">
                <a:solidFill>
                  <a:srgbClr val="FFFFFF"/>
                </a:solidFill>
                <a:latin typeface="Calibri"/>
              </a:rPr>
              <a:t>DATA1 — Apparatus Figure 2 (</a:t>
            </a:r>
            <a:r>
              <a:rPr sz="1200" b="1" i="0" dirty="0" err="1">
                <a:solidFill>
                  <a:srgbClr val="FFFFFF"/>
                </a:solidFill>
                <a:latin typeface="Calibri"/>
              </a:rPr>
              <a:t>KCl</a:t>
            </a:r>
            <a:r>
              <a:rPr sz="1200" b="1" i="0" dirty="0">
                <a:solidFill>
                  <a:srgbClr val="FFFFFF"/>
                </a:solidFill>
                <a:latin typeface="Calibri"/>
              </a:rPr>
              <a:t> mass</a:t>
            </a:r>
            <a:r>
              <a:rPr lang="en-US" sz="1200" b="1" i="0" dirty="0">
                <a:solidFill>
                  <a:srgbClr val="FFFFFF"/>
                </a:solidFill>
                <a:latin typeface="Calibri"/>
              </a:rPr>
              <a:t>, concentration</a:t>
            </a:r>
            <a:r>
              <a:rPr sz="1200" b="1" i="0" dirty="0">
                <a:solidFill>
                  <a:srgbClr val="FFFFFF"/>
                </a:solidFill>
                <a:latin typeface="Calibri"/>
              </a:rPr>
              <a:t> vs time)</a:t>
            </a:r>
          </a:p>
        </p:txBody>
      </p:sp>
      <p:pic>
        <p:nvPicPr>
          <p:cNvPr id="9" name="Picture 8" descr="_v3_mass_BEFORE_trim.png"/>
          <p:cNvPicPr>
            <a:picLocks noChangeAspect="1"/>
          </p:cNvPicPr>
          <p:nvPr/>
        </p:nvPicPr>
        <p:blipFill>
          <a:blip r:embed="rId2"/>
          <a:stretch>
            <a:fillRect/>
          </a:stretch>
        </p:blipFill>
        <p:spPr>
          <a:xfrm>
            <a:off x="12820376" y="2194560"/>
            <a:ext cx="5029200" cy="4206240"/>
          </a:xfrm>
          <a:prstGeom prst="rect">
            <a:avLst/>
          </a:prstGeom>
        </p:spPr>
      </p:pic>
      <p:sp>
        <p:nvSpPr>
          <p:cNvPr id="10" name="Rectangle 9"/>
          <p:cNvSpPr/>
          <p:nvPr/>
        </p:nvSpPr>
        <p:spPr>
          <a:xfrm>
            <a:off x="6263640" y="1417320"/>
            <a:ext cx="548640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444752"/>
            <a:ext cx="5486400" cy="184666"/>
          </a:xfrm>
          <a:prstGeom prst="rect">
            <a:avLst/>
          </a:prstGeom>
          <a:noFill/>
        </p:spPr>
        <p:txBody>
          <a:bodyPr wrap="square" lIns="0" tIns="0" rIns="0" bIns="0" anchor="t">
            <a:spAutoFit/>
          </a:bodyPr>
          <a:lstStyle/>
          <a:p>
            <a:pPr algn="ctr"/>
            <a:r>
              <a:rPr sz="1200" b="1" i="0" dirty="0">
                <a:solidFill>
                  <a:srgbClr val="21295C"/>
                </a:solidFill>
                <a:latin typeface="Calibri"/>
              </a:rPr>
              <a:t>DATA2 — Lag-mode Figure 6 (</a:t>
            </a:r>
            <a:r>
              <a:rPr sz="1200" b="1" i="0" dirty="0" err="1">
                <a:solidFill>
                  <a:srgbClr val="21295C"/>
                </a:solidFill>
                <a:latin typeface="Calibri"/>
              </a:rPr>
              <a:t>KCl</a:t>
            </a:r>
            <a:r>
              <a:rPr sz="1200" b="1" i="0" dirty="0">
                <a:solidFill>
                  <a:srgbClr val="21295C"/>
                </a:solidFill>
                <a:latin typeface="Calibri"/>
              </a:rPr>
              <a:t>)</a:t>
            </a:r>
          </a:p>
        </p:txBody>
      </p:sp>
      <p:pic>
        <p:nvPicPr>
          <p:cNvPr id="12" name="Picture 11" descr="_v3_mass_AFTER_trim.png"/>
          <p:cNvPicPr>
            <a:picLocks noChangeAspect="1"/>
          </p:cNvPicPr>
          <p:nvPr/>
        </p:nvPicPr>
        <p:blipFill>
          <a:blip r:embed="rId3"/>
          <a:stretch>
            <a:fillRect/>
          </a:stretch>
        </p:blipFill>
        <p:spPr>
          <a:xfrm>
            <a:off x="14054815" y="1325880"/>
            <a:ext cx="5029200" cy="4206240"/>
          </a:xfrm>
          <a:prstGeom prst="rect">
            <a:avLst/>
          </a:prstGeom>
        </p:spPr>
      </p:pic>
      <p:sp>
        <p:nvSpPr>
          <p:cNvPr id="13" name="TextBox 12"/>
          <p:cNvSpPr txBox="1"/>
          <p:nvPr/>
        </p:nvSpPr>
        <p:spPr>
          <a:xfrm>
            <a:off x="457200" y="6263640"/>
            <a:ext cx="11247120" cy="274320"/>
          </a:xfrm>
          <a:prstGeom prst="rect">
            <a:avLst/>
          </a:prstGeom>
          <a:noFill/>
        </p:spPr>
        <p:txBody>
          <a:bodyPr wrap="square" lIns="0" tIns="0" rIns="0" bIns="0" anchor="t">
            <a:spAutoFit/>
          </a:bodyPr>
          <a:lstStyle/>
          <a:p>
            <a:pPr algn="ctr"/>
            <a:r>
              <a:rPr sz="1100" b="0" i="1">
                <a:solidFill>
                  <a:srgbClr val="64748B"/>
                </a:solidFill>
                <a:latin typeface="Calibri"/>
              </a:rPr>
              <a:t>manifest_default calls materialize_all with the exact same args the legacy runfile used — no extra_opts overrides flow through; conductivity_paper.py stays frozen.</a:t>
            </a:r>
          </a:p>
        </p:txBody>
      </p:sp>
      <p:sp>
        <p:nvSpPr>
          <p:cNvPr id="14" name="Rectangle 1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16" name="TextBox 15"/>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3 / 10</a:t>
            </a:r>
          </a:p>
        </p:txBody>
      </p:sp>
      <p:pic>
        <p:nvPicPr>
          <p:cNvPr id="20" name="Picture 19" descr="A group of graphs with different colored lines&#10;&#10;AI-generated content may be incorrect.">
            <a:extLst>
              <a:ext uri="{FF2B5EF4-FFF2-40B4-BE49-F238E27FC236}">
                <a16:creationId xmlns:a16="http://schemas.microsoft.com/office/drawing/2014/main" id="{671DD577-9A64-651B-E01A-4CA6941EF435}"/>
              </a:ext>
            </a:extLst>
          </p:cNvPr>
          <p:cNvPicPr>
            <a:picLocks noChangeAspect="1"/>
          </p:cNvPicPr>
          <p:nvPr/>
        </p:nvPicPr>
        <p:blipFill>
          <a:blip r:embed="rId4"/>
          <a:stretch>
            <a:fillRect/>
          </a:stretch>
        </p:blipFill>
        <p:spPr>
          <a:xfrm>
            <a:off x="1097280" y="1801368"/>
            <a:ext cx="4389121" cy="4417622"/>
          </a:xfrm>
          <a:prstGeom prst="rect">
            <a:avLst/>
          </a:prstGeom>
        </p:spPr>
      </p:pic>
      <p:pic>
        <p:nvPicPr>
          <p:cNvPr id="22" name="Picture 21" descr="A group of graphs showing different types of cell mass&#10;&#10;AI-generated content may be incorrect.">
            <a:extLst>
              <a:ext uri="{FF2B5EF4-FFF2-40B4-BE49-F238E27FC236}">
                <a16:creationId xmlns:a16="http://schemas.microsoft.com/office/drawing/2014/main" id="{2F778086-1ECB-8914-4F1D-1037323C9E78}"/>
              </a:ext>
            </a:extLst>
          </p:cNvPr>
          <p:cNvPicPr>
            <a:picLocks noChangeAspect="1"/>
          </p:cNvPicPr>
          <p:nvPr/>
        </p:nvPicPr>
        <p:blipFill>
          <a:blip r:embed="rId5"/>
          <a:stretch>
            <a:fillRect/>
          </a:stretch>
        </p:blipFill>
        <p:spPr>
          <a:xfrm>
            <a:off x="6178788" y="2126192"/>
            <a:ext cx="5747544" cy="365103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04 · DATA3 FIRST RUN</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04</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DATA3 first run: same code, three salts — three distinct failure patterns</a:t>
            </a:r>
          </a:p>
        </p:txBody>
      </p:sp>
      <mc:AlternateContent xmlns:mc="http://schemas.openxmlformats.org/markup-compatibility/2006">
        <mc:Choice xmlns:a14="http://schemas.microsoft.com/office/drawing/2010/main" Requires="a14">
          <p:sp>
            <p:nvSpPr>
              <p:cNvPr id="7" name="TextBox 6"/>
              <p:cNvSpPr txBox="1"/>
              <p:nvPr/>
            </p:nvSpPr>
            <p:spPr>
              <a:xfrm>
                <a:off x="457200" y="1371600"/>
                <a:ext cx="11247120" cy="430887"/>
              </a:xfrm>
              <a:prstGeom prst="rect">
                <a:avLst/>
              </a:prstGeom>
              <a:noFill/>
            </p:spPr>
            <p:txBody>
              <a:bodyPr wrap="square" lIns="0" tIns="0" rIns="0" bIns="0" anchor="t">
                <a:spAutoFit/>
              </a:bodyPr>
              <a:lstStyle/>
              <a:p>
                <a:pPr algn="l"/>
                <a:r>
                  <a:rPr sz="1400" b="0" i="1" dirty="0">
                    <a:solidFill>
                      <a:srgbClr val="1E293B"/>
                    </a:solidFill>
                    <a:latin typeface="Calibri"/>
                  </a:rPr>
                  <a:t>First DATA3 fit on the 11 single-salt sheets. Same WSSE objective:  </a:t>
                </a:r>
                <a14:m>
                  <m:oMath xmlns:m="http://schemas.openxmlformats.org/officeDocument/2006/math">
                    <m:r>
                      <a:rPr lang="el-GR" sz="1400" b="0" i="1" dirty="0" smtClean="0">
                        <a:solidFill>
                          <a:srgbClr val="1E293B"/>
                        </a:solidFill>
                        <a:latin typeface="Cambria Math" panose="02040503050406030204" pitchFamily="18" charset="0"/>
                      </a:rPr>
                      <m:t>𝑂𝑏𝑗</m:t>
                    </m:r>
                    <m:r>
                      <a:rPr lang="el-GR" sz="1400" b="0" i="1" dirty="0" smtClean="0">
                        <a:solidFill>
                          <a:srgbClr val="1E293B"/>
                        </a:solidFill>
                        <a:latin typeface="Cambria Math" panose="02040503050406030204" pitchFamily="18" charset="0"/>
                      </a:rPr>
                      <m:t> = 1</m:t>
                    </m:r>
                    <m:r>
                      <a:rPr lang="el-GR" sz="1400" b="0" i="1" dirty="0" smtClean="0">
                        <a:solidFill>
                          <a:srgbClr val="1E293B"/>
                        </a:solidFill>
                        <a:latin typeface="Cambria Math" panose="02040503050406030204" pitchFamily="18" charset="0"/>
                      </a:rPr>
                      <m:t>𝑒</m:t>
                    </m:r>
                    <m:r>
                      <a:rPr lang="el-GR" sz="1400" b="0" i="1" dirty="0" smtClean="0">
                        <a:solidFill>
                          <a:srgbClr val="1E293B"/>
                        </a:solidFill>
                        <a:latin typeface="Cambria Math" panose="02040503050406030204" pitchFamily="18" charset="0"/>
                      </a:rPr>
                      <m:t>4 · ( </m:t>
                    </m:r>
                    <m:r>
                      <m:rPr>
                        <m:sty m:val="p"/>
                      </m:rPr>
                      <a:rPr lang="el-GR" sz="1400" b="0" i="0" dirty="0" err="1">
                        <a:solidFill>
                          <a:srgbClr val="1E293B"/>
                        </a:solidFill>
                        <a:latin typeface="Cambria Math" panose="02040503050406030204" pitchFamily="18" charset="0"/>
                      </a:rPr>
                      <m:t>Σ</m:t>
                    </m:r>
                    <m:r>
                      <a:rPr lang="el-GR" sz="1400" b="0" i="1" dirty="0">
                        <a:solidFill>
                          <a:srgbClr val="1E293B"/>
                        </a:solidFill>
                        <a:latin typeface="Cambria Math" panose="02040503050406030204" pitchFamily="18" charset="0"/>
                      </a:rPr>
                      <m:t> (</m:t>
                    </m:r>
                    <m:r>
                      <m:rPr>
                        <m:sty m:val="p"/>
                      </m:rPr>
                      <a:rPr lang="el-GR" sz="1400" b="0" i="0" dirty="0" err="1">
                        <a:solidFill>
                          <a:srgbClr val="1E293B"/>
                        </a:solidFill>
                        <a:latin typeface="Cambria Math" panose="02040503050406030204" pitchFamily="18" charset="0"/>
                      </a:rPr>
                      <m:t>Δ</m:t>
                    </m:r>
                    <m:r>
                      <a:rPr lang="el-GR" sz="1400" b="0" i="1" dirty="0" err="1">
                        <a:solidFill>
                          <a:srgbClr val="1E293B"/>
                        </a:solidFill>
                        <a:latin typeface="Cambria Math" panose="02040503050406030204" pitchFamily="18" charset="0"/>
                      </a:rPr>
                      <m:t>𝑚</m:t>
                    </m:r>
                    <m:r>
                      <a:rPr lang="el-GR" sz="1400" b="0" i="1" dirty="0">
                        <a:solidFill>
                          <a:srgbClr val="1E293B"/>
                        </a:solidFill>
                        <a:latin typeface="Cambria Math" panose="02040503050406030204" pitchFamily="18" charset="0"/>
                      </a:rPr>
                      <m:t>/0.01)²/</m:t>
                    </m:r>
                    <m:r>
                      <a:rPr lang="el-GR" sz="1400" b="0" i="1" dirty="0" err="1">
                        <a:solidFill>
                          <a:srgbClr val="1E293B"/>
                        </a:solidFill>
                        <a:latin typeface="Cambria Math" panose="02040503050406030204" pitchFamily="18" charset="0"/>
                      </a:rPr>
                      <m:t>𝑁</m:t>
                    </m:r>
                    <m:r>
                      <a:rPr lang="el-GR" sz="1400" b="0" i="1" dirty="0" err="1">
                        <a:solidFill>
                          <a:srgbClr val="1E293B"/>
                        </a:solidFill>
                        <a:latin typeface="Cambria Math" panose="02040503050406030204" pitchFamily="18" charset="0"/>
                      </a:rPr>
                      <m:t>_</m:t>
                    </m:r>
                    <m:r>
                      <a:rPr lang="el-GR" sz="1400" b="0" i="1" dirty="0" err="1">
                        <a:solidFill>
                          <a:srgbClr val="1E293B"/>
                        </a:solidFill>
                        <a:latin typeface="Cambria Math" panose="02040503050406030204" pitchFamily="18" charset="0"/>
                      </a:rPr>
                      <m:t>𝑚</m:t>
                    </m:r>
                    <m:r>
                      <a:rPr lang="el-GR" sz="1400" b="0" i="1" dirty="0">
                        <a:solidFill>
                          <a:srgbClr val="1E293B"/>
                        </a:solidFill>
                        <a:latin typeface="Cambria Math" panose="02040503050406030204" pitchFamily="18" charset="0"/>
                      </a:rPr>
                      <m:t>  +  </m:t>
                    </m:r>
                    <m:r>
                      <m:rPr>
                        <m:sty m:val="p"/>
                      </m:rPr>
                      <a:rPr lang="el-GR" sz="1400" b="0" i="0" dirty="0" err="1">
                        <a:solidFill>
                          <a:srgbClr val="1E293B"/>
                        </a:solidFill>
                        <a:latin typeface="Cambria Math" panose="02040503050406030204" pitchFamily="18" charset="0"/>
                      </a:rPr>
                      <m:t>Σ</m:t>
                    </m:r>
                    <m:r>
                      <a:rPr lang="el-GR" sz="1400" b="0" i="1" dirty="0">
                        <a:solidFill>
                          <a:srgbClr val="1E293B"/>
                        </a:solidFill>
                        <a:latin typeface="Cambria Math" panose="02040503050406030204" pitchFamily="18" charset="0"/>
                      </a:rPr>
                      <m:t> (</m:t>
                    </m:r>
                    <m:r>
                      <m:rPr>
                        <m:sty m:val="p"/>
                      </m:rPr>
                      <a:rPr lang="el-GR" sz="1400" b="0" i="0" dirty="0" err="1">
                        <a:solidFill>
                          <a:srgbClr val="1E293B"/>
                        </a:solidFill>
                        <a:latin typeface="Cambria Math" panose="02040503050406030204" pitchFamily="18" charset="0"/>
                      </a:rPr>
                      <m:t>Δ</m:t>
                    </m:r>
                    <m:r>
                      <a:rPr lang="el-GR" sz="1400" b="0" i="1" dirty="0" err="1">
                        <a:solidFill>
                          <a:srgbClr val="1E293B"/>
                        </a:solidFill>
                        <a:latin typeface="Cambria Math" panose="02040503050406030204" pitchFamily="18" charset="0"/>
                      </a:rPr>
                      <m:t>𝑐𝑣</m:t>
                    </m:r>
                    <m:r>
                      <a:rPr lang="el-GR" sz="1400" b="0" i="1" dirty="0">
                        <a:solidFill>
                          <a:srgbClr val="1E293B"/>
                        </a:solidFill>
                        <a:latin typeface="Cambria Math" panose="02040503050406030204" pitchFamily="18" charset="0"/>
                      </a:rPr>
                      <m:t>/(0.03·</m:t>
                    </m:r>
                    <m:r>
                      <a:rPr lang="el-GR" sz="1400" b="0" i="1" dirty="0">
                        <a:solidFill>
                          <a:srgbClr val="1E293B"/>
                        </a:solidFill>
                        <a:latin typeface="Cambria Math" panose="02040503050406030204" pitchFamily="18" charset="0"/>
                      </a:rPr>
                      <m:t>𝑐𝑣</m:t>
                    </m:r>
                    <m:r>
                      <a:rPr lang="el-GR" sz="1400" b="0" i="1" dirty="0">
                        <a:solidFill>
                          <a:srgbClr val="1E293B"/>
                        </a:solidFill>
                        <a:latin typeface="Cambria Math" panose="02040503050406030204" pitchFamily="18" charset="0"/>
                      </a:rPr>
                      <m:t>))²/</m:t>
                    </m:r>
                    <m:r>
                      <a:rPr lang="el-GR" sz="1400" b="0" i="1" dirty="0" err="1">
                        <a:solidFill>
                          <a:srgbClr val="1E293B"/>
                        </a:solidFill>
                        <a:latin typeface="Cambria Math" panose="02040503050406030204" pitchFamily="18" charset="0"/>
                      </a:rPr>
                      <m:t>𝑁</m:t>
                    </m:r>
                    <m:r>
                      <a:rPr lang="el-GR" sz="1400" b="0" i="1" dirty="0" err="1">
                        <a:solidFill>
                          <a:srgbClr val="1E293B"/>
                        </a:solidFill>
                        <a:latin typeface="Cambria Math" panose="02040503050406030204" pitchFamily="18" charset="0"/>
                      </a:rPr>
                      <m:t>_</m:t>
                    </m:r>
                    <m:r>
                      <a:rPr lang="el-GR" sz="1400" b="0" i="1" dirty="0" err="1">
                        <a:solidFill>
                          <a:srgbClr val="1E293B"/>
                        </a:solidFill>
                        <a:latin typeface="Cambria Math" panose="02040503050406030204" pitchFamily="18" charset="0"/>
                      </a:rPr>
                      <m:t>𝑣</m:t>
                    </m:r>
                    <m:r>
                      <a:rPr lang="el-GR" sz="1400" b="0" i="1" dirty="0">
                        <a:solidFill>
                          <a:srgbClr val="1E293B"/>
                        </a:solidFill>
                        <a:latin typeface="Cambria Math" panose="02040503050406030204" pitchFamily="18" charset="0"/>
                      </a:rPr>
                      <m:t>  +  </m:t>
                    </m:r>
                    <m:r>
                      <m:rPr>
                        <m:sty m:val="p"/>
                      </m:rPr>
                      <a:rPr lang="el-GR" sz="1400" b="0" i="0" dirty="0" err="1">
                        <a:solidFill>
                          <a:srgbClr val="1E293B"/>
                        </a:solidFill>
                        <a:latin typeface="Cambria Math" panose="02040503050406030204" pitchFamily="18" charset="0"/>
                      </a:rPr>
                      <m:t>Σ</m:t>
                    </m:r>
                    <m:r>
                      <a:rPr lang="el-GR" sz="1400" b="0" i="1" dirty="0">
                        <a:solidFill>
                          <a:srgbClr val="1E293B"/>
                        </a:solidFill>
                        <a:latin typeface="Cambria Math" panose="02040503050406030204" pitchFamily="18" charset="0"/>
                      </a:rPr>
                      <m:t> (</m:t>
                    </m:r>
                    <m:r>
                      <m:rPr>
                        <m:sty m:val="p"/>
                      </m:rPr>
                      <a:rPr lang="el-GR" sz="1400" b="0" i="0" dirty="0" err="1">
                        <a:solidFill>
                          <a:srgbClr val="1E293B"/>
                        </a:solidFill>
                        <a:latin typeface="Cambria Math" panose="02040503050406030204" pitchFamily="18" charset="0"/>
                      </a:rPr>
                      <m:t>Δ</m:t>
                    </m:r>
                    <m:r>
                      <a:rPr lang="el-GR" sz="1400" b="0" i="1" dirty="0" err="1">
                        <a:solidFill>
                          <a:srgbClr val="1E293B"/>
                        </a:solidFill>
                        <a:latin typeface="Cambria Math" panose="02040503050406030204" pitchFamily="18" charset="0"/>
                      </a:rPr>
                      <m:t>𝑐𝑓</m:t>
                    </m:r>
                    <m:r>
                      <a:rPr lang="el-GR" sz="1400" b="0" i="1" dirty="0">
                        <a:solidFill>
                          <a:srgbClr val="1E293B"/>
                        </a:solidFill>
                        <a:latin typeface="Cambria Math" panose="02040503050406030204" pitchFamily="18" charset="0"/>
                      </a:rPr>
                      <m:t>/(0.003·</m:t>
                    </m:r>
                    <m:r>
                      <a:rPr lang="el-GR" sz="1400" b="0" i="1" dirty="0">
                        <a:solidFill>
                          <a:srgbClr val="1E293B"/>
                        </a:solidFill>
                        <a:latin typeface="Cambria Math" panose="02040503050406030204" pitchFamily="18" charset="0"/>
                      </a:rPr>
                      <m:t>𝑐𝑓</m:t>
                    </m:r>
                    <m:r>
                      <a:rPr lang="el-GR" sz="1400" b="0" i="1" dirty="0">
                        <a:solidFill>
                          <a:srgbClr val="1E293B"/>
                        </a:solidFill>
                        <a:latin typeface="Cambria Math" panose="02040503050406030204" pitchFamily="18" charset="0"/>
                      </a:rPr>
                      <m:t>))²/</m:t>
                    </m:r>
                    <m:r>
                      <a:rPr lang="el-GR" sz="1400" b="0" i="1" dirty="0" err="1">
                        <a:solidFill>
                          <a:srgbClr val="1E293B"/>
                        </a:solidFill>
                        <a:latin typeface="Cambria Math" panose="02040503050406030204" pitchFamily="18" charset="0"/>
                      </a:rPr>
                      <m:t>𝑁</m:t>
                    </m:r>
                    <m:r>
                      <a:rPr lang="el-GR" sz="1400" b="0" i="1" dirty="0" err="1">
                        <a:solidFill>
                          <a:srgbClr val="1E293B"/>
                        </a:solidFill>
                        <a:latin typeface="Cambria Math" panose="02040503050406030204" pitchFamily="18" charset="0"/>
                      </a:rPr>
                      <m:t>_</m:t>
                    </m:r>
                    <m:r>
                      <a:rPr lang="el-GR" sz="1400" b="0" i="1" dirty="0" err="1">
                        <a:solidFill>
                          <a:srgbClr val="1E293B"/>
                        </a:solidFill>
                        <a:latin typeface="Cambria Math" panose="02040503050406030204" pitchFamily="18" charset="0"/>
                      </a:rPr>
                      <m:t>𝑟</m:t>
                    </m:r>
                    <m:r>
                      <a:rPr lang="el-GR" sz="1400" b="0" i="1" dirty="0">
                        <a:solidFill>
                          <a:srgbClr val="1E293B"/>
                        </a:solidFill>
                        <a:latin typeface="Cambria Math" panose="02040503050406030204" pitchFamily="18" charset="0"/>
                      </a:rPr>
                      <m:t> )</m:t>
                    </m:r>
                  </m:oMath>
                </a14:m>
                <a:r>
                  <a:rPr sz="1400" b="0" i="1" dirty="0">
                    <a:solidFill>
                      <a:srgbClr val="1E293B"/>
                    </a:solidFill>
                    <a:latin typeface="Calibri"/>
                  </a:rPr>
                  <a:t>.  Three distinct failure patterns appear — all </a:t>
                </a:r>
                <a:r>
                  <a:rPr sz="1400" b="0" i="1" dirty="0" err="1">
                    <a:solidFill>
                      <a:srgbClr val="1E293B"/>
                    </a:solidFill>
                    <a:latin typeface="Calibri"/>
                  </a:rPr>
                  <a:t>σ</a:t>
                </a:r>
                <a:r>
                  <a:rPr sz="1400" b="0" i="1" dirty="0">
                    <a:solidFill>
                      <a:srgbClr val="1E293B"/>
                    </a:solidFill>
                    <a:latin typeface="Calibri"/>
                  </a:rPr>
                  <a:t>-pathologies, not data bugs:</a:t>
                </a:r>
              </a:p>
            </p:txBody>
          </p:sp>
        </mc:Choice>
        <mc:Fallback>
          <p:sp>
            <p:nvSpPr>
              <p:cNvPr id="7" name="TextBox 6"/>
              <p:cNvSpPr txBox="1">
                <a:spLocks noRot="1" noChangeAspect="1" noMove="1" noResize="1" noEditPoints="1" noAdjustHandles="1" noChangeArrowheads="1" noChangeShapeType="1" noTextEdit="1"/>
              </p:cNvSpPr>
              <p:nvPr/>
            </p:nvSpPr>
            <p:spPr>
              <a:xfrm>
                <a:off x="457200" y="1371600"/>
                <a:ext cx="11247120" cy="430887"/>
              </a:xfrm>
              <a:prstGeom prst="rect">
                <a:avLst/>
              </a:prstGeom>
              <a:blipFill>
                <a:blip r:embed="rId2"/>
                <a:stretch>
                  <a:fillRect l="-1016" t="-14286" b="-22857"/>
                </a:stretch>
              </a:blipFill>
            </p:spPr>
            <p:txBody>
              <a:bodyPr/>
              <a:lstStyle/>
              <a:p>
                <a:r>
                  <a:rPr lang="en-US">
                    <a:noFill/>
                  </a:rPr>
                  <a:t> </a:t>
                </a:r>
              </a:p>
            </p:txBody>
          </p:sp>
        </mc:Fallback>
      </mc:AlternateContent>
      <p:sp>
        <p:nvSpPr>
          <p:cNvPr id="8" name="Rectangle 7"/>
          <p:cNvSpPr/>
          <p:nvPr/>
        </p:nvSpPr>
        <p:spPr>
          <a:xfrm>
            <a:off x="457200"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11680"/>
            <a:ext cx="3749039"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A — moderate σ↑</a:t>
            </a:r>
          </a:p>
        </p:txBody>
      </p:sp>
      <p:sp>
        <p:nvSpPr>
          <p:cNvPr id="11" name="TextBox 10"/>
          <p:cNvSpPr txBox="1"/>
          <p:nvPr/>
        </p:nvSpPr>
        <p:spPr>
          <a:xfrm>
            <a:off x="640080"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12" name="TextBox 11"/>
          <p:cNvSpPr txBox="1"/>
          <p:nvPr/>
        </p:nvSpPr>
        <p:spPr>
          <a:xfrm>
            <a:off x="640080" y="2834640"/>
            <a:ext cx="3566160" cy="1280160"/>
          </a:xfrm>
          <a:prstGeom prst="rect">
            <a:avLst/>
          </a:prstGeom>
          <a:noFill/>
        </p:spPr>
        <p:txBody>
          <a:bodyPr wrap="square" lIns="0" tIns="0" rIns="0" bIns="0" anchor="t">
            <a:spAutoFit/>
          </a:bodyPr>
          <a:lstStyle/>
          <a:p>
            <a:pPr algn="l"/>
            <a:r>
              <a:rPr sz="1100" b="0" i="0" dirty="0">
                <a:solidFill>
                  <a:srgbClr val="1E293B"/>
                </a:solidFill>
                <a:latin typeface="Calibri"/>
              </a:rPr>
              <a:t>vial-1 prediction overshoots to ~1.5 g; vials 2-10 plateau at 0.7-0.95 g (below the 1.0 g cap).</a:t>
            </a:r>
          </a:p>
        </p:txBody>
      </p:sp>
      <p:sp>
        <p:nvSpPr>
          <p:cNvPr id="13" name="TextBox 12"/>
          <p:cNvSpPr txBox="1"/>
          <p:nvPr/>
        </p:nvSpPr>
        <p:spPr>
          <a:xfrm>
            <a:off x="640080"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14" name="TextBox 13"/>
          <p:cNvSpPr txBox="1"/>
          <p:nvPr/>
        </p:nvSpPr>
        <p:spPr>
          <a:xfrm>
            <a:off x="640080"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matches measured retentate; predicted vial under-predicts ICP-OES by ~30 %.</a:t>
            </a:r>
          </a:p>
        </p:txBody>
      </p:sp>
      <p:sp>
        <p:nvSpPr>
          <p:cNvPr id="15" name="Rectangle 14"/>
          <p:cNvSpPr/>
          <p:nvPr/>
        </p:nvSpPr>
        <p:spPr>
          <a:xfrm>
            <a:off x="4224528"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24528" y="2011680"/>
            <a:ext cx="3749039" cy="3657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24528"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B — σ → 1.0 (degenerate)</a:t>
            </a:r>
          </a:p>
        </p:txBody>
      </p:sp>
      <p:sp>
        <p:nvSpPr>
          <p:cNvPr id="18" name="TextBox 17"/>
          <p:cNvSpPr txBox="1"/>
          <p:nvPr/>
        </p:nvSpPr>
        <p:spPr>
          <a:xfrm>
            <a:off x="4407408"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19" name="TextBox 18"/>
          <p:cNvSpPr txBox="1"/>
          <p:nvPr/>
        </p:nvSpPr>
        <p:spPr>
          <a:xfrm>
            <a:off x="4407408" y="283464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predictions explode to 6-10 g per vial; model thinks much more permeate is flowing than the balance shows.</a:t>
            </a:r>
          </a:p>
        </p:txBody>
      </p:sp>
      <p:sp>
        <p:nvSpPr>
          <p:cNvPr id="20" name="TextBox 19"/>
          <p:cNvSpPr txBox="1"/>
          <p:nvPr/>
        </p:nvSpPr>
        <p:spPr>
          <a:xfrm>
            <a:off x="4407408"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21" name="TextBox 20"/>
          <p:cNvSpPr txBox="1"/>
          <p:nvPr/>
        </p:nvSpPr>
        <p:spPr>
          <a:xfrm>
            <a:off x="4407408"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severely under-predicts (8 vs 22 mM); predicted vial = 0 across the run.</a:t>
            </a:r>
          </a:p>
        </p:txBody>
      </p:sp>
      <p:sp>
        <p:nvSpPr>
          <p:cNvPr id="22" name="Rectangle 21"/>
          <p:cNvSpPr/>
          <p:nvPr/>
        </p:nvSpPr>
        <p:spPr>
          <a:xfrm>
            <a:off x="7991856"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91856" y="2011680"/>
            <a:ext cx="3749039" cy="365760"/>
          </a:xfrm>
          <a:prstGeom prst="rect">
            <a:avLst/>
          </a:prstGeom>
          <a:solidFill>
            <a:srgbClr val="5E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91856"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C — σ↓, over-prediction</a:t>
            </a:r>
          </a:p>
        </p:txBody>
      </p:sp>
      <p:sp>
        <p:nvSpPr>
          <p:cNvPr id="25" name="TextBox 24"/>
          <p:cNvSpPr txBox="1"/>
          <p:nvPr/>
        </p:nvSpPr>
        <p:spPr>
          <a:xfrm>
            <a:off x="8174736"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26" name="TextBox 25"/>
          <p:cNvSpPr txBox="1"/>
          <p:nvPr/>
        </p:nvSpPr>
        <p:spPr>
          <a:xfrm>
            <a:off x="8174736" y="283464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predictions overshoot to 6-12 g per vial — same direction as Mode B but conc plot tells a different story.</a:t>
            </a:r>
          </a:p>
        </p:txBody>
      </p:sp>
      <p:sp>
        <p:nvSpPr>
          <p:cNvPr id="27" name="TextBox 26"/>
          <p:cNvSpPr txBox="1"/>
          <p:nvPr/>
        </p:nvSpPr>
        <p:spPr>
          <a:xfrm>
            <a:off x="8174736"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28" name="TextBox 27"/>
          <p:cNvSpPr txBox="1"/>
          <p:nvPr/>
        </p:nvSpPr>
        <p:spPr>
          <a:xfrm>
            <a:off x="8174736"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&gt; measured retentate (60 vs 43 mM); predicted vial &gt; ICP — model lets too much salt through.</a:t>
            </a:r>
          </a:p>
        </p:txBody>
      </p:sp>
      <p:sp>
        <p:nvSpPr>
          <p:cNvPr id="29" name="Rectangle 28"/>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31" name="TextBox 30"/>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4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06 · LHS MULTISTART</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06</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R10 + R12 — Latin Hypercube multistart over (Lp, σ, B), narrowed boxes</a:t>
            </a:r>
          </a:p>
        </p:txBody>
      </p:sp>
      <p:sp>
        <p:nvSpPr>
          <p:cNvPr id="7" name="Rectangle 6"/>
          <p:cNvSpPr/>
          <p:nvPr/>
        </p:nvSpPr>
        <p:spPr>
          <a:xfrm>
            <a:off x="457200" y="1417320"/>
            <a:ext cx="1124712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81328"/>
            <a:ext cx="1234439" cy="310896"/>
          </a:xfrm>
          <a:prstGeom prst="rect">
            <a:avLst/>
          </a:prstGeom>
          <a:noFill/>
        </p:spPr>
        <p:txBody>
          <a:bodyPr wrap="square" lIns="0" tIns="0" rIns="0" bIns="0" anchor="t">
            <a:spAutoFit/>
          </a:bodyPr>
          <a:lstStyle/>
          <a:p>
            <a:pPr algn="l"/>
            <a:r>
              <a:rPr sz="1100" b="1" i="0">
                <a:solidFill>
                  <a:srgbClr val="FFFFFF"/>
                </a:solidFill>
                <a:latin typeface="Calibri"/>
              </a:rPr>
              <a:t>Stage</a:t>
            </a:r>
          </a:p>
        </p:txBody>
      </p:sp>
      <p:sp>
        <p:nvSpPr>
          <p:cNvPr id="9" name="TextBox 8"/>
          <p:cNvSpPr txBox="1"/>
          <p:nvPr/>
        </p:nvSpPr>
        <p:spPr>
          <a:xfrm>
            <a:off x="1874519" y="1481328"/>
            <a:ext cx="1463039" cy="310896"/>
          </a:xfrm>
          <a:prstGeom prst="rect">
            <a:avLst/>
          </a:prstGeom>
          <a:noFill/>
        </p:spPr>
        <p:txBody>
          <a:bodyPr wrap="square" lIns="0" tIns="0" rIns="0" bIns="0" anchor="t">
            <a:spAutoFit/>
          </a:bodyPr>
          <a:lstStyle/>
          <a:p>
            <a:pPr algn="l"/>
            <a:r>
              <a:rPr sz="1100" b="1" i="0">
                <a:solidFill>
                  <a:srgbClr val="FFFFFF"/>
                </a:solidFill>
                <a:latin typeface="Calibri"/>
              </a:rPr>
              <a:t>Lp box (linear)</a:t>
            </a:r>
          </a:p>
        </p:txBody>
      </p:sp>
      <p:sp>
        <p:nvSpPr>
          <p:cNvPr id="10" name="TextBox 9"/>
          <p:cNvSpPr txBox="1"/>
          <p:nvPr/>
        </p:nvSpPr>
        <p:spPr>
          <a:xfrm>
            <a:off x="3429000" y="1481328"/>
            <a:ext cx="1920240" cy="310896"/>
          </a:xfrm>
          <a:prstGeom prst="rect">
            <a:avLst/>
          </a:prstGeom>
          <a:noFill/>
        </p:spPr>
        <p:txBody>
          <a:bodyPr wrap="square" lIns="0" tIns="0" rIns="0" bIns="0" anchor="t">
            <a:spAutoFit/>
          </a:bodyPr>
          <a:lstStyle/>
          <a:p>
            <a:pPr algn="l"/>
            <a:r>
              <a:rPr sz="1100" b="1" i="0">
                <a:solidFill>
                  <a:srgbClr val="FFFFFF"/>
                </a:solidFill>
                <a:latin typeface="Calibri"/>
              </a:rPr>
              <a:t>σ box</a:t>
            </a:r>
          </a:p>
        </p:txBody>
      </p:sp>
      <p:sp>
        <p:nvSpPr>
          <p:cNvPr id="11" name="TextBox 10"/>
          <p:cNvSpPr txBox="1"/>
          <p:nvPr/>
        </p:nvSpPr>
        <p:spPr>
          <a:xfrm>
            <a:off x="5440679" y="1481328"/>
            <a:ext cx="2651760" cy="310896"/>
          </a:xfrm>
          <a:prstGeom prst="rect">
            <a:avLst/>
          </a:prstGeom>
          <a:noFill/>
        </p:spPr>
        <p:txBody>
          <a:bodyPr wrap="square" lIns="0" tIns="0" rIns="0" bIns="0" anchor="t">
            <a:spAutoFit/>
          </a:bodyPr>
          <a:lstStyle/>
          <a:p>
            <a:pPr algn="l"/>
            <a:r>
              <a:rPr sz="1100" b="1" i="0">
                <a:solidFill>
                  <a:srgbClr val="FFFFFF"/>
                </a:solidFill>
                <a:latin typeface="Calibri"/>
              </a:rPr>
              <a:t>B / beta_0 box (log)</a:t>
            </a:r>
          </a:p>
        </p:txBody>
      </p:sp>
      <p:sp>
        <p:nvSpPr>
          <p:cNvPr id="12" name="TextBox 11"/>
          <p:cNvSpPr txBox="1"/>
          <p:nvPr/>
        </p:nvSpPr>
        <p:spPr>
          <a:xfrm>
            <a:off x="8183879" y="1481328"/>
            <a:ext cx="3520440" cy="310896"/>
          </a:xfrm>
          <a:prstGeom prst="rect">
            <a:avLst/>
          </a:prstGeom>
          <a:noFill/>
        </p:spPr>
        <p:txBody>
          <a:bodyPr wrap="square" lIns="0" tIns="0" rIns="0" bIns="0" anchor="t">
            <a:spAutoFit/>
          </a:bodyPr>
          <a:lstStyle/>
          <a:p>
            <a:pPr algn="l"/>
            <a:r>
              <a:rPr sz="1100" b="1" i="0">
                <a:solidFill>
                  <a:srgbClr val="FFFFFF"/>
                </a:solidFill>
                <a:latin typeface="Calibri"/>
              </a:rPr>
              <a:t>Basin found · Obj value</a:t>
            </a:r>
          </a:p>
        </p:txBody>
      </p:sp>
      <p:sp>
        <p:nvSpPr>
          <p:cNvPr id="13" name="Rectangle 12"/>
          <p:cNvSpPr/>
          <p:nvPr/>
        </p:nvSpPr>
        <p:spPr>
          <a:xfrm>
            <a:off x="457200" y="1965960"/>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965960"/>
            <a:ext cx="91440" cy="594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30552"/>
            <a:ext cx="1234439" cy="274320"/>
          </a:xfrm>
          <a:prstGeom prst="rect">
            <a:avLst/>
          </a:prstGeom>
          <a:noFill/>
        </p:spPr>
        <p:txBody>
          <a:bodyPr wrap="square" lIns="0" tIns="0" rIns="0" bIns="0" anchor="t">
            <a:spAutoFit/>
          </a:bodyPr>
          <a:lstStyle/>
          <a:p>
            <a:pPr algn="l"/>
            <a:r>
              <a:rPr sz="1100" b="1" i="0">
                <a:solidFill>
                  <a:srgbClr val="1E293B"/>
                </a:solidFill>
                <a:latin typeface="Calibri"/>
              </a:rPr>
              <a:t>SINGLE START</a:t>
            </a:r>
          </a:p>
        </p:txBody>
      </p:sp>
      <p:sp>
        <p:nvSpPr>
          <p:cNvPr id="16" name="TextBox 15"/>
          <p:cNvSpPr txBox="1"/>
          <p:nvPr/>
        </p:nvSpPr>
        <p:spPr>
          <a:xfrm>
            <a:off x="1874519" y="2130552"/>
            <a:ext cx="1463039" cy="169277"/>
          </a:xfrm>
          <a:prstGeom prst="rect">
            <a:avLst/>
          </a:prstGeom>
          <a:noFill/>
        </p:spPr>
        <p:txBody>
          <a:bodyPr wrap="square" lIns="0" tIns="0" rIns="0" bIns="0" anchor="t">
            <a:spAutoFit/>
          </a:bodyPr>
          <a:lstStyle/>
          <a:p>
            <a:pPr algn="l"/>
            <a:r>
              <a:rPr sz="1100" b="0" i="0" dirty="0">
                <a:solidFill>
                  <a:srgbClr val="1E293B"/>
                </a:solidFill>
                <a:latin typeface="Calibri"/>
              </a:rPr>
              <a:t>Lp0 = 5</a:t>
            </a:r>
          </a:p>
        </p:txBody>
      </p:sp>
      <p:sp>
        <p:nvSpPr>
          <p:cNvPr id="17" name="TextBox 16"/>
          <p:cNvSpPr txBox="1"/>
          <p:nvPr/>
        </p:nvSpPr>
        <p:spPr>
          <a:xfrm>
            <a:off x="3429000" y="2130552"/>
            <a:ext cx="1920240" cy="274320"/>
          </a:xfrm>
          <a:prstGeom prst="rect">
            <a:avLst/>
          </a:prstGeom>
          <a:noFill/>
        </p:spPr>
        <p:txBody>
          <a:bodyPr wrap="square" lIns="0" tIns="0" rIns="0" bIns="0" anchor="t">
            <a:spAutoFit/>
          </a:bodyPr>
          <a:lstStyle/>
          <a:p>
            <a:pPr algn="l"/>
            <a:r>
              <a:rPr sz="1100" b="0" i="0">
                <a:solidFill>
                  <a:srgbClr val="1E293B"/>
                </a:solidFill>
                <a:latin typeface="Calibri"/>
              </a:rPr>
              <a:t>σ0 = 0.9</a:t>
            </a:r>
          </a:p>
        </p:txBody>
      </p:sp>
      <p:sp>
        <p:nvSpPr>
          <p:cNvPr id="18" name="TextBox 17"/>
          <p:cNvSpPr txBox="1"/>
          <p:nvPr/>
        </p:nvSpPr>
        <p:spPr>
          <a:xfrm>
            <a:off x="5440679" y="2130552"/>
            <a:ext cx="2651760" cy="274320"/>
          </a:xfrm>
          <a:prstGeom prst="rect">
            <a:avLst/>
          </a:prstGeom>
          <a:noFill/>
        </p:spPr>
        <p:txBody>
          <a:bodyPr wrap="square" lIns="0" tIns="0" rIns="0" bIns="0" anchor="t">
            <a:spAutoFit/>
          </a:bodyPr>
          <a:lstStyle/>
          <a:p>
            <a:pPr algn="l"/>
            <a:r>
              <a:rPr sz="1100" b="0" i="0">
                <a:solidFill>
                  <a:srgbClr val="1E293B"/>
                </a:solidFill>
                <a:latin typeface="Calibri"/>
              </a:rPr>
              <a:t>B0 = 0.5</a:t>
            </a:r>
          </a:p>
        </p:txBody>
      </p:sp>
      <p:sp>
        <p:nvSpPr>
          <p:cNvPr id="19" name="TextBox 18"/>
          <p:cNvSpPr txBox="1"/>
          <p:nvPr/>
        </p:nvSpPr>
        <p:spPr>
          <a:xfrm>
            <a:off x="8183879" y="213055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B (σ → 1) · Obj = 2.04 × 10⁸</a:t>
            </a:r>
          </a:p>
        </p:txBody>
      </p:sp>
      <p:sp>
        <p:nvSpPr>
          <p:cNvPr id="20" name="Rectangle 19"/>
          <p:cNvSpPr/>
          <p:nvPr/>
        </p:nvSpPr>
        <p:spPr>
          <a:xfrm>
            <a:off x="457200" y="2560320"/>
            <a:ext cx="11247120"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2560320"/>
            <a:ext cx="91440" cy="5943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724912"/>
            <a:ext cx="1234439" cy="274320"/>
          </a:xfrm>
          <a:prstGeom prst="rect">
            <a:avLst/>
          </a:prstGeom>
          <a:noFill/>
        </p:spPr>
        <p:txBody>
          <a:bodyPr wrap="square" lIns="0" tIns="0" rIns="0" bIns="0" anchor="t">
            <a:spAutoFit/>
          </a:bodyPr>
          <a:lstStyle/>
          <a:p>
            <a:pPr algn="l"/>
            <a:r>
              <a:rPr sz="1100" b="1" i="0">
                <a:solidFill>
                  <a:srgbClr val="1E293B"/>
                </a:solidFill>
                <a:latin typeface="Calibri"/>
              </a:rPr>
              <a:t>LHS R10</a:t>
            </a:r>
          </a:p>
        </p:txBody>
      </p:sp>
      <p:sp>
        <p:nvSpPr>
          <p:cNvPr id="23" name="TextBox 22"/>
          <p:cNvSpPr txBox="1"/>
          <p:nvPr/>
        </p:nvSpPr>
        <p:spPr>
          <a:xfrm>
            <a:off x="1874519" y="2724912"/>
            <a:ext cx="1463039" cy="274320"/>
          </a:xfrm>
          <a:prstGeom prst="rect">
            <a:avLst/>
          </a:prstGeom>
          <a:noFill/>
        </p:spPr>
        <p:txBody>
          <a:bodyPr wrap="square" lIns="0" tIns="0" rIns="0" bIns="0" anchor="t">
            <a:spAutoFit/>
          </a:bodyPr>
          <a:lstStyle/>
          <a:p>
            <a:pPr algn="l"/>
            <a:r>
              <a:rPr sz="1100" b="0" i="0">
                <a:solidFill>
                  <a:srgbClr val="1E293B"/>
                </a:solidFill>
                <a:latin typeface="Calibri"/>
              </a:rPr>
              <a:t>[5, 14]</a:t>
            </a:r>
          </a:p>
        </p:txBody>
      </p:sp>
      <p:sp>
        <p:nvSpPr>
          <p:cNvPr id="24" name="TextBox 23"/>
          <p:cNvSpPr txBox="1"/>
          <p:nvPr/>
        </p:nvSpPr>
        <p:spPr>
          <a:xfrm>
            <a:off x="3429000" y="2724912"/>
            <a:ext cx="1920240" cy="274320"/>
          </a:xfrm>
          <a:prstGeom prst="rect">
            <a:avLst/>
          </a:prstGeom>
          <a:noFill/>
        </p:spPr>
        <p:txBody>
          <a:bodyPr wrap="square" lIns="0" tIns="0" rIns="0" bIns="0" anchor="t">
            <a:spAutoFit/>
          </a:bodyPr>
          <a:lstStyle/>
          <a:p>
            <a:pPr algn="l"/>
            <a:r>
              <a:rPr sz="1100" b="0" i="0">
                <a:solidFill>
                  <a:srgbClr val="1E293B"/>
                </a:solidFill>
                <a:latin typeface="Calibri"/>
              </a:rPr>
              <a:t>(0.10, 0.95)  open</a:t>
            </a:r>
          </a:p>
        </p:txBody>
      </p:sp>
      <p:sp>
        <p:nvSpPr>
          <p:cNvPr id="25" name="TextBox 24"/>
          <p:cNvSpPr txBox="1"/>
          <p:nvPr/>
        </p:nvSpPr>
        <p:spPr>
          <a:xfrm>
            <a:off x="5440679" y="2724912"/>
            <a:ext cx="2651760" cy="274320"/>
          </a:xfrm>
          <a:prstGeom prst="rect">
            <a:avLst/>
          </a:prstGeom>
          <a:noFill/>
        </p:spPr>
        <p:txBody>
          <a:bodyPr wrap="square" lIns="0" tIns="0" rIns="0" bIns="0" anchor="t">
            <a:spAutoFit/>
          </a:bodyPr>
          <a:lstStyle/>
          <a:p>
            <a:pPr algn="l"/>
            <a:r>
              <a:rPr sz="1100" b="0" i="0">
                <a:solidFill>
                  <a:srgbClr val="1E293B"/>
                </a:solidFill>
                <a:latin typeface="Calibri"/>
              </a:rPr>
              <a:t>log [1e-6, 5]</a:t>
            </a:r>
          </a:p>
        </p:txBody>
      </p:sp>
      <p:sp>
        <p:nvSpPr>
          <p:cNvPr id="26" name="TextBox 25"/>
          <p:cNvSpPr txBox="1"/>
          <p:nvPr/>
        </p:nvSpPr>
        <p:spPr>
          <a:xfrm>
            <a:off x="8183879" y="272491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C (σ = 0) · Obj = 4.93 × 10⁷ (4× reduction)</a:t>
            </a:r>
          </a:p>
        </p:txBody>
      </p:sp>
      <p:sp>
        <p:nvSpPr>
          <p:cNvPr id="27" name="Rectangle 26"/>
          <p:cNvSpPr/>
          <p:nvPr/>
        </p:nvSpPr>
        <p:spPr>
          <a:xfrm>
            <a:off x="457200" y="3154679"/>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3154679"/>
            <a:ext cx="91440" cy="594360"/>
          </a:xfrm>
          <a:prstGeom prst="rect">
            <a:avLst/>
          </a:prstGeom>
          <a:solidFill>
            <a:srgbClr val="5E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3319272"/>
            <a:ext cx="1234439" cy="274320"/>
          </a:xfrm>
          <a:prstGeom prst="rect">
            <a:avLst/>
          </a:prstGeom>
          <a:noFill/>
        </p:spPr>
        <p:txBody>
          <a:bodyPr wrap="square" lIns="0" tIns="0" rIns="0" bIns="0" anchor="t">
            <a:spAutoFit/>
          </a:bodyPr>
          <a:lstStyle/>
          <a:p>
            <a:pPr algn="l"/>
            <a:r>
              <a:rPr sz="1100" b="1" i="0">
                <a:solidFill>
                  <a:srgbClr val="1E293B"/>
                </a:solidFill>
                <a:latin typeface="Calibri"/>
              </a:rPr>
              <a:t>LHS R12</a:t>
            </a:r>
          </a:p>
        </p:txBody>
      </p:sp>
      <p:sp>
        <p:nvSpPr>
          <p:cNvPr id="30" name="TextBox 29"/>
          <p:cNvSpPr txBox="1"/>
          <p:nvPr/>
        </p:nvSpPr>
        <p:spPr>
          <a:xfrm>
            <a:off x="1874519" y="3319272"/>
            <a:ext cx="1463039" cy="274320"/>
          </a:xfrm>
          <a:prstGeom prst="rect">
            <a:avLst/>
          </a:prstGeom>
          <a:noFill/>
        </p:spPr>
        <p:txBody>
          <a:bodyPr wrap="square" lIns="0" tIns="0" rIns="0" bIns="0" anchor="t">
            <a:spAutoFit/>
          </a:bodyPr>
          <a:lstStyle/>
          <a:p>
            <a:pPr algn="l"/>
            <a:r>
              <a:rPr sz="1100" b="0" i="0">
                <a:solidFill>
                  <a:srgbClr val="1E293B"/>
                </a:solidFill>
                <a:latin typeface="Calibri"/>
              </a:rPr>
              <a:t>[5, 8] narrowed</a:t>
            </a:r>
          </a:p>
        </p:txBody>
      </p:sp>
      <p:sp>
        <p:nvSpPr>
          <p:cNvPr id="31" name="TextBox 30"/>
          <p:cNvSpPr txBox="1"/>
          <p:nvPr/>
        </p:nvSpPr>
        <p:spPr>
          <a:xfrm>
            <a:off x="3429000" y="3319272"/>
            <a:ext cx="1920240" cy="274320"/>
          </a:xfrm>
          <a:prstGeom prst="rect">
            <a:avLst/>
          </a:prstGeom>
          <a:noFill/>
        </p:spPr>
        <p:txBody>
          <a:bodyPr wrap="square" lIns="0" tIns="0" rIns="0" bIns="0" anchor="t">
            <a:spAutoFit/>
          </a:bodyPr>
          <a:lstStyle/>
          <a:p>
            <a:pPr algn="l"/>
            <a:r>
              <a:rPr sz="1100" b="0" i="0">
                <a:solidFill>
                  <a:srgbClr val="1E293B"/>
                </a:solidFill>
                <a:latin typeface="Calibri"/>
              </a:rPr>
              <a:t>(0.10, 0.95)  open</a:t>
            </a:r>
          </a:p>
        </p:txBody>
      </p:sp>
      <p:sp>
        <p:nvSpPr>
          <p:cNvPr id="32" name="TextBox 31"/>
          <p:cNvSpPr txBox="1"/>
          <p:nvPr/>
        </p:nvSpPr>
        <p:spPr>
          <a:xfrm>
            <a:off x="5440679" y="3319272"/>
            <a:ext cx="2651760" cy="274320"/>
          </a:xfrm>
          <a:prstGeom prst="rect">
            <a:avLst/>
          </a:prstGeom>
          <a:noFill/>
        </p:spPr>
        <p:txBody>
          <a:bodyPr wrap="square" lIns="0" tIns="0" rIns="0" bIns="0" anchor="t">
            <a:spAutoFit/>
          </a:bodyPr>
          <a:lstStyle/>
          <a:p>
            <a:pPr algn="l"/>
            <a:r>
              <a:rPr sz="1100" b="0" i="0">
                <a:solidFill>
                  <a:srgbClr val="1E293B"/>
                </a:solidFill>
                <a:latin typeface="Calibri"/>
              </a:rPr>
              <a:t>log [0.01, 5]</a:t>
            </a:r>
          </a:p>
        </p:txBody>
      </p:sp>
      <p:sp>
        <p:nvSpPr>
          <p:cNvPr id="33" name="TextBox 32"/>
          <p:cNvSpPr txBox="1"/>
          <p:nvPr/>
        </p:nvSpPr>
        <p:spPr>
          <a:xfrm>
            <a:off x="8183879" y="331927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B again · Obj = 6.08 × 10⁹ (cornered)</a:t>
            </a:r>
          </a:p>
        </p:txBody>
      </p:sp>
      <p:sp>
        <p:nvSpPr>
          <p:cNvPr id="34" name="Rectangle 33"/>
          <p:cNvSpPr/>
          <p:nvPr/>
        </p:nvSpPr>
        <p:spPr>
          <a:xfrm>
            <a:off x="457200" y="4434840"/>
            <a:ext cx="11247120" cy="1920240"/>
          </a:xfrm>
          <a:prstGeom prst="rect">
            <a:avLst/>
          </a:prstGeom>
          <a:solidFill>
            <a:srgbClr val="FE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434840"/>
            <a:ext cx="91440" cy="19202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4526280"/>
            <a:ext cx="10972800" cy="365760"/>
          </a:xfrm>
          <a:prstGeom prst="rect">
            <a:avLst/>
          </a:prstGeom>
          <a:noFill/>
        </p:spPr>
        <p:txBody>
          <a:bodyPr wrap="square" lIns="0" tIns="0" rIns="0" bIns="0" anchor="t">
            <a:spAutoFit/>
          </a:bodyPr>
          <a:lstStyle/>
          <a:p>
            <a:pPr algn="l"/>
            <a:r>
              <a:rPr sz="1300" b="1" i="0">
                <a:solidFill>
                  <a:srgbClr val="C9A227"/>
                </a:solidFill>
                <a:latin typeface="Calibri"/>
              </a:rPr>
              <a:t>LHS samples and corner-hopping — what the math says</a:t>
            </a:r>
          </a:p>
        </p:txBody>
      </p:sp>
      <p:sp>
        <p:nvSpPr>
          <p:cNvPr id="37" name="TextBox 36"/>
          <p:cNvSpPr txBox="1"/>
          <p:nvPr/>
        </p:nvSpPr>
        <p:spPr>
          <a:xfrm>
            <a:off x="777240" y="4937760"/>
            <a:ext cx="10789920" cy="1292662"/>
          </a:xfrm>
          <a:prstGeom prst="rect">
            <a:avLst/>
          </a:prstGeom>
          <a:noFill/>
        </p:spPr>
        <p:txBody>
          <a:bodyPr wrap="square" lIns="0" tIns="0" rIns="0" bIns="0">
            <a:spAutoFit/>
          </a:bodyPr>
          <a:lstStyle/>
          <a:p>
            <a:pPr marL="228600" indent="-228600">
              <a:buChar char="•"/>
            </a:pPr>
            <a:r>
              <a:rPr sz="1200" b="0" dirty="0">
                <a:solidFill>
                  <a:srgbClr val="1E293B"/>
                </a:solidFill>
                <a:latin typeface="Calibri"/>
              </a:rPr>
              <a:t>Latin-Hypercube</a:t>
            </a:r>
            <a:r>
              <a:rPr lang="en-US" sz="1200" b="0" dirty="0">
                <a:solidFill>
                  <a:srgbClr val="1E293B"/>
                </a:solidFill>
                <a:latin typeface="Calibri"/>
              </a:rPr>
              <a:t> Sampling used</a:t>
            </a:r>
            <a:endParaRPr lang="en-US" sz="1200" dirty="0">
              <a:solidFill>
                <a:srgbClr val="1E293B"/>
              </a:solidFill>
              <a:latin typeface="Calibri"/>
            </a:endParaRPr>
          </a:p>
          <a:p>
            <a:pPr marL="228600" indent="-228600">
              <a:buChar char="•"/>
            </a:pPr>
            <a:r>
              <a:rPr sz="1200" b="0" dirty="0">
                <a:solidFill>
                  <a:srgbClr val="1E293B"/>
                </a:solidFill>
                <a:latin typeface="Calibri"/>
              </a:rPr>
              <a:t>IPOPT is local. </a:t>
            </a:r>
            <a:r>
              <a:rPr sz="1200" b="0" dirty="0" err="1">
                <a:solidFill>
                  <a:srgbClr val="1E293B"/>
                </a:solidFill>
                <a:latin typeface="Calibri"/>
              </a:rPr>
              <a:t>Multistart</a:t>
            </a:r>
            <a:r>
              <a:rPr sz="1200" b="0" dirty="0">
                <a:solidFill>
                  <a:srgbClr val="1E293B"/>
                </a:solidFill>
                <a:latin typeface="Calibri"/>
              </a:rPr>
              <a:t> is a global-search heuristic: </a:t>
            </a:r>
            <a:r>
              <a:rPr sz="1200" b="0" dirty="0" err="1">
                <a:solidFill>
                  <a:srgbClr val="1E293B"/>
                </a:solidFill>
                <a:latin typeface="Calibri"/>
              </a:rPr>
              <a:t>best_fit</a:t>
            </a:r>
            <a:r>
              <a:rPr sz="1200" b="0" dirty="0">
                <a:solidFill>
                  <a:srgbClr val="1E293B"/>
                </a:solidFill>
                <a:latin typeface="Calibri"/>
              </a:rPr>
              <a:t> = </a:t>
            </a:r>
            <a:r>
              <a:rPr sz="1200" b="0" dirty="0" err="1">
                <a:solidFill>
                  <a:srgbClr val="1E293B"/>
                </a:solidFill>
                <a:latin typeface="Calibri"/>
              </a:rPr>
              <a:t>argmin</a:t>
            </a:r>
            <a:r>
              <a:rPr sz="1200" b="0" dirty="0">
                <a:solidFill>
                  <a:srgbClr val="1E293B"/>
                </a:solidFill>
                <a:latin typeface="Calibri"/>
              </a:rPr>
              <a:t>_{k=1..N} Obj(IPOPT(</a:t>
            </a:r>
            <a:r>
              <a:rPr sz="1200" b="0" dirty="0" err="1">
                <a:solidFill>
                  <a:srgbClr val="1E293B"/>
                </a:solidFill>
                <a:latin typeface="Calibri"/>
              </a:rPr>
              <a:t>θ_k</a:t>
            </a:r>
            <a:r>
              <a:rPr sz="1200" b="0" dirty="0">
                <a:solidFill>
                  <a:srgbClr val="1E293B"/>
                </a:solidFill>
                <a:latin typeface="Calibri"/>
              </a:rPr>
              <a:t>)) over optimal-status runs. Narrowing the LHS box keeps starts inside the physics window but doesn't restrict where IPOPT can terminate.</a:t>
            </a:r>
          </a:p>
          <a:p>
            <a:pPr marL="228600" indent="-228600">
              <a:buChar char="•"/>
            </a:pPr>
            <a:r>
              <a:rPr sz="1200" b="0" dirty="0">
                <a:solidFill>
                  <a:srgbClr val="1E293B"/>
                </a:solidFill>
                <a:latin typeface="Calibri"/>
              </a:rPr>
              <a:t>R10: factor-of-4 Obj cut by escaping Mode B. R12: tightening </a:t>
            </a:r>
            <a:r>
              <a:rPr sz="1200" b="0" dirty="0" err="1">
                <a:solidFill>
                  <a:srgbClr val="1E293B"/>
                </a:solidFill>
                <a:latin typeface="Calibri"/>
              </a:rPr>
              <a:t>Lp</a:t>
            </a:r>
            <a:r>
              <a:rPr sz="1200" b="0" dirty="0">
                <a:solidFill>
                  <a:srgbClr val="1E293B"/>
                </a:solidFill>
                <a:latin typeface="Calibri"/>
              </a:rPr>
              <a:t> to [5,8] removed the upper-</a:t>
            </a:r>
            <a:r>
              <a:rPr sz="1200" b="0" dirty="0" err="1">
                <a:solidFill>
                  <a:srgbClr val="1E293B"/>
                </a:solidFill>
                <a:latin typeface="Calibri"/>
              </a:rPr>
              <a:t>Lp</a:t>
            </a:r>
            <a:r>
              <a:rPr sz="1200" b="0" dirty="0">
                <a:solidFill>
                  <a:srgbClr val="1E293B"/>
                </a:solidFill>
                <a:latin typeface="Calibri"/>
              </a:rPr>
              <a:t> draws but the </a:t>
            </a:r>
            <a:r>
              <a:rPr sz="1200" b="0" dirty="0" err="1">
                <a:solidFill>
                  <a:srgbClr val="1E293B"/>
                </a:solidFill>
                <a:latin typeface="Calibri"/>
              </a:rPr>
              <a:t>σ</a:t>
            </a:r>
            <a:r>
              <a:rPr sz="1200" b="0" dirty="0">
                <a:solidFill>
                  <a:srgbClr val="1E293B"/>
                </a:solidFill>
                <a:latin typeface="Calibri"/>
              </a:rPr>
              <a:t>=1 corner remains attractive when loss-function structure prefers it. Landscape fix has to come from new observables, not box-tightening alone.</a:t>
            </a:r>
          </a:p>
          <a:p>
            <a:pPr marL="228600" indent="-228600">
              <a:buChar char="•"/>
            </a:pPr>
            <a:r>
              <a:rPr sz="1200" b="0" dirty="0" err="1">
                <a:solidFill>
                  <a:srgbClr val="1E293B"/>
                </a:solidFill>
                <a:latin typeface="Calibri"/>
              </a:rPr>
              <a:t>Pyomo</a:t>
            </a:r>
            <a:r>
              <a:rPr sz="1200" b="0" dirty="0">
                <a:solidFill>
                  <a:srgbClr val="1E293B"/>
                </a:solidFill>
                <a:latin typeface="Calibri"/>
              </a:rPr>
              <a:t> Var bounds remain wider than the LHS box: </a:t>
            </a:r>
            <a:r>
              <a:rPr sz="1200" b="0" dirty="0" err="1">
                <a:solidFill>
                  <a:srgbClr val="1E293B"/>
                </a:solidFill>
                <a:latin typeface="Calibri"/>
              </a:rPr>
              <a:t>Lp</a:t>
            </a:r>
            <a:r>
              <a:rPr sz="1200" b="0" dirty="0">
                <a:solidFill>
                  <a:srgbClr val="1E293B"/>
                </a:solidFill>
                <a:latin typeface="Calibri"/>
              </a:rPr>
              <a:t> ∈ (0.5, 50), B ∈ (1e-6, 30), </a:t>
            </a:r>
            <a:r>
              <a:rPr sz="1200" b="0" dirty="0" err="1">
                <a:solidFill>
                  <a:srgbClr val="1E293B"/>
                </a:solidFill>
                <a:latin typeface="Calibri"/>
              </a:rPr>
              <a:t>σ</a:t>
            </a:r>
            <a:r>
              <a:rPr sz="1200" b="0" dirty="0">
                <a:solidFill>
                  <a:srgbClr val="1E293B"/>
                </a:solidFill>
                <a:latin typeface="Calibri"/>
              </a:rPr>
              <a:t> ∈ (0, 1). LHS just controls trial starts; if a corner solution is the true global minimum it will still be reached. The next two slides tackle the loss-function side.</a:t>
            </a:r>
          </a:p>
        </p:txBody>
      </p:sp>
      <p:sp>
        <p:nvSpPr>
          <p:cNvPr id="38" name="Rectangle 37"/>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40" name="TextBox 39"/>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6 / 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07 · MASS SCALING</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07</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Tried per-sheet quadrature (R11) → reverted to DATA2's 0.01 g convention (R13)</a:t>
            </a:r>
          </a:p>
        </p:txBody>
      </p:sp>
      <p:sp>
        <p:nvSpPr>
          <p:cNvPr id="7" name="Rectangle 6"/>
          <p:cNvSpPr/>
          <p:nvPr/>
        </p:nvSpPr>
        <p:spPr>
          <a:xfrm>
            <a:off x="457200" y="1371600"/>
            <a:ext cx="11247120" cy="13716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08760"/>
            <a:ext cx="10515600" cy="365760"/>
          </a:xfrm>
          <a:prstGeom prst="rect">
            <a:avLst/>
          </a:prstGeom>
          <a:noFill/>
        </p:spPr>
        <p:txBody>
          <a:bodyPr wrap="square" lIns="0" tIns="0" rIns="0" bIns="0" anchor="t">
            <a:spAutoFit/>
          </a:bodyPr>
          <a:lstStyle/>
          <a:p>
            <a:pPr algn="l"/>
            <a:r>
              <a:rPr sz="1100" b="1" i="0">
                <a:solidFill>
                  <a:srgbClr val="02C39A"/>
                </a:solidFill>
                <a:latin typeface="Calibri"/>
              </a:rPr>
              <a:t>WSSE MASS TERM — frequentist / MLE reading:</a:t>
            </a:r>
          </a:p>
        </p:txBody>
      </p:sp>
      <p:sp>
        <p:nvSpPr>
          <p:cNvPr id="9" name="TextBox 8"/>
          <p:cNvSpPr txBox="1"/>
          <p:nvPr/>
        </p:nvSpPr>
        <p:spPr>
          <a:xfrm>
            <a:off x="777240" y="1874519"/>
            <a:ext cx="10515600" cy="365760"/>
          </a:xfrm>
          <a:prstGeom prst="rect">
            <a:avLst/>
          </a:prstGeom>
          <a:noFill/>
        </p:spPr>
        <p:txBody>
          <a:bodyPr wrap="square" lIns="0" tIns="0" rIns="0" bIns="0" anchor="t">
            <a:spAutoFit/>
          </a:bodyPr>
          <a:lstStyle/>
          <a:p>
            <a:pPr algn="l"/>
            <a:r>
              <a:rPr sz="1400" b="0" i="0">
                <a:solidFill>
                  <a:srgbClr val="FFFFFF"/>
                </a:solidFill>
                <a:latin typeface="Consolas"/>
              </a:rPr>
              <a:t>obj_m  =  Σ_i ( (m_pred_i − m_meas_i) / mass_scale_g )²    /    N_m</a:t>
            </a:r>
          </a:p>
        </p:txBody>
      </p:sp>
      <p:sp>
        <p:nvSpPr>
          <p:cNvPr id="10" name="TextBox 9"/>
          <p:cNvSpPr txBox="1"/>
          <p:nvPr/>
        </p:nvSpPr>
        <p:spPr>
          <a:xfrm>
            <a:off x="777240" y="2331720"/>
            <a:ext cx="10515600" cy="365760"/>
          </a:xfrm>
          <a:prstGeom prst="rect">
            <a:avLst/>
          </a:prstGeom>
          <a:noFill/>
        </p:spPr>
        <p:txBody>
          <a:bodyPr wrap="square" lIns="0" tIns="0" rIns="0" bIns="0" anchor="t">
            <a:spAutoFit/>
          </a:bodyPr>
          <a:lstStyle/>
          <a:p>
            <a:pPr algn="l"/>
            <a:r>
              <a:rPr sz="1100" b="0" i="1">
                <a:solidFill>
                  <a:srgbClr val="F1F5F9"/>
                </a:solidFill>
                <a:latin typeface="Calibri"/>
              </a:rPr>
              <a:t>Under Gaussian noise N(0, σ²) on m, this is the negative log-likelihood up to a constant. mass_scale_g IS σ — the standard deviation of the noise on a single balance reading. It is a property of the instrument, not of the salt.</a:t>
            </a:r>
          </a:p>
        </p:txBody>
      </p:sp>
      <p:sp>
        <p:nvSpPr>
          <p:cNvPr id="11" name="Rectangle 10"/>
          <p:cNvSpPr/>
          <p:nvPr/>
        </p:nvSpPr>
        <p:spPr>
          <a:xfrm>
            <a:off x="457200" y="2926080"/>
            <a:ext cx="5486400" cy="3383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926080"/>
            <a:ext cx="91440" cy="3383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035808"/>
            <a:ext cx="5029200" cy="365760"/>
          </a:xfrm>
          <a:prstGeom prst="rect">
            <a:avLst/>
          </a:prstGeom>
          <a:noFill/>
        </p:spPr>
        <p:txBody>
          <a:bodyPr wrap="square" lIns="0" tIns="0" rIns="0" bIns="0" anchor="t">
            <a:spAutoFit/>
          </a:bodyPr>
          <a:lstStyle/>
          <a:p>
            <a:pPr algn="l"/>
            <a:r>
              <a:rPr sz="1400" b="1" i="0">
                <a:solidFill>
                  <a:srgbClr val="065A82"/>
                </a:solidFill>
                <a:latin typeface="Calibri"/>
              </a:rPr>
              <a:t>R11 — tried per-sheet quadrature</a:t>
            </a:r>
          </a:p>
        </p:txBody>
      </p:sp>
      <p:sp>
        <p:nvSpPr>
          <p:cNvPr id="14" name="TextBox 13"/>
          <p:cNvSpPr txBox="1"/>
          <p:nvPr/>
        </p:nvSpPr>
        <p:spPr>
          <a:xfrm>
            <a:off x="777240" y="3429000"/>
            <a:ext cx="5029200" cy="2743200"/>
          </a:xfrm>
          <a:prstGeom prst="rect">
            <a:avLst/>
          </a:prstGeom>
          <a:noFill/>
        </p:spPr>
        <p:txBody>
          <a:bodyPr wrap="square" lIns="0" tIns="0" rIns="0" bIns="0">
            <a:spAutoFit/>
          </a:bodyPr>
          <a:lstStyle/>
          <a:p>
            <a:pPr marL="228600" indent="-228600">
              <a:buChar char="•"/>
            </a:pPr>
            <a:r>
              <a:rPr sz="1200" b="0">
                <a:solidFill>
                  <a:srgbClr val="1E293B"/>
                </a:solidFill>
                <a:latin typeface="Calibri"/>
              </a:rPr>
              <a:t>mass_scale_g = sqrt( σ_balance² + (α · |M_F0 − Final|)² ), α = 0.05.</a:t>
            </a:r>
          </a:p>
          <a:p>
            <a:pPr marL="228600" indent="-228600">
              <a:buChar char="•"/>
            </a:pPr>
            <a:r>
              <a:rPr sz="1200" b="0">
                <a:solidFill>
                  <a:srgbClr val="1E293B"/>
                </a:solidFill>
                <a:latin typeface="Calibri"/>
              </a:rPr>
              <a:t>Idea: salt-aware scaling so NaCl/CaCl₂/LaCl₃ each get a sensible mass weight. NaCl: 0.020 g · CaCl₂: 0.013 g · LaCl₃: 0.011 g.</a:t>
            </a:r>
          </a:p>
          <a:p>
            <a:pPr marL="228600" indent="-228600">
              <a:buChar char="•"/>
            </a:pPr>
            <a:r>
              <a:rPr sz="1200" b="0">
                <a:solidFill>
                  <a:srgbClr val="1E293B"/>
                </a:solidFill>
                <a:latin typeface="Calibri"/>
              </a:rPr>
              <a:t>Result: Obj jumped from 4.93×10⁷ (LHS R10) to 6.08×10⁹ on NaCl-MC2 — looser mass term let optimizer slide to σ=1 corner. The α·|signal| term was Bayesian regularization in disguise.</a:t>
            </a:r>
          </a:p>
        </p:txBody>
      </p:sp>
      <p:sp>
        <p:nvSpPr>
          <p:cNvPr id="15" name="Rectangle 14"/>
          <p:cNvSpPr/>
          <p:nvPr/>
        </p:nvSpPr>
        <p:spPr>
          <a:xfrm>
            <a:off x="6263640" y="2926080"/>
            <a:ext cx="5486400" cy="3383280"/>
          </a:xfrm>
          <a:prstGeom prst="rect">
            <a:avLst/>
          </a:prstGeom>
          <a:solidFill>
            <a:srgbClr val="F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2926080"/>
            <a:ext cx="91440" cy="338328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3035808"/>
            <a:ext cx="5029200" cy="365760"/>
          </a:xfrm>
          <a:prstGeom prst="rect">
            <a:avLst/>
          </a:prstGeom>
          <a:noFill/>
        </p:spPr>
        <p:txBody>
          <a:bodyPr wrap="square" lIns="0" tIns="0" rIns="0" bIns="0" anchor="t">
            <a:spAutoFit/>
          </a:bodyPr>
          <a:lstStyle/>
          <a:p>
            <a:pPr algn="l"/>
            <a:r>
              <a:rPr sz="1400" b="1" i="0">
                <a:solidFill>
                  <a:srgbClr val="990011"/>
                </a:solidFill>
                <a:latin typeface="Calibri"/>
              </a:rPr>
              <a:t>R13 — reverted to DATA2 convention</a:t>
            </a:r>
          </a:p>
        </p:txBody>
      </p:sp>
      <p:sp>
        <p:nvSpPr>
          <p:cNvPr id="18" name="TextBox 17"/>
          <p:cNvSpPr txBox="1"/>
          <p:nvPr/>
        </p:nvSpPr>
        <p:spPr>
          <a:xfrm>
            <a:off x="6583680" y="3429000"/>
            <a:ext cx="5029200" cy="2743200"/>
          </a:xfrm>
          <a:prstGeom prst="rect">
            <a:avLst/>
          </a:prstGeom>
          <a:noFill/>
        </p:spPr>
        <p:txBody>
          <a:bodyPr wrap="square" lIns="0" tIns="0" rIns="0" bIns="0">
            <a:spAutoFit/>
          </a:bodyPr>
          <a:lstStyle/>
          <a:p>
            <a:pPr marL="228600" indent="-228600">
              <a:buChar char="•"/>
            </a:pPr>
            <a:r>
              <a:rPr sz="1200" b="0">
                <a:solidFill>
                  <a:srgbClr val="1E293B"/>
                </a:solidFill>
                <a:latin typeface="Calibri"/>
              </a:rPr>
              <a:t>mass_scale_g  =  MASS_BALANCE_SIGMA_G  =  0.01 g, salt-independent, sheet-independent — matches DATA2 published convention.</a:t>
            </a:r>
          </a:p>
          <a:p>
            <a:pPr marL="228600" indent="-228600">
              <a:buChar char="•"/>
            </a:pPr>
            <a:r>
              <a:rPr sz="1200" b="0">
                <a:solidFill>
                  <a:srgbClr val="1E293B"/>
                </a:solidFill>
                <a:latin typeface="Calibri"/>
              </a:rPr>
              <a:t>Frequentist justification: σ_balance is a property of the analytical balance, not of the salt. Reweighting the loss function per salt would mean "different noise model per salt" — physically wrong.</a:t>
            </a:r>
          </a:p>
          <a:p>
            <a:pPr marL="228600" indent="-228600">
              <a:buChar char="•"/>
            </a:pPr>
            <a:r>
              <a:rPr sz="1200" b="0">
                <a:solidFill>
                  <a:srgbClr val="1E293B"/>
                </a:solidFill>
                <a:latin typeface="Calibri"/>
              </a:rPr>
              <a:t>Salt-specific physics belongs in the parameters (θ = (Lp, B, σ)), not in the noise model.</a:t>
            </a:r>
          </a:p>
          <a:p>
            <a:pPr marL="228600" indent="-228600">
              <a:buChar char="•"/>
            </a:pPr>
            <a:r>
              <a:rPr sz="1200" b="0">
                <a:solidFill>
                  <a:srgbClr val="1E293B"/>
                </a:solidFill>
                <a:latin typeface="Calibri"/>
              </a:rPr>
              <a:t>DATA1 / DATA2 stay byte-identical: both objectives use data_stru['data_config'].get('mass_scale_g', 0.01), so missing field → 0.01 g. Path forward: add observables (next slide), not new weights.</a:t>
            </a:r>
          </a:p>
        </p:txBody>
      </p:sp>
      <p:sp>
        <p:nvSpPr>
          <p:cNvPr id="19" name="Rectangle 18"/>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21" name="TextBox 20"/>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7 / 10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08 · NEW OBSERVABLES</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08</a:t>
            </a:r>
          </a:p>
        </p:txBody>
      </p:sp>
      <p:sp>
        <p:nvSpPr>
          <p:cNvPr id="6" name="TextBox 5"/>
          <p:cNvSpPr txBox="1"/>
          <p:nvPr/>
        </p:nvSpPr>
        <p:spPr>
          <a:xfrm>
            <a:off x="457200" y="502920"/>
            <a:ext cx="11247120" cy="400110"/>
          </a:xfrm>
          <a:prstGeom prst="rect">
            <a:avLst/>
          </a:prstGeom>
          <a:noFill/>
        </p:spPr>
        <p:txBody>
          <a:bodyPr wrap="square" lIns="0" tIns="0" rIns="0" bIns="0" anchor="t">
            <a:spAutoFit/>
          </a:bodyPr>
          <a:lstStyle/>
          <a:p>
            <a:pPr algn="l"/>
            <a:r>
              <a:rPr sz="2600" b="1" i="0" dirty="0">
                <a:solidFill>
                  <a:srgbClr val="21295C"/>
                </a:solidFill>
                <a:latin typeface="Calibri"/>
              </a:rPr>
              <a:t>Sidebar ICP-OES (R14) + Final anchor in WSSE (R15)</a:t>
            </a:r>
          </a:p>
        </p:txBody>
      </p:sp>
      <p:sp>
        <p:nvSpPr>
          <p:cNvPr id="7" name="Rectangle 6"/>
          <p:cNvSpPr/>
          <p:nvPr/>
        </p:nvSpPr>
        <p:spPr>
          <a:xfrm>
            <a:off x="457200" y="1371600"/>
            <a:ext cx="548640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91440" cy="4937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029200" cy="411480"/>
          </a:xfrm>
          <a:prstGeom prst="rect">
            <a:avLst/>
          </a:prstGeom>
          <a:noFill/>
        </p:spPr>
        <p:txBody>
          <a:bodyPr wrap="square" lIns="0" tIns="0" rIns="0" bIns="0" anchor="t">
            <a:spAutoFit/>
          </a:bodyPr>
          <a:lstStyle/>
          <a:p>
            <a:pPr algn="l"/>
            <a:r>
              <a:rPr sz="1400" b="1" i="0">
                <a:solidFill>
                  <a:srgbClr val="02C39A"/>
                </a:solidFill>
                <a:latin typeface="Calibri"/>
              </a:rPr>
              <a:t>WHAT WAS HIDDEN — sidebar cols 14-21</a:t>
            </a:r>
          </a:p>
        </p:txBody>
      </p:sp>
      <p:sp>
        <p:nvSpPr>
          <p:cNvPr id="10" name="TextBox 9"/>
          <p:cNvSpPr txBox="1"/>
          <p:nvPr/>
        </p:nvSpPr>
        <p:spPr>
          <a:xfrm>
            <a:off x="777240" y="1965960"/>
            <a:ext cx="5029200" cy="4206240"/>
          </a:xfrm>
          <a:prstGeom prst="rect">
            <a:avLst/>
          </a:prstGeom>
          <a:noFill/>
        </p:spPr>
        <p:txBody>
          <a:bodyPr wrap="square" lIns="0" tIns="0" rIns="0" bIns="0">
            <a:spAutoFit/>
          </a:bodyPr>
          <a:lstStyle/>
          <a:p>
            <a:pPr marL="228600" indent="-228600">
              <a:buChar char="•"/>
            </a:pPr>
            <a:r>
              <a:rPr sz="1300" b="0">
                <a:solidFill>
                  <a:srgbClr val="1E293B"/>
                </a:solidFill>
                <a:latin typeface="Calibri"/>
              </a:rPr>
              <a:t>Feed / Diafiltrate / Retentate / Final Tube ICP rows — ignored by old loader.</a:t>
            </a:r>
          </a:p>
          <a:p>
            <a:pPr marL="228600" indent="-228600">
              <a:buChar char="•"/>
            </a:pPr>
            <a:r>
              <a:rPr sz="1300" b="0">
                <a:solidFill>
                  <a:srgbClr val="1E293B"/>
                </a:solidFill>
                <a:latin typeface="Calibri"/>
              </a:rPr>
              <a:t>Conversion (per row): c [mM]  =  ICP [mg/L]  ·  (V_samp + V_acid) / V_samp  /  cation_MW [g/mol].</a:t>
            </a:r>
          </a:p>
          <a:p>
            <a:pPr marL="228600" indent="-228600">
              <a:buChar char="•"/>
            </a:pPr>
            <a:r>
              <a:rPr sz="1300" b="0">
                <a:solidFill>
                  <a:srgbClr val="1E293B"/>
                </a:solidFill>
                <a:latin typeface="Calibri"/>
              </a:rPr>
              <a:t>Stoichiometry: 1 cation / formula unit holds for NaCl, KCl, CaCl₂, LaCl₃ → c [mM of salt] = c [mM of cation].</a:t>
            </a:r>
          </a:p>
          <a:p>
            <a:pPr marL="228600" indent="-228600">
              <a:buChar char="•"/>
            </a:pPr>
            <a:r>
              <a:rPr sz="1300" b="0">
                <a:solidFill>
                  <a:srgbClr val="1E293B"/>
                </a:solidFill>
                <a:latin typeface="Calibri"/>
              </a:rPr>
              <a:t>R15 anchor (added to both obj_rule functions):  obj_cf  +=  ((cF[N, τ_last] − Final_Tube_ICP) / (0.003 · Final_Tube_ICP))².</a:t>
            </a:r>
          </a:p>
          <a:p>
            <a:pPr marL="228600" indent="-228600">
              <a:buChar char="•"/>
            </a:pPr>
            <a:r>
              <a:rPr sz="1300" b="0">
                <a:solidFill>
                  <a:srgbClr val="1E293B"/>
                </a:solidFill>
                <a:latin typeface="Calibri"/>
              </a:rPr>
              <a:t>Same 0.3% relative weighting DATA2 uses for per-sample cF. R16 also parses RPM from notes.</a:t>
            </a:r>
          </a:p>
          <a:p>
            <a:pPr marL="228600" indent="-228600">
              <a:buChar char="•"/>
            </a:pPr>
            <a:r>
              <a:rPr sz="1300" b="0">
                <a:solidFill>
                  <a:srgbClr val="1E293B"/>
                </a:solidFill>
                <a:latin typeface="Calibri"/>
              </a:rPr>
              <a:t>icp_final_mM is None / ≤0 → anchor silently skipped (DATA1/DATA2 unchanged).</a:t>
            </a:r>
          </a:p>
        </p:txBody>
      </p:sp>
      <p:sp>
        <p:nvSpPr>
          <p:cNvPr id="11" name="Rectangle 10"/>
          <p:cNvSpPr/>
          <p:nvPr/>
        </p:nvSpPr>
        <p:spPr>
          <a:xfrm>
            <a:off x="6263640" y="1371600"/>
            <a:ext cx="548640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371600"/>
            <a:ext cx="91440" cy="4937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1508760"/>
            <a:ext cx="5029200" cy="215444"/>
          </a:xfrm>
          <a:prstGeom prst="rect">
            <a:avLst/>
          </a:prstGeom>
          <a:noFill/>
        </p:spPr>
        <p:txBody>
          <a:bodyPr wrap="square" lIns="0" tIns="0" rIns="0" bIns="0" anchor="t">
            <a:spAutoFit/>
          </a:bodyPr>
          <a:lstStyle/>
          <a:p>
            <a:pPr algn="l"/>
            <a:r>
              <a:rPr sz="1400" b="1" i="0" dirty="0">
                <a:solidFill>
                  <a:srgbClr val="065A82"/>
                </a:solidFill>
                <a:latin typeface="Calibri"/>
              </a:rPr>
              <a:t>FINAL ICP — per sheet (R14)</a:t>
            </a:r>
          </a:p>
        </p:txBody>
      </p:sp>
      <p:sp>
        <p:nvSpPr>
          <p:cNvPr id="14" name="Rectangle 13"/>
          <p:cNvSpPr/>
          <p:nvPr/>
        </p:nvSpPr>
        <p:spPr>
          <a:xfrm>
            <a:off x="6583680" y="1965960"/>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2011679"/>
            <a:ext cx="2377440" cy="274320"/>
          </a:xfrm>
          <a:prstGeom prst="rect">
            <a:avLst/>
          </a:prstGeom>
          <a:noFill/>
        </p:spPr>
        <p:txBody>
          <a:bodyPr wrap="square" lIns="0" tIns="0" rIns="0" bIns="0" anchor="t">
            <a:spAutoFit/>
          </a:bodyPr>
          <a:lstStyle/>
          <a:p>
            <a:pPr algn="l"/>
            <a:r>
              <a:rPr sz="1200" b="0" i="0">
                <a:solidFill>
                  <a:srgbClr val="64748B"/>
                </a:solidFill>
                <a:latin typeface="Consolas"/>
              </a:rPr>
              <a:t>NaCl-MC2 cF_final</a:t>
            </a:r>
          </a:p>
        </p:txBody>
      </p:sp>
      <p:sp>
        <p:nvSpPr>
          <p:cNvPr id="16" name="TextBox 15"/>
          <p:cNvSpPr txBox="1"/>
          <p:nvPr/>
        </p:nvSpPr>
        <p:spPr>
          <a:xfrm>
            <a:off x="9052560" y="2011679"/>
            <a:ext cx="2468880" cy="274320"/>
          </a:xfrm>
          <a:prstGeom prst="rect">
            <a:avLst/>
          </a:prstGeom>
          <a:noFill/>
        </p:spPr>
        <p:txBody>
          <a:bodyPr wrap="square" lIns="0" tIns="0" rIns="0" bIns="0" anchor="t">
            <a:spAutoFit/>
          </a:bodyPr>
          <a:lstStyle/>
          <a:p>
            <a:pPr algn="l"/>
            <a:r>
              <a:rPr sz="1200" b="1" i="0">
                <a:solidFill>
                  <a:srgbClr val="1E293B"/>
                </a:solidFill>
                <a:latin typeface="Consolas"/>
              </a:rPr>
              <a:t>23.9 mM</a:t>
            </a:r>
          </a:p>
        </p:txBody>
      </p:sp>
      <p:sp>
        <p:nvSpPr>
          <p:cNvPr id="17" name="Rectangle 16"/>
          <p:cNvSpPr/>
          <p:nvPr/>
        </p:nvSpPr>
        <p:spPr>
          <a:xfrm>
            <a:off x="6583680" y="2331720"/>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377439"/>
            <a:ext cx="2377440" cy="274320"/>
          </a:xfrm>
          <a:prstGeom prst="rect">
            <a:avLst/>
          </a:prstGeom>
          <a:noFill/>
        </p:spPr>
        <p:txBody>
          <a:bodyPr wrap="square" lIns="0" tIns="0" rIns="0" bIns="0" anchor="t">
            <a:spAutoFit/>
          </a:bodyPr>
          <a:lstStyle/>
          <a:p>
            <a:pPr algn="l"/>
            <a:r>
              <a:rPr sz="1200" b="0" i="0">
                <a:solidFill>
                  <a:srgbClr val="64748B"/>
                </a:solidFill>
                <a:latin typeface="Consolas"/>
              </a:rPr>
              <a:t>CaCl₂-MC2 cF_final</a:t>
            </a:r>
          </a:p>
        </p:txBody>
      </p:sp>
      <p:sp>
        <p:nvSpPr>
          <p:cNvPr id="19" name="TextBox 18"/>
          <p:cNvSpPr txBox="1"/>
          <p:nvPr/>
        </p:nvSpPr>
        <p:spPr>
          <a:xfrm>
            <a:off x="9052560" y="2377439"/>
            <a:ext cx="2468880" cy="274320"/>
          </a:xfrm>
          <a:prstGeom prst="rect">
            <a:avLst/>
          </a:prstGeom>
          <a:noFill/>
        </p:spPr>
        <p:txBody>
          <a:bodyPr wrap="square" lIns="0" tIns="0" rIns="0" bIns="0" anchor="t">
            <a:spAutoFit/>
          </a:bodyPr>
          <a:lstStyle/>
          <a:p>
            <a:pPr algn="l"/>
            <a:r>
              <a:rPr sz="1200" b="1" i="0">
                <a:solidFill>
                  <a:srgbClr val="1E293B"/>
                </a:solidFill>
                <a:latin typeface="Consolas"/>
              </a:rPr>
              <a:t>25.1 mM</a:t>
            </a:r>
          </a:p>
        </p:txBody>
      </p:sp>
      <p:sp>
        <p:nvSpPr>
          <p:cNvPr id="20" name="Rectangle 19"/>
          <p:cNvSpPr/>
          <p:nvPr/>
        </p:nvSpPr>
        <p:spPr>
          <a:xfrm>
            <a:off x="6583680" y="2697479"/>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0" y="2743199"/>
            <a:ext cx="2377440" cy="274320"/>
          </a:xfrm>
          <a:prstGeom prst="rect">
            <a:avLst/>
          </a:prstGeom>
          <a:noFill/>
        </p:spPr>
        <p:txBody>
          <a:bodyPr wrap="square" lIns="0" tIns="0" rIns="0" bIns="0" anchor="t">
            <a:spAutoFit/>
          </a:bodyPr>
          <a:lstStyle/>
          <a:p>
            <a:pPr algn="l"/>
            <a:r>
              <a:rPr sz="1200" b="0" i="0">
                <a:solidFill>
                  <a:srgbClr val="64748B"/>
                </a:solidFill>
                <a:latin typeface="Consolas"/>
              </a:rPr>
              <a:t>LaCl₃-MC2 cF_final</a:t>
            </a:r>
          </a:p>
        </p:txBody>
      </p:sp>
      <p:sp>
        <p:nvSpPr>
          <p:cNvPr id="22" name="TextBox 21"/>
          <p:cNvSpPr txBox="1"/>
          <p:nvPr/>
        </p:nvSpPr>
        <p:spPr>
          <a:xfrm>
            <a:off x="9052560" y="2743199"/>
            <a:ext cx="2468880" cy="274320"/>
          </a:xfrm>
          <a:prstGeom prst="rect">
            <a:avLst/>
          </a:prstGeom>
          <a:noFill/>
        </p:spPr>
        <p:txBody>
          <a:bodyPr wrap="square" lIns="0" tIns="0" rIns="0" bIns="0" anchor="t">
            <a:spAutoFit/>
          </a:bodyPr>
          <a:lstStyle/>
          <a:p>
            <a:pPr algn="l"/>
            <a:r>
              <a:rPr sz="1200" b="1" i="0">
                <a:solidFill>
                  <a:srgbClr val="1E293B"/>
                </a:solidFill>
                <a:latin typeface="Consolas"/>
              </a:rPr>
              <a:t>0.99 mM</a:t>
            </a:r>
          </a:p>
        </p:txBody>
      </p:sp>
      <p:sp>
        <p:nvSpPr>
          <p:cNvPr id="23" name="Rectangle 22"/>
          <p:cNvSpPr/>
          <p:nvPr/>
        </p:nvSpPr>
        <p:spPr>
          <a:xfrm>
            <a:off x="6583680" y="3063239"/>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3108959"/>
            <a:ext cx="2377440" cy="274320"/>
          </a:xfrm>
          <a:prstGeom prst="rect">
            <a:avLst/>
          </a:prstGeom>
          <a:noFill/>
        </p:spPr>
        <p:txBody>
          <a:bodyPr wrap="square" lIns="0" tIns="0" rIns="0" bIns="0" anchor="t">
            <a:spAutoFit/>
          </a:bodyPr>
          <a:lstStyle/>
          <a:p>
            <a:pPr algn="l"/>
            <a:r>
              <a:rPr sz="1200" b="0" i="0">
                <a:solidFill>
                  <a:srgbClr val="64748B"/>
                </a:solidFill>
                <a:latin typeface="Consolas"/>
              </a:rPr>
              <a:t>S2NaCl-MC5 cF_final</a:t>
            </a:r>
          </a:p>
        </p:txBody>
      </p:sp>
      <p:sp>
        <p:nvSpPr>
          <p:cNvPr id="25" name="TextBox 24"/>
          <p:cNvSpPr txBox="1"/>
          <p:nvPr/>
        </p:nvSpPr>
        <p:spPr>
          <a:xfrm>
            <a:off x="9052560" y="3108959"/>
            <a:ext cx="2468880" cy="274320"/>
          </a:xfrm>
          <a:prstGeom prst="rect">
            <a:avLst/>
          </a:prstGeom>
          <a:noFill/>
        </p:spPr>
        <p:txBody>
          <a:bodyPr wrap="square" lIns="0" tIns="0" rIns="0" bIns="0" anchor="t">
            <a:spAutoFit/>
          </a:bodyPr>
          <a:lstStyle/>
          <a:p>
            <a:pPr algn="l"/>
            <a:r>
              <a:rPr sz="1200" b="1" i="0">
                <a:solidFill>
                  <a:srgbClr val="1E293B"/>
                </a:solidFill>
                <a:latin typeface="Consolas"/>
              </a:rPr>
              <a:t>8.32 mM</a:t>
            </a:r>
          </a:p>
        </p:txBody>
      </p:sp>
      <p:sp>
        <p:nvSpPr>
          <p:cNvPr id="26" name="Rectangle 25"/>
          <p:cNvSpPr/>
          <p:nvPr/>
        </p:nvSpPr>
        <p:spPr>
          <a:xfrm>
            <a:off x="6583680" y="3428999"/>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3474719"/>
            <a:ext cx="2377440" cy="274320"/>
          </a:xfrm>
          <a:prstGeom prst="rect">
            <a:avLst/>
          </a:prstGeom>
          <a:noFill/>
        </p:spPr>
        <p:txBody>
          <a:bodyPr wrap="square" lIns="0" tIns="0" rIns="0" bIns="0" anchor="t">
            <a:spAutoFit/>
          </a:bodyPr>
          <a:lstStyle/>
          <a:p>
            <a:pPr algn="l"/>
            <a:r>
              <a:rPr sz="1200" b="0" i="0">
                <a:solidFill>
                  <a:srgbClr val="64748B"/>
                </a:solidFill>
                <a:latin typeface="Consolas"/>
              </a:rPr>
              <a:t>SLaCl₃-MC4 cF_final</a:t>
            </a:r>
          </a:p>
        </p:txBody>
      </p:sp>
      <p:sp>
        <p:nvSpPr>
          <p:cNvPr id="28" name="TextBox 27"/>
          <p:cNvSpPr txBox="1"/>
          <p:nvPr/>
        </p:nvSpPr>
        <p:spPr>
          <a:xfrm>
            <a:off x="9052560" y="3474719"/>
            <a:ext cx="2468880" cy="274320"/>
          </a:xfrm>
          <a:prstGeom prst="rect">
            <a:avLst/>
          </a:prstGeom>
          <a:noFill/>
        </p:spPr>
        <p:txBody>
          <a:bodyPr wrap="square" lIns="0" tIns="0" rIns="0" bIns="0" anchor="t">
            <a:spAutoFit/>
          </a:bodyPr>
          <a:lstStyle/>
          <a:p>
            <a:pPr algn="l"/>
            <a:r>
              <a:rPr sz="1200" b="1" i="0">
                <a:solidFill>
                  <a:srgbClr val="1E293B"/>
                </a:solidFill>
                <a:latin typeface="Consolas"/>
              </a:rPr>
              <a:t>−0.001 mM (skip)</a:t>
            </a:r>
          </a:p>
        </p:txBody>
      </p:sp>
      <p:sp>
        <p:nvSpPr>
          <p:cNvPr id="29" name="Rectangle 28"/>
          <p:cNvSpPr/>
          <p:nvPr/>
        </p:nvSpPr>
        <p:spPr>
          <a:xfrm>
            <a:off x="6583680" y="3794759"/>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3840479"/>
            <a:ext cx="2377440" cy="274320"/>
          </a:xfrm>
          <a:prstGeom prst="rect">
            <a:avLst/>
          </a:prstGeom>
          <a:noFill/>
        </p:spPr>
        <p:txBody>
          <a:bodyPr wrap="square" lIns="0" tIns="0" rIns="0" bIns="0" anchor="t">
            <a:spAutoFit/>
          </a:bodyPr>
          <a:lstStyle/>
          <a:p>
            <a:pPr algn="l"/>
            <a:r>
              <a:rPr sz="1200" b="0" i="0">
                <a:solidFill>
                  <a:srgbClr val="64748B"/>
                </a:solidFill>
                <a:latin typeface="Consolas"/>
              </a:rPr>
              <a:t>SNaCl-MC4 cF_final</a:t>
            </a:r>
          </a:p>
        </p:txBody>
      </p:sp>
      <p:sp>
        <p:nvSpPr>
          <p:cNvPr id="31" name="TextBox 30"/>
          <p:cNvSpPr txBox="1"/>
          <p:nvPr/>
        </p:nvSpPr>
        <p:spPr>
          <a:xfrm>
            <a:off x="9052560" y="3840479"/>
            <a:ext cx="2468880" cy="274320"/>
          </a:xfrm>
          <a:prstGeom prst="rect">
            <a:avLst/>
          </a:prstGeom>
          <a:noFill/>
        </p:spPr>
        <p:txBody>
          <a:bodyPr wrap="square" lIns="0" tIns="0" rIns="0" bIns="0" anchor="t">
            <a:spAutoFit/>
          </a:bodyPr>
          <a:lstStyle/>
          <a:p>
            <a:pPr algn="l"/>
            <a:r>
              <a:rPr sz="1200" b="1" i="0">
                <a:solidFill>
                  <a:srgbClr val="1E293B"/>
                </a:solidFill>
                <a:latin typeface="Consolas"/>
              </a:rPr>
              <a:t>86.6 mM</a:t>
            </a:r>
          </a:p>
        </p:txBody>
      </p:sp>
      <p:sp>
        <p:nvSpPr>
          <p:cNvPr id="32" name="Rectangle 31"/>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34" name="TextBox 33"/>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8 / 10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nd"/>
          <p:cNvSpPr/>
          <p:nvPr/>
        </p:nvSpPr>
        <p:spPr>
          <a:xfrm>
            <a:off x="0" y="0"/>
            <a:ext cx="12191695" cy="292608"/>
          </a:xfrm>
          <a:prstGeom prst="rect">
            <a:avLst/>
          </a:prstGeom>
          <a:solidFill>
            <a:srgbClr val="065A82"/>
          </a:solidFill>
          <a:ln>
            <a:noFill/>
          </a:ln>
        </p:spPr>
        <p:txBody>
          <a:bodyPr/>
          <a:lstStyle/>
          <a:p>
            <a:endParaRPr/>
          </a:p>
        </p:txBody>
      </p:sp>
      <p:sp>
        <p:nvSpPr>
          <p:cNvPr id="3" name="MintBar"/>
          <p:cNvSpPr/>
          <p:nvPr/>
        </p:nvSpPr>
        <p:spPr>
          <a:xfrm>
            <a:off x="0" y="292608"/>
            <a:ext cx="12191695" cy="36576"/>
          </a:xfrm>
          <a:prstGeom prst="rect">
            <a:avLst/>
          </a:prstGeom>
          <a:solidFill>
            <a:srgbClr val="02C39A"/>
          </a:solidFill>
          <a:ln>
            <a:noFill/>
          </a:ln>
        </p:spPr>
        <p:txBody>
          <a:bodyPr/>
          <a:lstStyle/>
          <a:p>
            <a:endParaRPr/>
          </a:p>
        </p:txBody>
      </p:sp>
      <p:sp>
        <p:nvSpPr>
          <p:cNvPr id="4" name="SectionLabel"/>
          <p:cNvSpPr txBox="1"/>
          <p:nvPr/>
        </p:nvSpPr>
        <p:spPr>
          <a:xfrm>
            <a:off x="365760" y="54864"/>
            <a:ext cx="8229600" cy="201168"/>
          </a:xfrm>
          <a:prstGeom prst="rect">
            <a:avLst/>
          </a:prstGeom>
          <a:noFill/>
        </p:spPr>
        <p:txBody>
          <a:bodyPr wrap="square" lIns="0" tIns="0" rIns="0" bIns="0" anchor="t"/>
          <a:lstStyle/>
          <a:p>
            <a:pPr algn="l"/>
            <a:r>
              <a:rPr sz="1100" b="1">
                <a:solidFill>
                  <a:srgbClr val="FFFFFF"/>
                </a:solidFill>
                <a:latin typeface="Calibri"/>
              </a:rPr>
              <a:t>05A · MC2</a:t>
            </a:r>
          </a:p>
        </p:txBody>
      </p:sp>
      <p:sp>
        <p:nvSpPr>
          <p:cNvPr id="5" name="PageChip"/>
          <p:cNvSpPr txBox="1"/>
          <p:nvPr/>
        </p:nvSpPr>
        <p:spPr>
          <a:xfrm>
            <a:off x="11247120" y="54864"/>
            <a:ext cx="914400" cy="201168"/>
          </a:xfrm>
          <a:prstGeom prst="rect">
            <a:avLst/>
          </a:prstGeom>
          <a:noFill/>
        </p:spPr>
        <p:txBody>
          <a:bodyPr wrap="square" lIns="0" tIns="0" rIns="0" bIns="0" anchor="t"/>
          <a:lstStyle/>
          <a:p>
            <a:pPr algn="r"/>
            <a:r>
              <a:rPr sz="1100" b="1">
                <a:solidFill>
                  <a:srgbClr val="02C39A"/>
                </a:solidFill>
                <a:latin typeface="Calibri"/>
              </a:rPr>
              <a:t>06</a:t>
            </a:r>
          </a:p>
        </p:txBody>
      </p:sp>
      <p:sp>
        <p:nvSpPr>
          <p:cNvPr id="6" name="Title"/>
          <p:cNvSpPr txBox="1"/>
          <p:nvPr/>
        </p:nvSpPr>
        <p:spPr>
          <a:xfrm>
            <a:off x="457200" y="502920"/>
            <a:ext cx="11247120" cy="640080"/>
          </a:xfrm>
          <a:prstGeom prst="rect">
            <a:avLst/>
          </a:prstGeom>
          <a:noFill/>
        </p:spPr>
        <p:txBody>
          <a:bodyPr wrap="square" lIns="0" tIns="0" rIns="0" bIns="0" anchor="t"/>
          <a:lstStyle/>
          <a:p>
            <a:pPr algn="l"/>
            <a:r>
              <a:rPr sz="2400" b="1">
                <a:solidFill>
                  <a:srgbClr val="21295C"/>
                </a:solidFill>
                <a:latin typeface="Calibri"/>
              </a:rPr>
              <a:t>NF270 MC2 — base salts (NaCl, CaCl₂, LaCl₃)</a:t>
            </a:r>
          </a:p>
        </p:txBody>
      </p:sp>
      <p:pic>
        <p:nvPicPr>
          <p:cNvPr id="7" name="StatusPanel"/>
          <p:cNvPicPr>
            <a:picLocks noChangeAspect="1"/>
          </p:cNvPicPr>
          <p:nvPr/>
        </p:nvPicPr>
        <p:blipFill>
          <a:blip r:embed="rId2"/>
          <a:stretch>
            <a:fillRect/>
          </a:stretch>
        </p:blipFill>
        <p:spPr>
          <a:xfrm>
            <a:off x="457200" y="1280160"/>
            <a:ext cx="11277600" cy="4572000"/>
          </a:xfrm>
          <a:prstGeom prst="rect">
            <a:avLst/>
          </a:prstGeom>
        </p:spPr>
      </p:pic>
      <p:sp>
        <p:nvSpPr>
          <p:cNvPr id="8" name="Caption"/>
          <p:cNvSpPr txBox="1"/>
          <p:nvPr/>
        </p:nvSpPr>
        <p:spPr>
          <a:xfrm>
            <a:off x="457200" y="5943600"/>
            <a:ext cx="11277600" cy="457200"/>
          </a:xfrm>
          <a:prstGeom prst="rect">
            <a:avLst/>
          </a:prstGeom>
          <a:noFill/>
        </p:spPr>
        <p:txBody>
          <a:bodyPr wrap="square" lIns="0" tIns="0" rIns="0" bIns="0" anchor="t"/>
          <a:lstStyle/>
          <a:p>
            <a:pPr algn="l"/>
            <a:r>
              <a:rPr sz="1100" i="1">
                <a:solidFill>
                  <a:srgbClr val="64748B"/>
                </a:solidFill>
                <a:latin typeface="Calibri"/>
              </a:rPr>
              <a:t>The base-salts panel — what you asked about.  Same code, three different cation valences, on the same membrane coupon.  Mass-litmus baseline (σ = 0, B = 1e-6) — this is the σ = 0 corner.  NaCl mass slope is under-predicted; LaCl₃ best.</a:t>
            </a:r>
          </a:p>
        </p:txBody>
      </p:sp>
      <p:pic>
        <p:nvPicPr>
          <p:cNvPr id="9" name="NDLogo"/>
          <p:cNvPicPr>
            <a:picLocks noChangeAspect="1"/>
          </p:cNvPicPr>
          <p:nvPr/>
        </p:nvPicPr>
        <p:blipFill>
          <a:blip r:embed="rId3"/>
          <a:stretch>
            <a:fillRect/>
          </a:stretch>
        </p:blipFill>
        <p:spPr>
          <a:xfrm>
            <a:off x="128584" y="6507526"/>
            <a:ext cx="1209476" cy="282211"/>
          </a:xfrm>
          <a:prstGeom prst="rect">
            <a:avLst/>
          </a:prstGeom>
        </p:spPr>
      </p:pic>
      <p:sp>
        <p:nvSpPr>
          <p:cNvPr id="10" name="PageNumber"/>
          <p:cNvSpPr txBox="1"/>
          <p:nvPr/>
        </p:nvSpPr>
        <p:spPr>
          <a:xfrm>
            <a:off x="11247120" y="6486525"/>
            <a:ext cx="914400" cy="274320"/>
          </a:xfrm>
          <a:prstGeom prst="rect">
            <a:avLst/>
          </a:prstGeom>
          <a:noFill/>
        </p:spPr>
        <p:txBody>
          <a:bodyPr wrap="square" lIns="0" tIns="0" rIns="0" bIns="0" anchor="t"/>
          <a:lstStyle/>
          <a:p>
            <a:pPr algn="r"/>
            <a:r>
              <a:rPr sz="2000" b="1">
                <a:solidFill>
                  <a:srgbClr val="21295C"/>
                </a:solidFill>
                <a:latin typeface="Calibri"/>
              </a:rPr>
              <a:t>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nd"/>
          <p:cNvSpPr/>
          <p:nvPr/>
        </p:nvSpPr>
        <p:spPr>
          <a:xfrm>
            <a:off x="0" y="0"/>
            <a:ext cx="12191695" cy="292608"/>
          </a:xfrm>
          <a:prstGeom prst="rect">
            <a:avLst/>
          </a:prstGeom>
          <a:solidFill>
            <a:srgbClr val="065A82"/>
          </a:solidFill>
          <a:ln>
            <a:noFill/>
          </a:ln>
        </p:spPr>
        <p:txBody>
          <a:bodyPr/>
          <a:lstStyle/>
          <a:p>
            <a:endParaRPr/>
          </a:p>
        </p:txBody>
      </p:sp>
      <p:sp>
        <p:nvSpPr>
          <p:cNvPr id="3" name="MintBar"/>
          <p:cNvSpPr/>
          <p:nvPr/>
        </p:nvSpPr>
        <p:spPr>
          <a:xfrm>
            <a:off x="0" y="292608"/>
            <a:ext cx="12191695" cy="36576"/>
          </a:xfrm>
          <a:prstGeom prst="rect">
            <a:avLst/>
          </a:prstGeom>
          <a:solidFill>
            <a:srgbClr val="02C39A"/>
          </a:solidFill>
          <a:ln>
            <a:noFill/>
          </a:ln>
        </p:spPr>
        <p:txBody>
          <a:bodyPr/>
          <a:lstStyle/>
          <a:p>
            <a:endParaRPr/>
          </a:p>
        </p:txBody>
      </p:sp>
      <p:sp>
        <p:nvSpPr>
          <p:cNvPr id="4" name="SectionLabel"/>
          <p:cNvSpPr txBox="1"/>
          <p:nvPr/>
        </p:nvSpPr>
        <p:spPr>
          <a:xfrm>
            <a:off x="365760" y="54864"/>
            <a:ext cx="8229600" cy="201168"/>
          </a:xfrm>
          <a:prstGeom prst="rect">
            <a:avLst/>
          </a:prstGeom>
          <a:noFill/>
        </p:spPr>
        <p:txBody>
          <a:bodyPr wrap="square" lIns="0" tIns="0" rIns="0" bIns="0" anchor="t"/>
          <a:lstStyle/>
          <a:p>
            <a:pPr algn="l"/>
            <a:r>
              <a:rPr sz="1100" b="1">
                <a:solidFill>
                  <a:srgbClr val="FFFFFF"/>
                </a:solidFill>
                <a:latin typeface="Calibri"/>
              </a:rPr>
              <a:t>05B · MC3</a:t>
            </a:r>
          </a:p>
        </p:txBody>
      </p:sp>
      <p:sp>
        <p:nvSpPr>
          <p:cNvPr id="5" name="PageChip"/>
          <p:cNvSpPr txBox="1"/>
          <p:nvPr/>
        </p:nvSpPr>
        <p:spPr>
          <a:xfrm>
            <a:off x="11247120" y="54864"/>
            <a:ext cx="914400" cy="201168"/>
          </a:xfrm>
          <a:prstGeom prst="rect">
            <a:avLst/>
          </a:prstGeom>
          <a:noFill/>
        </p:spPr>
        <p:txBody>
          <a:bodyPr wrap="square" lIns="0" tIns="0" rIns="0" bIns="0" anchor="t"/>
          <a:lstStyle/>
          <a:p>
            <a:pPr algn="r"/>
            <a:r>
              <a:rPr sz="1100" b="1">
                <a:solidFill>
                  <a:srgbClr val="02C39A"/>
                </a:solidFill>
                <a:latin typeface="Calibri"/>
              </a:rPr>
              <a:t>07</a:t>
            </a:r>
          </a:p>
        </p:txBody>
      </p:sp>
      <p:sp>
        <p:nvSpPr>
          <p:cNvPr id="6" name="Title"/>
          <p:cNvSpPr txBox="1"/>
          <p:nvPr/>
        </p:nvSpPr>
        <p:spPr>
          <a:xfrm>
            <a:off x="457200" y="502920"/>
            <a:ext cx="11247120" cy="640080"/>
          </a:xfrm>
          <a:prstGeom prst="rect">
            <a:avLst/>
          </a:prstGeom>
          <a:noFill/>
        </p:spPr>
        <p:txBody>
          <a:bodyPr wrap="square" lIns="0" tIns="0" rIns="0" bIns="0" anchor="t"/>
          <a:lstStyle/>
          <a:p>
            <a:pPr algn="l"/>
            <a:r>
              <a:rPr sz="2400" b="1" dirty="0">
                <a:solidFill>
                  <a:srgbClr val="21295C"/>
                </a:solidFill>
                <a:latin typeface="Calibri"/>
              </a:rPr>
              <a:t>NF270 MC3 — sheets (</a:t>
            </a:r>
            <a:r>
              <a:rPr sz="2400" b="1" dirty="0" err="1">
                <a:solidFill>
                  <a:srgbClr val="21295C"/>
                </a:solidFill>
                <a:latin typeface="Calibri"/>
              </a:rPr>
              <a:t>SCaCl</a:t>
            </a:r>
            <a:r>
              <a:rPr sz="2400" b="1" dirty="0">
                <a:solidFill>
                  <a:srgbClr val="21295C"/>
                </a:solidFill>
                <a:latin typeface="Calibri"/>
              </a:rPr>
              <a:t>₂, S2CaCl₂, </a:t>
            </a:r>
            <a:r>
              <a:rPr sz="2400" b="1" dirty="0" err="1">
                <a:solidFill>
                  <a:srgbClr val="21295C"/>
                </a:solidFill>
                <a:latin typeface="Calibri"/>
              </a:rPr>
              <a:t>SNaCl</a:t>
            </a:r>
            <a:r>
              <a:rPr sz="2400" b="1" dirty="0">
                <a:solidFill>
                  <a:srgbClr val="21295C"/>
                </a:solidFill>
                <a:latin typeface="Calibri"/>
              </a:rPr>
              <a:t>)</a:t>
            </a:r>
          </a:p>
        </p:txBody>
      </p:sp>
      <p:pic>
        <p:nvPicPr>
          <p:cNvPr id="7" name="StatusPanel"/>
          <p:cNvPicPr>
            <a:picLocks noChangeAspect="1"/>
          </p:cNvPicPr>
          <p:nvPr/>
        </p:nvPicPr>
        <p:blipFill>
          <a:blip r:embed="rId2"/>
          <a:stretch>
            <a:fillRect/>
          </a:stretch>
        </p:blipFill>
        <p:spPr>
          <a:xfrm>
            <a:off x="457200" y="1280160"/>
            <a:ext cx="11277600" cy="4572000"/>
          </a:xfrm>
          <a:prstGeom prst="rect">
            <a:avLst/>
          </a:prstGeom>
        </p:spPr>
      </p:pic>
      <p:sp>
        <p:nvSpPr>
          <p:cNvPr id="8" name="Caption"/>
          <p:cNvSpPr txBox="1"/>
          <p:nvPr/>
        </p:nvSpPr>
        <p:spPr>
          <a:xfrm>
            <a:off x="457200" y="5943600"/>
            <a:ext cx="11277600" cy="457200"/>
          </a:xfrm>
          <a:prstGeom prst="rect">
            <a:avLst/>
          </a:prstGeom>
          <a:noFill/>
        </p:spPr>
        <p:txBody>
          <a:bodyPr wrap="square" lIns="0" tIns="0" rIns="0" bIns="0" anchor="t"/>
          <a:lstStyle/>
          <a:p>
            <a:pPr algn="l"/>
            <a:r>
              <a:rPr sz="1100" i="1">
                <a:solidFill>
                  <a:srgbClr val="64748B"/>
                </a:solidFill>
                <a:latin typeface="Calibri"/>
              </a:rPr>
              <a:t>Second NF270 coupon, three step sheets.  Mass-litmus reads similar Lₚ to MC2; SNaCl shows the strongest mass under-prediction (high baseline permeate flow).</a:t>
            </a:r>
          </a:p>
        </p:txBody>
      </p:sp>
      <p:pic>
        <p:nvPicPr>
          <p:cNvPr id="9" name="NDLogo"/>
          <p:cNvPicPr>
            <a:picLocks noChangeAspect="1"/>
          </p:cNvPicPr>
          <p:nvPr/>
        </p:nvPicPr>
        <p:blipFill>
          <a:blip r:embed="rId3"/>
          <a:stretch>
            <a:fillRect/>
          </a:stretch>
        </p:blipFill>
        <p:spPr>
          <a:xfrm>
            <a:off x="128584" y="6507526"/>
            <a:ext cx="1209476" cy="282211"/>
          </a:xfrm>
          <a:prstGeom prst="rect">
            <a:avLst/>
          </a:prstGeom>
        </p:spPr>
      </p:pic>
      <p:sp>
        <p:nvSpPr>
          <p:cNvPr id="10" name="PageNumber"/>
          <p:cNvSpPr txBox="1"/>
          <p:nvPr/>
        </p:nvSpPr>
        <p:spPr>
          <a:xfrm>
            <a:off x="11247120" y="6486525"/>
            <a:ext cx="914400" cy="274320"/>
          </a:xfrm>
          <a:prstGeom prst="rect">
            <a:avLst/>
          </a:prstGeom>
          <a:noFill/>
        </p:spPr>
        <p:txBody>
          <a:bodyPr wrap="square" lIns="0" tIns="0" rIns="0" bIns="0" anchor="t"/>
          <a:lstStyle/>
          <a:p>
            <a:pPr algn="r"/>
            <a:r>
              <a:rPr sz="2000" b="1">
                <a:solidFill>
                  <a:srgbClr val="21295C"/>
                </a:solidFill>
                <a:latin typeface="Calibri"/>
              </a:rPr>
              <a:t>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nd"/>
          <p:cNvSpPr/>
          <p:nvPr/>
        </p:nvSpPr>
        <p:spPr>
          <a:xfrm>
            <a:off x="0" y="0"/>
            <a:ext cx="12191695" cy="292608"/>
          </a:xfrm>
          <a:prstGeom prst="rect">
            <a:avLst/>
          </a:prstGeom>
          <a:solidFill>
            <a:srgbClr val="065A82"/>
          </a:solidFill>
          <a:ln>
            <a:noFill/>
          </a:ln>
        </p:spPr>
        <p:txBody>
          <a:bodyPr/>
          <a:lstStyle/>
          <a:p>
            <a:endParaRPr/>
          </a:p>
        </p:txBody>
      </p:sp>
      <p:sp>
        <p:nvSpPr>
          <p:cNvPr id="3" name="MintBar"/>
          <p:cNvSpPr/>
          <p:nvPr/>
        </p:nvSpPr>
        <p:spPr>
          <a:xfrm>
            <a:off x="0" y="292608"/>
            <a:ext cx="12191695" cy="36576"/>
          </a:xfrm>
          <a:prstGeom prst="rect">
            <a:avLst/>
          </a:prstGeom>
          <a:solidFill>
            <a:srgbClr val="02C39A"/>
          </a:solidFill>
          <a:ln>
            <a:noFill/>
          </a:ln>
        </p:spPr>
        <p:txBody>
          <a:bodyPr/>
          <a:lstStyle/>
          <a:p>
            <a:endParaRPr/>
          </a:p>
        </p:txBody>
      </p:sp>
      <p:sp>
        <p:nvSpPr>
          <p:cNvPr id="4" name="SectionLabel"/>
          <p:cNvSpPr txBox="1"/>
          <p:nvPr/>
        </p:nvSpPr>
        <p:spPr>
          <a:xfrm>
            <a:off x="365760" y="54864"/>
            <a:ext cx="8229600" cy="201168"/>
          </a:xfrm>
          <a:prstGeom prst="rect">
            <a:avLst/>
          </a:prstGeom>
          <a:noFill/>
        </p:spPr>
        <p:txBody>
          <a:bodyPr wrap="square" lIns="0" tIns="0" rIns="0" bIns="0" anchor="t"/>
          <a:lstStyle/>
          <a:p>
            <a:pPr algn="l"/>
            <a:r>
              <a:rPr sz="1100" b="1">
                <a:solidFill>
                  <a:srgbClr val="FFFFFF"/>
                </a:solidFill>
                <a:latin typeface="Calibri"/>
              </a:rPr>
              <a:t>05C · MC4</a:t>
            </a:r>
          </a:p>
        </p:txBody>
      </p:sp>
      <p:sp>
        <p:nvSpPr>
          <p:cNvPr id="5" name="PageChip"/>
          <p:cNvSpPr txBox="1"/>
          <p:nvPr/>
        </p:nvSpPr>
        <p:spPr>
          <a:xfrm>
            <a:off x="11247120" y="54864"/>
            <a:ext cx="914400" cy="201168"/>
          </a:xfrm>
          <a:prstGeom prst="rect">
            <a:avLst/>
          </a:prstGeom>
          <a:noFill/>
        </p:spPr>
        <p:txBody>
          <a:bodyPr wrap="square" lIns="0" tIns="0" rIns="0" bIns="0" anchor="t"/>
          <a:lstStyle/>
          <a:p>
            <a:pPr algn="r"/>
            <a:r>
              <a:rPr sz="1100" b="1">
                <a:solidFill>
                  <a:srgbClr val="02C39A"/>
                </a:solidFill>
                <a:latin typeface="Calibri"/>
              </a:rPr>
              <a:t>08</a:t>
            </a:r>
          </a:p>
        </p:txBody>
      </p:sp>
      <p:sp>
        <p:nvSpPr>
          <p:cNvPr id="6" name="Title"/>
          <p:cNvSpPr txBox="1"/>
          <p:nvPr/>
        </p:nvSpPr>
        <p:spPr>
          <a:xfrm>
            <a:off x="457200" y="502920"/>
            <a:ext cx="11247120" cy="640080"/>
          </a:xfrm>
          <a:prstGeom prst="rect">
            <a:avLst/>
          </a:prstGeom>
          <a:noFill/>
        </p:spPr>
        <p:txBody>
          <a:bodyPr wrap="square" lIns="0" tIns="0" rIns="0" bIns="0" anchor="t"/>
          <a:lstStyle/>
          <a:p>
            <a:pPr algn="l"/>
            <a:r>
              <a:rPr sz="2400" b="1" dirty="0">
                <a:solidFill>
                  <a:srgbClr val="21295C"/>
                </a:solidFill>
                <a:latin typeface="Calibri"/>
              </a:rPr>
              <a:t>NF270 MC4 — sheets (</a:t>
            </a:r>
            <a:r>
              <a:rPr sz="2400" b="1" dirty="0" err="1">
                <a:solidFill>
                  <a:srgbClr val="21295C"/>
                </a:solidFill>
                <a:latin typeface="Calibri"/>
              </a:rPr>
              <a:t>SLaCl</a:t>
            </a:r>
            <a:r>
              <a:rPr sz="2400" b="1" dirty="0">
                <a:solidFill>
                  <a:srgbClr val="21295C"/>
                </a:solidFill>
                <a:latin typeface="Calibri"/>
              </a:rPr>
              <a:t>₃, </a:t>
            </a:r>
            <a:r>
              <a:rPr sz="2400" b="1" dirty="0" err="1">
                <a:solidFill>
                  <a:srgbClr val="21295C"/>
                </a:solidFill>
                <a:latin typeface="Calibri"/>
              </a:rPr>
              <a:t>SNaCl</a:t>
            </a:r>
            <a:r>
              <a:rPr sz="2400" b="1" dirty="0">
                <a:solidFill>
                  <a:srgbClr val="21295C"/>
                </a:solidFill>
                <a:latin typeface="Calibri"/>
              </a:rPr>
              <a:t>)</a:t>
            </a:r>
          </a:p>
        </p:txBody>
      </p:sp>
      <p:pic>
        <p:nvPicPr>
          <p:cNvPr id="7" name="StatusPanel"/>
          <p:cNvPicPr>
            <a:picLocks noChangeAspect="1"/>
          </p:cNvPicPr>
          <p:nvPr/>
        </p:nvPicPr>
        <p:blipFill>
          <a:blip r:embed="rId2"/>
          <a:stretch>
            <a:fillRect/>
          </a:stretch>
        </p:blipFill>
        <p:spPr>
          <a:xfrm>
            <a:off x="1338060" y="1182670"/>
            <a:ext cx="8412480" cy="4572000"/>
          </a:xfrm>
          <a:prstGeom prst="rect">
            <a:avLst/>
          </a:prstGeom>
        </p:spPr>
      </p:pic>
      <p:sp>
        <p:nvSpPr>
          <p:cNvPr id="8" name="Caption"/>
          <p:cNvSpPr txBox="1"/>
          <p:nvPr/>
        </p:nvSpPr>
        <p:spPr>
          <a:xfrm>
            <a:off x="457200" y="5943600"/>
            <a:ext cx="11277600" cy="457200"/>
          </a:xfrm>
          <a:prstGeom prst="rect">
            <a:avLst/>
          </a:prstGeom>
          <a:noFill/>
        </p:spPr>
        <p:txBody>
          <a:bodyPr wrap="square" lIns="0" tIns="0" rIns="0" bIns="0" anchor="t"/>
          <a:lstStyle/>
          <a:p>
            <a:pPr algn="l"/>
            <a:r>
              <a:rPr sz="1100" i="1">
                <a:solidFill>
                  <a:srgbClr val="64748B"/>
                </a:solidFill>
                <a:latin typeface="Calibri"/>
              </a:rPr>
              <a:t>Third coupon, two step sheets only (SLaCl₃ + SNaCl).  LaCl₃ rejection again very high — Final-Tube ICP read ≈ −0.001 mM here, so the R15 anchor is silently skipped on this sheet.</a:t>
            </a:r>
          </a:p>
        </p:txBody>
      </p:sp>
      <p:pic>
        <p:nvPicPr>
          <p:cNvPr id="9" name="NDLogo"/>
          <p:cNvPicPr>
            <a:picLocks noChangeAspect="1"/>
          </p:cNvPicPr>
          <p:nvPr/>
        </p:nvPicPr>
        <p:blipFill>
          <a:blip r:embed="rId3"/>
          <a:stretch>
            <a:fillRect/>
          </a:stretch>
        </p:blipFill>
        <p:spPr>
          <a:xfrm>
            <a:off x="128584" y="6507526"/>
            <a:ext cx="1209476" cy="282211"/>
          </a:xfrm>
          <a:prstGeom prst="rect">
            <a:avLst/>
          </a:prstGeom>
        </p:spPr>
      </p:pic>
      <p:sp>
        <p:nvSpPr>
          <p:cNvPr id="10" name="PageNumber"/>
          <p:cNvSpPr txBox="1"/>
          <p:nvPr/>
        </p:nvSpPr>
        <p:spPr>
          <a:xfrm>
            <a:off x="11247120" y="6486525"/>
            <a:ext cx="914400" cy="274320"/>
          </a:xfrm>
          <a:prstGeom prst="rect">
            <a:avLst/>
          </a:prstGeom>
          <a:noFill/>
        </p:spPr>
        <p:txBody>
          <a:bodyPr wrap="square" lIns="0" tIns="0" rIns="0" bIns="0" anchor="t"/>
          <a:lstStyle/>
          <a:p>
            <a:pPr algn="r"/>
            <a:r>
              <a:rPr sz="2000" b="1">
                <a:solidFill>
                  <a:srgbClr val="21295C"/>
                </a:solidFill>
                <a:latin typeface="Calibri"/>
              </a:rPr>
              <a:t>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nd"/>
          <p:cNvSpPr/>
          <p:nvPr/>
        </p:nvSpPr>
        <p:spPr>
          <a:xfrm>
            <a:off x="0" y="0"/>
            <a:ext cx="12191695" cy="292608"/>
          </a:xfrm>
          <a:prstGeom prst="rect">
            <a:avLst/>
          </a:prstGeom>
          <a:solidFill>
            <a:srgbClr val="065A82"/>
          </a:solidFill>
          <a:ln>
            <a:noFill/>
          </a:ln>
        </p:spPr>
        <p:txBody>
          <a:bodyPr/>
          <a:lstStyle/>
          <a:p>
            <a:endParaRPr/>
          </a:p>
        </p:txBody>
      </p:sp>
      <p:sp>
        <p:nvSpPr>
          <p:cNvPr id="3" name="MintBar"/>
          <p:cNvSpPr/>
          <p:nvPr/>
        </p:nvSpPr>
        <p:spPr>
          <a:xfrm>
            <a:off x="0" y="292608"/>
            <a:ext cx="12191695" cy="36576"/>
          </a:xfrm>
          <a:prstGeom prst="rect">
            <a:avLst/>
          </a:prstGeom>
          <a:solidFill>
            <a:srgbClr val="02C39A"/>
          </a:solidFill>
          <a:ln>
            <a:noFill/>
          </a:ln>
        </p:spPr>
        <p:txBody>
          <a:bodyPr/>
          <a:lstStyle/>
          <a:p>
            <a:endParaRPr/>
          </a:p>
        </p:txBody>
      </p:sp>
      <p:sp>
        <p:nvSpPr>
          <p:cNvPr id="4" name="SectionLabel"/>
          <p:cNvSpPr txBox="1"/>
          <p:nvPr/>
        </p:nvSpPr>
        <p:spPr>
          <a:xfrm>
            <a:off x="365760" y="54864"/>
            <a:ext cx="8229600" cy="201168"/>
          </a:xfrm>
          <a:prstGeom prst="rect">
            <a:avLst/>
          </a:prstGeom>
          <a:noFill/>
        </p:spPr>
        <p:txBody>
          <a:bodyPr wrap="square" lIns="0" tIns="0" rIns="0" bIns="0" anchor="t"/>
          <a:lstStyle/>
          <a:p>
            <a:pPr algn="l"/>
            <a:r>
              <a:rPr sz="1100" b="1">
                <a:solidFill>
                  <a:srgbClr val="FFFFFF"/>
                </a:solidFill>
                <a:latin typeface="Calibri"/>
              </a:rPr>
              <a:t>05D · MC5</a:t>
            </a:r>
          </a:p>
        </p:txBody>
      </p:sp>
      <p:sp>
        <p:nvSpPr>
          <p:cNvPr id="5" name="PageChip"/>
          <p:cNvSpPr txBox="1"/>
          <p:nvPr/>
        </p:nvSpPr>
        <p:spPr>
          <a:xfrm>
            <a:off x="11247120" y="54864"/>
            <a:ext cx="914400" cy="201168"/>
          </a:xfrm>
          <a:prstGeom prst="rect">
            <a:avLst/>
          </a:prstGeom>
          <a:noFill/>
        </p:spPr>
        <p:txBody>
          <a:bodyPr wrap="square" lIns="0" tIns="0" rIns="0" bIns="0" anchor="t"/>
          <a:lstStyle/>
          <a:p>
            <a:pPr algn="r"/>
            <a:r>
              <a:rPr sz="1100" b="1">
                <a:solidFill>
                  <a:srgbClr val="02C39A"/>
                </a:solidFill>
                <a:latin typeface="Calibri"/>
              </a:rPr>
              <a:t>09</a:t>
            </a:r>
          </a:p>
        </p:txBody>
      </p:sp>
      <p:sp>
        <p:nvSpPr>
          <p:cNvPr id="6" name="Title"/>
          <p:cNvSpPr txBox="1"/>
          <p:nvPr/>
        </p:nvSpPr>
        <p:spPr>
          <a:xfrm>
            <a:off x="457200" y="502920"/>
            <a:ext cx="11247120" cy="640080"/>
          </a:xfrm>
          <a:prstGeom prst="rect">
            <a:avLst/>
          </a:prstGeom>
          <a:noFill/>
        </p:spPr>
        <p:txBody>
          <a:bodyPr wrap="square" lIns="0" tIns="0" rIns="0" bIns="0" anchor="t"/>
          <a:lstStyle/>
          <a:p>
            <a:pPr algn="l"/>
            <a:r>
              <a:rPr sz="2400" b="1" dirty="0">
                <a:solidFill>
                  <a:srgbClr val="21295C"/>
                </a:solidFill>
                <a:latin typeface="Calibri"/>
              </a:rPr>
              <a:t>NF270 MC5 — sheets (NaCl, S2NaCl, </a:t>
            </a:r>
            <a:r>
              <a:rPr sz="2400" b="1" dirty="0" err="1">
                <a:solidFill>
                  <a:srgbClr val="21295C"/>
                </a:solidFill>
                <a:latin typeface="Calibri"/>
              </a:rPr>
              <a:t>SNaCl</a:t>
            </a:r>
            <a:r>
              <a:rPr sz="2400" b="1" dirty="0">
                <a:solidFill>
                  <a:srgbClr val="21295C"/>
                </a:solidFill>
                <a:latin typeface="Calibri"/>
              </a:rPr>
              <a:t>)</a:t>
            </a:r>
          </a:p>
        </p:txBody>
      </p:sp>
      <p:pic>
        <p:nvPicPr>
          <p:cNvPr id="7" name="StatusPanel"/>
          <p:cNvPicPr>
            <a:picLocks noChangeAspect="1"/>
          </p:cNvPicPr>
          <p:nvPr/>
        </p:nvPicPr>
        <p:blipFill>
          <a:blip r:embed="rId2"/>
          <a:stretch>
            <a:fillRect/>
          </a:stretch>
        </p:blipFill>
        <p:spPr>
          <a:xfrm>
            <a:off x="365760" y="1285875"/>
            <a:ext cx="10396740" cy="4572000"/>
          </a:xfrm>
          <a:prstGeom prst="rect">
            <a:avLst/>
          </a:prstGeom>
        </p:spPr>
      </p:pic>
      <p:sp>
        <p:nvSpPr>
          <p:cNvPr id="8" name="Caption"/>
          <p:cNvSpPr txBox="1"/>
          <p:nvPr/>
        </p:nvSpPr>
        <p:spPr>
          <a:xfrm>
            <a:off x="457200" y="5943600"/>
            <a:ext cx="11277600" cy="457200"/>
          </a:xfrm>
          <a:prstGeom prst="rect">
            <a:avLst/>
          </a:prstGeom>
          <a:noFill/>
        </p:spPr>
        <p:txBody>
          <a:bodyPr wrap="square" lIns="0" tIns="0" rIns="0" bIns="0" anchor="t"/>
          <a:lstStyle/>
          <a:p>
            <a:pPr algn="l"/>
            <a:r>
              <a:rPr sz="1100" i="1">
                <a:solidFill>
                  <a:srgbClr val="64748B"/>
                </a:solidFill>
                <a:latin typeface="Calibri"/>
              </a:rPr>
              <a:t>Fourth coupon, three repeat NaCl variants.  S2NaCl is the diluting-experiment sheet (100 mM Feed, 0 mM Diafiltrate) — that is why the retentate is decreasing.</a:t>
            </a:r>
          </a:p>
        </p:txBody>
      </p:sp>
      <p:pic>
        <p:nvPicPr>
          <p:cNvPr id="9" name="NDLogo"/>
          <p:cNvPicPr>
            <a:picLocks noChangeAspect="1"/>
          </p:cNvPicPr>
          <p:nvPr/>
        </p:nvPicPr>
        <p:blipFill>
          <a:blip r:embed="rId3"/>
          <a:stretch>
            <a:fillRect/>
          </a:stretch>
        </p:blipFill>
        <p:spPr>
          <a:xfrm>
            <a:off x="128584" y="6507526"/>
            <a:ext cx="1209476" cy="282211"/>
          </a:xfrm>
          <a:prstGeom prst="rect">
            <a:avLst/>
          </a:prstGeom>
        </p:spPr>
      </p:pic>
      <p:sp>
        <p:nvSpPr>
          <p:cNvPr id="10" name="PageNumber"/>
          <p:cNvSpPr txBox="1"/>
          <p:nvPr/>
        </p:nvSpPr>
        <p:spPr>
          <a:xfrm>
            <a:off x="11247120" y="6486525"/>
            <a:ext cx="914400" cy="274320"/>
          </a:xfrm>
          <a:prstGeom prst="rect">
            <a:avLst/>
          </a:prstGeom>
          <a:noFill/>
        </p:spPr>
        <p:txBody>
          <a:bodyPr wrap="square" lIns="0" tIns="0" rIns="0" bIns="0" anchor="t"/>
          <a:lstStyle/>
          <a:p>
            <a:pPr algn="r"/>
            <a:r>
              <a:rPr sz="2000" b="1">
                <a:solidFill>
                  <a:srgbClr val="21295C"/>
                </a:solidFill>
                <a:latin typeface="Calibri"/>
              </a:rPr>
              <a:t>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7315200" cy="292608"/>
          </a:xfrm>
          <a:prstGeom prst="rect">
            <a:avLst/>
          </a:prstGeom>
          <a:noFill/>
        </p:spPr>
        <p:txBody>
          <a:bodyPr wrap="square" lIns="0" rIns="0" tIns="25400" bIns="25400">
            <a:spAutoFit/>
          </a:bodyPr>
          <a:lstStyle/>
          <a:p>
            <a:pPr algn="l"/>
            <a:r>
              <a:rPr sz="1100" b="1">
                <a:solidFill>
                  <a:srgbClr val="FFFFFF"/>
                </a:solidFill>
                <a:latin typeface="Calibri"/>
              </a:rPr>
              <a:t>10 · DILUTION VS CONCENTRATION</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600" y="0"/>
            <a:ext cx="822960" cy="292608"/>
          </a:xfrm>
          <a:prstGeom prst="rect">
            <a:avLst/>
          </a:prstGeom>
          <a:noFill/>
        </p:spPr>
        <p:txBody>
          <a:bodyPr wrap="none" lIns="0" rIns="50800" tIns="25400" bIns="25400">
            <a:spAutoFit/>
          </a:bodyPr>
          <a:lstStyle/>
          <a:p>
            <a:pPr algn="r"/>
            <a:r>
              <a:rPr sz="1100" b="1">
                <a:solidFill>
                  <a:srgbClr val="FFFFFF"/>
                </a:solidFill>
                <a:latin typeface="Calibri"/>
              </a:rPr>
              <a:t>10</a:t>
            </a:r>
          </a:p>
        </p:txBody>
      </p:sp>
      <p:sp>
        <p:nvSpPr>
          <p:cNvPr id="6" name="TextBox 5"/>
          <p:cNvSpPr txBox="1"/>
          <p:nvPr/>
        </p:nvSpPr>
        <p:spPr>
          <a:xfrm>
            <a:off x="457200" y="411480"/>
            <a:ext cx="10972800" cy="320040"/>
          </a:xfrm>
          <a:prstGeom prst="rect">
            <a:avLst/>
          </a:prstGeom>
          <a:noFill/>
        </p:spPr>
        <p:txBody>
          <a:bodyPr wrap="none" lIns="0" tIns="0" bIns="0">
            <a:spAutoFit/>
          </a:bodyPr>
          <a:lstStyle/>
          <a:p>
            <a:r>
              <a:rPr sz="1100" b="1" i="1" spc="200">
                <a:solidFill>
                  <a:srgbClr val="02C39A"/>
                </a:solidFill>
                <a:latin typeface="Calibri"/>
              </a:rPr>
              <a:t>REGIME SPLIT — IT'S NOT WHAT WE THOUGHT</a:t>
            </a:r>
          </a:p>
        </p:txBody>
      </p:sp>
      <p:sp>
        <p:nvSpPr>
          <p:cNvPr id="7" name="TextBox 6"/>
          <p:cNvSpPr txBox="1"/>
          <p:nvPr/>
        </p:nvSpPr>
        <p:spPr>
          <a:xfrm>
            <a:off x="457200" y="685800"/>
            <a:ext cx="10972800" cy="640080"/>
          </a:xfrm>
          <a:prstGeom prst="rect">
            <a:avLst/>
          </a:prstGeom>
          <a:noFill/>
        </p:spPr>
        <p:txBody>
          <a:bodyPr wrap="square" lIns="0" tIns="0" bIns="0">
            <a:spAutoFit/>
          </a:bodyPr>
          <a:lstStyle/>
          <a:p>
            <a:r>
              <a:rPr sz="2800" b="1">
                <a:solidFill>
                  <a:srgbClr val="065A82"/>
                </a:solidFill>
                <a:latin typeface="Calibri"/>
              </a:rPr>
              <a:t>Only 2 of 11 single-salt sheets are diluting; 9 are concentrating</a:t>
            </a:r>
          </a:p>
        </p:txBody>
      </p:sp>
      <p:sp>
        <p:nvSpPr>
          <p:cNvPr id="8" name="Rectangle 7"/>
          <p:cNvSpPr/>
          <p:nvPr/>
        </p:nvSpPr>
        <p:spPr>
          <a:xfrm>
            <a:off x="457200" y="1417320"/>
            <a:ext cx="5303520" cy="45720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5303520" cy="457200"/>
          </a:xfrm>
          <a:prstGeom prst="rect">
            <a:avLst/>
          </a:prstGeom>
          <a:noFill/>
        </p:spPr>
        <p:txBody>
          <a:bodyPr wrap="square" lIns="50800" rIns="50800" tIns="25400" bIns="25400">
            <a:spAutoFit/>
          </a:bodyPr>
          <a:lstStyle/>
          <a:p>
            <a:pPr algn="ctr"/>
            <a:r>
              <a:rPr sz="1400" b="1" i="0">
                <a:solidFill>
                  <a:srgbClr val="FFFFFF"/>
                </a:solidFill>
                <a:latin typeface="Calibri"/>
              </a:rPr>
              <a:t>DILUTING REGIME  ·  2 sheets</a:t>
            </a:r>
          </a:p>
        </p:txBody>
      </p:sp>
      <p:sp>
        <p:nvSpPr>
          <p:cNvPr id="10" name="Rectangle 9"/>
          <p:cNvSpPr/>
          <p:nvPr/>
        </p:nvSpPr>
        <p:spPr>
          <a:xfrm>
            <a:off x="457200" y="1874520"/>
            <a:ext cx="5303520" cy="397763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80"/>
            <a:ext cx="4846320" cy="3749039"/>
          </a:xfrm>
          <a:prstGeom prst="rect">
            <a:avLst/>
          </a:prstGeom>
          <a:noFill/>
        </p:spPr>
        <p:txBody>
          <a:bodyPr wrap="square" lIns="50800" rIns="50800" tIns="25400" bIns="25400">
            <a:spAutoFit/>
          </a:bodyPr>
          <a:lstStyle/>
          <a:p>
            <a:pPr algn="l"/>
            <a:r>
              <a:rPr sz="1200" b="0" i="0">
                <a:solidFill>
                  <a:srgbClr val="36454F"/>
                </a:solidFill>
                <a:latin typeface="Calibri"/>
              </a:rPr>
              <a:t>cF starts HIGH (≈95 mM), DROPS toward zero</a:t>
            </a:r>
          </a:p>
          <a:p>
            <a:pPr algn="l"/>
            <a:r>
              <a:rPr sz="1200" b="0" i="0">
                <a:solidFill>
                  <a:srgbClr val="36454F"/>
                </a:solidFill>
                <a:latin typeface="Calibri"/>
              </a:rPr>
              <a:t>Diafiltrate is DI water washing salt out</a:t>
            </a:r>
          </a:p>
          <a:p>
            <a:pPr algn="l"/>
            <a:r>
              <a:rPr sz="1200" b="0" i="0">
                <a:solidFill>
                  <a:srgbClr val="36454F"/>
                </a:solidFill>
                <a:latin typeface="Calibri"/>
              </a:rPr>
              <a:t>ΔΠ = (cIn − cH)·ni·RT shrinks ~10× over the run</a:t>
            </a:r>
          </a:p>
          <a:p>
            <a:pPr algn="l"/>
            <a:r>
              <a:rPr sz="1200" b="0" i="0">
                <a:solidFill>
                  <a:srgbClr val="36454F"/>
                </a:solidFill>
                <a:latin typeface="Calibri"/>
              </a:rPr>
              <a:t/>
            </a:r>
          </a:p>
          <a:p>
            <a:pPr algn="l"/>
            <a:r>
              <a:rPr sz="1200" b="0" i="0">
                <a:solidFill>
                  <a:srgbClr val="36454F"/>
                </a:solidFill>
                <a:latin typeface="Calibri"/>
              </a:rPr>
              <a:t>MC3.07.22.24_SNaCl     95.5 → 10.4 mM   ~3 g/vial</a:t>
            </a:r>
          </a:p>
          <a:p>
            <a:pPr algn="l"/>
            <a:r>
              <a:rPr sz="1200" b="0" i="0">
                <a:solidFill>
                  <a:srgbClr val="36454F"/>
                </a:solidFill>
                <a:latin typeface="Calibri"/>
              </a:rPr>
              <a:t>MC5.07.23.24_S2NaCl    93.1 → 16.1 mM   ~3 g/vial</a:t>
            </a:r>
          </a:p>
          <a:p>
            <a:pPr algn="l"/>
            <a:r>
              <a:rPr sz="1200" b="0" i="0">
                <a:solidFill>
                  <a:srgbClr val="36454F"/>
                </a:solidFill>
                <a:latin typeface="Calibri"/>
              </a:rPr>
              <a:t/>
            </a:r>
          </a:p>
          <a:p>
            <a:pPr algn="l"/>
            <a:r>
              <a:rPr sz="1200" b="0" i="0">
                <a:solidFill>
                  <a:srgbClr val="36454F"/>
                </a:solidFill>
                <a:latin typeface="Calibri"/>
              </a:rPr>
              <a:t>Fit quality:  EXCELLENT</a:t>
            </a:r>
          </a:p>
          <a:p>
            <a:pPr algn="l"/>
            <a:r>
              <a:rPr sz="1200" b="0" i="0">
                <a:solidFill>
                  <a:srgbClr val="36454F"/>
                </a:solidFill>
                <a:latin typeface="Calibri"/>
              </a:rPr>
              <a:t>Mass model tracks data; cF curve tracks data;</a:t>
            </a:r>
          </a:p>
          <a:p>
            <a:pPr algn="l"/>
            <a:r>
              <a:rPr sz="1200" b="0" i="0">
                <a:solidFill>
                  <a:srgbClr val="36454F"/>
                </a:solidFill>
                <a:latin typeface="Calibri"/>
              </a:rPr>
              <a:t>σ-Lp contour basin sits in the interior (σ ≈ 0.45).</a:t>
            </a:r>
          </a:p>
          <a:p>
            <a:pPr algn="l"/>
            <a:r>
              <a:rPr sz="1200" b="0" i="0">
                <a:solidFill>
                  <a:srgbClr val="36454F"/>
                </a:solidFill>
                <a:latin typeface="Calibri"/>
              </a:rPr>
              <a:t/>
            </a:r>
          </a:p>
          <a:p>
            <a:pPr algn="l"/>
            <a:r>
              <a:rPr sz="1200" b="0" i="0">
                <a:solidFill>
                  <a:srgbClr val="36454F"/>
                </a:solidFill>
                <a:latin typeface="Calibri"/>
              </a:rPr>
              <a:t>Why?  ΔΠ → 0 by mid-run.  Any σ between 0 and 1</a:t>
            </a:r>
          </a:p>
          <a:p>
            <a:pPr algn="l"/>
            <a:r>
              <a:rPr sz="1200" b="0" i="0">
                <a:solidFill>
                  <a:srgbClr val="36454F"/>
                </a:solidFill>
                <a:latin typeface="Calibri"/>
              </a:rPr>
              <a:t>gives nearly the same Jw → osmotic term doesn't</a:t>
            </a:r>
          </a:p>
          <a:p>
            <a:pPr algn="l"/>
            <a:r>
              <a:rPr sz="1200" b="0" i="0">
                <a:solidFill>
                  <a:srgbClr val="36454F"/>
                </a:solidFill>
                <a:latin typeface="Calibri"/>
              </a:rPr>
              <a:t>constrain the fit, but it doesn't hurt it either.</a:t>
            </a:r>
          </a:p>
        </p:txBody>
      </p:sp>
      <p:sp>
        <p:nvSpPr>
          <p:cNvPr id="12" name="Rectangle 11"/>
          <p:cNvSpPr/>
          <p:nvPr/>
        </p:nvSpPr>
        <p:spPr>
          <a:xfrm>
            <a:off x="6263640" y="1417320"/>
            <a:ext cx="5303520" cy="45720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417320"/>
            <a:ext cx="5303520" cy="457200"/>
          </a:xfrm>
          <a:prstGeom prst="rect">
            <a:avLst/>
          </a:prstGeom>
          <a:noFill/>
        </p:spPr>
        <p:txBody>
          <a:bodyPr wrap="square" lIns="50800" rIns="50800" tIns="25400" bIns="25400">
            <a:spAutoFit/>
          </a:bodyPr>
          <a:lstStyle/>
          <a:p>
            <a:pPr algn="ctr"/>
            <a:r>
              <a:rPr sz="1400" b="1" i="0">
                <a:solidFill>
                  <a:srgbClr val="FFFFFF"/>
                </a:solidFill>
                <a:latin typeface="Calibri"/>
              </a:rPr>
              <a:t>CONCENTRATING REGIME  ·  9 sheets</a:t>
            </a:r>
          </a:p>
        </p:txBody>
      </p:sp>
      <p:sp>
        <p:nvSpPr>
          <p:cNvPr id="14" name="Rectangle 13"/>
          <p:cNvSpPr/>
          <p:nvPr/>
        </p:nvSpPr>
        <p:spPr>
          <a:xfrm>
            <a:off x="6263640" y="1874520"/>
            <a:ext cx="5303520" cy="397763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011680"/>
            <a:ext cx="4846320" cy="3749039"/>
          </a:xfrm>
          <a:prstGeom prst="rect">
            <a:avLst/>
          </a:prstGeom>
          <a:noFill/>
        </p:spPr>
        <p:txBody>
          <a:bodyPr wrap="square" lIns="50800" rIns="50800" tIns="25400" bIns="25400">
            <a:spAutoFit/>
          </a:bodyPr>
          <a:lstStyle/>
          <a:p>
            <a:pPr algn="l"/>
            <a:r>
              <a:rPr sz="1200" b="0" i="0">
                <a:solidFill>
                  <a:srgbClr val="36454F"/>
                </a:solidFill>
                <a:latin typeface="Calibri"/>
              </a:rPr>
              <a:t>cF starts LOW (≈1 mM), RISES sharply</a:t>
            </a:r>
          </a:p>
          <a:p>
            <a:pPr algn="l"/>
            <a:r>
              <a:rPr sz="1200" b="0" i="0">
                <a:solidFill>
                  <a:srgbClr val="36454F"/>
                </a:solidFill>
                <a:latin typeface="Calibri"/>
              </a:rPr>
              <a:t>Diafiltrate is salt solution being added</a:t>
            </a:r>
          </a:p>
          <a:p>
            <a:pPr algn="l"/>
            <a:r>
              <a:rPr sz="1200" b="0" i="0">
                <a:solidFill>
                  <a:srgbClr val="36454F"/>
                </a:solidFill>
                <a:latin typeface="Calibri"/>
              </a:rPr>
              <a:t>ΔΠ = (cIn − cH)·ni·RT grows 25 – 100× over the run</a:t>
            </a:r>
          </a:p>
          <a:p>
            <a:pPr algn="l"/>
            <a:r>
              <a:rPr sz="1200" b="0" i="0">
                <a:solidFill>
                  <a:srgbClr val="36454F"/>
                </a:solidFill>
                <a:latin typeface="Calibri"/>
              </a:rPr>
              <a:t/>
            </a:r>
          </a:p>
          <a:p>
            <a:pPr algn="l"/>
            <a:r>
              <a:rPr sz="1200" b="0" i="0">
                <a:solidFill>
                  <a:srgbClr val="36454F"/>
                </a:solidFill>
                <a:latin typeface="Calibri"/>
              </a:rPr>
              <a:t>MC2 NaCl, MC4 SNaCl, MC5 NaCl, MC5 SNaCl  (NaCl)</a:t>
            </a:r>
          </a:p>
          <a:p>
            <a:pPr algn="l"/>
            <a:r>
              <a:rPr sz="1200" b="0" i="0">
                <a:solidFill>
                  <a:srgbClr val="36454F"/>
                </a:solidFill>
                <a:latin typeface="Calibri"/>
              </a:rPr>
              <a:t>MC2 CaCl2, MC3 SCaCl2, MC3 S2CaCl2  (CaCl2)</a:t>
            </a:r>
          </a:p>
          <a:p>
            <a:pPr algn="l"/>
            <a:r>
              <a:rPr sz="1200" b="0" i="0">
                <a:solidFill>
                  <a:srgbClr val="36454F"/>
                </a:solidFill>
                <a:latin typeface="Calibri"/>
              </a:rPr>
              <a:t>MC2 LaCl3, MC4 SLaCl3  (LaCl3)</a:t>
            </a:r>
          </a:p>
          <a:p>
            <a:pPr algn="l"/>
            <a:r>
              <a:rPr sz="1200" b="0" i="0">
                <a:solidFill>
                  <a:srgbClr val="36454F"/>
                </a:solidFill>
                <a:latin typeface="Calibri"/>
              </a:rPr>
              <a:t>Vial mass shrinks from 3 g to ~1 g per vial</a:t>
            </a:r>
          </a:p>
          <a:p>
            <a:pPr algn="l"/>
            <a:r>
              <a:rPr sz="1200" b="0" i="0">
                <a:solidFill>
                  <a:srgbClr val="36454F"/>
                </a:solidFill>
                <a:latin typeface="Calibri"/>
              </a:rPr>
              <a:t/>
            </a:r>
          </a:p>
          <a:p>
            <a:pPr algn="l"/>
            <a:r>
              <a:rPr sz="1200" b="0" i="0">
                <a:solidFill>
                  <a:srgbClr val="36454F"/>
                </a:solidFill>
                <a:latin typeface="Calibri"/>
              </a:rPr>
              <a:t>Fit quality:  MASS UNDER-PREDICTED</a:t>
            </a:r>
          </a:p>
          <a:p>
            <a:pPr algn="l"/>
            <a:r>
              <a:rPr sz="1200" b="0" i="0">
                <a:solidFill>
                  <a:srgbClr val="36454F"/>
                </a:solidFill>
                <a:latin typeface="Calibri"/>
              </a:rPr>
              <a:t>Model falls short of full vial mass on every sheet.</a:t>
            </a:r>
          </a:p>
          <a:p>
            <a:pPr algn="l"/>
            <a:r>
              <a:rPr sz="1200" b="0" i="0">
                <a:solidFill>
                  <a:srgbClr val="36454F"/>
                </a:solidFill>
                <a:latin typeface="Calibri"/>
              </a:rPr>
              <a:t>σ pinned at the bound (σ = 1.0 on 7 sheets,</a:t>
            </a:r>
          </a:p>
          <a:p>
            <a:pPr algn="l"/>
            <a:r>
              <a:rPr sz="1200" b="0" i="0">
                <a:solidFill>
                  <a:srgbClr val="36454F"/>
                </a:solidFill>
                <a:latin typeface="Calibri"/>
              </a:rPr>
              <a:t>σ = 0.0 on 2 sheets).  Lp pulled low to compensate.</a:t>
            </a:r>
          </a:p>
        </p:txBody>
      </p:sp>
      <p:sp>
        <p:nvSpPr>
          <p:cNvPr id="16" name="Rectangle 15"/>
          <p:cNvSpPr/>
          <p:nvPr/>
        </p:nvSpPr>
        <p:spPr>
          <a:xfrm>
            <a:off x="457200" y="5943600"/>
            <a:ext cx="112776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035040"/>
            <a:ext cx="10911840" cy="274320"/>
          </a:xfrm>
          <a:prstGeom prst="rect">
            <a:avLst/>
          </a:prstGeom>
          <a:noFill/>
        </p:spPr>
        <p:txBody>
          <a:bodyPr wrap="square" lIns="50800" rIns="50800" tIns="25400" bIns="25400">
            <a:spAutoFit/>
          </a:bodyPr>
          <a:lstStyle/>
          <a:p>
            <a:pPr algn="l"/>
            <a:r>
              <a:rPr sz="1100" b="0" i="1">
                <a:solidFill>
                  <a:srgbClr val="FFFFFF"/>
                </a:solidFill>
                <a:latin typeface="Calibri"/>
              </a:rPr>
              <a:t>Diluting and concentrating are not just different runs — they probe the model differently. The σ·ΔΠ term is silent on dilution, dominant on concentration.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7315200" cy="292608"/>
          </a:xfrm>
          <a:prstGeom prst="rect">
            <a:avLst/>
          </a:prstGeom>
          <a:noFill/>
        </p:spPr>
        <p:txBody>
          <a:bodyPr wrap="square" lIns="0" rIns="0" tIns="25400" bIns="25400">
            <a:spAutoFit/>
          </a:bodyPr>
          <a:lstStyle/>
          <a:p>
            <a:pPr algn="l"/>
            <a:r>
              <a:rPr sz="1100" b="1">
                <a:solidFill>
                  <a:srgbClr val="FFFFFF"/>
                </a:solidFill>
                <a:latin typeface="Calibri"/>
              </a:rPr>
              <a:t>11 · MASS PREDICTION SHORTFALL</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600" y="0"/>
            <a:ext cx="822960" cy="292608"/>
          </a:xfrm>
          <a:prstGeom prst="rect">
            <a:avLst/>
          </a:prstGeom>
          <a:noFill/>
        </p:spPr>
        <p:txBody>
          <a:bodyPr wrap="none" lIns="0" rIns="50800" tIns="25400" bIns="25400">
            <a:spAutoFit/>
          </a:bodyPr>
          <a:lstStyle/>
          <a:p>
            <a:pPr algn="r"/>
            <a:r>
              <a:rPr sz="1100" b="1">
                <a:solidFill>
                  <a:srgbClr val="FFFFFF"/>
                </a:solidFill>
                <a:latin typeface="Calibri"/>
              </a:rPr>
              <a:t>11</a:t>
            </a:r>
          </a:p>
        </p:txBody>
      </p:sp>
      <p:sp>
        <p:nvSpPr>
          <p:cNvPr id="6" name="TextBox 5"/>
          <p:cNvSpPr txBox="1"/>
          <p:nvPr/>
        </p:nvSpPr>
        <p:spPr>
          <a:xfrm>
            <a:off x="457200" y="411480"/>
            <a:ext cx="10972800" cy="320040"/>
          </a:xfrm>
          <a:prstGeom prst="rect">
            <a:avLst/>
          </a:prstGeom>
          <a:noFill/>
        </p:spPr>
        <p:txBody>
          <a:bodyPr wrap="none" lIns="0" tIns="0" bIns="0">
            <a:spAutoFit/>
          </a:bodyPr>
          <a:lstStyle/>
          <a:p>
            <a:r>
              <a:rPr sz="1100" b="1" i="1" spc="200">
                <a:solidFill>
                  <a:srgbClr val="02C39A"/>
                </a:solidFill>
                <a:latin typeface="Calibri"/>
              </a:rPr>
              <a:t>VISUAL EVIDENCE — MASS PER VIAL</a:t>
            </a:r>
          </a:p>
        </p:txBody>
      </p:sp>
      <p:sp>
        <p:nvSpPr>
          <p:cNvPr id="7" name="TextBox 6"/>
          <p:cNvSpPr txBox="1"/>
          <p:nvPr/>
        </p:nvSpPr>
        <p:spPr>
          <a:xfrm>
            <a:off x="457200" y="685800"/>
            <a:ext cx="10972800" cy="640080"/>
          </a:xfrm>
          <a:prstGeom prst="rect">
            <a:avLst/>
          </a:prstGeom>
          <a:noFill/>
        </p:spPr>
        <p:txBody>
          <a:bodyPr wrap="square" lIns="0" tIns="0" bIns="0">
            <a:spAutoFit/>
          </a:bodyPr>
          <a:lstStyle/>
          <a:p>
            <a:r>
              <a:rPr sz="2800" b="1">
                <a:solidFill>
                  <a:srgbClr val="065A82"/>
                </a:solidFill>
                <a:latin typeface="Calibri"/>
              </a:rPr>
              <a:t>Model nails dilution mass; falls short on every concentration sheet</a:t>
            </a:r>
          </a:p>
        </p:txBody>
      </p:sp>
      <p:pic>
        <p:nvPicPr>
          <p:cNvPr id="8" name="Picture 7" descr="mass-JAO_072224_NF270_MC3_SNaCl_NaCl_07.22.24_SNaCl.png"/>
          <p:cNvPicPr>
            <a:picLocks noChangeAspect="1"/>
          </p:cNvPicPr>
          <p:nvPr/>
        </p:nvPicPr>
        <p:blipFill>
          <a:blip r:embed="rId2"/>
          <a:stretch>
            <a:fillRect/>
          </a:stretch>
        </p:blipFill>
        <p:spPr>
          <a:xfrm>
            <a:off x="457200" y="1417320"/>
            <a:ext cx="4206240" cy="4114800"/>
          </a:xfrm>
          <a:prstGeom prst="rect">
            <a:avLst/>
          </a:prstGeom>
        </p:spPr>
      </p:pic>
      <p:sp>
        <p:nvSpPr>
          <p:cNvPr id="9" name="Rectangle 8"/>
          <p:cNvSpPr/>
          <p:nvPr/>
        </p:nvSpPr>
        <p:spPr>
          <a:xfrm>
            <a:off x="457200" y="5532120"/>
            <a:ext cx="4206240" cy="32004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532120"/>
            <a:ext cx="4206240" cy="320040"/>
          </a:xfrm>
          <a:prstGeom prst="rect">
            <a:avLst/>
          </a:prstGeom>
          <a:noFill/>
        </p:spPr>
        <p:txBody>
          <a:bodyPr wrap="square" lIns="50800" rIns="50800" tIns="25400" bIns="25400">
            <a:spAutoFit/>
          </a:bodyPr>
          <a:lstStyle/>
          <a:p>
            <a:pPr algn="ctr"/>
            <a:r>
              <a:rPr sz="1100" b="1" i="0">
                <a:solidFill>
                  <a:srgbClr val="FFFFFF"/>
                </a:solidFill>
                <a:latin typeface="Calibri"/>
              </a:rPr>
              <a:t>MC3.07.22.24_SNaCl  (NaCl, diluting)  ·  predictions track data within ~5 %</a:t>
            </a:r>
          </a:p>
        </p:txBody>
      </p:sp>
      <p:pic>
        <p:nvPicPr>
          <p:cNvPr id="11" name="Picture 10" descr="mass-JAO_072324_NF270_MC5_NaCl_NaCl_07.23.24_NaCl.png"/>
          <p:cNvPicPr>
            <a:picLocks noChangeAspect="1"/>
          </p:cNvPicPr>
          <p:nvPr/>
        </p:nvPicPr>
        <p:blipFill>
          <a:blip r:embed="rId3"/>
          <a:stretch>
            <a:fillRect/>
          </a:stretch>
        </p:blipFill>
        <p:spPr>
          <a:xfrm>
            <a:off x="4937760" y="1417320"/>
            <a:ext cx="4206240" cy="4114800"/>
          </a:xfrm>
          <a:prstGeom prst="rect">
            <a:avLst/>
          </a:prstGeom>
        </p:spPr>
      </p:pic>
      <p:sp>
        <p:nvSpPr>
          <p:cNvPr id="12" name="Rectangle 11"/>
          <p:cNvSpPr/>
          <p:nvPr/>
        </p:nvSpPr>
        <p:spPr>
          <a:xfrm>
            <a:off x="4937760" y="5532120"/>
            <a:ext cx="4206240" cy="32004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5532120"/>
            <a:ext cx="4206240" cy="320040"/>
          </a:xfrm>
          <a:prstGeom prst="rect">
            <a:avLst/>
          </a:prstGeom>
          <a:noFill/>
        </p:spPr>
        <p:txBody>
          <a:bodyPr wrap="square" lIns="50800" rIns="50800" tIns="25400" bIns="25400">
            <a:spAutoFit/>
          </a:bodyPr>
          <a:lstStyle/>
          <a:p>
            <a:pPr algn="ctr"/>
            <a:r>
              <a:rPr sz="1100" b="1" i="0">
                <a:solidFill>
                  <a:srgbClr val="FFFFFF"/>
                </a:solidFill>
                <a:latin typeface="Calibri"/>
              </a:rPr>
              <a:t>MC5.07.23.24_NaCl  (NaCl, concentrating)  ·  predictions plateau below the 1 g cap</a:t>
            </a:r>
          </a:p>
        </p:txBody>
      </p:sp>
      <p:sp>
        <p:nvSpPr>
          <p:cNvPr id="14" name="Rectangle 13"/>
          <p:cNvSpPr/>
          <p:nvPr/>
        </p:nvSpPr>
        <p:spPr>
          <a:xfrm>
            <a:off x="9235440" y="1417320"/>
            <a:ext cx="2590800" cy="4434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1554480"/>
            <a:ext cx="2316480" cy="274320"/>
          </a:xfrm>
          <a:prstGeom prst="rect">
            <a:avLst/>
          </a:prstGeom>
          <a:noFill/>
        </p:spPr>
        <p:txBody>
          <a:bodyPr wrap="square" lIns="50800" rIns="50800" tIns="25400" bIns="25400">
            <a:spAutoFit/>
          </a:bodyPr>
          <a:lstStyle/>
          <a:p>
            <a:pPr algn="l"/>
            <a:r>
              <a:rPr sz="1100" b="1" i="0">
                <a:solidFill>
                  <a:srgbClr val="065A82"/>
                </a:solidFill>
                <a:latin typeface="Calibri"/>
              </a:rPr>
              <a:t>WHAT TO LOOK FOR</a:t>
            </a:r>
          </a:p>
        </p:txBody>
      </p:sp>
      <p:sp>
        <p:nvSpPr>
          <p:cNvPr id="16" name="TextBox 15"/>
          <p:cNvSpPr txBox="1"/>
          <p:nvPr/>
        </p:nvSpPr>
        <p:spPr>
          <a:xfrm>
            <a:off x="9372600" y="1874520"/>
            <a:ext cx="2316480" cy="4114800"/>
          </a:xfrm>
          <a:prstGeom prst="rect">
            <a:avLst/>
          </a:prstGeom>
          <a:noFill/>
        </p:spPr>
        <p:txBody>
          <a:bodyPr wrap="square" lIns="50800" rIns="50800" tIns="25400" bIns="25400">
            <a:spAutoFit/>
          </a:bodyPr>
          <a:lstStyle/>
          <a:p>
            <a:pPr algn="l"/>
            <a:r>
              <a:rPr sz="1000" b="0" i="0">
                <a:solidFill>
                  <a:srgbClr val="36454F"/>
                </a:solidFill>
                <a:latin typeface="Calibri"/>
              </a:rPr>
              <a:t>Both plots show ~10 vials with per-vial mass reaching ~1 g.</a:t>
            </a:r>
          </a:p>
          <a:p>
            <a:pPr algn="l"/>
            <a:r>
              <a:rPr sz="1000" b="0" i="0">
                <a:solidFill>
                  <a:srgbClr val="36454F"/>
                </a:solidFill>
                <a:latin typeface="Calibri"/>
              </a:rPr>
              <a:t/>
            </a:r>
          </a:p>
          <a:p>
            <a:pPr algn="l"/>
            <a:r>
              <a:rPr sz="1000" b="0" i="0">
                <a:solidFill>
                  <a:srgbClr val="36454F"/>
                </a:solidFill>
                <a:latin typeface="Calibri"/>
              </a:rPr>
              <a:t>LEFT (diluting):  predicted slope rises across vials.  Matches data point-for-point.</a:t>
            </a:r>
          </a:p>
          <a:p>
            <a:pPr algn="l"/>
            <a:r>
              <a:rPr sz="1000" b="0" i="0">
                <a:solidFill>
                  <a:srgbClr val="36454F"/>
                </a:solidFill>
                <a:latin typeface="Calibri"/>
              </a:rPr>
              <a:t/>
            </a:r>
          </a:p>
          <a:p>
            <a:pPr algn="l"/>
            <a:r>
              <a:rPr sz="1000" b="0" i="0">
                <a:solidFill>
                  <a:srgbClr val="36454F"/>
                </a:solidFill>
                <a:latin typeface="Calibri"/>
              </a:rPr>
              <a:t>RIGHT (concentrating):  predicted slope is too shallow throughout.  Cumulative predicted mass plateaus below the 1 g cap on every vial.</a:t>
            </a:r>
          </a:p>
          <a:p>
            <a:pPr algn="l"/>
            <a:r>
              <a:rPr sz="1000" b="0" i="0">
                <a:solidFill>
                  <a:srgbClr val="36454F"/>
                </a:solidFill>
                <a:latin typeface="Calibri"/>
              </a:rPr>
              <a:t/>
            </a:r>
          </a:p>
          <a:p>
            <a:pPr algn="l"/>
            <a:r>
              <a:rPr sz="1000" b="0" i="0">
                <a:solidFill>
                  <a:srgbClr val="36454F"/>
                </a:solidFill>
                <a:latin typeface="Calibri"/>
              </a:rPr>
              <a:t>Same code, same θ-space, same WSSE — only the cF trajectory direction is different.</a:t>
            </a:r>
          </a:p>
          <a:p>
            <a:pPr algn="l"/>
            <a:r>
              <a:rPr sz="1000" b="0" i="0">
                <a:solidFill>
                  <a:srgbClr val="36454F"/>
                </a:solidFill>
                <a:latin typeface="Calibri"/>
              </a:rPr>
              <a:t/>
            </a:r>
          </a:p>
          <a:p>
            <a:pPr algn="l"/>
            <a:r>
              <a:rPr sz="1000" b="0" i="0">
                <a:solidFill>
                  <a:srgbClr val="36454F"/>
                </a:solidFill>
                <a:latin typeface="Calibri"/>
              </a:rPr>
              <a:t>ALL 9 concentrating sheets show this pattern: NaCl, CaCl2, and LaCl3.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7315200" cy="292608"/>
          </a:xfrm>
          <a:prstGeom prst="rect">
            <a:avLst/>
          </a:prstGeom>
          <a:noFill/>
        </p:spPr>
        <p:txBody>
          <a:bodyPr wrap="square" lIns="0" rIns="0" tIns="25400" bIns="25400">
            <a:spAutoFit/>
          </a:bodyPr>
          <a:lstStyle/>
          <a:p>
            <a:pPr algn="l"/>
            <a:r>
              <a:rPr sz="1100" b="1">
                <a:solidFill>
                  <a:srgbClr val="FFFFFF"/>
                </a:solidFill>
                <a:latin typeface="Calibri"/>
              </a:rPr>
              <a:t>12 · PHYSICS OF THE ASYMMETRY</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600" y="0"/>
            <a:ext cx="822960" cy="292608"/>
          </a:xfrm>
          <a:prstGeom prst="rect">
            <a:avLst/>
          </a:prstGeom>
          <a:noFill/>
        </p:spPr>
        <p:txBody>
          <a:bodyPr wrap="none" lIns="0" rIns="50800" tIns="25400" bIns="25400">
            <a:spAutoFit/>
          </a:bodyPr>
          <a:lstStyle/>
          <a:p>
            <a:pPr algn="r"/>
            <a:r>
              <a:rPr sz="1100" b="1">
                <a:solidFill>
                  <a:srgbClr val="FFFFFF"/>
                </a:solidFill>
                <a:latin typeface="Calibri"/>
              </a:rPr>
              <a:t>12</a:t>
            </a:r>
          </a:p>
        </p:txBody>
      </p:sp>
      <p:sp>
        <p:nvSpPr>
          <p:cNvPr id="6" name="TextBox 5"/>
          <p:cNvSpPr txBox="1"/>
          <p:nvPr/>
        </p:nvSpPr>
        <p:spPr>
          <a:xfrm>
            <a:off x="457200" y="411480"/>
            <a:ext cx="10972800" cy="320040"/>
          </a:xfrm>
          <a:prstGeom prst="rect">
            <a:avLst/>
          </a:prstGeom>
          <a:noFill/>
        </p:spPr>
        <p:txBody>
          <a:bodyPr wrap="none" lIns="0" tIns="0" bIns="0">
            <a:spAutoFit/>
          </a:bodyPr>
          <a:lstStyle/>
          <a:p>
            <a:r>
              <a:rPr sz="1100" b="1" i="1" spc="200">
                <a:solidFill>
                  <a:srgbClr val="02C39A"/>
                </a:solidFill>
                <a:latin typeface="Calibri"/>
              </a:rPr>
              <a:t>WHY DILUTION ESCAPES, CONCENTRATION SUFFERS</a:t>
            </a:r>
          </a:p>
        </p:txBody>
      </p:sp>
      <p:sp>
        <p:nvSpPr>
          <p:cNvPr id="7" name="TextBox 6"/>
          <p:cNvSpPr txBox="1"/>
          <p:nvPr/>
        </p:nvSpPr>
        <p:spPr>
          <a:xfrm>
            <a:off x="457200" y="685800"/>
            <a:ext cx="10972800" cy="640080"/>
          </a:xfrm>
          <a:prstGeom prst="rect">
            <a:avLst/>
          </a:prstGeom>
          <a:noFill/>
        </p:spPr>
        <p:txBody>
          <a:bodyPr wrap="square" lIns="0" tIns="0" bIns="0">
            <a:spAutoFit/>
          </a:bodyPr>
          <a:lstStyle/>
          <a:p>
            <a:r>
              <a:rPr sz="2800" b="1">
                <a:solidFill>
                  <a:srgbClr val="065A82"/>
                </a:solidFill>
                <a:latin typeface="Calibri"/>
              </a:rPr>
              <a:t>It's the σ·(cIn − cH)·niRT term in Jw</a:t>
            </a:r>
          </a:p>
        </p:txBody>
      </p:sp>
      <p:sp>
        <p:nvSpPr>
          <p:cNvPr id="8" name="Rectangle 7"/>
          <p:cNvSpPr/>
          <p:nvPr/>
        </p:nvSpPr>
        <p:spPr>
          <a:xfrm>
            <a:off x="457200" y="1417320"/>
            <a:ext cx="11277600" cy="8686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10911840" cy="274320"/>
          </a:xfrm>
          <a:prstGeom prst="rect">
            <a:avLst/>
          </a:prstGeom>
          <a:noFill/>
        </p:spPr>
        <p:txBody>
          <a:bodyPr wrap="square" lIns="50800" rIns="50800" tIns="25400" bIns="25400">
            <a:spAutoFit/>
          </a:bodyPr>
          <a:lstStyle/>
          <a:p>
            <a:pPr algn="l"/>
            <a:r>
              <a:rPr sz="1000" b="1" i="1">
                <a:solidFill>
                  <a:srgbClr val="02C39A"/>
                </a:solidFill>
                <a:latin typeface="Calibri"/>
              </a:rPr>
              <a:t>STARLING / KEDEM−KATCHALSKY  WATER FLUX</a:t>
            </a:r>
          </a:p>
        </p:txBody>
      </p:sp>
      <p:sp>
        <p:nvSpPr>
          <p:cNvPr id="10" name="TextBox 9"/>
          <p:cNvSpPr txBox="1"/>
          <p:nvPr/>
        </p:nvSpPr>
        <p:spPr>
          <a:xfrm>
            <a:off x="640080" y="1709928"/>
            <a:ext cx="10911840" cy="502920"/>
          </a:xfrm>
          <a:prstGeom prst="rect">
            <a:avLst/>
          </a:prstGeom>
          <a:noFill/>
        </p:spPr>
        <p:txBody>
          <a:bodyPr wrap="square" lIns="50800" rIns="50800" tIns="25400" bIns="25400">
            <a:spAutoFit/>
          </a:bodyPr>
          <a:lstStyle/>
          <a:p>
            <a:pPr algn="ctr"/>
            <a:r>
              <a:rPr sz="2200" b="1" i="0">
                <a:solidFill>
                  <a:srgbClr val="FFFFFF"/>
                </a:solidFill>
                <a:latin typeface="Calibri"/>
              </a:rPr>
              <a:t>Jw  =  Lp · [ ΔP  −  σ · (cIn − cH) · ni · RT ]</a:t>
            </a:r>
          </a:p>
        </p:txBody>
      </p:sp>
      <p:sp>
        <p:nvSpPr>
          <p:cNvPr id="11" name="Rectangle 10"/>
          <p:cNvSpPr/>
          <p:nvPr/>
        </p:nvSpPr>
        <p:spPr>
          <a:xfrm>
            <a:off x="457200" y="2468880"/>
            <a:ext cx="3698240" cy="365760"/>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6888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DILUTING:  ΔΠ shrinks</a:t>
            </a:r>
          </a:p>
        </p:txBody>
      </p:sp>
      <p:sp>
        <p:nvSpPr>
          <p:cNvPr id="13" name="Rectangle 12"/>
          <p:cNvSpPr/>
          <p:nvPr/>
        </p:nvSpPr>
        <p:spPr>
          <a:xfrm>
            <a:off x="457200" y="2834640"/>
            <a:ext cx="3698240" cy="2560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71800"/>
            <a:ext cx="3332480" cy="2377440"/>
          </a:xfrm>
          <a:prstGeom prst="rect">
            <a:avLst/>
          </a:prstGeom>
          <a:noFill/>
        </p:spPr>
        <p:txBody>
          <a:bodyPr wrap="square" lIns="50800" rIns="50800" tIns="25400" bIns="25400">
            <a:spAutoFit/>
          </a:bodyPr>
          <a:lstStyle/>
          <a:p>
            <a:pPr algn="l"/>
            <a:r>
              <a:rPr sz="1100" b="0" i="0">
                <a:solidFill>
                  <a:srgbClr val="36454F"/>
                </a:solidFill>
                <a:latin typeface="Calibri"/>
              </a:rPr>
              <a:t>cF: 95 → 10 mM, ΔΠ falls ~10×</a:t>
            </a:r>
          </a:p>
          <a:p>
            <a:pPr algn="l"/>
            <a:r>
              <a:rPr sz="1100" b="0" i="0">
                <a:solidFill>
                  <a:srgbClr val="36454F"/>
                </a:solidFill>
                <a:latin typeface="Calibri"/>
              </a:rPr>
              <a:t/>
            </a:r>
          </a:p>
          <a:p>
            <a:pPr algn="l"/>
            <a:r>
              <a:rPr sz="1100" b="0" i="0">
                <a:solidFill>
                  <a:srgbClr val="36454F"/>
                </a:solidFill>
                <a:latin typeface="Calibri"/>
              </a:rPr>
              <a:t>End of run: σ·ΔΠ ≈ 0 regardless of σ</a:t>
            </a:r>
          </a:p>
          <a:p>
            <a:pPr algn="l"/>
            <a:r>
              <a:rPr sz="1100" b="0" i="0">
                <a:solidFill>
                  <a:srgbClr val="36454F"/>
                </a:solidFill>
                <a:latin typeface="Calibri"/>
              </a:rPr>
              <a:t/>
            </a:r>
          </a:p>
          <a:p>
            <a:pPr algn="l"/>
            <a:r>
              <a:rPr sz="1100" b="0" i="0">
                <a:solidFill>
                  <a:srgbClr val="36454F"/>
                </a:solidFill>
                <a:latin typeface="Calibri"/>
              </a:rPr>
              <a:t>Jw ≈ Lp · ΔP  (pure Darcy)</a:t>
            </a:r>
          </a:p>
          <a:p>
            <a:pPr algn="l"/>
            <a:r>
              <a:rPr sz="1100" b="0" i="0">
                <a:solidFill>
                  <a:srgbClr val="36454F"/>
                </a:solidFill>
                <a:latin typeface="Calibri"/>
              </a:rPr>
              <a:t/>
            </a:r>
          </a:p>
          <a:p>
            <a:pPr algn="l"/>
            <a:r>
              <a:rPr sz="1100" b="0" i="0">
                <a:solidFill>
                  <a:srgbClr val="36454F"/>
                </a:solidFill>
                <a:latin typeface="Calibri"/>
              </a:rPr>
              <a:t>σ unconstrained but harmless.</a:t>
            </a:r>
          </a:p>
          <a:p>
            <a:pPr algn="l"/>
            <a:r>
              <a:rPr sz="1100" b="0" i="0">
                <a:solidFill>
                  <a:srgbClr val="36454F"/>
                </a:solidFill>
                <a:latin typeface="Calibri"/>
              </a:rPr>
              <a:t>Mass channel identifies Lp.</a:t>
            </a:r>
          </a:p>
          <a:p>
            <a:pPr algn="l"/>
            <a:r>
              <a:rPr sz="1100" b="0" i="0">
                <a:solidFill>
                  <a:srgbClr val="36454F"/>
                </a:solidFill>
                <a:latin typeface="Calibri"/>
              </a:rPr>
              <a:t/>
            </a:r>
          </a:p>
          <a:p>
            <a:pPr algn="l"/>
            <a:r>
              <a:rPr sz="1100" b="0" i="0">
                <a:solidFill>
                  <a:srgbClr val="36454F"/>
                </a:solidFill>
                <a:latin typeface="Calibri"/>
              </a:rPr>
              <a:t>Model matches data.</a:t>
            </a:r>
          </a:p>
        </p:txBody>
      </p:sp>
      <p:sp>
        <p:nvSpPr>
          <p:cNvPr id="15" name="Rectangle 14"/>
          <p:cNvSpPr/>
          <p:nvPr/>
        </p:nvSpPr>
        <p:spPr>
          <a:xfrm>
            <a:off x="4246880" y="2468880"/>
            <a:ext cx="3698240" cy="365760"/>
          </a:xfrm>
          <a:prstGeom prst="rect">
            <a:avLst/>
          </a:prstGeom>
          <a:solidFill>
            <a:srgbClr val="CC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46880" y="246888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CONCENTRATING:  ΔΠ grows</a:t>
            </a:r>
          </a:p>
        </p:txBody>
      </p:sp>
      <p:sp>
        <p:nvSpPr>
          <p:cNvPr id="17" name="Rectangle 16"/>
          <p:cNvSpPr/>
          <p:nvPr/>
        </p:nvSpPr>
        <p:spPr>
          <a:xfrm>
            <a:off x="4246880" y="2834640"/>
            <a:ext cx="3698240" cy="2560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9760" y="2971800"/>
            <a:ext cx="3332480" cy="2377440"/>
          </a:xfrm>
          <a:prstGeom prst="rect">
            <a:avLst/>
          </a:prstGeom>
          <a:noFill/>
        </p:spPr>
        <p:txBody>
          <a:bodyPr wrap="square" lIns="50800" rIns="50800" tIns="25400" bIns="25400">
            <a:spAutoFit/>
          </a:bodyPr>
          <a:lstStyle/>
          <a:p>
            <a:pPr algn="l"/>
            <a:r>
              <a:rPr sz="1100" b="0" i="0">
                <a:solidFill>
                  <a:srgbClr val="36454F"/>
                </a:solidFill>
                <a:latin typeface="Calibri"/>
              </a:rPr>
              <a:t>cF: 1 → 100+ mM, ΔΠ rises 25–100×</a:t>
            </a:r>
          </a:p>
          <a:p>
            <a:pPr algn="l"/>
            <a:r>
              <a:rPr sz="1100" b="0" i="0">
                <a:solidFill>
                  <a:srgbClr val="36454F"/>
                </a:solidFill>
                <a:latin typeface="Calibri"/>
              </a:rPr>
              <a:t/>
            </a:r>
          </a:p>
          <a:p>
            <a:pPr algn="l"/>
            <a:r>
              <a:rPr sz="1100" b="0" i="0">
                <a:solidFill>
                  <a:srgbClr val="36454F"/>
                </a:solidFill>
                <a:latin typeface="Calibri"/>
              </a:rPr>
              <a:t>End of run: σ·ΔΠ is a major term</a:t>
            </a:r>
          </a:p>
          <a:p>
            <a:pPr algn="l"/>
            <a:r>
              <a:rPr sz="1100" b="0" i="0">
                <a:solidFill>
                  <a:srgbClr val="36454F"/>
                </a:solidFill>
                <a:latin typeface="Calibri"/>
              </a:rPr>
              <a:t/>
            </a:r>
          </a:p>
          <a:p>
            <a:pPr algn="l"/>
            <a:r>
              <a:rPr sz="1100" b="0" i="0">
                <a:solidFill>
                  <a:srgbClr val="36454F"/>
                </a:solidFill>
                <a:latin typeface="Calibri"/>
              </a:rPr>
              <a:t>σ = 1 inflates osmotic backpressure</a:t>
            </a:r>
          </a:p>
          <a:p>
            <a:pPr algn="l"/>
            <a:r>
              <a:rPr sz="1100" b="0" i="0">
                <a:solidFill>
                  <a:srgbClr val="36454F"/>
                </a:solidFill>
                <a:latin typeface="Calibri"/>
              </a:rPr>
              <a:t>to ~2× the true physical value</a:t>
            </a:r>
          </a:p>
          <a:p>
            <a:pPr algn="l"/>
            <a:r>
              <a:rPr sz="1100" b="0" i="0">
                <a:solidFill>
                  <a:srgbClr val="36454F"/>
                </a:solidFill>
                <a:latin typeface="Calibri"/>
              </a:rPr>
              <a:t/>
            </a:r>
          </a:p>
          <a:p>
            <a:pPr algn="l"/>
            <a:r>
              <a:rPr sz="1100" b="0" i="0">
                <a:solidFill>
                  <a:srgbClr val="36454F"/>
                </a:solidFill>
                <a:latin typeface="Calibri"/>
              </a:rPr>
              <a:t>Jw suppressed → mass shortfall.</a:t>
            </a:r>
          </a:p>
          <a:p>
            <a:pPr algn="l"/>
            <a:r>
              <a:rPr sz="1100" b="0" i="0">
                <a:solidFill>
                  <a:srgbClr val="36454F"/>
                </a:solidFill>
                <a:latin typeface="Calibri"/>
              </a:rPr>
              <a:t>Lp pulled low to compromise.</a:t>
            </a:r>
          </a:p>
          <a:p>
            <a:pPr algn="l"/>
            <a:r>
              <a:rPr sz="1100" b="0" i="0">
                <a:solidFill>
                  <a:srgbClr val="36454F"/>
                </a:solidFill>
                <a:latin typeface="Calibri"/>
              </a:rPr>
              <a:t/>
            </a:r>
          </a:p>
          <a:p>
            <a:pPr algn="l"/>
            <a:r>
              <a:rPr sz="1100" b="0" i="0">
                <a:solidFill>
                  <a:srgbClr val="36454F"/>
                </a:solidFill>
                <a:latin typeface="Calibri"/>
              </a:rPr>
              <a:t>Model under-predicts mass.</a:t>
            </a:r>
          </a:p>
        </p:txBody>
      </p:sp>
      <p:sp>
        <p:nvSpPr>
          <p:cNvPr id="19" name="Rectangle 18"/>
          <p:cNvSpPr/>
          <p:nvPr/>
        </p:nvSpPr>
        <p:spPr>
          <a:xfrm>
            <a:off x="8036560" y="2468880"/>
            <a:ext cx="369824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36560" y="2468880"/>
            <a:ext cx="3698240" cy="365760"/>
          </a:xfrm>
          <a:prstGeom prst="rect">
            <a:avLst/>
          </a:prstGeom>
          <a:noFill/>
        </p:spPr>
        <p:txBody>
          <a:bodyPr wrap="square" lIns="50800" rIns="50800" tIns="25400" bIns="25400">
            <a:spAutoFit/>
          </a:bodyPr>
          <a:lstStyle/>
          <a:p>
            <a:pPr algn="ctr"/>
            <a:r>
              <a:rPr sz="1200" b="1" i="0">
                <a:solidFill>
                  <a:srgbClr val="FFFFFF"/>
                </a:solidFill>
                <a:latin typeface="Calibri"/>
              </a:rPr>
              <a:t>DIVALENT / TRIVALENT:  worse</a:t>
            </a:r>
          </a:p>
        </p:txBody>
      </p:sp>
      <p:sp>
        <p:nvSpPr>
          <p:cNvPr id="21" name="Rectangle 20"/>
          <p:cNvSpPr/>
          <p:nvPr/>
        </p:nvSpPr>
        <p:spPr>
          <a:xfrm>
            <a:off x="8036560" y="2834640"/>
            <a:ext cx="3698240" cy="2560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9440" y="2971800"/>
            <a:ext cx="3332480" cy="2377440"/>
          </a:xfrm>
          <a:prstGeom prst="rect">
            <a:avLst/>
          </a:prstGeom>
          <a:noFill/>
        </p:spPr>
        <p:txBody>
          <a:bodyPr wrap="square" lIns="50800" rIns="50800" tIns="25400" bIns="25400">
            <a:spAutoFit/>
          </a:bodyPr>
          <a:lstStyle/>
          <a:p>
            <a:pPr algn="l"/>
            <a:r>
              <a:rPr sz="1100" b="0" i="0">
                <a:solidFill>
                  <a:srgbClr val="36454F"/>
                </a:solidFill>
                <a:latin typeface="Calibri"/>
              </a:rPr>
              <a:t>CaCl2: ni = 3   LaCl3: ni = 4</a:t>
            </a:r>
          </a:p>
          <a:p>
            <a:pPr algn="l"/>
            <a:r>
              <a:rPr sz="1100" b="0" i="0">
                <a:solidFill>
                  <a:srgbClr val="36454F"/>
                </a:solidFill>
                <a:latin typeface="Calibri"/>
              </a:rPr>
              <a:t>(vs NaCl: ni = 2)</a:t>
            </a:r>
          </a:p>
          <a:p>
            <a:pPr algn="l"/>
            <a:r>
              <a:rPr sz="1100" b="0" i="0">
                <a:solidFill>
                  <a:srgbClr val="36454F"/>
                </a:solidFill>
                <a:latin typeface="Calibri"/>
              </a:rPr>
              <a:t/>
            </a:r>
          </a:p>
          <a:p>
            <a:pPr algn="l"/>
            <a:r>
              <a:rPr sz="1100" b="0" i="0">
                <a:solidFill>
                  <a:srgbClr val="36454F"/>
                </a:solidFill>
                <a:latin typeface="Calibri"/>
              </a:rPr>
              <a:t>Per-mM osmotic contribution is</a:t>
            </a:r>
          </a:p>
          <a:p>
            <a:pPr algn="l"/>
            <a:r>
              <a:rPr sz="1100" b="0" i="0">
                <a:solidFill>
                  <a:srgbClr val="36454F"/>
                </a:solidFill>
                <a:latin typeface="Calibri"/>
              </a:rPr>
              <a:t>1.5× larger for CaCl2,</a:t>
            </a:r>
          </a:p>
          <a:p>
            <a:pPr algn="l"/>
            <a:r>
              <a:rPr sz="1100" b="0" i="0">
                <a:solidFill>
                  <a:srgbClr val="36454F"/>
                </a:solidFill>
                <a:latin typeface="Calibri"/>
              </a:rPr>
              <a:t>2× larger for LaCl3.</a:t>
            </a:r>
          </a:p>
          <a:p>
            <a:pPr algn="l"/>
            <a:r>
              <a:rPr sz="1100" b="0" i="0">
                <a:solidFill>
                  <a:srgbClr val="36454F"/>
                </a:solidFill>
                <a:latin typeface="Calibri"/>
              </a:rPr>
              <a:t/>
            </a:r>
          </a:p>
          <a:p>
            <a:pPr algn="l"/>
            <a:r>
              <a:rPr sz="1100" b="0" i="0">
                <a:solidFill>
                  <a:srgbClr val="36454F"/>
                </a:solidFill>
                <a:latin typeface="Calibri"/>
              </a:rPr>
              <a:t>σ = 1 wall on all 5 multivalent</a:t>
            </a:r>
          </a:p>
          <a:p>
            <a:pPr algn="l"/>
            <a:r>
              <a:rPr sz="1100" b="0" i="0">
                <a:solidFill>
                  <a:srgbClr val="36454F"/>
                </a:solidFill>
                <a:latin typeface="Calibri"/>
              </a:rPr>
              <a:t>sheets → worst mass under-</a:t>
            </a:r>
          </a:p>
          <a:p>
            <a:pPr algn="l"/>
            <a:r>
              <a:rPr sz="1100" b="0" i="0">
                <a:solidFill>
                  <a:srgbClr val="36454F"/>
                </a:solidFill>
                <a:latin typeface="Calibri"/>
              </a:rPr>
              <a:t>prediction in the campaign.</a:t>
            </a:r>
          </a:p>
        </p:txBody>
      </p:sp>
      <p:sp>
        <p:nvSpPr>
          <p:cNvPr id="23" name="Rectangle 22"/>
          <p:cNvSpPr/>
          <p:nvPr/>
        </p:nvSpPr>
        <p:spPr>
          <a:xfrm>
            <a:off x="457200" y="5532120"/>
            <a:ext cx="11277600" cy="4572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623560"/>
            <a:ext cx="10911840" cy="274320"/>
          </a:xfrm>
          <a:prstGeom prst="rect">
            <a:avLst/>
          </a:prstGeom>
          <a:noFill/>
        </p:spPr>
        <p:txBody>
          <a:bodyPr wrap="square" lIns="50800" rIns="50800" tIns="25400" bIns="25400">
            <a:spAutoFit/>
          </a:bodyPr>
          <a:lstStyle/>
          <a:p>
            <a:pPr algn="l"/>
            <a:r>
              <a:rPr sz="1100" b="0" i="1">
                <a:solidFill>
                  <a:srgbClr val="FFFFFF"/>
                </a:solidFill>
                <a:latin typeface="Calibri"/>
              </a:rPr>
              <a:t>Diagnosis:  the optimizer landed on σ = 1 because the cF residual channel pulled it there, but σ = 1 is only physically reasonable when ΔΠ is small.  It's a fitting artifact, not a physics result.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7315200" cy="292608"/>
          </a:xfrm>
          <a:prstGeom prst="rect">
            <a:avLst/>
          </a:prstGeom>
          <a:noFill/>
        </p:spPr>
        <p:txBody>
          <a:bodyPr wrap="square" lIns="0" rIns="0" tIns="25400" bIns="25400">
            <a:spAutoFit/>
          </a:bodyPr>
          <a:lstStyle/>
          <a:p>
            <a:pPr algn="l"/>
            <a:r>
              <a:rPr sz="1100" b="1">
                <a:solidFill>
                  <a:srgbClr val="FFFFFF"/>
                </a:solidFill>
                <a:latin typeface="Calibri"/>
              </a:rPr>
              <a:t>13 · CONTOUR DIAGNOSIS + FIX</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600" y="0"/>
            <a:ext cx="822960" cy="292608"/>
          </a:xfrm>
          <a:prstGeom prst="rect">
            <a:avLst/>
          </a:prstGeom>
          <a:noFill/>
        </p:spPr>
        <p:txBody>
          <a:bodyPr wrap="none" lIns="0" rIns="50800" tIns="25400" bIns="25400">
            <a:spAutoFit/>
          </a:bodyPr>
          <a:lstStyle/>
          <a:p>
            <a:pPr algn="r"/>
            <a:r>
              <a:rPr sz="1100" b="1">
                <a:solidFill>
                  <a:srgbClr val="FFFFFF"/>
                </a:solidFill>
                <a:latin typeface="Calibri"/>
              </a:rPr>
              <a:t>13</a:t>
            </a:r>
          </a:p>
        </p:txBody>
      </p:sp>
      <p:sp>
        <p:nvSpPr>
          <p:cNvPr id="6" name="TextBox 5"/>
          <p:cNvSpPr txBox="1"/>
          <p:nvPr/>
        </p:nvSpPr>
        <p:spPr>
          <a:xfrm>
            <a:off x="457200" y="411480"/>
            <a:ext cx="10972800" cy="320040"/>
          </a:xfrm>
          <a:prstGeom prst="rect">
            <a:avLst/>
          </a:prstGeom>
          <a:noFill/>
        </p:spPr>
        <p:txBody>
          <a:bodyPr wrap="none" lIns="0" tIns="0" bIns="0">
            <a:spAutoFit/>
          </a:bodyPr>
          <a:lstStyle/>
          <a:p>
            <a:r>
              <a:rPr sz="1100" b="1" i="1" spc="200">
                <a:solidFill>
                  <a:srgbClr val="02C39A"/>
                </a:solidFill>
                <a:latin typeface="Calibri"/>
              </a:rPr>
              <a:t>σ-Lp CONTOUR — 10 of 11 SHEETS PIN σ AT A BOUND</a:t>
            </a:r>
          </a:p>
        </p:txBody>
      </p:sp>
      <p:sp>
        <p:nvSpPr>
          <p:cNvPr id="7" name="TextBox 6"/>
          <p:cNvSpPr txBox="1"/>
          <p:nvPr/>
        </p:nvSpPr>
        <p:spPr>
          <a:xfrm>
            <a:off x="457200" y="685800"/>
            <a:ext cx="10972800" cy="640080"/>
          </a:xfrm>
          <a:prstGeom prst="rect">
            <a:avLst/>
          </a:prstGeom>
          <a:noFill/>
        </p:spPr>
        <p:txBody>
          <a:bodyPr wrap="square" lIns="0" tIns="0" bIns="0">
            <a:spAutoFit/>
          </a:bodyPr>
          <a:lstStyle/>
          <a:p>
            <a:r>
              <a:rPr sz="2800" b="1">
                <a:solidFill>
                  <a:srgbClr val="065A82"/>
                </a:solidFill>
                <a:latin typeface="Calibri"/>
              </a:rPr>
              <a:t>MC3 SNaCl is the only interior fit.  cF residual floor recovers MC4 SNaCl.</a:t>
            </a:r>
          </a:p>
        </p:txBody>
      </p:sp>
      <p:sp>
        <p:nvSpPr>
          <p:cNvPr id="8" name="Rectangle 7"/>
          <p:cNvSpPr/>
          <p:nvPr/>
        </p:nvSpPr>
        <p:spPr>
          <a:xfrm>
            <a:off x="457200" y="1463040"/>
            <a:ext cx="585216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5852160" cy="365760"/>
          </a:xfrm>
          <a:prstGeom prst="rect">
            <a:avLst/>
          </a:prstGeom>
          <a:noFill/>
        </p:spPr>
        <p:txBody>
          <a:bodyPr wrap="square" lIns="50800" rIns="50800" tIns="25400" bIns="25400">
            <a:spAutoFit/>
          </a:bodyPr>
          <a:lstStyle/>
          <a:p>
            <a:pPr algn="ctr"/>
            <a:r>
              <a:rPr sz="1200" b="1" i="0">
                <a:solidFill>
                  <a:srgbClr val="FFFFFF"/>
                </a:solidFill>
                <a:latin typeface="Calibri"/>
              </a:rPr>
              <a:t>CENTERING FIT ACROSS 11 SHEETS</a:t>
            </a:r>
          </a:p>
        </p:txBody>
      </p:sp>
      <p:sp>
        <p:nvSpPr>
          <p:cNvPr id="10" name="Rectangle 9"/>
          <p:cNvSpPr/>
          <p:nvPr/>
        </p:nvSpPr>
        <p:spPr>
          <a:xfrm>
            <a:off x="457200" y="1828800"/>
            <a:ext cx="5852160"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20240"/>
            <a:ext cx="2011680" cy="304800"/>
          </a:xfrm>
          <a:prstGeom prst="rect">
            <a:avLst/>
          </a:prstGeom>
          <a:noFill/>
        </p:spPr>
        <p:txBody>
          <a:bodyPr wrap="square" lIns="50800" rIns="50800" tIns="25400" bIns="25400">
            <a:spAutoFit/>
          </a:bodyPr>
          <a:lstStyle/>
          <a:p>
            <a:pPr algn="l"/>
            <a:r>
              <a:rPr sz="1000" b="1" i="0">
                <a:solidFill>
                  <a:srgbClr val="065A82"/>
                </a:solidFill>
                <a:latin typeface="Calibri"/>
              </a:rPr>
              <a:t>Sheet</a:t>
            </a:r>
          </a:p>
        </p:txBody>
      </p:sp>
      <p:sp>
        <p:nvSpPr>
          <p:cNvPr id="12" name="TextBox 11"/>
          <p:cNvSpPr txBox="1"/>
          <p:nvPr/>
        </p:nvSpPr>
        <p:spPr>
          <a:xfrm>
            <a:off x="2606040" y="1920240"/>
            <a:ext cx="640080" cy="304800"/>
          </a:xfrm>
          <a:prstGeom prst="rect">
            <a:avLst/>
          </a:prstGeom>
          <a:noFill/>
        </p:spPr>
        <p:txBody>
          <a:bodyPr wrap="square" lIns="50800" rIns="50800" tIns="25400" bIns="25400">
            <a:spAutoFit/>
          </a:bodyPr>
          <a:lstStyle/>
          <a:p>
            <a:pPr algn="ctr"/>
            <a:r>
              <a:rPr sz="1000" b="1" i="0">
                <a:solidFill>
                  <a:srgbClr val="065A82"/>
                </a:solidFill>
                <a:latin typeface="Calibri"/>
              </a:rPr>
              <a:t>Salt</a:t>
            </a:r>
          </a:p>
        </p:txBody>
      </p:sp>
      <p:sp>
        <p:nvSpPr>
          <p:cNvPr id="13" name="TextBox 12"/>
          <p:cNvSpPr txBox="1"/>
          <p:nvPr/>
        </p:nvSpPr>
        <p:spPr>
          <a:xfrm>
            <a:off x="3246120" y="1920240"/>
            <a:ext cx="548640" cy="304800"/>
          </a:xfrm>
          <a:prstGeom prst="rect">
            <a:avLst/>
          </a:prstGeom>
          <a:noFill/>
        </p:spPr>
        <p:txBody>
          <a:bodyPr wrap="square" lIns="50800" rIns="50800" tIns="25400" bIns="25400">
            <a:spAutoFit/>
          </a:bodyPr>
          <a:lstStyle/>
          <a:p>
            <a:pPr algn="ctr"/>
            <a:r>
              <a:rPr sz="1000" b="1" i="0">
                <a:solidFill>
                  <a:srgbClr val="065A82"/>
                </a:solidFill>
                <a:latin typeface="Calibri"/>
              </a:rPr>
              <a:t>Lp</a:t>
            </a:r>
          </a:p>
        </p:txBody>
      </p:sp>
      <p:sp>
        <p:nvSpPr>
          <p:cNvPr id="14" name="TextBox 13"/>
          <p:cNvSpPr txBox="1"/>
          <p:nvPr/>
        </p:nvSpPr>
        <p:spPr>
          <a:xfrm>
            <a:off x="3794760" y="1920240"/>
            <a:ext cx="548640" cy="304800"/>
          </a:xfrm>
          <a:prstGeom prst="rect">
            <a:avLst/>
          </a:prstGeom>
          <a:noFill/>
        </p:spPr>
        <p:txBody>
          <a:bodyPr wrap="square" lIns="50800" rIns="50800" tIns="25400" bIns="25400">
            <a:spAutoFit/>
          </a:bodyPr>
          <a:lstStyle/>
          <a:p>
            <a:pPr algn="ctr"/>
            <a:r>
              <a:rPr sz="1000" b="1" i="0">
                <a:solidFill>
                  <a:srgbClr val="065A82"/>
                </a:solidFill>
                <a:latin typeface="Calibri"/>
              </a:rPr>
              <a:t>B</a:t>
            </a:r>
          </a:p>
        </p:txBody>
      </p:sp>
      <p:sp>
        <p:nvSpPr>
          <p:cNvPr id="15" name="TextBox 14"/>
          <p:cNvSpPr txBox="1"/>
          <p:nvPr/>
        </p:nvSpPr>
        <p:spPr>
          <a:xfrm>
            <a:off x="4343400" y="1920240"/>
            <a:ext cx="594360" cy="304800"/>
          </a:xfrm>
          <a:prstGeom prst="rect">
            <a:avLst/>
          </a:prstGeom>
          <a:noFill/>
        </p:spPr>
        <p:txBody>
          <a:bodyPr wrap="square" lIns="50800" rIns="50800" tIns="25400" bIns="25400">
            <a:spAutoFit/>
          </a:bodyPr>
          <a:lstStyle/>
          <a:p>
            <a:pPr algn="ctr"/>
            <a:r>
              <a:rPr sz="1000" b="1" i="0">
                <a:solidFill>
                  <a:srgbClr val="065A82"/>
                </a:solidFill>
                <a:latin typeface="Calibri"/>
              </a:rPr>
              <a:t>sigma</a:t>
            </a:r>
          </a:p>
        </p:txBody>
      </p:sp>
      <p:sp>
        <p:nvSpPr>
          <p:cNvPr id="16" name="TextBox 15"/>
          <p:cNvSpPr txBox="1"/>
          <p:nvPr/>
        </p:nvSpPr>
        <p:spPr>
          <a:xfrm>
            <a:off x="4937760" y="1920240"/>
            <a:ext cx="868680" cy="304800"/>
          </a:xfrm>
          <a:prstGeom prst="rect">
            <a:avLst/>
          </a:prstGeom>
          <a:noFill/>
        </p:spPr>
        <p:txBody>
          <a:bodyPr wrap="square" lIns="50800" rIns="50800" tIns="25400" bIns="25400">
            <a:spAutoFit/>
          </a:bodyPr>
          <a:lstStyle/>
          <a:p>
            <a:pPr algn="ctr"/>
            <a:r>
              <a:rPr sz="1000" b="1" i="0">
                <a:solidFill>
                  <a:srgbClr val="065A82"/>
                </a:solidFill>
                <a:latin typeface="Calibri"/>
              </a:rPr>
              <a:t>wall?</a:t>
            </a:r>
          </a:p>
        </p:txBody>
      </p:sp>
      <p:sp>
        <p:nvSpPr>
          <p:cNvPr id="17" name="Rectangle 16"/>
          <p:cNvSpPr/>
          <p:nvPr/>
        </p:nvSpPr>
        <p:spPr>
          <a:xfrm>
            <a:off x="502920" y="2225040"/>
            <a:ext cx="5760720" cy="304800"/>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225040"/>
            <a:ext cx="2011680" cy="304800"/>
          </a:xfrm>
          <a:prstGeom prst="rect">
            <a:avLst/>
          </a:prstGeom>
          <a:noFill/>
        </p:spPr>
        <p:txBody>
          <a:bodyPr wrap="square" lIns="50800" rIns="50800" tIns="25400" bIns="25400">
            <a:spAutoFit/>
          </a:bodyPr>
          <a:lstStyle/>
          <a:p>
            <a:pPr algn="l"/>
            <a:r>
              <a:rPr sz="1000" b="0" i="0">
                <a:solidFill>
                  <a:srgbClr val="2C824A"/>
                </a:solidFill>
                <a:latin typeface="Calibri"/>
              </a:rPr>
              <a:t>MC3.07.22.24_SNaCl</a:t>
            </a:r>
          </a:p>
        </p:txBody>
      </p:sp>
      <p:sp>
        <p:nvSpPr>
          <p:cNvPr id="19" name="TextBox 18"/>
          <p:cNvSpPr txBox="1"/>
          <p:nvPr/>
        </p:nvSpPr>
        <p:spPr>
          <a:xfrm>
            <a:off x="2606040" y="2225040"/>
            <a:ext cx="640080" cy="304800"/>
          </a:xfrm>
          <a:prstGeom prst="rect">
            <a:avLst/>
          </a:prstGeom>
          <a:noFill/>
        </p:spPr>
        <p:txBody>
          <a:bodyPr wrap="square" lIns="50800" rIns="50800" tIns="25400" bIns="25400">
            <a:spAutoFit/>
          </a:bodyPr>
          <a:lstStyle/>
          <a:p>
            <a:pPr algn="ctr"/>
            <a:r>
              <a:rPr sz="1000" b="0" i="0">
                <a:solidFill>
                  <a:srgbClr val="2C824A"/>
                </a:solidFill>
                <a:latin typeface="Calibri"/>
              </a:rPr>
              <a:t>NaCl</a:t>
            </a:r>
          </a:p>
        </p:txBody>
      </p:sp>
      <p:sp>
        <p:nvSpPr>
          <p:cNvPr id="20" name="TextBox 19"/>
          <p:cNvSpPr txBox="1"/>
          <p:nvPr/>
        </p:nvSpPr>
        <p:spPr>
          <a:xfrm>
            <a:off x="3246120" y="2225040"/>
            <a:ext cx="548640" cy="304800"/>
          </a:xfrm>
          <a:prstGeom prst="rect">
            <a:avLst/>
          </a:prstGeom>
          <a:noFill/>
        </p:spPr>
        <p:txBody>
          <a:bodyPr wrap="square" lIns="50800" rIns="50800" tIns="25400" bIns="25400">
            <a:spAutoFit/>
          </a:bodyPr>
          <a:lstStyle/>
          <a:p>
            <a:pPr algn="ctr"/>
            <a:r>
              <a:rPr sz="1000" b="0" i="0">
                <a:solidFill>
                  <a:srgbClr val="2C824A"/>
                </a:solidFill>
                <a:latin typeface="Calibri"/>
              </a:rPr>
              <a:t>8.22</a:t>
            </a:r>
          </a:p>
        </p:txBody>
      </p:sp>
      <p:sp>
        <p:nvSpPr>
          <p:cNvPr id="21" name="TextBox 20"/>
          <p:cNvSpPr txBox="1"/>
          <p:nvPr/>
        </p:nvSpPr>
        <p:spPr>
          <a:xfrm>
            <a:off x="3794760" y="2225040"/>
            <a:ext cx="548640" cy="304800"/>
          </a:xfrm>
          <a:prstGeom prst="rect">
            <a:avLst/>
          </a:prstGeom>
          <a:noFill/>
        </p:spPr>
        <p:txBody>
          <a:bodyPr wrap="square" lIns="50800" rIns="50800" tIns="25400" bIns="25400">
            <a:spAutoFit/>
          </a:bodyPr>
          <a:lstStyle/>
          <a:p>
            <a:pPr algn="ctr"/>
            <a:r>
              <a:rPr sz="1000" b="0" i="0">
                <a:solidFill>
                  <a:srgbClr val="2C824A"/>
                </a:solidFill>
                <a:latin typeface="Calibri"/>
              </a:rPr>
              <a:t>14.7</a:t>
            </a:r>
          </a:p>
        </p:txBody>
      </p:sp>
      <p:sp>
        <p:nvSpPr>
          <p:cNvPr id="22" name="TextBox 21"/>
          <p:cNvSpPr txBox="1"/>
          <p:nvPr/>
        </p:nvSpPr>
        <p:spPr>
          <a:xfrm>
            <a:off x="4343400" y="2225040"/>
            <a:ext cx="594360" cy="304800"/>
          </a:xfrm>
          <a:prstGeom prst="rect">
            <a:avLst/>
          </a:prstGeom>
          <a:noFill/>
        </p:spPr>
        <p:txBody>
          <a:bodyPr wrap="square" lIns="50800" rIns="50800" tIns="25400" bIns="25400">
            <a:spAutoFit/>
          </a:bodyPr>
          <a:lstStyle/>
          <a:p>
            <a:pPr algn="ctr"/>
            <a:r>
              <a:rPr sz="1000" b="0" i="0">
                <a:solidFill>
                  <a:srgbClr val="2C824A"/>
                </a:solidFill>
                <a:latin typeface="Calibri"/>
              </a:rPr>
              <a:t>0.46</a:t>
            </a:r>
          </a:p>
        </p:txBody>
      </p:sp>
      <p:sp>
        <p:nvSpPr>
          <p:cNvPr id="23" name="TextBox 22"/>
          <p:cNvSpPr txBox="1"/>
          <p:nvPr/>
        </p:nvSpPr>
        <p:spPr>
          <a:xfrm>
            <a:off x="4937760" y="2225040"/>
            <a:ext cx="868680" cy="304800"/>
          </a:xfrm>
          <a:prstGeom prst="rect">
            <a:avLst/>
          </a:prstGeom>
          <a:noFill/>
        </p:spPr>
        <p:txBody>
          <a:bodyPr wrap="square" lIns="50800" rIns="50800" tIns="25400" bIns="25400">
            <a:spAutoFit/>
          </a:bodyPr>
          <a:lstStyle/>
          <a:p>
            <a:pPr algn="ctr"/>
            <a:r>
              <a:rPr sz="1000" b="0" i="0">
                <a:solidFill>
                  <a:srgbClr val="2C824A"/>
                </a:solidFill>
                <a:latin typeface="Calibri"/>
              </a:rPr>
              <a:t>interior</a:t>
            </a:r>
          </a:p>
        </p:txBody>
      </p:sp>
      <p:sp>
        <p:nvSpPr>
          <p:cNvPr id="24" name="TextBox 23"/>
          <p:cNvSpPr txBox="1"/>
          <p:nvPr/>
        </p:nvSpPr>
        <p:spPr>
          <a:xfrm>
            <a:off x="594360" y="25298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MC2.05.07.24_NaCl</a:t>
            </a:r>
          </a:p>
        </p:txBody>
      </p:sp>
      <p:sp>
        <p:nvSpPr>
          <p:cNvPr id="25" name="TextBox 24"/>
          <p:cNvSpPr txBox="1"/>
          <p:nvPr/>
        </p:nvSpPr>
        <p:spPr>
          <a:xfrm>
            <a:off x="2606040" y="25298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NaCl</a:t>
            </a:r>
          </a:p>
        </p:txBody>
      </p:sp>
      <p:sp>
        <p:nvSpPr>
          <p:cNvPr id="26" name="TextBox 25"/>
          <p:cNvSpPr txBox="1"/>
          <p:nvPr/>
        </p:nvSpPr>
        <p:spPr>
          <a:xfrm>
            <a:off x="3246120" y="25298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9.96</a:t>
            </a:r>
          </a:p>
        </p:txBody>
      </p:sp>
      <p:sp>
        <p:nvSpPr>
          <p:cNvPr id="27" name="TextBox 26"/>
          <p:cNvSpPr txBox="1"/>
          <p:nvPr/>
        </p:nvSpPr>
        <p:spPr>
          <a:xfrm>
            <a:off x="3794760" y="25298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9.68</a:t>
            </a:r>
          </a:p>
        </p:txBody>
      </p:sp>
      <p:sp>
        <p:nvSpPr>
          <p:cNvPr id="28" name="TextBox 27"/>
          <p:cNvSpPr txBox="1"/>
          <p:nvPr/>
        </p:nvSpPr>
        <p:spPr>
          <a:xfrm>
            <a:off x="4343400" y="25298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29" name="TextBox 28"/>
          <p:cNvSpPr txBox="1"/>
          <p:nvPr/>
        </p:nvSpPr>
        <p:spPr>
          <a:xfrm>
            <a:off x="4937760" y="25298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30" name="TextBox 29"/>
          <p:cNvSpPr txBox="1"/>
          <p:nvPr/>
        </p:nvSpPr>
        <p:spPr>
          <a:xfrm>
            <a:off x="594360" y="28346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MC4.07.11.24_SNaCl</a:t>
            </a:r>
          </a:p>
        </p:txBody>
      </p:sp>
      <p:sp>
        <p:nvSpPr>
          <p:cNvPr id="31" name="TextBox 30"/>
          <p:cNvSpPr txBox="1"/>
          <p:nvPr/>
        </p:nvSpPr>
        <p:spPr>
          <a:xfrm>
            <a:off x="2606040" y="28346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NaCl</a:t>
            </a:r>
          </a:p>
        </p:txBody>
      </p:sp>
      <p:sp>
        <p:nvSpPr>
          <p:cNvPr id="32" name="TextBox 31"/>
          <p:cNvSpPr txBox="1"/>
          <p:nvPr/>
        </p:nvSpPr>
        <p:spPr>
          <a:xfrm>
            <a:off x="3246120" y="28346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7.79</a:t>
            </a:r>
          </a:p>
        </p:txBody>
      </p:sp>
      <p:sp>
        <p:nvSpPr>
          <p:cNvPr id="33" name="TextBox 32"/>
          <p:cNvSpPr txBox="1"/>
          <p:nvPr/>
        </p:nvSpPr>
        <p:spPr>
          <a:xfrm>
            <a:off x="3794760" y="28346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2.02</a:t>
            </a:r>
          </a:p>
        </p:txBody>
      </p:sp>
      <p:sp>
        <p:nvSpPr>
          <p:cNvPr id="34" name="TextBox 33"/>
          <p:cNvSpPr txBox="1"/>
          <p:nvPr/>
        </p:nvSpPr>
        <p:spPr>
          <a:xfrm>
            <a:off x="4343400" y="28346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0.00</a:t>
            </a:r>
          </a:p>
        </p:txBody>
      </p:sp>
      <p:sp>
        <p:nvSpPr>
          <p:cNvPr id="35" name="TextBox 34"/>
          <p:cNvSpPr txBox="1"/>
          <p:nvPr/>
        </p:nvSpPr>
        <p:spPr>
          <a:xfrm>
            <a:off x="4937760" y="28346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36" name="TextBox 35"/>
          <p:cNvSpPr txBox="1"/>
          <p:nvPr/>
        </p:nvSpPr>
        <p:spPr>
          <a:xfrm>
            <a:off x="594360" y="31394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MC5.07.23.24_NaCl</a:t>
            </a:r>
          </a:p>
        </p:txBody>
      </p:sp>
      <p:sp>
        <p:nvSpPr>
          <p:cNvPr id="37" name="TextBox 36"/>
          <p:cNvSpPr txBox="1"/>
          <p:nvPr/>
        </p:nvSpPr>
        <p:spPr>
          <a:xfrm>
            <a:off x="2606040" y="31394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NaCl</a:t>
            </a:r>
          </a:p>
        </p:txBody>
      </p:sp>
      <p:sp>
        <p:nvSpPr>
          <p:cNvPr id="38" name="TextBox 37"/>
          <p:cNvSpPr txBox="1"/>
          <p:nvPr/>
        </p:nvSpPr>
        <p:spPr>
          <a:xfrm>
            <a:off x="3246120" y="31394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10.03</a:t>
            </a:r>
          </a:p>
        </p:txBody>
      </p:sp>
      <p:sp>
        <p:nvSpPr>
          <p:cNvPr id="39" name="TextBox 38"/>
          <p:cNvSpPr txBox="1"/>
          <p:nvPr/>
        </p:nvSpPr>
        <p:spPr>
          <a:xfrm>
            <a:off x="3794760" y="31394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3.67</a:t>
            </a:r>
          </a:p>
        </p:txBody>
      </p:sp>
      <p:sp>
        <p:nvSpPr>
          <p:cNvPr id="40" name="TextBox 39"/>
          <p:cNvSpPr txBox="1"/>
          <p:nvPr/>
        </p:nvSpPr>
        <p:spPr>
          <a:xfrm>
            <a:off x="4343400" y="31394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41" name="TextBox 40"/>
          <p:cNvSpPr txBox="1"/>
          <p:nvPr/>
        </p:nvSpPr>
        <p:spPr>
          <a:xfrm>
            <a:off x="4937760" y="31394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42" name="TextBox 41"/>
          <p:cNvSpPr txBox="1"/>
          <p:nvPr/>
        </p:nvSpPr>
        <p:spPr>
          <a:xfrm>
            <a:off x="594360" y="34442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MC5.07.23.24_SNaCl</a:t>
            </a:r>
          </a:p>
        </p:txBody>
      </p:sp>
      <p:sp>
        <p:nvSpPr>
          <p:cNvPr id="43" name="TextBox 42"/>
          <p:cNvSpPr txBox="1"/>
          <p:nvPr/>
        </p:nvSpPr>
        <p:spPr>
          <a:xfrm>
            <a:off x="2606040" y="34442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NaCl</a:t>
            </a:r>
          </a:p>
        </p:txBody>
      </p:sp>
      <p:sp>
        <p:nvSpPr>
          <p:cNvPr id="44" name="TextBox 43"/>
          <p:cNvSpPr txBox="1"/>
          <p:nvPr/>
        </p:nvSpPr>
        <p:spPr>
          <a:xfrm>
            <a:off x="3246120" y="34442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9.45</a:t>
            </a:r>
          </a:p>
        </p:txBody>
      </p:sp>
      <p:sp>
        <p:nvSpPr>
          <p:cNvPr id="45" name="TextBox 44"/>
          <p:cNvSpPr txBox="1"/>
          <p:nvPr/>
        </p:nvSpPr>
        <p:spPr>
          <a:xfrm>
            <a:off x="3794760" y="34442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3.04</a:t>
            </a:r>
          </a:p>
        </p:txBody>
      </p:sp>
      <p:sp>
        <p:nvSpPr>
          <p:cNvPr id="46" name="TextBox 45"/>
          <p:cNvSpPr txBox="1"/>
          <p:nvPr/>
        </p:nvSpPr>
        <p:spPr>
          <a:xfrm>
            <a:off x="4343400" y="34442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47" name="TextBox 46"/>
          <p:cNvSpPr txBox="1"/>
          <p:nvPr/>
        </p:nvSpPr>
        <p:spPr>
          <a:xfrm>
            <a:off x="4937760" y="34442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48" name="TextBox 47"/>
          <p:cNvSpPr txBox="1"/>
          <p:nvPr/>
        </p:nvSpPr>
        <p:spPr>
          <a:xfrm>
            <a:off x="594360" y="37490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MC5.07.23.24_S2NaCl</a:t>
            </a:r>
          </a:p>
        </p:txBody>
      </p:sp>
      <p:sp>
        <p:nvSpPr>
          <p:cNvPr id="49" name="TextBox 48"/>
          <p:cNvSpPr txBox="1"/>
          <p:nvPr/>
        </p:nvSpPr>
        <p:spPr>
          <a:xfrm>
            <a:off x="2606040" y="37490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NaCl</a:t>
            </a:r>
          </a:p>
        </p:txBody>
      </p:sp>
      <p:sp>
        <p:nvSpPr>
          <p:cNvPr id="50" name="TextBox 49"/>
          <p:cNvSpPr txBox="1"/>
          <p:nvPr/>
        </p:nvSpPr>
        <p:spPr>
          <a:xfrm>
            <a:off x="3246120" y="37490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7.38</a:t>
            </a:r>
          </a:p>
        </p:txBody>
      </p:sp>
      <p:sp>
        <p:nvSpPr>
          <p:cNvPr id="51" name="TextBox 50"/>
          <p:cNvSpPr txBox="1"/>
          <p:nvPr/>
        </p:nvSpPr>
        <p:spPr>
          <a:xfrm>
            <a:off x="3794760" y="37490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10.2</a:t>
            </a:r>
          </a:p>
        </p:txBody>
      </p:sp>
      <p:sp>
        <p:nvSpPr>
          <p:cNvPr id="52" name="TextBox 51"/>
          <p:cNvSpPr txBox="1"/>
          <p:nvPr/>
        </p:nvSpPr>
        <p:spPr>
          <a:xfrm>
            <a:off x="4343400" y="37490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0.00</a:t>
            </a:r>
          </a:p>
        </p:txBody>
      </p:sp>
      <p:sp>
        <p:nvSpPr>
          <p:cNvPr id="53" name="TextBox 52"/>
          <p:cNvSpPr txBox="1"/>
          <p:nvPr/>
        </p:nvSpPr>
        <p:spPr>
          <a:xfrm>
            <a:off x="4937760" y="37490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54" name="TextBox 53"/>
          <p:cNvSpPr txBox="1"/>
          <p:nvPr/>
        </p:nvSpPr>
        <p:spPr>
          <a:xfrm>
            <a:off x="594360" y="40538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MC2.05.07.24_CaCl2</a:t>
            </a:r>
          </a:p>
        </p:txBody>
      </p:sp>
      <p:sp>
        <p:nvSpPr>
          <p:cNvPr id="55" name="TextBox 54"/>
          <p:cNvSpPr txBox="1"/>
          <p:nvPr/>
        </p:nvSpPr>
        <p:spPr>
          <a:xfrm>
            <a:off x="2606040" y="40538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CaCl2</a:t>
            </a:r>
          </a:p>
        </p:txBody>
      </p:sp>
      <p:sp>
        <p:nvSpPr>
          <p:cNvPr id="56" name="TextBox 55"/>
          <p:cNvSpPr txBox="1"/>
          <p:nvPr/>
        </p:nvSpPr>
        <p:spPr>
          <a:xfrm>
            <a:off x="3246120" y="40538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4.00</a:t>
            </a:r>
          </a:p>
        </p:txBody>
      </p:sp>
      <p:sp>
        <p:nvSpPr>
          <p:cNvPr id="57" name="TextBox 56"/>
          <p:cNvSpPr txBox="1"/>
          <p:nvPr/>
        </p:nvSpPr>
        <p:spPr>
          <a:xfrm>
            <a:off x="3794760" y="40538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0.50</a:t>
            </a:r>
          </a:p>
        </p:txBody>
      </p:sp>
      <p:sp>
        <p:nvSpPr>
          <p:cNvPr id="58" name="TextBox 57"/>
          <p:cNvSpPr txBox="1"/>
          <p:nvPr/>
        </p:nvSpPr>
        <p:spPr>
          <a:xfrm>
            <a:off x="4343400" y="40538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59" name="TextBox 58"/>
          <p:cNvSpPr txBox="1"/>
          <p:nvPr/>
        </p:nvSpPr>
        <p:spPr>
          <a:xfrm>
            <a:off x="4937760" y="40538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60" name="TextBox 59"/>
          <p:cNvSpPr txBox="1"/>
          <p:nvPr/>
        </p:nvSpPr>
        <p:spPr>
          <a:xfrm>
            <a:off x="594360" y="43586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MC3.07.11.24_SCaCl2</a:t>
            </a:r>
          </a:p>
        </p:txBody>
      </p:sp>
      <p:sp>
        <p:nvSpPr>
          <p:cNvPr id="61" name="TextBox 60"/>
          <p:cNvSpPr txBox="1"/>
          <p:nvPr/>
        </p:nvSpPr>
        <p:spPr>
          <a:xfrm>
            <a:off x="2606040" y="43586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CaCl2</a:t>
            </a:r>
          </a:p>
        </p:txBody>
      </p:sp>
      <p:sp>
        <p:nvSpPr>
          <p:cNvPr id="62" name="TextBox 61"/>
          <p:cNvSpPr txBox="1"/>
          <p:nvPr/>
        </p:nvSpPr>
        <p:spPr>
          <a:xfrm>
            <a:off x="3246120" y="43586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5.53</a:t>
            </a:r>
          </a:p>
        </p:txBody>
      </p:sp>
      <p:sp>
        <p:nvSpPr>
          <p:cNvPr id="63" name="TextBox 62"/>
          <p:cNvSpPr txBox="1"/>
          <p:nvPr/>
        </p:nvSpPr>
        <p:spPr>
          <a:xfrm>
            <a:off x="3794760" y="43586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9.00</a:t>
            </a:r>
          </a:p>
        </p:txBody>
      </p:sp>
      <p:sp>
        <p:nvSpPr>
          <p:cNvPr id="64" name="TextBox 63"/>
          <p:cNvSpPr txBox="1"/>
          <p:nvPr/>
        </p:nvSpPr>
        <p:spPr>
          <a:xfrm>
            <a:off x="4343400" y="43586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65" name="TextBox 64"/>
          <p:cNvSpPr txBox="1"/>
          <p:nvPr/>
        </p:nvSpPr>
        <p:spPr>
          <a:xfrm>
            <a:off x="4937760" y="43586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66" name="TextBox 65"/>
          <p:cNvSpPr txBox="1"/>
          <p:nvPr/>
        </p:nvSpPr>
        <p:spPr>
          <a:xfrm>
            <a:off x="594360" y="46634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MC3.07.12.24_S2CaCl2</a:t>
            </a:r>
          </a:p>
        </p:txBody>
      </p:sp>
      <p:sp>
        <p:nvSpPr>
          <p:cNvPr id="67" name="TextBox 66"/>
          <p:cNvSpPr txBox="1"/>
          <p:nvPr/>
        </p:nvSpPr>
        <p:spPr>
          <a:xfrm>
            <a:off x="2606040" y="46634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CaCl2</a:t>
            </a:r>
          </a:p>
        </p:txBody>
      </p:sp>
      <p:sp>
        <p:nvSpPr>
          <p:cNvPr id="68" name="TextBox 67"/>
          <p:cNvSpPr txBox="1"/>
          <p:nvPr/>
        </p:nvSpPr>
        <p:spPr>
          <a:xfrm>
            <a:off x="3246120" y="46634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4.63</a:t>
            </a:r>
          </a:p>
        </p:txBody>
      </p:sp>
      <p:sp>
        <p:nvSpPr>
          <p:cNvPr id="69" name="TextBox 68"/>
          <p:cNvSpPr txBox="1"/>
          <p:nvPr/>
        </p:nvSpPr>
        <p:spPr>
          <a:xfrm>
            <a:off x="3794760" y="46634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30.0</a:t>
            </a:r>
          </a:p>
        </p:txBody>
      </p:sp>
      <p:sp>
        <p:nvSpPr>
          <p:cNvPr id="70" name="TextBox 69"/>
          <p:cNvSpPr txBox="1"/>
          <p:nvPr/>
        </p:nvSpPr>
        <p:spPr>
          <a:xfrm>
            <a:off x="4343400" y="46634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71" name="TextBox 70"/>
          <p:cNvSpPr txBox="1"/>
          <p:nvPr/>
        </p:nvSpPr>
        <p:spPr>
          <a:xfrm>
            <a:off x="4937760" y="46634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 × 2</a:t>
            </a:r>
          </a:p>
        </p:txBody>
      </p:sp>
      <p:sp>
        <p:nvSpPr>
          <p:cNvPr id="72" name="TextBox 71"/>
          <p:cNvSpPr txBox="1"/>
          <p:nvPr/>
        </p:nvSpPr>
        <p:spPr>
          <a:xfrm>
            <a:off x="594360" y="49682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MC2.05.21.24_LaCl3</a:t>
            </a:r>
          </a:p>
        </p:txBody>
      </p:sp>
      <p:sp>
        <p:nvSpPr>
          <p:cNvPr id="73" name="TextBox 72"/>
          <p:cNvSpPr txBox="1"/>
          <p:nvPr/>
        </p:nvSpPr>
        <p:spPr>
          <a:xfrm>
            <a:off x="2606040" y="49682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LaCl3</a:t>
            </a:r>
          </a:p>
        </p:txBody>
      </p:sp>
      <p:sp>
        <p:nvSpPr>
          <p:cNvPr id="74" name="TextBox 73"/>
          <p:cNvSpPr txBox="1"/>
          <p:nvPr/>
        </p:nvSpPr>
        <p:spPr>
          <a:xfrm>
            <a:off x="3246120" y="49682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2.49</a:t>
            </a:r>
          </a:p>
        </p:txBody>
      </p:sp>
      <p:sp>
        <p:nvSpPr>
          <p:cNvPr id="75" name="TextBox 74"/>
          <p:cNvSpPr txBox="1"/>
          <p:nvPr/>
        </p:nvSpPr>
        <p:spPr>
          <a:xfrm>
            <a:off x="3794760" y="49682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0.31</a:t>
            </a:r>
          </a:p>
        </p:txBody>
      </p:sp>
      <p:sp>
        <p:nvSpPr>
          <p:cNvPr id="76" name="TextBox 75"/>
          <p:cNvSpPr txBox="1"/>
          <p:nvPr/>
        </p:nvSpPr>
        <p:spPr>
          <a:xfrm>
            <a:off x="4343400" y="49682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77" name="TextBox 76"/>
          <p:cNvSpPr txBox="1"/>
          <p:nvPr/>
        </p:nvSpPr>
        <p:spPr>
          <a:xfrm>
            <a:off x="4937760" y="49682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78" name="TextBox 77"/>
          <p:cNvSpPr txBox="1"/>
          <p:nvPr/>
        </p:nvSpPr>
        <p:spPr>
          <a:xfrm>
            <a:off x="594360" y="5273040"/>
            <a:ext cx="2011680" cy="304800"/>
          </a:xfrm>
          <a:prstGeom prst="rect">
            <a:avLst/>
          </a:prstGeom>
          <a:noFill/>
        </p:spPr>
        <p:txBody>
          <a:bodyPr wrap="square" lIns="50800" rIns="50800" tIns="25400" bIns="25400">
            <a:spAutoFit/>
          </a:bodyPr>
          <a:lstStyle/>
          <a:p>
            <a:pPr algn="l"/>
            <a:r>
              <a:rPr sz="1000" b="1" i="0">
                <a:solidFill>
                  <a:srgbClr val="CC3333"/>
                </a:solidFill>
                <a:latin typeface="Calibri"/>
              </a:rPr>
              <a:t>MC4.07.11.24_SLaCl3</a:t>
            </a:r>
          </a:p>
        </p:txBody>
      </p:sp>
      <p:sp>
        <p:nvSpPr>
          <p:cNvPr id="79" name="TextBox 78"/>
          <p:cNvSpPr txBox="1"/>
          <p:nvPr/>
        </p:nvSpPr>
        <p:spPr>
          <a:xfrm>
            <a:off x="2606040" y="5273040"/>
            <a:ext cx="640080" cy="304800"/>
          </a:xfrm>
          <a:prstGeom prst="rect">
            <a:avLst/>
          </a:prstGeom>
          <a:noFill/>
        </p:spPr>
        <p:txBody>
          <a:bodyPr wrap="square" lIns="50800" rIns="50800" tIns="25400" bIns="25400">
            <a:spAutoFit/>
          </a:bodyPr>
          <a:lstStyle/>
          <a:p>
            <a:pPr algn="ctr"/>
            <a:r>
              <a:rPr sz="1000" b="1" i="0">
                <a:solidFill>
                  <a:srgbClr val="CC3333"/>
                </a:solidFill>
                <a:latin typeface="Calibri"/>
              </a:rPr>
              <a:t>LaCl3</a:t>
            </a:r>
          </a:p>
        </p:txBody>
      </p:sp>
      <p:sp>
        <p:nvSpPr>
          <p:cNvPr id="80" name="TextBox 79"/>
          <p:cNvSpPr txBox="1"/>
          <p:nvPr/>
        </p:nvSpPr>
        <p:spPr>
          <a:xfrm>
            <a:off x="3246120" y="52730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2.78</a:t>
            </a:r>
          </a:p>
        </p:txBody>
      </p:sp>
      <p:sp>
        <p:nvSpPr>
          <p:cNvPr id="81" name="TextBox 80"/>
          <p:cNvSpPr txBox="1"/>
          <p:nvPr/>
        </p:nvSpPr>
        <p:spPr>
          <a:xfrm>
            <a:off x="3794760" y="5273040"/>
            <a:ext cx="548640" cy="304800"/>
          </a:xfrm>
          <a:prstGeom prst="rect">
            <a:avLst/>
          </a:prstGeom>
          <a:noFill/>
        </p:spPr>
        <p:txBody>
          <a:bodyPr wrap="square" lIns="50800" rIns="50800" tIns="25400" bIns="25400">
            <a:spAutoFit/>
          </a:bodyPr>
          <a:lstStyle/>
          <a:p>
            <a:pPr algn="ctr"/>
            <a:r>
              <a:rPr sz="1000" b="1" i="0">
                <a:solidFill>
                  <a:srgbClr val="CC3333"/>
                </a:solidFill>
                <a:latin typeface="Calibri"/>
              </a:rPr>
              <a:t>0.17</a:t>
            </a:r>
          </a:p>
        </p:txBody>
      </p:sp>
      <p:sp>
        <p:nvSpPr>
          <p:cNvPr id="82" name="TextBox 81"/>
          <p:cNvSpPr txBox="1"/>
          <p:nvPr/>
        </p:nvSpPr>
        <p:spPr>
          <a:xfrm>
            <a:off x="4343400" y="5273040"/>
            <a:ext cx="594360" cy="304800"/>
          </a:xfrm>
          <a:prstGeom prst="rect">
            <a:avLst/>
          </a:prstGeom>
          <a:noFill/>
        </p:spPr>
        <p:txBody>
          <a:bodyPr wrap="square" lIns="50800" rIns="50800" tIns="25400" bIns="25400">
            <a:spAutoFit/>
          </a:bodyPr>
          <a:lstStyle/>
          <a:p>
            <a:pPr algn="ctr"/>
            <a:r>
              <a:rPr sz="1000" b="1" i="0">
                <a:solidFill>
                  <a:srgbClr val="CC3333"/>
                </a:solidFill>
                <a:latin typeface="Calibri"/>
              </a:rPr>
              <a:t>1.00</a:t>
            </a:r>
          </a:p>
        </p:txBody>
      </p:sp>
      <p:sp>
        <p:nvSpPr>
          <p:cNvPr id="83" name="TextBox 82"/>
          <p:cNvSpPr txBox="1"/>
          <p:nvPr/>
        </p:nvSpPr>
        <p:spPr>
          <a:xfrm>
            <a:off x="4937760" y="5273040"/>
            <a:ext cx="868680" cy="304800"/>
          </a:xfrm>
          <a:prstGeom prst="rect">
            <a:avLst/>
          </a:prstGeom>
          <a:noFill/>
        </p:spPr>
        <p:txBody>
          <a:bodyPr wrap="square" lIns="50800" rIns="50800" tIns="25400" bIns="25400">
            <a:spAutoFit/>
          </a:bodyPr>
          <a:lstStyle/>
          <a:p>
            <a:pPr algn="ctr"/>
            <a:r>
              <a:rPr sz="1000" b="1" i="0">
                <a:solidFill>
                  <a:srgbClr val="CC3333"/>
                </a:solidFill>
                <a:latin typeface="Calibri"/>
              </a:rPr>
              <a:t>WALL</a:t>
            </a:r>
          </a:p>
        </p:txBody>
      </p:sp>
      <p:sp>
        <p:nvSpPr>
          <p:cNvPr id="84" name="Rectangle 83"/>
          <p:cNvSpPr/>
          <p:nvPr/>
        </p:nvSpPr>
        <p:spPr>
          <a:xfrm>
            <a:off x="6492240" y="1463040"/>
            <a:ext cx="533400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92240" y="1463040"/>
            <a:ext cx="5334000" cy="365760"/>
          </a:xfrm>
          <a:prstGeom prst="rect">
            <a:avLst/>
          </a:prstGeom>
          <a:noFill/>
        </p:spPr>
        <p:txBody>
          <a:bodyPr wrap="square" lIns="50800" rIns="50800" tIns="25400" bIns="25400">
            <a:spAutoFit/>
          </a:bodyPr>
          <a:lstStyle/>
          <a:p>
            <a:pPr algn="ctr"/>
            <a:r>
              <a:rPr sz="1200" b="1" i="0">
                <a:solidFill>
                  <a:srgbClr val="FFFFFF"/>
                </a:solidFill>
                <a:latin typeface="Calibri"/>
              </a:rPr>
              <a:t>cF RESIDUAL FLOOR  ·  MC4.07.11.24_SNaCl  ·  proof of concept</a:t>
            </a:r>
          </a:p>
        </p:txBody>
      </p:sp>
      <p:sp>
        <p:nvSpPr>
          <p:cNvPr id="86" name="Rectangle 85"/>
          <p:cNvSpPr/>
          <p:nvPr/>
        </p:nvSpPr>
        <p:spPr>
          <a:xfrm>
            <a:off x="6492240" y="1828800"/>
            <a:ext cx="5334000"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675120" y="1920240"/>
            <a:ext cx="4968240" cy="1097280"/>
          </a:xfrm>
          <a:prstGeom prst="rect">
            <a:avLst/>
          </a:prstGeom>
          <a:noFill/>
        </p:spPr>
        <p:txBody>
          <a:bodyPr wrap="square" lIns="50800" rIns="50800" tIns="25400" bIns="25400">
            <a:spAutoFit/>
          </a:bodyPr>
          <a:lstStyle/>
          <a:p>
            <a:pPr algn="l"/>
            <a:r>
              <a:rPr sz="1000" b="0" i="1">
                <a:solidFill>
                  <a:srgbClr val="36454F"/>
                </a:solidFill>
                <a:latin typeface="Calibri"/>
              </a:rPr>
              <a:t>0.3 % relative cF error at 100 mM = 0.3 mM tolerance — tighter than any</a:t>
            </a:r>
          </a:p>
          <a:p>
            <a:pPr algn="l"/>
            <a:r>
              <a:rPr sz="1000" b="0" i="1">
                <a:solidFill>
                  <a:srgbClr val="36454F"/>
                </a:solidFill>
                <a:latin typeface="Calibri"/>
              </a:rPr>
              <a:t>actual measurement noise.  Flooring the cF residual at 1 mM lets the</a:t>
            </a:r>
          </a:p>
          <a:p>
            <a:pPr algn="l"/>
            <a:r>
              <a:rPr sz="1000" b="0" i="1">
                <a:solidFill>
                  <a:srgbClr val="36454F"/>
                </a:solidFill>
                <a:latin typeface="Calibri"/>
              </a:rPr>
              <a:t>optimizer release σ off the σ = 0 wall.</a:t>
            </a:r>
          </a:p>
        </p:txBody>
      </p:sp>
      <p:sp>
        <p:nvSpPr>
          <p:cNvPr id="88" name="TextBox 87"/>
          <p:cNvSpPr txBox="1"/>
          <p:nvPr/>
        </p:nvSpPr>
        <p:spPr>
          <a:xfrm>
            <a:off x="6629400" y="3063240"/>
            <a:ext cx="1371600" cy="293914"/>
          </a:xfrm>
          <a:prstGeom prst="rect">
            <a:avLst/>
          </a:prstGeom>
          <a:noFill/>
        </p:spPr>
        <p:txBody>
          <a:bodyPr wrap="square" lIns="50800" rIns="50800" tIns="25400" bIns="25400">
            <a:spAutoFit/>
          </a:bodyPr>
          <a:lstStyle/>
          <a:p>
            <a:pPr algn="l"/>
            <a:r>
              <a:rPr sz="1000" b="1" i="0">
                <a:solidFill>
                  <a:srgbClr val="065A82"/>
                </a:solidFill>
                <a:latin typeface="Calibri"/>
              </a:rPr>
              <a:t/>
            </a:r>
          </a:p>
        </p:txBody>
      </p:sp>
      <p:sp>
        <p:nvSpPr>
          <p:cNvPr id="89" name="TextBox 88"/>
          <p:cNvSpPr txBox="1"/>
          <p:nvPr/>
        </p:nvSpPr>
        <p:spPr>
          <a:xfrm>
            <a:off x="8001000" y="3063240"/>
            <a:ext cx="914400" cy="293914"/>
          </a:xfrm>
          <a:prstGeom prst="rect">
            <a:avLst/>
          </a:prstGeom>
          <a:noFill/>
        </p:spPr>
        <p:txBody>
          <a:bodyPr wrap="square" lIns="50800" rIns="50800" tIns="25400" bIns="25400">
            <a:spAutoFit/>
          </a:bodyPr>
          <a:lstStyle/>
          <a:p>
            <a:pPr algn="ctr"/>
            <a:r>
              <a:rPr sz="1000" b="1" i="0">
                <a:solidFill>
                  <a:srgbClr val="065A82"/>
                </a:solidFill>
                <a:latin typeface="Calibri"/>
              </a:rPr>
              <a:t>ORIGINAL</a:t>
            </a:r>
          </a:p>
        </p:txBody>
      </p:sp>
      <p:sp>
        <p:nvSpPr>
          <p:cNvPr id="90" name="TextBox 89"/>
          <p:cNvSpPr txBox="1"/>
          <p:nvPr/>
        </p:nvSpPr>
        <p:spPr>
          <a:xfrm>
            <a:off x="8915400" y="3063240"/>
            <a:ext cx="1143000" cy="293914"/>
          </a:xfrm>
          <a:prstGeom prst="rect">
            <a:avLst/>
          </a:prstGeom>
          <a:noFill/>
        </p:spPr>
        <p:txBody>
          <a:bodyPr wrap="square" lIns="50800" rIns="50800" tIns="25400" bIns="25400">
            <a:spAutoFit/>
          </a:bodyPr>
          <a:lstStyle/>
          <a:p>
            <a:pPr algn="ctr"/>
            <a:r>
              <a:rPr sz="1000" b="1" i="0">
                <a:solidFill>
                  <a:srgbClr val="065A82"/>
                </a:solidFill>
                <a:latin typeface="Calibri"/>
              </a:rPr>
              <a:t>WITH FLOOR</a:t>
            </a:r>
          </a:p>
        </p:txBody>
      </p:sp>
      <p:sp>
        <p:nvSpPr>
          <p:cNvPr id="91" name="TextBox 90"/>
          <p:cNvSpPr txBox="1"/>
          <p:nvPr/>
        </p:nvSpPr>
        <p:spPr>
          <a:xfrm>
            <a:off x="10058400" y="3063240"/>
            <a:ext cx="960120" cy="293914"/>
          </a:xfrm>
          <a:prstGeom prst="rect">
            <a:avLst/>
          </a:prstGeom>
          <a:noFill/>
        </p:spPr>
        <p:txBody>
          <a:bodyPr wrap="square" lIns="50800" rIns="50800" tIns="25400" bIns="25400">
            <a:spAutoFit/>
          </a:bodyPr>
          <a:lstStyle/>
          <a:p>
            <a:pPr algn="ctr"/>
            <a:r>
              <a:rPr sz="1000" b="1" i="0">
                <a:solidFill>
                  <a:srgbClr val="065A82"/>
                </a:solidFill>
                <a:latin typeface="Calibri"/>
              </a:rPr>
              <a:t>Δ</a:t>
            </a:r>
          </a:p>
        </p:txBody>
      </p:sp>
      <p:sp>
        <p:nvSpPr>
          <p:cNvPr id="92" name="TextBox 91"/>
          <p:cNvSpPr txBox="1"/>
          <p:nvPr/>
        </p:nvSpPr>
        <p:spPr>
          <a:xfrm>
            <a:off x="6629400" y="3357154"/>
            <a:ext cx="1371600" cy="293914"/>
          </a:xfrm>
          <a:prstGeom prst="rect">
            <a:avLst/>
          </a:prstGeom>
          <a:noFill/>
        </p:spPr>
        <p:txBody>
          <a:bodyPr wrap="square" lIns="50800" rIns="50800" tIns="25400" bIns="25400">
            <a:spAutoFit/>
          </a:bodyPr>
          <a:lstStyle/>
          <a:p>
            <a:pPr algn="l"/>
            <a:r>
              <a:rPr sz="1000" b="0" i="0">
                <a:solidFill>
                  <a:srgbClr val="36454F"/>
                </a:solidFill>
                <a:latin typeface="Calibri"/>
              </a:rPr>
              <a:t>Lp</a:t>
            </a:r>
          </a:p>
        </p:txBody>
      </p:sp>
      <p:sp>
        <p:nvSpPr>
          <p:cNvPr id="93" name="TextBox 92"/>
          <p:cNvSpPr txBox="1"/>
          <p:nvPr/>
        </p:nvSpPr>
        <p:spPr>
          <a:xfrm>
            <a:off x="8001000" y="3357154"/>
            <a:ext cx="914400" cy="293914"/>
          </a:xfrm>
          <a:prstGeom prst="rect">
            <a:avLst/>
          </a:prstGeom>
          <a:noFill/>
        </p:spPr>
        <p:txBody>
          <a:bodyPr wrap="square" lIns="50800" rIns="50800" tIns="25400" bIns="25400">
            <a:spAutoFit/>
          </a:bodyPr>
          <a:lstStyle/>
          <a:p>
            <a:pPr algn="ctr"/>
            <a:r>
              <a:rPr sz="1000" b="0" i="0">
                <a:solidFill>
                  <a:srgbClr val="36454F"/>
                </a:solidFill>
                <a:latin typeface="Calibri"/>
              </a:rPr>
              <a:t>7.79</a:t>
            </a:r>
          </a:p>
        </p:txBody>
      </p:sp>
      <p:sp>
        <p:nvSpPr>
          <p:cNvPr id="94" name="TextBox 93"/>
          <p:cNvSpPr txBox="1"/>
          <p:nvPr/>
        </p:nvSpPr>
        <p:spPr>
          <a:xfrm>
            <a:off x="8915400" y="3357154"/>
            <a:ext cx="1143000" cy="293914"/>
          </a:xfrm>
          <a:prstGeom prst="rect">
            <a:avLst/>
          </a:prstGeom>
          <a:noFill/>
        </p:spPr>
        <p:txBody>
          <a:bodyPr wrap="square" lIns="50800" rIns="50800" tIns="25400" bIns="25400">
            <a:spAutoFit/>
          </a:bodyPr>
          <a:lstStyle/>
          <a:p>
            <a:pPr algn="ctr"/>
            <a:r>
              <a:rPr sz="1000" b="0" i="0">
                <a:solidFill>
                  <a:srgbClr val="36454F"/>
                </a:solidFill>
                <a:latin typeface="Calibri"/>
              </a:rPr>
              <a:t>9.70</a:t>
            </a:r>
          </a:p>
        </p:txBody>
      </p:sp>
      <p:sp>
        <p:nvSpPr>
          <p:cNvPr id="95" name="TextBox 94"/>
          <p:cNvSpPr txBox="1"/>
          <p:nvPr/>
        </p:nvSpPr>
        <p:spPr>
          <a:xfrm>
            <a:off x="10058400" y="3357154"/>
            <a:ext cx="960120" cy="293914"/>
          </a:xfrm>
          <a:prstGeom prst="rect">
            <a:avLst/>
          </a:prstGeom>
          <a:noFill/>
        </p:spPr>
        <p:txBody>
          <a:bodyPr wrap="square" lIns="50800" rIns="50800" tIns="25400" bIns="25400">
            <a:spAutoFit/>
          </a:bodyPr>
          <a:lstStyle/>
          <a:p>
            <a:pPr algn="ctr"/>
            <a:r>
              <a:rPr sz="1000" b="0" i="0">
                <a:solidFill>
                  <a:srgbClr val="36454F"/>
                </a:solidFill>
                <a:latin typeface="Calibri"/>
              </a:rPr>
              <a:t>+24 %</a:t>
            </a:r>
          </a:p>
        </p:txBody>
      </p:sp>
      <p:sp>
        <p:nvSpPr>
          <p:cNvPr id="96" name="TextBox 95"/>
          <p:cNvSpPr txBox="1"/>
          <p:nvPr/>
        </p:nvSpPr>
        <p:spPr>
          <a:xfrm>
            <a:off x="6629400" y="3651068"/>
            <a:ext cx="1371600" cy="293914"/>
          </a:xfrm>
          <a:prstGeom prst="rect">
            <a:avLst/>
          </a:prstGeom>
          <a:noFill/>
        </p:spPr>
        <p:txBody>
          <a:bodyPr wrap="square" lIns="50800" rIns="50800" tIns="25400" bIns="25400">
            <a:spAutoFit/>
          </a:bodyPr>
          <a:lstStyle/>
          <a:p>
            <a:pPr algn="l"/>
            <a:r>
              <a:rPr sz="1000" b="0" i="0">
                <a:solidFill>
                  <a:srgbClr val="36454F"/>
                </a:solidFill>
                <a:latin typeface="Calibri"/>
              </a:rPr>
              <a:t>B</a:t>
            </a:r>
          </a:p>
        </p:txBody>
      </p:sp>
      <p:sp>
        <p:nvSpPr>
          <p:cNvPr id="97" name="TextBox 96"/>
          <p:cNvSpPr txBox="1"/>
          <p:nvPr/>
        </p:nvSpPr>
        <p:spPr>
          <a:xfrm>
            <a:off x="8001000" y="3651068"/>
            <a:ext cx="914400" cy="293914"/>
          </a:xfrm>
          <a:prstGeom prst="rect">
            <a:avLst/>
          </a:prstGeom>
          <a:noFill/>
        </p:spPr>
        <p:txBody>
          <a:bodyPr wrap="square" lIns="50800" rIns="50800" tIns="25400" bIns="25400">
            <a:spAutoFit/>
          </a:bodyPr>
          <a:lstStyle/>
          <a:p>
            <a:pPr algn="ctr"/>
            <a:r>
              <a:rPr sz="1000" b="0" i="0">
                <a:solidFill>
                  <a:srgbClr val="36454F"/>
                </a:solidFill>
                <a:latin typeface="Calibri"/>
              </a:rPr>
              <a:t>2.02</a:t>
            </a:r>
          </a:p>
        </p:txBody>
      </p:sp>
      <p:sp>
        <p:nvSpPr>
          <p:cNvPr id="98" name="TextBox 97"/>
          <p:cNvSpPr txBox="1"/>
          <p:nvPr/>
        </p:nvSpPr>
        <p:spPr>
          <a:xfrm>
            <a:off x="8915400" y="3651068"/>
            <a:ext cx="1143000" cy="293914"/>
          </a:xfrm>
          <a:prstGeom prst="rect">
            <a:avLst/>
          </a:prstGeom>
          <a:noFill/>
        </p:spPr>
        <p:txBody>
          <a:bodyPr wrap="square" lIns="50800" rIns="50800" tIns="25400" bIns="25400">
            <a:spAutoFit/>
          </a:bodyPr>
          <a:lstStyle/>
          <a:p>
            <a:pPr algn="ctr"/>
            <a:r>
              <a:rPr sz="1000" b="0" i="0">
                <a:solidFill>
                  <a:srgbClr val="36454F"/>
                </a:solidFill>
                <a:latin typeface="Calibri"/>
              </a:rPr>
              <a:t>2.60</a:t>
            </a:r>
          </a:p>
        </p:txBody>
      </p:sp>
      <p:sp>
        <p:nvSpPr>
          <p:cNvPr id="99" name="TextBox 98"/>
          <p:cNvSpPr txBox="1"/>
          <p:nvPr/>
        </p:nvSpPr>
        <p:spPr>
          <a:xfrm>
            <a:off x="10058400" y="3651068"/>
            <a:ext cx="960120" cy="293914"/>
          </a:xfrm>
          <a:prstGeom prst="rect">
            <a:avLst/>
          </a:prstGeom>
          <a:noFill/>
        </p:spPr>
        <p:txBody>
          <a:bodyPr wrap="square" lIns="50800" rIns="50800" tIns="25400" bIns="25400">
            <a:spAutoFit/>
          </a:bodyPr>
          <a:lstStyle/>
          <a:p>
            <a:pPr algn="ctr"/>
            <a:r>
              <a:rPr sz="1000" b="0" i="0">
                <a:solidFill>
                  <a:srgbClr val="36454F"/>
                </a:solidFill>
                <a:latin typeface="Calibri"/>
              </a:rPr>
              <a:t>+28 %</a:t>
            </a:r>
          </a:p>
        </p:txBody>
      </p:sp>
      <p:sp>
        <p:nvSpPr>
          <p:cNvPr id="100" name="Rectangle 99"/>
          <p:cNvSpPr/>
          <p:nvPr/>
        </p:nvSpPr>
        <p:spPr>
          <a:xfrm>
            <a:off x="6537960" y="3944982"/>
            <a:ext cx="5242560" cy="293914"/>
          </a:xfrm>
          <a:prstGeom prst="rect">
            <a:avLst/>
          </a:prstGeom>
          <a:solidFill>
            <a:srgbClr val="DE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629400" y="3944982"/>
            <a:ext cx="1371600" cy="293914"/>
          </a:xfrm>
          <a:prstGeom prst="rect">
            <a:avLst/>
          </a:prstGeom>
          <a:noFill/>
        </p:spPr>
        <p:txBody>
          <a:bodyPr wrap="square" lIns="50800" rIns="50800" tIns="25400" bIns="25400">
            <a:spAutoFit/>
          </a:bodyPr>
          <a:lstStyle/>
          <a:p>
            <a:pPr algn="l"/>
            <a:r>
              <a:rPr sz="1000" b="1" i="0">
                <a:solidFill>
                  <a:srgbClr val="2C824A"/>
                </a:solidFill>
                <a:latin typeface="Calibri"/>
              </a:rPr>
              <a:t>sigma</a:t>
            </a:r>
          </a:p>
        </p:txBody>
      </p:sp>
      <p:sp>
        <p:nvSpPr>
          <p:cNvPr id="102" name="TextBox 101"/>
          <p:cNvSpPr txBox="1"/>
          <p:nvPr/>
        </p:nvSpPr>
        <p:spPr>
          <a:xfrm>
            <a:off x="8001000" y="3944982"/>
            <a:ext cx="914400" cy="293914"/>
          </a:xfrm>
          <a:prstGeom prst="rect">
            <a:avLst/>
          </a:prstGeom>
          <a:noFill/>
        </p:spPr>
        <p:txBody>
          <a:bodyPr wrap="square" lIns="50800" rIns="50800" tIns="25400" bIns="25400">
            <a:spAutoFit/>
          </a:bodyPr>
          <a:lstStyle/>
          <a:p>
            <a:pPr algn="ctr"/>
            <a:r>
              <a:rPr sz="1000" b="1" i="0">
                <a:solidFill>
                  <a:srgbClr val="2C824A"/>
                </a:solidFill>
                <a:latin typeface="Calibri"/>
              </a:rPr>
              <a:t>0.00  (wall)</a:t>
            </a:r>
          </a:p>
        </p:txBody>
      </p:sp>
      <p:sp>
        <p:nvSpPr>
          <p:cNvPr id="103" name="TextBox 102"/>
          <p:cNvSpPr txBox="1"/>
          <p:nvPr/>
        </p:nvSpPr>
        <p:spPr>
          <a:xfrm>
            <a:off x="8915400" y="3944982"/>
            <a:ext cx="1143000" cy="293914"/>
          </a:xfrm>
          <a:prstGeom prst="rect">
            <a:avLst/>
          </a:prstGeom>
          <a:noFill/>
        </p:spPr>
        <p:txBody>
          <a:bodyPr wrap="square" lIns="50800" rIns="50800" tIns="25400" bIns="25400">
            <a:spAutoFit/>
          </a:bodyPr>
          <a:lstStyle/>
          <a:p>
            <a:pPr algn="ctr"/>
            <a:r>
              <a:rPr sz="1000" b="1" i="0">
                <a:solidFill>
                  <a:srgbClr val="2C824A"/>
                </a:solidFill>
                <a:latin typeface="Calibri"/>
              </a:rPr>
              <a:t>0.46  (interior)</a:t>
            </a:r>
          </a:p>
        </p:txBody>
      </p:sp>
      <p:sp>
        <p:nvSpPr>
          <p:cNvPr id="104" name="TextBox 103"/>
          <p:cNvSpPr txBox="1"/>
          <p:nvPr/>
        </p:nvSpPr>
        <p:spPr>
          <a:xfrm>
            <a:off x="10058400" y="3944982"/>
            <a:ext cx="960120" cy="293914"/>
          </a:xfrm>
          <a:prstGeom prst="rect">
            <a:avLst/>
          </a:prstGeom>
          <a:noFill/>
        </p:spPr>
        <p:txBody>
          <a:bodyPr wrap="square" lIns="50800" rIns="50800" tIns="25400" bIns="25400">
            <a:spAutoFit/>
          </a:bodyPr>
          <a:lstStyle/>
          <a:p>
            <a:pPr algn="ctr"/>
            <a:r>
              <a:rPr sz="1000" b="1" i="0">
                <a:solidFill>
                  <a:srgbClr val="2C824A"/>
                </a:solidFill>
                <a:latin typeface="Calibri"/>
              </a:rPr>
              <a:t>off wall</a:t>
            </a:r>
          </a:p>
        </p:txBody>
      </p:sp>
      <p:sp>
        <p:nvSpPr>
          <p:cNvPr id="105" name="TextBox 104"/>
          <p:cNvSpPr txBox="1"/>
          <p:nvPr/>
        </p:nvSpPr>
        <p:spPr>
          <a:xfrm>
            <a:off x="6629400" y="4238897"/>
            <a:ext cx="1371600" cy="293914"/>
          </a:xfrm>
          <a:prstGeom prst="rect">
            <a:avLst/>
          </a:prstGeom>
          <a:noFill/>
        </p:spPr>
        <p:txBody>
          <a:bodyPr wrap="square" lIns="50800" rIns="50800" tIns="25400" bIns="25400">
            <a:spAutoFit/>
          </a:bodyPr>
          <a:lstStyle/>
          <a:p>
            <a:pPr algn="l"/>
            <a:r>
              <a:rPr sz="1000" b="0" i="0">
                <a:solidFill>
                  <a:srgbClr val="36454F"/>
                </a:solidFill>
                <a:latin typeface="Calibri"/>
              </a:rPr>
              <a:t>Obj_mass</a:t>
            </a:r>
          </a:p>
        </p:txBody>
      </p:sp>
      <p:sp>
        <p:nvSpPr>
          <p:cNvPr id="106" name="TextBox 105"/>
          <p:cNvSpPr txBox="1"/>
          <p:nvPr/>
        </p:nvSpPr>
        <p:spPr>
          <a:xfrm>
            <a:off x="8001000" y="4238897"/>
            <a:ext cx="914400" cy="293914"/>
          </a:xfrm>
          <a:prstGeom prst="rect">
            <a:avLst/>
          </a:prstGeom>
          <a:noFill/>
        </p:spPr>
        <p:txBody>
          <a:bodyPr wrap="square" lIns="50800" rIns="50800" tIns="25400" bIns="25400">
            <a:spAutoFit/>
          </a:bodyPr>
          <a:lstStyle/>
          <a:p>
            <a:pPr algn="ctr"/>
            <a:r>
              <a:rPr sz="1000" b="0" i="0">
                <a:solidFill>
                  <a:srgbClr val="36454F"/>
                </a:solidFill>
                <a:latin typeface="Calibri"/>
              </a:rPr>
              <a:t>89.92</a:t>
            </a:r>
          </a:p>
        </p:txBody>
      </p:sp>
      <p:sp>
        <p:nvSpPr>
          <p:cNvPr id="107" name="TextBox 106"/>
          <p:cNvSpPr txBox="1"/>
          <p:nvPr/>
        </p:nvSpPr>
        <p:spPr>
          <a:xfrm>
            <a:off x="8915400" y="4238897"/>
            <a:ext cx="1143000" cy="293914"/>
          </a:xfrm>
          <a:prstGeom prst="rect">
            <a:avLst/>
          </a:prstGeom>
          <a:noFill/>
        </p:spPr>
        <p:txBody>
          <a:bodyPr wrap="square" lIns="50800" rIns="50800" tIns="25400" bIns="25400">
            <a:spAutoFit/>
          </a:bodyPr>
          <a:lstStyle/>
          <a:p>
            <a:pPr algn="ctr"/>
            <a:r>
              <a:rPr sz="1000" b="0" i="0">
                <a:solidFill>
                  <a:srgbClr val="36454F"/>
                </a:solidFill>
                <a:latin typeface="Calibri"/>
              </a:rPr>
              <a:t>40.19</a:t>
            </a:r>
          </a:p>
        </p:txBody>
      </p:sp>
      <p:sp>
        <p:nvSpPr>
          <p:cNvPr id="108" name="TextBox 107"/>
          <p:cNvSpPr txBox="1"/>
          <p:nvPr/>
        </p:nvSpPr>
        <p:spPr>
          <a:xfrm>
            <a:off x="10058400" y="4238897"/>
            <a:ext cx="960120" cy="293914"/>
          </a:xfrm>
          <a:prstGeom prst="rect">
            <a:avLst/>
          </a:prstGeom>
          <a:noFill/>
        </p:spPr>
        <p:txBody>
          <a:bodyPr wrap="square" lIns="50800" rIns="50800" tIns="25400" bIns="25400">
            <a:spAutoFit/>
          </a:bodyPr>
          <a:lstStyle/>
          <a:p>
            <a:pPr algn="ctr"/>
            <a:r>
              <a:rPr sz="1000" b="0" i="0">
                <a:solidFill>
                  <a:srgbClr val="36454F"/>
                </a:solidFill>
                <a:latin typeface="Calibri"/>
              </a:rPr>
              <a:t>× 2.2 better</a:t>
            </a:r>
          </a:p>
        </p:txBody>
      </p:sp>
      <p:sp>
        <p:nvSpPr>
          <p:cNvPr id="109" name="TextBox 108"/>
          <p:cNvSpPr txBox="1"/>
          <p:nvPr/>
        </p:nvSpPr>
        <p:spPr>
          <a:xfrm>
            <a:off x="6629400" y="4532811"/>
            <a:ext cx="1371600" cy="293914"/>
          </a:xfrm>
          <a:prstGeom prst="rect">
            <a:avLst/>
          </a:prstGeom>
          <a:noFill/>
        </p:spPr>
        <p:txBody>
          <a:bodyPr wrap="square" lIns="50800" rIns="50800" tIns="25400" bIns="25400">
            <a:spAutoFit/>
          </a:bodyPr>
          <a:lstStyle/>
          <a:p>
            <a:pPr algn="l"/>
            <a:r>
              <a:rPr sz="1000" b="0" i="0">
                <a:solidFill>
                  <a:srgbClr val="36454F"/>
                </a:solidFill>
                <a:latin typeface="Calibri"/>
              </a:rPr>
              <a:t>Obj_concentration</a:t>
            </a:r>
          </a:p>
        </p:txBody>
      </p:sp>
      <p:sp>
        <p:nvSpPr>
          <p:cNvPr id="110" name="TextBox 109"/>
          <p:cNvSpPr txBox="1"/>
          <p:nvPr/>
        </p:nvSpPr>
        <p:spPr>
          <a:xfrm>
            <a:off x="8001000" y="4532811"/>
            <a:ext cx="914400" cy="293914"/>
          </a:xfrm>
          <a:prstGeom prst="rect">
            <a:avLst/>
          </a:prstGeom>
          <a:noFill/>
        </p:spPr>
        <p:txBody>
          <a:bodyPr wrap="square" lIns="50800" rIns="50800" tIns="25400" bIns="25400">
            <a:spAutoFit/>
          </a:bodyPr>
          <a:lstStyle/>
          <a:p>
            <a:pPr algn="ctr"/>
            <a:r>
              <a:rPr sz="1000" b="0" i="0">
                <a:solidFill>
                  <a:srgbClr val="36454F"/>
                </a:solidFill>
                <a:latin typeface="Calibri"/>
              </a:rPr>
              <a:t>393.71</a:t>
            </a:r>
          </a:p>
        </p:txBody>
      </p:sp>
      <p:sp>
        <p:nvSpPr>
          <p:cNvPr id="111" name="TextBox 110"/>
          <p:cNvSpPr txBox="1"/>
          <p:nvPr/>
        </p:nvSpPr>
        <p:spPr>
          <a:xfrm>
            <a:off x="8915400" y="4532811"/>
            <a:ext cx="1143000" cy="293914"/>
          </a:xfrm>
          <a:prstGeom prst="rect">
            <a:avLst/>
          </a:prstGeom>
          <a:noFill/>
        </p:spPr>
        <p:txBody>
          <a:bodyPr wrap="square" lIns="50800" rIns="50800" tIns="25400" bIns="25400">
            <a:spAutoFit/>
          </a:bodyPr>
          <a:lstStyle/>
          <a:p>
            <a:pPr algn="ctr"/>
            <a:r>
              <a:rPr sz="1000" b="0" i="0">
                <a:solidFill>
                  <a:srgbClr val="36454F"/>
                </a:solidFill>
                <a:latin typeface="Calibri"/>
              </a:rPr>
              <a:t>351.31</a:t>
            </a:r>
          </a:p>
        </p:txBody>
      </p:sp>
      <p:sp>
        <p:nvSpPr>
          <p:cNvPr id="112" name="TextBox 111"/>
          <p:cNvSpPr txBox="1"/>
          <p:nvPr/>
        </p:nvSpPr>
        <p:spPr>
          <a:xfrm>
            <a:off x="10058400" y="4532811"/>
            <a:ext cx="960120" cy="293914"/>
          </a:xfrm>
          <a:prstGeom prst="rect">
            <a:avLst/>
          </a:prstGeom>
          <a:noFill/>
        </p:spPr>
        <p:txBody>
          <a:bodyPr wrap="square" lIns="50800" rIns="50800" tIns="25400" bIns="25400">
            <a:spAutoFit/>
          </a:bodyPr>
          <a:lstStyle/>
          <a:p>
            <a:pPr algn="ctr"/>
            <a:r>
              <a:rPr sz="1000" b="0" i="0">
                <a:solidFill>
                  <a:srgbClr val="36454F"/>
                </a:solidFill>
                <a:latin typeface="Calibri"/>
              </a:rPr>
              <a:t>× 1.1 better</a:t>
            </a:r>
          </a:p>
        </p:txBody>
      </p:sp>
      <p:sp>
        <p:nvSpPr>
          <p:cNvPr id="113" name="TextBox 112"/>
          <p:cNvSpPr txBox="1"/>
          <p:nvPr/>
        </p:nvSpPr>
        <p:spPr>
          <a:xfrm>
            <a:off x="6629400" y="4826725"/>
            <a:ext cx="1371600" cy="293914"/>
          </a:xfrm>
          <a:prstGeom prst="rect">
            <a:avLst/>
          </a:prstGeom>
          <a:noFill/>
        </p:spPr>
        <p:txBody>
          <a:bodyPr wrap="square" lIns="50800" rIns="50800" tIns="25400" bIns="25400">
            <a:spAutoFit/>
          </a:bodyPr>
          <a:lstStyle/>
          <a:p>
            <a:pPr algn="l"/>
            <a:r>
              <a:rPr sz="1000" b="0" i="0">
                <a:solidFill>
                  <a:srgbClr val="36454F"/>
                </a:solidFill>
                <a:latin typeface="Calibri"/>
              </a:rPr>
              <a:t>Obj_retentate</a:t>
            </a:r>
          </a:p>
        </p:txBody>
      </p:sp>
      <p:sp>
        <p:nvSpPr>
          <p:cNvPr id="114" name="TextBox 113"/>
          <p:cNvSpPr txBox="1"/>
          <p:nvPr/>
        </p:nvSpPr>
        <p:spPr>
          <a:xfrm>
            <a:off x="8001000" y="4826725"/>
            <a:ext cx="914400" cy="293914"/>
          </a:xfrm>
          <a:prstGeom prst="rect">
            <a:avLst/>
          </a:prstGeom>
          <a:noFill/>
        </p:spPr>
        <p:txBody>
          <a:bodyPr wrap="square" lIns="50800" rIns="50800" tIns="25400" bIns="25400">
            <a:spAutoFit/>
          </a:bodyPr>
          <a:lstStyle/>
          <a:p>
            <a:pPr algn="ctr"/>
            <a:r>
              <a:rPr sz="1000" b="0" i="0">
                <a:solidFill>
                  <a:srgbClr val="36454F"/>
                </a:solidFill>
                <a:latin typeface="Calibri"/>
              </a:rPr>
              <a:t>9051.51</a:t>
            </a:r>
          </a:p>
        </p:txBody>
      </p:sp>
      <p:sp>
        <p:nvSpPr>
          <p:cNvPr id="115" name="TextBox 114"/>
          <p:cNvSpPr txBox="1"/>
          <p:nvPr/>
        </p:nvSpPr>
        <p:spPr>
          <a:xfrm>
            <a:off x="8915400" y="4826725"/>
            <a:ext cx="1143000" cy="293914"/>
          </a:xfrm>
          <a:prstGeom prst="rect">
            <a:avLst/>
          </a:prstGeom>
          <a:noFill/>
        </p:spPr>
        <p:txBody>
          <a:bodyPr wrap="square" lIns="50800" rIns="50800" tIns="25400" bIns="25400">
            <a:spAutoFit/>
          </a:bodyPr>
          <a:lstStyle/>
          <a:p>
            <a:pPr algn="ctr"/>
            <a:r>
              <a:rPr sz="1000" b="0" i="0">
                <a:solidFill>
                  <a:srgbClr val="36454F"/>
                </a:solidFill>
                <a:latin typeface="Calibri"/>
              </a:rPr>
              <a:t>45.35</a:t>
            </a:r>
          </a:p>
        </p:txBody>
      </p:sp>
      <p:sp>
        <p:nvSpPr>
          <p:cNvPr id="116" name="TextBox 115"/>
          <p:cNvSpPr txBox="1"/>
          <p:nvPr/>
        </p:nvSpPr>
        <p:spPr>
          <a:xfrm>
            <a:off x="10058400" y="4826725"/>
            <a:ext cx="960120" cy="293914"/>
          </a:xfrm>
          <a:prstGeom prst="rect">
            <a:avLst/>
          </a:prstGeom>
          <a:noFill/>
        </p:spPr>
        <p:txBody>
          <a:bodyPr wrap="square" lIns="50800" rIns="50800" tIns="25400" bIns="25400">
            <a:spAutoFit/>
          </a:bodyPr>
          <a:lstStyle/>
          <a:p>
            <a:pPr algn="ctr"/>
            <a:r>
              <a:rPr sz="1000" b="0" i="0">
                <a:solidFill>
                  <a:srgbClr val="36454F"/>
                </a:solidFill>
                <a:latin typeface="Calibri"/>
              </a:rPr>
              <a:t>× 200 better</a:t>
            </a:r>
          </a:p>
        </p:txBody>
      </p:sp>
      <p:sp>
        <p:nvSpPr>
          <p:cNvPr id="117" name="Rectangle 116"/>
          <p:cNvSpPr/>
          <p:nvPr/>
        </p:nvSpPr>
        <p:spPr>
          <a:xfrm>
            <a:off x="457200" y="5760720"/>
            <a:ext cx="1127760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40080" y="5806440"/>
            <a:ext cx="10911840" cy="274320"/>
          </a:xfrm>
          <a:prstGeom prst="rect">
            <a:avLst/>
          </a:prstGeom>
          <a:noFill/>
        </p:spPr>
        <p:txBody>
          <a:bodyPr wrap="square" lIns="50800" rIns="50800" tIns="25400" bIns="25400">
            <a:spAutoFit/>
          </a:bodyPr>
          <a:lstStyle/>
          <a:p>
            <a:pPr algn="l"/>
            <a:r>
              <a:rPr sz="1100" b="0" i="1">
                <a:solidFill>
                  <a:srgbClr val="FFFFFF"/>
                </a:solidFill>
                <a:latin typeface="Calibri"/>
              </a:rPr>
              <a:t>PATH FORWARD:  cF floor on all 11 sheets  +  literature σ priors for divalents/trivalents  →  re-fit campaign.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9144000" cy="292608"/>
          </a:xfrm>
          <a:prstGeom prst="rect">
            <a:avLst/>
          </a:prstGeom>
          <a:noFill/>
        </p:spPr>
        <p:txBody>
          <a:bodyPr wrap="none" lIns="0" rIns="0" tIns="25400" bIns="25400">
            <a:spAutoFit/>
          </a:bodyPr>
          <a:lstStyle/>
          <a:p>
            <a:pPr algn="l"/>
            <a:r>
              <a:rPr sz="1100" b="1">
                <a:solidFill>
                  <a:srgbClr val="FFFFFF"/>
                </a:solidFill>
                <a:latin typeface="Calibri"/>
              </a:rPr>
              <a:t>14 · TIME-AXIS &amp; HOLD-UP CONVENTION</a:t>
            </a:r>
          </a:p>
        </p:txBody>
      </p:sp>
      <p:sp>
        <p:nvSpPr>
          <p:cNvPr id="4" name="Rectangle 3"/>
          <p:cNvSpPr/>
          <p:nvPr/>
        </p:nvSpPr>
        <p:spPr>
          <a:xfrm>
            <a:off x="0" y="292608"/>
            <a:ext cx="12192000"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77600" y="0"/>
            <a:ext cx="822960" cy="292608"/>
          </a:xfrm>
          <a:prstGeom prst="rect">
            <a:avLst/>
          </a:prstGeom>
          <a:noFill/>
        </p:spPr>
        <p:txBody>
          <a:bodyPr wrap="none" lIns="0" rIns="50800" tIns="25400" bIns="25400">
            <a:spAutoFit/>
          </a:bodyPr>
          <a:lstStyle/>
          <a:p>
            <a:pPr algn="r"/>
            <a:r>
              <a:rPr sz="1100" b="1">
                <a:solidFill>
                  <a:srgbClr val="FFFFFF"/>
                </a:solidFill>
                <a:latin typeface="Calibri"/>
              </a:rPr>
              <a:t>14</a:t>
            </a:r>
          </a:p>
        </p:txBody>
      </p:sp>
      <p:sp>
        <p:nvSpPr>
          <p:cNvPr id="6" name="TextBox 5"/>
          <p:cNvSpPr txBox="1"/>
          <p:nvPr/>
        </p:nvSpPr>
        <p:spPr>
          <a:xfrm>
            <a:off x="457200" y="411480"/>
            <a:ext cx="10972800" cy="320040"/>
          </a:xfrm>
          <a:prstGeom prst="rect">
            <a:avLst/>
          </a:prstGeom>
          <a:noFill/>
        </p:spPr>
        <p:txBody>
          <a:bodyPr wrap="none" lIns="0" tIns="0" bIns="0">
            <a:spAutoFit/>
          </a:bodyPr>
          <a:lstStyle/>
          <a:p>
            <a:r>
              <a:rPr sz="1100" b="1" i="1" spc="200">
                <a:solidFill>
                  <a:srgbClr val="02C39A"/>
                </a:solidFill>
                <a:latin typeface="Calibri"/>
              </a:rPr>
              <a:t>BYTE-COMPATIBLE WITH DATA2, ONE NEW DATA3 LAYER</a:t>
            </a:r>
          </a:p>
        </p:txBody>
      </p:sp>
      <p:sp>
        <p:nvSpPr>
          <p:cNvPr id="7" name="TextBox 6"/>
          <p:cNvSpPr txBox="1"/>
          <p:nvPr/>
        </p:nvSpPr>
        <p:spPr>
          <a:xfrm>
            <a:off x="457200" y="685800"/>
            <a:ext cx="10972800" cy="640080"/>
          </a:xfrm>
          <a:prstGeom prst="rect">
            <a:avLst/>
          </a:prstGeom>
          <a:noFill/>
        </p:spPr>
        <p:txBody>
          <a:bodyPr wrap="none" lIns="0" tIns="0" bIns="0">
            <a:spAutoFit/>
          </a:bodyPr>
          <a:lstStyle/>
          <a:p>
            <a:r>
              <a:rPr sz="2800" b="1">
                <a:solidFill>
                  <a:srgbClr val="065A82"/>
                </a:solidFill>
                <a:latin typeface="Calibri"/>
              </a:rPr>
              <a:t>Same t-axis formula. New wet-up handling.</a:t>
            </a:r>
          </a:p>
        </p:txBody>
      </p:sp>
      <p:sp>
        <p:nvSpPr>
          <p:cNvPr id="8" name="Rectangle 7"/>
          <p:cNvSpPr/>
          <p:nvPr/>
        </p:nvSpPr>
        <p:spPr>
          <a:xfrm>
            <a:off x="457200" y="1417320"/>
            <a:ext cx="56692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5669280" cy="365760"/>
          </a:xfrm>
          <a:prstGeom prst="rect">
            <a:avLst/>
          </a:prstGeom>
          <a:noFill/>
        </p:spPr>
        <p:txBody>
          <a:bodyPr wrap="square" lIns="50800" rIns="50800" tIns="25400" bIns="25400">
            <a:spAutoFit/>
          </a:bodyPr>
          <a:lstStyle/>
          <a:p>
            <a:pPr algn="ctr"/>
            <a:r>
              <a:rPr sz="1200" b="1" i="0">
                <a:solidFill>
                  <a:srgbClr val="FFFFFF"/>
                </a:solidFill>
                <a:latin typeface="Calibri"/>
              </a:rPr>
              <a:t>SHARED CONVENTION  ·  DATA1 / DATA2 / DATA3</a:t>
            </a:r>
          </a:p>
        </p:txBody>
      </p:sp>
      <p:sp>
        <p:nvSpPr>
          <p:cNvPr id="10" name="Rectangle 9"/>
          <p:cNvSpPr/>
          <p:nvPr/>
        </p:nvSpPr>
        <p:spPr>
          <a:xfrm>
            <a:off x="457200" y="1783080"/>
            <a:ext cx="5669280"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920240"/>
            <a:ext cx="5303520" cy="1417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11680"/>
            <a:ext cx="5029200" cy="1234440"/>
          </a:xfrm>
          <a:prstGeom prst="rect">
            <a:avLst/>
          </a:prstGeom>
          <a:noFill/>
        </p:spPr>
        <p:txBody>
          <a:bodyPr wrap="square" lIns="50800" rIns="50800" tIns="25400" bIns="25400">
            <a:spAutoFit/>
          </a:bodyPr>
          <a:lstStyle/>
          <a:p>
            <a:pPr algn="l"/>
            <a:r>
              <a:rPr sz="1200" b="0" i="0">
                <a:solidFill>
                  <a:srgbClr val="FFFFFF"/>
                </a:solidFill>
                <a:latin typeface="Consolas"/>
              </a:rPr>
              <a:t>t_delay   = data_raw[0]['time'][0]</a:t>
            </a:r>
          </a:p>
          <a:p>
            <a:pPr algn="l"/>
            <a:r>
              <a:rPr sz="1200" b="0" i="0">
                <a:solidFill>
                  <a:srgbClr val="FFFFFF"/>
                </a:solidFill>
                <a:latin typeface="Consolas"/>
              </a:rPr>
              <a:t>TI_list[i] = data_raw[i]['time'][0]  - t_delay</a:t>
            </a:r>
          </a:p>
          <a:p>
            <a:pPr algn="l"/>
            <a:r>
              <a:rPr sz="1200" b="0" i="0">
                <a:solidFill>
                  <a:srgbClr val="FFFFFF"/>
                </a:solidFill>
                <a:latin typeface="Consolas"/>
              </a:rPr>
              <a:t>TF_list[i] = data_raw[i]['time'][-1] - t_delay</a:t>
            </a:r>
          </a:p>
          <a:p>
            <a:pPr algn="l"/>
            <a:r>
              <a:rPr sz="1200" b="0" i="0">
                <a:solidFill>
                  <a:srgbClr val="FFFFFF"/>
                </a:solidFill>
                <a:latin typeface="Consolas"/>
              </a:rPr>
              <a:t>t_physical = tau * (TF_i - TI_i) + TI_i</a:t>
            </a:r>
          </a:p>
          <a:p>
            <a:pPr algn="l"/>
            <a:r>
              <a:rPr sz="1200" b="0" i="0">
                <a:solidFill>
                  <a:srgbClr val="FFFFFF"/>
                </a:solidFill>
                <a:latin typeface="Consolas"/>
              </a:rPr>
              <a:t>plot_time_min = (t - t_delay) / 60</a:t>
            </a:r>
          </a:p>
        </p:txBody>
      </p:sp>
      <p:sp>
        <p:nvSpPr>
          <p:cNvPr id="13" name="Rectangle 12"/>
          <p:cNvSpPr/>
          <p:nvPr/>
        </p:nvSpPr>
        <p:spPr>
          <a:xfrm>
            <a:off x="640080" y="3474720"/>
            <a:ext cx="2606040" cy="292608"/>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474720"/>
            <a:ext cx="2606040" cy="292608"/>
          </a:xfrm>
          <a:prstGeom prst="rect">
            <a:avLst/>
          </a:prstGeom>
          <a:noFill/>
        </p:spPr>
        <p:txBody>
          <a:bodyPr wrap="square" lIns="50800" rIns="50800" tIns="25400" bIns="25400">
            <a:spAutoFit/>
          </a:bodyPr>
          <a:lstStyle/>
          <a:p>
            <a:pPr algn="ctr"/>
            <a:r>
              <a:rPr sz="1100" b="1" i="0">
                <a:solidFill>
                  <a:srgbClr val="FFFFFF"/>
                </a:solidFill>
                <a:latin typeface="Calibri"/>
              </a:rPr>
              <a:t>DATA2  ·  utility.py</a:t>
            </a:r>
          </a:p>
        </p:txBody>
      </p:sp>
      <p:sp>
        <p:nvSpPr>
          <p:cNvPr id="15" name="Rectangle 14"/>
          <p:cNvSpPr/>
          <p:nvPr/>
        </p:nvSpPr>
        <p:spPr>
          <a:xfrm>
            <a:off x="640080" y="3767328"/>
            <a:ext cx="2606040" cy="17190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822192"/>
            <a:ext cx="2423160" cy="1645920"/>
          </a:xfrm>
          <a:prstGeom prst="rect">
            <a:avLst/>
          </a:prstGeom>
          <a:noFill/>
        </p:spPr>
        <p:txBody>
          <a:bodyPr wrap="square" lIns="50800" rIns="50800" tIns="25400" bIns="25400">
            <a:spAutoFit/>
          </a:bodyPr>
          <a:lstStyle/>
          <a:p>
            <a:pPr algn="l"/>
            <a:r>
              <a:rPr sz="900" b="0" i="0">
                <a:solidFill>
                  <a:srgbClr val="36454F"/>
                </a:solidFill>
                <a:latin typeface="Consolas"/>
              </a:rPr>
              <a:t>Time origin :  line 115</a:t>
            </a:r>
          </a:p>
          <a:p>
            <a:pPr algn="l"/>
            <a:r>
              <a:rPr sz="900" b="0" i="0">
                <a:solidFill>
                  <a:srgbClr val="36454F"/>
                </a:solidFill>
                <a:latin typeface="Consolas"/>
              </a:rPr>
              <a:t>TI/TF lists :  lines 473, 477</a:t>
            </a:r>
          </a:p>
          <a:p>
            <a:pPr algn="l"/>
            <a:r>
              <a:rPr sz="900" b="0" i="0">
                <a:solidFill>
                  <a:srgbClr val="36454F"/>
                </a:solidFill>
                <a:latin typeface="Consolas"/>
              </a:rPr>
              <a:t>Mass reset  :  lines 736-743</a:t>
            </a:r>
          </a:p>
          <a:p>
            <a:pPr algn="l"/>
            <a:r>
              <a:rPr sz="900" b="0" i="0">
                <a:solidFill>
                  <a:srgbClr val="36454F"/>
                </a:solidFill>
                <a:latin typeface="Consolas"/>
              </a:rPr>
              <a:t>               (Pyomo linking)</a:t>
            </a:r>
          </a:p>
          <a:p>
            <a:pPr algn="l"/>
            <a:r>
              <a:rPr sz="900" b="0" i="0">
                <a:solidFill>
                  <a:srgbClr val="36454F"/>
                </a:solidFill>
                <a:latin typeface="Consolas"/>
              </a:rPr>
              <a:t>Holdup      :  none</a:t>
            </a:r>
          </a:p>
          <a:p>
            <a:pPr algn="l"/>
            <a:r>
              <a:rPr sz="900" b="0" i="0">
                <a:solidFill>
                  <a:srgbClr val="36454F"/>
                </a:solidFill>
                <a:latin typeface="Consolas"/>
              </a:rPr>
              <a:t>               (pre-curated)</a:t>
            </a:r>
          </a:p>
        </p:txBody>
      </p:sp>
      <p:sp>
        <p:nvSpPr>
          <p:cNvPr id="17" name="Rectangle 16"/>
          <p:cNvSpPr/>
          <p:nvPr/>
        </p:nvSpPr>
        <p:spPr>
          <a:xfrm>
            <a:off x="3337560" y="3474720"/>
            <a:ext cx="2606040" cy="292608"/>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3474720"/>
            <a:ext cx="2606040" cy="292608"/>
          </a:xfrm>
          <a:prstGeom prst="rect">
            <a:avLst/>
          </a:prstGeom>
          <a:noFill/>
        </p:spPr>
        <p:txBody>
          <a:bodyPr wrap="square" lIns="50800" rIns="50800" tIns="25400" bIns="25400">
            <a:spAutoFit/>
          </a:bodyPr>
          <a:lstStyle/>
          <a:p>
            <a:pPr algn="ctr"/>
            <a:r>
              <a:rPr sz="1100" b="1" i="0">
                <a:solidFill>
                  <a:srgbClr val="FFFFFF"/>
                </a:solidFill>
                <a:latin typeface="Calibri"/>
              </a:rPr>
              <a:t>DATA3  ·  refactored_ucb_library.py</a:t>
            </a:r>
          </a:p>
        </p:txBody>
      </p:sp>
      <p:sp>
        <p:nvSpPr>
          <p:cNvPr id="19" name="Rectangle 18"/>
          <p:cNvSpPr/>
          <p:nvPr/>
        </p:nvSpPr>
        <p:spPr>
          <a:xfrm>
            <a:off x="3337560" y="3767328"/>
            <a:ext cx="2606040" cy="17190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47288" y="3822192"/>
            <a:ext cx="2423160" cy="1645920"/>
          </a:xfrm>
          <a:prstGeom prst="rect">
            <a:avLst/>
          </a:prstGeom>
          <a:noFill/>
        </p:spPr>
        <p:txBody>
          <a:bodyPr wrap="square" lIns="50800" rIns="50800" tIns="25400" bIns="25400">
            <a:spAutoFit/>
          </a:bodyPr>
          <a:lstStyle/>
          <a:p>
            <a:pPr algn="l"/>
            <a:r>
              <a:rPr sz="900" b="0" i="0">
                <a:solidFill>
                  <a:srgbClr val="36454F"/>
                </a:solidFill>
                <a:latin typeface="Consolas"/>
              </a:rPr>
              <a:t>Time origin :  :170</a:t>
            </a:r>
          </a:p>
          <a:p>
            <a:pPr algn="l"/>
            <a:r>
              <a:rPr sz="900" b="0" i="0">
                <a:solidFill>
                  <a:srgbClr val="36454F"/>
                </a:solidFill>
                <a:latin typeface="Consolas"/>
              </a:rPr>
              <a:t>TI/TF lists :  :1273, :1277</a:t>
            </a:r>
          </a:p>
          <a:p>
            <a:pPr algn="l"/>
            <a:r>
              <a:rPr sz="900" b="0" i="0">
                <a:solidFill>
                  <a:srgbClr val="36454F"/>
                </a:solidFill>
                <a:latin typeface="Consolas"/>
              </a:rPr>
              <a:t>Mass reset  :  :3404-3412</a:t>
            </a:r>
          </a:p>
          <a:p>
            <a:pPr algn="l"/>
            <a:r>
              <a:rPr sz="900" b="0" i="0">
                <a:solidFill>
                  <a:srgbClr val="36454F"/>
                </a:solidFill>
                <a:latin typeface="Consolas"/>
              </a:rPr>
              <a:t>               (loader, seg-offset)</a:t>
            </a:r>
          </a:p>
          <a:p>
            <a:pPr algn="l"/>
            <a:r>
              <a:rPr sz="900" b="0" i="0">
                <a:solidFill>
                  <a:srgbClr val="36454F"/>
                </a:solidFill>
                <a:latin typeface="Consolas"/>
              </a:rPr>
              <a:t>Holdup      :  :3522-3590</a:t>
            </a:r>
          </a:p>
          <a:p>
            <a:pPr algn="l"/>
            <a:r>
              <a:rPr sz="900" b="0" i="0">
                <a:solidFill>
                  <a:srgbClr val="36454F"/>
                </a:solidFill>
                <a:latin typeface="Consolas"/>
              </a:rPr>
              <a:t>               (auto-detect split)</a:t>
            </a:r>
          </a:p>
        </p:txBody>
      </p:sp>
      <p:sp>
        <p:nvSpPr>
          <p:cNvPr id="21" name="Rectangle 20"/>
          <p:cNvSpPr/>
          <p:nvPr/>
        </p:nvSpPr>
        <p:spPr>
          <a:xfrm>
            <a:off x="6400800" y="1417320"/>
            <a:ext cx="5425440" cy="365760"/>
          </a:xfrm>
          <a:prstGeom prst="rect">
            <a:avLst/>
          </a:prstGeom>
          <a:solidFill>
            <a:srgbClr val="CC8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417320"/>
            <a:ext cx="5425440" cy="365760"/>
          </a:xfrm>
          <a:prstGeom prst="rect">
            <a:avLst/>
          </a:prstGeom>
          <a:noFill/>
        </p:spPr>
        <p:txBody>
          <a:bodyPr wrap="square" lIns="50800" rIns="50800" tIns="25400" bIns="25400">
            <a:spAutoFit/>
          </a:bodyPr>
          <a:lstStyle/>
          <a:p>
            <a:pPr algn="ctr"/>
            <a:r>
              <a:rPr sz="1200" b="1" i="0">
                <a:solidFill>
                  <a:srgbClr val="FFFFFF"/>
                </a:solidFill>
                <a:latin typeface="Calibri"/>
              </a:rPr>
              <a:t>DATA3-ONLY  ·  HOLD-UP SPLIT</a:t>
            </a:r>
          </a:p>
        </p:txBody>
      </p:sp>
      <p:sp>
        <p:nvSpPr>
          <p:cNvPr id="23" name="Rectangle 22"/>
          <p:cNvSpPr/>
          <p:nvPr/>
        </p:nvSpPr>
        <p:spPr>
          <a:xfrm>
            <a:off x="6400800" y="1783080"/>
            <a:ext cx="5425440" cy="3794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920240"/>
            <a:ext cx="5059680" cy="914400"/>
          </a:xfrm>
          <a:prstGeom prst="rect">
            <a:avLst/>
          </a:prstGeom>
          <a:noFill/>
        </p:spPr>
        <p:txBody>
          <a:bodyPr wrap="square" lIns="50800" rIns="50800" tIns="25400" bIns="25400">
            <a:spAutoFit/>
          </a:bodyPr>
          <a:lstStyle/>
          <a:p>
            <a:pPr algn="l"/>
            <a:r>
              <a:rPr sz="1100" b="0" i="0">
                <a:solidFill>
                  <a:srgbClr val="36454F"/>
                </a:solidFill>
                <a:latin typeface="Calibri"/>
              </a:rPr>
              <a:t>Operator starts logging before any permeate reaches the vial.</a:t>
            </a:r>
          </a:p>
          <a:p>
            <a:pPr algn="l"/>
            <a:r>
              <a:rPr sz="1100" b="0" i="0">
                <a:solidFill>
                  <a:srgbClr val="36454F"/>
                </a:solidFill>
                <a:latin typeface="Calibri"/>
              </a:rPr>
              <a:t>First ~400 s is membrane wetting up — mass dead-flat at tare.</a:t>
            </a:r>
          </a:p>
          <a:p>
            <a:pPr algn="l"/>
            <a:r>
              <a:rPr sz="1100" b="0" i="0">
                <a:solidFill>
                  <a:srgbClr val="36454F"/>
                </a:solidFill>
                <a:latin typeface="Calibri"/>
              </a:rPr>
              <a:t>Loader auto-detects and carves it off.</a:t>
            </a:r>
          </a:p>
        </p:txBody>
      </p:sp>
      <p:sp>
        <p:nvSpPr>
          <p:cNvPr id="25" name="Rectangle 24"/>
          <p:cNvSpPr/>
          <p:nvPr/>
        </p:nvSpPr>
        <p:spPr>
          <a:xfrm>
            <a:off x="6583680" y="2880360"/>
            <a:ext cx="5059680" cy="11887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2971800"/>
            <a:ext cx="4785360" cy="1005840"/>
          </a:xfrm>
          <a:prstGeom prst="rect">
            <a:avLst/>
          </a:prstGeom>
          <a:noFill/>
        </p:spPr>
        <p:txBody>
          <a:bodyPr wrap="square" lIns="50800" rIns="50800" tIns="25400" bIns="25400">
            <a:spAutoFit/>
          </a:bodyPr>
          <a:lstStyle/>
          <a:p>
            <a:pPr algn="l"/>
            <a:r>
              <a:rPr sz="1000" b="0" i="0">
                <a:solidFill>
                  <a:srgbClr val="FFFFFF"/>
                </a:solidFill>
                <a:latin typeface="Consolas"/>
              </a:rPr>
              <a:t>i_start = first i where (m[i] - m[0]) &gt;= 0.05 g</a:t>
            </a:r>
          </a:p>
          <a:p>
            <a:pPr algn="l"/>
            <a:r>
              <a:rPr sz="1000" b="0" i="0">
                <a:solidFill>
                  <a:srgbClr val="FFFFFF"/>
                </a:solidFill>
                <a:latin typeface="Consolas"/>
              </a:rPr>
              <a:t>if i_start &gt;= 3 and (N - i_start) &gt;= 10:</a:t>
            </a:r>
          </a:p>
          <a:p>
            <a:pPr algn="l"/>
            <a:r>
              <a:rPr sz="1000" b="0" i="0">
                <a:solidFill>
                  <a:srgbClr val="FFFFFF"/>
                </a:solidFill>
                <a:latin typeface="Consolas"/>
              </a:rPr>
              <a:t>    split into  [0..i_start)  and  [i_start..N)</a:t>
            </a:r>
          </a:p>
          <a:p>
            <a:pPr algn="l"/>
            <a:r>
              <a:rPr sz="1000" b="0" i="0">
                <a:solidFill>
                  <a:srgbClr val="FFFFFF"/>
                </a:solidFill>
                <a:latin typeface="Consolas"/>
              </a:rPr>
              <a:t>    cfg['n_v0']      = 2     # objective skips &lt; n_v0</a:t>
            </a:r>
          </a:p>
          <a:p>
            <a:pPr algn="l"/>
            <a:r>
              <a:rPr sz="1000" b="0" i="0">
                <a:solidFill>
                  <a:srgbClr val="FFFFFF"/>
                </a:solidFill>
                <a:latin typeface="Consolas"/>
              </a:rPr>
              <a:t>    cfg['n_extra']   = 1     # holdup vial count</a:t>
            </a:r>
          </a:p>
          <a:p>
            <a:pPr algn="l"/>
            <a:r>
              <a:rPr sz="1000" b="0" i="0">
                <a:solidFill>
                  <a:srgbClr val="FFFFFF"/>
                </a:solidFill>
                <a:latin typeface="Consolas"/>
              </a:rPr>
              <a:t>    cfg['vial1_split_status'] = 'split'</a:t>
            </a:r>
          </a:p>
        </p:txBody>
      </p:sp>
      <p:sp>
        <p:nvSpPr>
          <p:cNvPr id="27" name="Rectangle 26"/>
          <p:cNvSpPr/>
          <p:nvPr/>
        </p:nvSpPr>
        <p:spPr>
          <a:xfrm>
            <a:off x="6583680" y="4206240"/>
            <a:ext cx="5059680" cy="24688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206240"/>
            <a:ext cx="5059680" cy="246888"/>
          </a:xfrm>
          <a:prstGeom prst="rect">
            <a:avLst/>
          </a:prstGeom>
          <a:noFill/>
        </p:spPr>
        <p:txBody>
          <a:bodyPr wrap="square" lIns="50800" rIns="50800" tIns="25400" bIns="25400">
            <a:spAutoFit/>
          </a:bodyPr>
          <a:lstStyle/>
          <a:p>
            <a:pPr algn="ctr"/>
            <a:r>
              <a:rPr sz="1000" b="1" i="0">
                <a:solidFill>
                  <a:srgbClr val="FFFFFF"/>
                </a:solidFill>
                <a:latin typeface="Calibri"/>
              </a:rPr>
              <a:t>vial1_split_status  values</a:t>
            </a:r>
          </a:p>
        </p:txBody>
      </p:sp>
      <p:sp>
        <p:nvSpPr>
          <p:cNvPr id="29" name="Rectangle 28"/>
          <p:cNvSpPr/>
          <p:nvPr/>
        </p:nvSpPr>
        <p:spPr>
          <a:xfrm>
            <a:off x="6583680" y="4453128"/>
            <a:ext cx="1371600" cy="246888"/>
          </a:xfrm>
          <a:prstGeom prst="rect">
            <a:avLst/>
          </a:prstGeom>
          <a:solidFill>
            <a:srgbClr val="2C8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4453128"/>
            <a:ext cx="1371600" cy="246888"/>
          </a:xfrm>
          <a:prstGeom prst="rect">
            <a:avLst/>
          </a:prstGeom>
          <a:noFill/>
        </p:spPr>
        <p:txBody>
          <a:bodyPr wrap="square" lIns="50800" rIns="50800" tIns="25400" bIns="25400">
            <a:spAutoFit/>
          </a:bodyPr>
          <a:lstStyle/>
          <a:p>
            <a:pPr algn="ctr"/>
            <a:r>
              <a:rPr sz="1000" b="1" i="0">
                <a:solidFill>
                  <a:srgbClr val="FFFFFF"/>
                </a:solidFill>
                <a:latin typeface="Consolas"/>
              </a:rPr>
              <a:t>split</a:t>
            </a:r>
          </a:p>
        </p:txBody>
      </p:sp>
      <p:sp>
        <p:nvSpPr>
          <p:cNvPr id="31" name="Rectangle 30"/>
          <p:cNvSpPr/>
          <p:nvPr/>
        </p:nvSpPr>
        <p:spPr>
          <a:xfrm>
            <a:off x="7955280" y="4453128"/>
            <a:ext cx="350520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4453128"/>
            <a:ext cx="3413760" cy="246888"/>
          </a:xfrm>
          <a:prstGeom prst="rect">
            <a:avLst/>
          </a:prstGeom>
          <a:noFill/>
        </p:spPr>
        <p:txBody>
          <a:bodyPr wrap="square" lIns="50800" rIns="50800" tIns="25400" bIns="25400">
            <a:spAutoFit/>
          </a:bodyPr>
          <a:lstStyle/>
          <a:p>
            <a:pPr algn="l"/>
            <a:r>
              <a:rPr sz="1000" b="0" i="0">
                <a:solidFill>
                  <a:srgbClr val="36454F"/>
                </a:solidFill>
                <a:latin typeface="Calibri"/>
              </a:rPr>
              <a:t>On most C-regime NF270 sheets</a:t>
            </a:r>
          </a:p>
        </p:txBody>
      </p:sp>
      <p:sp>
        <p:nvSpPr>
          <p:cNvPr id="33" name="Rectangle 32"/>
          <p:cNvSpPr/>
          <p:nvPr/>
        </p:nvSpPr>
        <p:spPr>
          <a:xfrm>
            <a:off x="6583680" y="4700016"/>
            <a:ext cx="1371600" cy="246888"/>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4700016"/>
            <a:ext cx="1371600" cy="246888"/>
          </a:xfrm>
          <a:prstGeom prst="rect">
            <a:avLst/>
          </a:prstGeom>
          <a:noFill/>
        </p:spPr>
        <p:txBody>
          <a:bodyPr wrap="square" lIns="50800" rIns="50800" tIns="25400" bIns="25400">
            <a:spAutoFit/>
          </a:bodyPr>
          <a:lstStyle/>
          <a:p>
            <a:pPr algn="ctr"/>
            <a:r>
              <a:rPr sz="1000" b="1" i="0">
                <a:solidFill>
                  <a:srgbClr val="FFFFFF"/>
                </a:solidFill>
                <a:latin typeface="Consolas"/>
              </a:rPr>
              <a:t>skip_no_rise</a:t>
            </a:r>
          </a:p>
        </p:txBody>
      </p:sp>
      <p:sp>
        <p:nvSpPr>
          <p:cNvPr id="35" name="Rectangle 34"/>
          <p:cNvSpPr/>
          <p:nvPr/>
        </p:nvSpPr>
        <p:spPr>
          <a:xfrm>
            <a:off x="7955280" y="4700016"/>
            <a:ext cx="350520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0" y="4700016"/>
            <a:ext cx="3413760" cy="246888"/>
          </a:xfrm>
          <a:prstGeom prst="rect">
            <a:avLst/>
          </a:prstGeom>
          <a:noFill/>
        </p:spPr>
        <p:txBody>
          <a:bodyPr wrap="square" lIns="50800" rIns="50800" tIns="25400" bIns="25400">
            <a:spAutoFit/>
          </a:bodyPr>
          <a:lstStyle/>
          <a:p>
            <a:pPr algn="l"/>
            <a:r>
              <a:rPr sz="1000" b="0" i="0">
                <a:solidFill>
                  <a:srgbClr val="36454F"/>
                </a:solidFill>
                <a:latin typeface="Calibri"/>
              </a:rPr>
              <a:t>Mass never crosses threshold (rare)</a:t>
            </a:r>
          </a:p>
        </p:txBody>
      </p:sp>
      <p:sp>
        <p:nvSpPr>
          <p:cNvPr id="37" name="Rectangle 36"/>
          <p:cNvSpPr/>
          <p:nvPr/>
        </p:nvSpPr>
        <p:spPr>
          <a:xfrm>
            <a:off x="6583680" y="4946904"/>
            <a:ext cx="1371600" cy="246888"/>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4946904"/>
            <a:ext cx="1371600" cy="246888"/>
          </a:xfrm>
          <a:prstGeom prst="rect">
            <a:avLst/>
          </a:prstGeom>
          <a:noFill/>
        </p:spPr>
        <p:txBody>
          <a:bodyPr wrap="square" lIns="50800" rIns="50800" tIns="25400" bIns="25400">
            <a:spAutoFit/>
          </a:bodyPr>
          <a:lstStyle/>
          <a:p>
            <a:pPr algn="ctr"/>
            <a:r>
              <a:rPr sz="1000" b="1" i="0">
                <a:solidFill>
                  <a:srgbClr val="FFFFFF"/>
                </a:solidFill>
                <a:latin typeface="Consolas"/>
              </a:rPr>
              <a:t>skip_no_lag</a:t>
            </a:r>
          </a:p>
        </p:txBody>
      </p:sp>
      <p:sp>
        <p:nvSpPr>
          <p:cNvPr id="39" name="Rectangle 38"/>
          <p:cNvSpPr/>
          <p:nvPr/>
        </p:nvSpPr>
        <p:spPr>
          <a:xfrm>
            <a:off x="7955280" y="4946904"/>
            <a:ext cx="350520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4946904"/>
            <a:ext cx="3413760" cy="246888"/>
          </a:xfrm>
          <a:prstGeom prst="rect">
            <a:avLst/>
          </a:prstGeom>
          <a:noFill/>
        </p:spPr>
        <p:txBody>
          <a:bodyPr wrap="square" lIns="50800" rIns="50800" tIns="25400" bIns="25400">
            <a:spAutoFit/>
          </a:bodyPr>
          <a:lstStyle/>
          <a:p>
            <a:pPr algn="l"/>
            <a:r>
              <a:rPr sz="1000" b="0" i="0">
                <a:solidFill>
                  <a:srgbClr val="36454F"/>
                </a:solidFill>
                <a:latin typeface="Calibri"/>
              </a:rPr>
              <a:t>No clear flat-then-rise pattern</a:t>
            </a:r>
          </a:p>
        </p:txBody>
      </p:sp>
      <p:sp>
        <p:nvSpPr>
          <p:cNvPr id="41" name="Rectangle 40"/>
          <p:cNvSpPr/>
          <p:nvPr/>
        </p:nvSpPr>
        <p:spPr>
          <a:xfrm>
            <a:off x="6583680" y="5193792"/>
            <a:ext cx="1371600" cy="246888"/>
          </a:xfrm>
          <a:prstGeom prst="rect">
            <a:avLst/>
          </a:prstGeom>
          <a:solidFill>
            <a:srgbClr val="707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5193792"/>
            <a:ext cx="1371600" cy="246888"/>
          </a:xfrm>
          <a:prstGeom prst="rect">
            <a:avLst/>
          </a:prstGeom>
          <a:noFill/>
        </p:spPr>
        <p:txBody>
          <a:bodyPr wrap="square" lIns="50800" rIns="50800" tIns="25400" bIns="25400">
            <a:spAutoFit/>
          </a:bodyPr>
          <a:lstStyle/>
          <a:p>
            <a:pPr algn="ctr"/>
            <a:r>
              <a:rPr sz="1000" b="1" i="0">
                <a:solidFill>
                  <a:srgbClr val="FFFFFF"/>
                </a:solidFill>
                <a:latin typeface="Consolas"/>
              </a:rPr>
              <a:t>skip_no_data</a:t>
            </a:r>
          </a:p>
        </p:txBody>
      </p:sp>
      <p:sp>
        <p:nvSpPr>
          <p:cNvPr id="43" name="Rectangle 42"/>
          <p:cNvSpPr/>
          <p:nvPr/>
        </p:nvSpPr>
        <p:spPr>
          <a:xfrm>
            <a:off x="7955280" y="5193792"/>
            <a:ext cx="3505200" cy="246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0" y="5193792"/>
            <a:ext cx="3413760" cy="246888"/>
          </a:xfrm>
          <a:prstGeom prst="rect">
            <a:avLst/>
          </a:prstGeom>
          <a:noFill/>
        </p:spPr>
        <p:txBody>
          <a:bodyPr wrap="square" lIns="50800" rIns="50800" tIns="25400" bIns="25400">
            <a:spAutoFit/>
          </a:bodyPr>
          <a:lstStyle/>
          <a:p>
            <a:pPr algn="l"/>
            <a:r>
              <a:rPr sz="1000" b="0" i="0">
                <a:solidFill>
                  <a:srgbClr val="36454F"/>
                </a:solidFill>
                <a:latin typeface="Calibri"/>
              </a:rPr>
              <a:t>data_raw empty</a:t>
            </a:r>
          </a:p>
        </p:txBody>
      </p:sp>
      <p:sp>
        <p:nvSpPr>
          <p:cNvPr id="45" name="Rectangle 44"/>
          <p:cNvSpPr/>
          <p:nvPr/>
        </p:nvSpPr>
        <p:spPr>
          <a:xfrm>
            <a:off x="457200" y="5715000"/>
            <a:ext cx="112776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779008"/>
            <a:ext cx="10911840" cy="320040"/>
          </a:xfrm>
          <a:prstGeom prst="rect">
            <a:avLst/>
          </a:prstGeom>
          <a:noFill/>
        </p:spPr>
        <p:txBody>
          <a:bodyPr wrap="square" lIns="50800" rIns="50800" tIns="25400" bIns="25400">
            <a:spAutoFit/>
          </a:bodyPr>
          <a:lstStyle/>
          <a:p>
            <a:pPr algn="l"/>
            <a:r>
              <a:rPr sz="1100" b="0" i="1">
                <a:solidFill>
                  <a:srgbClr val="FFFFFF"/>
                </a:solidFill>
                <a:latin typeface="Calibri"/>
              </a:rPr>
              <a:t>The model integrates through the holdup but the objective skips it (vial index &lt; n_v0).  Same n_extra contract DATA2 uses — only the source of the flag is automated for DATA3.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01 · CODE STRUCTURE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01</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How the workflow is organized — roots, trunk, branches</a:t>
            </a:r>
          </a:p>
        </p:txBody>
      </p:sp>
      <p:sp>
        <p:nvSpPr>
          <p:cNvPr id="7" name="Rectangle 6"/>
          <p:cNvSpPr/>
          <p:nvPr/>
        </p:nvSpPr>
        <p:spPr>
          <a:xfrm>
            <a:off x="457200" y="1417320"/>
            <a:ext cx="361188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36118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44752"/>
            <a:ext cx="3611880" cy="329184"/>
          </a:xfrm>
          <a:prstGeom prst="rect">
            <a:avLst/>
          </a:prstGeom>
          <a:noFill/>
        </p:spPr>
        <p:txBody>
          <a:bodyPr wrap="square" lIns="0" tIns="0" rIns="0" bIns="0" anchor="ctr">
            <a:spAutoFit/>
          </a:bodyPr>
          <a:lstStyle/>
          <a:p>
            <a:pPr algn="ctr"/>
            <a:r>
              <a:rPr sz="1400" b="1" i="0">
                <a:solidFill>
                  <a:srgbClr val="FFFFFF"/>
                </a:solidFill>
                <a:latin typeface="Calibri"/>
              </a:rPr>
              <a:t>ROOTS — loaders</a:t>
            </a:r>
          </a:p>
        </p:txBody>
      </p:sp>
      <p:sp>
        <p:nvSpPr>
          <p:cNvPr id="10" name="TextBox 9"/>
          <p:cNvSpPr txBox="1"/>
          <p:nvPr/>
        </p:nvSpPr>
        <p:spPr>
          <a:xfrm>
            <a:off x="685800" y="1920240"/>
            <a:ext cx="3200400" cy="320040"/>
          </a:xfrm>
          <a:prstGeom prst="rect">
            <a:avLst/>
          </a:prstGeom>
          <a:noFill/>
        </p:spPr>
        <p:txBody>
          <a:bodyPr wrap="square" lIns="0" tIns="0" rIns="0" bIns="0" anchor="t">
            <a:spAutoFit/>
          </a:bodyPr>
          <a:lstStyle/>
          <a:p>
            <a:pPr algn="l"/>
            <a:r>
              <a:rPr sz="1200" b="1" i="0">
                <a:solidFill>
                  <a:srgbClr val="065A82"/>
                </a:solidFill>
                <a:latin typeface="Consolas"/>
              </a:rPr>
              <a:t>loadmat(path)</a:t>
            </a:r>
          </a:p>
        </p:txBody>
      </p:sp>
      <p:sp>
        <p:nvSpPr>
          <p:cNvPr id="11" name="TextBox 10"/>
          <p:cNvSpPr txBox="1"/>
          <p:nvPr/>
        </p:nvSpPr>
        <p:spPr>
          <a:xfrm>
            <a:off x="777240" y="2240280"/>
            <a:ext cx="3108960" cy="365760"/>
          </a:xfrm>
          <a:prstGeom prst="rect">
            <a:avLst/>
          </a:prstGeom>
          <a:noFill/>
        </p:spPr>
        <p:txBody>
          <a:bodyPr wrap="square" lIns="0" tIns="0" rIns="0" bIns="0" anchor="t">
            <a:spAutoFit/>
          </a:bodyPr>
          <a:lstStyle/>
          <a:p>
            <a:pPr algn="l"/>
            <a:r>
              <a:rPr sz="1000" b="0" i="0">
                <a:solidFill>
                  <a:srgbClr val="1E293B"/>
                </a:solidFill>
                <a:latin typeface="Calibri"/>
              </a:rPr>
              <a:t>DATA1 / DATA2  (.mat experiment files)</a:t>
            </a:r>
          </a:p>
        </p:txBody>
      </p:sp>
      <p:sp>
        <p:nvSpPr>
          <p:cNvPr id="12" name="TextBox 11"/>
          <p:cNvSpPr txBox="1"/>
          <p:nvPr/>
        </p:nvSpPr>
        <p:spPr>
          <a:xfrm>
            <a:off x="685800" y="2651760"/>
            <a:ext cx="3200400" cy="320040"/>
          </a:xfrm>
          <a:prstGeom prst="rect">
            <a:avLst/>
          </a:prstGeom>
          <a:noFill/>
        </p:spPr>
        <p:txBody>
          <a:bodyPr wrap="square" lIns="0" tIns="0" rIns="0" bIns="0" anchor="t">
            <a:spAutoFit/>
          </a:bodyPr>
          <a:lstStyle/>
          <a:p>
            <a:pPr algn="l"/>
            <a:r>
              <a:rPr sz="1200" b="1" i="0">
                <a:solidFill>
                  <a:srgbClr val="065A82"/>
                </a:solidFill>
                <a:latin typeface="Consolas"/>
              </a:rPr>
              <a:t>loadxlsx(path, sheet=…)</a:t>
            </a:r>
          </a:p>
        </p:txBody>
      </p:sp>
      <p:sp>
        <p:nvSpPr>
          <p:cNvPr id="13" name="TextBox 12"/>
          <p:cNvSpPr txBox="1"/>
          <p:nvPr/>
        </p:nvSpPr>
        <p:spPr>
          <a:xfrm>
            <a:off x="777240" y="2971800"/>
            <a:ext cx="3108960" cy="365760"/>
          </a:xfrm>
          <a:prstGeom prst="rect">
            <a:avLst/>
          </a:prstGeom>
          <a:noFill/>
        </p:spPr>
        <p:txBody>
          <a:bodyPr wrap="square" lIns="0" tIns="0" rIns="0" bIns="0" anchor="t">
            <a:spAutoFit/>
          </a:bodyPr>
          <a:lstStyle/>
          <a:p>
            <a:pPr algn="l"/>
            <a:r>
              <a:rPr sz="1000" b="0" i="0">
                <a:solidFill>
                  <a:srgbClr val="1E293B"/>
                </a:solidFill>
                <a:latin typeface="Calibri"/>
              </a:rPr>
              <a:t>DATA3 / NF270  (.xlsx campaign files)</a:t>
            </a:r>
          </a:p>
        </p:txBody>
      </p:sp>
      <p:sp>
        <p:nvSpPr>
          <p:cNvPr id="14" name="TextBox 13"/>
          <p:cNvSpPr txBox="1"/>
          <p:nvPr/>
        </p:nvSpPr>
        <p:spPr>
          <a:xfrm>
            <a:off x="685800" y="3429000"/>
            <a:ext cx="3200400" cy="640080"/>
          </a:xfrm>
          <a:prstGeom prst="rect">
            <a:avLst/>
          </a:prstGeom>
          <a:noFill/>
        </p:spPr>
        <p:txBody>
          <a:bodyPr wrap="square" lIns="0" tIns="0" rIns="0" bIns="0" anchor="t">
            <a:spAutoFit/>
          </a:bodyPr>
          <a:lstStyle/>
          <a:p>
            <a:pPr algn="l"/>
            <a:r>
              <a:rPr sz="1000" b="0" i="1">
                <a:solidFill>
                  <a:srgbClr val="64748B"/>
                </a:solidFill>
                <a:latin typeface="Calibri"/>
              </a:rPr>
              <a:t>Both return the same data_stru dict shape:
data_config + data_raw[vial].</a:t>
            </a:r>
          </a:p>
        </p:txBody>
      </p:sp>
      <p:sp>
        <p:nvSpPr>
          <p:cNvPr id="15" name="TextBox 14"/>
          <p:cNvSpPr txBox="1"/>
          <p:nvPr/>
        </p:nvSpPr>
        <p:spPr>
          <a:xfrm>
            <a:off x="685800" y="4160520"/>
            <a:ext cx="3200400" cy="1645920"/>
          </a:xfrm>
          <a:prstGeom prst="rect">
            <a:avLst/>
          </a:prstGeom>
          <a:noFill/>
        </p:spPr>
        <p:txBody>
          <a:bodyPr wrap="square" lIns="0" tIns="0" rIns="0" bIns="0" anchor="t">
            <a:spAutoFit/>
          </a:bodyPr>
          <a:lstStyle/>
          <a:p>
            <a:pPr algn="l"/>
            <a:r>
              <a:rPr sz="900" b="0" i="0">
                <a:solidFill>
                  <a:srgbClr val="1E293B"/>
                </a:solidFill>
                <a:latin typeface="Consolas"/>
              </a:rPr>
              <a:t>data_config:
  n, n_v0, n_extra, n_h, n_A
  M_F0, M_O, C_F0, C_D
  delP, Temp, Am, rho
  Lp0, B0, sigma0, theta0
data_raw[i]:
  time, mass, cF_exp, cV_avg</a:t>
            </a:r>
          </a:p>
        </p:txBody>
      </p:sp>
      <p:sp>
        <p:nvSpPr>
          <p:cNvPr id="16" name="Rectangle 15"/>
          <p:cNvSpPr/>
          <p:nvPr/>
        </p:nvSpPr>
        <p:spPr>
          <a:xfrm>
            <a:off x="4251960" y="1417320"/>
            <a:ext cx="370332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51960" y="1417320"/>
            <a:ext cx="370332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1444752"/>
            <a:ext cx="3703320" cy="329184"/>
          </a:xfrm>
          <a:prstGeom prst="rect">
            <a:avLst/>
          </a:prstGeom>
          <a:noFill/>
        </p:spPr>
        <p:txBody>
          <a:bodyPr wrap="square" lIns="0" tIns="0" rIns="0" bIns="0" anchor="ctr">
            <a:spAutoFit/>
          </a:bodyPr>
          <a:lstStyle/>
          <a:p>
            <a:pPr algn="ctr"/>
            <a:r>
              <a:rPr sz="1400" b="1" i="0">
                <a:solidFill>
                  <a:srgbClr val="FFFFFF"/>
                </a:solidFill>
                <a:latin typeface="Calibri"/>
              </a:rPr>
              <a:t>TRUNK — process</a:t>
            </a:r>
          </a:p>
        </p:txBody>
      </p:sp>
      <p:sp>
        <p:nvSpPr>
          <p:cNvPr id="19" name="TextBox 18"/>
          <p:cNvSpPr txBox="1"/>
          <p:nvPr/>
        </p:nvSpPr>
        <p:spPr>
          <a:xfrm>
            <a:off x="4480560" y="1920240"/>
            <a:ext cx="3291840" cy="320040"/>
          </a:xfrm>
          <a:prstGeom prst="rect">
            <a:avLst/>
          </a:prstGeom>
          <a:noFill/>
        </p:spPr>
        <p:txBody>
          <a:bodyPr wrap="square" lIns="0" tIns="0" rIns="0" bIns="0" anchor="t">
            <a:spAutoFit/>
          </a:bodyPr>
          <a:lstStyle/>
          <a:p>
            <a:pPr algn="l"/>
            <a:r>
              <a:rPr sz="1200" b="1" i="0">
                <a:solidFill>
                  <a:srgbClr val="1C7293"/>
                </a:solidFill>
                <a:latin typeface="Consolas"/>
              </a:rPr>
              <a:t>model_construct_inter</a:t>
            </a:r>
          </a:p>
        </p:txBody>
      </p:sp>
      <p:sp>
        <p:nvSpPr>
          <p:cNvPr id="20" name="TextBox 19"/>
          <p:cNvSpPr txBox="1"/>
          <p:nvPr/>
        </p:nvSpPr>
        <p:spPr>
          <a:xfrm>
            <a:off x="4572000" y="2240280"/>
            <a:ext cx="3200400" cy="274320"/>
          </a:xfrm>
          <a:prstGeom prst="rect">
            <a:avLst/>
          </a:prstGeom>
          <a:noFill/>
        </p:spPr>
        <p:txBody>
          <a:bodyPr wrap="square" lIns="0" tIns="0" rIns="0" bIns="0" anchor="t">
            <a:spAutoFit/>
          </a:bodyPr>
          <a:lstStyle/>
          <a:p>
            <a:pPr algn="l"/>
            <a:r>
              <a:rPr sz="1000" b="0" i="0">
                <a:solidFill>
                  <a:srgbClr val="1E293B"/>
                </a:solidFill>
                <a:latin typeface="Calibri"/>
              </a:rPr>
              <a:t>Pyomo IDAES model</a:t>
            </a:r>
          </a:p>
        </p:txBody>
      </p:sp>
      <p:sp>
        <p:nvSpPr>
          <p:cNvPr id="21" name="TextBox 20"/>
          <p:cNvSpPr txBox="1"/>
          <p:nvPr/>
        </p:nvSpPr>
        <p:spPr>
          <a:xfrm>
            <a:off x="4480560" y="2606040"/>
            <a:ext cx="3291840" cy="320040"/>
          </a:xfrm>
          <a:prstGeom prst="rect">
            <a:avLst/>
          </a:prstGeom>
          <a:noFill/>
        </p:spPr>
        <p:txBody>
          <a:bodyPr wrap="square" lIns="0" tIns="0" rIns="0" bIns="0" anchor="t">
            <a:spAutoFit/>
          </a:bodyPr>
          <a:lstStyle/>
          <a:p>
            <a:pPr algn="l"/>
            <a:r>
              <a:rPr sz="1200" b="1" i="0">
                <a:solidFill>
                  <a:srgbClr val="1C7293"/>
                </a:solidFill>
                <a:latin typeface="Consolas"/>
              </a:rPr>
              <a:t>solve_model(...)</a:t>
            </a:r>
          </a:p>
        </p:txBody>
      </p:sp>
      <p:sp>
        <p:nvSpPr>
          <p:cNvPr id="22" name="TextBox 21"/>
          <p:cNvSpPr txBox="1"/>
          <p:nvPr/>
        </p:nvSpPr>
        <p:spPr>
          <a:xfrm>
            <a:off x="4572000" y="2926080"/>
            <a:ext cx="3200400" cy="274320"/>
          </a:xfrm>
          <a:prstGeom prst="rect">
            <a:avLst/>
          </a:prstGeom>
          <a:noFill/>
        </p:spPr>
        <p:txBody>
          <a:bodyPr wrap="square" lIns="0" tIns="0" rIns="0" bIns="0" anchor="t">
            <a:spAutoFit/>
          </a:bodyPr>
          <a:lstStyle/>
          <a:p>
            <a:pPr algn="l"/>
            <a:r>
              <a:rPr sz="1000" b="0" i="0">
                <a:solidFill>
                  <a:srgbClr val="1E293B"/>
                </a:solidFill>
                <a:latin typeface="Calibri"/>
              </a:rPr>
              <a:t>ParmEst + multistart</a:t>
            </a:r>
          </a:p>
        </p:txBody>
      </p:sp>
      <p:sp>
        <p:nvSpPr>
          <p:cNvPr id="23" name="TextBox 22"/>
          <p:cNvSpPr txBox="1"/>
          <p:nvPr/>
        </p:nvSpPr>
        <p:spPr>
          <a:xfrm>
            <a:off x="4480560" y="3291840"/>
            <a:ext cx="3291840" cy="320040"/>
          </a:xfrm>
          <a:prstGeom prst="rect">
            <a:avLst/>
          </a:prstGeom>
          <a:noFill/>
        </p:spPr>
        <p:txBody>
          <a:bodyPr wrap="square" lIns="0" tIns="0" rIns="0" bIns="0" anchor="t">
            <a:spAutoFit/>
          </a:bodyPr>
          <a:lstStyle/>
          <a:p>
            <a:pPr algn="l"/>
            <a:r>
              <a:rPr sz="1200" b="1" i="0">
                <a:solidFill>
                  <a:srgbClr val="1C7293"/>
                </a:solidFill>
                <a:latin typeface="Consolas"/>
              </a:rPr>
              <a:t>solve_mass_balance_only</a:t>
            </a:r>
          </a:p>
        </p:txBody>
      </p:sp>
      <p:sp>
        <p:nvSpPr>
          <p:cNvPr id="24" name="TextBox 23"/>
          <p:cNvSpPr txBox="1"/>
          <p:nvPr/>
        </p:nvSpPr>
        <p:spPr>
          <a:xfrm>
            <a:off x="4572000" y="3611880"/>
            <a:ext cx="3200400" cy="274320"/>
          </a:xfrm>
          <a:prstGeom prst="rect">
            <a:avLst/>
          </a:prstGeom>
          <a:noFill/>
        </p:spPr>
        <p:txBody>
          <a:bodyPr wrap="square" lIns="0" tIns="0" rIns="0" bIns="0" anchor="t">
            <a:spAutoFit/>
          </a:bodyPr>
          <a:lstStyle/>
          <a:p>
            <a:pPr algn="l"/>
            <a:r>
              <a:rPr sz="1000" b="0" i="0">
                <a:solidFill>
                  <a:srgbClr val="1E293B"/>
                </a:solidFill>
                <a:latin typeface="Calibri"/>
              </a:rPr>
              <a:t>σ=0 closed-form (litmus)</a:t>
            </a:r>
          </a:p>
        </p:txBody>
      </p:sp>
      <p:sp>
        <p:nvSpPr>
          <p:cNvPr id="25" name="TextBox 24"/>
          <p:cNvSpPr txBox="1"/>
          <p:nvPr/>
        </p:nvSpPr>
        <p:spPr>
          <a:xfrm>
            <a:off x="4480560" y="3977639"/>
            <a:ext cx="3291840" cy="320040"/>
          </a:xfrm>
          <a:prstGeom prst="rect">
            <a:avLst/>
          </a:prstGeom>
          <a:noFill/>
        </p:spPr>
        <p:txBody>
          <a:bodyPr wrap="square" lIns="0" tIns="0" rIns="0" bIns="0" anchor="t">
            <a:spAutoFit/>
          </a:bodyPr>
          <a:lstStyle/>
          <a:p>
            <a:pPr algn="l"/>
            <a:r>
              <a:rPr sz="1200" b="1" i="0">
                <a:solidFill>
                  <a:srgbClr val="1C7293"/>
                </a:solidFill>
                <a:latin typeface="Consolas"/>
              </a:rPr>
              <a:t>calc_FIM(...)</a:t>
            </a:r>
          </a:p>
        </p:txBody>
      </p:sp>
      <p:sp>
        <p:nvSpPr>
          <p:cNvPr id="26" name="TextBox 25"/>
          <p:cNvSpPr txBox="1"/>
          <p:nvPr/>
        </p:nvSpPr>
        <p:spPr>
          <a:xfrm>
            <a:off x="4572000" y="4297680"/>
            <a:ext cx="3200400" cy="274320"/>
          </a:xfrm>
          <a:prstGeom prst="rect">
            <a:avLst/>
          </a:prstGeom>
          <a:noFill/>
        </p:spPr>
        <p:txBody>
          <a:bodyPr wrap="square" lIns="0" tIns="0" rIns="0" bIns="0" anchor="t">
            <a:spAutoFit/>
          </a:bodyPr>
          <a:lstStyle/>
          <a:p>
            <a:pPr algn="l"/>
            <a:r>
              <a:rPr sz="1000" b="0" i="0">
                <a:solidFill>
                  <a:srgbClr val="1E293B"/>
                </a:solidFill>
                <a:latin typeface="Calibri"/>
              </a:rPr>
              <a:t>Fisher-information uncertainty</a:t>
            </a:r>
          </a:p>
        </p:txBody>
      </p:sp>
      <p:sp>
        <p:nvSpPr>
          <p:cNvPr id="27" name="TextBox 26"/>
          <p:cNvSpPr txBox="1"/>
          <p:nvPr/>
        </p:nvSpPr>
        <p:spPr>
          <a:xfrm>
            <a:off x="4480560" y="4663440"/>
            <a:ext cx="3291840" cy="320040"/>
          </a:xfrm>
          <a:prstGeom prst="rect">
            <a:avLst/>
          </a:prstGeom>
          <a:noFill/>
        </p:spPr>
        <p:txBody>
          <a:bodyPr wrap="square" lIns="0" tIns="0" rIns="0" bIns="0" anchor="t">
            <a:spAutoFit/>
          </a:bodyPr>
          <a:lstStyle/>
          <a:p>
            <a:pPr algn="l"/>
            <a:r>
              <a:rPr sz="1200" b="1" i="0">
                <a:solidFill>
                  <a:srgbClr val="1C7293"/>
                </a:solidFill>
                <a:latin typeface="Consolas"/>
              </a:rPr>
              <a:t>compute_doe_metrics</a:t>
            </a:r>
          </a:p>
        </p:txBody>
      </p:sp>
      <p:sp>
        <p:nvSpPr>
          <p:cNvPr id="28" name="TextBox 27"/>
          <p:cNvSpPr txBox="1"/>
          <p:nvPr/>
        </p:nvSpPr>
        <p:spPr>
          <a:xfrm>
            <a:off x="4572000" y="4983480"/>
            <a:ext cx="3200400" cy="274320"/>
          </a:xfrm>
          <a:prstGeom prst="rect">
            <a:avLst/>
          </a:prstGeom>
          <a:noFill/>
        </p:spPr>
        <p:txBody>
          <a:bodyPr wrap="square" lIns="0" tIns="0" rIns="0" bIns="0" anchor="t">
            <a:spAutoFit/>
          </a:bodyPr>
          <a:lstStyle/>
          <a:p>
            <a:pPr algn="l"/>
            <a:r>
              <a:rPr sz="1000" b="0" i="0">
                <a:solidFill>
                  <a:srgbClr val="1E293B"/>
                </a:solidFill>
                <a:latin typeface="Calibri"/>
              </a:rPr>
              <a:t>Pyomo.DoE D/A/E-optimality</a:t>
            </a:r>
          </a:p>
        </p:txBody>
      </p:sp>
      <p:sp>
        <p:nvSpPr>
          <p:cNvPr id="29" name="TextBox 28"/>
          <p:cNvSpPr txBox="1"/>
          <p:nvPr/>
        </p:nvSpPr>
        <p:spPr>
          <a:xfrm>
            <a:off x="4480560" y="5349240"/>
            <a:ext cx="3291840" cy="320040"/>
          </a:xfrm>
          <a:prstGeom prst="rect">
            <a:avLst/>
          </a:prstGeom>
          <a:noFill/>
        </p:spPr>
        <p:txBody>
          <a:bodyPr wrap="square" lIns="0" tIns="0" rIns="0" bIns="0" anchor="t">
            <a:spAutoFit/>
          </a:bodyPr>
          <a:lstStyle/>
          <a:p>
            <a:pPr algn="l"/>
            <a:r>
              <a:rPr sz="1200" b="1" i="0">
                <a:solidFill>
                  <a:srgbClr val="1C7293"/>
                </a:solidFill>
                <a:latin typeface="Consolas"/>
              </a:rPr>
              <a:t>design_next_experiment</a:t>
            </a:r>
          </a:p>
        </p:txBody>
      </p:sp>
      <p:sp>
        <p:nvSpPr>
          <p:cNvPr id="30" name="TextBox 29"/>
          <p:cNvSpPr txBox="1"/>
          <p:nvPr/>
        </p:nvSpPr>
        <p:spPr>
          <a:xfrm>
            <a:off x="4572000" y="5669280"/>
            <a:ext cx="3200400" cy="274320"/>
          </a:xfrm>
          <a:prstGeom prst="rect">
            <a:avLst/>
          </a:prstGeom>
          <a:noFill/>
        </p:spPr>
        <p:txBody>
          <a:bodyPr wrap="square" lIns="0" tIns="0" rIns="0" bIns="0" anchor="t">
            <a:spAutoFit/>
          </a:bodyPr>
          <a:lstStyle/>
          <a:p>
            <a:pPr algn="l"/>
            <a:r>
              <a:rPr sz="1000" b="0" i="0">
                <a:solidFill>
                  <a:srgbClr val="1E293B"/>
                </a:solidFill>
                <a:latin typeface="Calibri"/>
              </a:rPr>
              <a:t>Model discrimination output</a:t>
            </a:r>
          </a:p>
        </p:txBody>
      </p:sp>
      <p:sp>
        <p:nvSpPr>
          <p:cNvPr id="31" name="Rectangle 30"/>
          <p:cNvSpPr/>
          <p:nvPr/>
        </p:nvSpPr>
        <p:spPr>
          <a:xfrm>
            <a:off x="8138160" y="1417320"/>
            <a:ext cx="3611880" cy="4572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38160" y="1417320"/>
            <a:ext cx="361188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38160" y="1444752"/>
            <a:ext cx="3611880" cy="329184"/>
          </a:xfrm>
          <a:prstGeom prst="rect">
            <a:avLst/>
          </a:prstGeom>
          <a:noFill/>
        </p:spPr>
        <p:txBody>
          <a:bodyPr wrap="square" lIns="0" tIns="0" rIns="0" bIns="0" anchor="ctr">
            <a:spAutoFit/>
          </a:bodyPr>
          <a:lstStyle/>
          <a:p>
            <a:pPr algn="ctr"/>
            <a:r>
              <a:rPr sz="1400" b="1" i="0">
                <a:solidFill>
                  <a:srgbClr val="21295C"/>
                </a:solidFill>
                <a:latin typeface="Calibri"/>
              </a:rPr>
              <a:t>BRANCHES — outputs</a:t>
            </a:r>
          </a:p>
        </p:txBody>
      </p:sp>
      <p:sp>
        <p:nvSpPr>
          <p:cNvPr id="34" name="TextBox 33"/>
          <p:cNvSpPr txBox="1"/>
          <p:nvPr/>
        </p:nvSpPr>
        <p:spPr>
          <a:xfrm>
            <a:off x="8366760" y="1920240"/>
            <a:ext cx="3291840" cy="320040"/>
          </a:xfrm>
          <a:prstGeom prst="rect">
            <a:avLst/>
          </a:prstGeom>
          <a:noFill/>
        </p:spPr>
        <p:txBody>
          <a:bodyPr wrap="square" lIns="0" tIns="0" rIns="0" bIns="0" anchor="t">
            <a:spAutoFit/>
          </a:bodyPr>
          <a:lstStyle/>
          <a:p>
            <a:pPr algn="l"/>
            <a:r>
              <a:rPr sz="1200" b="1" i="0">
                <a:solidFill>
                  <a:srgbClr val="02C39A"/>
                </a:solidFill>
                <a:latin typeface="Consolas"/>
              </a:rPr>
              <a:t>plot_sim_comparison</a:t>
            </a:r>
          </a:p>
        </p:txBody>
      </p:sp>
      <p:sp>
        <p:nvSpPr>
          <p:cNvPr id="35" name="TextBox 34"/>
          <p:cNvSpPr txBox="1"/>
          <p:nvPr/>
        </p:nvSpPr>
        <p:spPr>
          <a:xfrm>
            <a:off x="8458200" y="2240280"/>
            <a:ext cx="3200400" cy="274320"/>
          </a:xfrm>
          <a:prstGeom prst="rect">
            <a:avLst/>
          </a:prstGeom>
          <a:noFill/>
        </p:spPr>
        <p:txBody>
          <a:bodyPr wrap="square" lIns="0" tIns="0" rIns="0" bIns="0" anchor="t">
            <a:spAutoFit/>
          </a:bodyPr>
          <a:lstStyle/>
          <a:p>
            <a:pPr algn="l"/>
            <a:r>
              <a:rPr sz="1000" b="0" i="0">
                <a:solidFill>
                  <a:srgbClr val="1E293B"/>
                </a:solidFill>
                <a:latin typeface="Calibri"/>
              </a:rPr>
              <a:t>mass + conc + (stirred-cell)</a:t>
            </a:r>
          </a:p>
        </p:txBody>
      </p:sp>
      <p:sp>
        <p:nvSpPr>
          <p:cNvPr id="36" name="TextBox 35"/>
          <p:cNvSpPr txBox="1"/>
          <p:nvPr/>
        </p:nvSpPr>
        <p:spPr>
          <a:xfrm>
            <a:off x="8366760" y="2606040"/>
            <a:ext cx="3291840" cy="320040"/>
          </a:xfrm>
          <a:prstGeom prst="rect">
            <a:avLst/>
          </a:prstGeom>
          <a:noFill/>
        </p:spPr>
        <p:txBody>
          <a:bodyPr wrap="square" lIns="0" tIns="0" rIns="0" bIns="0" anchor="t">
            <a:spAutoFit/>
          </a:bodyPr>
          <a:lstStyle/>
          <a:p>
            <a:pPr algn="l"/>
            <a:r>
              <a:rPr sz="1200" b="1" i="0">
                <a:solidFill>
                  <a:srgbClr val="02C39A"/>
                </a:solidFill>
                <a:latin typeface="Consolas"/>
              </a:rPr>
              <a:t>render_*_parameters_table</a:t>
            </a:r>
          </a:p>
        </p:txBody>
      </p:sp>
      <p:sp>
        <p:nvSpPr>
          <p:cNvPr id="37" name="TextBox 36"/>
          <p:cNvSpPr txBox="1"/>
          <p:nvPr/>
        </p:nvSpPr>
        <p:spPr>
          <a:xfrm>
            <a:off x="8458200" y="2926080"/>
            <a:ext cx="3200400" cy="274320"/>
          </a:xfrm>
          <a:prstGeom prst="rect">
            <a:avLst/>
          </a:prstGeom>
          <a:noFill/>
        </p:spPr>
        <p:txBody>
          <a:bodyPr wrap="square" lIns="0" tIns="0" rIns="0" bIns="0" anchor="t">
            <a:spAutoFit/>
          </a:bodyPr>
          <a:lstStyle/>
          <a:p>
            <a:pPr algn="l"/>
            <a:r>
              <a:rPr sz="1000" b="0" i="0">
                <a:solidFill>
                  <a:srgbClr val="1E293B"/>
                </a:solidFill>
                <a:latin typeface="Calibri"/>
              </a:rPr>
              <a:t>per-campaign param tables</a:t>
            </a:r>
          </a:p>
        </p:txBody>
      </p:sp>
      <p:sp>
        <p:nvSpPr>
          <p:cNvPr id="38" name="TextBox 37"/>
          <p:cNvSpPr txBox="1"/>
          <p:nvPr/>
        </p:nvSpPr>
        <p:spPr>
          <a:xfrm>
            <a:off x="8366760" y="3291840"/>
            <a:ext cx="3291840" cy="320040"/>
          </a:xfrm>
          <a:prstGeom prst="rect">
            <a:avLst/>
          </a:prstGeom>
          <a:noFill/>
        </p:spPr>
        <p:txBody>
          <a:bodyPr wrap="square" lIns="0" tIns="0" rIns="0" bIns="0" anchor="t">
            <a:spAutoFit/>
          </a:bodyPr>
          <a:lstStyle/>
          <a:p>
            <a:pPr algn="l"/>
            <a:r>
              <a:rPr sz="1200" b="1" i="0">
                <a:solidFill>
                  <a:srgbClr val="02C39A"/>
                </a:solidFill>
                <a:latin typeface="Consolas"/>
              </a:rPr>
              <a:t>plot_contour</a:t>
            </a:r>
          </a:p>
        </p:txBody>
      </p:sp>
      <p:sp>
        <p:nvSpPr>
          <p:cNvPr id="39" name="TextBox 38"/>
          <p:cNvSpPr txBox="1"/>
          <p:nvPr/>
        </p:nvSpPr>
        <p:spPr>
          <a:xfrm>
            <a:off x="8458200" y="3611880"/>
            <a:ext cx="3200400" cy="274320"/>
          </a:xfrm>
          <a:prstGeom prst="rect">
            <a:avLst/>
          </a:prstGeom>
          <a:noFill/>
        </p:spPr>
        <p:txBody>
          <a:bodyPr wrap="square" lIns="0" tIns="0" rIns="0" bIns="0" anchor="t">
            <a:spAutoFit/>
          </a:bodyPr>
          <a:lstStyle/>
          <a:p>
            <a:pPr algn="l"/>
            <a:r>
              <a:rPr sz="1000" b="0" i="0">
                <a:solidFill>
                  <a:srgbClr val="1E293B"/>
                </a:solidFill>
                <a:latin typeface="Calibri"/>
              </a:rPr>
              <a:t>FIM heatmap / σ-sensitivity</a:t>
            </a:r>
          </a:p>
        </p:txBody>
      </p:sp>
      <p:sp>
        <p:nvSpPr>
          <p:cNvPr id="40" name="TextBox 39"/>
          <p:cNvSpPr txBox="1"/>
          <p:nvPr/>
        </p:nvSpPr>
        <p:spPr>
          <a:xfrm>
            <a:off x="8366760" y="3977639"/>
            <a:ext cx="3291840" cy="320040"/>
          </a:xfrm>
          <a:prstGeom prst="rect">
            <a:avLst/>
          </a:prstGeom>
          <a:noFill/>
        </p:spPr>
        <p:txBody>
          <a:bodyPr wrap="square" lIns="0" tIns="0" rIns="0" bIns="0" anchor="t">
            <a:spAutoFit/>
          </a:bodyPr>
          <a:lstStyle/>
          <a:p>
            <a:pPr algn="l"/>
            <a:r>
              <a:rPr sz="1200" b="1" i="0">
                <a:solidFill>
                  <a:srgbClr val="02C39A"/>
                </a:solidFill>
                <a:latin typeface="Consolas"/>
              </a:rPr>
              <a:t>render_nf270_fit_v2</a:t>
            </a:r>
          </a:p>
        </p:txBody>
      </p:sp>
      <p:sp>
        <p:nvSpPr>
          <p:cNvPr id="41" name="TextBox 40"/>
          <p:cNvSpPr txBox="1"/>
          <p:nvPr/>
        </p:nvSpPr>
        <p:spPr>
          <a:xfrm>
            <a:off x="8458200" y="4297680"/>
            <a:ext cx="3200400" cy="274320"/>
          </a:xfrm>
          <a:prstGeom prst="rect">
            <a:avLst/>
          </a:prstGeom>
          <a:noFill/>
        </p:spPr>
        <p:txBody>
          <a:bodyPr wrap="square" lIns="0" tIns="0" rIns="0" bIns="0" anchor="t">
            <a:spAutoFit/>
          </a:bodyPr>
          <a:lstStyle/>
          <a:p>
            <a:pPr algn="l"/>
            <a:r>
              <a:rPr sz="1000" b="0" i="0">
                <a:solidFill>
                  <a:srgbClr val="1E293B"/>
                </a:solidFill>
                <a:latin typeface="Calibri"/>
              </a:rPr>
              <a:t>NF270 saw-tooth + ICP overlay</a:t>
            </a:r>
          </a:p>
        </p:txBody>
      </p:sp>
      <p:sp>
        <p:nvSpPr>
          <p:cNvPr id="42" name="TextBox 41"/>
          <p:cNvSpPr txBox="1"/>
          <p:nvPr/>
        </p:nvSpPr>
        <p:spPr>
          <a:xfrm>
            <a:off x="8366760" y="4663440"/>
            <a:ext cx="3291840" cy="320040"/>
          </a:xfrm>
          <a:prstGeom prst="rect">
            <a:avLst/>
          </a:prstGeom>
          <a:noFill/>
        </p:spPr>
        <p:txBody>
          <a:bodyPr wrap="square" lIns="0" tIns="0" rIns="0" bIns="0" anchor="t">
            <a:spAutoFit/>
          </a:bodyPr>
          <a:lstStyle/>
          <a:p>
            <a:pPr algn="l"/>
            <a:r>
              <a:rPr sz="1200" b="1" i="0">
                <a:solidFill>
                  <a:srgbClr val="02C39A"/>
                </a:solidFill>
                <a:latin typeface="Consolas"/>
              </a:rPr>
              <a:t>report_paper_coverage</a:t>
            </a:r>
          </a:p>
        </p:txBody>
      </p:sp>
      <p:sp>
        <p:nvSpPr>
          <p:cNvPr id="43" name="TextBox 42"/>
          <p:cNvSpPr txBox="1"/>
          <p:nvPr/>
        </p:nvSpPr>
        <p:spPr>
          <a:xfrm>
            <a:off x="8458200" y="4983480"/>
            <a:ext cx="3200400" cy="274320"/>
          </a:xfrm>
          <a:prstGeom prst="rect">
            <a:avLst/>
          </a:prstGeom>
          <a:noFill/>
        </p:spPr>
        <p:txBody>
          <a:bodyPr wrap="square" lIns="0" tIns="0" rIns="0" bIns="0" anchor="t">
            <a:spAutoFit/>
          </a:bodyPr>
          <a:lstStyle/>
          <a:p>
            <a:pPr algn="l"/>
            <a:r>
              <a:rPr sz="1000" b="0" i="0">
                <a:solidFill>
                  <a:srgbClr val="1E293B"/>
                </a:solidFill>
                <a:latin typeface="Calibri"/>
              </a:rPr>
              <a:t>checklist vs published figs</a:t>
            </a:r>
          </a:p>
        </p:txBody>
      </p:sp>
      <p:sp>
        <p:nvSpPr>
          <p:cNvPr id="44" name="TextBox 43"/>
          <p:cNvSpPr txBox="1"/>
          <p:nvPr/>
        </p:nvSpPr>
        <p:spPr>
          <a:xfrm>
            <a:off x="8366760" y="5349240"/>
            <a:ext cx="3291840" cy="320040"/>
          </a:xfrm>
          <a:prstGeom prst="rect">
            <a:avLst/>
          </a:prstGeom>
          <a:noFill/>
        </p:spPr>
        <p:txBody>
          <a:bodyPr wrap="square" lIns="0" tIns="0" rIns="0" bIns="0" anchor="t">
            <a:spAutoFit/>
          </a:bodyPr>
          <a:lstStyle/>
          <a:p>
            <a:pPr algn="l"/>
            <a:r>
              <a:rPr sz="1200" b="1" i="0">
                <a:solidFill>
                  <a:srgbClr val="02C39A"/>
                </a:solidFill>
                <a:latin typeface="Consolas"/>
              </a:rPr>
              <a:t>run_data3_time_series_plots</a:t>
            </a:r>
          </a:p>
        </p:txBody>
      </p:sp>
      <p:sp>
        <p:nvSpPr>
          <p:cNvPr id="45" name="TextBox 44"/>
          <p:cNvSpPr txBox="1"/>
          <p:nvPr/>
        </p:nvSpPr>
        <p:spPr>
          <a:xfrm>
            <a:off x="8458200" y="5669280"/>
            <a:ext cx="3200400" cy="274320"/>
          </a:xfrm>
          <a:prstGeom prst="rect">
            <a:avLst/>
          </a:prstGeom>
          <a:noFill/>
        </p:spPr>
        <p:txBody>
          <a:bodyPr wrap="square" lIns="0" tIns="0" rIns="0" bIns="0" anchor="t">
            <a:spAutoFit/>
          </a:bodyPr>
          <a:lstStyle/>
          <a:p>
            <a:pPr algn="l"/>
            <a:r>
              <a:rPr sz="1000" b="0" i="0">
                <a:solidFill>
                  <a:srgbClr val="1E293B"/>
                </a:solidFill>
                <a:latin typeface="Calibri"/>
              </a:rPr>
              <a:t>DATA3 custom-file figures</a:t>
            </a:r>
          </a:p>
        </p:txBody>
      </p:sp>
      <p:sp>
        <p:nvSpPr>
          <p:cNvPr id="46" name="TextBox 45"/>
          <p:cNvSpPr txBox="1"/>
          <p:nvPr/>
        </p:nvSpPr>
        <p:spPr>
          <a:xfrm>
            <a:off x="457200" y="6172200"/>
            <a:ext cx="11247120" cy="274320"/>
          </a:xfrm>
          <a:prstGeom prst="rect">
            <a:avLst/>
          </a:prstGeom>
          <a:noFill/>
        </p:spPr>
        <p:txBody>
          <a:bodyPr wrap="square" lIns="0" tIns="0" rIns="0" bIns="0" anchor="t">
            <a:spAutoFit/>
          </a:bodyPr>
          <a:lstStyle/>
          <a:p>
            <a:pPr algn="ctr"/>
            <a:r>
              <a:rPr sz="1000" b="0" i="1">
                <a:solidFill>
                  <a:srgbClr val="64748B"/>
                </a:solidFill>
                <a:latin typeface="Calibri"/>
              </a:rPr>
              <a:t>All public API in refactored_ucb_library.py. conductivity_paper.py is the only sibling, frozen.</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02 · HOW TO RUN IT</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02</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The runfile asks four questions, then dispatches</a:t>
            </a:r>
          </a:p>
        </p:txBody>
      </p:sp>
      <p:sp>
        <p:nvSpPr>
          <p:cNvPr id="7" name="Rectangle 6"/>
          <p:cNvSpPr/>
          <p:nvPr/>
        </p:nvSpPr>
        <p:spPr>
          <a:xfrm>
            <a:off x="457200" y="141732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91440" cy="10058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77240" cy="640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00200"/>
            <a:ext cx="777240" cy="640080"/>
          </a:xfrm>
          <a:prstGeom prst="rect">
            <a:avLst/>
          </a:prstGeom>
          <a:noFill/>
        </p:spPr>
        <p:txBody>
          <a:bodyPr wrap="square" lIns="0" tIns="0" rIns="0" bIns="0" anchor="ctr">
            <a:spAutoFit/>
          </a:bodyPr>
          <a:lstStyle/>
          <a:p>
            <a:pPr algn="ctr"/>
            <a:r>
              <a:rPr sz="2000" b="1" i="0">
                <a:solidFill>
                  <a:srgbClr val="FFFFFF"/>
                </a:solidFill>
                <a:latin typeface="Calibri"/>
              </a:rPr>
              <a:t>1</a:t>
            </a:r>
          </a:p>
        </p:txBody>
      </p:sp>
      <p:sp>
        <p:nvSpPr>
          <p:cNvPr id="11" name="TextBox 10"/>
          <p:cNvSpPr txBox="1"/>
          <p:nvPr/>
        </p:nvSpPr>
        <p:spPr>
          <a:xfrm>
            <a:off x="1600200" y="1554480"/>
            <a:ext cx="5029200" cy="365760"/>
          </a:xfrm>
          <a:prstGeom prst="rect">
            <a:avLst/>
          </a:prstGeom>
          <a:noFill/>
        </p:spPr>
        <p:txBody>
          <a:bodyPr wrap="square" lIns="0" tIns="0" rIns="0" bIns="0" anchor="t">
            <a:spAutoFit/>
          </a:bodyPr>
          <a:lstStyle/>
          <a:p>
            <a:pPr algn="l"/>
            <a:r>
              <a:rPr sz="1400" b="1" i="0">
                <a:solidFill>
                  <a:srgbClr val="1E293B"/>
                </a:solidFill>
                <a:latin typeface="Calibri"/>
              </a:rPr>
              <a:t>ROOT — pick a data source</a:t>
            </a:r>
          </a:p>
        </p:txBody>
      </p:sp>
      <p:sp>
        <p:nvSpPr>
          <p:cNvPr id="12" name="TextBox 11"/>
          <p:cNvSpPr txBox="1"/>
          <p:nvPr/>
        </p:nvSpPr>
        <p:spPr>
          <a:xfrm>
            <a:off x="1600200" y="1920240"/>
            <a:ext cx="5029200" cy="502920"/>
          </a:xfrm>
          <a:prstGeom prst="rect">
            <a:avLst/>
          </a:prstGeom>
          <a:noFill/>
        </p:spPr>
        <p:txBody>
          <a:bodyPr wrap="square" lIns="0" tIns="0" rIns="0" bIns="0" anchor="t">
            <a:spAutoFit/>
          </a:bodyPr>
          <a:lstStyle/>
          <a:p>
            <a:pPr algn="l"/>
            <a:r>
              <a:rPr sz="1100" b="0" i="0">
                <a:solidFill>
                  <a:srgbClr val="1E293B"/>
                </a:solidFill>
                <a:latin typeface="Calibri"/>
              </a:rPr>
              <a:t>Which campaign or file are you working from?</a:t>
            </a:r>
          </a:p>
        </p:txBody>
      </p:sp>
      <p:sp>
        <p:nvSpPr>
          <p:cNvPr id="13" name="TextBox 12"/>
          <p:cNvSpPr txBox="1"/>
          <p:nvPr/>
        </p:nvSpPr>
        <p:spPr>
          <a:xfrm>
            <a:off x="6858000" y="155448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14" name="TextBox 13"/>
          <p:cNvSpPr txBox="1"/>
          <p:nvPr/>
        </p:nvSpPr>
        <p:spPr>
          <a:xfrm>
            <a:off x="6858000" y="1874519"/>
            <a:ext cx="4754880" cy="548640"/>
          </a:xfrm>
          <a:prstGeom prst="rect">
            <a:avLst/>
          </a:prstGeom>
          <a:noFill/>
        </p:spPr>
        <p:txBody>
          <a:bodyPr wrap="square" lIns="0" tIns="0" rIns="0" bIns="0" anchor="t">
            <a:spAutoFit/>
          </a:bodyPr>
          <a:lstStyle/>
          <a:p>
            <a:pPr algn="l"/>
            <a:r>
              <a:rPr sz="1000" b="0" i="0">
                <a:solidFill>
                  <a:srgbClr val="1E293B"/>
                </a:solidFill>
                <a:latin typeface="Consolas"/>
              </a:rPr>
              <a:t>1 DATA1   2 DATA2   3 DATA3 / NF270   4 custom file</a:t>
            </a:r>
          </a:p>
        </p:txBody>
      </p:sp>
      <p:sp>
        <p:nvSpPr>
          <p:cNvPr id="15" name="Rectangle 14"/>
          <p:cNvSpPr/>
          <p:nvPr/>
        </p:nvSpPr>
        <p:spPr>
          <a:xfrm>
            <a:off x="457200" y="251460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514600"/>
            <a:ext cx="91440" cy="100584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697480"/>
            <a:ext cx="777240" cy="6400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697480"/>
            <a:ext cx="777240" cy="640080"/>
          </a:xfrm>
          <a:prstGeom prst="rect">
            <a:avLst/>
          </a:prstGeom>
          <a:noFill/>
        </p:spPr>
        <p:txBody>
          <a:bodyPr wrap="square" lIns="0" tIns="0" rIns="0" bIns="0" anchor="ctr">
            <a:spAutoFit/>
          </a:bodyPr>
          <a:lstStyle/>
          <a:p>
            <a:pPr algn="ctr"/>
            <a:r>
              <a:rPr sz="2000" b="1" i="0">
                <a:solidFill>
                  <a:srgbClr val="FFFFFF"/>
                </a:solidFill>
                <a:latin typeface="Calibri"/>
              </a:rPr>
              <a:t>2</a:t>
            </a:r>
          </a:p>
        </p:txBody>
      </p:sp>
      <p:sp>
        <p:nvSpPr>
          <p:cNvPr id="19" name="TextBox 18"/>
          <p:cNvSpPr txBox="1"/>
          <p:nvPr/>
        </p:nvSpPr>
        <p:spPr>
          <a:xfrm>
            <a:off x="1600200" y="2651760"/>
            <a:ext cx="5029200" cy="365760"/>
          </a:xfrm>
          <a:prstGeom prst="rect">
            <a:avLst/>
          </a:prstGeom>
          <a:noFill/>
        </p:spPr>
        <p:txBody>
          <a:bodyPr wrap="square" lIns="0" tIns="0" rIns="0" bIns="0" anchor="t">
            <a:spAutoFit/>
          </a:bodyPr>
          <a:lstStyle/>
          <a:p>
            <a:pPr algn="l"/>
            <a:r>
              <a:rPr sz="1400" b="1" i="0">
                <a:solidFill>
                  <a:srgbClr val="1E293B"/>
                </a:solidFill>
                <a:latin typeface="Calibri"/>
              </a:rPr>
              <a:t>SUBSET — narrow within the root</a:t>
            </a:r>
          </a:p>
        </p:txBody>
      </p:sp>
      <p:sp>
        <p:nvSpPr>
          <p:cNvPr id="20" name="TextBox 19"/>
          <p:cNvSpPr txBox="1"/>
          <p:nvPr/>
        </p:nvSpPr>
        <p:spPr>
          <a:xfrm>
            <a:off x="1600200" y="3017520"/>
            <a:ext cx="5029200" cy="502920"/>
          </a:xfrm>
          <a:prstGeom prst="rect">
            <a:avLst/>
          </a:prstGeom>
          <a:noFill/>
        </p:spPr>
        <p:txBody>
          <a:bodyPr wrap="square" lIns="0" tIns="0" rIns="0" bIns="0" anchor="t">
            <a:spAutoFit/>
          </a:bodyPr>
          <a:lstStyle/>
          <a:p>
            <a:pPr algn="l"/>
            <a:r>
              <a:rPr sz="1100" b="0" i="0">
                <a:solidFill>
                  <a:srgbClr val="1E293B"/>
                </a:solidFill>
                <a:latin typeface="Calibri"/>
              </a:rPr>
              <a:t>Within the chosen root, which sheets / files to run?</a:t>
            </a:r>
          </a:p>
        </p:txBody>
      </p:sp>
      <p:sp>
        <p:nvSpPr>
          <p:cNvPr id="21" name="TextBox 20"/>
          <p:cNvSpPr txBox="1"/>
          <p:nvPr/>
        </p:nvSpPr>
        <p:spPr>
          <a:xfrm>
            <a:off x="6858000" y="265176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22" name="TextBox 21"/>
          <p:cNvSpPr txBox="1"/>
          <p:nvPr/>
        </p:nvSpPr>
        <p:spPr>
          <a:xfrm>
            <a:off x="6858000" y="2971800"/>
            <a:ext cx="4754880" cy="548640"/>
          </a:xfrm>
          <a:prstGeom prst="rect">
            <a:avLst/>
          </a:prstGeom>
          <a:noFill/>
        </p:spPr>
        <p:txBody>
          <a:bodyPr wrap="square" lIns="0" tIns="0" rIns="0" bIns="0" anchor="t">
            <a:spAutoFit/>
          </a:bodyPr>
          <a:lstStyle/>
          <a:p>
            <a:pPr algn="l"/>
            <a:r>
              <a:rPr sz="1000" b="0" i="0">
                <a:solidFill>
                  <a:srgbClr val="1E293B"/>
                </a:solidFill>
                <a:latin typeface="Consolas"/>
              </a:rPr>
              <a:t>DATA3: all 26 | single-salt 11 | one sheet | fast 3</a:t>
            </a:r>
          </a:p>
        </p:txBody>
      </p:sp>
      <p:sp>
        <p:nvSpPr>
          <p:cNvPr id="23" name="Rectangle 22"/>
          <p:cNvSpPr/>
          <p:nvPr/>
        </p:nvSpPr>
        <p:spPr>
          <a:xfrm>
            <a:off x="457200" y="361188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611880"/>
            <a:ext cx="91440" cy="10058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3794760"/>
            <a:ext cx="777240" cy="6400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794760"/>
            <a:ext cx="777240" cy="640080"/>
          </a:xfrm>
          <a:prstGeom prst="rect">
            <a:avLst/>
          </a:prstGeom>
          <a:noFill/>
        </p:spPr>
        <p:txBody>
          <a:bodyPr wrap="square" lIns="0" tIns="0" rIns="0" bIns="0" anchor="ctr">
            <a:spAutoFit/>
          </a:bodyPr>
          <a:lstStyle/>
          <a:p>
            <a:pPr algn="ctr"/>
            <a:r>
              <a:rPr sz="2000" b="1" i="0">
                <a:solidFill>
                  <a:srgbClr val="FFFFFF"/>
                </a:solidFill>
                <a:latin typeface="Calibri"/>
              </a:rPr>
              <a:t>3</a:t>
            </a:r>
          </a:p>
        </p:txBody>
      </p:sp>
      <p:sp>
        <p:nvSpPr>
          <p:cNvPr id="27" name="TextBox 26"/>
          <p:cNvSpPr txBox="1"/>
          <p:nvPr/>
        </p:nvSpPr>
        <p:spPr>
          <a:xfrm>
            <a:off x="1600200" y="3749040"/>
            <a:ext cx="5029200" cy="365760"/>
          </a:xfrm>
          <a:prstGeom prst="rect">
            <a:avLst/>
          </a:prstGeom>
          <a:noFill/>
        </p:spPr>
        <p:txBody>
          <a:bodyPr wrap="square" lIns="0" tIns="0" rIns="0" bIns="0" anchor="t">
            <a:spAutoFit/>
          </a:bodyPr>
          <a:lstStyle/>
          <a:p>
            <a:pPr algn="l"/>
            <a:r>
              <a:rPr sz="1400" b="1" i="0">
                <a:solidFill>
                  <a:srgbClr val="1E293B"/>
                </a:solidFill>
                <a:latin typeface="Calibri"/>
              </a:rPr>
              <a:t>TRUNK — pick the workflow</a:t>
            </a:r>
          </a:p>
        </p:txBody>
      </p:sp>
      <p:sp>
        <p:nvSpPr>
          <p:cNvPr id="28" name="TextBox 27"/>
          <p:cNvSpPr txBox="1"/>
          <p:nvPr/>
        </p:nvSpPr>
        <p:spPr>
          <a:xfrm>
            <a:off x="1600200" y="4114800"/>
            <a:ext cx="5029200" cy="502920"/>
          </a:xfrm>
          <a:prstGeom prst="rect">
            <a:avLst/>
          </a:prstGeom>
          <a:noFill/>
        </p:spPr>
        <p:txBody>
          <a:bodyPr wrap="square" lIns="0" tIns="0" rIns="0" bIns="0" anchor="t">
            <a:spAutoFit/>
          </a:bodyPr>
          <a:lstStyle/>
          <a:p>
            <a:pPr algn="l"/>
            <a:r>
              <a:rPr sz="1100" b="0" i="0">
                <a:solidFill>
                  <a:srgbClr val="1E293B"/>
                </a:solidFill>
                <a:latin typeface="Calibri"/>
              </a:rPr>
              <a:t>Simulate, fit, multistart, FIM, DoE, or mass-litmus.</a:t>
            </a:r>
          </a:p>
        </p:txBody>
      </p:sp>
      <p:sp>
        <p:nvSpPr>
          <p:cNvPr id="29" name="TextBox 28"/>
          <p:cNvSpPr txBox="1"/>
          <p:nvPr/>
        </p:nvSpPr>
        <p:spPr>
          <a:xfrm>
            <a:off x="6858000" y="374904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30" name="TextBox 29"/>
          <p:cNvSpPr txBox="1"/>
          <p:nvPr/>
        </p:nvSpPr>
        <p:spPr>
          <a:xfrm>
            <a:off x="6858000" y="4069080"/>
            <a:ext cx="4754880" cy="548640"/>
          </a:xfrm>
          <a:prstGeom prst="rect">
            <a:avLst/>
          </a:prstGeom>
          <a:noFill/>
        </p:spPr>
        <p:txBody>
          <a:bodyPr wrap="square" lIns="0" tIns="0" rIns="0" bIns="0" anchor="t">
            <a:spAutoFit/>
          </a:bodyPr>
          <a:lstStyle/>
          <a:p>
            <a:pPr algn="l"/>
            <a:r>
              <a:rPr sz="1000" b="0" i="0">
                <a:solidFill>
                  <a:srgbClr val="1E293B"/>
                </a:solidFill>
                <a:latin typeface="Consolas"/>
              </a:rPr>
              <a:t>0 manifest default   3 fit+multistart   4 + FIM   5 + DoE   6 mass-litmus</a:t>
            </a:r>
          </a:p>
        </p:txBody>
      </p:sp>
      <p:sp>
        <p:nvSpPr>
          <p:cNvPr id="31" name="Rectangle 30"/>
          <p:cNvSpPr/>
          <p:nvPr/>
        </p:nvSpPr>
        <p:spPr>
          <a:xfrm>
            <a:off x="457200" y="4709160"/>
            <a:ext cx="11247120" cy="10058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709160"/>
            <a:ext cx="91440" cy="10058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4892040"/>
            <a:ext cx="777240" cy="6400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4892040"/>
            <a:ext cx="777240" cy="640080"/>
          </a:xfrm>
          <a:prstGeom prst="rect">
            <a:avLst/>
          </a:prstGeom>
          <a:noFill/>
        </p:spPr>
        <p:txBody>
          <a:bodyPr wrap="square" lIns="0" tIns="0" rIns="0" bIns="0" anchor="ctr">
            <a:spAutoFit/>
          </a:bodyPr>
          <a:lstStyle/>
          <a:p>
            <a:pPr algn="ctr"/>
            <a:r>
              <a:rPr sz="2000" b="1" i="0">
                <a:solidFill>
                  <a:srgbClr val="FFFFFF"/>
                </a:solidFill>
                <a:latin typeface="Calibri"/>
              </a:rPr>
              <a:t>4</a:t>
            </a:r>
          </a:p>
        </p:txBody>
      </p:sp>
      <p:sp>
        <p:nvSpPr>
          <p:cNvPr id="35" name="TextBox 34"/>
          <p:cNvSpPr txBox="1"/>
          <p:nvPr/>
        </p:nvSpPr>
        <p:spPr>
          <a:xfrm>
            <a:off x="1600200" y="4846320"/>
            <a:ext cx="5029200" cy="365760"/>
          </a:xfrm>
          <a:prstGeom prst="rect">
            <a:avLst/>
          </a:prstGeom>
          <a:noFill/>
        </p:spPr>
        <p:txBody>
          <a:bodyPr wrap="square" lIns="0" tIns="0" rIns="0" bIns="0" anchor="t">
            <a:spAutoFit/>
          </a:bodyPr>
          <a:lstStyle/>
          <a:p>
            <a:pPr algn="l"/>
            <a:r>
              <a:rPr sz="1400" b="1" i="0">
                <a:solidFill>
                  <a:srgbClr val="1E293B"/>
                </a:solidFill>
                <a:latin typeface="Calibri"/>
              </a:rPr>
              <a:t>BRANCHES — choose outputs</a:t>
            </a:r>
          </a:p>
        </p:txBody>
      </p:sp>
      <p:sp>
        <p:nvSpPr>
          <p:cNvPr id="36" name="TextBox 35"/>
          <p:cNvSpPr txBox="1"/>
          <p:nvPr/>
        </p:nvSpPr>
        <p:spPr>
          <a:xfrm>
            <a:off x="1600200" y="5212080"/>
            <a:ext cx="5029200" cy="502920"/>
          </a:xfrm>
          <a:prstGeom prst="rect">
            <a:avLst/>
          </a:prstGeom>
          <a:noFill/>
        </p:spPr>
        <p:txBody>
          <a:bodyPr wrap="square" lIns="0" tIns="0" rIns="0" bIns="0" anchor="t">
            <a:spAutoFit/>
          </a:bodyPr>
          <a:lstStyle/>
          <a:p>
            <a:pPr algn="l"/>
            <a:r>
              <a:rPr sz="1100" b="0" i="0">
                <a:solidFill>
                  <a:srgbClr val="1E293B"/>
                </a:solidFill>
                <a:latin typeface="Calibri"/>
              </a:rPr>
              <a:t>Which plots / tables to produce.</a:t>
            </a:r>
          </a:p>
        </p:txBody>
      </p:sp>
      <p:sp>
        <p:nvSpPr>
          <p:cNvPr id="37" name="TextBox 36"/>
          <p:cNvSpPr txBox="1"/>
          <p:nvPr/>
        </p:nvSpPr>
        <p:spPr>
          <a:xfrm>
            <a:off x="6858000" y="4846320"/>
            <a:ext cx="4754880" cy="365760"/>
          </a:xfrm>
          <a:prstGeom prst="rect">
            <a:avLst/>
          </a:prstGeom>
          <a:noFill/>
        </p:spPr>
        <p:txBody>
          <a:bodyPr wrap="square" lIns="0" tIns="0" rIns="0" bIns="0" anchor="t">
            <a:spAutoFit/>
          </a:bodyPr>
          <a:lstStyle/>
          <a:p>
            <a:pPr algn="l"/>
            <a:r>
              <a:rPr sz="1100" b="1" i="0">
                <a:solidFill>
                  <a:srgbClr val="64748B"/>
                </a:solidFill>
                <a:latin typeface="Calibri"/>
              </a:rPr>
              <a:t>Choices:</a:t>
            </a:r>
          </a:p>
        </p:txBody>
      </p:sp>
      <p:sp>
        <p:nvSpPr>
          <p:cNvPr id="38" name="TextBox 37"/>
          <p:cNvSpPr txBox="1"/>
          <p:nvPr/>
        </p:nvSpPr>
        <p:spPr>
          <a:xfrm>
            <a:off x="6858000" y="5166360"/>
            <a:ext cx="4754880" cy="548640"/>
          </a:xfrm>
          <a:prstGeom prst="rect">
            <a:avLst/>
          </a:prstGeom>
          <a:noFill/>
        </p:spPr>
        <p:txBody>
          <a:bodyPr wrap="square" lIns="0" tIns="0" rIns="0" bIns="0" anchor="t">
            <a:spAutoFit/>
          </a:bodyPr>
          <a:lstStyle/>
          <a:p>
            <a:pPr algn="l"/>
            <a:r>
              <a:rPr sz="1000" b="0" i="0">
                <a:solidFill>
                  <a:srgbClr val="1E293B"/>
                </a:solidFill>
                <a:latin typeface="Consolas"/>
              </a:rPr>
              <a:t>m mass   c conc   p params   f FIM heatmap   d DoE   all</a:t>
            </a:r>
          </a:p>
        </p:txBody>
      </p:sp>
      <p:sp>
        <p:nvSpPr>
          <p:cNvPr id="39" name="Rectangle 38"/>
          <p:cNvSpPr/>
          <p:nvPr/>
        </p:nvSpPr>
        <p:spPr>
          <a:xfrm>
            <a:off x="457200" y="5806440"/>
            <a:ext cx="11247120" cy="5029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5852160"/>
            <a:ext cx="10972800" cy="411480"/>
          </a:xfrm>
          <a:prstGeom prst="rect">
            <a:avLst/>
          </a:prstGeom>
          <a:noFill/>
        </p:spPr>
        <p:txBody>
          <a:bodyPr wrap="square" lIns="0" tIns="0" rIns="0" bIns="0" anchor="t">
            <a:spAutoFit/>
          </a:bodyPr>
          <a:lstStyle/>
          <a:p>
            <a:pPr algn="l"/>
            <a:r>
              <a:rPr sz="1200" b="1" i="0">
                <a:solidFill>
                  <a:srgbClr val="FFFFFF"/>
                </a:solidFill>
                <a:latin typeface="Calibri"/>
              </a:rPr>
              <a:t>→ DISPATCH:  materialize_all(...) for DATA1 / DATA2 / DATA3,  or  run_pipeline(...) for custom files.</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198F5-AB68-BA8C-F15E-8081BCEE4468}"/>
              </a:ext>
            </a:extLst>
          </p:cNvPr>
          <p:cNvSpPr>
            <a:spLocks noGrp="1"/>
          </p:cNvSpPr>
          <p:nvPr>
            <p:ph type="title"/>
          </p:nvPr>
        </p:nvSpPr>
        <p:spPr>
          <a:xfrm>
            <a:off x="128584" y="126586"/>
            <a:ext cx="11980590" cy="1549814"/>
          </a:xfrm>
        </p:spPr>
        <p:txBody>
          <a:bodyPr>
            <a:normAutofit/>
          </a:bodyPr>
          <a:lstStyle/>
          <a:p>
            <a:pPr algn="ctr"/>
            <a:r>
              <a:rPr lang="en-US" sz="5400" dirty="0"/>
              <a:t>Backup Files</a:t>
            </a:r>
          </a:p>
        </p:txBody>
      </p:sp>
      <p:sp>
        <p:nvSpPr>
          <p:cNvPr id="3" name="Slide Number Placeholder 2">
            <a:extLst>
              <a:ext uri="{FF2B5EF4-FFF2-40B4-BE49-F238E27FC236}">
                <a16:creationId xmlns:a16="http://schemas.microsoft.com/office/drawing/2014/main" id="{F7890D04-C649-5473-A3DE-81A87A661C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4" name="TextBox 3">
            <a:extLst>
              <a:ext uri="{FF2B5EF4-FFF2-40B4-BE49-F238E27FC236}">
                <a16:creationId xmlns:a16="http://schemas.microsoft.com/office/drawing/2014/main" id="{C5B1C7D3-B622-B26C-0D11-4D7E86A82A1E}"/>
              </a:ext>
            </a:extLst>
          </p:cNvPr>
          <p:cNvSpPr txBox="1"/>
          <p:nvPr/>
        </p:nvSpPr>
        <p:spPr>
          <a:xfrm>
            <a:off x="4872384" y="1997839"/>
            <a:ext cx="2492990" cy="2862322"/>
          </a:xfrm>
          <a:prstGeom prst="rect">
            <a:avLst/>
          </a:prstGeom>
          <a:noFill/>
        </p:spPr>
        <p:txBody>
          <a:bodyPr wrap="none" rtlCol="0">
            <a:spAutoFit/>
          </a:bodyPr>
          <a:lstStyle/>
          <a:p>
            <a:r>
              <a:rPr lang="en-US" sz="18000" dirty="0"/>
              <a:t>📎</a:t>
            </a:r>
          </a:p>
        </p:txBody>
      </p:sp>
    </p:spTree>
    <p:extLst>
      <p:ext uri="{BB962C8B-B14F-4D97-AF65-F5344CB8AC3E}">
        <p14:creationId xmlns:p14="http://schemas.microsoft.com/office/powerpoint/2010/main" val="1529336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03 · REPRODUCIBILITY</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03</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Byte-identical replication of DATA1 + DATA2 published figures</a:t>
            </a:r>
          </a:p>
        </p:txBody>
      </p:sp>
      <p:sp>
        <p:nvSpPr>
          <p:cNvPr id="7" name="Rectangle 6"/>
          <p:cNvSpPr/>
          <p:nvPr/>
        </p:nvSpPr>
        <p:spPr>
          <a:xfrm>
            <a:off x="457200" y="1417320"/>
            <a:ext cx="5486400" cy="3657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44752"/>
            <a:ext cx="5486400" cy="310896"/>
          </a:xfrm>
          <a:prstGeom prst="rect">
            <a:avLst/>
          </a:prstGeom>
          <a:noFill/>
        </p:spPr>
        <p:txBody>
          <a:bodyPr wrap="square" lIns="0" tIns="0" rIns="0" bIns="0" anchor="t">
            <a:spAutoFit/>
          </a:bodyPr>
          <a:lstStyle/>
          <a:p>
            <a:pPr algn="ctr"/>
            <a:r>
              <a:rPr sz="1200" b="1" i="0">
                <a:solidFill>
                  <a:srgbClr val="FFFFFF"/>
                </a:solidFill>
                <a:latin typeface="Calibri"/>
              </a:rPr>
              <a:t>DATA1 — Apparatus Figure 2 (KCl mass vs time)</a:t>
            </a:r>
          </a:p>
        </p:txBody>
      </p:sp>
      <p:pic>
        <p:nvPicPr>
          <p:cNvPr id="9" name="Picture 8" descr="_v3_mass_BEFORE_trim.png"/>
          <p:cNvPicPr>
            <a:picLocks noChangeAspect="1"/>
          </p:cNvPicPr>
          <p:nvPr/>
        </p:nvPicPr>
        <p:blipFill>
          <a:blip r:embed="rId2"/>
          <a:stretch>
            <a:fillRect/>
          </a:stretch>
        </p:blipFill>
        <p:spPr>
          <a:xfrm>
            <a:off x="640080" y="1828800"/>
            <a:ext cx="5029200" cy="4206240"/>
          </a:xfrm>
          <a:prstGeom prst="rect">
            <a:avLst/>
          </a:prstGeom>
        </p:spPr>
      </p:pic>
      <p:sp>
        <p:nvSpPr>
          <p:cNvPr id="10" name="Rectangle 9"/>
          <p:cNvSpPr/>
          <p:nvPr/>
        </p:nvSpPr>
        <p:spPr>
          <a:xfrm>
            <a:off x="6263640" y="1417320"/>
            <a:ext cx="548640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444752"/>
            <a:ext cx="5486400" cy="310896"/>
          </a:xfrm>
          <a:prstGeom prst="rect">
            <a:avLst/>
          </a:prstGeom>
          <a:noFill/>
        </p:spPr>
        <p:txBody>
          <a:bodyPr wrap="square" lIns="0" tIns="0" rIns="0" bIns="0" anchor="t">
            <a:spAutoFit/>
          </a:bodyPr>
          <a:lstStyle/>
          <a:p>
            <a:pPr algn="ctr"/>
            <a:r>
              <a:rPr sz="1200" b="1" i="0">
                <a:solidFill>
                  <a:srgbClr val="21295C"/>
                </a:solidFill>
                <a:latin typeface="Calibri"/>
              </a:rPr>
              <a:t>DATA2 — Lag-mode Figure 6 (KCl retentate cF)</a:t>
            </a:r>
          </a:p>
        </p:txBody>
      </p:sp>
      <p:pic>
        <p:nvPicPr>
          <p:cNvPr id="12" name="Picture 11" descr="_v3_mass_AFTER_trim.png"/>
          <p:cNvPicPr>
            <a:picLocks noChangeAspect="1"/>
          </p:cNvPicPr>
          <p:nvPr/>
        </p:nvPicPr>
        <p:blipFill>
          <a:blip r:embed="rId3"/>
          <a:stretch>
            <a:fillRect/>
          </a:stretch>
        </p:blipFill>
        <p:spPr>
          <a:xfrm>
            <a:off x="6446520" y="1828800"/>
            <a:ext cx="5029200" cy="4206240"/>
          </a:xfrm>
          <a:prstGeom prst="rect">
            <a:avLst/>
          </a:prstGeom>
        </p:spPr>
      </p:pic>
      <p:sp>
        <p:nvSpPr>
          <p:cNvPr id="13" name="TextBox 12"/>
          <p:cNvSpPr txBox="1"/>
          <p:nvPr/>
        </p:nvSpPr>
        <p:spPr>
          <a:xfrm>
            <a:off x="457200" y="6263640"/>
            <a:ext cx="11247120" cy="274320"/>
          </a:xfrm>
          <a:prstGeom prst="rect">
            <a:avLst/>
          </a:prstGeom>
          <a:noFill/>
        </p:spPr>
        <p:txBody>
          <a:bodyPr wrap="square" lIns="0" tIns="0" rIns="0" bIns="0" anchor="t">
            <a:spAutoFit/>
          </a:bodyPr>
          <a:lstStyle/>
          <a:p>
            <a:pPr algn="ctr"/>
            <a:r>
              <a:rPr sz="1100" b="0" i="1">
                <a:solidFill>
                  <a:srgbClr val="64748B"/>
                </a:solidFill>
                <a:latin typeface="Calibri"/>
              </a:rPr>
              <a:t>manifest_default calls materialize_all with the exact same args the legacy runfile used — no extra_opts overrides flow through; conductivity_paper.py stays frozen.</a:t>
            </a:r>
          </a:p>
        </p:txBody>
      </p:sp>
      <p:pic>
        <p:nvPicPr>
          <p:cNvPr id="9999" name="NDLogo"/>
          <p:cNvPicPr>
            <a:picLocks noChangeAspect="1"/>
          </p:cNvPicPr>
          <p:nvPr/>
        </p:nvPicPr>
        <p:blipFill>
          <a:blip r:embed="rId4"/>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04 · DATA3 FIRST RUN</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04</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DATA3 first run: same code, three salts — three distinct failure patterns</a:t>
            </a:r>
          </a:p>
        </p:txBody>
      </p:sp>
      <p:sp>
        <p:nvSpPr>
          <p:cNvPr id="7" name="TextBox 6"/>
          <p:cNvSpPr txBox="1"/>
          <p:nvPr/>
        </p:nvSpPr>
        <p:spPr>
          <a:xfrm>
            <a:off x="457200" y="1371600"/>
            <a:ext cx="11247120" cy="457200"/>
          </a:xfrm>
          <a:prstGeom prst="rect">
            <a:avLst/>
          </a:prstGeom>
          <a:noFill/>
        </p:spPr>
        <p:txBody>
          <a:bodyPr wrap="square" lIns="0" tIns="0" rIns="0" bIns="0" anchor="t">
            <a:spAutoFit/>
          </a:bodyPr>
          <a:lstStyle/>
          <a:p>
            <a:pPr algn="l"/>
            <a:r>
              <a:rPr sz="1400" b="0" i="1">
                <a:solidFill>
                  <a:srgbClr val="1E293B"/>
                </a:solidFill>
                <a:latin typeface="Calibri"/>
              </a:rPr>
              <a:t>First DATA3 fit on the 11 single-salt sheets. Same WSSE objective:  Obj = 1e4 · ( Σ (Δm/0.01)²/N_m  +  Σ (Δcv/(0.03·cv))²/N_v  +  Σ (Δcf/(0.003·cf))²/N_r ).  Three distinct failure patterns appear — all σ-pathologies, not data bugs:</a:t>
            </a:r>
          </a:p>
        </p:txBody>
      </p:sp>
      <p:sp>
        <p:nvSpPr>
          <p:cNvPr id="8" name="Rectangle 7"/>
          <p:cNvSpPr/>
          <p:nvPr/>
        </p:nvSpPr>
        <p:spPr>
          <a:xfrm>
            <a:off x="457200"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2011680"/>
            <a:ext cx="3749039"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A — moderate σ↑</a:t>
            </a:r>
          </a:p>
        </p:txBody>
      </p:sp>
      <p:sp>
        <p:nvSpPr>
          <p:cNvPr id="11" name="TextBox 10"/>
          <p:cNvSpPr txBox="1"/>
          <p:nvPr/>
        </p:nvSpPr>
        <p:spPr>
          <a:xfrm>
            <a:off x="640080"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12" name="TextBox 11"/>
          <p:cNvSpPr txBox="1"/>
          <p:nvPr/>
        </p:nvSpPr>
        <p:spPr>
          <a:xfrm>
            <a:off x="640080" y="2834640"/>
            <a:ext cx="3566160" cy="1280160"/>
          </a:xfrm>
          <a:prstGeom prst="rect">
            <a:avLst/>
          </a:prstGeom>
          <a:noFill/>
        </p:spPr>
        <p:txBody>
          <a:bodyPr wrap="square" lIns="0" tIns="0" rIns="0" bIns="0" anchor="t">
            <a:spAutoFit/>
          </a:bodyPr>
          <a:lstStyle/>
          <a:p>
            <a:pPr algn="l"/>
            <a:r>
              <a:rPr sz="1100" b="0" i="0">
                <a:solidFill>
                  <a:srgbClr val="1E293B"/>
                </a:solidFill>
                <a:latin typeface="Calibri"/>
              </a:rPr>
              <a:t>vial-1 prediction overshoots to ~1.5 g; vials 2-10 plateau at 0.7-0.95 g (below the 1.0 g cap).</a:t>
            </a:r>
          </a:p>
        </p:txBody>
      </p:sp>
      <p:sp>
        <p:nvSpPr>
          <p:cNvPr id="13" name="TextBox 12"/>
          <p:cNvSpPr txBox="1"/>
          <p:nvPr/>
        </p:nvSpPr>
        <p:spPr>
          <a:xfrm>
            <a:off x="640080"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14" name="TextBox 13"/>
          <p:cNvSpPr txBox="1"/>
          <p:nvPr/>
        </p:nvSpPr>
        <p:spPr>
          <a:xfrm>
            <a:off x="640080"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matches measured retentate; predicted vial under-predicts ICP-OES by ~30 %.</a:t>
            </a:r>
          </a:p>
        </p:txBody>
      </p:sp>
      <p:sp>
        <p:nvSpPr>
          <p:cNvPr id="15" name="Rectangle 14"/>
          <p:cNvSpPr/>
          <p:nvPr/>
        </p:nvSpPr>
        <p:spPr>
          <a:xfrm>
            <a:off x="4224528"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24528" y="2011680"/>
            <a:ext cx="3749039" cy="3657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24528"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B — σ → 1.0 (degenerate)</a:t>
            </a:r>
          </a:p>
        </p:txBody>
      </p:sp>
      <p:sp>
        <p:nvSpPr>
          <p:cNvPr id="18" name="TextBox 17"/>
          <p:cNvSpPr txBox="1"/>
          <p:nvPr/>
        </p:nvSpPr>
        <p:spPr>
          <a:xfrm>
            <a:off x="4407408"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19" name="TextBox 18"/>
          <p:cNvSpPr txBox="1"/>
          <p:nvPr/>
        </p:nvSpPr>
        <p:spPr>
          <a:xfrm>
            <a:off x="4407408" y="283464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predictions explode to 6-10 g per vial; model thinks much more permeate is flowing than the balance shows.</a:t>
            </a:r>
          </a:p>
        </p:txBody>
      </p:sp>
      <p:sp>
        <p:nvSpPr>
          <p:cNvPr id="20" name="TextBox 19"/>
          <p:cNvSpPr txBox="1"/>
          <p:nvPr/>
        </p:nvSpPr>
        <p:spPr>
          <a:xfrm>
            <a:off x="4407408"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21" name="TextBox 20"/>
          <p:cNvSpPr txBox="1"/>
          <p:nvPr/>
        </p:nvSpPr>
        <p:spPr>
          <a:xfrm>
            <a:off x="4407408"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severely under-predicts (8 vs 22 mM); predicted vial = 0 across the run.</a:t>
            </a:r>
          </a:p>
        </p:txBody>
      </p:sp>
      <p:sp>
        <p:nvSpPr>
          <p:cNvPr id="22" name="Rectangle 21"/>
          <p:cNvSpPr/>
          <p:nvPr/>
        </p:nvSpPr>
        <p:spPr>
          <a:xfrm>
            <a:off x="7991856" y="2011680"/>
            <a:ext cx="3749039" cy="4297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91856" y="2011680"/>
            <a:ext cx="3749039" cy="365760"/>
          </a:xfrm>
          <a:prstGeom prst="rect">
            <a:avLst/>
          </a:prstGeom>
          <a:solidFill>
            <a:srgbClr val="5E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91856" y="2029968"/>
            <a:ext cx="3749039" cy="329184"/>
          </a:xfrm>
          <a:prstGeom prst="rect">
            <a:avLst/>
          </a:prstGeom>
          <a:noFill/>
        </p:spPr>
        <p:txBody>
          <a:bodyPr wrap="square" lIns="0" tIns="0" rIns="0" bIns="0" anchor="ctr">
            <a:spAutoFit/>
          </a:bodyPr>
          <a:lstStyle/>
          <a:p>
            <a:pPr algn="ctr"/>
            <a:r>
              <a:rPr sz="1400" b="1" i="0">
                <a:solidFill>
                  <a:srgbClr val="FFFFFF"/>
                </a:solidFill>
                <a:latin typeface="Calibri"/>
              </a:rPr>
              <a:t>MODE C — σ↓, over-prediction</a:t>
            </a:r>
          </a:p>
        </p:txBody>
      </p:sp>
      <p:sp>
        <p:nvSpPr>
          <p:cNvPr id="25" name="TextBox 24"/>
          <p:cNvSpPr txBox="1"/>
          <p:nvPr/>
        </p:nvSpPr>
        <p:spPr>
          <a:xfrm>
            <a:off x="8174736" y="2514600"/>
            <a:ext cx="3566160" cy="365760"/>
          </a:xfrm>
          <a:prstGeom prst="rect">
            <a:avLst/>
          </a:prstGeom>
          <a:noFill/>
        </p:spPr>
        <p:txBody>
          <a:bodyPr wrap="square" lIns="0" tIns="0" rIns="0" bIns="0" anchor="t">
            <a:spAutoFit/>
          </a:bodyPr>
          <a:lstStyle/>
          <a:p>
            <a:pPr algn="l"/>
            <a:r>
              <a:rPr sz="1100" b="1" i="0">
                <a:solidFill>
                  <a:srgbClr val="64748B"/>
                </a:solidFill>
                <a:latin typeface="Calibri"/>
              </a:rPr>
              <a:t>MASS</a:t>
            </a:r>
          </a:p>
        </p:txBody>
      </p:sp>
      <p:sp>
        <p:nvSpPr>
          <p:cNvPr id="26" name="TextBox 25"/>
          <p:cNvSpPr txBox="1"/>
          <p:nvPr/>
        </p:nvSpPr>
        <p:spPr>
          <a:xfrm>
            <a:off x="8174736" y="283464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predictions overshoot to 6-12 g per vial — same direction as Mode B but conc plot tells a different story.</a:t>
            </a:r>
          </a:p>
        </p:txBody>
      </p:sp>
      <p:sp>
        <p:nvSpPr>
          <p:cNvPr id="27" name="TextBox 26"/>
          <p:cNvSpPr txBox="1"/>
          <p:nvPr/>
        </p:nvSpPr>
        <p:spPr>
          <a:xfrm>
            <a:off x="8174736" y="4251960"/>
            <a:ext cx="3566160" cy="365760"/>
          </a:xfrm>
          <a:prstGeom prst="rect">
            <a:avLst/>
          </a:prstGeom>
          <a:noFill/>
        </p:spPr>
        <p:txBody>
          <a:bodyPr wrap="square" lIns="0" tIns="0" rIns="0" bIns="0" anchor="t">
            <a:spAutoFit/>
          </a:bodyPr>
          <a:lstStyle/>
          <a:p>
            <a:pPr algn="l"/>
            <a:r>
              <a:rPr sz="1100" b="1" i="0">
                <a:solidFill>
                  <a:srgbClr val="64748B"/>
                </a:solidFill>
                <a:latin typeface="Calibri"/>
              </a:rPr>
              <a:t>CONCENTRATION</a:t>
            </a:r>
          </a:p>
        </p:txBody>
      </p:sp>
      <p:sp>
        <p:nvSpPr>
          <p:cNvPr id="28" name="TextBox 27"/>
          <p:cNvSpPr txBox="1"/>
          <p:nvPr/>
        </p:nvSpPr>
        <p:spPr>
          <a:xfrm>
            <a:off x="8174736" y="4572000"/>
            <a:ext cx="3566160" cy="1280160"/>
          </a:xfrm>
          <a:prstGeom prst="rect">
            <a:avLst/>
          </a:prstGeom>
          <a:noFill/>
        </p:spPr>
        <p:txBody>
          <a:bodyPr wrap="square" lIns="0" tIns="0" rIns="0" bIns="0" anchor="t">
            <a:spAutoFit/>
          </a:bodyPr>
          <a:lstStyle/>
          <a:p>
            <a:pPr algn="l"/>
            <a:r>
              <a:rPr sz="1100" b="0" i="0">
                <a:solidFill>
                  <a:srgbClr val="1E293B"/>
                </a:solidFill>
                <a:latin typeface="Calibri"/>
              </a:rPr>
              <a:t>predicted retentate &gt; measured retentate (60 vs 43 mM); predicted vial &gt; ICP — model lets too much salt through.</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05 · MASS-LITMUS BASELINE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05</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Bad ParmEst fit vs mass-litmus baseline — σ=0 closed-form Lp regression</a:t>
            </a:r>
          </a:p>
        </p:txBody>
      </p:sp>
      <p:pic>
        <p:nvPicPr>
          <p:cNvPr id="7" name="Picture 6" descr="_panel_4salt_compare.png"/>
          <p:cNvPicPr>
            <a:picLocks noChangeAspect="1"/>
          </p:cNvPicPr>
          <p:nvPr/>
        </p:nvPicPr>
        <p:blipFill>
          <a:blip r:embed="rId2"/>
          <a:stretch>
            <a:fillRect/>
          </a:stretch>
        </p:blipFill>
        <p:spPr>
          <a:xfrm>
            <a:off x="274320" y="1280160"/>
            <a:ext cx="11612880" cy="4937760"/>
          </a:xfrm>
          <a:prstGeom prst="rect">
            <a:avLst/>
          </a:prstGeom>
        </p:spPr>
      </p:pic>
      <p:sp>
        <p:nvSpPr>
          <p:cNvPr id="8" name="Rectangle 7"/>
          <p:cNvSpPr/>
          <p:nvPr/>
        </p:nvSpPr>
        <p:spPr>
          <a:xfrm>
            <a:off x="457200" y="6263640"/>
            <a:ext cx="11247120" cy="3200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281928"/>
            <a:ext cx="11247120" cy="292608"/>
          </a:xfrm>
          <a:prstGeom prst="rect">
            <a:avLst/>
          </a:prstGeom>
          <a:noFill/>
        </p:spPr>
        <p:txBody>
          <a:bodyPr wrap="square" lIns="0" tIns="0" rIns="0" bIns="0" anchor="ctr">
            <a:spAutoFit/>
          </a:bodyPr>
          <a:lstStyle/>
          <a:p>
            <a:pPr algn="ctr"/>
            <a:r>
              <a:rPr sz="900" b="1" i="0">
                <a:solidFill>
                  <a:srgbClr val="FFFFFF"/>
                </a:solidFill>
                <a:latin typeface="Calibri"/>
              </a:rPr>
              <a:t>Left = ParmEst full fit (σ released, B fitted, IPOPT) — landed in the Mode B σ=1 corner.   Right = mass-litmus baseline:  σ=0, B dropped, Lp from closed-form regression Lp = slope · 36000 / (Am · ρ · ΔP)  where slope = Σ(Δt · m) / Σ(Δt²).  Always optimal by construction.  The baseline beats the full fit → σ/B parameters are not yet doing useful work; landscape problem, not model problem.</a:t>
            </a:r>
          </a:p>
        </p:txBody>
      </p:sp>
      <p:pic>
        <p:nvPicPr>
          <p:cNvPr id="9999" name="NDLogo"/>
          <p:cNvPicPr>
            <a:picLocks noChangeAspect="1"/>
          </p:cNvPicPr>
          <p:nvPr/>
        </p:nvPicPr>
        <p:blipFill>
          <a:blip r:embed="rId3"/>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06 · LHS MULTISTART</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06</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R10 + R12 — Latin Hypercube multistart over (Lp, σ, B), narrowed boxes</a:t>
            </a:r>
          </a:p>
        </p:txBody>
      </p:sp>
      <p:sp>
        <p:nvSpPr>
          <p:cNvPr id="7" name="Rectangle 6"/>
          <p:cNvSpPr/>
          <p:nvPr/>
        </p:nvSpPr>
        <p:spPr>
          <a:xfrm>
            <a:off x="457200" y="1417320"/>
            <a:ext cx="1124712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81328"/>
            <a:ext cx="1234439" cy="310896"/>
          </a:xfrm>
          <a:prstGeom prst="rect">
            <a:avLst/>
          </a:prstGeom>
          <a:noFill/>
        </p:spPr>
        <p:txBody>
          <a:bodyPr wrap="square" lIns="0" tIns="0" rIns="0" bIns="0" anchor="t">
            <a:spAutoFit/>
          </a:bodyPr>
          <a:lstStyle/>
          <a:p>
            <a:pPr algn="l"/>
            <a:r>
              <a:rPr sz="1100" b="1" i="0">
                <a:solidFill>
                  <a:srgbClr val="FFFFFF"/>
                </a:solidFill>
                <a:latin typeface="Calibri"/>
              </a:rPr>
              <a:t>Stage</a:t>
            </a:r>
          </a:p>
        </p:txBody>
      </p:sp>
      <p:sp>
        <p:nvSpPr>
          <p:cNvPr id="9" name="TextBox 8"/>
          <p:cNvSpPr txBox="1"/>
          <p:nvPr/>
        </p:nvSpPr>
        <p:spPr>
          <a:xfrm>
            <a:off x="1874519" y="1481328"/>
            <a:ext cx="1463039" cy="310896"/>
          </a:xfrm>
          <a:prstGeom prst="rect">
            <a:avLst/>
          </a:prstGeom>
          <a:noFill/>
        </p:spPr>
        <p:txBody>
          <a:bodyPr wrap="square" lIns="0" tIns="0" rIns="0" bIns="0" anchor="t">
            <a:spAutoFit/>
          </a:bodyPr>
          <a:lstStyle/>
          <a:p>
            <a:pPr algn="l"/>
            <a:r>
              <a:rPr sz="1100" b="1" i="0">
                <a:solidFill>
                  <a:srgbClr val="FFFFFF"/>
                </a:solidFill>
                <a:latin typeface="Calibri"/>
              </a:rPr>
              <a:t>Lp box (linear)</a:t>
            </a:r>
          </a:p>
        </p:txBody>
      </p:sp>
      <p:sp>
        <p:nvSpPr>
          <p:cNvPr id="10" name="TextBox 9"/>
          <p:cNvSpPr txBox="1"/>
          <p:nvPr/>
        </p:nvSpPr>
        <p:spPr>
          <a:xfrm>
            <a:off x="3429000" y="1481328"/>
            <a:ext cx="1920240" cy="310896"/>
          </a:xfrm>
          <a:prstGeom prst="rect">
            <a:avLst/>
          </a:prstGeom>
          <a:noFill/>
        </p:spPr>
        <p:txBody>
          <a:bodyPr wrap="square" lIns="0" tIns="0" rIns="0" bIns="0" anchor="t">
            <a:spAutoFit/>
          </a:bodyPr>
          <a:lstStyle/>
          <a:p>
            <a:pPr algn="l"/>
            <a:r>
              <a:rPr sz="1100" b="1" i="0">
                <a:solidFill>
                  <a:srgbClr val="FFFFFF"/>
                </a:solidFill>
                <a:latin typeface="Calibri"/>
              </a:rPr>
              <a:t>σ box</a:t>
            </a:r>
          </a:p>
        </p:txBody>
      </p:sp>
      <p:sp>
        <p:nvSpPr>
          <p:cNvPr id="11" name="TextBox 10"/>
          <p:cNvSpPr txBox="1"/>
          <p:nvPr/>
        </p:nvSpPr>
        <p:spPr>
          <a:xfrm>
            <a:off x="5440679" y="1481328"/>
            <a:ext cx="2651760" cy="310896"/>
          </a:xfrm>
          <a:prstGeom prst="rect">
            <a:avLst/>
          </a:prstGeom>
          <a:noFill/>
        </p:spPr>
        <p:txBody>
          <a:bodyPr wrap="square" lIns="0" tIns="0" rIns="0" bIns="0" anchor="t">
            <a:spAutoFit/>
          </a:bodyPr>
          <a:lstStyle/>
          <a:p>
            <a:pPr algn="l"/>
            <a:r>
              <a:rPr sz="1100" b="1" i="0">
                <a:solidFill>
                  <a:srgbClr val="FFFFFF"/>
                </a:solidFill>
                <a:latin typeface="Calibri"/>
              </a:rPr>
              <a:t>B / beta_0 box (log)</a:t>
            </a:r>
          </a:p>
        </p:txBody>
      </p:sp>
      <p:sp>
        <p:nvSpPr>
          <p:cNvPr id="12" name="TextBox 11"/>
          <p:cNvSpPr txBox="1"/>
          <p:nvPr/>
        </p:nvSpPr>
        <p:spPr>
          <a:xfrm>
            <a:off x="8183879" y="1481328"/>
            <a:ext cx="3520440" cy="310896"/>
          </a:xfrm>
          <a:prstGeom prst="rect">
            <a:avLst/>
          </a:prstGeom>
          <a:noFill/>
        </p:spPr>
        <p:txBody>
          <a:bodyPr wrap="square" lIns="0" tIns="0" rIns="0" bIns="0" anchor="t">
            <a:spAutoFit/>
          </a:bodyPr>
          <a:lstStyle/>
          <a:p>
            <a:pPr algn="l"/>
            <a:r>
              <a:rPr sz="1100" b="1" i="0">
                <a:solidFill>
                  <a:srgbClr val="FFFFFF"/>
                </a:solidFill>
                <a:latin typeface="Calibri"/>
              </a:rPr>
              <a:t>Basin found · Obj value</a:t>
            </a:r>
          </a:p>
        </p:txBody>
      </p:sp>
      <p:sp>
        <p:nvSpPr>
          <p:cNvPr id="13" name="Rectangle 12"/>
          <p:cNvSpPr/>
          <p:nvPr/>
        </p:nvSpPr>
        <p:spPr>
          <a:xfrm>
            <a:off x="457200" y="1965960"/>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1965960"/>
            <a:ext cx="91440" cy="5943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130552"/>
            <a:ext cx="1234439" cy="274320"/>
          </a:xfrm>
          <a:prstGeom prst="rect">
            <a:avLst/>
          </a:prstGeom>
          <a:noFill/>
        </p:spPr>
        <p:txBody>
          <a:bodyPr wrap="square" lIns="0" tIns="0" rIns="0" bIns="0" anchor="t">
            <a:spAutoFit/>
          </a:bodyPr>
          <a:lstStyle/>
          <a:p>
            <a:pPr algn="l"/>
            <a:r>
              <a:rPr sz="1100" b="1" i="0">
                <a:solidFill>
                  <a:srgbClr val="1E293B"/>
                </a:solidFill>
                <a:latin typeface="Calibri"/>
              </a:rPr>
              <a:t>SINGLE START</a:t>
            </a:r>
          </a:p>
        </p:txBody>
      </p:sp>
      <p:sp>
        <p:nvSpPr>
          <p:cNvPr id="16" name="TextBox 15"/>
          <p:cNvSpPr txBox="1"/>
          <p:nvPr/>
        </p:nvSpPr>
        <p:spPr>
          <a:xfrm>
            <a:off x="1874519" y="2130552"/>
            <a:ext cx="1463039" cy="274320"/>
          </a:xfrm>
          <a:prstGeom prst="rect">
            <a:avLst/>
          </a:prstGeom>
          <a:noFill/>
        </p:spPr>
        <p:txBody>
          <a:bodyPr wrap="square" lIns="0" tIns="0" rIns="0" bIns="0" anchor="t">
            <a:spAutoFit/>
          </a:bodyPr>
          <a:lstStyle/>
          <a:p>
            <a:pPr algn="l"/>
            <a:r>
              <a:rPr sz="1100" b="0" i="0">
                <a:solidFill>
                  <a:srgbClr val="1E293B"/>
                </a:solidFill>
                <a:latin typeface="Calibri"/>
              </a:rPr>
              <a:t>Lp0 = 5</a:t>
            </a:r>
          </a:p>
        </p:txBody>
      </p:sp>
      <p:sp>
        <p:nvSpPr>
          <p:cNvPr id="17" name="TextBox 16"/>
          <p:cNvSpPr txBox="1"/>
          <p:nvPr/>
        </p:nvSpPr>
        <p:spPr>
          <a:xfrm>
            <a:off x="3429000" y="2130552"/>
            <a:ext cx="1920240" cy="274320"/>
          </a:xfrm>
          <a:prstGeom prst="rect">
            <a:avLst/>
          </a:prstGeom>
          <a:noFill/>
        </p:spPr>
        <p:txBody>
          <a:bodyPr wrap="square" lIns="0" tIns="0" rIns="0" bIns="0" anchor="t">
            <a:spAutoFit/>
          </a:bodyPr>
          <a:lstStyle/>
          <a:p>
            <a:pPr algn="l"/>
            <a:r>
              <a:rPr sz="1100" b="0" i="0">
                <a:solidFill>
                  <a:srgbClr val="1E293B"/>
                </a:solidFill>
                <a:latin typeface="Calibri"/>
              </a:rPr>
              <a:t>σ0 = 0.9</a:t>
            </a:r>
          </a:p>
        </p:txBody>
      </p:sp>
      <p:sp>
        <p:nvSpPr>
          <p:cNvPr id="18" name="TextBox 17"/>
          <p:cNvSpPr txBox="1"/>
          <p:nvPr/>
        </p:nvSpPr>
        <p:spPr>
          <a:xfrm>
            <a:off x="5440679" y="2130552"/>
            <a:ext cx="2651760" cy="274320"/>
          </a:xfrm>
          <a:prstGeom prst="rect">
            <a:avLst/>
          </a:prstGeom>
          <a:noFill/>
        </p:spPr>
        <p:txBody>
          <a:bodyPr wrap="square" lIns="0" tIns="0" rIns="0" bIns="0" anchor="t">
            <a:spAutoFit/>
          </a:bodyPr>
          <a:lstStyle/>
          <a:p>
            <a:pPr algn="l"/>
            <a:r>
              <a:rPr sz="1100" b="0" i="0">
                <a:solidFill>
                  <a:srgbClr val="1E293B"/>
                </a:solidFill>
                <a:latin typeface="Calibri"/>
              </a:rPr>
              <a:t>B0 = 0.5</a:t>
            </a:r>
          </a:p>
        </p:txBody>
      </p:sp>
      <p:sp>
        <p:nvSpPr>
          <p:cNvPr id="19" name="TextBox 18"/>
          <p:cNvSpPr txBox="1"/>
          <p:nvPr/>
        </p:nvSpPr>
        <p:spPr>
          <a:xfrm>
            <a:off x="8183879" y="213055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B (σ → 1) · Obj = 2.04 × 10⁸</a:t>
            </a:r>
          </a:p>
        </p:txBody>
      </p:sp>
      <p:sp>
        <p:nvSpPr>
          <p:cNvPr id="20" name="Rectangle 19"/>
          <p:cNvSpPr/>
          <p:nvPr/>
        </p:nvSpPr>
        <p:spPr>
          <a:xfrm>
            <a:off x="457200" y="2560320"/>
            <a:ext cx="11247120"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2560320"/>
            <a:ext cx="91440" cy="59436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2724912"/>
            <a:ext cx="1234439" cy="274320"/>
          </a:xfrm>
          <a:prstGeom prst="rect">
            <a:avLst/>
          </a:prstGeom>
          <a:noFill/>
        </p:spPr>
        <p:txBody>
          <a:bodyPr wrap="square" lIns="0" tIns="0" rIns="0" bIns="0" anchor="t">
            <a:spAutoFit/>
          </a:bodyPr>
          <a:lstStyle/>
          <a:p>
            <a:pPr algn="l"/>
            <a:r>
              <a:rPr sz="1100" b="1" i="0">
                <a:solidFill>
                  <a:srgbClr val="1E293B"/>
                </a:solidFill>
                <a:latin typeface="Calibri"/>
              </a:rPr>
              <a:t>LHS R10</a:t>
            </a:r>
          </a:p>
        </p:txBody>
      </p:sp>
      <p:sp>
        <p:nvSpPr>
          <p:cNvPr id="23" name="TextBox 22"/>
          <p:cNvSpPr txBox="1"/>
          <p:nvPr/>
        </p:nvSpPr>
        <p:spPr>
          <a:xfrm>
            <a:off x="1874519" y="2724912"/>
            <a:ext cx="1463039" cy="274320"/>
          </a:xfrm>
          <a:prstGeom prst="rect">
            <a:avLst/>
          </a:prstGeom>
          <a:noFill/>
        </p:spPr>
        <p:txBody>
          <a:bodyPr wrap="square" lIns="0" tIns="0" rIns="0" bIns="0" anchor="t">
            <a:spAutoFit/>
          </a:bodyPr>
          <a:lstStyle/>
          <a:p>
            <a:pPr algn="l"/>
            <a:r>
              <a:rPr sz="1100" b="0" i="0">
                <a:solidFill>
                  <a:srgbClr val="1E293B"/>
                </a:solidFill>
                <a:latin typeface="Calibri"/>
              </a:rPr>
              <a:t>[5, 14]</a:t>
            </a:r>
          </a:p>
        </p:txBody>
      </p:sp>
      <p:sp>
        <p:nvSpPr>
          <p:cNvPr id="24" name="TextBox 23"/>
          <p:cNvSpPr txBox="1"/>
          <p:nvPr/>
        </p:nvSpPr>
        <p:spPr>
          <a:xfrm>
            <a:off x="3429000" y="2724912"/>
            <a:ext cx="1920240" cy="274320"/>
          </a:xfrm>
          <a:prstGeom prst="rect">
            <a:avLst/>
          </a:prstGeom>
          <a:noFill/>
        </p:spPr>
        <p:txBody>
          <a:bodyPr wrap="square" lIns="0" tIns="0" rIns="0" bIns="0" anchor="t">
            <a:spAutoFit/>
          </a:bodyPr>
          <a:lstStyle/>
          <a:p>
            <a:pPr algn="l"/>
            <a:r>
              <a:rPr sz="1100" b="0" i="0">
                <a:solidFill>
                  <a:srgbClr val="1E293B"/>
                </a:solidFill>
                <a:latin typeface="Calibri"/>
              </a:rPr>
              <a:t>(0.10, 0.95)  open</a:t>
            </a:r>
          </a:p>
        </p:txBody>
      </p:sp>
      <p:sp>
        <p:nvSpPr>
          <p:cNvPr id="25" name="TextBox 24"/>
          <p:cNvSpPr txBox="1"/>
          <p:nvPr/>
        </p:nvSpPr>
        <p:spPr>
          <a:xfrm>
            <a:off x="5440679" y="2724912"/>
            <a:ext cx="2651760" cy="274320"/>
          </a:xfrm>
          <a:prstGeom prst="rect">
            <a:avLst/>
          </a:prstGeom>
          <a:noFill/>
        </p:spPr>
        <p:txBody>
          <a:bodyPr wrap="square" lIns="0" tIns="0" rIns="0" bIns="0" anchor="t">
            <a:spAutoFit/>
          </a:bodyPr>
          <a:lstStyle/>
          <a:p>
            <a:pPr algn="l"/>
            <a:r>
              <a:rPr sz="1100" b="0" i="0">
                <a:solidFill>
                  <a:srgbClr val="1E293B"/>
                </a:solidFill>
                <a:latin typeface="Calibri"/>
              </a:rPr>
              <a:t>log [1e-6, 5]</a:t>
            </a:r>
          </a:p>
        </p:txBody>
      </p:sp>
      <p:sp>
        <p:nvSpPr>
          <p:cNvPr id="26" name="TextBox 25"/>
          <p:cNvSpPr txBox="1"/>
          <p:nvPr/>
        </p:nvSpPr>
        <p:spPr>
          <a:xfrm>
            <a:off x="8183879" y="272491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C (σ = 0) · Obj = 4.93 × 10⁷ (4× reduction)</a:t>
            </a:r>
          </a:p>
        </p:txBody>
      </p:sp>
      <p:sp>
        <p:nvSpPr>
          <p:cNvPr id="27" name="Rectangle 26"/>
          <p:cNvSpPr/>
          <p:nvPr/>
        </p:nvSpPr>
        <p:spPr>
          <a:xfrm>
            <a:off x="457200" y="3154679"/>
            <a:ext cx="11247120"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3154679"/>
            <a:ext cx="91440" cy="594360"/>
          </a:xfrm>
          <a:prstGeom prst="rect">
            <a:avLst/>
          </a:prstGeom>
          <a:solidFill>
            <a:srgbClr val="5E4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3319272"/>
            <a:ext cx="1234439" cy="274320"/>
          </a:xfrm>
          <a:prstGeom prst="rect">
            <a:avLst/>
          </a:prstGeom>
          <a:noFill/>
        </p:spPr>
        <p:txBody>
          <a:bodyPr wrap="square" lIns="0" tIns="0" rIns="0" bIns="0" anchor="t">
            <a:spAutoFit/>
          </a:bodyPr>
          <a:lstStyle/>
          <a:p>
            <a:pPr algn="l"/>
            <a:r>
              <a:rPr sz="1100" b="1" i="0">
                <a:solidFill>
                  <a:srgbClr val="1E293B"/>
                </a:solidFill>
                <a:latin typeface="Calibri"/>
              </a:rPr>
              <a:t>LHS R12</a:t>
            </a:r>
          </a:p>
        </p:txBody>
      </p:sp>
      <p:sp>
        <p:nvSpPr>
          <p:cNvPr id="30" name="TextBox 29"/>
          <p:cNvSpPr txBox="1"/>
          <p:nvPr/>
        </p:nvSpPr>
        <p:spPr>
          <a:xfrm>
            <a:off x="1874519" y="3319272"/>
            <a:ext cx="1463039" cy="274320"/>
          </a:xfrm>
          <a:prstGeom prst="rect">
            <a:avLst/>
          </a:prstGeom>
          <a:noFill/>
        </p:spPr>
        <p:txBody>
          <a:bodyPr wrap="square" lIns="0" tIns="0" rIns="0" bIns="0" anchor="t">
            <a:spAutoFit/>
          </a:bodyPr>
          <a:lstStyle/>
          <a:p>
            <a:pPr algn="l"/>
            <a:r>
              <a:rPr sz="1100" b="0" i="0">
                <a:solidFill>
                  <a:srgbClr val="1E293B"/>
                </a:solidFill>
                <a:latin typeface="Calibri"/>
              </a:rPr>
              <a:t>[5, 8] narrowed</a:t>
            </a:r>
          </a:p>
        </p:txBody>
      </p:sp>
      <p:sp>
        <p:nvSpPr>
          <p:cNvPr id="31" name="TextBox 30"/>
          <p:cNvSpPr txBox="1"/>
          <p:nvPr/>
        </p:nvSpPr>
        <p:spPr>
          <a:xfrm>
            <a:off x="3429000" y="3319272"/>
            <a:ext cx="1920240" cy="274320"/>
          </a:xfrm>
          <a:prstGeom prst="rect">
            <a:avLst/>
          </a:prstGeom>
          <a:noFill/>
        </p:spPr>
        <p:txBody>
          <a:bodyPr wrap="square" lIns="0" tIns="0" rIns="0" bIns="0" anchor="t">
            <a:spAutoFit/>
          </a:bodyPr>
          <a:lstStyle/>
          <a:p>
            <a:pPr algn="l"/>
            <a:r>
              <a:rPr sz="1100" b="0" i="0">
                <a:solidFill>
                  <a:srgbClr val="1E293B"/>
                </a:solidFill>
                <a:latin typeface="Calibri"/>
              </a:rPr>
              <a:t>(0.10, 0.95)  open</a:t>
            </a:r>
          </a:p>
        </p:txBody>
      </p:sp>
      <p:sp>
        <p:nvSpPr>
          <p:cNvPr id="32" name="TextBox 31"/>
          <p:cNvSpPr txBox="1"/>
          <p:nvPr/>
        </p:nvSpPr>
        <p:spPr>
          <a:xfrm>
            <a:off x="5440679" y="3319272"/>
            <a:ext cx="2651760" cy="274320"/>
          </a:xfrm>
          <a:prstGeom prst="rect">
            <a:avLst/>
          </a:prstGeom>
          <a:noFill/>
        </p:spPr>
        <p:txBody>
          <a:bodyPr wrap="square" lIns="0" tIns="0" rIns="0" bIns="0" anchor="t">
            <a:spAutoFit/>
          </a:bodyPr>
          <a:lstStyle/>
          <a:p>
            <a:pPr algn="l"/>
            <a:r>
              <a:rPr sz="1100" b="0" i="0">
                <a:solidFill>
                  <a:srgbClr val="1E293B"/>
                </a:solidFill>
                <a:latin typeface="Calibri"/>
              </a:rPr>
              <a:t>log [0.01, 5]</a:t>
            </a:r>
          </a:p>
        </p:txBody>
      </p:sp>
      <p:sp>
        <p:nvSpPr>
          <p:cNvPr id="33" name="TextBox 32"/>
          <p:cNvSpPr txBox="1"/>
          <p:nvPr/>
        </p:nvSpPr>
        <p:spPr>
          <a:xfrm>
            <a:off x="8183879" y="3319272"/>
            <a:ext cx="3520440" cy="274320"/>
          </a:xfrm>
          <a:prstGeom prst="rect">
            <a:avLst/>
          </a:prstGeom>
          <a:noFill/>
        </p:spPr>
        <p:txBody>
          <a:bodyPr wrap="square" lIns="0" tIns="0" rIns="0" bIns="0" anchor="t">
            <a:spAutoFit/>
          </a:bodyPr>
          <a:lstStyle/>
          <a:p>
            <a:pPr algn="l"/>
            <a:r>
              <a:rPr sz="1100" b="0" i="0">
                <a:solidFill>
                  <a:srgbClr val="1E293B"/>
                </a:solidFill>
                <a:latin typeface="Calibri"/>
              </a:rPr>
              <a:t>Mode B again · Obj = 6.08 × 10⁹ (cornered)</a:t>
            </a:r>
          </a:p>
        </p:txBody>
      </p:sp>
      <p:sp>
        <p:nvSpPr>
          <p:cNvPr id="34" name="Rectangle 33"/>
          <p:cNvSpPr/>
          <p:nvPr/>
        </p:nvSpPr>
        <p:spPr>
          <a:xfrm>
            <a:off x="457200" y="4434840"/>
            <a:ext cx="11247120" cy="1920240"/>
          </a:xfrm>
          <a:prstGeom prst="rect">
            <a:avLst/>
          </a:prstGeom>
          <a:solidFill>
            <a:srgbClr val="FE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434840"/>
            <a:ext cx="91440" cy="19202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4526280"/>
            <a:ext cx="10972800" cy="365760"/>
          </a:xfrm>
          <a:prstGeom prst="rect">
            <a:avLst/>
          </a:prstGeom>
          <a:noFill/>
        </p:spPr>
        <p:txBody>
          <a:bodyPr wrap="square" lIns="0" tIns="0" rIns="0" bIns="0" anchor="t">
            <a:spAutoFit/>
          </a:bodyPr>
          <a:lstStyle/>
          <a:p>
            <a:pPr algn="l"/>
            <a:r>
              <a:rPr sz="1300" b="1" i="0">
                <a:solidFill>
                  <a:srgbClr val="C9A227"/>
                </a:solidFill>
                <a:latin typeface="Calibri"/>
              </a:rPr>
              <a:t>LHS samples and corner-hopping — what the math says</a:t>
            </a:r>
          </a:p>
        </p:txBody>
      </p:sp>
      <p:sp>
        <p:nvSpPr>
          <p:cNvPr id="37" name="TextBox 36"/>
          <p:cNvSpPr txBox="1"/>
          <p:nvPr/>
        </p:nvSpPr>
        <p:spPr>
          <a:xfrm>
            <a:off x="777240" y="4937760"/>
            <a:ext cx="10789920" cy="1417320"/>
          </a:xfrm>
          <a:prstGeom prst="rect">
            <a:avLst/>
          </a:prstGeom>
          <a:noFill/>
        </p:spPr>
        <p:txBody>
          <a:bodyPr wrap="square" lIns="0" tIns="0" rIns="0" bIns="0">
            <a:spAutoFit/>
          </a:bodyPr>
          <a:lstStyle/>
          <a:p>
            <a:pPr marL="228600" indent="-228600">
              <a:buChar char="•"/>
            </a:pPr>
            <a:r>
              <a:rPr sz="1200" b="0">
                <a:solidFill>
                  <a:srgbClr val="1E293B"/>
                </a:solidFill>
                <a:latin typeface="Calibri"/>
              </a:rPr>
              <a:t>Latin-Hypercube: draw N starts so that, after permuting columns, each of the N strata along every axis contains exactly one sample. θ_k = θ_lo + LHS_unit[k] · (θ_hi - θ_lo). Better space coverage than IID for small N.</a:t>
            </a:r>
          </a:p>
          <a:p>
            <a:pPr marL="228600" indent="-228600">
              <a:buChar char="•"/>
            </a:pPr>
            <a:r>
              <a:rPr sz="1200" b="0">
                <a:solidFill>
                  <a:srgbClr val="1E293B"/>
                </a:solidFill>
                <a:latin typeface="Calibri"/>
              </a:rPr>
              <a:t>IPOPT is local. Multistart is a global-search heuristic: best_fit = argmin_{k=1..N} Obj(IPOPT(θ_k)) over optimal-status runs. Narrowing the LHS box keeps starts inside the physics window but doesn't restrict where IPOPT can terminate.</a:t>
            </a:r>
          </a:p>
          <a:p>
            <a:pPr marL="228600" indent="-228600">
              <a:buChar char="•"/>
            </a:pPr>
            <a:r>
              <a:rPr sz="1200" b="0">
                <a:solidFill>
                  <a:srgbClr val="1E293B"/>
                </a:solidFill>
                <a:latin typeface="Calibri"/>
              </a:rPr>
              <a:t>R10: factor-of-4 Obj cut by escaping Mode B. R12: tightening Lp to [5,8] removed the upper-Lp draws but the σ=1 corner remains attractive when loss-function structure prefers it. Landscape fix has to come from new observables, not box-tightening alone.</a:t>
            </a:r>
          </a:p>
          <a:p>
            <a:pPr marL="228600" indent="-228600">
              <a:buChar char="•"/>
            </a:pPr>
            <a:r>
              <a:rPr sz="1200" b="0">
                <a:solidFill>
                  <a:srgbClr val="1E293B"/>
                </a:solidFill>
                <a:latin typeface="Calibri"/>
              </a:rPr>
              <a:t>Pyomo Var bounds remain wider than the LHS box: Lp ∈ (0.5, 50), B ∈ (1e-6, 30), σ ∈ (0, 1). LHS just controls trial starts; if a corner solution is the true global minimum it will still be reached. The next two slides tackle the loss-function side.</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07 · MASS SCALING</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07</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Tried per-sheet quadrature (R11) → reverted to DATA2's 0.01 g convention (R13)</a:t>
            </a:r>
          </a:p>
        </p:txBody>
      </p:sp>
      <p:sp>
        <p:nvSpPr>
          <p:cNvPr id="7" name="Rectangle 6"/>
          <p:cNvSpPr/>
          <p:nvPr/>
        </p:nvSpPr>
        <p:spPr>
          <a:xfrm>
            <a:off x="457200" y="1371600"/>
            <a:ext cx="11247120" cy="13716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08760"/>
            <a:ext cx="10515600" cy="365760"/>
          </a:xfrm>
          <a:prstGeom prst="rect">
            <a:avLst/>
          </a:prstGeom>
          <a:noFill/>
        </p:spPr>
        <p:txBody>
          <a:bodyPr wrap="square" lIns="0" tIns="0" rIns="0" bIns="0" anchor="t">
            <a:spAutoFit/>
          </a:bodyPr>
          <a:lstStyle/>
          <a:p>
            <a:pPr algn="l"/>
            <a:r>
              <a:rPr sz="1100" b="1" i="0">
                <a:solidFill>
                  <a:srgbClr val="02C39A"/>
                </a:solidFill>
                <a:latin typeface="Calibri"/>
              </a:rPr>
              <a:t>WSSE MASS TERM — frequentist / MLE reading:</a:t>
            </a:r>
          </a:p>
        </p:txBody>
      </p:sp>
      <p:sp>
        <p:nvSpPr>
          <p:cNvPr id="9" name="TextBox 8"/>
          <p:cNvSpPr txBox="1"/>
          <p:nvPr/>
        </p:nvSpPr>
        <p:spPr>
          <a:xfrm>
            <a:off x="777240" y="1874519"/>
            <a:ext cx="10515600" cy="365760"/>
          </a:xfrm>
          <a:prstGeom prst="rect">
            <a:avLst/>
          </a:prstGeom>
          <a:noFill/>
        </p:spPr>
        <p:txBody>
          <a:bodyPr wrap="square" lIns="0" tIns="0" rIns="0" bIns="0" anchor="t">
            <a:spAutoFit/>
          </a:bodyPr>
          <a:lstStyle/>
          <a:p>
            <a:pPr algn="l"/>
            <a:r>
              <a:rPr sz="1400" b="0" i="0">
                <a:solidFill>
                  <a:srgbClr val="FFFFFF"/>
                </a:solidFill>
                <a:latin typeface="Consolas"/>
              </a:rPr>
              <a:t>obj_m  =  Σ_i ( (m_pred_i − m_meas_i) / mass_scale_g )²    /    N_m</a:t>
            </a:r>
          </a:p>
        </p:txBody>
      </p:sp>
      <p:sp>
        <p:nvSpPr>
          <p:cNvPr id="10" name="TextBox 9"/>
          <p:cNvSpPr txBox="1"/>
          <p:nvPr/>
        </p:nvSpPr>
        <p:spPr>
          <a:xfrm>
            <a:off x="777240" y="2331720"/>
            <a:ext cx="10515600" cy="365760"/>
          </a:xfrm>
          <a:prstGeom prst="rect">
            <a:avLst/>
          </a:prstGeom>
          <a:noFill/>
        </p:spPr>
        <p:txBody>
          <a:bodyPr wrap="square" lIns="0" tIns="0" rIns="0" bIns="0" anchor="t">
            <a:spAutoFit/>
          </a:bodyPr>
          <a:lstStyle/>
          <a:p>
            <a:pPr algn="l"/>
            <a:r>
              <a:rPr sz="1100" b="0" i="1">
                <a:solidFill>
                  <a:srgbClr val="F1F5F9"/>
                </a:solidFill>
                <a:latin typeface="Calibri"/>
              </a:rPr>
              <a:t>Under Gaussian noise N(0, σ²) on m, this is the negative log-likelihood up to a constant. mass_scale_g IS σ — the standard deviation of the noise on a single balance reading. It is a property of the instrument, not of the salt.</a:t>
            </a:r>
          </a:p>
        </p:txBody>
      </p:sp>
      <p:sp>
        <p:nvSpPr>
          <p:cNvPr id="11" name="Rectangle 10"/>
          <p:cNvSpPr/>
          <p:nvPr/>
        </p:nvSpPr>
        <p:spPr>
          <a:xfrm>
            <a:off x="457200" y="2926080"/>
            <a:ext cx="5486400" cy="3383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926080"/>
            <a:ext cx="91440" cy="3383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035808"/>
            <a:ext cx="5029200" cy="365760"/>
          </a:xfrm>
          <a:prstGeom prst="rect">
            <a:avLst/>
          </a:prstGeom>
          <a:noFill/>
        </p:spPr>
        <p:txBody>
          <a:bodyPr wrap="square" lIns="0" tIns="0" rIns="0" bIns="0" anchor="t">
            <a:spAutoFit/>
          </a:bodyPr>
          <a:lstStyle/>
          <a:p>
            <a:pPr algn="l"/>
            <a:r>
              <a:rPr sz="1400" b="1" i="0">
                <a:solidFill>
                  <a:srgbClr val="065A82"/>
                </a:solidFill>
                <a:latin typeface="Calibri"/>
              </a:rPr>
              <a:t>R11 — tried per-sheet quadrature</a:t>
            </a:r>
          </a:p>
        </p:txBody>
      </p:sp>
      <p:sp>
        <p:nvSpPr>
          <p:cNvPr id="14" name="TextBox 13"/>
          <p:cNvSpPr txBox="1"/>
          <p:nvPr/>
        </p:nvSpPr>
        <p:spPr>
          <a:xfrm>
            <a:off x="777240" y="3429000"/>
            <a:ext cx="5029200" cy="2743200"/>
          </a:xfrm>
          <a:prstGeom prst="rect">
            <a:avLst/>
          </a:prstGeom>
          <a:noFill/>
        </p:spPr>
        <p:txBody>
          <a:bodyPr wrap="square" lIns="0" tIns="0" rIns="0" bIns="0">
            <a:spAutoFit/>
          </a:bodyPr>
          <a:lstStyle/>
          <a:p>
            <a:pPr marL="228600" indent="-228600">
              <a:buChar char="•"/>
            </a:pPr>
            <a:r>
              <a:rPr sz="1200" b="0">
                <a:solidFill>
                  <a:srgbClr val="1E293B"/>
                </a:solidFill>
                <a:latin typeface="Calibri"/>
              </a:rPr>
              <a:t>mass_scale_g = sqrt( σ_balance² + (α · |M_F0 − Final|)² ), α = 0.05.</a:t>
            </a:r>
          </a:p>
          <a:p>
            <a:pPr marL="228600" indent="-228600">
              <a:buChar char="•"/>
            </a:pPr>
            <a:r>
              <a:rPr sz="1200" b="0">
                <a:solidFill>
                  <a:srgbClr val="1E293B"/>
                </a:solidFill>
                <a:latin typeface="Calibri"/>
              </a:rPr>
              <a:t>Idea: salt-aware scaling so NaCl/CaCl₂/LaCl₃ each get a sensible mass weight. NaCl: 0.020 g · CaCl₂: 0.013 g · LaCl₃: 0.011 g.</a:t>
            </a:r>
          </a:p>
          <a:p>
            <a:pPr marL="228600" indent="-228600">
              <a:buChar char="•"/>
            </a:pPr>
            <a:r>
              <a:rPr sz="1200" b="0">
                <a:solidFill>
                  <a:srgbClr val="1E293B"/>
                </a:solidFill>
                <a:latin typeface="Calibri"/>
              </a:rPr>
              <a:t>Result: Obj jumped from 4.93×10⁷ (LHS R10) to 6.08×10⁹ on NaCl-MC2 — looser mass term let optimizer slide to σ=1 corner. The α·|signal| term was Bayesian regularization in disguise.</a:t>
            </a:r>
          </a:p>
        </p:txBody>
      </p:sp>
      <p:sp>
        <p:nvSpPr>
          <p:cNvPr id="15" name="Rectangle 14"/>
          <p:cNvSpPr/>
          <p:nvPr/>
        </p:nvSpPr>
        <p:spPr>
          <a:xfrm>
            <a:off x="6263640" y="2926080"/>
            <a:ext cx="5486400" cy="3383280"/>
          </a:xfrm>
          <a:prstGeom prst="rect">
            <a:avLst/>
          </a:prstGeom>
          <a:solidFill>
            <a:srgbClr val="F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2926080"/>
            <a:ext cx="91440" cy="3383280"/>
          </a:xfrm>
          <a:prstGeom prst="rect">
            <a:avLst/>
          </a:prstGeom>
          <a:solidFill>
            <a:srgbClr val="99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3035808"/>
            <a:ext cx="5029200" cy="365760"/>
          </a:xfrm>
          <a:prstGeom prst="rect">
            <a:avLst/>
          </a:prstGeom>
          <a:noFill/>
        </p:spPr>
        <p:txBody>
          <a:bodyPr wrap="square" lIns="0" tIns="0" rIns="0" bIns="0" anchor="t">
            <a:spAutoFit/>
          </a:bodyPr>
          <a:lstStyle/>
          <a:p>
            <a:pPr algn="l"/>
            <a:r>
              <a:rPr sz="1400" b="1" i="0">
                <a:solidFill>
                  <a:srgbClr val="990011"/>
                </a:solidFill>
                <a:latin typeface="Calibri"/>
              </a:rPr>
              <a:t>R13 — reverted to DATA2 convention</a:t>
            </a:r>
          </a:p>
        </p:txBody>
      </p:sp>
      <p:sp>
        <p:nvSpPr>
          <p:cNvPr id="18" name="TextBox 17"/>
          <p:cNvSpPr txBox="1"/>
          <p:nvPr/>
        </p:nvSpPr>
        <p:spPr>
          <a:xfrm>
            <a:off x="6583680" y="3429000"/>
            <a:ext cx="5029200" cy="2743200"/>
          </a:xfrm>
          <a:prstGeom prst="rect">
            <a:avLst/>
          </a:prstGeom>
          <a:noFill/>
        </p:spPr>
        <p:txBody>
          <a:bodyPr wrap="square" lIns="0" tIns="0" rIns="0" bIns="0">
            <a:spAutoFit/>
          </a:bodyPr>
          <a:lstStyle/>
          <a:p>
            <a:pPr marL="228600" indent="-228600">
              <a:buChar char="•"/>
            </a:pPr>
            <a:r>
              <a:rPr sz="1200" b="0">
                <a:solidFill>
                  <a:srgbClr val="1E293B"/>
                </a:solidFill>
                <a:latin typeface="Calibri"/>
              </a:rPr>
              <a:t>mass_scale_g  =  MASS_BALANCE_SIGMA_G  =  0.01 g, salt-independent, sheet-independent — matches DATA2 published convention.</a:t>
            </a:r>
          </a:p>
          <a:p>
            <a:pPr marL="228600" indent="-228600">
              <a:buChar char="•"/>
            </a:pPr>
            <a:r>
              <a:rPr sz="1200" b="0">
                <a:solidFill>
                  <a:srgbClr val="1E293B"/>
                </a:solidFill>
                <a:latin typeface="Calibri"/>
              </a:rPr>
              <a:t>Frequentist justification: σ_balance is a property of the analytical balance, not of the salt. Reweighting the loss function per salt would mean "different noise model per salt" — physically wrong.</a:t>
            </a:r>
          </a:p>
          <a:p>
            <a:pPr marL="228600" indent="-228600">
              <a:buChar char="•"/>
            </a:pPr>
            <a:r>
              <a:rPr sz="1200" b="0">
                <a:solidFill>
                  <a:srgbClr val="1E293B"/>
                </a:solidFill>
                <a:latin typeface="Calibri"/>
              </a:rPr>
              <a:t>Salt-specific physics belongs in the parameters (θ = (Lp, B, σ)), not in the noise model.</a:t>
            </a:r>
          </a:p>
          <a:p>
            <a:pPr marL="228600" indent="-228600">
              <a:buChar char="•"/>
            </a:pPr>
            <a:r>
              <a:rPr sz="1200" b="0">
                <a:solidFill>
                  <a:srgbClr val="1E293B"/>
                </a:solidFill>
                <a:latin typeface="Calibri"/>
              </a:rPr>
              <a:t>DATA1 / DATA2 stay byte-identical: both objectives use data_stru['data_config'].get('mass_scale_g', 0.01), so missing field → 0.01 g. Path forward: add observables (next slide), not new weights.</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08 · NEW OBSERVABLES</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08</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Sidebar ICP-OES (R14) + Final Tube anchor in WSSE (R15)</a:t>
            </a:r>
          </a:p>
        </p:txBody>
      </p:sp>
      <p:sp>
        <p:nvSpPr>
          <p:cNvPr id="7" name="Rectangle 6"/>
          <p:cNvSpPr/>
          <p:nvPr/>
        </p:nvSpPr>
        <p:spPr>
          <a:xfrm>
            <a:off x="457200" y="1371600"/>
            <a:ext cx="548640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371600"/>
            <a:ext cx="91440" cy="4937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029200" cy="411480"/>
          </a:xfrm>
          <a:prstGeom prst="rect">
            <a:avLst/>
          </a:prstGeom>
          <a:noFill/>
        </p:spPr>
        <p:txBody>
          <a:bodyPr wrap="square" lIns="0" tIns="0" rIns="0" bIns="0" anchor="t">
            <a:spAutoFit/>
          </a:bodyPr>
          <a:lstStyle/>
          <a:p>
            <a:pPr algn="l"/>
            <a:r>
              <a:rPr sz="1400" b="1" i="0">
                <a:solidFill>
                  <a:srgbClr val="02C39A"/>
                </a:solidFill>
                <a:latin typeface="Calibri"/>
              </a:rPr>
              <a:t>WHAT WAS HIDDEN — sidebar cols 14-21</a:t>
            </a:r>
          </a:p>
        </p:txBody>
      </p:sp>
      <p:sp>
        <p:nvSpPr>
          <p:cNvPr id="10" name="TextBox 9"/>
          <p:cNvSpPr txBox="1"/>
          <p:nvPr/>
        </p:nvSpPr>
        <p:spPr>
          <a:xfrm>
            <a:off x="777240" y="1965960"/>
            <a:ext cx="5029200" cy="4206240"/>
          </a:xfrm>
          <a:prstGeom prst="rect">
            <a:avLst/>
          </a:prstGeom>
          <a:noFill/>
        </p:spPr>
        <p:txBody>
          <a:bodyPr wrap="square" lIns="0" tIns="0" rIns="0" bIns="0">
            <a:spAutoFit/>
          </a:bodyPr>
          <a:lstStyle/>
          <a:p>
            <a:pPr marL="228600" indent="-228600">
              <a:buChar char="•"/>
            </a:pPr>
            <a:r>
              <a:rPr sz="1300" b="0">
                <a:solidFill>
                  <a:srgbClr val="1E293B"/>
                </a:solidFill>
                <a:latin typeface="Calibri"/>
              </a:rPr>
              <a:t>Feed / Diafiltrate / Retentate / Final Tube ICP rows — ignored by old loader.</a:t>
            </a:r>
          </a:p>
          <a:p>
            <a:pPr marL="228600" indent="-228600">
              <a:buChar char="•"/>
            </a:pPr>
            <a:r>
              <a:rPr sz="1300" b="0">
                <a:solidFill>
                  <a:srgbClr val="1E293B"/>
                </a:solidFill>
                <a:latin typeface="Calibri"/>
              </a:rPr>
              <a:t>Conversion (per row): c [mM]  =  ICP [mg/L]  ·  (V_samp + V_acid) / V_samp  /  cation_MW [g/mol].</a:t>
            </a:r>
          </a:p>
          <a:p>
            <a:pPr marL="228600" indent="-228600">
              <a:buChar char="•"/>
            </a:pPr>
            <a:r>
              <a:rPr sz="1300" b="0">
                <a:solidFill>
                  <a:srgbClr val="1E293B"/>
                </a:solidFill>
                <a:latin typeface="Calibri"/>
              </a:rPr>
              <a:t>Stoichiometry: 1 cation / formula unit holds for NaCl, KCl, CaCl₂, LaCl₃ → c [mM of salt] = c [mM of cation].</a:t>
            </a:r>
          </a:p>
          <a:p>
            <a:pPr marL="228600" indent="-228600">
              <a:buChar char="•"/>
            </a:pPr>
            <a:r>
              <a:rPr sz="1300" b="0">
                <a:solidFill>
                  <a:srgbClr val="1E293B"/>
                </a:solidFill>
                <a:latin typeface="Calibri"/>
              </a:rPr>
              <a:t>R15 anchor (added to both obj_rule functions):  obj_cf  +=  ((cF[N, τ_last] − Final_Tube_ICP) / (0.003 · Final_Tube_ICP))².</a:t>
            </a:r>
          </a:p>
          <a:p>
            <a:pPr marL="228600" indent="-228600">
              <a:buChar char="•"/>
            </a:pPr>
            <a:r>
              <a:rPr sz="1300" b="0">
                <a:solidFill>
                  <a:srgbClr val="1E293B"/>
                </a:solidFill>
                <a:latin typeface="Calibri"/>
              </a:rPr>
              <a:t>Same 0.3% relative weighting DATA2 uses for per-sample cF. R16 also parses RPM from notes.</a:t>
            </a:r>
          </a:p>
          <a:p>
            <a:pPr marL="228600" indent="-228600">
              <a:buChar char="•"/>
            </a:pPr>
            <a:r>
              <a:rPr sz="1300" b="0">
                <a:solidFill>
                  <a:srgbClr val="1E293B"/>
                </a:solidFill>
                <a:latin typeface="Calibri"/>
              </a:rPr>
              <a:t>icp_final_mM is None / ≤0 → anchor silently skipped (DATA1/DATA2 unchanged).</a:t>
            </a:r>
          </a:p>
        </p:txBody>
      </p:sp>
      <p:sp>
        <p:nvSpPr>
          <p:cNvPr id="11" name="Rectangle 10"/>
          <p:cNvSpPr/>
          <p:nvPr/>
        </p:nvSpPr>
        <p:spPr>
          <a:xfrm>
            <a:off x="6263640" y="1371600"/>
            <a:ext cx="548640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371600"/>
            <a:ext cx="91440" cy="4937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1508760"/>
            <a:ext cx="5029200" cy="411480"/>
          </a:xfrm>
          <a:prstGeom prst="rect">
            <a:avLst/>
          </a:prstGeom>
          <a:noFill/>
        </p:spPr>
        <p:txBody>
          <a:bodyPr wrap="square" lIns="0" tIns="0" rIns="0" bIns="0" anchor="t">
            <a:spAutoFit/>
          </a:bodyPr>
          <a:lstStyle/>
          <a:p>
            <a:pPr algn="l"/>
            <a:r>
              <a:rPr sz="1400" b="1" i="0">
                <a:solidFill>
                  <a:srgbClr val="065A82"/>
                </a:solidFill>
                <a:latin typeface="Calibri"/>
              </a:rPr>
              <a:t>FINAL TUBE ICP — per sheet (R14)</a:t>
            </a:r>
          </a:p>
        </p:txBody>
      </p:sp>
      <p:sp>
        <p:nvSpPr>
          <p:cNvPr id="14" name="Rectangle 13"/>
          <p:cNvSpPr/>
          <p:nvPr/>
        </p:nvSpPr>
        <p:spPr>
          <a:xfrm>
            <a:off x="6583680" y="1965960"/>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2011679"/>
            <a:ext cx="2377440" cy="274320"/>
          </a:xfrm>
          <a:prstGeom prst="rect">
            <a:avLst/>
          </a:prstGeom>
          <a:noFill/>
        </p:spPr>
        <p:txBody>
          <a:bodyPr wrap="square" lIns="0" tIns="0" rIns="0" bIns="0" anchor="t">
            <a:spAutoFit/>
          </a:bodyPr>
          <a:lstStyle/>
          <a:p>
            <a:pPr algn="l"/>
            <a:r>
              <a:rPr sz="1200" b="0" i="0">
                <a:solidFill>
                  <a:srgbClr val="64748B"/>
                </a:solidFill>
                <a:latin typeface="Consolas"/>
              </a:rPr>
              <a:t>NaCl-MC2 cF_final</a:t>
            </a:r>
          </a:p>
        </p:txBody>
      </p:sp>
      <p:sp>
        <p:nvSpPr>
          <p:cNvPr id="16" name="TextBox 15"/>
          <p:cNvSpPr txBox="1"/>
          <p:nvPr/>
        </p:nvSpPr>
        <p:spPr>
          <a:xfrm>
            <a:off x="9052560" y="2011679"/>
            <a:ext cx="2468880" cy="274320"/>
          </a:xfrm>
          <a:prstGeom prst="rect">
            <a:avLst/>
          </a:prstGeom>
          <a:noFill/>
        </p:spPr>
        <p:txBody>
          <a:bodyPr wrap="square" lIns="0" tIns="0" rIns="0" bIns="0" anchor="t">
            <a:spAutoFit/>
          </a:bodyPr>
          <a:lstStyle/>
          <a:p>
            <a:pPr algn="l"/>
            <a:r>
              <a:rPr sz="1200" b="1" i="0">
                <a:solidFill>
                  <a:srgbClr val="1E293B"/>
                </a:solidFill>
                <a:latin typeface="Consolas"/>
              </a:rPr>
              <a:t>23.9 mM</a:t>
            </a:r>
          </a:p>
        </p:txBody>
      </p:sp>
      <p:sp>
        <p:nvSpPr>
          <p:cNvPr id="17" name="Rectangle 16"/>
          <p:cNvSpPr/>
          <p:nvPr/>
        </p:nvSpPr>
        <p:spPr>
          <a:xfrm>
            <a:off x="6583680" y="2331720"/>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377439"/>
            <a:ext cx="2377440" cy="274320"/>
          </a:xfrm>
          <a:prstGeom prst="rect">
            <a:avLst/>
          </a:prstGeom>
          <a:noFill/>
        </p:spPr>
        <p:txBody>
          <a:bodyPr wrap="square" lIns="0" tIns="0" rIns="0" bIns="0" anchor="t">
            <a:spAutoFit/>
          </a:bodyPr>
          <a:lstStyle/>
          <a:p>
            <a:pPr algn="l"/>
            <a:r>
              <a:rPr sz="1200" b="0" i="0">
                <a:solidFill>
                  <a:srgbClr val="64748B"/>
                </a:solidFill>
                <a:latin typeface="Consolas"/>
              </a:rPr>
              <a:t>CaCl₂-MC2 cF_final</a:t>
            </a:r>
          </a:p>
        </p:txBody>
      </p:sp>
      <p:sp>
        <p:nvSpPr>
          <p:cNvPr id="19" name="TextBox 18"/>
          <p:cNvSpPr txBox="1"/>
          <p:nvPr/>
        </p:nvSpPr>
        <p:spPr>
          <a:xfrm>
            <a:off x="9052560" y="2377439"/>
            <a:ext cx="2468880" cy="274320"/>
          </a:xfrm>
          <a:prstGeom prst="rect">
            <a:avLst/>
          </a:prstGeom>
          <a:noFill/>
        </p:spPr>
        <p:txBody>
          <a:bodyPr wrap="square" lIns="0" tIns="0" rIns="0" bIns="0" anchor="t">
            <a:spAutoFit/>
          </a:bodyPr>
          <a:lstStyle/>
          <a:p>
            <a:pPr algn="l"/>
            <a:r>
              <a:rPr sz="1200" b="1" i="0">
                <a:solidFill>
                  <a:srgbClr val="1E293B"/>
                </a:solidFill>
                <a:latin typeface="Consolas"/>
              </a:rPr>
              <a:t>25.1 mM</a:t>
            </a:r>
          </a:p>
        </p:txBody>
      </p:sp>
      <p:sp>
        <p:nvSpPr>
          <p:cNvPr id="20" name="Rectangle 19"/>
          <p:cNvSpPr/>
          <p:nvPr/>
        </p:nvSpPr>
        <p:spPr>
          <a:xfrm>
            <a:off x="6583680" y="2697479"/>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0" y="2743199"/>
            <a:ext cx="2377440" cy="274320"/>
          </a:xfrm>
          <a:prstGeom prst="rect">
            <a:avLst/>
          </a:prstGeom>
          <a:noFill/>
        </p:spPr>
        <p:txBody>
          <a:bodyPr wrap="square" lIns="0" tIns="0" rIns="0" bIns="0" anchor="t">
            <a:spAutoFit/>
          </a:bodyPr>
          <a:lstStyle/>
          <a:p>
            <a:pPr algn="l"/>
            <a:r>
              <a:rPr sz="1200" b="0" i="0">
                <a:solidFill>
                  <a:srgbClr val="64748B"/>
                </a:solidFill>
                <a:latin typeface="Consolas"/>
              </a:rPr>
              <a:t>LaCl₃-MC2 cF_final</a:t>
            </a:r>
          </a:p>
        </p:txBody>
      </p:sp>
      <p:sp>
        <p:nvSpPr>
          <p:cNvPr id="22" name="TextBox 21"/>
          <p:cNvSpPr txBox="1"/>
          <p:nvPr/>
        </p:nvSpPr>
        <p:spPr>
          <a:xfrm>
            <a:off x="9052560" y="2743199"/>
            <a:ext cx="2468880" cy="274320"/>
          </a:xfrm>
          <a:prstGeom prst="rect">
            <a:avLst/>
          </a:prstGeom>
          <a:noFill/>
        </p:spPr>
        <p:txBody>
          <a:bodyPr wrap="square" lIns="0" tIns="0" rIns="0" bIns="0" anchor="t">
            <a:spAutoFit/>
          </a:bodyPr>
          <a:lstStyle/>
          <a:p>
            <a:pPr algn="l"/>
            <a:r>
              <a:rPr sz="1200" b="1" i="0">
                <a:solidFill>
                  <a:srgbClr val="1E293B"/>
                </a:solidFill>
                <a:latin typeface="Consolas"/>
              </a:rPr>
              <a:t>0.99 mM</a:t>
            </a:r>
          </a:p>
        </p:txBody>
      </p:sp>
      <p:sp>
        <p:nvSpPr>
          <p:cNvPr id="23" name="Rectangle 22"/>
          <p:cNvSpPr/>
          <p:nvPr/>
        </p:nvSpPr>
        <p:spPr>
          <a:xfrm>
            <a:off x="6583680" y="3063239"/>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3108959"/>
            <a:ext cx="2377440" cy="274320"/>
          </a:xfrm>
          <a:prstGeom prst="rect">
            <a:avLst/>
          </a:prstGeom>
          <a:noFill/>
        </p:spPr>
        <p:txBody>
          <a:bodyPr wrap="square" lIns="0" tIns="0" rIns="0" bIns="0" anchor="t">
            <a:spAutoFit/>
          </a:bodyPr>
          <a:lstStyle/>
          <a:p>
            <a:pPr algn="l"/>
            <a:r>
              <a:rPr sz="1200" b="0" i="0">
                <a:solidFill>
                  <a:srgbClr val="64748B"/>
                </a:solidFill>
                <a:latin typeface="Consolas"/>
              </a:rPr>
              <a:t>S2NaCl-MC5 cF_final</a:t>
            </a:r>
          </a:p>
        </p:txBody>
      </p:sp>
      <p:sp>
        <p:nvSpPr>
          <p:cNvPr id="25" name="TextBox 24"/>
          <p:cNvSpPr txBox="1"/>
          <p:nvPr/>
        </p:nvSpPr>
        <p:spPr>
          <a:xfrm>
            <a:off x="9052560" y="3108959"/>
            <a:ext cx="2468880" cy="274320"/>
          </a:xfrm>
          <a:prstGeom prst="rect">
            <a:avLst/>
          </a:prstGeom>
          <a:noFill/>
        </p:spPr>
        <p:txBody>
          <a:bodyPr wrap="square" lIns="0" tIns="0" rIns="0" bIns="0" anchor="t">
            <a:spAutoFit/>
          </a:bodyPr>
          <a:lstStyle/>
          <a:p>
            <a:pPr algn="l"/>
            <a:r>
              <a:rPr sz="1200" b="1" i="0">
                <a:solidFill>
                  <a:srgbClr val="1E293B"/>
                </a:solidFill>
                <a:latin typeface="Consolas"/>
              </a:rPr>
              <a:t>8.32 mM</a:t>
            </a:r>
          </a:p>
        </p:txBody>
      </p:sp>
      <p:sp>
        <p:nvSpPr>
          <p:cNvPr id="26" name="Rectangle 25"/>
          <p:cNvSpPr/>
          <p:nvPr/>
        </p:nvSpPr>
        <p:spPr>
          <a:xfrm>
            <a:off x="6583680" y="3428999"/>
            <a:ext cx="50292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3474719"/>
            <a:ext cx="2377440" cy="274320"/>
          </a:xfrm>
          <a:prstGeom prst="rect">
            <a:avLst/>
          </a:prstGeom>
          <a:noFill/>
        </p:spPr>
        <p:txBody>
          <a:bodyPr wrap="square" lIns="0" tIns="0" rIns="0" bIns="0" anchor="t">
            <a:spAutoFit/>
          </a:bodyPr>
          <a:lstStyle/>
          <a:p>
            <a:pPr algn="l"/>
            <a:r>
              <a:rPr sz="1200" b="0" i="0">
                <a:solidFill>
                  <a:srgbClr val="64748B"/>
                </a:solidFill>
                <a:latin typeface="Consolas"/>
              </a:rPr>
              <a:t>SLaCl₃-MC4 cF_final</a:t>
            </a:r>
          </a:p>
        </p:txBody>
      </p:sp>
      <p:sp>
        <p:nvSpPr>
          <p:cNvPr id="28" name="TextBox 27"/>
          <p:cNvSpPr txBox="1"/>
          <p:nvPr/>
        </p:nvSpPr>
        <p:spPr>
          <a:xfrm>
            <a:off x="9052560" y="3474719"/>
            <a:ext cx="2468880" cy="274320"/>
          </a:xfrm>
          <a:prstGeom prst="rect">
            <a:avLst/>
          </a:prstGeom>
          <a:noFill/>
        </p:spPr>
        <p:txBody>
          <a:bodyPr wrap="square" lIns="0" tIns="0" rIns="0" bIns="0" anchor="t">
            <a:spAutoFit/>
          </a:bodyPr>
          <a:lstStyle/>
          <a:p>
            <a:pPr algn="l"/>
            <a:r>
              <a:rPr sz="1200" b="1" i="0">
                <a:solidFill>
                  <a:srgbClr val="1E293B"/>
                </a:solidFill>
                <a:latin typeface="Consolas"/>
              </a:rPr>
              <a:t>−0.001 mM (skip)</a:t>
            </a:r>
          </a:p>
        </p:txBody>
      </p:sp>
      <p:sp>
        <p:nvSpPr>
          <p:cNvPr id="29" name="Rectangle 28"/>
          <p:cNvSpPr/>
          <p:nvPr/>
        </p:nvSpPr>
        <p:spPr>
          <a:xfrm>
            <a:off x="6583680" y="3794759"/>
            <a:ext cx="5029200" cy="365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3840479"/>
            <a:ext cx="2377440" cy="274320"/>
          </a:xfrm>
          <a:prstGeom prst="rect">
            <a:avLst/>
          </a:prstGeom>
          <a:noFill/>
        </p:spPr>
        <p:txBody>
          <a:bodyPr wrap="square" lIns="0" tIns="0" rIns="0" bIns="0" anchor="t">
            <a:spAutoFit/>
          </a:bodyPr>
          <a:lstStyle/>
          <a:p>
            <a:pPr algn="l"/>
            <a:r>
              <a:rPr sz="1200" b="0" i="0">
                <a:solidFill>
                  <a:srgbClr val="64748B"/>
                </a:solidFill>
                <a:latin typeface="Consolas"/>
              </a:rPr>
              <a:t>SNaCl-MC4 cF_final</a:t>
            </a:r>
          </a:p>
        </p:txBody>
      </p:sp>
      <p:sp>
        <p:nvSpPr>
          <p:cNvPr id="31" name="TextBox 30"/>
          <p:cNvSpPr txBox="1"/>
          <p:nvPr/>
        </p:nvSpPr>
        <p:spPr>
          <a:xfrm>
            <a:off x="9052560" y="3840479"/>
            <a:ext cx="2468880" cy="274320"/>
          </a:xfrm>
          <a:prstGeom prst="rect">
            <a:avLst/>
          </a:prstGeom>
          <a:noFill/>
        </p:spPr>
        <p:txBody>
          <a:bodyPr wrap="square" lIns="0" tIns="0" rIns="0" bIns="0" anchor="t">
            <a:spAutoFit/>
          </a:bodyPr>
          <a:lstStyle/>
          <a:p>
            <a:pPr algn="l"/>
            <a:r>
              <a:rPr sz="1200" b="1" i="0">
                <a:solidFill>
                  <a:srgbClr val="1E293B"/>
                </a:solidFill>
                <a:latin typeface="Consolas"/>
              </a:rPr>
              <a:t>86.6 mM</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09 · OPEN QUESTIONS</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09</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Open questions — frequentist, no priors; corner-hopping still in play</a:t>
            </a:r>
          </a:p>
        </p:txBody>
      </p:sp>
      <p:sp>
        <p:nvSpPr>
          <p:cNvPr id="7" name="Rectangle 6"/>
          <p:cNvSpPr/>
          <p:nvPr/>
        </p:nvSpPr>
        <p:spPr>
          <a:xfrm>
            <a:off x="457200" y="141732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417320"/>
            <a:ext cx="914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777240" cy="7315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60020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Q1</a:t>
            </a:r>
          </a:p>
        </p:txBody>
      </p:sp>
      <p:sp>
        <p:nvSpPr>
          <p:cNvPr id="11" name="TextBox 10"/>
          <p:cNvSpPr txBox="1"/>
          <p:nvPr/>
        </p:nvSpPr>
        <p:spPr>
          <a:xfrm>
            <a:off x="1600200" y="1554480"/>
            <a:ext cx="7772400" cy="457200"/>
          </a:xfrm>
          <a:prstGeom prst="rect">
            <a:avLst/>
          </a:prstGeom>
          <a:noFill/>
        </p:spPr>
        <p:txBody>
          <a:bodyPr wrap="square" lIns="0" tIns="0" rIns="0" bIns="0" anchor="t">
            <a:spAutoFit/>
          </a:bodyPr>
          <a:lstStyle/>
          <a:p>
            <a:pPr algn="l"/>
            <a:r>
              <a:rPr sz="1400" b="1" i="0">
                <a:solidFill>
                  <a:srgbClr val="1E293B"/>
                </a:solidFill>
                <a:latin typeface="Calibri"/>
              </a:rPr>
              <a:t>σ reparameterization?</a:t>
            </a:r>
          </a:p>
        </p:txBody>
      </p:sp>
      <p:sp>
        <p:nvSpPr>
          <p:cNvPr id="12" name="TextBox 11"/>
          <p:cNvSpPr txBox="1"/>
          <p:nvPr/>
        </p:nvSpPr>
        <p:spPr>
          <a:xfrm>
            <a:off x="1600200" y="1920240"/>
            <a:ext cx="7772400" cy="548640"/>
          </a:xfrm>
          <a:prstGeom prst="rect">
            <a:avLst/>
          </a:prstGeom>
          <a:noFill/>
        </p:spPr>
        <p:txBody>
          <a:bodyPr wrap="square" lIns="0" tIns="0" rIns="0" bIns="0" anchor="t">
            <a:spAutoFit/>
          </a:bodyPr>
          <a:lstStyle/>
          <a:p>
            <a:pPr algn="l"/>
            <a:r>
              <a:rPr sz="1200" b="0" i="0">
                <a:solidFill>
                  <a:srgbClr val="1E293B"/>
                </a:solidFill>
                <a:latin typeface="Calibri"/>
              </a:rPr>
              <a:t>Should we reparameterize σ = exp(η)/(1+exp(η)), η ∈ ℝ, to eliminate the {σ=0, σ=1} corners? Frequentist-neutral (pure change of variables in the parameter space).</a:t>
            </a:r>
          </a:p>
        </p:txBody>
      </p:sp>
      <p:sp>
        <p:nvSpPr>
          <p:cNvPr id="13" name="Rectangle 12"/>
          <p:cNvSpPr/>
          <p:nvPr/>
        </p:nvSpPr>
        <p:spPr>
          <a:xfrm>
            <a:off x="10058400" y="1783080"/>
            <a:ext cx="155448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0" y="180136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experimental</a:t>
            </a:r>
          </a:p>
        </p:txBody>
      </p:sp>
      <p:sp>
        <p:nvSpPr>
          <p:cNvPr id="15" name="Rectangle 14"/>
          <p:cNvSpPr/>
          <p:nvPr/>
        </p:nvSpPr>
        <p:spPr>
          <a:xfrm>
            <a:off x="457200" y="260604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57200" y="2606040"/>
            <a:ext cx="91440" cy="109728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788920"/>
            <a:ext cx="777240" cy="7315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78892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Q2</a:t>
            </a:r>
          </a:p>
        </p:txBody>
      </p:sp>
      <p:sp>
        <p:nvSpPr>
          <p:cNvPr id="19" name="TextBox 18"/>
          <p:cNvSpPr txBox="1"/>
          <p:nvPr/>
        </p:nvSpPr>
        <p:spPr>
          <a:xfrm>
            <a:off x="1600200" y="2743200"/>
            <a:ext cx="7772400" cy="457200"/>
          </a:xfrm>
          <a:prstGeom prst="rect">
            <a:avLst/>
          </a:prstGeom>
          <a:noFill/>
        </p:spPr>
        <p:txBody>
          <a:bodyPr wrap="square" lIns="0" tIns="0" rIns="0" bIns="0" anchor="t">
            <a:spAutoFit/>
          </a:bodyPr>
          <a:lstStyle/>
          <a:p>
            <a:pPr algn="l"/>
            <a:r>
              <a:rPr sz="1400" b="1" i="0">
                <a:solidFill>
                  <a:srgbClr val="1E293B"/>
                </a:solidFill>
                <a:latin typeface="Calibri"/>
              </a:rPr>
              <a:t>Two-stage fit?</a:t>
            </a:r>
          </a:p>
        </p:txBody>
      </p:sp>
      <p:sp>
        <p:nvSpPr>
          <p:cNvPr id="20" name="TextBox 19"/>
          <p:cNvSpPr txBox="1"/>
          <p:nvPr/>
        </p:nvSpPr>
        <p:spPr>
          <a:xfrm>
            <a:off x="1600200" y="3108960"/>
            <a:ext cx="7772400" cy="548640"/>
          </a:xfrm>
          <a:prstGeom prst="rect">
            <a:avLst/>
          </a:prstGeom>
          <a:noFill/>
        </p:spPr>
        <p:txBody>
          <a:bodyPr wrap="square" lIns="0" tIns="0" rIns="0" bIns="0" anchor="t">
            <a:spAutoFit/>
          </a:bodyPr>
          <a:lstStyle/>
          <a:p>
            <a:pPr algn="l"/>
            <a:r>
              <a:rPr sz="1200" b="0" i="0">
                <a:solidFill>
                  <a:srgbClr val="1E293B"/>
                </a:solidFill>
                <a:latin typeface="Calibri"/>
              </a:rPr>
              <a:t>Profile-likelihood approach: lock Lp from mass-litmus (Lp̂ = slope · 36000 / (Am · ρ · ΔP)), then fit (σ, B) on concentration only. Equivalent to a frequentist profile over the Lp axis.</a:t>
            </a:r>
          </a:p>
        </p:txBody>
      </p:sp>
      <p:sp>
        <p:nvSpPr>
          <p:cNvPr id="21" name="Rectangle 20"/>
          <p:cNvSpPr/>
          <p:nvPr/>
        </p:nvSpPr>
        <p:spPr>
          <a:xfrm>
            <a:off x="10058400" y="2971800"/>
            <a:ext cx="1554480" cy="3657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0" y="299008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computational</a:t>
            </a:r>
          </a:p>
        </p:txBody>
      </p:sp>
      <p:sp>
        <p:nvSpPr>
          <p:cNvPr id="23" name="Rectangle 22"/>
          <p:cNvSpPr/>
          <p:nvPr/>
        </p:nvSpPr>
        <p:spPr>
          <a:xfrm>
            <a:off x="457200" y="379476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7200" y="3794760"/>
            <a:ext cx="91440" cy="10972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3977640"/>
            <a:ext cx="777240" cy="7315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397764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Q3</a:t>
            </a:r>
          </a:p>
        </p:txBody>
      </p:sp>
      <p:sp>
        <p:nvSpPr>
          <p:cNvPr id="27" name="TextBox 26"/>
          <p:cNvSpPr txBox="1"/>
          <p:nvPr/>
        </p:nvSpPr>
        <p:spPr>
          <a:xfrm>
            <a:off x="1600200" y="3931920"/>
            <a:ext cx="7772400" cy="457200"/>
          </a:xfrm>
          <a:prstGeom prst="rect">
            <a:avLst/>
          </a:prstGeom>
          <a:noFill/>
        </p:spPr>
        <p:txBody>
          <a:bodyPr wrap="square" lIns="0" tIns="0" rIns="0" bIns="0" anchor="t">
            <a:spAutoFit/>
          </a:bodyPr>
          <a:lstStyle/>
          <a:p>
            <a:pPr algn="l"/>
            <a:r>
              <a:rPr sz="1400" b="1" i="0">
                <a:solidFill>
                  <a:srgbClr val="1E293B"/>
                </a:solidFill>
                <a:latin typeface="Calibri"/>
              </a:rPr>
              <a:t>Interior σ box?</a:t>
            </a:r>
          </a:p>
        </p:txBody>
      </p:sp>
      <p:sp>
        <p:nvSpPr>
          <p:cNvPr id="28" name="TextBox 27"/>
          <p:cNvSpPr txBox="1"/>
          <p:nvPr/>
        </p:nvSpPr>
        <p:spPr>
          <a:xfrm>
            <a:off x="1600200" y="4297680"/>
            <a:ext cx="7772400" cy="548640"/>
          </a:xfrm>
          <a:prstGeom prst="rect">
            <a:avLst/>
          </a:prstGeom>
          <a:noFill/>
        </p:spPr>
        <p:txBody>
          <a:bodyPr wrap="square" lIns="0" tIns="0" rIns="0" bIns="0" anchor="t">
            <a:spAutoFit/>
          </a:bodyPr>
          <a:lstStyle/>
          <a:p>
            <a:pPr algn="l"/>
            <a:r>
              <a:rPr sz="1200" b="0" i="0">
                <a:solidFill>
                  <a:srgbClr val="1E293B"/>
                </a:solidFill>
                <a:latin typeface="Calibri"/>
              </a:rPr>
              <a:t>Tighten Pyomo Var bound from σ ∈ (0,1) to σ ∈ [0.30, 0.85]. If Obj jumps back up after constraining the interior, the corners are global minima → model is mis-specified.</a:t>
            </a:r>
          </a:p>
        </p:txBody>
      </p:sp>
      <p:sp>
        <p:nvSpPr>
          <p:cNvPr id="29" name="Rectangle 28"/>
          <p:cNvSpPr/>
          <p:nvPr/>
        </p:nvSpPr>
        <p:spPr>
          <a:xfrm>
            <a:off x="10058400" y="4160520"/>
            <a:ext cx="155448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0" y="417880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computational</a:t>
            </a:r>
          </a:p>
        </p:txBody>
      </p:sp>
      <p:sp>
        <p:nvSpPr>
          <p:cNvPr id="31" name="Rectangle 30"/>
          <p:cNvSpPr/>
          <p:nvPr/>
        </p:nvSpPr>
        <p:spPr>
          <a:xfrm>
            <a:off x="457200" y="4983480"/>
            <a:ext cx="11247120" cy="10972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57200" y="4983480"/>
            <a:ext cx="91440" cy="10972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5166360"/>
            <a:ext cx="777240"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5166360"/>
            <a:ext cx="777240" cy="731520"/>
          </a:xfrm>
          <a:prstGeom prst="rect">
            <a:avLst/>
          </a:prstGeom>
          <a:noFill/>
        </p:spPr>
        <p:txBody>
          <a:bodyPr wrap="square" lIns="0" tIns="0" rIns="0" bIns="0" anchor="ctr">
            <a:spAutoFit/>
          </a:bodyPr>
          <a:lstStyle/>
          <a:p>
            <a:pPr algn="ctr"/>
            <a:r>
              <a:rPr sz="2200" b="1" i="0">
                <a:solidFill>
                  <a:srgbClr val="FFFFFF"/>
                </a:solidFill>
                <a:latin typeface="Calibri"/>
              </a:rPr>
              <a:t>Q4</a:t>
            </a:r>
          </a:p>
        </p:txBody>
      </p:sp>
      <p:sp>
        <p:nvSpPr>
          <p:cNvPr id="35" name="TextBox 34"/>
          <p:cNvSpPr txBox="1"/>
          <p:nvPr/>
        </p:nvSpPr>
        <p:spPr>
          <a:xfrm>
            <a:off x="1600200" y="5120640"/>
            <a:ext cx="7772400" cy="457200"/>
          </a:xfrm>
          <a:prstGeom prst="rect">
            <a:avLst/>
          </a:prstGeom>
          <a:noFill/>
        </p:spPr>
        <p:txBody>
          <a:bodyPr wrap="square" lIns="0" tIns="0" rIns="0" bIns="0" anchor="t">
            <a:spAutoFit/>
          </a:bodyPr>
          <a:lstStyle/>
          <a:p>
            <a:pPr algn="l"/>
            <a:r>
              <a:rPr sz="1400" b="1" i="0">
                <a:solidFill>
                  <a:srgbClr val="1E293B"/>
                </a:solidFill>
                <a:latin typeface="Calibri"/>
              </a:rPr>
              <a:t>Retentate weight?</a:t>
            </a:r>
          </a:p>
        </p:txBody>
      </p:sp>
      <p:sp>
        <p:nvSpPr>
          <p:cNvPr id="36" name="TextBox 35"/>
          <p:cNvSpPr txBox="1"/>
          <p:nvPr/>
        </p:nvSpPr>
        <p:spPr>
          <a:xfrm>
            <a:off x="1600200" y="5486400"/>
            <a:ext cx="7772400" cy="548640"/>
          </a:xfrm>
          <a:prstGeom prst="rect">
            <a:avLst/>
          </a:prstGeom>
          <a:noFill/>
        </p:spPr>
        <p:txBody>
          <a:bodyPr wrap="square" lIns="0" tIns="0" rIns="0" bIns="0" anchor="t">
            <a:spAutoFit/>
          </a:bodyPr>
          <a:lstStyle/>
          <a:p>
            <a:pPr algn="l"/>
            <a:r>
              <a:rPr sz="1200" b="0" i="0">
                <a:solidFill>
                  <a:srgbClr val="1E293B"/>
                </a:solidFill>
                <a:latin typeface="Calibri"/>
              </a:rPr>
              <a:t>Is 0.3% the right standard deviation for the in-line retentate conductivity probe? If actual noise is 1-2%, the cF term currently dominates the WSSE by 9-44× relative to truth. Easy sensitivity test.</a:t>
            </a:r>
          </a:p>
        </p:txBody>
      </p:sp>
      <p:sp>
        <p:nvSpPr>
          <p:cNvPr id="37" name="Rectangle 36"/>
          <p:cNvSpPr/>
          <p:nvPr/>
        </p:nvSpPr>
        <p:spPr>
          <a:xfrm>
            <a:off x="10058400" y="5349240"/>
            <a:ext cx="155448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0" y="5367528"/>
            <a:ext cx="1554480" cy="329184"/>
          </a:xfrm>
          <a:prstGeom prst="rect">
            <a:avLst/>
          </a:prstGeom>
          <a:noFill/>
        </p:spPr>
        <p:txBody>
          <a:bodyPr wrap="square" lIns="0" tIns="0" rIns="0" bIns="0" anchor="ctr">
            <a:spAutoFit/>
          </a:bodyPr>
          <a:lstStyle/>
          <a:p>
            <a:pPr algn="ctr"/>
            <a:r>
              <a:rPr sz="1000" b="1" i="0">
                <a:solidFill>
                  <a:srgbClr val="FFFFFF"/>
                </a:solidFill>
                <a:latin typeface="Calibri"/>
              </a:rPr>
              <a:t>both</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10 · REPRODUCE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10</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How to run this on your machine — five steps</a:t>
            </a:r>
          </a:p>
        </p:txBody>
      </p:sp>
      <p:sp>
        <p:nvSpPr>
          <p:cNvPr id="7" name="Rectangle 6"/>
          <p:cNvSpPr/>
          <p:nvPr/>
        </p:nvSpPr>
        <p:spPr>
          <a:xfrm>
            <a:off x="457200" y="1371600"/>
            <a:ext cx="11247120" cy="2743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08760"/>
            <a:ext cx="10972800" cy="365760"/>
          </a:xfrm>
          <a:prstGeom prst="rect">
            <a:avLst/>
          </a:prstGeom>
          <a:noFill/>
        </p:spPr>
        <p:txBody>
          <a:bodyPr wrap="square" lIns="0" tIns="0" rIns="0" bIns="0" anchor="t">
            <a:spAutoFit/>
          </a:bodyPr>
          <a:lstStyle/>
          <a:p>
            <a:pPr algn="l"/>
            <a:r>
              <a:rPr sz="1300" b="1" i="0">
                <a:solidFill>
                  <a:srgbClr val="02C39A"/>
                </a:solidFill>
                <a:latin typeface="Calibri"/>
              </a:rPr>
              <a:t>STEPS</a:t>
            </a:r>
          </a:p>
        </p:txBody>
      </p:sp>
      <p:sp>
        <p:nvSpPr>
          <p:cNvPr id="9" name="TextBox 8"/>
          <p:cNvSpPr txBox="1"/>
          <p:nvPr/>
        </p:nvSpPr>
        <p:spPr>
          <a:xfrm>
            <a:off x="777240" y="1920240"/>
            <a:ext cx="10972800" cy="2194560"/>
          </a:xfrm>
          <a:prstGeom prst="rect">
            <a:avLst/>
          </a:prstGeom>
          <a:noFill/>
        </p:spPr>
        <p:txBody>
          <a:bodyPr wrap="square" lIns="0" tIns="0" rIns="0" bIns="0" anchor="t">
            <a:spAutoFit/>
          </a:bodyPr>
          <a:lstStyle/>
          <a:p>
            <a:pPr algn="l"/>
            <a:r>
              <a:rPr sz="1200" b="0" i="0">
                <a:solidFill>
                  <a:srgbClr val="FFFFFF"/>
                </a:solidFill>
                <a:latin typeface="Consolas"/>
              </a:rPr>
              <a:t>1.  Drop in refactored_ucb_library.py and refactored_ucb_runfile.py (single consolidated files).</a:t>
            </a:r>
          </a:p>
          <a:p>
            <a:pPr algn="l"/>
            <a:r>
              <a:rPr sz="1200" b="0" i="0">
                <a:solidFill>
                  <a:srgbClr val="FFFFFF"/>
                </a:solidFill>
                <a:latin typeface="Consolas"/>
              </a:rPr>
              <a:t>2.  python refactored_ucb_runfile.py     pick ROOT=3 (NF270)  SUBSET=2 (single-salt)  TRUNK=6 (mass-litmus)</a:t>
            </a:r>
          </a:p>
          <a:p>
            <a:pPr algn="l"/>
            <a:r>
              <a:rPr sz="1200" b="0" i="0">
                <a:solidFill>
                  <a:srgbClr val="FFFFFF"/>
                </a:solidFill>
                <a:latin typeface="Consolas"/>
              </a:rPr>
              <a:t>3.  Verify data_config: vial1_split_status=="split",  Lp0_method=="data_driven",  icp_final_tube_mM is populated.</a:t>
            </a:r>
          </a:p>
          <a:p>
            <a:pPr algn="l"/>
            <a:r>
              <a:rPr sz="1200" b="0" i="0">
                <a:solidFill>
                  <a:srgbClr val="FFFFFF"/>
                </a:solidFill>
                <a:latin typeface="Consolas"/>
              </a:rPr>
              <a:t>4.  Re-run TRUNK=3 with N=5 LHS starts. Report fitted (Lp̂, B̂, σ̂) per sheet + final Obj + Final Tube residual.</a:t>
            </a:r>
          </a:p>
          <a:p>
            <a:pPr algn="l"/>
            <a:r>
              <a:rPr sz="1200" b="0" i="0">
                <a:solidFill>
                  <a:srgbClr val="FFFFFF"/>
                </a:solidFill>
                <a:latin typeface="Consolas"/>
              </a:rPr>
              <a:t>5.  Verify data_config carries: mass_scale_g=0.01, icp_*_mM, stir_rpm. Compute mass-litmus baseline Lp = slope·36000/(Am·ρ·ΔP); confirm full fit beats it.</a:t>
            </a:r>
          </a:p>
        </p:txBody>
      </p:sp>
      <p:sp>
        <p:nvSpPr>
          <p:cNvPr id="10" name="Rectangle 9"/>
          <p:cNvSpPr/>
          <p:nvPr/>
        </p:nvSpPr>
        <p:spPr>
          <a:xfrm>
            <a:off x="457200" y="4297680"/>
            <a:ext cx="5486400" cy="2194560"/>
          </a:xfrm>
          <a:prstGeom prst="rect">
            <a:avLst/>
          </a:prstGeom>
          <a:solidFill>
            <a:srgbClr val="FE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297680"/>
            <a:ext cx="91440" cy="21945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389120"/>
            <a:ext cx="5029200" cy="365760"/>
          </a:xfrm>
          <a:prstGeom prst="rect">
            <a:avLst/>
          </a:prstGeom>
          <a:noFill/>
        </p:spPr>
        <p:txBody>
          <a:bodyPr wrap="square" lIns="0" tIns="0" rIns="0" bIns="0" anchor="t">
            <a:spAutoFit/>
          </a:bodyPr>
          <a:lstStyle/>
          <a:p>
            <a:pPr algn="l"/>
            <a:r>
              <a:rPr sz="1300" b="1" i="0">
                <a:solidFill>
                  <a:srgbClr val="C9A227"/>
                </a:solidFill>
                <a:latin typeface="Calibri"/>
              </a:rPr>
              <a:t>WHAT WOULD HELP US MOST</a:t>
            </a:r>
          </a:p>
        </p:txBody>
      </p:sp>
      <p:sp>
        <p:nvSpPr>
          <p:cNvPr id="13" name="TextBox 12"/>
          <p:cNvSpPr txBox="1"/>
          <p:nvPr/>
        </p:nvSpPr>
        <p:spPr>
          <a:xfrm>
            <a:off x="777240" y="4800600"/>
            <a:ext cx="5029200" cy="1554480"/>
          </a:xfrm>
          <a:prstGeom prst="rect">
            <a:avLst/>
          </a:prstGeom>
          <a:noFill/>
        </p:spPr>
        <p:txBody>
          <a:bodyPr wrap="square" lIns="0" tIns="0" rIns="0" bIns="0">
            <a:spAutoFit/>
          </a:bodyPr>
          <a:lstStyle/>
          <a:p>
            <a:pPr marL="228600" indent="-228600">
              <a:buChar char="•"/>
            </a:pPr>
            <a:r>
              <a:rPr sz="1100" b="0">
                <a:solidFill>
                  <a:srgbClr val="1E293B"/>
                </a:solidFill>
                <a:latin typeface="Calibri"/>
              </a:rPr>
              <a:t>Your priors on σ for NF270 with NaCl, CaCl₂, LaCl₃ — even rough ranges.</a:t>
            </a:r>
          </a:p>
          <a:p>
            <a:pPr marL="228600" indent="-228600">
              <a:buChar char="•"/>
            </a:pPr>
            <a:r>
              <a:rPr sz="1100" b="0">
                <a:solidFill>
                  <a:srgbClr val="1E293B"/>
                </a:solidFill>
                <a:latin typeface="Calibri"/>
              </a:rPr>
              <a:t>Whether the three modes correspond to specific salts you've seen behave this way.</a:t>
            </a:r>
          </a:p>
          <a:p>
            <a:pPr marL="228600" indent="-228600">
              <a:buChar char="•"/>
            </a:pPr>
            <a:r>
              <a:rPr sz="1100" b="0">
                <a:solidFill>
                  <a:srgbClr val="1E293B"/>
                </a:solidFill>
                <a:latin typeface="Calibri"/>
              </a:rPr>
              <a:t>Which sheet you'd focus on first if you were us.</a:t>
            </a:r>
          </a:p>
        </p:txBody>
      </p:sp>
      <p:sp>
        <p:nvSpPr>
          <p:cNvPr id="14" name="Rectangle 13"/>
          <p:cNvSpPr/>
          <p:nvPr/>
        </p:nvSpPr>
        <p:spPr>
          <a:xfrm>
            <a:off x="6263640" y="4297680"/>
            <a:ext cx="5486400" cy="2194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4297680"/>
            <a:ext cx="9144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4389120"/>
            <a:ext cx="5029200" cy="365760"/>
          </a:xfrm>
          <a:prstGeom prst="rect">
            <a:avLst/>
          </a:prstGeom>
          <a:noFill/>
        </p:spPr>
        <p:txBody>
          <a:bodyPr wrap="square" lIns="0" tIns="0" rIns="0" bIns="0" anchor="t">
            <a:spAutoFit/>
          </a:bodyPr>
          <a:lstStyle/>
          <a:p>
            <a:pPr algn="l"/>
            <a:r>
              <a:rPr sz="1300" b="1" i="0">
                <a:solidFill>
                  <a:srgbClr val="065A82"/>
                </a:solidFill>
                <a:latin typeface="Calibri"/>
              </a:rPr>
              <a:t>WHAT TO WATCH FOR</a:t>
            </a:r>
          </a:p>
        </p:txBody>
      </p:sp>
      <p:sp>
        <p:nvSpPr>
          <p:cNvPr id="17" name="TextBox 16"/>
          <p:cNvSpPr txBox="1"/>
          <p:nvPr/>
        </p:nvSpPr>
        <p:spPr>
          <a:xfrm>
            <a:off x="6583680" y="4800600"/>
            <a:ext cx="5029200" cy="1554480"/>
          </a:xfrm>
          <a:prstGeom prst="rect">
            <a:avLst/>
          </a:prstGeom>
          <a:noFill/>
        </p:spPr>
        <p:txBody>
          <a:bodyPr wrap="square" lIns="0" tIns="0" rIns="0" bIns="0">
            <a:spAutoFit/>
          </a:bodyPr>
          <a:lstStyle/>
          <a:p>
            <a:pPr marL="228600" indent="-228600">
              <a:buChar char="•"/>
            </a:pPr>
            <a:r>
              <a:rPr sz="1100" b="0">
                <a:solidFill>
                  <a:srgbClr val="1E293B"/>
                </a:solidFill>
                <a:latin typeface="Calibri"/>
              </a:rPr>
              <a:t>σ̂ → 1 with Lp̂ → 0.5 (lower bound) — Mode B corner.</a:t>
            </a:r>
          </a:p>
          <a:p>
            <a:pPr marL="228600" indent="-228600">
              <a:buChar char="•"/>
            </a:pPr>
            <a:r>
              <a:rPr sz="1100" b="0">
                <a:solidFill>
                  <a:srgbClr val="1E293B"/>
                </a:solidFill>
                <a:latin typeface="Calibri"/>
              </a:rPr>
              <a:t>σ̂ → 0 with B̂ → large — Mode C corner (LHS-R10 basin).</a:t>
            </a:r>
          </a:p>
          <a:p>
            <a:pPr marL="228600" indent="-228600">
              <a:buChar char="•"/>
            </a:pPr>
            <a:r>
              <a:rPr sz="1100" b="0">
                <a:solidFill>
                  <a:srgbClr val="1E293B"/>
                </a:solidFill>
                <a:latin typeface="Calibri"/>
              </a:rPr>
              <a:t>Final Tube residual (cF[N,τ_last]−ICP) on the order of σ_cf = 0.003·cF → fit consistent with measurement.</a:t>
            </a:r>
          </a:p>
        </p:txBody>
      </p:sp>
      <p:pic>
        <p:nvPicPr>
          <p:cNvPr id="9999" name="NDLogo"/>
          <p:cNvPicPr>
            <a:picLocks noChangeAspect="1"/>
          </p:cNvPicPr>
          <p:nvPr/>
        </p:nvPicPr>
        <p:blipFill>
          <a:blip r:embed="rId2"/>
          <a:stretch>
            <a:fillRect/>
          </a:stretch>
        </p:blipFill>
        <p:spPr>
          <a:xfrm>
            <a:off x="128584" y="6507526"/>
            <a:ext cx="1209476" cy="282211"/>
          </a:xfrm>
          <a:prstGeom prst="rect">
            <a:avLst/>
          </a:prstGeom>
        </p:spPr>
      </p:pic>
      <p:sp>
        <p:nvSpPr>
          <p:cNvPr id="9998" name="PageNumber"/>
          <p:cNvSpPr txBox="1"/>
          <p:nvPr/>
        </p:nvSpPr>
        <p:spPr>
          <a:xfrm>
            <a:off x="11247120" y="6486525"/>
            <a:ext cx="914400" cy="274320"/>
          </a:xfrm>
          <a:prstGeom prst="rect">
            <a:avLst/>
          </a:prstGeom>
          <a:noFill/>
        </p:spPr>
        <p:txBody>
          <a:bodyPr wrap="square" lIns="0" tIns="0" rIns="0" bIns="0" anchor="t">
            <a:spAutoFit/>
          </a:bodyPr>
          <a:lstStyle/>
          <a:p>
            <a:pPr algn="r"/>
            <a:r>
              <a:rPr sz="2000" b="1" i="0">
                <a:solidFill>
                  <a:srgbClr val="21295C"/>
                </a:solidFill>
                <a:latin typeface="Calibri"/>
              </a:rPr>
              <a:t>10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B01 · PROBLEM STATEMENT</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11</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Dynamic inverse problem — what we are solving for</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11</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UNKNOWNS</a:t>
            </a:r>
          </a:p>
        </p:txBody>
      </p:sp>
      <p:sp>
        <p:nvSpPr>
          <p:cNvPr id="11" name="Rectangle 10"/>
          <p:cNvSpPr/>
          <p:nvPr/>
        </p:nvSpPr>
        <p:spPr>
          <a:xfrm>
            <a:off x="45720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1779376"/>
          </a:xfrm>
          <a:prstGeom prst="rect">
            <a:avLst/>
          </a:prstGeom>
          <a:noFill/>
        </p:spPr>
        <p:txBody>
          <a:bodyPr wrap="square" lIns="0" tIns="0" rIns="0" bIns="0">
            <a:spAutoFit/>
          </a:bodyPr>
          <a:lstStyle/>
          <a:p>
            <a:pPr algn="l"/>
            <a:r>
              <a:rPr sz="1100" b="0" i="0">
                <a:solidFill>
                  <a:srgbClr val="1E293B"/>
                </a:solidFill>
                <a:latin typeface="Consolas"/>
              </a:rPr>
              <a:t>θ  =  ( Lp ,  B ,  σ )
Lp  : hydraulic permeability  [ L / m² / hr / bar ]
B   : solute permeability   [ μm / s ]
σ   : reflection coefficient   [ dimensionless,  0 ≤ σ ≤ 1 ]
Measurements per vial i and sample j:
  mV_i,j   :  mass collected in vial i at time t_j     [g]
  cF_i,j   :  retentate concentration                  [mM]
  cV_i     :  per-vial permeate concentration (scalar) [mM]</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OPTIMIZATION</a:t>
            </a:r>
          </a:p>
        </p:txBody>
      </p:sp>
      <p:sp>
        <p:nvSpPr>
          <p:cNvPr id="16" name="Rectangle 15"/>
          <p:cNvSpPr/>
          <p:nvPr/>
        </p:nvSpPr>
        <p:spPr>
          <a:xfrm>
            <a:off x="626364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1779376"/>
          </a:xfrm>
          <a:prstGeom prst="rect">
            <a:avLst/>
          </a:prstGeom>
          <a:noFill/>
        </p:spPr>
        <p:txBody>
          <a:bodyPr wrap="square" lIns="0" tIns="0" rIns="0" bIns="0">
            <a:spAutoFit/>
          </a:bodyPr>
          <a:lstStyle/>
          <a:p>
            <a:pPr algn="l"/>
            <a:r>
              <a:rPr sz="1100" b="0" i="0">
                <a:solidFill>
                  <a:srgbClr val="1E293B"/>
                </a:solidFill>
                <a:latin typeface="Consolas"/>
              </a:rPr>
              <a:t>θ̂  =  argmin_θ   Obj(θ ; D)
subject to:   DAE  &amp;  initial conditions
              parameter bounds
The model outputs (mV, cF, cV) are not algebraic in θ.
They come from solving coupled ODEs over (n_vial, τ).
Pyomo turns the dynamic model into one nonlinear
program over { θ, all state values at all τ-nodes }.</a:t>
            </a:r>
          </a:p>
        </p:txBody>
      </p:sp>
      <p:sp>
        <p:nvSpPr>
          <p:cNvPr id="19" name="Rectangle 18"/>
          <p:cNvSpPr/>
          <p:nvPr/>
        </p:nvSpPr>
        <p:spPr>
          <a:xfrm>
            <a:off x="457200" y="37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37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KEY POINT — WHY THE FIT IS HARD</a:t>
            </a:r>
          </a:p>
        </p:txBody>
      </p:sp>
      <p:sp>
        <p:nvSpPr>
          <p:cNvPr id="21" name="Rectangle 20"/>
          <p:cNvSpPr/>
          <p:nvPr/>
        </p:nvSpPr>
        <p:spPr>
          <a:xfrm>
            <a:off x="457200" y="4083080"/>
            <a:ext cx="1129284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57200" y="40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1520" y="4110512"/>
            <a:ext cx="10927080" cy="1779376"/>
          </a:xfrm>
          <a:prstGeom prst="rect">
            <a:avLst/>
          </a:prstGeom>
          <a:noFill/>
        </p:spPr>
        <p:txBody>
          <a:bodyPr wrap="square" lIns="0" tIns="0" rIns="0" bIns="0">
            <a:spAutoFit/>
          </a:bodyPr>
          <a:lstStyle/>
          <a:p>
            <a:pPr algn="l"/>
            <a:r>
              <a:rPr sz="1100" b="0" i="0">
                <a:solidFill>
                  <a:srgbClr val="1E293B"/>
                </a:solidFill>
                <a:latin typeface="Calibri"/>
              </a:rPr>
              <a:t>1. The forward map  θ → ( mV, cF, cV )  is nonlinear and dynamic.
   Even small θ-changes can shift basins → IPOPT can converge to
   different local minima depending on initialization.
2. σ has both lower (σ = 0, no rejection) and upper (σ = 1, complete
   rejection) corner basins.  Each corner trivializes the model in
   a different way, and is hard to escape once the optimizer is
   nearby.  Hence LHS multistart (R10/R12) and structural fixes.
3. The WSSE weights (1 / σ_meas) determine which residual the
   optimizer cares about most.  Salt-specific physics belongs in θ,
   not in σ_meas — see R11→R13 in slide 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B02 · DATA CONTRACT</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12</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data_stru — one shape, two loaders (loadmat, loadxlsx)</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12</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data_config (per experiment)</a:t>
            </a:r>
          </a:p>
        </p:txBody>
      </p:sp>
      <p:sp>
        <p:nvSpPr>
          <p:cNvPr id="11" name="Rectangle 10"/>
          <p:cNvSpPr/>
          <p:nvPr/>
        </p:nvSpPr>
        <p:spPr>
          <a:xfrm>
            <a:off x="457200" y="1783080"/>
            <a:ext cx="548640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4579376"/>
          </a:xfrm>
          <a:prstGeom prst="rect">
            <a:avLst/>
          </a:prstGeom>
          <a:noFill/>
        </p:spPr>
        <p:txBody>
          <a:bodyPr wrap="square" lIns="0" tIns="0" rIns="0" bIns="0">
            <a:spAutoFit/>
          </a:bodyPr>
          <a:lstStyle/>
          <a:p>
            <a:pPr algn="l"/>
            <a:r>
              <a:rPr sz="1000" b="0" i="0">
                <a:solidFill>
                  <a:srgbClr val="1E293B"/>
                </a:solidFill>
                <a:latin typeface="Consolas"/>
              </a:rPr>
              <a:t>n             # number of vials
n_v0          # first real (non-holdup) vial
n_extra       # holdup vials skipped in WSSE
delP          # applied pressure       [bar]
Temp          # temperature            [K]
Am            # membrane area          [cm²]
rho           # density                [g/cm³]
M_F0          # initial feed mass      [g]
M_O           # M_F0 − Final           [g]
C_F0          # initial feed conc.     [mM]
C_D           # diafiltrate conc.      [mM]
namec         # salt name (e.g. "NaCl")
Lp0, B0, sigma0   # initial guesses
mass_scale_g  # WSSE mass weight, 0.01 g
stir_rpm      # R16, parsed from notes
icp_feed_mM
icp_diafiltrate_mM
icp_retentate_mM
icp_final_tube_mM   # R14/R15 anchor</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data_raw[i]  (one entry per vial)</a:t>
            </a:r>
          </a:p>
        </p:txBody>
      </p:sp>
      <p:sp>
        <p:nvSpPr>
          <p:cNvPr id="16" name="Rectangle 15"/>
          <p:cNvSpPr/>
          <p:nvPr/>
        </p:nvSpPr>
        <p:spPr>
          <a:xfrm>
            <a:off x="6263640" y="1783080"/>
            <a:ext cx="548640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4579376"/>
          </a:xfrm>
          <a:prstGeom prst="rect">
            <a:avLst/>
          </a:prstGeom>
          <a:noFill/>
        </p:spPr>
        <p:txBody>
          <a:bodyPr wrap="square" lIns="0" tIns="0" rIns="0" bIns="0">
            <a:spAutoFit/>
          </a:bodyPr>
          <a:lstStyle/>
          <a:p>
            <a:pPr algn="l"/>
            <a:r>
              <a:rPr sz="1000" b="0" i="0">
                <a:solidFill>
                  <a:srgbClr val="1E293B"/>
                </a:solidFill>
                <a:latin typeface="Consolas"/>
              </a:rPr>
              <a:t>time      # sample times      [s], per-vial start at 0
mass      # cumulative balance reading, per-vial reset:
          #    mass[t] = balance[t] − balance[t_start]
          #    (matches DATA2 .mat convention)
cF_exp    # retentate concentration time-series [mM]
          # (Shedlovsky-inverted from in-line κ)
cV_avg    # scalar per-vial permeate conc.     [mM]
          # = mg/L · dilution / cation_MW
Both loaders converge to this shape:
  loadmat("…/data_stru-dataset270511.12.mat")
       ↓
  data_stru = {"data_config": …, "data_raw": […]}
       ↑
  _load_legacy_data_stru_from_excel("NF270_MC2.xlsx",
                                    selector="05.07.24_NaCl")
Downstream code (solve_model, calc_FIM, plot_*)
never knows whether the source was .mat or .xlsx.</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365760" y="137160"/>
            <a:ext cx="24384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457200" y="137160"/>
            <a:ext cx="2255520" cy="274320"/>
          </a:xfrm>
          <a:prstGeom prst="rect">
            <a:avLst/>
          </a:prstGeom>
          <a:noFill/>
        </p:spPr>
        <p:txBody>
          <a:bodyPr wrap="square" lIns="0" tIns="0" rIns="0" bIns="0" anchor="ctr">
            <a:spAutoFit/>
          </a:bodyPr>
          <a:lstStyle/>
          <a:p>
            <a:pPr algn="l"/>
            <a:r>
              <a:rPr sz="1000" b="1" i="0">
                <a:solidFill>
                  <a:srgbClr val="FFFFFF"/>
                </a:solidFill>
                <a:latin typeface="Calibri"/>
              </a:rPr>
              <a:t>B03 · PHYSICS MODEL</a:t>
            </a:r>
          </a:p>
        </p:txBody>
      </p:sp>
      <p:sp>
        <p:nvSpPr>
          <p:cNvPr id="5" name="TextBox 4"/>
          <p:cNvSpPr txBox="1"/>
          <p:nvPr/>
        </p:nvSpPr>
        <p:spPr>
          <a:xfrm>
            <a:off x="11247120" y="137160"/>
            <a:ext cx="914400" cy="274320"/>
          </a:xfrm>
          <a:prstGeom prst="rect">
            <a:avLst/>
          </a:prstGeom>
          <a:noFill/>
        </p:spPr>
        <p:txBody>
          <a:bodyPr wrap="square" lIns="0" tIns="0" rIns="0" bIns="0">
            <a:spAutoFit/>
          </a:bodyPr>
          <a:lstStyle/>
          <a:p>
            <a:pPr algn="r"/>
            <a:r>
              <a:rPr sz="1000" b="1" i="0">
                <a:solidFill>
                  <a:srgbClr val="21295C"/>
                </a:solidFill>
                <a:latin typeface="Calibri"/>
              </a:rPr>
              <a:t>13</a:t>
            </a:r>
          </a:p>
        </p:txBody>
      </p:sp>
      <p:sp>
        <p:nvSpPr>
          <p:cNvPr id="6" name="TextBox 5"/>
          <p:cNvSpPr txBox="1"/>
          <p:nvPr/>
        </p:nvSpPr>
        <p:spPr>
          <a:xfrm>
            <a:off x="365760" y="502920"/>
            <a:ext cx="11460240" cy="640080"/>
          </a:xfrm>
          <a:prstGeom prst="rect">
            <a:avLst/>
          </a:prstGeom>
          <a:noFill/>
        </p:spPr>
        <p:txBody>
          <a:bodyPr wrap="square" lIns="0" tIns="0" rIns="0" bIns="0">
            <a:spAutoFit/>
          </a:bodyPr>
          <a:lstStyle/>
          <a:p>
            <a:pPr algn="l"/>
            <a:r>
              <a:rPr sz="2600" b="1" i="0">
                <a:solidFill>
                  <a:srgbClr val="21295C"/>
                </a:solidFill>
                <a:latin typeface="Calibri"/>
              </a:rPr>
              <a:t>Lumped-parameter membrane transport — what each θ does</a:t>
            </a:r>
          </a:p>
        </p:txBody>
      </p:sp>
      <p:sp>
        <p:nvSpPr>
          <p:cNvPr id="7" name="Rectangle 6"/>
          <p:cNvSpPr/>
          <p:nvPr/>
        </p:nvSpPr>
        <p:spPr>
          <a:xfrm>
            <a:off x="365760" y="1188720"/>
            <a:ext cx="11460240" cy="228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png"/>
          <p:cNvPicPr>
            <a:picLocks noChangeAspect="1"/>
          </p:cNvPicPr>
          <p:nvPr/>
        </p:nvPicPr>
        <p:blipFill>
          <a:blip r:embed="rId2"/>
          <a:stretch>
            <a:fillRect/>
          </a:stretch>
        </p:blipFill>
        <p:spPr>
          <a:xfrm>
            <a:off x="128584" y="6507526"/>
            <a:ext cx="1209476" cy="282211"/>
          </a:xfrm>
          <a:prstGeom prst="rect">
            <a:avLst/>
          </a:prstGeom>
        </p:spPr>
      </p:pic>
      <p:sp>
        <p:nvSpPr>
          <p:cNvPr id="9" name="TextBox 8"/>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13</a:t>
            </a:r>
          </a:p>
        </p:txBody>
      </p:sp>
      <p:sp>
        <p:nvSpPr>
          <p:cNvPr id="10" name="Rectangle 9"/>
          <p:cNvSpPr/>
          <p:nvPr/>
        </p:nvSpPr>
        <p:spPr>
          <a:xfrm>
            <a:off x="365760" y="1280160"/>
            <a:ext cx="365760" cy="365760"/>
          </a:xfrm>
          <a:prstGeom prst="rect">
            <a:avLst/>
          </a:prstGeom>
          <a:solidFill>
            <a:srgbClr val="E673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65760" y="1280160"/>
            <a:ext cx="365760" cy="365760"/>
          </a:xfrm>
          <a:prstGeom prst="rect">
            <a:avLst/>
          </a:prstGeom>
          <a:noFill/>
        </p:spPr>
        <p:txBody>
          <a:bodyPr wrap="square" lIns="0" tIns="0" rIns="0" bIns="0" anchor="ctr">
            <a:spAutoFit/>
          </a:bodyPr>
          <a:lstStyle/>
          <a:p>
            <a:pPr algn="ctr"/>
            <a:r>
              <a:rPr sz="1800" b="1" i="0">
                <a:solidFill>
                  <a:srgbClr val="FFFFFF"/>
                </a:solidFill>
                <a:latin typeface="Cambria"/>
              </a:rPr>
              <a:t>Lₚ</a:t>
            </a:r>
          </a:p>
        </p:txBody>
      </p:sp>
      <p:sp>
        <p:nvSpPr>
          <p:cNvPr id="12" name="TextBox 11"/>
          <p:cNvSpPr txBox="1"/>
          <p:nvPr/>
        </p:nvSpPr>
        <p:spPr>
          <a:xfrm>
            <a:off x="822960" y="1280160"/>
            <a:ext cx="3200400" cy="182880"/>
          </a:xfrm>
          <a:prstGeom prst="rect">
            <a:avLst/>
          </a:prstGeom>
          <a:noFill/>
        </p:spPr>
        <p:txBody>
          <a:bodyPr wrap="square" lIns="0" tIns="0" rIns="0" bIns="0">
            <a:spAutoFit/>
          </a:bodyPr>
          <a:lstStyle/>
          <a:p>
            <a:pPr algn="l"/>
            <a:r>
              <a:rPr sz="1100" b="1" i="0">
                <a:solidFill>
                  <a:srgbClr val="21295C"/>
                </a:solidFill>
                <a:latin typeface="Calibri"/>
              </a:rPr>
              <a:t>Hydraulic permeability</a:t>
            </a:r>
          </a:p>
        </p:txBody>
      </p:sp>
      <p:sp>
        <p:nvSpPr>
          <p:cNvPr id="13" name="TextBox 12"/>
          <p:cNvSpPr txBox="1"/>
          <p:nvPr/>
        </p:nvSpPr>
        <p:spPr>
          <a:xfrm>
            <a:off x="822960" y="1463040"/>
            <a:ext cx="3200400" cy="182880"/>
          </a:xfrm>
          <a:prstGeom prst="rect">
            <a:avLst/>
          </a:prstGeom>
          <a:noFill/>
        </p:spPr>
        <p:txBody>
          <a:bodyPr wrap="square" lIns="0" tIns="0" rIns="0" bIns="0">
            <a:spAutoFit/>
          </a:bodyPr>
          <a:lstStyle/>
          <a:p>
            <a:pPr algn="l"/>
            <a:r>
              <a:rPr sz="900" b="0" i="0">
                <a:solidFill>
                  <a:srgbClr val="1E293B"/>
                </a:solidFill>
                <a:latin typeface="Calibri"/>
              </a:rPr>
              <a:t>L / (m² · hr · bar)   sets J_w against ΔP</a:t>
            </a:r>
          </a:p>
        </p:txBody>
      </p:sp>
      <p:sp>
        <p:nvSpPr>
          <p:cNvPr id="14" name="Rectangle 13"/>
          <p:cNvSpPr/>
          <p:nvPr/>
        </p:nvSpPr>
        <p:spPr>
          <a:xfrm>
            <a:off x="4297680" y="1280160"/>
            <a:ext cx="365760" cy="365760"/>
          </a:xfrm>
          <a:prstGeom prst="rect">
            <a:avLst/>
          </a:prstGeom>
          <a:solidFill>
            <a:srgbClr val="EC9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297680" y="1280160"/>
            <a:ext cx="365760" cy="365760"/>
          </a:xfrm>
          <a:prstGeom prst="rect">
            <a:avLst/>
          </a:prstGeom>
          <a:noFill/>
        </p:spPr>
        <p:txBody>
          <a:bodyPr wrap="square" lIns="0" tIns="0" rIns="0" bIns="0" anchor="ctr">
            <a:spAutoFit/>
          </a:bodyPr>
          <a:lstStyle/>
          <a:p>
            <a:pPr algn="ctr"/>
            <a:r>
              <a:rPr sz="1800" b="1" i="0">
                <a:solidFill>
                  <a:srgbClr val="FFFFFF"/>
                </a:solidFill>
                <a:latin typeface="Cambria"/>
              </a:rPr>
              <a:t>B</a:t>
            </a:r>
          </a:p>
        </p:txBody>
      </p:sp>
      <p:sp>
        <p:nvSpPr>
          <p:cNvPr id="16" name="TextBox 15"/>
          <p:cNvSpPr txBox="1"/>
          <p:nvPr/>
        </p:nvSpPr>
        <p:spPr>
          <a:xfrm>
            <a:off x="4754880" y="1280160"/>
            <a:ext cx="3200400" cy="182880"/>
          </a:xfrm>
          <a:prstGeom prst="rect">
            <a:avLst/>
          </a:prstGeom>
          <a:noFill/>
        </p:spPr>
        <p:txBody>
          <a:bodyPr wrap="square" lIns="0" tIns="0" rIns="0" bIns="0">
            <a:spAutoFit/>
          </a:bodyPr>
          <a:lstStyle/>
          <a:p>
            <a:pPr algn="l"/>
            <a:r>
              <a:rPr sz="1100" b="1" i="0">
                <a:solidFill>
                  <a:srgbClr val="21295C"/>
                </a:solidFill>
                <a:latin typeface="Calibri"/>
              </a:rPr>
              <a:t>Solute permeability</a:t>
            </a:r>
          </a:p>
        </p:txBody>
      </p:sp>
      <p:sp>
        <p:nvSpPr>
          <p:cNvPr id="17" name="TextBox 16"/>
          <p:cNvSpPr txBox="1"/>
          <p:nvPr/>
        </p:nvSpPr>
        <p:spPr>
          <a:xfrm>
            <a:off x="4754880" y="1463040"/>
            <a:ext cx="3200400" cy="182880"/>
          </a:xfrm>
          <a:prstGeom prst="rect">
            <a:avLst/>
          </a:prstGeom>
          <a:noFill/>
        </p:spPr>
        <p:txBody>
          <a:bodyPr wrap="square" lIns="0" tIns="0" rIns="0" bIns="0">
            <a:spAutoFit/>
          </a:bodyPr>
          <a:lstStyle/>
          <a:p>
            <a:pPr algn="l"/>
            <a:r>
              <a:rPr sz="900" b="0" i="0">
                <a:solidFill>
                  <a:srgbClr val="1E293B"/>
                </a:solidFill>
                <a:latin typeface="Calibri"/>
              </a:rPr>
              <a:t>μm / s   sets diffusive solute flux J_s</a:t>
            </a:r>
          </a:p>
        </p:txBody>
      </p:sp>
      <p:sp>
        <p:nvSpPr>
          <p:cNvPr id="18" name="Rectangle 17"/>
          <p:cNvSpPr/>
          <p:nvPr/>
        </p:nvSpPr>
        <p:spPr>
          <a:xfrm>
            <a:off x="8229600" y="1280160"/>
            <a:ext cx="365760" cy="365760"/>
          </a:xfrm>
          <a:prstGeom prst="rect">
            <a:avLst/>
          </a:prstGeom>
          <a:solidFill>
            <a:srgbClr val="6FB5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0" y="1280160"/>
            <a:ext cx="365760" cy="365760"/>
          </a:xfrm>
          <a:prstGeom prst="rect">
            <a:avLst/>
          </a:prstGeom>
          <a:noFill/>
        </p:spPr>
        <p:txBody>
          <a:bodyPr wrap="square" lIns="0" tIns="0" rIns="0" bIns="0" anchor="ctr">
            <a:spAutoFit/>
          </a:bodyPr>
          <a:lstStyle/>
          <a:p>
            <a:pPr algn="ctr"/>
            <a:r>
              <a:rPr sz="1800" b="1" i="0">
                <a:solidFill>
                  <a:srgbClr val="FFFFFF"/>
                </a:solidFill>
                <a:latin typeface="Cambria"/>
              </a:rPr>
              <a:t>σ</a:t>
            </a:r>
          </a:p>
        </p:txBody>
      </p:sp>
      <p:sp>
        <p:nvSpPr>
          <p:cNvPr id="20" name="TextBox 19"/>
          <p:cNvSpPr txBox="1"/>
          <p:nvPr/>
        </p:nvSpPr>
        <p:spPr>
          <a:xfrm>
            <a:off x="8686800" y="1280160"/>
            <a:ext cx="3200400" cy="182880"/>
          </a:xfrm>
          <a:prstGeom prst="rect">
            <a:avLst/>
          </a:prstGeom>
          <a:noFill/>
        </p:spPr>
        <p:txBody>
          <a:bodyPr wrap="square" lIns="0" tIns="0" rIns="0" bIns="0">
            <a:spAutoFit/>
          </a:bodyPr>
          <a:lstStyle/>
          <a:p>
            <a:pPr algn="l"/>
            <a:r>
              <a:rPr sz="1100" b="1" i="0">
                <a:solidFill>
                  <a:srgbClr val="21295C"/>
                </a:solidFill>
                <a:latin typeface="Calibri"/>
              </a:rPr>
              <a:t>Reflection coefficient</a:t>
            </a:r>
          </a:p>
        </p:txBody>
      </p:sp>
      <p:sp>
        <p:nvSpPr>
          <p:cNvPr id="21" name="TextBox 20"/>
          <p:cNvSpPr txBox="1"/>
          <p:nvPr/>
        </p:nvSpPr>
        <p:spPr>
          <a:xfrm>
            <a:off x="8686800" y="1463040"/>
            <a:ext cx="3200400" cy="182880"/>
          </a:xfrm>
          <a:prstGeom prst="rect">
            <a:avLst/>
          </a:prstGeom>
          <a:noFill/>
        </p:spPr>
        <p:txBody>
          <a:bodyPr wrap="square" lIns="0" tIns="0" rIns="0" bIns="0">
            <a:spAutoFit/>
          </a:bodyPr>
          <a:lstStyle/>
          <a:p>
            <a:pPr algn="l"/>
            <a:r>
              <a:rPr sz="900" b="0" i="0">
                <a:solidFill>
                  <a:srgbClr val="1E293B"/>
                </a:solidFill>
                <a:latin typeface="Calibri"/>
              </a:rPr>
              <a:t>0..1   sets the osmotic backpressure</a:t>
            </a:r>
          </a:p>
        </p:txBody>
      </p:sp>
      <p:sp>
        <p:nvSpPr>
          <p:cNvPr id="22" name="Rectangle 21"/>
          <p:cNvSpPr/>
          <p:nvPr/>
        </p:nvSpPr>
        <p:spPr>
          <a:xfrm>
            <a:off x="365760" y="1828800"/>
            <a:ext cx="3657600" cy="128016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02920" y="1856232"/>
            <a:ext cx="3383280" cy="228600"/>
          </a:xfrm>
          <a:prstGeom prst="rect">
            <a:avLst/>
          </a:prstGeom>
          <a:noFill/>
        </p:spPr>
        <p:txBody>
          <a:bodyPr wrap="square" lIns="0" tIns="0" rIns="0" bIns="0">
            <a:spAutoFit/>
          </a:bodyPr>
          <a:lstStyle/>
          <a:p>
            <a:pPr algn="l"/>
            <a:r>
              <a:rPr sz="1100" b="1" i="0">
                <a:solidFill>
                  <a:srgbClr val="142144"/>
                </a:solidFill>
                <a:latin typeface="Calibri"/>
              </a:rPr>
              <a:t>WATER FLUX  J_w  [cm/s]</a:t>
            </a:r>
          </a:p>
        </p:txBody>
      </p:sp>
      <p:sp>
        <p:nvSpPr>
          <p:cNvPr id="24" name="TextBox 23"/>
          <p:cNvSpPr txBox="1"/>
          <p:nvPr/>
        </p:nvSpPr>
        <p:spPr>
          <a:xfrm>
            <a:off x="502920" y="2103120"/>
            <a:ext cx="3383280" cy="640080"/>
          </a:xfrm>
          <a:prstGeom prst="rect">
            <a:avLst/>
          </a:prstGeom>
          <a:noFill/>
        </p:spPr>
        <p:txBody>
          <a:bodyPr wrap="square" lIns="0" tIns="0" rIns="0" bIns="0" anchor="ctr">
            <a:spAutoFit/>
          </a:bodyPr>
          <a:lstStyle/>
          <a:p>
            <a:pPr algn="ctr"/>
            <a:r>
              <a:rPr sz="1200" b="0" i="0">
                <a:solidFill>
                  <a:srgbClr val="142144"/>
                </a:solidFill>
                <a:latin typeface="Cambria"/>
              </a:rPr>
              <a:t>J_w · 36000  =  Lₚ · [ ΔP − σ · n_i · R · T · ( c_in − c_H ) ]</a:t>
            </a:r>
          </a:p>
        </p:txBody>
      </p:sp>
      <p:sp>
        <p:nvSpPr>
          <p:cNvPr id="25" name="TextBox 24"/>
          <p:cNvSpPr txBox="1"/>
          <p:nvPr/>
        </p:nvSpPr>
        <p:spPr>
          <a:xfrm>
            <a:off x="502920" y="2788920"/>
            <a:ext cx="3383280" cy="228600"/>
          </a:xfrm>
          <a:prstGeom prst="rect">
            <a:avLst/>
          </a:prstGeom>
          <a:noFill/>
        </p:spPr>
        <p:txBody>
          <a:bodyPr wrap="square" lIns="0" tIns="0" rIns="0" bIns="0">
            <a:spAutoFit/>
          </a:bodyPr>
          <a:lstStyle/>
          <a:p>
            <a:pPr algn="ctr"/>
            <a:r>
              <a:rPr sz="900" b="0" i="1">
                <a:solidFill>
                  <a:srgbClr val="64748B"/>
                </a:solidFill>
                <a:latin typeface="Calibri"/>
              </a:rPr>
              <a:t>m.Jw[n,t] · 36000  ==  m.Lp · (delP − (m.cIn − m.cH) · ni · m.sigma · R · T)</a:t>
            </a:r>
          </a:p>
        </p:txBody>
      </p:sp>
      <p:sp>
        <p:nvSpPr>
          <p:cNvPr id="26" name="Rectangle 25"/>
          <p:cNvSpPr/>
          <p:nvPr/>
        </p:nvSpPr>
        <p:spPr>
          <a:xfrm>
            <a:off x="4297680" y="1828800"/>
            <a:ext cx="3657600" cy="128016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434840" y="1856232"/>
            <a:ext cx="3383280" cy="228600"/>
          </a:xfrm>
          <a:prstGeom prst="rect">
            <a:avLst/>
          </a:prstGeom>
          <a:noFill/>
        </p:spPr>
        <p:txBody>
          <a:bodyPr wrap="square" lIns="0" tIns="0" rIns="0" bIns="0">
            <a:spAutoFit/>
          </a:bodyPr>
          <a:lstStyle/>
          <a:p>
            <a:pPr algn="l"/>
            <a:r>
              <a:rPr sz="1100" b="1" i="0">
                <a:solidFill>
                  <a:srgbClr val="142144"/>
                </a:solidFill>
                <a:latin typeface="Calibri"/>
              </a:rPr>
              <a:t>SOLUTE FLUX  J_s  [mol/(cm²·s)]</a:t>
            </a:r>
          </a:p>
        </p:txBody>
      </p:sp>
      <p:sp>
        <p:nvSpPr>
          <p:cNvPr id="28" name="TextBox 27"/>
          <p:cNvSpPr txBox="1"/>
          <p:nvPr/>
        </p:nvSpPr>
        <p:spPr>
          <a:xfrm>
            <a:off x="4434840" y="2103120"/>
            <a:ext cx="3383280" cy="640080"/>
          </a:xfrm>
          <a:prstGeom prst="rect">
            <a:avLst/>
          </a:prstGeom>
          <a:noFill/>
        </p:spPr>
        <p:txBody>
          <a:bodyPr wrap="square" lIns="0" tIns="0" rIns="0" bIns="0" anchor="ctr">
            <a:spAutoFit/>
          </a:bodyPr>
          <a:lstStyle/>
          <a:p>
            <a:pPr algn="ctr"/>
            <a:r>
              <a:rPr sz="1400" b="0" i="0">
                <a:solidFill>
                  <a:srgbClr val="142144"/>
                </a:solidFill>
                <a:latin typeface="Cambria"/>
              </a:rPr>
              <a:t>J_s · 10000  =  B · ( c_in − c_H )</a:t>
            </a:r>
          </a:p>
        </p:txBody>
      </p:sp>
      <p:sp>
        <p:nvSpPr>
          <p:cNvPr id="29" name="TextBox 28"/>
          <p:cNvSpPr txBox="1"/>
          <p:nvPr/>
        </p:nvSpPr>
        <p:spPr>
          <a:xfrm>
            <a:off x="4434840" y="2788920"/>
            <a:ext cx="3383280" cy="228600"/>
          </a:xfrm>
          <a:prstGeom prst="rect">
            <a:avLst/>
          </a:prstGeom>
          <a:noFill/>
        </p:spPr>
        <p:txBody>
          <a:bodyPr wrap="square" lIns="0" tIns="0" rIns="0" bIns="0">
            <a:spAutoFit/>
          </a:bodyPr>
          <a:lstStyle/>
          <a:p>
            <a:pPr algn="ctr"/>
            <a:r>
              <a:rPr sz="900" b="0" i="1">
                <a:solidFill>
                  <a:srgbClr val="64748B"/>
                </a:solidFill>
                <a:latin typeface="Calibri"/>
              </a:rPr>
              <a:t>single-B form:   m.Js[n,t] · 10000  ==  m.B · (m.cIn − m.cH)</a:t>
            </a:r>
          </a:p>
        </p:txBody>
      </p:sp>
      <p:sp>
        <p:nvSpPr>
          <p:cNvPr id="30" name="Rectangle 29"/>
          <p:cNvSpPr/>
          <p:nvPr/>
        </p:nvSpPr>
        <p:spPr>
          <a:xfrm>
            <a:off x="8229600" y="1828800"/>
            <a:ext cx="3657600" cy="128016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366760" y="1856232"/>
            <a:ext cx="3383280" cy="228600"/>
          </a:xfrm>
          <a:prstGeom prst="rect">
            <a:avLst/>
          </a:prstGeom>
          <a:noFill/>
        </p:spPr>
        <p:txBody>
          <a:bodyPr wrap="square" lIns="0" tIns="0" rIns="0" bIns="0">
            <a:spAutoFit/>
          </a:bodyPr>
          <a:lstStyle/>
          <a:p>
            <a:pPr algn="l"/>
            <a:r>
              <a:rPr sz="1100" b="1" i="0">
                <a:solidFill>
                  <a:srgbClr val="142144"/>
                </a:solidFill>
                <a:latin typeface="Calibri"/>
              </a:rPr>
              <a:t>CONCENTRATION POLARIZATION</a:t>
            </a:r>
          </a:p>
        </p:txBody>
      </p:sp>
      <p:sp>
        <p:nvSpPr>
          <p:cNvPr id="32" name="TextBox 31"/>
          <p:cNvSpPr txBox="1"/>
          <p:nvPr/>
        </p:nvSpPr>
        <p:spPr>
          <a:xfrm>
            <a:off x="8366760" y="2103120"/>
            <a:ext cx="3383280" cy="640080"/>
          </a:xfrm>
          <a:prstGeom prst="rect">
            <a:avLst/>
          </a:prstGeom>
          <a:noFill/>
        </p:spPr>
        <p:txBody>
          <a:bodyPr wrap="square" lIns="0" tIns="0" rIns="0" bIns="0" anchor="ctr">
            <a:spAutoFit/>
          </a:bodyPr>
          <a:lstStyle/>
          <a:p>
            <a:pPr algn="ctr"/>
            <a:r>
              <a:rPr sz="1200" b="0" i="0">
                <a:solidFill>
                  <a:srgbClr val="142144"/>
                </a:solidFill>
                <a:latin typeface="Cambria"/>
              </a:rPr>
              <a:t>c_in  =  ( c_F − c_H ) · exp( J_w / k )  +  c_H</a:t>
            </a:r>
          </a:p>
        </p:txBody>
      </p:sp>
      <p:sp>
        <p:nvSpPr>
          <p:cNvPr id="33" name="TextBox 32"/>
          <p:cNvSpPr txBox="1"/>
          <p:nvPr/>
        </p:nvSpPr>
        <p:spPr>
          <a:xfrm>
            <a:off x="8366760" y="2788920"/>
            <a:ext cx="3383280" cy="228600"/>
          </a:xfrm>
          <a:prstGeom prst="rect">
            <a:avLst/>
          </a:prstGeom>
          <a:noFill/>
        </p:spPr>
        <p:txBody>
          <a:bodyPr wrap="square" lIns="0" tIns="0" rIns="0" bIns="0">
            <a:spAutoFit/>
          </a:bodyPr>
          <a:lstStyle/>
          <a:p>
            <a:pPr algn="ctr"/>
            <a:r>
              <a:rPr sz="900" b="0" i="1">
                <a:solidFill>
                  <a:srgbClr val="64748B"/>
                </a:solidFill>
                <a:latin typeface="Calibri"/>
              </a:rPr>
              <a:t>k  =  0.23 · v^0.57 · D^0.67 / (ν^0.24 · b^0.43),   v = (RPM/60) · π · b</a:t>
            </a:r>
          </a:p>
        </p:txBody>
      </p:sp>
      <p:sp>
        <p:nvSpPr>
          <p:cNvPr id="34" name="Rectangle 33"/>
          <p:cNvSpPr/>
          <p:nvPr/>
        </p:nvSpPr>
        <p:spPr>
          <a:xfrm>
            <a:off x="365760" y="3383280"/>
            <a:ext cx="2693593"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65760" y="3383280"/>
            <a:ext cx="2693593" cy="274320"/>
          </a:xfrm>
          <a:prstGeom prst="rect">
            <a:avLst/>
          </a:prstGeom>
          <a:noFill/>
        </p:spPr>
        <p:txBody>
          <a:bodyPr wrap="square" lIns="0" tIns="0" rIns="0" bIns="0" anchor="ctr">
            <a:spAutoFit/>
          </a:bodyPr>
          <a:lstStyle/>
          <a:p>
            <a:pPr algn="ctr"/>
            <a:r>
              <a:rPr sz="1100" b="1" i="0">
                <a:solidFill>
                  <a:srgbClr val="FFFFFF"/>
                </a:solidFill>
                <a:latin typeface="Calibri"/>
              </a:rPr>
              <a:t>DIAFILTRATE  (constant)</a:t>
            </a:r>
          </a:p>
        </p:txBody>
      </p:sp>
      <p:sp>
        <p:nvSpPr>
          <p:cNvPr id="36" name="Rectangle 35"/>
          <p:cNvSpPr/>
          <p:nvPr/>
        </p:nvSpPr>
        <p:spPr>
          <a:xfrm>
            <a:off x="365760" y="3657600"/>
            <a:ext cx="2693593" cy="265068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57200" y="3749040"/>
            <a:ext cx="2510713" cy="2467800"/>
          </a:xfrm>
          <a:prstGeom prst="rect">
            <a:avLst/>
          </a:prstGeom>
          <a:noFill/>
        </p:spPr>
        <p:txBody>
          <a:bodyPr wrap="square" lIns="0" tIns="0" rIns="0" bIns="0">
            <a:spAutoFit/>
          </a:bodyPr>
          <a:lstStyle/>
          <a:p>
            <a:pPr algn="l"/>
            <a:r>
              <a:rPr sz="1000" b="0" i="0">
                <a:solidFill>
                  <a:srgbClr val="142144"/>
                </a:solidFill>
                <a:latin typeface="Cambria"/>
              </a:rPr>
              <a:t>c_D  =  const  (mM)
M_D  →  pumped in at S
  S  fit during holdup
  (Lag mode only)</a:t>
            </a:r>
          </a:p>
        </p:txBody>
      </p:sp>
      <p:sp>
        <p:nvSpPr>
          <p:cNvPr id="38" name="Rectangle 37"/>
          <p:cNvSpPr/>
          <p:nvPr/>
        </p:nvSpPr>
        <p:spPr>
          <a:xfrm>
            <a:off x="3287953" y="3383280"/>
            <a:ext cx="2693593"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287953" y="3383280"/>
            <a:ext cx="2693593" cy="274320"/>
          </a:xfrm>
          <a:prstGeom prst="rect">
            <a:avLst/>
          </a:prstGeom>
          <a:noFill/>
        </p:spPr>
        <p:txBody>
          <a:bodyPr wrap="square" lIns="0" tIns="0" rIns="0" bIns="0" anchor="ctr">
            <a:spAutoFit/>
          </a:bodyPr>
          <a:lstStyle/>
          <a:p>
            <a:pPr algn="ctr"/>
            <a:r>
              <a:rPr sz="1100" b="1" i="0">
                <a:solidFill>
                  <a:srgbClr val="FFFFFF"/>
                </a:solidFill>
                <a:latin typeface="Calibri"/>
              </a:rPr>
              <a:t>STIRRED CELL  (feed)</a:t>
            </a:r>
          </a:p>
        </p:txBody>
      </p:sp>
      <p:sp>
        <p:nvSpPr>
          <p:cNvPr id="40" name="Rectangle 39"/>
          <p:cNvSpPr/>
          <p:nvPr/>
        </p:nvSpPr>
        <p:spPr>
          <a:xfrm>
            <a:off x="3287953" y="3657600"/>
            <a:ext cx="2693593" cy="265068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3379393" y="3749040"/>
            <a:ext cx="2510713" cy="2467800"/>
          </a:xfrm>
          <a:prstGeom prst="rect">
            <a:avLst/>
          </a:prstGeom>
          <a:noFill/>
        </p:spPr>
        <p:txBody>
          <a:bodyPr wrap="square" lIns="0" tIns="0" rIns="0" bIns="0">
            <a:spAutoFit/>
          </a:bodyPr>
          <a:lstStyle/>
          <a:p>
            <a:pPr algn="l"/>
            <a:r>
              <a:rPr sz="1000" b="0" i="0">
                <a:solidFill>
                  <a:srgbClr val="142144"/>
                </a:solidFill>
                <a:latin typeface="Cambria"/>
              </a:rPr>
              <a:t>dm_F / dt  =  − S₀ − A_m · ρ · J_w     (Lag, post-holdup)
dm_F / dt  =  + S / 3600                          (Lag, in holdup)
dc_F / dt  =  ( A_m · ρ / m_F ) ·
             ( c_D · J_w − J_s )</a:t>
            </a:r>
          </a:p>
        </p:txBody>
      </p:sp>
      <p:sp>
        <p:nvSpPr>
          <p:cNvPr id="42" name="Rectangle 41"/>
          <p:cNvSpPr/>
          <p:nvPr/>
        </p:nvSpPr>
        <p:spPr>
          <a:xfrm>
            <a:off x="6210147" y="3383280"/>
            <a:ext cx="2693593"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210147" y="3383280"/>
            <a:ext cx="2693593" cy="274320"/>
          </a:xfrm>
          <a:prstGeom prst="rect">
            <a:avLst/>
          </a:prstGeom>
          <a:noFill/>
        </p:spPr>
        <p:txBody>
          <a:bodyPr wrap="square" lIns="0" tIns="0" rIns="0" bIns="0" anchor="ctr">
            <a:spAutoFit/>
          </a:bodyPr>
          <a:lstStyle/>
          <a:p>
            <a:pPr algn="ctr"/>
            <a:r>
              <a:rPr sz="1100" b="1" i="0">
                <a:solidFill>
                  <a:srgbClr val="FFFFFF"/>
                </a:solidFill>
                <a:latin typeface="Calibri"/>
              </a:rPr>
              <a:t>HOLDUP  (m_H = 0.25 mL)</a:t>
            </a:r>
          </a:p>
        </p:txBody>
      </p:sp>
      <p:sp>
        <p:nvSpPr>
          <p:cNvPr id="44" name="Rectangle 43"/>
          <p:cNvSpPr/>
          <p:nvPr/>
        </p:nvSpPr>
        <p:spPr>
          <a:xfrm>
            <a:off x="6210147" y="3657600"/>
            <a:ext cx="2693593" cy="265068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301587" y="3749040"/>
            <a:ext cx="2510713" cy="2467800"/>
          </a:xfrm>
          <a:prstGeom prst="rect">
            <a:avLst/>
          </a:prstGeom>
          <a:noFill/>
        </p:spPr>
        <p:txBody>
          <a:bodyPr wrap="square" lIns="0" tIns="0" rIns="0" bIns="0">
            <a:spAutoFit/>
          </a:bodyPr>
          <a:lstStyle/>
          <a:p>
            <a:pPr algn="l"/>
            <a:r>
              <a:rPr sz="1000" b="0" i="0">
                <a:solidFill>
                  <a:srgbClr val="142144"/>
                </a:solidFill>
                <a:latin typeface="Cambria"/>
              </a:rPr>
              <a:t>dc_H / dt  =  ( A_m · ρ / m_H ) ·
             ( J_s − c_H · J_w )
c_in  =  (c_F − c_H) exp(J_w/k)  +  c_H
         ↑ algebraic constraint</a:t>
            </a:r>
          </a:p>
        </p:txBody>
      </p:sp>
      <p:sp>
        <p:nvSpPr>
          <p:cNvPr id="46" name="Rectangle 45"/>
          <p:cNvSpPr/>
          <p:nvPr/>
        </p:nvSpPr>
        <p:spPr>
          <a:xfrm>
            <a:off x="9132341" y="3383280"/>
            <a:ext cx="2693593"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132341" y="3383280"/>
            <a:ext cx="2693593" cy="274320"/>
          </a:xfrm>
          <a:prstGeom prst="rect">
            <a:avLst/>
          </a:prstGeom>
          <a:noFill/>
        </p:spPr>
        <p:txBody>
          <a:bodyPr wrap="square" lIns="0" tIns="0" rIns="0" bIns="0" anchor="ctr">
            <a:spAutoFit/>
          </a:bodyPr>
          <a:lstStyle/>
          <a:p>
            <a:pPr algn="ctr"/>
            <a:r>
              <a:rPr sz="1100" b="1" i="0">
                <a:solidFill>
                  <a:srgbClr val="FFFFFF"/>
                </a:solidFill>
                <a:latin typeface="Calibri"/>
              </a:rPr>
              <a:t>COLLECTING VIAL</a:t>
            </a:r>
          </a:p>
        </p:txBody>
      </p:sp>
      <p:sp>
        <p:nvSpPr>
          <p:cNvPr id="48" name="Rectangle 47"/>
          <p:cNvSpPr/>
          <p:nvPr/>
        </p:nvSpPr>
        <p:spPr>
          <a:xfrm>
            <a:off x="9132341" y="3657600"/>
            <a:ext cx="2693593" cy="265068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223781" y="3749040"/>
            <a:ext cx="2510713" cy="2467800"/>
          </a:xfrm>
          <a:prstGeom prst="rect">
            <a:avLst/>
          </a:prstGeom>
          <a:noFill/>
        </p:spPr>
        <p:txBody>
          <a:bodyPr wrap="square" lIns="0" tIns="0" rIns="0" bIns="0">
            <a:spAutoFit/>
          </a:bodyPr>
          <a:lstStyle/>
          <a:p>
            <a:pPr algn="l"/>
            <a:r>
              <a:rPr sz="1000" b="0" i="0">
                <a:solidFill>
                  <a:srgbClr val="142144"/>
                </a:solidFill>
                <a:latin typeface="Cambria"/>
              </a:rPr>
              <a:t>dm_V / dt  =  A_m · ρ · J_w
d(c_V · m_V)/dt  =  A_m · ρ · J_w · c_H
c_V  =  (c_V · m_V) / m_V
         ↑ avoids 0/0 at vial start</a:t>
            </a:r>
          </a:p>
        </p:txBody>
      </p:sp>
      <p:sp>
        <p:nvSpPr>
          <p:cNvPr id="50" name="TextBox 49"/>
          <p:cNvSpPr txBox="1"/>
          <p:nvPr/>
        </p:nvSpPr>
        <p:spPr>
          <a:xfrm>
            <a:off x="365760" y="6400800"/>
            <a:ext cx="11460240" cy="274320"/>
          </a:xfrm>
          <a:prstGeom prst="rect">
            <a:avLst/>
          </a:prstGeom>
          <a:noFill/>
        </p:spPr>
        <p:txBody>
          <a:bodyPr wrap="square" lIns="0" tIns="0" rIns="0" bIns="0">
            <a:spAutoFit/>
          </a:bodyPr>
          <a:lstStyle/>
          <a:p>
            <a:pPr algn="ctr"/>
            <a:r>
              <a:rPr sz="1200" b="1" i="1">
                <a:solidFill>
                  <a:srgbClr val="21295C"/>
                </a:solidFill>
                <a:latin typeface="Calibri"/>
              </a:rPr>
              <a:t>Parameter estimation problem:   θ̂  =  argmin_θ  Σ ( y_meas − h(x(θ), t) )² / σ_meas²    subject to the DAEs above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B04 · DYNAMIC STATES</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14</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Pyomo states + the cVmV trick (avoiding 0/0)</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14</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STATES</a:t>
            </a:r>
          </a:p>
        </p:txBody>
      </p:sp>
      <p:sp>
        <p:nvSpPr>
          <p:cNvPr id="11" name="Rectangle 10"/>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m.cF   [n_vial, τ]    retentate / feed concentration  [mM]
m.cH   [n_vial, τ]    holdup concentration             [mM]
m.mV   [n_vial, τ]    cumulative vial mass             [g]
m.cVmV [n_vial, τ]    extensive vial solute  c_V · m_V
m.cV   [n_vial, τ]    vial concentration               [mM]
Algebraic constraint:
  m.cV [n,t] · m.mV [n,t]  ==  m.cVmV [n,t]
Domains:
  m.n_vial  =  RangeSet(N_VIAL)
  m.tau     =  ContinuousSet(bounds=(0, 1))
Derivatives (Pyomo DAE):
  m.dcF    =  DerivativeVar(m.cF,    wrt=m.tau)
  m.dcH    =  DerivativeVar(m.cH,    wrt=m.tau)
  m.dmV    =  DerivativeVar(m.mV,    wrt=m.tau)
  m.dcVmV  =  DerivativeVar(m.cVmV,  wrt=m.tau)</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cVmV  AND NOT  cV  DIRECTLY?</a:t>
            </a:r>
          </a:p>
        </p:txBody>
      </p:sp>
      <p:sp>
        <p:nvSpPr>
          <p:cNvPr id="16" name="Rectangle 15"/>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At the start of each vial,  m_V → 0.
Computing  c_V  =  c_VmV / m_V  is singular there.
Trick: evolve the EXTENSIVE quantity first,
then recover the intensive variable algebraically:
  d(c_V · m_V) / dt  =  A_m · ρ · J_w · c_H     (well-defined)
  c_V                 =  (c_V · m_V) / m_V       (algebraic, only
                                                 evaluated where
                                                 m_V &gt; 0)
This is a classic dynamic-modeling pattern: keep ODEs on
extensive quantities (mass, total solute) and use algebraic
constraints for intensive quantities (concentrations).
Numerical payoff: IPOPT does not have to chase  0 / 0  near
τ = 0 in each vial — the constraint is always non-singular.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365760" y="137160"/>
            <a:ext cx="24384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457200" y="137160"/>
            <a:ext cx="2255520" cy="274320"/>
          </a:xfrm>
          <a:prstGeom prst="rect">
            <a:avLst/>
          </a:prstGeom>
          <a:noFill/>
        </p:spPr>
        <p:txBody>
          <a:bodyPr wrap="square" lIns="0" tIns="0" rIns="0" bIns="0" anchor="ctr">
            <a:spAutoFit/>
          </a:bodyPr>
          <a:lstStyle/>
          <a:p>
            <a:pPr algn="l"/>
            <a:r>
              <a:rPr sz="1000" b="1" i="0">
                <a:solidFill>
                  <a:srgbClr val="FFFFFF"/>
                </a:solidFill>
                <a:latin typeface="Calibri"/>
              </a:rPr>
              <a:t>B05 · ODEs</a:t>
            </a:r>
          </a:p>
        </p:txBody>
      </p:sp>
      <p:sp>
        <p:nvSpPr>
          <p:cNvPr id="5" name="TextBox 4"/>
          <p:cNvSpPr txBox="1"/>
          <p:nvPr/>
        </p:nvSpPr>
        <p:spPr>
          <a:xfrm>
            <a:off x="11247120" y="137160"/>
            <a:ext cx="914400" cy="274320"/>
          </a:xfrm>
          <a:prstGeom prst="rect">
            <a:avLst/>
          </a:prstGeom>
          <a:noFill/>
        </p:spPr>
        <p:txBody>
          <a:bodyPr wrap="square" lIns="0" tIns="0" rIns="0" bIns="0">
            <a:spAutoFit/>
          </a:bodyPr>
          <a:lstStyle/>
          <a:p>
            <a:pPr algn="r"/>
            <a:r>
              <a:rPr sz="1000" b="1" i="0">
                <a:solidFill>
                  <a:srgbClr val="21295C"/>
                </a:solidFill>
                <a:latin typeface="Calibri"/>
              </a:rPr>
              <a:t>15</a:t>
            </a:r>
          </a:p>
        </p:txBody>
      </p:sp>
      <p:sp>
        <p:nvSpPr>
          <p:cNvPr id="6" name="TextBox 5"/>
          <p:cNvSpPr txBox="1"/>
          <p:nvPr/>
        </p:nvSpPr>
        <p:spPr>
          <a:xfrm>
            <a:off x="365760" y="502920"/>
            <a:ext cx="11460240" cy="640080"/>
          </a:xfrm>
          <a:prstGeom prst="rect">
            <a:avLst/>
          </a:prstGeom>
          <a:noFill/>
        </p:spPr>
        <p:txBody>
          <a:bodyPr wrap="square" lIns="0" tIns="0" rIns="0" bIns="0">
            <a:spAutoFit/>
          </a:bodyPr>
          <a:lstStyle/>
          <a:p>
            <a:pPr algn="l"/>
            <a:r>
              <a:rPr sz="2600" b="1" i="0">
                <a:solidFill>
                  <a:srgbClr val="21295C"/>
                </a:solidFill>
                <a:latin typeface="Calibri"/>
              </a:rPr>
              <a:t>States, derivatives, and the time-scaling factor</a:t>
            </a:r>
          </a:p>
        </p:txBody>
      </p:sp>
      <p:sp>
        <p:nvSpPr>
          <p:cNvPr id="7" name="Rectangle 6"/>
          <p:cNvSpPr/>
          <p:nvPr/>
        </p:nvSpPr>
        <p:spPr>
          <a:xfrm>
            <a:off x="365760" y="1188720"/>
            <a:ext cx="11460240" cy="228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png"/>
          <p:cNvPicPr>
            <a:picLocks noChangeAspect="1"/>
          </p:cNvPicPr>
          <p:nvPr/>
        </p:nvPicPr>
        <p:blipFill>
          <a:blip r:embed="rId2"/>
          <a:stretch>
            <a:fillRect/>
          </a:stretch>
        </p:blipFill>
        <p:spPr>
          <a:xfrm>
            <a:off x="128584" y="6507526"/>
            <a:ext cx="1209476" cy="282211"/>
          </a:xfrm>
          <a:prstGeom prst="rect">
            <a:avLst/>
          </a:prstGeom>
        </p:spPr>
      </p:pic>
      <p:sp>
        <p:nvSpPr>
          <p:cNvPr id="9" name="TextBox 8"/>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15</a:t>
            </a:r>
          </a:p>
        </p:txBody>
      </p:sp>
      <p:sp>
        <p:nvSpPr>
          <p:cNvPr id="10" name="Rectangle 9"/>
          <p:cNvSpPr/>
          <p:nvPr/>
        </p:nvSpPr>
        <p:spPr>
          <a:xfrm>
            <a:off x="365760" y="1280160"/>
            <a:ext cx="45720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65760" y="1280160"/>
            <a:ext cx="4572000" cy="274320"/>
          </a:xfrm>
          <a:prstGeom prst="rect">
            <a:avLst/>
          </a:prstGeom>
          <a:noFill/>
        </p:spPr>
        <p:txBody>
          <a:bodyPr wrap="square" lIns="0" tIns="0" rIns="0" bIns="0" anchor="ctr">
            <a:spAutoFit/>
          </a:bodyPr>
          <a:lstStyle/>
          <a:p>
            <a:pPr algn="ctr"/>
            <a:r>
              <a:rPr sz="1100" b="1" i="0">
                <a:solidFill>
                  <a:srgbClr val="FFFFFF"/>
                </a:solidFill>
                <a:latin typeface="Calibri"/>
              </a:rPr>
              <a:t>STATES &amp; DERIVATIVES</a:t>
            </a:r>
          </a:p>
        </p:txBody>
      </p:sp>
      <p:sp>
        <p:nvSpPr>
          <p:cNvPr id="12" name="Rectangle 11"/>
          <p:cNvSpPr/>
          <p:nvPr/>
        </p:nvSpPr>
        <p:spPr>
          <a:xfrm>
            <a:off x="365760" y="1554480"/>
            <a:ext cx="4572000" cy="320000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02920" y="1691640"/>
            <a:ext cx="4297680" cy="2925680"/>
          </a:xfrm>
          <a:prstGeom prst="rect">
            <a:avLst/>
          </a:prstGeom>
          <a:noFill/>
        </p:spPr>
        <p:txBody>
          <a:bodyPr wrap="square" lIns="0" tIns="0" rIns="0" bIns="0">
            <a:spAutoFit/>
          </a:bodyPr>
          <a:lstStyle/>
          <a:p>
            <a:pPr algn="l"/>
            <a:r>
              <a:rPr sz="1000" b="0" i="0">
                <a:solidFill>
                  <a:srgbClr val="142144"/>
                </a:solidFill>
                <a:latin typeface="Consolas"/>
              </a:rPr>
              <a:t>m.cF   [n, τ]    retentate / feed   [mM]
m.cH   [n, τ]    holdup             [mM]
m.mV   [n, τ]    cumulative vial mass [g]
m.cVmV [n, τ]    extensive solute   c_V · m_V
m.cV   [n, τ]    vial concentration [mM]
derivatives via Pyomo DAE:
   m.dcF    = DerivativeVar(m.cF,   wrt=m.tau)
   m.dcH    = DerivativeVar(m.cH,   wrt=m.tau)
   m.dmV    = DerivativeVar(m.mV,   wrt=m.tau)
   m.dcVmV  = DerivativeVar(m.cVmV, wrt=m.tau)
algebraic recovery:
   c_V · m_V  =  c_VmV     (well-defined at m_V = 0)</a:t>
            </a:r>
          </a:p>
        </p:txBody>
      </p:sp>
      <p:sp>
        <p:nvSpPr>
          <p:cNvPr id="14" name="Rectangle 13"/>
          <p:cNvSpPr/>
          <p:nvPr/>
        </p:nvSpPr>
        <p:spPr>
          <a:xfrm>
            <a:off x="5181600" y="1280160"/>
            <a:ext cx="6645000" cy="74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318760" y="1307592"/>
            <a:ext cx="6370680" cy="228600"/>
          </a:xfrm>
          <a:prstGeom prst="rect">
            <a:avLst/>
          </a:prstGeom>
          <a:noFill/>
        </p:spPr>
        <p:txBody>
          <a:bodyPr wrap="square" lIns="0" tIns="0" rIns="0" bIns="0">
            <a:spAutoFit/>
          </a:bodyPr>
          <a:lstStyle/>
          <a:p>
            <a:pPr algn="l"/>
            <a:r>
              <a:rPr sz="1100" b="1" i="0">
                <a:solidFill>
                  <a:srgbClr val="142144"/>
                </a:solidFill>
                <a:latin typeface="Calibri"/>
              </a:rPr>
              <a:t>VIAL MASS  d m_V / d t</a:t>
            </a:r>
          </a:p>
        </p:txBody>
      </p:sp>
      <p:sp>
        <p:nvSpPr>
          <p:cNvPr id="16" name="TextBox 15"/>
          <p:cNvSpPr txBox="1"/>
          <p:nvPr/>
        </p:nvSpPr>
        <p:spPr>
          <a:xfrm>
            <a:off x="5318760" y="1554480"/>
            <a:ext cx="6370680" cy="328520"/>
          </a:xfrm>
          <a:prstGeom prst="rect">
            <a:avLst/>
          </a:prstGeom>
          <a:noFill/>
        </p:spPr>
        <p:txBody>
          <a:bodyPr wrap="square" lIns="0" tIns="0" rIns="0" bIns="0" anchor="ctr">
            <a:spAutoFit/>
          </a:bodyPr>
          <a:lstStyle/>
          <a:p>
            <a:pPr algn="ctr"/>
            <a:r>
              <a:rPr sz="1400" b="0" i="0">
                <a:solidFill>
                  <a:srgbClr val="142144"/>
                </a:solidFill>
                <a:latin typeface="Cambria"/>
              </a:rPr>
              <a:t>d m_V / d t   =   A_m · ρ · J_w</a:t>
            </a:r>
          </a:p>
        </p:txBody>
      </p:sp>
      <p:sp>
        <p:nvSpPr>
          <p:cNvPr id="17" name="Rectangle 16"/>
          <p:cNvSpPr/>
          <p:nvPr/>
        </p:nvSpPr>
        <p:spPr>
          <a:xfrm>
            <a:off x="5181600" y="2157320"/>
            <a:ext cx="6645000" cy="74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318760" y="2184752"/>
            <a:ext cx="6370680" cy="228600"/>
          </a:xfrm>
          <a:prstGeom prst="rect">
            <a:avLst/>
          </a:prstGeom>
          <a:noFill/>
        </p:spPr>
        <p:txBody>
          <a:bodyPr wrap="square" lIns="0" tIns="0" rIns="0" bIns="0">
            <a:spAutoFit/>
          </a:bodyPr>
          <a:lstStyle/>
          <a:p>
            <a:pPr algn="l"/>
            <a:r>
              <a:rPr sz="1100" b="1" i="0">
                <a:solidFill>
                  <a:srgbClr val="142144"/>
                </a:solidFill>
                <a:latin typeface="Calibri"/>
              </a:rPr>
              <a:t>VIAL SOLUTE  d (c_V · m_V) / d t</a:t>
            </a:r>
          </a:p>
        </p:txBody>
      </p:sp>
      <p:sp>
        <p:nvSpPr>
          <p:cNvPr id="19" name="TextBox 18"/>
          <p:cNvSpPr txBox="1"/>
          <p:nvPr/>
        </p:nvSpPr>
        <p:spPr>
          <a:xfrm>
            <a:off x="5318760" y="2431640"/>
            <a:ext cx="6370680" cy="328520"/>
          </a:xfrm>
          <a:prstGeom prst="rect">
            <a:avLst/>
          </a:prstGeom>
          <a:noFill/>
        </p:spPr>
        <p:txBody>
          <a:bodyPr wrap="square" lIns="0" tIns="0" rIns="0" bIns="0" anchor="ctr">
            <a:spAutoFit/>
          </a:bodyPr>
          <a:lstStyle/>
          <a:p>
            <a:pPr algn="ctr"/>
            <a:r>
              <a:rPr sz="1400" b="0" i="0">
                <a:solidFill>
                  <a:srgbClr val="142144"/>
                </a:solidFill>
                <a:latin typeface="Cambria"/>
              </a:rPr>
              <a:t>d (c_V · m_V) / d t   =   A_m · ρ · J_w · c_H</a:t>
            </a:r>
          </a:p>
        </p:txBody>
      </p:sp>
      <p:sp>
        <p:nvSpPr>
          <p:cNvPr id="20" name="Rectangle 19"/>
          <p:cNvSpPr/>
          <p:nvPr/>
        </p:nvSpPr>
        <p:spPr>
          <a:xfrm>
            <a:off x="5181600" y="3034480"/>
            <a:ext cx="6645000" cy="74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318760" y="3061912"/>
            <a:ext cx="6370680" cy="228600"/>
          </a:xfrm>
          <a:prstGeom prst="rect">
            <a:avLst/>
          </a:prstGeom>
          <a:noFill/>
        </p:spPr>
        <p:txBody>
          <a:bodyPr wrap="square" lIns="0" tIns="0" rIns="0" bIns="0">
            <a:spAutoFit/>
          </a:bodyPr>
          <a:lstStyle/>
          <a:p>
            <a:pPr algn="l"/>
            <a:r>
              <a:rPr sz="1100" b="1" i="0">
                <a:solidFill>
                  <a:srgbClr val="142144"/>
                </a:solidFill>
                <a:latin typeface="Calibri"/>
              </a:rPr>
              <a:t>HOLDUP CONCENTRATION  d c_H / d t</a:t>
            </a:r>
          </a:p>
        </p:txBody>
      </p:sp>
      <p:sp>
        <p:nvSpPr>
          <p:cNvPr id="22" name="TextBox 21"/>
          <p:cNvSpPr txBox="1"/>
          <p:nvPr/>
        </p:nvSpPr>
        <p:spPr>
          <a:xfrm>
            <a:off x="5318760" y="3308800"/>
            <a:ext cx="6370680" cy="328520"/>
          </a:xfrm>
          <a:prstGeom prst="rect">
            <a:avLst/>
          </a:prstGeom>
          <a:noFill/>
        </p:spPr>
        <p:txBody>
          <a:bodyPr wrap="square" lIns="0" tIns="0" rIns="0" bIns="0" anchor="ctr">
            <a:spAutoFit/>
          </a:bodyPr>
          <a:lstStyle/>
          <a:p>
            <a:pPr algn="ctr"/>
            <a:r>
              <a:rPr sz="1400" b="0" i="0">
                <a:solidFill>
                  <a:srgbClr val="142144"/>
                </a:solidFill>
                <a:latin typeface="Cambria"/>
              </a:rPr>
              <a:t>d c_H / d t   =   ( A_m · ρ / m_H ) · ( J_s − c_H · J_w )</a:t>
            </a:r>
          </a:p>
        </p:txBody>
      </p:sp>
      <p:sp>
        <p:nvSpPr>
          <p:cNvPr id="23" name="Rectangle 22"/>
          <p:cNvSpPr/>
          <p:nvPr/>
        </p:nvSpPr>
        <p:spPr>
          <a:xfrm>
            <a:off x="5181600" y="3911640"/>
            <a:ext cx="6645000" cy="74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318760" y="3939072"/>
            <a:ext cx="6370680" cy="228600"/>
          </a:xfrm>
          <a:prstGeom prst="rect">
            <a:avLst/>
          </a:prstGeom>
          <a:noFill/>
        </p:spPr>
        <p:txBody>
          <a:bodyPr wrap="square" lIns="0" tIns="0" rIns="0" bIns="0">
            <a:spAutoFit/>
          </a:bodyPr>
          <a:lstStyle/>
          <a:p>
            <a:pPr algn="l"/>
            <a:r>
              <a:rPr sz="1100" b="1" i="0">
                <a:solidFill>
                  <a:srgbClr val="142144"/>
                </a:solidFill>
                <a:latin typeface="Calibri"/>
              </a:rPr>
              <a:t>FEED CONCENTRATION  d c_F / d t           (DATA mode)</a:t>
            </a:r>
          </a:p>
        </p:txBody>
      </p:sp>
      <p:sp>
        <p:nvSpPr>
          <p:cNvPr id="25" name="TextBox 24"/>
          <p:cNvSpPr txBox="1"/>
          <p:nvPr/>
        </p:nvSpPr>
        <p:spPr>
          <a:xfrm>
            <a:off x="5318760" y="4185960"/>
            <a:ext cx="6370680" cy="328520"/>
          </a:xfrm>
          <a:prstGeom prst="rect">
            <a:avLst/>
          </a:prstGeom>
          <a:noFill/>
        </p:spPr>
        <p:txBody>
          <a:bodyPr wrap="square" lIns="0" tIns="0" rIns="0" bIns="0" anchor="ctr">
            <a:spAutoFit/>
          </a:bodyPr>
          <a:lstStyle/>
          <a:p>
            <a:pPr algn="ctr"/>
            <a:r>
              <a:rPr sz="1400" b="0" i="0">
                <a:solidFill>
                  <a:srgbClr val="142144"/>
                </a:solidFill>
                <a:latin typeface="Cambria"/>
              </a:rPr>
              <a:t>d c_F / d t   =   ( A_m · ρ / M_F0 ) · ( c_D · J_w − J_s )</a:t>
            </a:r>
          </a:p>
        </p:txBody>
      </p:sp>
      <p:sp>
        <p:nvSpPr>
          <p:cNvPr id="26" name="Rectangle 25"/>
          <p:cNvSpPr/>
          <p:nvPr/>
        </p:nvSpPr>
        <p:spPr>
          <a:xfrm>
            <a:off x="365760" y="5005800"/>
            <a:ext cx="11460240"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65760" y="5120640"/>
            <a:ext cx="11460240" cy="411480"/>
          </a:xfrm>
          <a:prstGeom prst="rect">
            <a:avLst/>
          </a:prstGeom>
          <a:noFill/>
        </p:spPr>
        <p:txBody>
          <a:bodyPr wrap="square" lIns="0" tIns="0" rIns="0" bIns="0">
            <a:spAutoFit/>
          </a:bodyPr>
          <a:lstStyle/>
          <a:p>
            <a:pPr algn="ctr"/>
            <a:r>
              <a:rPr sz="1200" b="1" i="0">
                <a:solidFill>
                  <a:srgbClr val="21295C"/>
                </a:solidFill>
                <a:latin typeface="Calibri"/>
              </a:rPr>
              <a:t>TIME-SCALING FACTOR — chain rule</a:t>
            </a:r>
          </a:p>
        </p:txBody>
      </p:sp>
      <p:sp>
        <p:nvSpPr>
          <p:cNvPr id="28" name="Rectangle 27"/>
          <p:cNvSpPr/>
          <p:nvPr/>
        </p:nvSpPr>
        <p:spPr>
          <a:xfrm>
            <a:off x="365760" y="5532120"/>
            <a:ext cx="11460240" cy="86868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02920" y="5623560"/>
            <a:ext cx="11185920" cy="685800"/>
          </a:xfrm>
          <a:prstGeom prst="rect">
            <a:avLst/>
          </a:prstGeom>
          <a:noFill/>
        </p:spPr>
        <p:txBody>
          <a:bodyPr wrap="square" lIns="0" tIns="0" rIns="0" bIns="0" anchor="ctr">
            <a:spAutoFit/>
          </a:bodyPr>
          <a:lstStyle/>
          <a:p>
            <a:pPr algn="ctr"/>
            <a:r>
              <a:rPr sz="1200" b="0" i="0">
                <a:solidFill>
                  <a:srgbClr val="142144"/>
                </a:solidFill>
                <a:latin typeface="Cambria"/>
              </a:rPr>
              <a:t>Every Pyomo ODE is multiplied by  (TF[n] − TI[n]) / Tauf   because τ ∈ [0,1] is rescaled time:
              dx / dτ   =   (TF − TI) · dx / dt          (chain rule, Tauf = 1)
Drop the factor and the dynamics fit the wrong time-window.</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B06 · TIME SCALING</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16</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τ ∈ [0, 1] per vial — why every ODE has a (TF−TI) factor</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16</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NORMALIZE?</a:t>
            </a:r>
          </a:p>
        </p:txBody>
      </p:sp>
      <p:sp>
        <p:nvSpPr>
          <p:cNvPr id="11" name="Rectangle 10"/>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Different vials run for different durations.
Vial 1 might be 8.6 min, vial 5 might be 4.8 min.
If we worked in physical seconds, each ODE in each vial
would have a different integration window.  Pyomo DAE
wants a single ContinuousSet shared across all vials.
Solution: rescale each vial to τ ∈ [0, 1]:
   t  ∈  [ TI[n] ,  TF[n] ]     →     τ  =  ( t − TI ) / ( TF − TI )
   m.tau  =  ContinuousSet( bounds=(0, Tauf=1) )
Same τ grid is reused for every vial — cleaner discretization,
smaller global problem, better numerical conditioning.</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CHAIN RULE — WHERE THE FACTOR COMES FROM</a:t>
            </a:r>
          </a:p>
        </p:txBody>
      </p:sp>
      <p:sp>
        <p:nvSpPr>
          <p:cNvPr id="16" name="Rectangle 15"/>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  dx / dt   =   ( dx / dτ ) · ( dτ / dt )
  dτ / dt   =   1 / ( TF − TI )
so:
  dx / dτ   =   ( TF − TI ) · ( dx / dt )
That is why every Pyomo ODE in this code is multiplied by
       (TF_dict[n] − TI_dict[n]) / Tauf
It is NOT a free unit-conversion factor — it is the
chain-rule artifact of rescaling time to a unit interval.
Drop it, and IPOPT silently fits the wrong dynamics.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B07 · DAE → NLP</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17</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Backward finite difference, nfe = 300, CasADi initialization</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17</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DISCRETIZATION</a:t>
            </a:r>
          </a:p>
        </p:txBody>
      </p:sp>
      <p:sp>
        <p:nvSpPr>
          <p:cNvPr id="11" name="Rectangle 10"/>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TransformationFactory("dae.finite_difference")
    .apply_to( instance, nfe = 300, scheme = "BACKWARD" )
The continuous ODE  d x / d τ  =  f ( x, θ )  becomes:
  ( x[k] − x[k−1] ) / Δτ   =   f ( x[k], θ )         k = 1 .. nfe
with  Δτ  =  1 / nfe  =  1 / 300.
Number of NLP variables ≈
   N_VIAL  ×  ( nfe + 1 )  ×  N_states
   = 11 × 301 × 7 ≈ 23,000 plus θ.
The DAE is replaced by ~20,000 algebraic equality constraints.</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THIS BEATS sim+opt</a:t>
            </a:r>
          </a:p>
        </p:txBody>
      </p:sp>
      <p:sp>
        <p:nvSpPr>
          <p:cNvPr id="16" name="Rectangle 15"/>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Naive approach (NOT used here):
   for each θ proposal:
       y_sim = scipy.integrate.solve_ivp( ODE, θ )
       obj   = ‖ y_sim − y_meas ‖²
   minimize  obj  via scipy.optimize
Problems:  derivatives are noisy (finite-diff through
the integrator), nested loops are slow, no guarantee
of constraint satisfaction during the search.
Simultaneous dynamic optimization (what this code does):
   min   Obj(θ, x(·))
   s.t.  every ODE point IS an equality constraint
         every initial / boundary condition IS a constraint
         parameter bounds via Var( bounds = ... )
IPOPT moves θ AND the state grid jointly — exact gradients
via automatic differentiation through Pyomo + ASL.
CasADi simulator gives a warm start before IPOPT runs.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365760" y="137160"/>
            <a:ext cx="24384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457200" y="137160"/>
            <a:ext cx="2255520" cy="274320"/>
          </a:xfrm>
          <a:prstGeom prst="rect">
            <a:avLst/>
          </a:prstGeom>
          <a:noFill/>
        </p:spPr>
        <p:txBody>
          <a:bodyPr wrap="square" lIns="0" tIns="0" rIns="0" bIns="0" anchor="ctr">
            <a:spAutoFit/>
          </a:bodyPr>
          <a:lstStyle/>
          <a:p>
            <a:pPr algn="l"/>
            <a:r>
              <a:rPr sz="1000" b="1" i="0">
                <a:solidFill>
                  <a:srgbClr val="FFFFFF"/>
                </a:solidFill>
                <a:latin typeface="Calibri"/>
              </a:rPr>
              <a:t>B08 · WSSE OBJECTIVE</a:t>
            </a:r>
          </a:p>
        </p:txBody>
      </p:sp>
      <p:sp>
        <p:nvSpPr>
          <p:cNvPr id="5" name="TextBox 4"/>
          <p:cNvSpPr txBox="1"/>
          <p:nvPr/>
        </p:nvSpPr>
        <p:spPr>
          <a:xfrm>
            <a:off x="11247120" y="137160"/>
            <a:ext cx="914400" cy="274320"/>
          </a:xfrm>
          <a:prstGeom prst="rect">
            <a:avLst/>
          </a:prstGeom>
          <a:noFill/>
        </p:spPr>
        <p:txBody>
          <a:bodyPr wrap="square" lIns="0" tIns="0" rIns="0" bIns="0">
            <a:spAutoFit/>
          </a:bodyPr>
          <a:lstStyle/>
          <a:p>
            <a:pPr algn="r"/>
            <a:r>
              <a:rPr sz="1000" b="1" i="0">
                <a:solidFill>
                  <a:srgbClr val="21295C"/>
                </a:solidFill>
                <a:latin typeface="Calibri"/>
              </a:rPr>
              <a:t>18</a:t>
            </a:r>
          </a:p>
        </p:txBody>
      </p:sp>
      <p:sp>
        <p:nvSpPr>
          <p:cNvPr id="6" name="TextBox 5"/>
          <p:cNvSpPr txBox="1"/>
          <p:nvPr/>
        </p:nvSpPr>
        <p:spPr>
          <a:xfrm>
            <a:off x="365760" y="502920"/>
            <a:ext cx="11460240" cy="640080"/>
          </a:xfrm>
          <a:prstGeom prst="rect">
            <a:avLst/>
          </a:prstGeom>
          <a:noFill/>
        </p:spPr>
        <p:txBody>
          <a:bodyPr wrap="square" lIns="0" tIns="0" rIns="0" bIns="0">
            <a:spAutoFit/>
          </a:bodyPr>
          <a:lstStyle/>
          <a:p>
            <a:pPr algn="l"/>
            <a:r>
              <a:rPr sz="2600" b="1" i="0">
                <a:solidFill>
                  <a:srgbClr val="21295C"/>
                </a:solidFill>
                <a:latin typeface="Calibri"/>
              </a:rPr>
              <a:t>Weighted least squares — what IPOPT actually minimizes</a:t>
            </a:r>
          </a:p>
        </p:txBody>
      </p:sp>
      <p:sp>
        <p:nvSpPr>
          <p:cNvPr id="7" name="Rectangle 6"/>
          <p:cNvSpPr/>
          <p:nvPr/>
        </p:nvSpPr>
        <p:spPr>
          <a:xfrm>
            <a:off x="365760" y="1188720"/>
            <a:ext cx="11460240" cy="228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png"/>
          <p:cNvPicPr>
            <a:picLocks noChangeAspect="1"/>
          </p:cNvPicPr>
          <p:nvPr/>
        </p:nvPicPr>
        <p:blipFill>
          <a:blip r:embed="rId2"/>
          <a:stretch>
            <a:fillRect/>
          </a:stretch>
        </p:blipFill>
        <p:spPr>
          <a:xfrm>
            <a:off x="128584" y="6507526"/>
            <a:ext cx="1209476" cy="282211"/>
          </a:xfrm>
          <a:prstGeom prst="rect">
            <a:avLst/>
          </a:prstGeom>
        </p:spPr>
      </p:pic>
      <p:sp>
        <p:nvSpPr>
          <p:cNvPr id="9" name="TextBox 8"/>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18</a:t>
            </a:r>
          </a:p>
        </p:txBody>
      </p:sp>
      <p:sp>
        <p:nvSpPr>
          <p:cNvPr id="10" name="Rectangle 9"/>
          <p:cNvSpPr/>
          <p:nvPr/>
        </p:nvSpPr>
        <p:spPr>
          <a:xfrm>
            <a:off x="365760" y="1280160"/>
            <a:ext cx="11460240" cy="164592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 y="1371600"/>
            <a:ext cx="11185920" cy="274320"/>
          </a:xfrm>
          <a:prstGeom prst="rect">
            <a:avLst/>
          </a:prstGeom>
          <a:noFill/>
        </p:spPr>
        <p:txBody>
          <a:bodyPr wrap="square" lIns="0" tIns="0" rIns="0" bIns="0">
            <a:spAutoFit/>
          </a:bodyPr>
          <a:lstStyle/>
          <a:p>
            <a:pPr algn="l"/>
            <a:r>
              <a:rPr sz="1100" b="1" i="0">
                <a:solidFill>
                  <a:srgbClr val="142144"/>
                </a:solidFill>
                <a:latin typeface="Calibri"/>
              </a:rPr>
              <a:t>WSSE OBJECTIVE  Obj(θ ; D)</a:t>
            </a:r>
          </a:p>
        </p:txBody>
      </p:sp>
      <p:sp>
        <p:nvSpPr>
          <p:cNvPr id="12" name="TextBox 11"/>
          <p:cNvSpPr txBox="1"/>
          <p:nvPr/>
        </p:nvSpPr>
        <p:spPr>
          <a:xfrm>
            <a:off x="502920" y="1691640"/>
            <a:ext cx="11185920" cy="990600"/>
          </a:xfrm>
          <a:prstGeom prst="rect">
            <a:avLst/>
          </a:prstGeom>
          <a:noFill/>
        </p:spPr>
        <p:txBody>
          <a:bodyPr wrap="square" lIns="0" tIns="0" rIns="0" bIns="0">
            <a:spAutoFit/>
          </a:bodyPr>
          <a:lstStyle/>
          <a:p>
            <a:pPr algn="ctr"/>
            <a:r>
              <a:rPr sz="1300" b="0" i="0">
                <a:solidFill>
                  <a:srgbClr val="142144"/>
                </a:solidFill>
                <a:latin typeface="Cambria"/>
              </a:rPr>
              <a:t>10⁴ · [   Σ_i  ( (m_pred_i − m_meas_i) / σ_m )² / N_m
       +   Σ_j  ( (c_V_j − c_V_j_meas) / (0.03 · c_V_j_meas) )² / N_v
       +   Σ_k  ( (c_F_k − c_F_k_meas) / (0.003 · c_F_k_meas) )² / N_r
       +   R15:  ( (c_F[N, τ_last] − ICP_final) / (0.003 · ICP_final) )² ]</a:t>
            </a:r>
          </a:p>
        </p:txBody>
      </p:sp>
      <p:sp>
        <p:nvSpPr>
          <p:cNvPr id="13" name="TextBox 12"/>
          <p:cNvSpPr txBox="1"/>
          <p:nvPr/>
        </p:nvSpPr>
        <p:spPr>
          <a:xfrm>
            <a:off x="502920" y="2742480"/>
            <a:ext cx="11185920" cy="182880"/>
          </a:xfrm>
          <a:prstGeom prst="rect">
            <a:avLst/>
          </a:prstGeom>
          <a:noFill/>
        </p:spPr>
        <p:txBody>
          <a:bodyPr wrap="square" lIns="0" tIns="0" rIns="0" bIns="0">
            <a:spAutoFit/>
          </a:bodyPr>
          <a:lstStyle/>
          <a:p>
            <a:pPr algn="ctr"/>
            <a:r>
              <a:rPr sz="900" b="0" i="1">
                <a:solidFill>
                  <a:srgbClr val="64748B"/>
                </a:solidFill>
                <a:latin typeface="Calibri"/>
              </a:rPr>
              <a:t>σ_m  =  mass_scale_g  =  0.01 g  (R13, frequentist balance precision; salt-independent)</a:t>
            </a:r>
          </a:p>
        </p:txBody>
      </p:sp>
      <p:sp>
        <p:nvSpPr>
          <p:cNvPr id="14" name="Rectangle 13"/>
          <p:cNvSpPr/>
          <p:nvPr/>
        </p:nvSpPr>
        <p:spPr>
          <a:xfrm>
            <a:off x="365760" y="3017520"/>
            <a:ext cx="3657600" cy="150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3044952"/>
            <a:ext cx="3383280" cy="228600"/>
          </a:xfrm>
          <a:prstGeom prst="rect">
            <a:avLst/>
          </a:prstGeom>
          <a:noFill/>
        </p:spPr>
        <p:txBody>
          <a:bodyPr wrap="square" lIns="0" tIns="0" rIns="0" bIns="0">
            <a:spAutoFit/>
          </a:bodyPr>
          <a:lstStyle/>
          <a:p>
            <a:pPr algn="l"/>
            <a:r>
              <a:rPr sz="1100" b="1" i="0">
                <a:solidFill>
                  <a:srgbClr val="142144"/>
                </a:solidFill>
                <a:latin typeface="Calibri"/>
              </a:rPr>
              <a:t>MASS TERM</a:t>
            </a:r>
          </a:p>
        </p:txBody>
      </p:sp>
      <p:sp>
        <p:nvSpPr>
          <p:cNvPr id="16" name="TextBox 15"/>
          <p:cNvSpPr txBox="1"/>
          <p:nvPr/>
        </p:nvSpPr>
        <p:spPr>
          <a:xfrm>
            <a:off x="502920" y="3291840"/>
            <a:ext cx="3383280" cy="859920"/>
          </a:xfrm>
          <a:prstGeom prst="rect">
            <a:avLst/>
          </a:prstGeom>
          <a:noFill/>
        </p:spPr>
        <p:txBody>
          <a:bodyPr wrap="square" lIns="0" tIns="0" rIns="0" bIns="0" anchor="ctr">
            <a:spAutoFit/>
          </a:bodyPr>
          <a:lstStyle/>
          <a:p>
            <a:pPr algn="ctr"/>
            <a:r>
              <a:rPr sz="1400" b="0" i="0">
                <a:solidFill>
                  <a:srgbClr val="142144"/>
                </a:solidFill>
                <a:latin typeface="Cambria"/>
              </a:rPr>
              <a:t>( Δm / σ_m )² / N_m</a:t>
            </a:r>
          </a:p>
        </p:txBody>
      </p:sp>
      <p:sp>
        <p:nvSpPr>
          <p:cNvPr id="17" name="TextBox 16"/>
          <p:cNvSpPr txBox="1"/>
          <p:nvPr/>
        </p:nvSpPr>
        <p:spPr>
          <a:xfrm>
            <a:off x="502920" y="4197480"/>
            <a:ext cx="3383280" cy="228600"/>
          </a:xfrm>
          <a:prstGeom prst="rect">
            <a:avLst/>
          </a:prstGeom>
          <a:noFill/>
        </p:spPr>
        <p:txBody>
          <a:bodyPr wrap="square" lIns="0" tIns="0" rIns="0" bIns="0">
            <a:spAutoFit/>
          </a:bodyPr>
          <a:lstStyle/>
          <a:p>
            <a:pPr algn="ctr"/>
            <a:r>
              <a:rPr sz="900" b="0" i="1">
                <a:solidFill>
                  <a:srgbClr val="64748B"/>
                </a:solidFill>
                <a:latin typeface="Calibri"/>
              </a:rPr>
              <a:t>σ_m = 0.01 g is the analytical-balance precision.
Under N(0, σ_m²) noise, this is MLE up to a constant.</a:t>
            </a:r>
          </a:p>
        </p:txBody>
      </p:sp>
      <p:sp>
        <p:nvSpPr>
          <p:cNvPr id="18" name="Rectangle 17"/>
          <p:cNvSpPr/>
          <p:nvPr/>
        </p:nvSpPr>
        <p:spPr>
          <a:xfrm>
            <a:off x="4297680" y="3017520"/>
            <a:ext cx="3657600" cy="150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34840" y="3044952"/>
            <a:ext cx="3383280" cy="228600"/>
          </a:xfrm>
          <a:prstGeom prst="rect">
            <a:avLst/>
          </a:prstGeom>
          <a:noFill/>
        </p:spPr>
        <p:txBody>
          <a:bodyPr wrap="square" lIns="0" tIns="0" rIns="0" bIns="0">
            <a:spAutoFit/>
          </a:bodyPr>
          <a:lstStyle/>
          <a:p>
            <a:pPr algn="l"/>
            <a:r>
              <a:rPr sz="1100" b="1" i="0">
                <a:solidFill>
                  <a:srgbClr val="142144"/>
                </a:solidFill>
                <a:latin typeface="Calibri"/>
              </a:rPr>
              <a:t>VIAL CONC. TERM</a:t>
            </a:r>
          </a:p>
        </p:txBody>
      </p:sp>
      <p:sp>
        <p:nvSpPr>
          <p:cNvPr id="20" name="TextBox 19"/>
          <p:cNvSpPr txBox="1"/>
          <p:nvPr/>
        </p:nvSpPr>
        <p:spPr>
          <a:xfrm>
            <a:off x="4434840" y="3291840"/>
            <a:ext cx="3383280" cy="859920"/>
          </a:xfrm>
          <a:prstGeom prst="rect">
            <a:avLst/>
          </a:prstGeom>
          <a:noFill/>
        </p:spPr>
        <p:txBody>
          <a:bodyPr wrap="square" lIns="0" tIns="0" rIns="0" bIns="0" anchor="ctr">
            <a:spAutoFit/>
          </a:bodyPr>
          <a:lstStyle/>
          <a:p>
            <a:pPr algn="ctr"/>
            <a:r>
              <a:rPr sz="1400" b="0" i="0">
                <a:solidFill>
                  <a:srgbClr val="142144"/>
                </a:solidFill>
                <a:latin typeface="Cambria"/>
              </a:rPr>
              <a:t>( Δc_V / (0.03 · c_V_meas) )² / N_v</a:t>
            </a:r>
          </a:p>
        </p:txBody>
      </p:sp>
      <p:sp>
        <p:nvSpPr>
          <p:cNvPr id="21" name="TextBox 20"/>
          <p:cNvSpPr txBox="1"/>
          <p:nvPr/>
        </p:nvSpPr>
        <p:spPr>
          <a:xfrm>
            <a:off x="4434840" y="4197480"/>
            <a:ext cx="3383280" cy="228600"/>
          </a:xfrm>
          <a:prstGeom prst="rect">
            <a:avLst/>
          </a:prstGeom>
          <a:noFill/>
        </p:spPr>
        <p:txBody>
          <a:bodyPr wrap="square" lIns="0" tIns="0" rIns="0" bIns="0">
            <a:spAutoFit/>
          </a:bodyPr>
          <a:lstStyle/>
          <a:p>
            <a:pPr algn="ctr"/>
            <a:r>
              <a:rPr sz="900" b="0" i="1">
                <a:solidFill>
                  <a:srgbClr val="64748B"/>
                </a:solidFill>
                <a:latin typeface="Calibri"/>
              </a:rPr>
              <a:t>3 % relative uncertainty on ICP-OES per-vial reads.
Hits the optimizer at τ = τ_last for each real vial.</a:t>
            </a:r>
          </a:p>
        </p:txBody>
      </p:sp>
      <p:sp>
        <p:nvSpPr>
          <p:cNvPr id="22" name="Rectangle 21"/>
          <p:cNvSpPr/>
          <p:nvPr/>
        </p:nvSpPr>
        <p:spPr>
          <a:xfrm>
            <a:off x="8229600" y="3017520"/>
            <a:ext cx="3657600" cy="150000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366760" y="3044952"/>
            <a:ext cx="3383280" cy="228600"/>
          </a:xfrm>
          <a:prstGeom prst="rect">
            <a:avLst/>
          </a:prstGeom>
          <a:noFill/>
        </p:spPr>
        <p:txBody>
          <a:bodyPr wrap="square" lIns="0" tIns="0" rIns="0" bIns="0">
            <a:spAutoFit/>
          </a:bodyPr>
          <a:lstStyle/>
          <a:p>
            <a:pPr algn="l"/>
            <a:r>
              <a:rPr sz="1100" b="1" i="0">
                <a:solidFill>
                  <a:srgbClr val="142144"/>
                </a:solidFill>
                <a:latin typeface="Calibri"/>
              </a:rPr>
              <a:t>RETENTATE TERM   ← strict</a:t>
            </a:r>
          </a:p>
        </p:txBody>
      </p:sp>
      <p:sp>
        <p:nvSpPr>
          <p:cNvPr id="24" name="TextBox 23"/>
          <p:cNvSpPr txBox="1"/>
          <p:nvPr/>
        </p:nvSpPr>
        <p:spPr>
          <a:xfrm>
            <a:off x="8366760" y="3291840"/>
            <a:ext cx="3383280" cy="859920"/>
          </a:xfrm>
          <a:prstGeom prst="rect">
            <a:avLst/>
          </a:prstGeom>
          <a:noFill/>
        </p:spPr>
        <p:txBody>
          <a:bodyPr wrap="square" lIns="0" tIns="0" rIns="0" bIns="0" anchor="ctr">
            <a:spAutoFit/>
          </a:bodyPr>
          <a:lstStyle/>
          <a:p>
            <a:pPr algn="ctr"/>
            <a:r>
              <a:rPr sz="1400" b="0" i="0">
                <a:solidFill>
                  <a:srgbClr val="142144"/>
                </a:solidFill>
                <a:latin typeface="Cambria"/>
              </a:rPr>
              <a:t>( Δc_F / (0.003 · c_F_meas) )² / N_r</a:t>
            </a:r>
          </a:p>
        </p:txBody>
      </p:sp>
      <p:sp>
        <p:nvSpPr>
          <p:cNvPr id="25" name="TextBox 24"/>
          <p:cNvSpPr txBox="1"/>
          <p:nvPr/>
        </p:nvSpPr>
        <p:spPr>
          <a:xfrm>
            <a:off x="8366760" y="4197480"/>
            <a:ext cx="3383280" cy="228600"/>
          </a:xfrm>
          <a:prstGeom prst="rect">
            <a:avLst/>
          </a:prstGeom>
          <a:noFill/>
        </p:spPr>
        <p:txBody>
          <a:bodyPr wrap="square" lIns="0" tIns="0" rIns="0" bIns="0">
            <a:spAutoFit/>
          </a:bodyPr>
          <a:lstStyle/>
          <a:p>
            <a:pPr algn="ctr"/>
            <a:r>
              <a:rPr sz="900" b="0" i="1">
                <a:solidFill>
                  <a:srgbClr val="64748B"/>
                </a:solidFill>
                <a:latin typeface="Calibri"/>
              </a:rPr>
              <a:t>0.3 % relative uncertainty on in-line conductivity.
10× tighter than vial → cF dominates the WSSE.</a:t>
            </a:r>
          </a:p>
        </p:txBody>
      </p:sp>
      <p:sp>
        <p:nvSpPr>
          <p:cNvPr id="26" name="Rectangle 25"/>
          <p:cNvSpPr/>
          <p:nvPr/>
        </p:nvSpPr>
        <p:spPr>
          <a:xfrm>
            <a:off x="365760" y="4700520"/>
            <a:ext cx="11460240" cy="155448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02920" y="4837680"/>
            <a:ext cx="11185920" cy="274320"/>
          </a:xfrm>
          <a:prstGeom prst="rect">
            <a:avLst/>
          </a:prstGeom>
          <a:noFill/>
        </p:spPr>
        <p:txBody>
          <a:bodyPr wrap="square" lIns="0" tIns="0" rIns="0" bIns="0">
            <a:spAutoFit/>
          </a:bodyPr>
          <a:lstStyle/>
          <a:p>
            <a:pPr algn="l"/>
            <a:r>
              <a:rPr sz="1100" b="1" i="0">
                <a:solidFill>
                  <a:srgbClr val="142144"/>
                </a:solidFill>
                <a:latin typeface="Calibri"/>
              </a:rPr>
              <a:t>INTERPOLATION ONTO MEASUREMENT TIMES</a:t>
            </a:r>
          </a:p>
        </p:txBody>
      </p:sp>
      <p:sp>
        <p:nvSpPr>
          <p:cNvPr id="28" name="TextBox 27"/>
          <p:cNvSpPr txBox="1"/>
          <p:nvPr/>
        </p:nvSpPr>
        <p:spPr>
          <a:xfrm>
            <a:off x="502920" y="5157720"/>
            <a:ext cx="11185920" cy="960120"/>
          </a:xfrm>
          <a:prstGeom prst="rect">
            <a:avLst/>
          </a:prstGeom>
          <a:noFill/>
        </p:spPr>
        <p:txBody>
          <a:bodyPr wrap="square" lIns="0" tIns="0" rIns="0" bIns="0">
            <a:spAutoFit/>
          </a:bodyPr>
          <a:lstStyle/>
          <a:p>
            <a:pPr algn="l"/>
            <a:r>
              <a:rPr sz="1100" b="0" i="0">
                <a:solidFill>
                  <a:srgbClr val="142144"/>
                </a:solidFill>
                <a:latin typeface="Cambria"/>
              </a:rPr>
              <a:t>IPOPT discretizes onto its own τ-grid.  Measurements live at experimental timestamps t_j.
For each (n_vial, t_j_scaled), find bracketing nodes τ[k], τ[k+1] and linearly interpolate:
     ŷ ( t_j )   =   y[k]  +  ( y[k+1] − y[k] ) · ( t_j − τ[k] ) / ( τ[k+1] − τ[k] )
Residuals are evaluated at ŷ(t_j), not at grid nodes.  Same trick DATA2 utility.py uses.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B09 · IPOPT + MULTISTART</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19</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Local NLP solver wrapped in a Latin-Hypercube global heuristic</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19</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IPOPT call</a:t>
            </a:r>
          </a:p>
        </p:txBody>
      </p:sp>
      <p:sp>
        <p:nvSpPr>
          <p:cNvPr id="11" name="Rectangle 10"/>
          <p:cNvSpPr/>
          <p:nvPr/>
        </p:nvSpPr>
        <p:spPr>
          <a:xfrm>
            <a:off x="45720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1779376"/>
          </a:xfrm>
          <a:prstGeom prst="rect">
            <a:avLst/>
          </a:prstGeom>
          <a:noFill/>
        </p:spPr>
        <p:txBody>
          <a:bodyPr wrap="square" lIns="0" tIns="0" rIns="0" bIns="0">
            <a:spAutoFit/>
          </a:bodyPr>
          <a:lstStyle/>
          <a:p>
            <a:pPr algn="l"/>
            <a:r>
              <a:rPr sz="1000" b="0" i="0">
                <a:solidFill>
                  <a:srgbClr val="1E293B"/>
                </a:solidFill>
                <a:latin typeface="Consolas"/>
              </a:rPr>
              <a:t>solver = _build_ipopt_solver()
solver.options["max_iter"]        =  3000
solver.options["linear_solver"]   =  ma57 / mumps
results = solver.solve(instance, tee=True)
On non-optimal termination, retry with MUMPS + more iter:
  solver.options["linear_solver"]  =  "mumps"
  solver.options["max_iter"]       =  5000
  solver.solve(instance, tee=True)</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LHS multistart  (R10 + R12)</a:t>
            </a:r>
          </a:p>
        </p:txBody>
      </p:sp>
      <p:sp>
        <p:nvSpPr>
          <p:cNvPr id="16" name="Rectangle 15"/>
          <p:cNvSpPr/>
          <p:nvPr/>
        </p:nvSpPr>
        <p:spPr>
          <a:xfrm>
            <a:off x="626364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1779376"/>
          </a:xfrm>
          <a:prstGeom prst="rect">
            <a:avLst/>
          </a:prstGeom>
          <a:noFill/>
        </p:spPr>
        <p:txBody>
          <a:bodyPr wrap="square" lIns="0" tIns="0" rIns="0" bIns="0">
            <a:spAutoFit/>
          </a:bodyPr>
          <a:lstStyle/>
          <a:p>
            <a:pPr algn="l"/>
            <a:r>
              <a:rPr sz="1000" b="0" i="0">
                <a:solidFill>
                  <a:srgbClr val="1E293B"/>
                </a:solidFill>
                <a:latin typeface="Consolas"/>
              </a:rPr>
              <a:t>lhs  =  _lhs_unit_hypercube( N, d, seed = 13 )
for k in 1 .. N:
    θ_k  =  θ_lo  +  lhs[k, :]  ·  ( θ_hi − θ_lo )
    fit_k =  solve_model( θ_k )
best  =  argmin_k  Obj( fit_k )   over optimal-status runs
Default  N  =  5     (runfile accepts 5 .. 14)
Lp    box  =  linear [ 5, 8 ]   (R12 narrowing)
B     box  =  log    [ 0.01, 5 ] μm/s
σ     box  =  linear ( 0.10, 0.95 )   corners excluded</a:t>
            </a:r>
          </a:p>
        </p:txBody>
      </p:sp>
      <p:sp>
        <p:nvSpPr>
          <p:cNvPr id="19" name="Rectangle 18"/>
          <p:cNvSpPr/>
          <p:nvPr/>
        </p:nvSpPr>
        <p:spPr>
          <a:xfrm>
            <a:off x="457200" y="37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37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OBSERVED OBJECTIVE PROGRESSION  (NF270_MC2 / NaCl)</a:t>
            </a:r>
          </a:p>
        </p:txBody>
      </p:sp>
      <p:sp>
        <p:nvSpPr>
          <p:cNvPr id="21" name="Rectangle 20"/>
          <p:cNvSpPr/>
          <p:nvPr/>
        </p:nvSpPr>
        <p:spPr>
          <a:xfrm>
            <a:off x="457200" y="4083080"/>
            <a:ext cx="1129284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57200" y="40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1520" y="4110512"/>
            <a:ext cx="10927080" cy="1779376"/>
          </a:xfrm>
          <a:prstGeom prst="rect">
            <a:avLst/>
          </a:prstGeom>
          <a:noFill/>
        </p:spPr>
        <p:txBody>
          <a:bodyPr wrap="square" lIns="0" tIns="0" rIns="0" bIns="0">
            <a:spAutoFit/>
          </a:bodyPr>
          <a:lstStyle/>
          <a:p>
            <a:pPr algn="l"/>
            <a:r>
              <a:rPr sz="1000" b="0" i="0">
                <a:solidFill>
                  <a:srgbClr val="1E293B"/>
                </a:solidFill>
                <a:latin typeface="Consolas"/>
              </a:rPr>
              <a:t>Single start                                Obj  =  2.04 × 10⁸     basin: Mode B  (σ → 1)
LHS multistart  (R10, Lp ∈ [5, 14])          Obj  =  4.93 × 10⁷     basin: Mode C  (σ → 0)
LHS multistart  (R11 quadrature mass)        Obj  =  6.08 × 10⁹     basin: Mode B  (σ → 1)
LHS narrowed   (R12, Lp ∈ [5, 8]) + R13      Obj  =  4.93 × 10⁷     basin: Mode C  (σ → 0)
LHS narrowed + R14/R15 Final-Tube anchor    Obj  =  TBD              (next run)
The Pyomo Var bounds are wider than the LHS box (Lp ∈ (0.5, 50), σ ∈ (0,1)) — LHS only
controls where trial starts land, not where IPOPT is allowed to terminate.  Local optimum.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B10 · MASS-LITMUS BASELINE</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20</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σ = 0 closed-form Lp regression — convex sanity check</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20</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DERIVATION</a:t>
            </a:r>
          </a:p>
        </p:txBody>
      </p:sp>
      <p:sp>
        <p:nvSpPr>
          <p:cNvPr id="11" name="Rectangle 10"/>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Set σ = 0.  The Jw equation becomes algebraic:
   Jw  =  Lp · ΔP / 36000          (constant in time)
The vial-mass ODE simplifies:
   d mV / dt  =  Am · ρ · Jw      =  Am · ρ · Lp · ΔP / 36000
Integrating:
   mV ( t )  =  s  ·  ( t − t_0 )
   s  =  ( Am · ρ · Lp · ΔP ) / 36000
   ⇒    Lp  =  s · 36000 / ( Am · ρ · ΔP )
All we need is the slope s of mass vs time.</a:t>
            </a:r>
          </a:p>
        </p:txBody>
      </p:sp>
      <p:sp>
        <p:nvSpPr>
          <p:cNvPr id="14" name="Rectangle 1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SLOPE FIT  (zero-intercept least squares)</a:t>
            </a:r>
          </a:p>
        </p:txBody>
      </p:sp>
      <p:sp>
        <p:nvSpPr>
          <p:cNvPr id="16" name="Rectangle 15"/>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Treat every real-vial sample as an observation of:
   mV_i  =  s  ·  Δt_i  +  noise           (no intercept)
OLS solution:
   ŝ  =  Σ_i ( Δt_i · mV_i )   /   Σ_i ( Δt_i )²
Implementation:
   solve_mass_balance_only( data_stru ):
       Δt  =  time − vial_start_time
       ŝ   =  sum(Δt · mass) / sum(Δt²)
       Lp̂ =  ŝ · 36000 / (Am · ρ · ΔP)
       return fit_stru, sim_stru
No Pyomo, no IPOPT.  Always optimal by construction.
If THIS fit fails, the issue is data / units / time alignment,
not the σ-corner landscape.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365760" y="137160"/>
            <a:ext cx="24384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457200" y="137160"/>
            <a:ext cx="2255520" cy="274320"/>
          </a:xfrm>
          <a:prstGeom prst="rect">
            <a:avLst/>
          </a:prstGeom>
          <a:noFill/>
        </p:spPr>
        <p:txBody>
          <a:bodyPr wrap="square" lIns="0" tIns="0" rIns="0" bIns="0" anchor="ctr">
            <a:spAutoFit/>
          </a:bodyPr>
          <a:lstStyle/>
          <a:p>
            <a:pPr algn="l"/>
            <a:r>
              <a:rPr sz="1000" b="1" i="0">
                <a:solidFill>
                  <a:srgbClr val="FFFFFF"/>
                </a:solidFill>
                <a:latin typeface="Calibri"/>
              </a:rPr>
              <a:t>B11 · FIM &amp; UNCERTAINTY</a:t>
            </a:r>
          </a:p>
        </p:txBody>
      </p:sp>
      <p:sp>
        <p:nvSpPr>
          <p:cNvPr id="5" name="TextBox 4"/>
          <p:cNvSpPr txBox="1"/>
          <p:nvPr/>
        </p:nvSpPr>
        <p:spPr>
          <a:xfrm>
            <a:off x="11247120" y="137160"/>
            <a:ext cx="914400" cy="274320"/>
          </a:xfrm>
          <a:prstGeom prst="rect">
            <a:avLst/>
          </a:prstGeom>
          <a:noFill/>
        </p:spPr>
        <p:txBody>
          <a:bodyPr wrap="square" lIns="0" tIns="0" rIns="0" bIns="0">
            <a:spAutoFit/>
          </a:bodyPr>
          <a:lstStyle/>
          <a:p>
            <a:pPr algn="r"/>
            <a:r>
              <a:rPr sz="1000" b="1" i="0">
                <a:solidFill>
                  <a:srgbClr val="21295C"/>
                </a:solidFill>
                <a:latin typeface="Calibri"/>
              </a:rPr>
              <a:t>21</a:t>
            </a:r>
          </a:p>
        </p:txBody>
      </p:sp>
      <p:sp>
        <p:nvSpPr>
          <p:cNvPr id="6" name="TextBox 5"/>
          <p:cNvSpPr txBox="1"/>
          <p:nvPr/>
        </p:nvSpPr>
        <p:spPr>
          <a:xfrm>
            <a:off x="365760" y="502920"/>
            <a:ext cx="11460240" cy="640080"/>
          </a:xfrm>
          <a:prstGeom prst="rect">
            <a:avLst/>
          </a:prstGeom>
          <a:noFill/>
        </p:spPr>
        <p:txBody>
          <a:bodyPr wrap="square" lIns="0" tIns="0" rIns="0" bIns="0">
            <a:spAutoFit/>
          </a:bodyPr>
          <a:lstStyle/>
          <a:p>
            <a:pPr algn="l"/>
            <a:r>
              <a:rPr sz="2600" b="1" i="0">
                <a:solidFill>
                  <a:srgbClr val="21295C"/>
                </a:solidFill>
                <a:latin typeface="Calibri"/>
              </a:rPr>
              <a:t>Fisher information matrix — eigenstructure tells identifiability</a:t>
            </a:r>
          </a:p>
        </p:txBody>
      </p:sp>
      <p:sp>
        <p:nvSpPr>
          <p:cNvPr id="7" name="Rectangle 6"/>
          <p:cNvSpPr/>
          <p:nvPr/>
        </p:nvSpPr>
        <p:spPr>
          <a:xfrm>
            <a:off x="365760" y="1188720"/>
            <a:ext cx="11460240" cy="228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image.png"/>
          <p:cNvPicPr>
            <a:picLocks noChangeAspect="1"/>
          </p:cNvPicPr>
          <p:nvPr/>
        </p:nvPicPr>
        <p:blipFill>
          <a:blip r:embed="rId2"/>
          <a:stretch>
            <a:fillRect/>
          </a:stretch>
        </p:blipFill>
        <p:spPr>
          <a:xfrm>
            <a:off x="128584" y="6507526"/>
            <a:ext cx="1209476" cy="282211"/>
          </a:xfrm>
          <a:prstGeom prst="rect">
            <a:avLst/>
          </a:prstGeom>
        </p:spPr>
      </p:pic>
      <p:sp>
        <p:nvSpPr>
          <p:cNvPr id="9" name="TextBox 8"/>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21</a:t>
            </a:r>
          </a:p>
        </p:txBody>
      </p:sp>
      <p:sp>
        <p:nvSpPr>
          <p:cNvPr id="10" name="Rectangle 9"/>
          <p:cNvSpPr/>
          <p:nvPr/>
        </p:nvSpPr>
        <p:spPr>
          <a:xfrm>
            <a:off x="365760" y="1280160"/>
            <a:ext cx="11460240" cy="86868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 y="1307592"/>
            <a:ext cx="11185920" cy="228600"/>
          </a:xfrm>
          <a:prstGeom prst="rect">
            <a:avLst/>
          </a:prstGeom>
          <a:noFill/>
        </p:spPr>
        <p:txBody>
          <a:bodyPr wrap="square" lIns="0" tIns="0" rIns="0" bIns="0">
            <a:spAutoFit/>
          </a:bodyPr>
          <a:lstStyle/>
          <a:p>
            <a:pPr algn="l"/>
            <a:r>
              <a:rPr sz="1100" b="1" i="0">
                <a:solidFill>
                  <a:srgbClr val="142144"/>
                </a:solidFill>
                <a:latin typeface="Calibri"/>
              </a:rPr>
              <a:t>FISHER INFORMATION MATRIX  M  =  J ᵀ · Σ_y⁻¹ · J</a:t>
            </a:r>
          </a:p>
        </p:txBody>
      </p:sp>
      <p:sp>
        <p:nvSpPr>
          <p:cNvPr id="12" name="TextBox 11"/>
          <p:cNvSpPr txBox="1"/>
          <p:nvPr/>
        </p:nvSpPr>
        <p:spPr>
          <a:xfrm>
            <a:off x="502920" y="1554480"/>
            <a:ext cx="11185920" cy="228600"/>
          </a:xfrm>
          <a:prstGeom prst="rect">
            <a:avLst/>
          </a:prstGeom>
          <a:noFill/>
        </p:spPr>
        <p:txBody>
          <a:bodyPr wrap="square" lIns="0" tIns="0" rIns="0" bIns="0" anchor="ctr">
            <a:spAutoFit/>
          </a:bodyPr>
          <a:lstStyle/>
          <a:p>
            <a:pPr algn="ctr"/>
            <a:r>
              <a:rPr sz="1300" b="0" i="0">
                <a:solidFill>
                  <a:srgbClr val="142144"/>
                </a:solidFill>
                <a:latin typeface="Cambria"/>
              </a:rPr>
              <a:t>J  =  ∂ y / ∂ θ   (n_obs × n_θ)         Σ_y  =  diag( σ_m² ,  (0.03·c_V)² ,  (0.003·c_F)² )         V_θ  ≈  M ⁻¹</a:t>
            </a:r>
          </a:p>
        </p:txBody>
      </p:sp>
      <p:sp>
        <p:nvSpPr>
          <p:cNvPr id="13" name="TextBox 12"/>
          <p:cNvSpPr txBox="1"/>
          <p:nvPr/>
        </p:nvSpPr>
        <p:spPr>
          <a:xfrm>
            <a:off x="502920" y="1828800"/>
            <a:ext cx="11185920" cy="228600"/>
          </a:xfrm>
          <a:prstGeom prst="rect">
            <a:avLst/>
          </a:prstGeom>
          <a:noFill/>
        </p:spPr>
        <p:txBody>
          <a:bodyPr wrap="square" lIns="0" tIns="0" rIns="0" bIns="0">
            <a:spAutoFit/>
          </a:bodyPr>
          <a:lstStyle/>
          <a:p>
            <a:pPr algn="ctr"/>
            <a:r>
              <a:rPr sz="900" b="0" i="1">
                <a:solidFill>
                  <a:srgbClr val="64748B"/>
                </a:solidFill>
                <a:latin typeface="Calibri"/>
              </a:rPr>
              <a:t>Eigen-decomposition of M:  large eigenvalues → tightly constrained directions;  small → flat</a:t>
            </a:r>
          </a:p>
        </p:txBody>
      </p:sp>
      <p:sp>
        <p:nvSpPr>
          <p:cNvPr id="14" name="Rectangle 13"/>
          <p:cNvSpPr/>
          <p:nvPr/>
        </p:nvSpPr>
        <p:spPr>
          <a:xfrm>
            <a:off x="365760" y="2331720"/>
            <a:ext cx="7315200"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65760" y="2331720"/>
            <a:ext cx="7315200" cy="274320"/>
          </a:xfrm>
          <a:prstGeom prst="rect">
            <a:avLst/>
          </a:prstGeom>
          <a:noFill/>
        </p:spPr>
        <p:txBody>
          <a:bodyPr wrap="square" lIns="0" tIns="0" rIns="0" bIns="0" anchor="ctr">
            <a:spAutoFit/>
          </a:bodyPr>
          <a:lstStyle/>
          <a:p>
            <a:pPr algn="ctr"/>
            <a:r>
              <a:rPr sz="1100" b="1" i="0">
                <a:solidFill>
                  <a:srgbClr val="FFFFFF"/>
                </a:solidFill>
                <a:latin typeface="Calibri"/>
              </a:rPr>
              <a:t>FROM LATEST DATA3 RUN — NaCl-MC2</a:t>
            </a:r>
          </a:p>
        </p:txBody>
      </p:sp>
      <p:sp>
        <p:nvSpPr>
          <p:cNvPr id="16" name="Rectangle 15"/>
          <p:cNvSpPr/>
          <p:nvPr/>
        </p:nvSpPr>
        <p:spPr>
          <a:xfrm>
            <a:off x="365760" y="2606040"/>
            <a:ext cx="7315200" cy="2925000"/>
          </a:xfrm>
          <a:prstGeom prst="rect">
            <a:avLst/>
          </a:prstGeom>
          <a:solidFill>
            <a:srgbClr val="FFFFFF"/>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7200" y="2697480"/>
            <a:ext cx="1980000" cy="411480"/>
          </a:xfrm>
          <a:prstGeom prst="rect">
            <a:avLst/>
          </a:prstGeom>
          <a:noFill/>
        </p:spPr>
        <p:txBody>
          <a:bodyPr wrap="square" lIns="0" tIns="0" rIns="0" bIns="0">
            <a:spAutoFit/>
          </a:bodyPr>
          <a:lstStyle/>
          <a:p>
            <a:pPr algn="l"/>
            <a:r>
              <a:rPr sz="1100" b="1" i="0">
                <a:solidFill>
                  <a:srgbClr val="21295C"/>
                </a:solidFill>
                <a:latin typeface="Calibri"/>
              </a:rPr>
              <a:t>eigenvalue</a:t>
            </a:r>
          </a:p>
        </p:txBody>
      </p:sp>
      <p:sp>
        <p:nvSpPr>
          <p:cNvPr id="18" name="TextBox 17"/>
          <p:cNvSpPr txBox="1"/>
          <p:nvPr/>
        </p:nvSpPr>
        <p:spPr>
          <a:xfrm>
            <a:off x="2437200" y="2697480"/>
            <a:ext cx="1660000" cy="411480"/>
          </a:xfrm>
          <a:prstGeom prst="rect">
            <a:avLst/>
          </a:prstGeom>
          <a:noFill/>
        </p:spPr>
        <p:txBody>
          <a:bodyPr wrap="square" lIns="0" tIns="0" rIns="0" bIns="0">
            <a:spAutoFit/>
          </a:bodyPr>
          <a:lstStyle/>
          <a:p>
            <a:pPr algn="l"/>
            <a:r>
              <a:rPr sz="1100" b="1" i="0">
                <a:solidFill>
                  <a:srgbClr val="21295C"/>
                </a:solidFill>
                <a:latin typeface="Calibri"/>
              </a:rPr>
              <a:t>eig_dir</a:t>
            </a:r>
          </a:p>
        </p:txBody>
      </p:sp>
      <p:sp>
        <p:nvSpPr>
          <p:cNvPr id="19" name="TextBox 18"/>
          <p:cNvSpPr txBox="1"/>
          <p:nvPr/>
        </p:nvSpPr>
        <p:spPr>
          <a:xfrm>
            <a:off x="4097200" y="2697480"/>
            <a:ext cx="1800000" cy="411480"/>
          </a:xfrm>
          <a:prstGeom prst="rect">
            <a:avLst/>
          </a:prstGeom>
          <a:noFill/>
        </p:spPr>
        <p:txBody>
          <a:bodyPr wrap="square" lIns="0" tIns="0" rIns="0" bIns="0">
            <a:spAutoFit/>
          </a:bodyPr>
          <a:lstStyle/>
          <a:p>
            <a:pPr algn="l"/>
            <a:r>
              <a:rPr sz="1100" b="1" i="0">
                <a:solidFill>
                  <a:srgbClr val="21295C"/>
                </a:solidFill>
                <a:latin typeface="Calibri"/>
              </a:rPr>
              <a:t>std (asymptotic)</a:t>
            </a:r>
          </a:p>
        </p:txBody>
      </p:sp>
      <p:sp>
        <p:nvSpPr>
          <p:cNvPr id="20" name="TextBox 19"/>
          <p:cNvSpPr txBox="1"/>
          <p:nvPr/>
        </p:nvSpPr>
        <p:spPr>
          <a:xfrm>
            <a:off x="5897200" y="2697480"/>
            <a:ext cx="1900000" cy="411480"/>
          </a:xfrm>
          <a:prstGeom prst="rect">
            <a:avLst/>
          </a:prstGeom>
          <a:noFill/>
        </p:spPr>
        <p:txBody>
          <a:bodyPr wrap="square" lIns="0" tIns="0" rIns="0" bIns="0">
            <a:spAutoFit/>
          </a:bodyPr>
          <a:lstStyle/>
          <a:p>
            <a:pPr algn="l"/>
            <a:r>
              <a:rPr sz="1100" b="1" i="0">
                <a:solidFill>
                  <a:srgbClr val="21295C"/>
                </a:solidFill>
                <a:latin typeface="Calibri"/>
              </a:rPr>
              <a:t>regime</a:t>
            </a:r>
          </a:p>
        </p:txBody>
      </p:sp>
      <p:sp>
        <p:nvSpPr>
          <p:cNvPr id="21" name="TextBox 20"/>
          <p:cNvSpPr txBox="1"/>
          <p:nvPr/>
        </p:nvSpPr>
        <p:spPr>
          <a:xfrm>
            <a:off x="457200" y="3200400"/>
            <a:ext cx="1980000" cy="411480"/>
          </a:xfrm>
          <a:prstGeom prst="rect">
            <a:avLst/>
          </a:prstGeom>
          <a:noFill/>
        </p:spPr>
        <p:txBody>
          <a:bodyPr wrap="square" lIns="0" tIns="0" rIns="0" bIns="0">
            <a:spAutoFit/>
          </a:bodyPr>
          <a:lstStyle/>
          <a:p>
            <a:pPr algn="l"/>
            <a:r>
              <a:rPr sz="1200" b="0" i="0">
                <a:solidFill>
                  <a:srgbClr val="142144"/>
                </a:solidFill>
                <a:latin typeface="Cambria"/>
              </a:rPr>
              <a:t>0.158</a:t>
            </a:r>
          </a:p>
        </p:txBody>
      </p:sp>
      <p:sp>
        <p:nvSpPr>
          <p:cNvPr id="22" name="TextBox 21"/>
          <p:cNvSpPr txBox="1"/>
          <p:nvPr/>
        </p:nvSpPr>
        <p:spPr>
          <a:xfrm>
            <a:off x="2437200" y="3200400"/>
            <a:ext cx="1660000" cy="411480"/>
          </a:xfrm>
          <a:prstGeom prst="rect">
            <a:avLst/>
          </a:prstGeom>
          <a:noFill/>
        </p:spPr>
        <p:txBody>
          <a:bodyPr wrap="square" lIns="0" tIns="0" rIns="0" bIns="0">
            <a:spAutoFit/>
          </a:bodyPr>
          <a:lstStyle/>
          <a:p>
            <a:pPr algn="l"/>
            <a:r>
              <a:rPr sz="1200" b="0" i="0">
                <a:solidFill>
                  <a:srgbClr val="142144"/>
                </a:solidFill>
                <a:latin typeface="Cambria"/>
              </a:rPr>
              <a:t>B</a:t>
            </a:r>
          </a:p>
        </p:txBody>
      </p:sp>
      <p:sp>
        <p:nvSpPr>
          <p:cNvPr id="23" name="TextBox 22"/>
          <p:cNvSpPr txBox="1"/>
          <p:nvPr/>
        </p:nvSpPr>
        <p:spPr>
          <a:xfrm>
            <a:off x="4097200" y="3200400"/>
            <a:ext cx="1800000" cy="411480"/>
          </a:xfrm>
          <a:prstGeom prst="rect">
            <a:avLst/>
          </a:prstGeom>
          <a:noFill/>
        </p:spPr>
        <p:txBody>
          <a:bodyPr wrap="square" lIns="0" tIns="0" rIns="0" bIns="0">
            <a:spAutoFit/>
          </a:bodyPr>
          <a:lstStyle/>
          <a:p>
            <a:pPr algn="l"/>
            <a:r>
              <a:rPr sz="1200" b="0" i="0">
                <a:solidFill>
                  <a:srgbClr val="142144"/>
                </a:solidFill>
                <a:latin typeface="Cambria"/>
              </a:rPr>
              <a:t>0.0065</a:t>
            </a:r>
          </a:p>
        </p:txBody>
      </p:sp>
      <p:sp>
        <p:nvSpPr>
          <p:cNvPr id="24" name="TextBox 23"/>
          <p:cNvSpPr txBox="1"/>
          <p:nvPr/>
        </p:nvSpPr>
        <p:spPr>
          <a:xfrm>
            <a:off x="5897200" y="3200400"/>
            <a:ext cx="1900000" cy="411480"/>
          </a:xfrm>
          <a:prstGeom prst="rect">
            <a:avLst/>
          </a:prstGeom>
          <a:noFill/>
        </p:spPr>
        <p:txBody>
          <a:bodyPr wrap="square" lIns="0" tIns="0" rIns="0" bIns="0">
            <a:spAutoFit/>
          </a:bodyPr>
          <a:lstStyle/>
          <a:p>
            <a:pPr algn="l"/>
            <a:r>
              <a:rPr sz="1200" b="0" i="0">
                <a:solidFill>
                  <a:srgbClr val="142144"/>
                </a:solidFill>
                <a:latin typeface="Cambria"/>
              </a:rPr>
              <a:t>tightest direction</a:t>
            </a:r>
          </a:p>
        </p:txBody>
      </p:sp>
      <p:sp>
        <p:nvSpPr>
          <p:cNvPr id="25" name="TextBox 24"/>
          <p:cNvSpPr txBox="1"/>
          <p:nvPr/>
        </p:nvSpPr>
        <p:spPr>
          <a:xfrm>
            <a:off x="457200" y="3703320"/>
            <a:ext cx="1980000" cy="411480"/>
          </a:xfrm>
          <a:prstGeom prst="rect">
            <a:avLst/>
          </a:prstGeom>
          <a:noFill/>
        </p:spPr>
        <p:txBody>
          <a:bodyPr wrap="square" lIns="0" tIns="0" rIns="0" bIns="0">
            <a:spAutoFit/>
          </a:bodyPr>
          <a:lstStyle/>
          <a:p>
            <a:pPr algn="l"/>
            <a:r>
              <a:rPr sz="1200" b="0" i="0">
                <a:solidFill>
                  <a:srgbClr val="142144"/>
                </a:solidFill>
                <a:latin typeface="Cambria"/>
              </a:rPr>
              <a:t>2.776</a:t>
            </a:r>
          </a:p>
        </p:txBody>
      </p:sp>
      <p:sp>
        <p:nvSpPr>
          <p:cNvPr id="26" name="TextBox 25"/>
          <p:cNvSpPr txBox="1"/>
          <p:nvPr/>
        </p:nvSpPr>
        <p:spPr>
          <a:xfrm>
            <a:off x="2437200" y="3703320"/>
            <a:ext cx="1660000" cy="411480"/>
          </a:xfrm>
          <a:prstGeom prst="rect">
            <a:avLst/>
          </a:prstGeom>
          <a:noFill/>
        </p:spPr>
        <p:txBody>
          <a:bodyPr wrap="square" lIns="0" tIns="0" rIns="0" bIns="0">
            <a:spAutoFit/>
          </a:bodyPr>
          <a:lstStyle/>
          <a:p>
            <a:pPr algn="l"/>
            <a:r>
              <a:rPr sz="1200" b="0" i="0">
                <a:solidFill>
                  <a:srgbClr val="142144"/>
                </a:solidFill>
                <a:latin typeface="Cambria"/>
              </a:rPr>
              <a:t>σ</a:t>
            </a:r>
          </a:p>
        </p:txBody>
      </p:sp>
      <p:sp>
        <p:nvSpPr>
          <p:cNvPr id="27" name="TextBox 26"/>
          <p:cNvSpPr txBox="1"/>
          <p:nvPr/>
        </p:nvSpPr>
        <p:spPr>
          <a:xfrm>
            <a:off x="4097200" y="3703320"/>
            <a:ext cx="1800000" cy="411480"/>
          </a:xfrm>
          <a:prstGeom prst="rect">
            <a:avLst/>
          </a:prstGeom>
          <a:noFill/>
        </p:spPr>
        <p:txBody>
          <a:bodyPr wrap="square" lIns="0" tIns="0" rIns="0" bIns="0">
            <a:spAutoFit/>
          </a:bodyPr>
          <a:lstStyle/>
          <a:p>
            <a:pPr algn="l"/>
            <a:r>
              <a:rPr sz="1200" b="0" i="0">
                <a:solidFill>
                  <a:srgbClr val="142144"/>
                </a:solidFill>
                <a:latin typeface="Cambria"/>
              </a:rPr>
              <a:t>2.26</a:t>
            </a:r>
          </a:p>
        </p:txBody>
      </p:sp>
      <p:sp>
        <p:nvSpPr>
          <p:cNvPr id="28" name="TextBox 27"/>
          <p:cNvSpPr txBox="1"/>
          <p:nvPr/>
        </p:nvSpPr>
        <p:spPr>
          <a:xfrm>
            <a:off x="5897200" y="3703320"/>
            <a:ext cx="1900000" cy="411480"/>
          </a:xfrm>
          <a:prstGeom prst="rect">
            <a:avLst/>
          </a:prstGeom>
          <a:noFill/>
        </p:spPr>
        <p:txBody>
          <a:bodyPr wrap="square" lIns="0" tIns="0" rIns="0" bIns="0">
            <a:spAutoFit/>
          </a:bodyPr>
          <a:lstStyle/>
          <a:p>
            <a:pPr algn="l"/>
            <a:r>
              <a:rPr sz="1200" b="0" i="0">
                <a:solidFill>
                  <a:srgbClr val="142144"/>
                </a:solidFill>
                <a:latin typeface="Cambria"/>
              </a:rPr>
              <a:t>flat ← corner basin</a:t>
            </a:r>
          </a:p>
        </p:txBody>
      </p:sp>
      <p:sp>
        <p:nvSpPr>
          <p:cNvPr id="29" name="TextBox 28"/>
          <p:cNvSpPr txBox="1"/>
          <p:nvPr/>
        </p:nvSpPr>
        <p:spPr>
          <a:xfrm>
            <a:off x="457200" y="4206240"/>
            <a:ext cx="1980000" cy="411480"/>
          </a:xfrm>
          <a:prstGeom prst="rect">
            <a:avLst/>
          </a:prstGeom>
          <a:noFill/>
        </p:spPr>
        <p:txBody>
          <a:bodyPr wrap="square" lIns="0" tIns="0" rIns="0" bIns="0">
            <a:spAutoFit/>
          </a:bodyPr>
          <a:lstStyle/>
          <a:p>
            <a:pPr algn="l"/>
            <a:r>
              <a:rPr sz="1200" b="0" i="0">
                <a:solidFill>
                  <a:srgbClr val="142144"/>
                </a:solidFill>
                <a:latin typeface="Cambria"/>
              </a:rPr>
              <a:t>907 752</a:t>
            </a:r>
          </a:p>
        </p:txBody>
      </p:sp>
      <p:sp>
        <p:nvSpPr>
          <p:cNvPr id="30" name="TextBox 29"/>
          <p:cNvSpPr txBox="1"/>
          <p:nvPr/>
        </p:nvSpPr>
        <p:spPr>
          <a:xfrm>
            <a:off x="2437200" y="4206240"/>
            <a:ext cx="1660000" cy="411480"/>
          </a:xfrm>
          <a:prstGeom prst="rect">
            <a:avLst/>
          </a:prstGeom>
          <a:noFill/>
        </p:spPr>
        <p:txBody>
          <a:bodyPr wrap="square" lIns="0" tIns="0" rIns="0" bIns="0">
            <a:spAutoFit/>
          </a:bodyPr>
          <a:lstStyle/>
          <a:p>
            <a:pPr algn="l"/>
            <a:r>
              <a:rPr sz="1200" b="0" i="0">
                <a:solidFill>
                  <a:srgbClr val="142144"/>
                </a:solidFill>
                <a:latin typeface="Cambria"/>
              </a:rPr>
              <a:t>Lp</a:t>
            </a:r>
          </a:p>
        </p:txBody>
      </p:sp>
      <p:sp>
        <p:nvSpPr>
          <p:cNvPr id="31" name="TextBox 30"/>
          <p:cNvSpPr txBox="1"/>
          <p:nvPr/>
        </p:nvSpPr>
        <p:spPr>
          <a:xfrm>
            <a:off x="4097200" y="4206240"/>
            <a:ext cx="1800000" cy="411480"/>
          </a:xfrm>
          <a:prstGeom prst="rect">
            <a:avLst/>
          </a:prstGeom>
          <a:noFill/>
        </p:spPr>
        <p:txBody>
          <a:bodyPr wrap="square" lIns="0" tIns="0" rIns="0" bIns="0">
            <a:spAutoFit/>
          </a:bodyPr>
          <a:lstStyle/>
          <a:p>
            <a:pPr algn="l"/>
            <a:r>
              <a:rPr sz="1200" b="0" i="0">
                <a:solidFill>
                  <a:srgbClr val="142144"/>
                </a:solidFill>
                <a:latin typeface="Cambria"/>
              </a:rPr>
              <a:t>1.25</a:t>
            </a:r>
          </a:p>
        </p:txBody>
      </p:sp>
      <p:sp>
        <p:nvSpPr>
          <p:cNvPr id="32" name="TextBox 31"/>
          <p:cNvSpPr txBox="1"/>
          <p:nvPr/>
        </p:nvSpPr>
        <p:spPr>
          <a:xfrm>
            <a:off x="5897200" y="4206240"/>
            <a:ext cx="1900000" cy="411480"/>
          </a:xfrm>
          <a:prstGeom prst="rect">
            <a:avLst/>
          </a:prstGeom>
          <a:noFill/>
        </p:spPr>
        <p:txBody>
          <a:bodyPr wrap="square" lIns="0" tIns="0" rIns="0" bIns="0">
            <a:spAutoFit/>
          </a:bodyPr>
          <a:lstStyle/>
          <a:p>
            <a:pPr algn="l"/>
            <a:r>
              <a:rPr sz="1200" b="0" i="0">
                <a:solidFill>
                  <a:srgbClr val="142144"/>
                </a:solidFill>
                <a:latin typeface="Cambria"/>
              </a:rPr>
              <a:t>most informative</a:t>
            </a:r>
          </a:p>
        </p:txBody>
      </p:sp>
      <p:sp>
        <p:nvSpPr>
          <p:cNvPr id="33" name="TextBox 32"/>
          <p:cNvSpPr txBox="1"/>
          <p:nvPr/>
        </p:nvSpPr>
        <p:spPr>
          <a:xfrm>
            <a:off x="457200" y="4709160"/>
            <a:ext cx="1980000" cy="411480"/>
          </a:xfrm>
          <a:prstGeom prst="rect">
            <a:avLst/>
          </a:prstGeom>
          <a:noFill/>
        </p:spPr>
        <p:txBody>
          <a:bodyPr wrap="square" lIns="0" tIns="0" rIns="0" bIns="0">
            <a:spAutoFit/>
          </a:bodyPr>
          <a:lstStyle/>
          <a:p>
            <a:pPr algn="l"/>
            <a:r>
              <a:rPr sz="1200" b="1" i="0">
                <a:solidFill>
                  <a:srgbClr val="142144"/>
                </a:solidFill>
                <a:latin typeface="Calibri"/>
              </a:rPr>
              <a:t>det(M)  =  3.99 × 10⁵</a:t>
            </a:r>
          </a:p>
        </p:txBody>
      </p:sp>
      <p:sp>
        <p:nvSpPr>
          <p:cNvPr id="34" name="TextBox 33"/>
          <p:cNvSpPr txBox="1"/>
          <p:nvPr/>
        </p:nvSpPr>
        <p:spPr>
          <a:xfrm>
            <a:off x="2437200" y="4709160"/>
            <a:ext cx="1660000" cy="411480"/>
          </a:xfrm>
          <a:prstGeom prst="rect">
            <a:avLst/>
          </a:prstGeom>
          <a:noFill/>
        </p:spPr>
        <p:txBody>
          <a:bodyPr wrap="square" lIns="0" tIns="0" rIns="0" bIns="0">
            <a:spAutoFit/>
          </a:bodyPr>
          <a:lstStyle/>
          <a:p>
            <a:pPr algn="l"/>
            <a:endParaRPr/>
          </a:p>
        </p:txBody>
      </p:sp>
      <p:sp>
        <p:nvSpPr>
          <p:cNvPr id="35" name="TextBox 34"/>
          <p:cNvSpPr txBox="1"/>
          <p:nvPr/>
        </p:nvSpPr>
        <p:spPr>
          <a:xfrm>
            <a:off x="4097200" y="4709160"/>
            <a:ext cx="1800000" cy="411480"/>
          </a:xfrm>
          <a:prstGeom prst="rect">
            <a:avLst/>
          </a:prstGeom>
          <a:noFill/>
        </p:spPr>
        <p:txBody>
          <a:bodyPr wrap="square" lIns="0" tIns="0" rIns="0" bIns="0">
            <a:spAutoFit/>
          </a:bodyPr>
          <a:lstStyle/>
          <a:p>
            <a:pPr algn="l"/>
            <a:r>
              <a:rPr sz="1200" b="1" i="0">
                <a:solidFill>
                  <a:srgbClr val="142144"/>
                </a:solidFill>
                <a:latin typeface="Calibri"/>
              </a:rPr>
              <a:t>trace(M)  =  9.08 × 10⁵</a:t>
            </a:r>
          </a:p>
        </p:txBody>
      </p:sp>
      <p:sp>
        <p:nvSpPr>
          <p:cNvPr id="36" name="TextBox 35"/>
          <p:cNvSpPr txBox="1"/>
          <p:nvPr/>
        </p:nvSpPr>
        <p:spPr>
          <a:xfrm>
            <a:off x="5897200" y="4709160"/>
            <a:ext cx="1900000" cy="411480"/>
          </a:xfrm>
          <a:prstGeom prst="rect">
            <a:avLst/>
          </a:prstGeom>
          <a:noFill/>
        </p:spPr>
        <p:txBody>
          <a:bodyPr wrap="square" lIns="0" tIns="0" rIns="0" bIns="0">
            <a:spAutoFit/>
          </a:bodyPr>
          <a:lstStyle/>
          <a:p>
            <a:pPr algn="l"/>
            <a:r>
              <a:rPr sz="1200" b="1" i="0">
                <a:solidFill>
                  <a:srgbClr val="142144"/>
                </a:solidFill>
                <a:latin typeface="Calibri"/>
              </a:rPr>
              <a:t>cond(M)  =  5.7 × 10⁶</a:t>
            </a:r>
          </a:p>
        </p:txBody>
      </p:sp>
      <p:sp>
        <p:nvSpPr>
          <p:cNvPr id="37" name="Rectangle 36"/>
          <p:cNvSpPr/>
          <p:nvPr/>
        </p:nvSpPr>
        <p:spPr>
          <a:xfrm>
            <a:off x="8001000" y="2331720"/>
            <a:ext cx="3826200" cy="2743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001000" y="2331720"/>
            <a:ext cx="3826200" cy="274320"/>
          </a:xfrm>
          <a:prstGeom prst="rect">
            <a:avLst/>
          </a:prstGeom>
          <a:noFill/>
        </p:spPr>
        <p:txBody>
          <a:bodyPr wrap="square" lIns="0" tIns="0" rIns="0" bIns="0" anchor="ctr">
            <a:spAutoFit/>
          </a:bodyPr>
          <a:lstStyle/>
          <a:p>
            <a:pPr algn="ctr"/>
            <a:r>
              <a:rPr sz="1100" b="1" i="0">
                <a:solidFill>
                  <a:srgbClr val="FFFFFF"/>
                </a:solidFill>
                <a:latin typeface="Calibri"/>
              </a:rPr>
              <a:t>FIM INFERENCE</a:t>
            </a:r>
          </a:p>
        </p:txBody>
      </p:sp>
      <p:sp>
        <p:nvSpPr>
          <p:cNvPr id="39" name="Rectangle 38"/>
          <p:cNvSpPr/>
          <p:nvPr/>
        </p:nvSpPr>
        <p:spPr>
          <a:xfrm>
            <a:off x="8001000" y="2606040"/>
            <a:ext cx="3826200" cy="2925000"/>
          </a:xfrm>
          <a:prstGeom prst="rect">
            <a:avLst/>
          </a:prstGeom>
          <a:solidFill>
            <a:srgbClr val="DAE8FC"/>
          </a:solidFill>
          <a:ln w="6350">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138160" y="2743200"/>
            <a:ext cx="3551880" cy="2650680"/>
          </a:xfrm>
          <a:prstGeom prst="rect">
            <a:avLst/>
          </a:prstGeom>
          <a:noFill/>
        </p:spPr>
        <p:txBody>
          <a:bodyPr wrap="square" lIns="0" tIns="0" rIns="0" bIns="0">
            <a:spAutoFit/>
          </a:bodyPr>
          <a:lstStyle/>
          <a:p>
            <a:pPr algn="l"/>
            <a:r>
              <a:rPr sz="1000" b="0" i="0">
                <a:solidFill>
                  <a:srgbClr val="142144"/>
                </a:solidFill>
                <a:latin typeface="Calibri"/>
              </a:rPr>
              <a:t>·  σ direction is FLAT  (std 2.26
   while σ ∈ [0,1])  ⇒  exactly the
   corner-basin signature.
·  Lp is the most informative
   direction (eigenvalue ~9 × 10⁵).
·  B is the tightest (std 0.0065
   μm/s) — but this is a local
   linearization at the fitted θ̂.
·  FIM is local: meaningful only
   near θ̂ under assumed σ_meas.</a:t>
            </a:r>
          </a:p>
        </p:txBody>
      </p:sp>
      <p:sp>
        <p:nvSpPr>
          <p:cNvPr id="41" name="Rectangle 40"/>
          <p:cNvSpPr/>
          <p:nvPr/>
        </p:nvSpPr>
        <p:spPr>
          <a:xfrm>
            <a:off x="365760" y="5532120"/>
            <a:ext cx="11460240" cy="868680"/>
          </a:xfrm>
          <a:prstGeom prst="rect">
            <a:avLst/>
          </a:prstGeom>
          <a:solidFill>
            <a:srgbClr val="DAE8FC"/>
          </a:solidFill>
          <a:ln w="9525">
            <a:solidFill>
              <a:srgbClr val="9FB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502920" y="5623560"/>
            <a:ext cx="11185920" cy="365760"/>
          </a:xfrm>
          <a:prstGeom prst="rect">
            <a:avLst/>
          </a:prstGeom>
          <a:noFill/>
        </p:spPr>
        <p:txBody>
          <a:bodyPr wrap="square" lIns="0" tIns="0" rIns="0" bIns="0">
            <a:spAutoFit/>
          </a:bodyPr>
          <a:lstStyle/>
          <a:p>
            <a:pPr algn="l"/>
            <a:r>
              <a:rPr sz="1100" b="1" i="0">
                <a:solidFill>
                  <a:srgbClr val="142144"/>
                </a:solidFill>
                <a:latin typeface="Calibri"/>
              </a:rPr>
              <a:t>ASYMPTOTIC CONFIDENCE ELLIPSOID</a:t>
            </a:r>
          </a:p>
        </p:txBody>
      </p:sp>
      <p:sp>
        <p:nvSpPr>
          <p:cNvPr id="43" name="TextBox 42"/>
          <p:cNvSpPr txBox="1"/>
          <p:nvPr/>
        </p:nvSpPr>
        <p:spPr>
          <a:xfrm>
            <a:off x="502920" y="5943600"/>
            <a:ext cx="11185920" cy="365760"/>
          </a:xfrm>
          <a:prstGeom prst="rect">
            <a:avLst/>
          </a:prstGeom>
          <a:noFill/>
        </p:spPr>
        <p:txBody>
          <a:bodyPr wrap="square" lIns="0" tIns="0" rIns="0" bIns="0" anchor="ctr">
            <a:spAutoFit/>
          </a:bodyPr>
          <a:lstStyle/>
          <a:p>
            <a:pPr algn="l"/>
            <a:r>
              <a:rPr sz="1200" b="0" i="0">
                <a:solidFill>
                  <a:srgbClr val="142144"/>
                </a:solidFill>
                <a:latin typeface="Cambria"/>
              </a:rPr>
              <a:t>( θ − θ̂ ) ᵀ · M · ( θ − θ̂ )   ≤   χ²_{n_θ, 1−α}                          For α = 0.05, n_θ = 3:  threshold = 7.815.    In the (Lp, σ) plane, the ellipse is highly elongated along σ.</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B12 · RUNFILE DISPATCHER</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22</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Tree walker — ROOTS → SUBSET → TRUNK → BRANCHES → dispatch</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22</a:t>
            </a:r>
          </a:p>
        </p:txBody>
      </p:sp>
      <p:sp>
        <p:nvSpPr>
          <p:cNvPr id="9" name="Rectangle 8"/>
          <p:cNvSpPr/>
          <p:nvPr/>
        </p:nvSpPr>
        <p:spPr>
          <a:xfrm>
            <a:off x="457200" y="14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refactored_ucb_runfile.py  (≈ 184 lines, no science inside)</a:t>
            </a:r>
          </a:p>
        </p:txBody>
      </p:sp>
      <p:sp>
        <p:nvSpPr>
          <p:cNvPr id="11" name="Rectangle 10"/>
          <p:cNvSpPr/>
          <p:nvPr/>
        </p:nvSpPr>
        <p:spPr>
          <a:xfrm>
            <a:off x="457200" y="1783080"/>
            <a:ext cx="1129284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10927080" cy="4579376"/>
          </a:xfrm>
          <a:prstGeom prst="rect">
            <a:avLst/>
          </a:prstGeom>
          <a:noFill/>
        </p:spPr>
        <p:txBody>
          <a:bodyPr wrap="square" lIns="0" tIns="0" rIns="0" bIns="0">
            <a:spAutoFit/>
          </a:bodyPr>
          <a:lstStyle/>
          <a:p>
            <a:pPr algn="l"/>
            <a:r>
              <a:rPr sz="1000" b="0" i="0">
                <a:solidFill>
                  <a:srgbClr val="1E293B"/>
                </a:solidFill>
                <a:latin typeface="Consolas"/>
              </a:rPr>
              <a:t>def main():
    root     = pick_root()        #  1=DATA1   2=DATA2   3=DATA3   4=custom
    subset   = pick_subset(root)  #  DATA3:    all 26  /  single-salt 11  /  one sheet  /  fast 3
    trunk    = pick_trunk()       #  0=manifest_default  3=fit+multistart  4=+FIM  5=+DoE  6=mass-litmus
    branches = pick_branches()    #  m=mass   c=conc   p=params   f=FIM   d=DoE   all
    if root in {1, 2, 3} and trunk == 0:
        # exact byte-identical replication of published outputs
        materialize_all( root, subset, branches )
    elif root in {1, 2, 3} and trunk in {3, 4, 5}:
        results = estimate_parameters( root, subset, multistart=True, use_FIM=(trunk≥4), use_DoE=(trunk==5) )
        render( results, branches )
    elif root in {1, 2, 3} and trunk == 6:
        # NF270 mass-litmus baseline (sets NF270_MASS_LITMUS_TEST_ACTIVE = True)
        results = solve_mass_balance_only( load(root, subset) )
        render( results, branches )
    elif root == 4:
        # custom XLSX outside the campaign manifest
        results = run_pipeline( file_path, mode, workflow_family )
        render( results, branches )
No physics, no Pyomo, no IPOPT call lives in this file.  Replace it with a notebook, a CLI, a
web form — the library does not care.  All dispatch happens through the kept top-level
def-s in refactored_ucb_library.py.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B13 · CAVEATS</a:t>
            </a:r>
          </a:p>
        </p:txBody>
      </p:sp>
      <p:sp>
        <p:nvSpPr>
          <p:cNvPr id="5" name="TextBox 4"/>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23</a:t>
            </a:r>
          </a:p>
        </p:txBody>
      </p:sp>
      <p:sp>
        <p:nvSpPr>
          <p:cNvPr id="6" name="TextBox 5"/>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Things to scrutinize before trusting any DATA3 fit</a:t>
            </a:r>
          </a:p>
        </p:txBody>
      </p:sp>
      <p:pic>
        <p:nvPicPr>
          <p:cNvPr id="7" name="Picture 6" descr="image.png"/>
          <p:cNvPicPr>
            <a:picLocks noChangeAspect="1"/>
          </p:cNvPicPr>
          <p:nvPr/>
        </p:nvPicPr>
        <p:blipFill>
          <a:blip r:embed="rId2"/>
          <a:stretch>
            <a:fillRect/>
          </a:stretch>
        </p:blipFill>
        <p:spPr>
          <a:xfrm>
            <a:off x="128584" y="6507526"/>
            <a:ext cx="1209476" cy="282211"/>
          </a:xfrm>
          <a:prstGeom prst="rect">
            <a:avLst/>
          </a:prstGeom>
        </p:spPr>
      </p:pic>
      <p:sp>
        <p:nvSpPr>
          <p:cNvPr id="8" name="TextBox 7"/>
          <p:cNvSpPr txBox="1"/>
          <p:nvPr/>
        </p:nvSpPr>
        <p:spPr>
          <a:xfrm>
            <a:off x="11247120" y="6486525"/>
            <a:ext cx="914400" cy="274320"/>
          </a:xfrm>
          <a:prstGeom prst="rect">
            <a:avLst/>
          </a:prstGeom>
          <a:noFill/>
        </p:spPr>
        <p:txBody>
          <a:bodyPr wrap="square" lIns="0" tIns="0" rIns="0" bIns="0">
            <a:spAutoFit/>
          </a:bodyPr>
          <a:lstStyle/>
          <a:p>
            <a:pPr algn="r"/>
            <a:r>
              <a:rPr sz="2000" b="1" i="0">
                <a:solidFill>
                  <a:srgbClr val="21295C"/>
                </a:solidFill>
                <a:latin typeface="Calibri"/>
              </a:rPr>
              <a:t>23</a:t>
            </a:r>
          </a:p>
        </p:txBody>
      </p:sp>
      <p:sp>
        <p:nvSpPr>
          <p:cNvPr id="9" name="Rectangle 8"/>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OBJECTIVE WEIGHTS DOMINATE THE ANSWER</a:t>
            </a:r>
          </a:p>
        </p:txBody>
      </p:sp>
      <p:sp>
        <p:nvSpPr>
          <p:cNvPr id="11" name="Rectangle 10"/>
          <p:cNvSpPr/>
          <p:nvPr/>
        </p:nvSpPr>
        <p:spPr>
          <a:xfrm>
            <a:off x="457200" y="178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57200" y="178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1810512"/>
            <a:ext cx="5120640" cy="179376"/>
          </a:xfrm>
          <a:prstGeom prst="rect">
            <a:avLst/>
          </a:prstGeom>
          <a:noFill/>
        </p:spPr>
        <p:txBody>
          <a:bodyPr wrap="square" lIns="0" tIns="0" rIns="0" bIns="0">
            <a:spAutoFit/>
          </a:bodyPr>
          <a:lstStyle/>
          <a:p>
            <a:pPr algn="l"/>
            <a:r>
              <a:rPr sz="900" b="0" i="0">
                <a:solidFill>
                  <a:srgbClr val="1E293B"/>
                </a:solidFill>
                <a:latin typeface="Calibri"/>
              </a:rPr>
              <a:t>Retentate 0.3 % is very tight.  Permeate 3 % is loose.  Mass 0.01 g is tight
on the vial-1 scale (≈ 1 g) but loose on the cell scale (≈ 10 g).  Optimizer
will prioritize whichever residual has the smallest σ_meas — this is the
most common silent failure mode in WSSE parameter estimation.</a:t>
            </a:r>
          </a:p>
        </p:txBody>
      </p:sp>
      <p:sp>
        <p:nvSpPr>
          <p:cNvPr id="14" name="Rectangle 13"/>
          <p:cNvSpPr/>
          <p:nvPr/>
        </p:nvSpPr>
        <p:spPr>
          <a:xfrm>
            <a:off x="457200" y="209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209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IPOPT IS LOCAL</a:t>
            </a:r>
          </a:p>
        </p:txBody>
      </p:sp>
      <p:sp>
        <p:nvSpPr>
          <p:cNvPr id="16" name="Rectangle 15"/>
          <p:cNvSpPr/>
          <p:nvPr/>
        </p:nvSpPr>
        <p:spPr>
          <a:xfrm>
            <a:off x="457200" y="246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57200" y="246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2490512"/>
            <a:ext cx="5120640" cy="179376"/>
          </a:xfrm>
          <a:prstGeom prst="rect">
            <a:avLst/>
          </a:prstGeom>
          <a:noFill/>
        </p:spPr>
        <p:txBody>
          <a:bodyPr wrap="square" lIns="0" tIns="0" rIns="0" bIns="0">
            <a:spAutoFit/>
          </a:bodyPr>
          <a:lstStyle/>
          <a:p>
            <a:pPr algn="l"/>
            <a:r>
              <a:rPr sz="900" b="0" i="0">
                <a:solidFill>
                  <a:srgbClr val="1E293B"/>
                </a:solidFill>
                <a:latin typeface="Calibri"/>
              </a:rPr>
              <a:t>Multistart is a heuristic, not a guarantee.  If the loss-function landscape
globally prefers a σ corner, every LHS start will find it.  Diagnose by
tightening σ to [0.30, 0.85] and checking whether Obj jumps up.</a:t>
            </a:r>
          </a:p>
        </p:txBody>
      </p:sp>
      <p:sp>
        <p:nvSpPr>
          <p:cNvPr id="19" name="Rectangle 18"/>
          <p:cNvSpPr/>
          <p:nvPr/>
        </p:nvSpPr>
        <p:spPr>
          <a:xfrm>
            <a:off x="457200" y="277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277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UNIT CONVERSIONS ARE EVERYWHERE</a:t>
            </a:r>
          </a:p>
        </p:txBody>
      </p:sp>
      <p:sp>
        <p:nvSpPr>
          <p:cNvPr id="21" name="Rectangle 20"/>
          <p:cNvSpPr/>
          <p:nvPr/>
        </p:nvSpPr>
        <p:spPr>
          <a:xfrm>
            <a:off x="457200" y="314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457200" y="314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31520" y="3170512"/>
            <a:ext cx="5120640" cy="179376"/>
          </a:xfrm>
          <a:prstGeom prst="rect">
            <a:avLst/>
          </a:prstGeom>
          <a:noFill/>
        </p:spPr>
        <p:txBody>
          <a:bodyPr wrap="square" lIns="0" tIns="0" rIns="0" bIns="0">
            <a:spAutoFit/>
          </a:bodyPr>
          <a:lstStyle/>
          <a:p>
            <a:pPr algn="l"/>
            <a:r>
              <a:rPr sz="900" b="0" i="0">
                <a:solidFill>
                  <a:srgbClr val="1E293B"/>
                </a:solidFill>
                <a:latin typeface="Calibri"/>
              </a:rPr>
              <a:t>The 36000 in Jw and the 10000 in Js are not cosmetic.  They encode the
unit system bridging L/(m²·hr·bar) → cm/s and μm/s → cm²·mM-per-time.
A wrong factor changes fitted Lp / B / σ silently.  No warning will fire.</a:t>
            </a:r>
          </a:p>
        </p:txBody>
      </p:sp>
      <p:sp>
        <p:nvSpPr>
          <p:cNvPr id="24" name="Rectangle 23"/>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cVmV  TRICK IS LATENT</a:t>
            </a:r>
          </a:p>
        </p:txBody>
      </p:sp>
      <p:sp>
        <p:nvSpPr>
          <p:cNvPr id="26" name="Rectangle 25"/>
          <p:cNvSpPr/>
          <p:nvPr/>
        </p:nvSpPr>
        <p:spPr>
          <a:xfrm>
            <a:off x="6263640" y="178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6263640" y="178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537960" y="1810512"/>
            <a:ext cx="5120640" cy="179376"/>
          </a:xfrm>
          <a:prstGeom prst="rect">
            <a:avLst/>
          </a:prstGeom>
          <a:noFill/>
        </p:spPr>
        <p:txBody>
          <a:bodyPr wrap="square" lIns="0" tIns="0" rIns="0" bIns="0">
            <a:spAutoFit/>
          </a:bodyPr>
          <a:lstStyle/>
          <a:p>
            <a:pPr algn="l"/>
            <a:r>
              <a:rPr sz="900" b="0" i="0">
                <a:solidFill>
                  <a:srgbClr val="1E293B"/>
                </a:solidFill>
                <a:latin typeface="Calibri"/>
              </a:rPr>
              <a:t>The fact that the model uses cVmV instead of cV is the difference between
an IPOPT solve that succeeds in 6 iterations and one that diverges trying
to evaluate 0 / 0.  Worth knowing if you refactor the state.</a:t>
            </a:r>
          </a:p>
        </p:txBody>
      </p:sp>
      <p:sp>
        <p:nvSpPr>
          <p:cNvPr id="29" name="Rectangle 28"/>
          <p:cNvSpPr/>
          <p:nvPr/>
        </p:nvSpPr>
        <p:spPr>
          <a:xfrm>
            <a:off x="6263640" y="209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355080" y="209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MASS-LITMUS IS EXCELLENT ENGINEERING</a:t>
            </a:r>
          </a:p>
        </p:txBody>
      </p:sp>
      <p:sp>
        <p:nvSpPr>
          <p:cNvPr id="31" name="Rectangle 30"/>
          <p:cNvSpPr/>
          <p:nvPr/>
        </p:nvSpPr>
        <p:spPr>
          <a:xfrm>
            <a:off x="6263640" y="246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6263640" y="246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537960" y="2490512"/>
            <a:ext cx="5120640" cy="179376"/>
          </a:xfrm>
          <a:prstGeom prst="rect">
            <a:avLst/>
          </a:prstGeom>
          <a:noFill/>
        </p:spPr>
        <p:txBody>
          <a:bodyPr wrap="square" lIns="0" tIns="0" rIns="0" bIns="0">
            <a:spAutoFit/>
          </a:bodyPr>
          <a:lstStyle/>
          <a:p>
            <a:pPr algn="l"/>
            <a:r>
              <a:rPr sz="900" b="0" i="0">
                <a:solidFill>
                  <a:srgbClr val="1E293B"/>
                </a:solidFill>
                <a:latin typeface="Calibri"/>
              </a:rPr>
              <a:t>A convex closed-form baseline that bypasses Pyomo / IPOPT entirely.  If
mass-litmus fails, the full fit cannot succeed — issue is in loader, units,
or data quality.  If it succeeds but the full fit fails, issue is σ-coupling
or the optimization landscape.</a:t>
            </a:r>
          </a:p>
        </p:txBody>
      </p:sp>
      <p:sp>
        <p:nvSpPr>
          <p:cNvPr id="34" name="Rectangle 33"/>
          <p:cNvSpPr/>
          <p:nvPr/>
        </p:nvSpPr>
        <p:spPr>
          <a:xfrm>
            <a:off x="6263640" y="277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55080" y="277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FIM IS LOCAL</a:t>
            </a:r>
          </a:p>
        </p:txBody>
      </p:sp>
      <p:sp>
        <p:nvSpPr>
          <p:cNvPr id="36" name="Rectangle 35"/>
          <p:cNvSpPr/>
          <p:nvPr/>
        </p:nvSpPr>
        <p:spPr>
          <a:xfrm>
            <a:off x="6263640" y="314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6263640" y="314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537960" y="3170512"/>
            <a:ext cx="5120640" cy="179376"/>
          </a:xfrm>
          <a:prstGeom prst="rect">
            <a:avLst/>
          </a:prstGeom>
          <a:noFill/>
        </p:spPr>
        <p:txBody>
          <a:bodyPr wrap="square" lIns="0" tIns="0" rIns="0" bIns="0">
            <a:spAutoFit/>
          </a:bodyPr>
          <a:lstStyle/>
          <a:p>
            <a:pPr algn="l"/>
            <a:r>
              <a:rPr sz="900" b="0" i="0">
                <a:solidFill>
                  <a:srgbClr val="1E293B"/>
                </a:solidFill>
                <a:latin typeface="Calibri"/>
              </a:rPr>
              <a:t>Meaningful only near θ̂ and under the assumed σ_meas.  Reported eigenvalues
/ stds describe local identifiability, not global uncertainty.  For global
uncertainty, profile likelihood is the frequentist-clean upgrade.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54864"/>
            <a:ext cx="8229600" cy="201168"/>
          </a:xfrm>
          <a:prstGeom prst="rect">
            <a:avLst/>
          </a:prstGeom>
          <a:noFill/>
        </p:spPr>
        <p:txBody>
          <a:bodyPr wrap="square" lIns="0" tIns="0" rIns="0" bIns="0" anchor="t">
            <a:spAutoFit/>
          </a:bodyPr>
          <a:lstStyle/>
          <a:p>
            <a:pPr algn="l"/>
            <a:r>
              <a:rPr sz="1100" b="1" i="0">
                <a:solidFill>
                  <a:srgbClr val="FFFFFF"/>
                </a:solidFill>
                <a:latin typeface="Calibri"/>
              </a:rPr>
              <a:t>10 · REPRODUCE</a:t>
            </a:r>
          </a:p>
        </p:txBody>
      </p:sp>
      <p:sp>
        <p:nvSpPr>
          <p:cNvPr id="5" name="TextBox 4"/>
          <p:cNvSpPr txBox="1"/>
          <p:nvPr/>
        </p:nvSpPr>
        <p:spPr>
          <a:xfrm>
            <a:off x="11247120" y="54864"/>
            <a:ext cx="914400" cy="201168"/>
          </a:xfrm>
          <a:prstGeom prst="rect">
            <a:avLst/>
          </a:prstGeom>
          <a:noFill/>
        </p:spPr>
        <p:txBody>
          <a:bodyPr wrap="square" lIns="0" tIns="0" rIns="0" bIns="0" anchor="t">
            <a:spAutoFit/>
          </a:bodyPr>
          <a:lstStyle/>
          <a:p>
            <a:pPr algn="r"/>
            <a:r>
              <a:rPr sz="1100" b="1" i="0">
                <a:solidFill>
                  <a:srgbClr val="02C39A"/>
                </a:solidFill>
                <a:latin typeface="Calibri"/>
              </a:rPr>
              <a:t>10</a:t>
            </a:r>
          </a:p>
        </p:txBody>
      </p:sp>
      <p:sp>
        <p:nvSpPr>
          <p:cNvPr id="6" name="TextBox 5"/>
          <p:cNvSpPr txBox="1"/>
          <p:nvPr/>
        </p:nvSpPr>
        <p:spPr>
          <a:xfrm>
            <a:off x="457200" y="502920"/>
            <a:ext cx="11247120" cy="640080"/>
          </a:xfrm>
          <a:prstGeom prst="rect">
            <a:avLst/>
          </a:prstGeom>
          <a:noFill/>
        </p:spPr>
        <p:txBody>
          <a:bodyPr wrap="square" lIns="0" tIns="0" rIns="0" bIns="0" anchor="t">
            <a:spAutoFit/>
          </a:bodyPr>
          <a:lstStyle/>
          <a:p>
            <a:pPr algn="l"/>
            <a:r>
              <a:rPr sz="2600" b="1" i="0">
                <a:solidFill>
                  <a:srgbClr val="21295C"/>
                </a:solidFill>
                <a:latin typeface="Calibri"/>
              </a:rPr>
              <a:t>How to run this on your machine — five steps</a:t>
            </a:r>
          </a:p>
        </p:txBody>
      </p:sp>
      <p:sp>
        <p:nvSpPr>
          <p:cNvPr id="7" name="Rectangle 6"/>
          <p:cNvSpPr/>
          <p:nvPr/>
        </p:nvSpPr>
        <p:spPr>
          <a:xfrm>
            <a:off x="457200" y="1371600"/>
            <a:ext cx="11247120" cy="2743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08760"/>
            <a:ext cx="10972800" cy="365760"/>
          </a:xfrm>
          <a:prstGeom prst="rect">
            <a:avLst/>
          </a:prstGeom>
          <a:noFill/>
        </p:spPr>
        <p:txBody>
          <a:bodyPr wrap="square" lIns="0" tIns="0" rIns="0" bIns="0" anchor="t">
            <a:spAutoFit/>
          </a:bodyPr>
          <a:lstStyle/>
          <a:p>
            <a:pPr algn="l"/>
            <a:r>
              <a:rPr sz="1300" b="1" i="0">
                <a:solidFill>
                  <a:srgbClr val="02C39A"/>
                </a:solidFill>
                <a:latin typeface="Calibri"/>
              </a:rPr>
              <a:t>STEPS</a:t>
            </a:r>
          </a:p>
        </p:txBody>
      </p:sp>
      <p:sp>
        <p:nvSpPr>
          <p:cNvPr id="9" name="TextBox 8"/>
          <p:cNvSpPr txBox="1"/>
          <p:nvPr/>
        </p:nvSpPr>
        <p:spPr>
          <a:xfrm>
            <a:off x="777240" y="1920240"/>
            <a:ext cx="10972800" cy="2194560"/>
          </a:xfrm>
          <a:prstGeom prst="rect">
            <a:avLst/>
          </a:prstGeom>
          <a:noFill/>
        </p:spPr>
        <p:txBody>
          <a:bodyPr wrap="square" lIns="0" tIns="0" rIns="0" bIns="0" anchor="t">
            <a:spAutoFit/>
          </a:bodyPr>
          <a:lstStyle/>
          <a:p>
            <a:pPr algn="l"/>
            <a:r>
              <a:rPr sz="1200" b="0" i="0">
                <a:solidFill>
                  <a:srgbClr val="FFFFFF"/>
                </a:solidFill>
                <a:latin typeface="Consolas"/>
              </a:rPr>
              <a:t>1.  Drop in refactored_ucb_library.py and refactored_ucb_runfile.py (single consolidated files).</a:t>
            </a:r>
          </a:p>
          <a:p>
            <a:pPr algn="l"/>
            <a:r>
              <a:rPr sz="1200" b="0" i="0">
                <a:solidFill>
                  <a:srgbClr val="FFFFFF"/>
                </a:solidFill>
                <a:latin typeface="Consolas"/>
              </a:rPr>
              <a:t>2.  python refactored_ucb_runfile.py     pick ROOT=3 (NF270)  SUBSET=2 (single-salt)  TRUNK=6 (mass-litmus)</a:t>
            </a:r>
          </a:p>
          <a:p>
            <a:pPr algn="l"/>
            <a:r>
              <a:rPr sz="1200" b="0" i="0">
                <a:solidFill>
                  <a:srgbClr val="FFFFFF"/>
                </a:solidFill>
                <a:latin typeface="Consolas"/>
              </a:rPr>
              <a:t>3.  Verify data_config: vial1_split_status=="split",  Lp0_method=="data_driven",  icp_final_tube_mM is populated.</a:t>
            </a:r>
          </a:p>
          <a:p>
            <a:pPr algn="l"/>
            <a:r>
              <a:rPr sz="1200" b="0" i="0">
                <a:solidFill>
                  <a:srgbClr val="FFFFFF"/>
                </a:solidFill>
                <a:latin typeface="Consolas"/>
              </a:rPr>
              <a:t>4.  Re-run TRUNK=3 with N=5 LHS starts. Report fitted (Lp̂, B̂, σ̂) per sheet + final Obj + Final Tube residual.</a:t>
            </a:r>
          </a:p>
          <a:p>
            <a:pPr algn="l"/>
            <a:r>
              <a:rPr sz="1200" b="0" i="0">
                <a:solidFill>
                  <a:srgbClr val="FFFFFF"/>
                </a:solidFill>
                <a:latin typeface="Consolas"/>
              </a:rPr>
              <a:t>5.  Verify data_config carries: mass_scale_g=0.01, icp_*_mM, stir_rpm. Compute mass-litmus baseline Lp = slope·36000/(Am·ρ·ΔP); confirm full fit beats it.</a:t>
            </a:r>
          </a:p>
        </p:txBody>
      </p:sp>
      <p:sp>
        <p:nvSpPr>
          <p:cNvPr id="10" name="Rectangle 9"/>
          <p:cNvSpPr/>
          <p:nvPr/>
        </p:nvSpPr>
        <p:spPr>
          <a:xfrm>
            <a:off x="457200" y="4297680"/>
            <a:ext cx="5486400" cy="2194560"/>
          </a:xfrm>
          <a:prstGeom prst="rect">
            <a:avLst/>
          </a:prstGeom>
          <a:solidFill>
            <a:srgbClr val="FEF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4297680"/>
            <a:ext cx="91440" cy="21945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389120"/>
            <a:ext cx="5029200" cy="365760"/>
          </a:xfrm>
          <a:prstGeom prst="rect">
            <a:avLst/>
          </a:prstGeom>
          <a:noFill/>
        </p:spPr>
        <p:txBody>
          <a:bodyPr wrap="square" lIns="0" tIns="0" rIns="0" bIns="0" anchor="t">
            <a:spAutoFit/>
          </a:bodyPr>
          <a:lstStyle/>
          <a:p>
            <a:pPr algn="l"/>
            <a:r>
              <a:rPr sz="1300" b="1" i="0">
                <a:solidFill>
                  <a:srgbClr val="C9A227"/>
                </a:solidFill>
                <a:latin typeface="Calibri"/>
              </a:rPr>
              <a:t>WHAT WOULD HELP US MOST</a:t>
            </a:r>
          </a:p>
        </p:txBody>
      </p:sp>
      <p:sp>
        <p:nvSpPr>
          <p:cNvPr id="13" name="TextBox 12"/>
          <p:cNvSpPr txBox="1"/>
          <p:nvPr/>
        </p:nvSpPr>
        <p:spPr>
          <a:xfrm>
            <a:off x="777240" y="4800600"/>
            <a:ext cx="5029200" cy="1554480"/>
          </a:xfrm>
          <a:prstGeom prst="rect">
            <a:avLst/>
          </a:prstGeom>
          <a:noFill/>
        </p:spPr>
        <p:txBody>
          <a:bodyPr wrap="square" lIns="0" tIns="0" rIns="0" bIns="0">
            <a:spAutoFit/>
          </a:bodyPr>
          <a:lstStyle/>
          <a:p>
            <a:pPr marL="228600" indent="-228600">
              <a:buChar char="•"/>
            </a:pPr>
            <a:r>
              <a:rPr sz="1100" b="0">
                <a:solidFill>
                  <a:srgbClr val="1E293B"/>
                </a:solidFill>
                <a:latin typeface="Calibri"/>
              </a:rPr>
              <a:t>Your priors on σ for NF270 with NaCl, CaCl₂, LaCl₃ — even rough ranges.</a:t>
            </a:r>
          </a:p>
          <a:p>
            <a:pPr marL="228600" indent="-228600">
              <a:buChar char="•"/>
            </a:pPr>
            <a:r>
              <a:rPr sz="1100" b="0">
                <a:solidFill>
                  <a:srgbClr val="1E293B"/>
                </a:solidFill>
                <a:latin typeface="Calibri"/>
              </a:rPr>
              <a:t>Whether the three modes correspond to specific salts you've seen behave this way.</a:t>
            </a:r>
          </a:p>
          <a:p>
            <a:pPr marL="228600" indent="-228600">
              <a:buChar char="•"/>
            </a:pPr>
            <a:r>
              <a:rPr sz="1100" b="0">
                <a:solidFill>
                  <a:srgbClr val="1E293B"/>
                </a:solidFill>
                <a:latin typeface="Calibri"/>
              </a:rPr>
              <a:t>Which sheet you'd focus on first if you were us.</a:t>
            </a:r>
          </a:p>
        </p:txBody>
      </p:sp>
      <p:sp>
        <p:nvSpPr>
          <p:cNvPr id="14" name="Rectangle 13"/>
          <p:cNvSpPr/>
          <p:nvPr/>
        </p:nvSpPr>
        <p:spPr>
          <a:xfrm>
            <a:off x="6263640" y="4297680"/>
            <a:ext cx="5486400" cy="21945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4297680"/>
            <a:ext cx="91440" cy="21945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4389120"/>
            <a:ext cx="5029200" cy="365760"/>
          </a:xfrm>
          <a:prstGeom prst="rect">
            <a:avLst/>
          </a:prstGeom>
          <a:noFill/>
        </p:spPr>
        <p:txBody>
          <a:bodyPr wrap="square" lIns="0" tIns="0" rIns="0" bIns="0" anchor="t">
            <a:spAutoFit/>
          </a:bodyPr>
          <a:lstStyle/>
          <a:p>
            <a:pPr algn="l"/>
            <a:r>
              <a:rPr sz="1300" b="1" i="0">
                <a:solidFill>
                  <a:srgbClr val="065A82"/>
                </a:solidFill>
                <a:latin typeface="Calibri"/>
              </a:rPr>
              <a:t>WHAT TO WATCH FOR</a:t>
            </a:r>
          </a:p>
        </p:txBody>
      </p:sp>
      <p:sp>
        <p:nvSpPr>
          <p:cNvPr id="17" name="TextBox 16"/>
          <p:cNvSpPr txBox="1"/>
          <p:nvPr/>
        </p:nvSpPr>
        <p:spPr>
          <a:xfrm>
            <a:off x="6583680" y="4800600"/>
            <a:ext cx="5029200" cy="1554480"/>
          </a:xfrm>
          <a:prstGeom prst="rect">
            <a:avLst/>
          </a:prstGeom>
          <a:noFill/>
        </p:spPr>
        <p:txBody>
          <a:bodyPr wrap="square" lIns="0" tIns="0" rIns="0" bIns="0">
            <a:spAutoFit/>
          </a:bodyPr>
          <a:lstStyle/>
          <a:p>
            <a:pPr marL="228600" indent="-228600">
              <a:buChar char="•"/>
            </a:pPr>
            <a:r>
              <a:rPr sz="1100" b="0">
                <a:solidFill>
                  <a:srgbClr val="1E293B"/>
                </a:solidFill>
                <a:latin typeface="Calibri"/>
              </a:rPr>
              <a:t>σ̂ → 1 with Lp̂ → 0.5 (lower bound) — Mode B corner.</a:t>
            </a:r>
          </a:p>
          <a:p>
            <a:pPr marL="228600" indent="-228600">
              <a:buChar char="•"/>
            </a:pPr>
            <a:r>
              <a:rPr sz="1100" b="0">
                <a:solidFill>
                  <a:srgbClr val="1E293B"/>
                </a:solidFill>
                <a:latin typeface="Calibri"/>
              </a:rPr>
              <a:t>σ̂ → 0 with B̂ → large — Mode C corner (LHS-R10 basin).</a:t>
            </a:r>
          </a:p>
          <a:p>
            <a:pPr marL="228600" indent="-228600">
              <a:buChar char="•"/>
            </a:pPr>
            <a:r>
              <a:rPr sz="1100" b="0">
                <a:solidFill>
                  <a:srgbClr val="1E293B"/>
                </a:solidFill>
                <a:latin typeface="Calibri"/>
              </a:rPr>
              <a:t>Final Tube residual (cF[N,τ_last]−ICP) on the order of σ_cf = 0.003·cF → fit consistent with measurement.</a:t>
            </a:r>
          </a:p>
        </p:txBody>
      </p:sp>
      <p:sp>
        <p:nvSpPr>
          <p:cNvPr id="18" name="Rectangle 17"/>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6601968"/>
            <a:ext cx="8686800" cy="237744"/>
          </a:xfrm>
          <a:prstGeom prst="rect">
            <a:avLst/>
          </a:prstGeom>
          <a:noFill/>
        </p:spPr>
        <p:txBody>
          <a:bodyPr wrap="square" lIns="0" tIns="0" rIns="0" bIns="0" anchor="t">
            <a:spAutoFit/>
          </a:bodyPr>
          <a:lstStyle/>
          <a:p>
            <a:pPr algn="l"/>
            <a:r>
              <a:rPr sz="900" b="0" i="0">
                <a:solidFill>
                  <a:srgbClr val="F1F5F9"/>
                </a:solidFill>
                <a:latin typeface="Calibri"/>
              </a:rPr>
              <a:t>NF270 fitting · diagnosis + fix + open questions for collaborators</a:t>
            </a:r>
          </a:p>
        </p:txBody>
      </p:sp>
      <p:sp>
        <p:nvSpPr>
          <p:cNvPr id="20" name="TextBox 19"/>
          <p:cNvSpPr txBox="1"/>
          <p:nvPr/>
        </p:nvSpPr>
        <p:spPr>
          <a:xfrm>
            <a:off x="10972800" y="6601968"/>
            <a:ext cx="1097280" cy="237744"/>
          </a:xfrm>
          <a:prstGeom prst="rect">
            <a:avLst/>
          </a:prstGeom>
          <a:noFill/>
        </p:spPr>
        <p:txBody>
          <a:bodyPr wrap="square" lIns="0" tIns="0" rIns="0" bIns="0" anchor="t">
            <a:spAutoFit/>
          </a:bodyPr>
          <a:lstStyle/>
          <a:p>
            <a:pPr algn="r"/>
            <a:r>
              <a:rPr sz="900" b="0" i="0">
                <a:solidFill>
                  <a:srgbClr val="F1F5F9"/>
                </a:solidFill>
                <a:latin typeface="Calibri"/>
              </a:rPr>
              <a:t>10 / 10</a:t>
            </a:r>
          </a:p>
        </p:txBody>
      </p:sp>
    </p:spTree>
    <p:extLst>
      <p:ext uri="{BB962C8B-B14F-4D97-AF65-F5344CB8AC3E}">
        <p14:creationId xmlns:p14="http://schemas.microsoft.com/office/powerpoint/2010/main" val="451988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B01 · PROBLEM STATEMENT</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11</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Dynamic inverse problem — what we are solving for</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11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UNKNOWNS</a:t>
            </a:r>
          </a:p>
        </p:txBody>
      </p:sp>
      <p:sp>
        <p:nvSpPr>
          <p:cNvPr id="12" name="Rectangle 11"/>
          <p:cNvSpPr/>
          <p:nvPr/>
        </p:nvSpPr>
        <p:spPr>
          <a:xfrm>
            <a:off x="45720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1779376"/>
          </a:xfrm>
          <a:prstGeom prst="rect">
            <a:avLst/>
          </a:prstGeom>
          <a:noFill/>
        </p:spPr>
        <p:txBody>
          <a:bodyPr wrap="square" lIns="0" tIns="0" rIns="0" bIns="0">
            <a:spAutoFit/>
          </a:bodyPr>
          <a:lstStyle/>
          <a:p>
            <a:pPr algn="l"/>
            <a:r>
              <a:rPr sz="1100" b="0" i="0">
                <a:solidFill>
                  <a:srgbClr val="1E293B"/>
                </a:solidFill>
                <a:latin typeface="Consolas"/>
              </a:rPr>
              <a:t>θ  =  ( Lp ,  B ,  σ )
Lp  : hydraulic permeability  [ L / m² / hr / bar ]
B   : solute permeability   [ μm / s ]
σ   : reflection coefficient   [ dimensionless,  0 ≤ σ ≤ 1 ]
Measurements per vial i and sample j:
  mV_i,j   :  mass collected in vial i at time t_j     [g]
  cF_i,j   :  retentate concentration                  [mM]
  cV_i     :  per-vial permeate concentration (scalar) [mM]</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OPTIMIZATION</a:t>
            </a:r>
          </a:p>
        </p:txBody>
      </p:sp>
      <p:sp>
        <p:nvSpPr>
          <p:cNvPr id="17" name="Rectangle 16"/>
          <p:cNvSpPr/>
          <p:nvPr/>
        </p:nvSpPr>
        <p:spPr>
          <a:xfrm>
            <a:off x="626364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1779376"/>
          </a:xfrm>
          <a:prstGeom prst="rect">
            <a:avLst/>
          </a:prstGeom>
          <a:noFill/>
        </p:spPr>
        <p:txBody>
          <a:bodyPr wrap="square" lIns="0" tIns="0" rIns="0" bIns="0">
            <a:spAutoFit/>
          </a:bodyPr>
          <a:lstStyle/>
          <a:p>
            <a:pPr algn="l"/>
            <a:r>
              <a:rPr sz="1100" b="0" i="0">
                <a:solidFill>
                  <a:srgbClr val="1E293B"/>
                </a:solidFill>
                <a:latin typeface="Consolas"/>
              </a:rPr>
              <a:t>θ̂  =  argmin_θ   Obj(θ ; D)
subject to:   DAE  &amp;  initial conditions
              parameter bounds
The model outputs (mV, cF, cV) are not algebraic in θ.
They come from solving coupled ODEs over (n_vial, τ).
Pyomo turns the dynamic model into one nonlinear
program over { θ, all state values at all τ-nodes }.</a:t>
            </a:r>
          </a:p>
        </p:txBody>
      </p:sp>
      <p:sp>
        <p:nvSpPr>
          <p:cNvPr id="20" name="Rectangle 19"/>
          <p:cNvSpPr/>
          <p:nvPr/>
        </p:nvSpPr>
        <p:spPr>
          <a:xfrm>
            <a:off x="457200" y="37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37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KEY POINT — WHY THE FIT IS HARD</a:t>
            </a:r>
          </a:p>
        </p:txBody>
      </p:sp>
      <p:sp>
        <p:nvSpPr>
          <p:cNvPr id="22" name="Rectangle 21"/>
          <p:cNvSpPr/>
          <p:nvPr/>
        </p:nvSpPr>
        <p:spPr>
          <a:xfrm>
            <a:off x="457200" y="4083080"/>
            <a:ext cx="1129284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40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4110512"/>
            <a:ext cx="10927080" cy="1779376"/>
          </a:xfrm>
          <a:prstGeom prst="rect">
            <a:avLst/>
          </a:prstGeom>
          <a:noFill/>
        </p:spPr>
        <p:txBody>
          <a:bodyPr wrap="square" lIns="0" tIns="0" rIns="0" bIns="0">
            <a:spAutoFit/>
          </a:bodyPr>
          <a:lstStyle/>
          <a:p>
            <a:pPr algn="l"/>
            <a:r>
              <a:rPr sz="1100" b="0" i="0">
                <a:solidFill>
                  <a:srgbClr val="1E293B"/>
                </a:solidFill>
                <a:latin typeface="Calibri"/>
              </a:rPr>
              <a:t>1. The forward map  θ → ( mV, cF, cV )  is nonlinear and dynamic.
   Even small θ-changes can shift basins → IPOPT can converge to
   different local minima depending on initialization.
2. σ has both lower (σ = 0, no rejection) and upper (σ = 1, complete
   rejection) corner basins.  Each corner trivializes the model in
   a different way, and is hard to escape once the optimizer is
   nearby.  Hence LHS multistart (R10/R12) and structural fixes.
3. The WSSE weights (1 / σ_meas) determine which residual the
   optimizer cares about most.  Salt-specific physics belongs in θ,
   not in σ_meas — see R11→R13 in slide 7.</a:t>
            </a:r>
          </a:p>
        </p:txBody>
      </p:sp>
    </p:spTree>
    <p:extLst>
      <p:ext uri="{BB962C8B-B14F-4D97-AF65-F5344CB8AC3E}">
        <p14:creationId xmlns:p14="http://schemas.microsoft.com/office/powerpoint/2010/main" val="3841992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B02 · DATA CONTRACT</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12</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data_stru — one shape, two loaders (loadmat, loadxlsx)</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12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data_config (per experiment)</a:t>
            </a:r>
          </a:p>
        </p:txBody>
      </p:sp>
      <p:sp>
        <p:nvSpPr>
          <p:cNvPr id="12" name="Rectangle 11"/>
          <p:cNvSpPr/>
          <p:nvPr/>
        </p:nvSpPr>
        <p:spPr>
          <a:xfrm>
            <a:off x="457200" y="1783080"/>
            <a:ext cx="548640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4579376"/>
          </a:xfrm>
          <a:prstGeom prst="rect">
            <a:avLst/>
          </a:prstGeom>
          <a:noFill/>
        </p:spPr>
        <p:txBody>
          <a:bodyPr wrap="square" lIns="0" tIns="0" rIns="0" bIns="0">
            <a:spAutoFit/>
          </a:bodyPr>
          <a:lstStyle/>
          <a:p>
            <a:pPr algn="l"/>
            <a:r>
              <a:rPr sz="1000" b="0" i="0">
                <a:solidFill>
                  <a:srgbClr val="1E293B"/>
                </a:solidFill>
                <a:latin typeface="Consolas"/>
              </a:rPr>
              <a:t>n             # number of vials
n_v0          # first real (non-holdup) vial
n_extra       # holdup vials skipped in WSSE
delP          # applied pressure       [bar]
Temp          # temperature            [K]
Am            # membrane area          [cm²]
rho           # density                [g/cm³]
M_F0          # initial feed mass      [g]
M_O           # M_F0 − Final           [g]
C_F0          # initial feed conc.     [mM]
C_D           # diafiltrate conc.      [mM]
namec         # salt name (e.g. "NaCl")
Lp0, B0, sigma0   # initial guesses
mass_scale_g  # WSSE mass weight, 0.01 g
stir_rpm      # R16, parsed from notes
icp_feed_mM
icp_diafiltrate_mM
icp_retentate_mM
icp_final_tube_mM   # R14/R15 anchor</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data_raw[i]  (one entry per vial)</a:t>
            </a:r>
          </a:p>
        </p:txBody>
      </p:sp>
      <p:sp>
        <p:nvSpPr>
          <p:cNvPr id="17" name="Rectangle 16"/>
          <p:cNvSpPr/>
          <p:nvPr/>
        </p:nvSpPr>
        <p:spPr>
          <a:xfrm>
            <a:off x="6263640" y="1783080"/>
            <a:ext cx="548640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4579376"/>
          </a:xfrm>
          <a:prstGeom prst="rect">
            <a:avLst/>
          </a:prstGeom>
          <a:noFill/>
        </p:spPr>
        <p:txBody>
          <a:bodyPr wrap="square" lIns="0" tIns="0" rIns="0" bIns="0">
            <a:spAutoFit/>
          </a:bodyPr>
          <a:lstStyle/>
          <a:p>
            <a:pPr algn="l"/>
            <a:r>
              <a:rPr sz="1000" b="0" i="0">
                <a:solidFill>
                  <a:srgbClr val="1E293B"/>
                </a:solidFill>
                <a:latin typeface="Consolas"/>
              </a:rPr>
              <a:t>time      # sample times      [s], per-vial start at 0
mass      # cumulative balance reading, per-vial reset:
          #    mass[t] = balance[t] − balance[t_start]
          #    (matches DATA2 .mat convention)
cF_exp    # retentate concentration time-series [mM]
          # (Shedlovsky-inverted from in-line κ)
cV_avg    # scalar per-vial permeate conc.     [mM]
          # = mg/L · dilution / cation_MW
Both loaders converge to this shape:
  loadmat("…/data_stru-dataset270511.12.mat")
       ↓
  data_stru = {"data_config": …, "data_raw": […]}
       ↑
  _load_legacy_data_stru_from_excel("NF270_MC2.xlsx",
                                    selector="05.07.24_NaCl")
Downstream code (solve_model, calc_FIM, plot_*)
never knows whether the source was .mat or .xlsx.</a:t>
            </a:r>
          </a:p>
        </p:txBody>
      </p:sp>
    </p:spTree>
    <p:extLst>
      <p:ext uri="{BB962C8B-B14F-4D97-AF65-F5344CB8AC3E}">
        <p14:creationId xmlns:p14="http://schemas.microsoft.com/office/powerpoint/2010/main" val="540189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B03 · PHYSICS MODEL</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13</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Membrane transport — Jw, Js, concentration polarization</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13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WATER FLUX  Jw  [cm/s]</a:t>
            </a:r>
          </a:p>
        </p:txBody>
      </p:sp>
      <p:sp>
        <p:nvSpPr>
          <p:cNvPr id="12" name="Rectangle 11"/>
          <p:cNvSpPr/>
          <p:nvPr/>
        </p:nvSpPr>
        <p:spPr>
          <a:xfrm>
            <a:off x="457200" y="1783080"/>
            <a:ext cx="5486400" cy="14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14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1379376"/>
          </a:xfrm>
          <a:prstGeom prst="rect">
            <a:avLst/>
          </a:prstGeom>
          <a:noFill/>
        </p:spPr>
        <p:txBody>
          <a:bodyPr wrap="square" lIns="0" tIns="0" rIns="0" bIns="0">
            <a:spAutoFit/>
          </a:bodyPr>
          <a:lstStyle/>
          <a:p>
            <a:pPr algn="l"/>
            <a:r>
              <a:rPr sz="1000" b="0" i="0">
                <a:solidFill>
                  <a:srgbClr val="1E293B"/>
                </a:solidFill>
                <a:latin typeface="Consolas"/>
              </a:rPr>
              <a:t>Jw  =  ( Lp / 36000 ) · [ ΔP  −  σ · n_i · R · T · ( c_in − c_H ) ]
Pyomo line:
  m.Jw[n,t] · 36000  ==  m.Lp · (
      delP − (m.cIn[n,t]−m.cH[n,t]) · ni · m.sigma · R · T )
Lp is in L/(m²·hr·bar); the 36000 converts to cm/s.
(c_in − c_H) is the osmotic driving force across the membrane.</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SOLUTE FLUX  Js  [mol/(cm²·s)]</a:t>
            </a:r>
          </a:p>
        </p:txBody>
      </p:sp>
      <p:sp>
        <p:nvSpPr>
          <p:cNvPr id="17" name="Rectangle 16"/>
          <p:cNvSpPr/>
          <p:nvPr/>
        </p:nvSpPr>
        <p:spPr>
          <a:xfrm>
            <a:off x="6263640" y="1783080"/>
            <a:ext cx="5486400" cy="14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14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1379376"/>
          </a:xfrm>
          <a:prstGeom prst="rect">
            <a:avLst/>
          </a:prstGeom>
          <a:noFill/>
        </p:spPr>
        <p:txBody>
          <a:bodyPr wrap="square" lIns="0" tIns="0" rIns="0" bIns="0">
            <a:spAutoFit/>
          </a:bodyPr>
          <a:lstStyle/>
          <a:p>
            <a:pPr algn="l"/>
            <a:r>
              <a:rPr sz="1000" b="0" i="0">
                <a:solidFill>
                  <a:srgbClr val="1E293B"/>
                </a:solidFill>
                <a:latin typeface="Consolas"/>
              </a:rPr>
              <a:t>Js · 10000  =  B · ( c_in − c_H )         (single-B form)
Pyomo line:
  m.Js[n,t] · 10000  ==  m.B · (m.cIn[n,t]−m.cH[n,t])
B is in μm/s; 10000 converts to cm²·mM-per-time units
consistent with the rest of the model.
For convection-diffusion B_form:
  Js · 10000  =  ( Jw · B · 10000 ) · ( c_in − c_H )</a:t>
            </a:r>
          </a:p>
        </p:txBody>
      </p:sp>
      <p:sp>
        <p:nvSpPr>
          <p:cNvPr id="20" name="Rectangle 19"/>
          <p:cNvSpPr/>
          <p:nvPr/>
        </p:nvSpPr>
        <p:spPr>
          <a:xfrm>
            <a:off x="457200" y="33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33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CONCENTRATION POLARIZATION  (film model)</a:t>
            </a:r>
          </a:p>
        </p:txBody>
      </p:sp>
      <p:sp>
        <p:nvSpPr>
          <p:cNvPr id="22" name="Rectangle 21"/>
          <p:cNvSpPr/>
          <p:nvPr/>
        </p:nvSpPr>
        <p:spPr>
          <a:xfrm>
            <a:off x="457200" y="3683080"/>
            <a:ext cx="11292840" cy="2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3683080"/>
            <a:ext cx="91440" cy="2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3710512"/>
            <a:ext cx="10927080" cy="2179376"/>
          </a:xfrm>
          <a:prstGeom prst="rect">
            <a:avLst/>
          </a:prstGeom>
          <a:noFill/>
        </p:spPr>
        <p:txBody>
          <a:bodyPr wrap="square" lIns="0" tIns="0" rIns="0" bIns="0">
            <a:spAutoFit/>
          </a:bodyPr>
          <a:lstStyle/>
          <a:p>
            <a:pPr algn="l"/>
            <a:r>
              <a:rPr sz="1000" b="0" i="0">
                <a:solidFill>
                  <a:srgbClr val="1E293B"/>
                </a:solidFill>
                <a:latin typeface="Consolas"/>
              </a:rPr>
              <a:t>c_in  =  ( c_F  −  c_H ) · exp( Jw / k )  +  c_H
Pyomo line:
  m.cIn[n,t]  ==  (m.cF[n,t] − m.cH[n,t]) · exp( m.Jw[n,t] / k )  +  m.cH[n,t]
k = mass-transfer coefficient computed from stir velocity v, diameter b, kinematic viscosity ν,
and salt diffusivity D via the standard correlation:
  k  =  0.23 · v^0.57 · D^0.67 / (ν^0.24 · b^0.43)         where  v = (RPM / 60) · π · b
R16 update: RPM is now parsed from XLSX notes → data_config["stir_rpm"], used in k.
D is salt-specific: K⁺ 1.96e-5, Na⁺ 1.33e-5, Ca²⁺ 0.79e-5, La³⁺ 0.62e-5 cm²/s.
Why this matters: the membrane sees c_in, not c_F.  Polarization raises c_in above c_F when Jw is large,
which couples Lp and σ — a key reason the (Lp, σ) landscape has corner basins.</a:t>
            </a:r>
          </a:p>
        </p:txBody>
      </p:sp>
    </p:spTree>
    <p:extLst>
      <p:ext uri="{BB962C8B-B14F-4D97-AF65-F5344CB8AC3E}">
        <p14:creationId xmlns:p14="http://schemas.microsoft.com/office/powerpoint/2010/main" val="2620395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B04 · DYNAMIC STATES</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14</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Pyomo states + the cVmV trick (avoiding 0/0)</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14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STATES</a:t>
            </a:r>
          </a:p>
        </p:txBody>
      </p:sp>
      <p:sp>
        <p:nvSpPr>
          <p:cNvPr id="12" name="Rectangle 11"/>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m.cF   [n_vial, τ]    retentate / feed concentration  [mM]
m.cH   [n_vial, τ]    holdup concentration             [mM]
m.mV   [n_vial, τ]    cumulative vial mass             [g]
m.cVmV [n_vial, τ]    extensive vial solute  c_V · m_V
m.cV   [n_vial, τ]    vial concentration               [mM]
Algebraic constraint:
  m.cV [n,t] · m.mV [n,t]  ==  m.cVmV [n,t]
Domains:
  m.n_vial  =  RangeSet(N_VIAL)
  m.tau     =  ContinuousSet(bounds=(0, 1))
Derivatives (Pyomo DAE):
  m.dcF    =  DerivativeVar(m.cF,    wrt=m.tau)
  m.dcH    =  DerivativeVar(m.cH,    wrt=m.tau)
  m.dmV    =  DerivativeVar(m.mV,    wrt=m.tau)
  m.dcVmV  =  DerivativeVar(m.cVmV,  wrt=m.tau)</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cVmV  AND NOT  cV  DIRECTLY?</a:t>
            </a:r>
          </a:p>
        </p:txBody>
      </p:sp>
      <p:sp>
        <p:nvSpPr>
          <p:cNvPr id="17" name="Rectangle 16"/>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At the start of each vial,  m_V → 0.
Computing  c_V  =  c_VmV / m_V  is singular there.
Trick: evolve the EXTENSIVE quantity first,
then recover the intensive variable algebraically:
  d(c_V · m_V) / dt  =  A_m · ρ · J_w · c_H     (well-defined)
  c_V                 =  (c_V · m_V) / m_V       (algebraic, only
                                                 evaluated where
                                                 m_V &gt; 0)
This is a classic dynamic-modeling pattern: keep ODEs on
extensive quantities (mass, total solute) and use algebraic
constraints for intensive quantities (concentrations).
Numerical payoff: IPOPT does not have to chase  0 / 0  near
τ = 0 in each vial — the constraint is always non-singular.</a:t>
            </a:r>
          </a:p>
        </p:txBody>
      </p:sp>
    </p:spTree>
    <p:extLst>
      <p:ext uri="{BB962C8B-B14F-4D97-AF65-F5344CB8AC3E}">
        <p14:creationId xmlns:p14="http://schemas.microsoft.com/office/powerpoint/2010/main" val="4065338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B05 · ODEs</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15</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Mass and species balances — what each state evolves under</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15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VIAL MASS  m.mV</a:t>
            </a:r>
          </a:p>
        </p:txBody>
      </p:sp>
      <p:sp>
        <p:nvSpPr>
          <p:cNvPr id="12" name="Rectangle 11"/>
          <p:cNvSpPr/>
          <p:nvPr/>
        </p:nvSpPr>
        <p:spPr>
          <a:xfrm>
            <a:off x="457200" y="1783080"/>
            <a:ext cx="5486400" cy="80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80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749376"/>
          </a:xfrm>
          <a:prstGeom prst="rect">
            <a:avLst/>
          </a:prstGeom>
          <a:noFill/>
        </p:spPr>
        <p:txBody>
          <a:bodyPr wrap="square" lIns="0" tIns="0" rIns="0" bIns="0">
            <a:spAutoFit/>
          </a:bodyPr>
          <a:lstStyle/>
          <a:p>
            <a:pPr algn="l"/>
            <a:r>
              <a:rPr sz="1000" b="0" i="0">
                <a:solidFill>
                  <a:srgbClr val="1E293B"/>
                </a:solidFill>
                <a:latin typeface="Consolas"/>
              </a:rPr>
              <a:t>d m_V / d t  =  A_m · ρ · J_w
Pyomo:
  m.dmV[n,t]  ==  m.Jw[n,t] · A_m · ρ · (TF[n] − TI[n]) / 1</a:t>
            </a:r>
          </a:p>
        </p:txBody>
      </p:sp>
      <p:sp>
        <p:nvSpPr>
          <p:cNvPr id="15" name="Rectangle 14"/>
          <p:cNvSpPr/>
          <p:nvPr/>
        </p:nvSpPr>
        <p:spPr>
          <a:xfrm>
            <a:off x="62640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4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VIAL SOLUTE  m.cVmV</a:t>
            </a:r>
          </a:p>
        </p:txBody>
      </p:sp>
      <p:sp>
        <p:nvSpPr>
          <p:cNvPr id="17" name="Rectangle 16"/>
          <p:cNvSpPr/>
          <p:nvPr/>
        </p:nvSpPr>
        <p:spPr>
          <a:xfrm>
            <a:off x="6264040" y="1783080"/>
            <a:ext cx="5486400" cy="80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4040" y="1783080"/>
            <a:ext cx="91440" cy="80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8360" y="1810512"/>
            <a:ext cx="5120640" cy="749376"/>
          </a:xfrm>
          <a:prstGeom prst="rect">
            <a:avLst/>
          </a:prstGeom>
          <a:noFill/>
        </p:spPr>
        <p:txBody>
          <a:bodyPr wrap="square" lIns="0" tIns="0" rIns="0" bIns="0">
            <a:spAutoFit/>
          </a:bodyPr>
          <a:lstStyle/>
          <a:p>
            <a:pPr algn="l"/>
            <a:r>
              <a:rPr sz="1000" b="0" i="0">
                <a:solidFill>
                  <a:srgbClr val="1E293B"/>
                </a:solidFill>
                <a:latin typeface="Consolas"/>
              </a:rPr>
              <a:t>d (c_V · m_V) / d t  =  A_m · ρ · J_w · c_H
Pyomo:
  m.dcVmV[n,t]  ==
     m.Jw[n,t] · m.cH[n,t] · A_m · ρ · (TF[n] − TI[n])</a:t>
            </a:r>
          </a:p>
        </p:txBody>
      </p:sp>
      <p:sp>
        <p:nvSpPr>
          <p:cNvPr id="20" name="Rectangle 19"/>
          <p:cNvSpPr/>
          <p:nvPr/>
        </p:nvSpPr>
        <p:spPr>
          <a:xfrm>
            <a:off x="457200" y="268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268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HOLDUP  m.cH</a:t>
            </a:r>
          </a:p>
        </p:txBody>
      </p:sp>
      <p:sp>
        <p:nvSpPr>
          <p:cNvPr id="22" name="Rectangle 21"/>
          <p:cNvSpPr/>
          <p:nvPr/>
        </p:nvSpPr>
        <p:spPr>
          <a:xfrm>
            <a:off x="457200" y="3053080"/>
            <a:ext cx="5486400" cy="80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3053080"/>
            <a:ext cx="91440" cy="80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3080512"/>
            <a:ext cx="5120640" cy="749376"/>
          </a:xfrm>
          <a:prstGeom prst="rect">
            <a:avLst/>
          </a:prstGeom>
          <a:noFill/>
        </p:spPr>
        <p:txBody>
          <a:bodyPr wrap="square" lIns="0" tIns="0" rIns="0" bIns="0">
            <a:spAutoFit/>
          </a:bodyPr>
          <a:lstStyle/>
          <a:p>
            <a:pPr algn="l"/>
            <a:r>
              <a:rPr sz="1000" b="0" i="0">
                <a:solidFill>
                  <a:srgbClr val="1E293B"/>
                </a:solidFill>
                <a:latin typeface="Consolas"/>
              </a:rPr>
              <a:t>d c_H / d t  =  ( A_m · ρ / m_H ) · ( J_s − c_H · J_w )
Pyomo:
  m.dcH[n,t]  ==  A_m · ρ / m_H · (
     m.Js[n,t] − m.cH[n,t] · m.Jw[n,t] ) · (TF[n] − TI[n])</a:t>
            </a:r>
          </a:p>
        </p:txBody>
      </p:sp>
      <p:sp>
        <p:nvSpPr>
          <p:cNvPr id="25" name="Rectangle 24"/>
          <p:cNvSpPr/>
          <p:nvPr/>
        </p:nvSpPr>
        <p:spPr>
          <a:xfrm>
            <a:off x="6264040" y="268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355480" y="268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FEED  m.cF</a:t>
            </a:r>
          </a:p>
        </p:txBody>
      </p:sp>
      <p:sp>
        <p:nvSpPr>
          <p:cNvPr id="27" name="Rectangle 26"/>
          <p:cNvSpPr/>
          <p:nvPr/>
        </p:nvSpPr>
        <p:spPr>
          <a:xfrm>
            <a:off x="6264040" y="3053080"/>
            <a:ext cx="5486400" cy="80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6264040" y="3053080"/>
            <a:ext cx="91440" cy="80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538360" y="3080512"/>
            <a:ext cx="5120640" cy="749376"/>
          </a:xfrm>
          <a:prstGeom prst="rect">
            <a:avLst/>
          </a:prstGeom>
          <a:noFill/>
        </p:spPr>
        <p:txBody>
          <a:bodyPr wrap="square" lIns="0" tIns="0" rIns="0" bIns="0">
            <a:spAutoFit/>
          </a:bodyPr>
          <a:lstStyle/>
          <a:p>
            <a:pPr algn="l"/>
            <a:r>
              <a:rPr sz="1000" b="0" i="0">
                <a:solidFill>
                  <a:srgbClr val="1E293B"/>
                </a:solidFill>
                <a:latin typeface="Consolas"/>
              </a:rPr>
              <a:t>d c_F / d t  =  ( A_m · ρ / M_F0 ) · ( c_D · J_w − J_s )
Pyomo (DATA mode):
  m.dcF[n,t]  ==  A_m · ρ / M_F0 · (
     m.cD · m.Jw[n,t] − m.Js[n,t] ) · (TF[n] − TI[n])</a:t>
            </a:r>
          </a:p>
        </p:txBody>
      </p:sp>
      <p:sp>
        <p:nvSpPr>
          <p:cNvPr id="30" name="Rectangle 29"/>
          <p:cNvSpPr/>
          <p:nvPr/>
        </p:nvSpPr>
        <p:spPr>
          <a:xfrm>
            <a:off x="457200" y="395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48640" y="395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LAG / OVERFLOW MODES</a:t>
            </a:r>
          </a:p>
        </p:txBody>
      </p:sp>
      <p:sp>
        <p:nvSpPr>
          <p:cNvPr id="32" name="Rectangle 31"/>
          <p:cNvSpPr/>
          <p:nvPr/>
        </p:nvSpPr>
        <p:spPr>
          <a:xfrm>
            <a:off x="457200" y="4323080"/>
            <a:ext cx="11292840" cy="7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457200" y="4323080"/>
            <a:ext cx="91440" cy="7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31520" y="4350512"/>
            <a:ext cx="10927080" cy="679376"/>
          </a:xfrm>
          <a:prstGeom prst="rect">
            <a:avLst/>
          </a:prstGeom>
          <a:noFill/>
        </p:spPr>
        <p:txBody>
          <a:bodyPr wrap="square" lIns="0" tIns="0" rIns="0" bIns="0">
            <a:spAutoFit/>
          </a:bodyPr>
          <a:lstStyle/>
          <a:p>
            <a:pPr algn="l"/>
            <a:r>
              <a:rPr sz="1000" b="0" i="0">
                <a:solidFill>
                  <a:srgbClr val="1E293B"/>
                </a:solidFill>
                <a:latin typeface="Consolas"/>
              </a:rPr>
              <a:t>In Lag and Overflow modes,  m_F  becomes dynamic too:
  d m_F / d t  =  − S₀  −  A_m · ρ · J_w        (Lag, after holdup)
  d m_F / d t  =   S / 3600                      (Lag, during holdup)
S₀, S are fit parameters describing leakage / diafiltrate inflow.</a:t>
            </a:r>
          </a:p>
        </p:txBody>
      </p:sp>
    </p:spTree>
    <p:extLst>
      <p:ext uri="{BB962C8B-B14F-4D97-AF65-F5344CB8AC3E}">
        <p14:creationId xmlns:p14="http://schemas.microsoft.com/office/powerpoint/2010/main" val="2343435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B06 · TIME SCALING</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16</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τ ∈ [0, 1] per vial — why every ODE has a (TF−TI) factor</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16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NORMALIZE?</a:t>
            </a:r>
          </a:p>
        </p:txBody>
      </p:sp>
      <p:sp>
        <p:nvSpPr>
          <p:cNvPr id="12" name="Rectangle 11"/>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Different vials run for different durations.
Vial 1 might be 8.6 min, vial 5 might be 4.8 min.
If we worked in physical seconds, each ODE in each vial
would have a different integration window.  Pyomo DAE
wants a single ContinuousSet shared across all vials.
Solution: rescale each vial to τ ∈ [0, 1]:
   t  ∈  [ TI[n] ,  TF[n] ]     →     τ  =  ( t − TI ) / ( TF − TI )
   m.tau  =  ContinuousSet( bounds=(0, Tauf=1) )
Same τ grid is reused for every vial — cleaner discretization,
smaller global problem, better numerical conditioning.</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CHAIN RULE — WHERE THE FACTOR COMES FROM</a:t>
            </a:r>
          </a:p>
        </p:txBody>
      </p:sp>
      <p:sp>
        <p:nvSpPr>
          <p:cNvPr id="17" name="Rectangle 16"/>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  dx / dt   =   ( dx / dτ ) · ( dτ / dt )
  dτ / dt   =   1 / ( TF − TI )
so:
  dx / dτ   =   ( TF − TI ) · ( dx / dt )
That is why every Pyomo ODE in this code is multiplied by
       (TF_dict[n] − TI_dict[n]) / Tauf
It is NOT a free unit-conversion factor — it is the
chain-rule artifact of rescaling time to a unit interval.
Drop it, and IPOPT silently fits the wrong dynamics.</a:t>
            </a:r>
          </a:p>
        </p:txBody>
      </p:sp>
    </p:spTree>
    <p:extLst>
      <p:ext uri="{BB962C8B-B14F-4D97-AF65-F5344CB8AC3E}">
        <p14:creationId xmlns:p14="http://schemas.microsoft.com/office/powerpoint/2010/main" val="885963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B07 · DAE → NLP</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17</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Backward finite difference, nfe = 300, CasADi initialization</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17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DISCRETIZATION</a:t>
            </a:r>
          </a:p>
        </p:txBody>
      </p:sp>
      <p:sp>
        <p:nvSpPr>
          <p:cNvPr id="12" name="Rectangle 11"/>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TransformationFactory("dae.finite_difference")
    .apply_to( instance, nfe = 300, scheme = "BACKWARD" )
The continuous ODE  d x / d τ  =  f ( x, θ )  becomes:
  ( x[k] − x[k−1] ) / Δτ   =   f ( x[k], θ )         k = 1 .. nfe
with  Δτ  =  1 / nfe  =  1 / 300.
Number of NLP variables ≈
   N_VIAL  ×  ( nfe + 1 )  ×  N_states
   = 11 × 301 × 7 ≈ 23,000 plus θ.
The DAE is replaced by ~20,000 algebraic equality constraints.</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THIS BEATS sim+opt</a:t>
            </a:r>
          </a:p>
        </p:txBody>
      </p:sp>
      <p:sp>
        <p:nvSpPr>
          <p:cNvPr id="17" name="Rectangle 16"/>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Naive approach (NOT used here):
   for each θ proposal:
       y_sim = scipy.integrate.solve_ivp( ODE, θ )
       obj   = ‖ y_sim − y_meas ‖²
   minimize  obj  via scipy.optimize
Problems:  derivatives are noisy (finite-diff through
the integrator), nested loops are slow, no guarantee
of constraint satisfaction during the search.
Simultaneous dynamic optimization (what this code does):
   min   Obj(θ, x(·))
   s.t.  every ODE point IS an equality constraint
         every initial / boundary condition IS a constraint
         parameter bounds via Var( bounds = ... )
IPOPT moves θ AND the state grid jointly — exact gradients
via automatic differentiation through Pyomo + ASL.
CasADi simulator gives a warm start before IPOPT runs.</a:t>
            </a:r>
          </a:p>
        </p:txBody>
      </p:sp>
    </p:spTree>
    <p:extLst>
      <p:ext uri="{BB962C8B-B14F-4D97-AF65-F5344CB8AC3E}">
        <p14:creationId xmlns:p14="http://schemas.microsoft.com/office/powerpoint/2010/main" val="2708203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B08 · WSSE OBJECTIVE</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18</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Weighted least squares + interpolation onto measurement times</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18 / 23</a:t>
            </a:r>
          </a:p>
        </p:txBody>
      </p:sp>
      <p:sp>
        <p:nvSpPr>
          <p:cNvPr id="10" name="Rectangle 9"/>
          <p:cNvSpPr/>
          <p:nvPr/>
        </p:nvSpPr>
        <p:spPr>
          <a:xfrm>
            <a:off x="457200" y="14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OBJECTIVE</a:t>
            </a:r>
          </a:p>
        </p:txBody>
      </p:sp>
      <p:sp>
        <p:nvSpPr>
          <p:cNvPr id="12" name="Rectangle 11"/>
          <p:cNvSpPr/>
          <p:nvPr/>
        </p:nvSpPr>
        <p:spPr>
          <a:xfrm>
            <a:off x="457200" y="1783080"/>
            <a:ext cx="11292840" cy="13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13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mc:AlternateContent xmlns:mc="http://schemas.openxmlformats.org/markup-compatibility/2006" xmlns:a14="http://schemas.microsoft.com/office/drawing/2010/main">
        <mc:Choice Requires="a14">
          <p:sp>
            <p:nvSpPr>
              <p:cNvPr id="14" name="TextBox 13"/>
              <p:cNvSpPr txBox="1"/>
              <p:nvPr/>
            </p:nvSpPr>
            <p:spPr>
              <a:xfrm>
                <a:off x="731520" y="1810512"/>
                <a:ext cx="10927080" cy="1015663"/>
              </a:xfrm>
              <a:prstGeom prst="rect">
                <a:avLst/>
              </a:prstGeom>
              <a:noFill/>
            </p:spPr>
            <p:txBody>
              <a:bodyPr wrap="square" lIns="0" tIns="0" rIns="0" bIns="0">
                <a:spAutoFit/>
              </a:bodyPr>
              <a:lstStyle/>
              <a:p>
                <a:pPr algn="l"/>
                <a:r>
                  <a:rPr lang="el-GR" sz="1100" b="0" i="0" dirty="0">
                    <a:solidFill>
                      <a:srgbClr val="1E293B"/>
                    </a:solidFill>
                    <a:latin typeface="Consolas"/>
                  </a:rPr>
                  <a:t>  (</a:t>
                </a:r>
                <a:r>
                  <a:rPr lang="en-US" sz="1100" b="0" i="0" dirty="0">
                    <a:solidFill>
                      <a:srgbClr val="1E293B"/>
                    </a:solidFill>
                    <a:latin typeface="Consolas"/>
                  </a:rPr>
                  <a:t>R13, frequentist balance precision, salt-independent).</a:t>
                </a:r>
                <a:endParaRPr sz="1100" b="0" i="0" dirty="0">
                  <a:solidFill>
                    <a:srgbClr val="1E293B"/>
                  </a:solidFill>
                  <a:latin typeface="Consolas"/>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731520" y="1810512"/>
                <a:ext cx="10927080" cy="1015663"/>
              </a:xfrm>
              <a:prstGeom prst="rect">
                <a:avLst/>
              </a:prstGeom>
              <a:blipFill>
                <a:blip r:embed="rId2"/>
                <a:stretch>
                  <a:fillRect l="-812" t="-3704" b="-7407"/>
                </a:stretch>
              </a:blipFill>
            </p:spPr>
            <p:txBody>
              <a:bodyPr/>
              <a:lstStyle/>
              <a:p>
                <a:r>
                  <a:rPr lang="en-US">
                    <a:noFill/>
                  </a:rPr>
                  <a:t> </a:t>
                </a:r>
              </a:p>
            </p:txBody>
          </p:sp>
        </mc:Fallback>
      </mc:AlternateContent>
      <p:sp>
        <p:nvSpPr>
          <p:cNvPr id="15" name="Rectangle 14"/>
          <p:cNvSpPr/>
          <p:nvPr/>
        </p:nvSpPr>
        <p:spPr>
          <a:xfrm>
            <a:off x="457200" y="32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48640" y="32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INTERPOLATION onto MEASUREMENT TIMES</a:t>
            </a:r>
          </a:p>
        </p:txBody>
      </p:sp>
      <p:sp>
        <p:nvSpPr>
          <p:cNvPr id="17" name="Rectangle 16"/>
          <p:cNvSpPr/>
          <p:nvPr/>
        </p:nvSpPr>
        <p:spPr>
          <a:xfrm>
            <a:off x="457200" y="3583080"/>
            <a:ext cx="5486400" cy="2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57200" y="3583080"/>
            <a:ext cx="91440" cy="2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mc:AlternateContent xmlns:mc="http://schemas.openxmlformats.org/markup-compatibility/2006" xmlns:a14="http://schemas.microsoft.com/office/drawing/2010/main">
        <mc:Choice Requires="a14">
          <p:sp>
            <p:nvSpPr>
              <p:cNvPr id="19" name="TextBox 18"/>
              <p:cNvSpPr txBox="1"/>
              <p:nvPr/>
            </p:nvSpPr>
            <p:spPr>
              <a:xfrm>
                <a:off x="731520" y="3610512"/>
                <a:ext cx="5120640" cy="1582036"/>
              </a:xfrm>
              <a:prstGeom prst="rect">
                <a:avLst/>
              </a:prstGeom>
              <a:noFill/>
            </p:spPr>
            <p:txBody>
              <a:bodyPr wrap="square" lIns="0" tIns="0" rIns="0" bIns="0">
                <a:spAutoFit/>
              </a:bodyPr>
              <a:lstStyle/>
              <a:p>
                <a:r>
                  <a:rPr sz="1000" b="0" i="0" dirty="0">
                    <a:solidFill>
                      <a:srgbClr val="1E293B"/>
                    </a:solidFill>
                    <a:latin typeface="Consolas"/>
                  </a:rPr>
                  <a:t>IPOPT discretizes onto its own </a:t>
                </a:r>
                <a:r>
                  <a:rPr sz="1000" b="0" i="0" dirty="0" err="1">
                    <a:solidFill>
                      <a:srgbClr val="1E293B"/>
                    </a:solidFill>
                    <a:latin typeface="Consolas"/>
                  </a:rPr>
                  <a:t>τ</a:t>
                </a:r>
                <a:r>
                  <a:rPr sz="1000" b="0" i="0" dirty="0">
                    <a:solidFill>
                      <a:srgbClr val="1E293B"/>
                    </a:solidFill>
                    <a:latin typeface="Consolas"/>
                  </a:rPr>
                  <a:t>-grid.
Measurements are at experimental timestamps </a:t>
                </a:r>
                <a:r>
                  <a:rPr sz="1000" b="0" i="0" dirty="0" err="1">
                    <a:solidFill>
                      <a:srgbClr val="1E293B"/>
                    </a:solidFill>
                    <a:latin typeface="Consolas"/>
                  </a:rPr>
                  <a:t>t_j</a:t>
                </a:r>
                <a:r>
                  <a:rPr sz="1000" b="0" i="0" dirty="0">
                    <a:solidFill>
                      <a:srgbClr val="1E293B"/>
                    </a:solidFill>
                    <a:latin typeface="Consolas"/>
                  </a:rPr>
                  <a:t>.
For each (</a:t>
                </a:r>
                <a:r>
                  <a:rPr sz="1000" b="0" i="0" dirty="0" err="1">
                    <a:solidFill>
                      <a:srgbClr val="1E293B"/>
                    </a:solidFill>
                    <a:latin typeface="Consolas"/>
                  </a:rPr>
                  <a:t>n_vial</a:t>
                </a:r>
                <a:r>
                  <a:rPr sz="1000" b="0" i="0" dirty="0">
                    <a:solidFill>
                      <a:srgbClr val="1E293B"/>
                    </a:solidFill>
                    <a:latin typeface="Consolas"/>
                  </a:rPr>
                  <a:t>, </a:t>
                </a:r>
                <a:r>
                  <a:rPr sz="1000" b="0" i="0" dirty="0" err="1">
                    <a:solidFill>
                      <a:srgbClr val="1E293B"/>
                    </a:solidFill>
                    <a:latin typeface="Consolas"/>
                  </a:rPr>
                  <a:t>t_j_scaled</a:t>
                </a:r>
                <a:r>
                  <a:rPr sz="1000" b="0" i="0" dirty="0">
                    <a:solidFill>
                      <a:srgbClr val="1E293B"/>
                    </a:solidFill>
                    <a:latin typeface="Consolas"/>
                  </a:rPr>
                  <a:t>), find the bracketing grid
nodes </a:t>
                </a:r>
                <a:r>
                  <a:rPr sz="1000" b="0" i="0" dirty="0" err="1">
                    <a:solidFill>
                      <a:srgbClr val="1E293B"/>
                    </a:solidFill>
                    <a:latin typeface="Consolas"/>
                  </a:rPr>
                  <a:t>τ</a:t>
                </a:r>
                <a:r>
                  <a:rPr sz="1000" b="0" i="0" dirty="0">
                    <a:solidFill>
                      <a:srgbClr val="1E293B"/>
                    </a:solidFill>
                    <a:latin typeface="Consolas"/>
                  </a:rPr>
                  <a:t>[k], </a:t>
                </a:r>
                <a:r>
                  <a:rPr sz="1000" b="0" i="0" dirty="0" err="1">
                    <a:solidFill>
                      <a:srgbClr val="1E293B"/>
                    </a:solidFill>
                    <a:latin typeface="Consolas"/>
                  </a:rPr>
                  <a:t>τ</a:t>
                </a:r>
                <a:r>
                  <a:rPr sz="1000" b="0" i="0" dirty="0">
                    <a:solidFill>
                      <a:srgbClr val="1E293B"/>
                    </a:solidFill>
                    <a:latin typeface="Consolas"/>
                  </a:rPr>
                  <a:t>[k+1] and linear-interpolate:
</a:t>
                </a:r>
                <a14:m>
                  <m:oMath xmlns:m="http://schemas.openxmlformats.org/officeDocument/2006/math">
                    <m:r>
                      <a:rPr lang="cy-GB" sz="1000" b="0" i="1" dirty="0" smtClean="0">
                        <a:solidFill>
                          <a:srgbClr val="1E293B"/>
                        </a:solidFill>
                        <a:latin typeface="Cambria Math" panose="02040503050406030204" pitchFamily="18" charset="0"/>
                      </a:rPr>
                      <m:t>  </m:t>
                    </m:r>
                    <m:r>
                      <a:rPr lang="cy-GB" sz="1000" b="0" i="1" dirty="0" err="1">
                        <a:solidFill>
                          <a:srgbClr val="1E293B"/>
                        </a:solidFill>
                        <a:latin typeface="Cambria Math" panose="02040503050406030204" pitchFamily="18" charset="0"/>
                      </a:rPr>
                      <m:t>ŷ</m:t>
                    </m:r>
                    <m:r>
                      <a:rPr lang="cy-GB" sz="1000" b="0" i="1" dirty="0">
                        <a:solidFill>
                          <a:srgbClr val="1E293B"/>
                        </a:solidFill>
                        <a:latin typeface="Cambria Math" panose="02040503050406030204" pitchFamily="18" charset="0"/>
                      </a:rPr>
                      <m:t> ( </m:t>
                    </m:r>
                    <m:r>
                      <a:rPr lang="cy-GB" sz="1000" b="0" i="1" dirty="0" err="1">
                        <a:solidFill>
                          <a:srgbClr val="1E293B"/>
                        </a:solidFill>
                        <a:latin typeface="Cambria Math" panose="02040503050406030204" pitchFamily="18" charset="0"/>
                      </a:rPr>
                      <m:t>𝑡</m:t>
                    </m:r>
                    <m:r>
                      <a:rPr lang="cy-GB" sz="1000" b="0" i="1" dirty="0" err="1">
                        <a:solidFill>
                          <a:srgbClr val="1E293B"/>
                        </a:solidFill>
                        <a:latin typeface="Cambria Math" panose="02040503050406030204" pitchFamily="18" charset="0"/>
                      </a:rPr>
                      <m:t>_</m:t>
                    </m:r>
                    <m:r>
                      <a:rPr lang="cy-GB" sz="1000" b="0" i="1" dirty="0" err="1">
                        <a:solidFill>
                          <a:srgbClr val="1E293B"/>
                        </a:solidFill>
                        <a:latin typeface="Cambria Math" panose="02040503050406030204" pitchFamily="18" charset="0"/>
                      </a:rPr>
                      <m:t>𝑗</m:t>
                    </m:r>
                    <m:r>
                      <a:rPr lang="cy-GB" sz="1000" b="0" i="1" dirty="0">
                        <a:solidFill>
                          <a:srgbClr val="1E293B"/>
                        </a:solidFill>
                        <a:latin typeface="Cambria Math" panose="02040503050406030204" pitchFamily="18" charset="0"/>
                      </a:rPr>
                      <m:t> )  =  </m:t>
                    </m:r>
                    <m:r>
                      <a:rPr lang="cy-GB" sz="1000" b="0" i="1" dirty="0">
                        <a:solidFill>
                          <a:srgbClr val="1E293B"/>
                        </a:solidFill>
                        <a:latin typeface="Cambria Math" panose="02040503050406030204" pitchFamily="18" charset="0"/>
                      </a:rPr>
                      <m:t>𝑦</m:t>
                    </m:r>
                    <m:r>
                      <a:rPr lang="cy-GB" sz="1000" b="0" i="1" dirty="0">
                        <a:solidFill>
                          <a:srgbClr val="1E293B"/>
                        </a:solidFill>
                        <a:latin typeface="Cambria Math" panose="02040503050406030204" pitchFamily="18" charset="0"/>
                      </a:rPr>
                      <m:t>[</m:t>
                    </m:r>
                    <m:r>
                      <a:rPr lang="cy-GB" sz="1000" b="0" i="1" dirty="0">
                        <a:solidFill>
                          <a:srgbClr val="1E293B"/>
                        </a:solidFill>
                        <a:latin typeface="Cambria Math" panose="02040503050406030204" pitchFamily="18" charset="0"/>
                      </a:rPr>
                      <m:t>𝑘</m:t>
                    </m:r>
                    <m:r>
                      <a:rPr lang="cy-GB" sz="1000" b="0" i="1" dirty="0">
                        <a:solidFill>
                          <a:srgbClr val="1E293B"/>
                        </a:solidFill>
                        <a:latin typeface="Cambria Math" panose="02040503050406030204" pitchFamily="18" charset="0"/>
                      </a:rPr>
                      <m:t>]  +  ( </m:t>
                    </m:r>
                    <m:r>
                      <a:rPr lang="cy-GB" sz="1000" b="0" i="1" dirty="0">
                        <a:solidFill>
                          <a:srgbClr val="1E293B"/>
                        </a:solidFill>
                        <a:latin typeface="Cambria Math" panose="02040503050406030204" pitchFamily="18" charset="0"/>
                      </a:rPr>
                      <m:t>𝑦</m:t>
                    </m:r>
                    <m:r>
                      <a:rPr lang="cy-GB" sz="1000" b="0" i="1" dirty="0">
                        <a:solidFill>
                          <a:srgbClr val="1E293B"/>
                        </a:solidFill>
                        <a:latin typeface="Cambria Math" panose="02040503050406030204" pitchFamily="18" charset="0"/>
                      </a:rPr>
                      <m:t>[</m:t>
                    </m:r>
                    <m:r>
                      <a:rPr lang="cy-GB" sz="1000" b="0" i="1" dirty="0">
                        <a:solidFill>
                          <a:srgbClr val="1E293B"/>
                        </a:solidFill>
                        <a:latin typeface="Cambria Math" panose="02040503050406030204" pitchFamily="18" charset="0"/>
                      </a:rPr>
                      <m:t>𝑘</m:t>
                    </m:r>
                    <m:r>
                      <a:rPr lang="cy-GB" sz="1000" b="0" i="1" dirty="0">
                        <a:solidFill>
                          <a:srgbClr val="1E293B"/>
                        </a:solidFill>
                        <a:latin typeface="Cambria Math" panose="02040503050406030204" pitchFamily="18" charset="0"/>
                      </a:rPr>
                      <m:t>+1] − </m:t>
                    </m:r>
                    <m:r>
                      <a:rPr lang="cy-GB" sz="1000" b="0" i="1" dirty="0">
                        <a:solidFill>
                          <a:srgbClr val="1E293B"/>
                        </a:solidFill>
                        <a:latin typeface="Cambria Math" panose="02040503050406030204" pitchFamily="18" charset="0"/>
                      </a:rPr>
                      <m:t>𝑦</m:t>
                    </m:r>
                    <m:r>
                      <a:rPr lang="cy-GB" sz="1000" b="0" i="1" dirty="0">
                        <a:solidFill>
                          <a:srgbClr val="1E293B"/>
                        </a:solidFill>
                        <a:latin typeface="Cambria Math" panose="02040503050406030204" pitchFamily="18" charset="0"/>
                      </a:rPr>
                      <m:t>[</m:t>
                    </m:r>
                    <m:r>
                      <a:rPr lang="cy-GB" sz="1000" b="0" i="1" dirty="0">
                        <a:solidFill>
                          <a:srgbClr val="1E293B"/>
                        </a:solidFill>
                        <a:latin typeface="Cambria Math" panose="02040503050406030204" pitchFamily="18" charset="0"/>
                      </a:rPr>
                      <m:t>𝑘</m:t>
                    </m:r>
                    <m:r>
                      <a:rPr lang="cy-GB" sz="1000" b="0" i="1" dirty="0">
                        <a:solidFill>
                          <a:srgbClr val="1E293B"/>
                        </a:solidFill>
                        <a:latin typeface="Cambria Math" panose="02040503050406030204" pitchFamily="18" charset="0"/>
                      </a:rPr>
                      <m:t>] ) · </m:t>
                    </m:r>
                    <m:box>
                      <m:boxPr>
                        <m:ctrlPr>
                          <a:rPr lang="cy-GB" sz="1000" b="0" i="1" dirty="0" smtClean="0">
                            <a:solidFill>
                              <a:srgbClr val="1E293B"/>
                            </a:solidFill>
                            <a:latin typeface="Cambria Math" panose="02040503050406030204" pitchFamily="18" charset="0"/>
                          </a:rPr>
                        </m:ctrlPr>
                      </m:boxPr>
                      <m:e>
                        <m:argPr>
                          <m:argSz m:val="-1"/>
                        </m:argPr>
                        <m:f>
                          <m:fPr>
                            <m:ctrlPr>
                              <a:rPr lang="cy-GB" sz="1000" b="0" i="1" dirty="0" smtClean="0">
                                <a:solidFill>
                                  <a:srgbClr val="1E293B"/>
                                </a:solidFill>
                                <a:latin typeface="Cambria Math" panose="02040503050406030204" pitchFamily="18" charset="0"/>
                              </a:rPr>
                            </m:ctrlPr>
                          </m:fPr>
                          <m:num>
                            <m:r>
                              <a:rPr lang="cy-GB" sz="1000" i="1" dirty="0">
                                <a:solidFill>
                                  <a:srgbClr val="1E293B"/>
                                </a:solidFill>
                                <a:latin typeface="Cambria Math" panose="02040503050406030204" pitchFamily="18" charset="0"/>
                              </a:rPr>
                              <m:t>( </m:t>
                            </m:r>
                            <m:r>
                              <a:rPr lang="cy-GB" sz="1000" i="1" dirty="0" err="1">
                                <a:solidFill>
                                  <a:srgbClr val="1E293B"/>
                                </a:solidFill>
                                <a:latin typeface="Cambria Math" panose="02040503050406030204" pitchFamily="18" charset="0"/>
                              </a:rPr>
                              <m:t>𝑡</m:t>
                            </m:r>
                            <m:r>
                              <a:rPr lang="cy-GB" sz="1000" i="1" dirty="0" err="1">
                                <a:solidFill>
                                  <a:srgbClr val="1E293B"/>
                                </a:solidFill>
                                <a:latin typeface="Cambria Math" panose="02040503050406030204" pitchFamily="18" charset="0"/>
                              </a:rPr>
                              <m:t>_</m:t>
                            </m:r>
                            <m:r>
                              <a:rPr lang="cy-GB" sz="1000" i="1" dirty="0" err="1">
                                <a:solidFill>
                                  <a:srgbClr val="1E293B"/>
                                </a:solidFill>
                                <a:latin typeface="Cambria Math" panose="02040503050406030204" pitchFamily="18" charset="0"/>
                              </a:rPr>
                              <m:t>𝑗</m:t>
                            </m:r>
                            <m:r>
                              <a:rPr lang="cy-GB" sz="1000" i="1" dirty="0">
                                <a:solidFill>
                                  <a:srgbClr val="1E293B"/>
                                </a:solidFill>
                                <a:latin typeface="Cambria Math" panose="02040503050406030204" pitchFamily="18" charset="0"/>
                              </a:rPr>
                              <m:t> − </m:t>
                            </m:r>
                            <m:r>
                              <a:rPr lang="cy-GB" sz="1000" i="1" dirty="0" err="1">
                                <a:solidFill>
                                  <a:srgbClr val="1E293B"/>
                                </a:solidFill>
                                <a:latin typeface="Cambria Math" panose="02040503050406030204" pitchFamily="18" charset="0"/>
                              </a:rPr>
                              <m:t>𝜏</m:t>
                            </m:r>
                            <m:r>
                              <a:rPr lang="cy-GB" sz="1000" i="1" dirty="0">
                                <a:solidFill>
                                  <a:srgbClr val="1E293B"/>
                                </a:solidFill>
                                <a:latin typeface="Cambria Math" panose="02040503050406030204" pitchFamily="18" charset="0"/>
                              </a:rPr>
                              <m:t>[</m:t>
                            </m:r>
                            <m:r>
                              <a:rPr lang="cy-GB" sz="1000" i="1" dirty="0">
                                <a:solidFill>
                                  <a:srgbClr val="1E293B"/>
                                </a:solidFill>
                                <a:latin typeface="Cambria Math" panose="02040503050406030204" pitchFamily="18" charset="0"/>
                              </a:rPr>
                              <m:t>𝑘</m:t>
                            </m:r>
                            <m:r>
                              <a:rPr lang="cy-GB" sz="1000" i="1" dirty="0">
                                <a:solidFill>
                                  <a:srgbClr val="1E293B"/>
                                </a:solidFill>
                                <a:latin typeface="Cambria Math" panose="02040503050406030204" pitchFamily="18" charset="0"/>
                              </a:rPr>
                              <m:t>] )</m:t>
                            </m:r>
                          </m:num>
                          <m:den>
                            <m:r>
                              <a:rPr lang="cy-GB" sz="1000" i="1" dirty="0">
                                <a:solidFill>
                                  <a:srgbClr val="1E293B"/>
                                </a:solidFill>
                                <a:latin typeface="Cambria Math" panose="02040503050406030204" pitchFamily="18" charset="0"/>
                              </a:rPr>
                              <m:t>(</m:t>
                            </m:r>
                            <m:r>
                              <a:rPr lang="cy-GB" sz="1000" i="1" dirty="0" err="1">
                                <a:solidFill>
                                  <a:srgbClr val="1E293B"/>
                                </a:solidFill>
                                <a:latin typeface="Cambria Math" panose="02040503050406030204" pitchFamily="18" charset="0"/>
                              </a:rPr>
                              <m:t>𝜏</m:t>
                            </m:r>
                            <m:r>
                              <a:rPr lang="cy-GB" sz="1000" i="1" dirty="0">
                                <a:solidFill>
                                  <a:srgbClr val="1E293B"/>
                                </a:solidFill>
                                <a:latin typeface="Cambria Math" panose="02040503050406030204" pitchFamily="18" charset="0"/>
                              </a:rPr>
                              <m:t>[</m:t>
                            </m:r>
                            <m:r>
                              <a:rPr lang="cy-GB" sz="1000" i="1" dirty="0">
                                <a:solidFill>
                                  <a:srgbClr val="1E293B"/>
                                </a:solidFill>
                                <a:latin typeface="Cambria Math" panose="02040503050406030204" pitchFamily="18" charset="0"/>
                              </a:rPr>
                              <m:t>𝑘</m:t>
                            </m:r>
                            <m:r>
                              <a:rPr lang="cy-GB" sz="1000" i="1" dirty="0">
                                <a:solidFill>
                                  <a:srgbClr val="1E293B"/>
                                </a:solidFill>
                                <a:latin typeface="Cambria Math" panose="02040503050406030204" pitchFamily="18" charset="0"/>
                              </a:rPr>
                              <m:t>+1] − </m:t>
                            </m:r>
                            <m:r>
                              <a:rPr lang="cy-GB" sz="1000" i="1" dirty="0" err="1">
                                <a:solidFill>
                                  <a:srgbClr val="1E293B"/>
                                </a:solidFill>
                                <a:latin typeface="Cambria Math" panose="02040503050406030204" pitchFamily="18" charset="0"/>
                              </a:rPr>
                              <m:t>𝜏</m:t>
                            </m:r>
                            <m:r>
                              <a:rPr lang="cy-GB" sz="1000" i="1" dirty="0">
                                <a:solidFill>
                                  <a:srgbClr val="1E293B"/>
                                </a:solidFill>
                                <a:latin typeface="Cambria Math" panose="02040503050406030204" pitchFamily="18" charset="0"/>
                              </a:rPr>
                              <m:t>[</m:t>
                            </m:r>
                            <m:r>
                              <a:rPr lang="cy-GB" sz="1000" i="1" dirty="0">
                                <a:solidFill>
                                  <a:srgbClr val="1E293B"/>
                                </a:solidFill>
                                <a:latin typeface="Cambria Math" panose="02040503050406030204" pitchFamily="18" charset="0"/>
                              </a:rPr>
                              <m:t>𝑘</m:t>
                            </m:r>
                            <m:r>
                              <a:rPr lang="cy-GB" sz="1000" i="1" dirty="0">
                                <a:solidFill>
                                  <a:srgbClr val="1E293B"/>
                                </a:solidFill>
                                <a:latin typeface="Cambria Math" panose="02040503050406030204" pitchFamily="18" charset="0"/>
                              </a:rPr>
                              <m:t>])</m:t>
                            </m:r>
                          </m:den>
                        </m:f>
                      </m:e>
                    </m:box>
                    <m:r>
                      <a:rPr lang="cy-GB" sz="1000" b="0" i="1" dirty="0">
                        <a:solidFill>
                          <a:srgbClr val="1E293B"/>
                        </a:solidFill>
                        <a:latin typeface="Cambria Math" panose="02040503050406030204" pitchFamily="18" charset="0"/>
                      </a:rPr>
                      <m:t> </m:t>
                    </m:r>
                  </m:oMath>
                </a14:m>
                <a:r>
                  <a:rPr sz="1000" b="0" i="0" dirty="0">
                    <a:solidFill>
                      <a:srgbClr val="1E293B"/>
                    </a:solidFill>
                    <a:latin typeface="Consolas"/>
                  </a:rPr>
                  <a:t>
Residuals are evaluated at </a:t>
                </a:r>
                <a:r>
                  <a:rPr sz="1000" b="0" i="0" dirty="0" err="1">
                    <a:solidFill>
                      <a:srgbClr val="1E293B"/>
                    </a:solidFill>
                    <a:latin typeface="Consolas"/>
                  </a:rPr>
                  <a:t>ŷ</a:t>
                </a:r>
                <a:r>
                  <a:rPr sz="1000" b="0" i="0" dirty="0">
                    <a:solidFill>
                      <a:srgbClr val="1E293B"/>
                    </a:solidFill>
                    <a:latin typeface="Consolas"/>
                  </a:rPr>
                  <a:t> ( </a:t>
                </a:r>
                <a:r>
                  <a:rPr sz="1000" b="0" i="0" dirty="0" err="1">
                    <a:solidFill>
                      <a:srgbClr val="1E293B"/>
                    </a:solidFill>
                    <a:latin typeface="Consolas"/>
                  </a:rPr>
                  <a:t>t_j</a:t>
                </a:r>
                <a:r>
                  <a:rPr sz="1000" b="0" i="0" dirty="0">
                    <a:solidFill>
                      <a:srgbClr val="1E293B"/>
                    </a:solidFill>
                    <a:latin typeface="Consolas"/>
                  </a:rPr>
                  <a:t> ), not at grid nodes.
Same trick used by DATA2 </a:t>
                </a:r>
                <a:r>
                  <a:rPr sz="1000" b="0" i="0" dirty="0" err="1">
                    <a:solidFill>
                      <a:srgbClr val="1E293B"/>
                    </a:solidFill>
                    <a:latin typeface="Consolas"/>
                  </a:rPr>
                  <a:t>utility.py:obj_rule</a:t>
                </a:r>
                <a:r>
                  <a:rPr sz="1000" b="0" i="0" dirty="0">
                    <a:solidFill>
                      <a:srgbClr val="1E293B"/>
                    </a:solidFill>
                    <a:latin typeface="Consolas"/>
                  </a:rPr>
                  <a:t>.</a:t>
                </a:r>
              </a:p>
            </p:txBody>
          </p:sp>
        </mc:Choice>
        <mc:Fallback xmlns="">
          <p:sp>
            <p:nvSpPr>
              <p:cNvPr id="19" name="TextBox 18"/>
              <p:cNvSpPr txBox="1">
                <a:spLocks noRot="1" noChangeAspect="1" noMove="1" noResize="1" noEditPoints="1" noAdjustHandles="1" noChangeArrowheads="1" noChangeShapeType="1" noTextEdit="1"/>
              </p:cNvSpPr>
              <p:nvPr/>
            </p:nvSpPr>
            <p:spPr>
              <a:xfrm>
                <a:off x="731520" y="3610512"/>
                <a:ext cx="5120640" cy="1582036"/>
              </a:xfrm>
              <a:prstGeom prst="rect">
                <a:avLst/>
              </a:prstGeom>
              <a:blipFill>
                <a:blip r:embed="rId3"/>
                <a:stretch>
                  <a:fillRect l="-1485" t="-2400" b="-5600"/>
                </a:stretch>
              </a:blipFill>
            </p:spPr>
            <p:txBody>
              <a:bodyPr/>
              <a:lstStyle/>
              <a:p>
                <a:r>
                  <a:rPr lang="en-US">
                    <a:noFill/>
                  </a:rPr>
                  <a:t> </a:t>
                </a:r>
              </a:p>
            </p:txBody>
          </p:sp>
        </mc:Fallback>
      </mc:AlternateContent>
      <p:sp>
        <p:nvSpPr>
          <p:cNvPr id="20" name="Rectangle 19"/>
          <p:cNvSpPr/>
          <p:nvPr/>
        </p:nvSpPr>
        <p:spPr>
          <a:xfrm>
            <a:off x="6263640" y="32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355080" y="32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WHY THESE WEIGHTS</a:t>
            </a:r>
          </a:p>
        </p:txBody>
      </p:sp>
      <p:sp>
        <p:nvSpPr>
          <p:cNvPr id="22" name="Rectangle 21"/>
          <p:cNvSpPr/>
          <p:nvPr/>
        </p:nvSpPr>
        <p:spPr>
          <a:xfrm>
            <a:off x="6263640" y="3583080"/>
            <a:ext cx="5486400" cy="2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263640" y="3583080"/>
            <a:ext cx="91440" cy="2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37960" y="3610512"/>
            <a:ext cx="5120640" cy="2579376"/>
          </a:xfrm>
          <a:prstGeom prst="rect">
            <a:avLst/>
          </a:prstGeom>
          <a:noFill/>
        </p:spPr>
        <p:txBody>
          <a:bodyPr wrap="square" lIns="0" tIns="0" rIns="0" bIns="0">
            <a:spAutoFit/>
          </a:bodyPr>
          <a:lstStyle/>
          <a:p>
            <a:pPr algn="l"/>
            <a:r>
              <a:rPr sz="1000" b="0" i="0">
                <a:solidFill>
                  <a:srgbClr val="1E293B"/>
                </a:solidFill>
                <a:latin typeface="Consolas"/>
              </a:rPr>
              <a:t>MLE interpretation: under independent Gaussian noise
  N( 0, σ_meas² )  on each residual, the WSSE is the
  negative log-likelihood up to constants.
  σ_meas (mass)        =  0.01  g    (balance precision)
  σ_meas (vial conc.)  =  3 %  ·  cV_meas
  σ_meas (retentate)   =  0.3 %  ·  cF_meas
Retentate weight is much tighter than vial weight.
The optimizer therefore prioritizes cF fit — and that
is one mechanism driving the σ=1 corner basin (see
slide 6 and the open-questions slide).</a:t>
            </a:r>
          </a:p>
        </p:txBody>
      </p:sp>
    </p:spTree>
    <p:extLst>
      <p:ext uri="{BB962C8B-B14F-4D97-AF65-F5344CB8AC3E}">
        <p14:creationId xmlns:p14="http://schemas.microsoft.com/office/powerpoint/2010/main" val="3092809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B09 · IPOPT + MULTISTART</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19</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Local NLP solver wrapped in a Latin-Hypercube global heuristic</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19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IPOPT call</a:t>
            </a:r>
          </a:p>
        </p:txBody>
      </p:sp>
      <p:sp>
        <p:nvSpPr>
          <p:cNvPr id="12" name="Rectangle 11"/>
          <p:cNvSpPr/>
          <p:nvPr/>
        </p:nvSpPr>
        <p:spPr>
          <a:xfrm>
            <a:off x="45720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1779376"/>
          </a:xfrm>
          <a:prstGeom prst="rect">
            <a:avLst/>
          </a:prstGeom>
          <a:noFill/>
        </p:spPr>
        <p:txBody>
          <a:bodyPr wrap="square" lIns="0" tIns="0" rIns="0" bIns="0">
            <a:spAutoFit/>
          </a:bodyPr>
          <a:lstStyle/>
          <a:p>
            <a:pPr algn="l"/>
            <a:r>
              <a:rPr sz="1000" b="0" i="0">
                <a:solidFill>
                  <a:srgbClr val="1E293B"/>
                </a:solidFill>
                <a:latin typeface="Consolas"/>
              </a:rPr>
              <a:t>solver = _build_ipopt_solver()
solver.options["max_iter"]        =  3000
solver.options["linear_solver"]   =  ma57 / mumps
results = solver.solve(instance, tee=True)
On non-optimal termination, retry with MUMPS + more iter:
  solver.options["linear_solver"]  =  "mumps"
  solver.options["max_iter"]       =  5000
  solver.solve(instance, tee=True)</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LHS multistart  (R10 + R12)</a:t>
            </a:r>
          </a:p>
        </p:txBody>
      </p:sp>
      <p:sp>
        <p:nvSpPr>
          <p:cNvPr id="17" name="Rectangle 16"/>
          <p:cNvSpPr/>
          <p:nvPr/>
        </p:nvSpPr>
        <p:spPr>
          <a:xfrm>
            <a:off x="6263640" y="1783080"/>
            <a:ext cx="548640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1779376"/>
          </a:xfrm>
          <a:prstGeom prst="rect">
            <a:avLst/>
          </a:prstGeom>
          <a:noFill/>
        </p:spPr>
        <p:txBody>
          <a:bodyPr wrap="square" lIns="0" tIns="0" rIns="0" bIns="0">
            <a:spAutoFit/>
          </a:bodyPr>
          <a:lstStyle/>
          <a:p>
            <a:pPr algn="l"/>
            <a:r>
              <a:rPr sz="1000" b="0" i="0">
                <a:solidFill>
                  <a:srgbClr val="1E293B"/>
                </a:solidFill>
                <a:latin typeface="Consolas"/>
              </a:rPr>
              <a:t>lhs  =  _lhs_unit_hypercube( N, d, seed = 13 )
for k in 1 .. N:
    θ_k  =  θ_lo  +  lhs[k, :]  ·  ( θ_hi − θ_lo )
    fit_k =  solve_model( θ_k )
best  =  argmin_k  Obj( fit_k )   over optimal-status runs
Default  N  =  5     (runfile accepts 5 .. 14)
Lp    box  =  linear [ 5, 8 ]   (R12 narrowing)
B     box  =  log    [ 0.01, 5 ] μm/s
σ     box  =  linear ( 0.10, 0.95 )   corners excluded</a:t>
            </a:r>
          </a:p>
        </p:txBody>
      </p:sp>
      <p:sp>
        <p:nvSpPr>
          <p:cNvPr id="20" name="Rectangle 19"/>
          <p:cNvSpPr/>
          <p:nvPr/>
        </p:nvSpPr>
        <p:spPr>
          <a:xfrm>
            <a:off x="457200" y="37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37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OBSERVED OBJECTIVE PROGRESSION  (NF270_MC2 / NaCl)</a:t>
            </a:r>
          </a:p>
        </p:txBody>
      </p:sp>
      <p:sp>
        <p:nvSpPr>
          <p:cNvPr id="22" name="Rectangle 21"/>
          <p:cNvSpPr/>
          <p:nvPr/>
        </p:nvSpPr>
        <p:spPr>
          <a:xfrm>
            <a:off x="457200" y="4083080"/>
            <a:ext cx="11292840" cy="18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4083080"/>
            <a:ext cx="91440" cy="18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4110512"/>
            <a:ext cx="10927080" cy="1779376"/>
          </a:xfrm>
          <a:prstGeom prst="rect">
            <a:avLst/>
          </a:prstGeom>
          <a:noFill/>
        </p:spPr>
        <p:txBody>
          <a:bodyPr wrap="square" lIns="0" tIns="0" rIns="0" bIns="0">
            <a:spAutoFit/>
          </a:bodyPr>
          <a:lstStyle/>
          <a:p>
            <a:pPr algn="l"/>
            <a:r>
              <a:rPr sz="1000" b="0" i="0">
                <a:solidFill>
                  <a:srgbClr val="1E293B"/>
                </a:solidFill>
                <a:latin typeface="Consolas"/>
              </a:rPr>
              <a:t>Single start                                Obj  =  2.04 × 10⁸     basin: Mode B  (σ → 1)
LHS multistart  (R10, Lp ∈ [5, 14])          Obj  =  4.93 × 10⁷     basin: Mode C  (σ → 0)
LHS multistart  (R11 quadrature mass)        Obj  =  6.08 × 10⁹     basin: Mode B  (σ → 1)
LHS narrowed   (R12, Lp ∈ [5, 8]) + R13      Obj  =  4.93 × 10⁷     basin: Mode C  (σ → 0)
LHS narrowed + R14/R15 Final-Tube anchor    Obj  =  TBD              (next run)
The Pyomo Var bounds are wider than the LHS box (Lp ∈ (0.5, 50), σ ∈ (0,1)) — LHS only
controls where trial starts land, not where IPOPT is allowed to terminate.  Local optimum.</a:t>
            </a:r>
          </a:p>
        </p:txBody>
      </p:sp>
    </p:spTree>
    <p:extLst>
      <p:ext uri="{BB962C8B-B14F-4D97-AF65-F5344CB8AC3E}">
        <p14:creationId xmlns:p14="http://schemas.microsoft.com/office/powerpoint/2010/main" val="78756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B10 · MASS-LITMUS BASELINE</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20</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σ = 0 closed-form Lp regression — convex sanity check</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20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DERIVATION</a:t>
            </a:r>
          </a:p>
        </p:txBody>
      </p:sp>
      <p:sp>
        <p:nvSpPr>
          <p:cNvPr id="12" name="Rectangle 11"/>
          <p:cNvSpPr/>
          <p:nvPr/>
        </p:nvSpPr>
        <p:spPr>
          <a:xfrm>
            <a:off x="45720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4479376"/>
          </a:xfrm>
          <a:prstGeom prst="rect">
            <a:avLst/>
          </a:prstGeom>
          <a:noFill/>
        </p:spPr>
        <p:txBody>
          <a:bodyPr wrap="square" lIns="0" tIns="0" rIns="0" bIns="0">
            <a:spAutoFit/>
          </a:bodyPr>
          <a:lstStyle/>
          <a:p>
            <a:pPr algn="l"/>
            <a:r>
              <a:rPr sz="1000" b="0" i="0">
                <a:solidFill>
                  <a:srgbClr val="1E293B"/>
                </a:solidFill>
                <a:latin typeface="Consolas"/>
              </a:rPr>
              <a:t>Set σ = 0.  The Jw equation becomes algebraic:
   Jw  =  Lp · ΔP / 36000          (constant in time)
The vial-mass ODE simplifies:
   d mV / dt  =  Am · ρ · Jw      =  Am · ρ · Lp · ΔP / 36000
Integrating:
   mV ( t )  =  s  ·  ( t − t_0 )
   s  =  ( Am · ρ · Lp · ΔP ) / 36000
   ⇒    Lp  =  s · 36000 / ( Am · ρ · ΔP )
All we need is the slope s of mass vs time.</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SLOPE FIT  (zero-intercept least squares)</a:t>
            </a:r>
          </a:p>
        </p:txBody>
      </p:sp>
      <p:sp>
        <p:nvSpPr>
          <p:cNvPr id="17" name="Rectangle 16"/>
          <p:cNvSpPr/>
          <p:nvPr/>
        </p:nvSpPr>
        <p:spPr>
          <a:xfrm>
            <a:off x="6263640" y="1783080"/>
            <a:ext cx="5486400" cy="45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45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4479376"/>
          </a:xfrm>
          <a:prstGeom prst="rect">
            <a:avLst/>
          </a:prstGeom>
          <a:noFill/>
        </p:spPr>
        <p:txBody>
          <a:bodyPr wrap="square" lIns="0" tIns="0" rIns="0" bIns="0">
            <a:spAutoFit/>
          </a:bodyPr>
          <a:lstStyle/>
          <a:p>
            <a:pPr algn="l"/>
            <a:r>
              <a:rPr sz="1000" b="0" i="0">
                <a:solidFill>
                  <a:srgbClr val="1E293B"/>
                </a:solidFill>
                <a:latin typeface="Consolas"/>
              </a:rPr>
              <a:t>Treat every real-vial sample as an observation of:
   mV_i  =  s  ·  Δt_i  +  noise           (no intercept)
OLS solution:
   ŝ  =  Σ_i ( Δt_i · mV_i )   /   Σ_i ( Δt_i )²
Implementation:
   solve_mass_balance_only( data_stru ):
       Δt  =  time − vial_start_time
       ŝ   =  sum(Δt · mass) / sum(Δt²)
       Lp̂ =  ŝ · 36000 / (Am · ρ · ΔP)
       return fit_stru, sim_stru
No Pyomo, no IPOPT.  Always optimal by construction.
If THIS fit fails, the issue is data / units / time alignment,
not the σ-corner landscape.</a:t>
            </a:r>
          </a:p>
        </p:txBody>
      </p:sp>
    </p:spTree>
    <p:extLst>
      <p:ext uri="{BB962C8B-B14F-4D97-AF65-F5344CB8AC3E}">
        <p14:creationId xmlns:p14="http://schemas.microsoft.com/office/powerpoint/2010/main" val="1174959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B11 · FIM &amp; UNCERTAINTY</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21</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Finite-difference sensitivities, covariance, identifiability</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21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SENSITIVITIES</a:t>
            </a:r>
          </a:p>
        </p:txBody>
      </p:sp>
      <p:sp>
        <p:nvSpPr>
          <p:cNvPr id="12" name="Rectangle 11"/>
          <p:cNvSpPr/>
          <p:nvPr/>
        </p:nvSpPr>
        <p:spPr>
          <a:xfrm>
            <a:off x="457200" y="1783080"/>
            <a:ext cx="5486400" cy="19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19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1879376"/>
          </a:xfrm>
          <a:prstGeom prst="rect">
            <a:avLst/>
          </a:prstGeom>
          <a:noFill/>
        </p:spPr>
        <p:txBody>
          <a:bodyPr wrap="square" lIns="0" tIns="0" rIns="0" bIns="0">
            <a:spAutoFit/>
          </a:bodyPr>
          <a:lstStyle/>
          <a:p>
            <a:pPr algn="l"/>
            <a:r>
              <a:rPr sz="1000" b="0" i="0">
                <a:solidFill>
                  <a:srgbClr val="1E293B"/>
                </a:solidFill>
                <a:latin typeface="Consolas"/>
              </a:rPr>
              <a:t>Stack predictions:   y ( θ )  =  [ mV ;  cV ;  cF ]
For each parameter θ_i, perturb and re-simulate:
   θ_i±  =  θ̂_i  ·  ( 1  ±  h ),     h ≈ 10⁻⁴
   ∂ y / ∂ θ_i   ≈   ( y( θ_i+ ) − y( θ_i− ) )  /  ( 2 h θ̂_i )
Code: calc_FIM( data_stru, mode, theta=θ̂, step=1e-8 ).</a:t>
            </a:r>
          </a:p>
        </p:txBody>
      </p:sp>
      <p:sp>
        <p:nvSpPr>
          <p:cNvPr id="15" name="Rectangle 1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FISHER INFORMATION</a:t>
            </a:r>
          </a:p>
        </p:txBody>
      </p:sp>
      <p:sp>
        <p:nvSpPr>
          <p:cNvPr id="17" name="Rectangle 16"/>
          <p:cNvSpPr/>
          <p:nvPr/>
        </p:nvSpPr>
        <p:spPr>
          <a:xfrm>
            <a:off x="6263640" y="1783080"/>
            <a:ext cx="5486400" cy="19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263640" y="1783080"/>
            <a:ext cx="91440" cy="19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537960" y="1810512"/>
            <a:ext cx="5120640" cy="1879376"/>
          </a:xfrm>
          <a:prstGeom prst="rect">
            <a:avLst/>
          </a:prstGeom>
          <a:noFill/>
        </p:spPr>
        <p:txBody>
          <a:bodyPr wrap="square" lIns="0" tIns="0" rIns="0" bIns="0">
            <a:spAutoFit/>
          </a:bodyPr>
          <a:lstStyle/>
          <a:p>
            <a:pPr algn="l"/>
            <a:r>
              <a:rPr sz="1000" b="0" i="0">
                <a:solidFill>
                  <a:srgbClr val="1E293B"/>
                </a:solidFill>
                <a:latin typeface="Consolas"/>
              </a:rPr>
              <a:t>Sensitivity matrix:   J  =  ∂ y / ∂ θ           (n_obs × n_θ)
Measurement covariance:
   Σ_y  =  diag( σ_m² ,  (0.03·cV)² ,  (0.003·cF)² )
   M    =  J ᵀ · Σ_y⁻¹ · J                (Fisher Information)
Asymptotic parameter covariance:
   V_θ  ≈  M⁻¹
Eigen-decomposition of M tells you identifiability:
   large eigenvalues  →  tightly constrained directions
   small eigenvalues  →  flat directions, large variance
   cond(M) ≫ 1        →  correlated / ill-conditioned</a:t>
            </a:r>
          </a:p>
        </p:txBody>
      </p:sp>
      <p:sp>
        <p:nvSpPr>
          <p:cNvPr id="20" name="Rectangle 19"/>
          <p:cNvSpPr/>
          <p:nvPr/>
        </p:nvSpPr>
        <p:spPr>
          <a:xfrm>
            <a:off x="457200" y="38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38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FROM LATEST DATA3 RUN</a:t>
            </a:r>
          </a:p>
        </p:txBody>
      </p:sp>
      <p:sp>
        <p:nvSpPr>
          <p:cNvPr id="22" name="Rectangle 21"/>
          <p:cNvSpPr/>
          <p:nvPr/>
        </p:nvSpPr>
        <p:spPr>
          <a:xfrm>
            <a:off x="457200" y="4183080"/>
            <a:ext cx="11292840" cy="17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4183080"/>
            <a:ext cx="91440" cy="17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4210512"/>
            <a:ext cx="10927080" cy="1679376"/>
          </a:xfrm>
          <a:prstGeom prst="rect">
            <a:avLst/>
          </a:prstGeom>
          <a:noFill/>
        </p:spPr>
        <p:txBody>
          <a:bodyPr wrap="square" lIns="0" tIns="0" rIns="0" bIns="0">
            <a:spAutoFit/>
          </a:bodyPr>
          <a:lstStyle/>
          <a:p>
            <a:pPr algn="l"/>
            <a:r>
              <a:rPr sz="1000" b="0" i="0">
                <a:solidFill>
                  <a:srgbClr val="1E293B"/>
                </a:solidFill>
                <a:latin typeface="Consolas"/>
              </a:rPr>
              <a:t>NaCl-MC2 after IPOPT:
   eig(M)  =  [ 0.158,  2.776,  907,752 ]                (well-conditioned in 1 direction!)
   eig_dir =  [ B,      σ,      Lp     ]
   std     =  [ 0.0065, 2.26,   1.25   ]
   trace   =  9.08 × 10⁵        det  =  3.99 × 10⁵        cond  =  5.7 × 10⁶
σ-direction is flat (std 2.26 with σ ∈ [0,1]) — exactly what the corner-basin
behaviour predicts. Lp is the most informative direction, B is the tightest.
Identifiability is local: it lives at the fitted θ̂, under the assumed σ_meas.</a:t>
            </a:r>
          </a:p>
        </p:txBody>
      </p:sp>
    </p:spTree>
    <p:extLst>
      <p:ext uri="{BB962C8B-B14F-4D97-AF65-F5344CB8AC3E}">
        <p14:creationId xmlns:p14="http://schemas.microsoft.com/office/powerpoint/2010/main" val="3024937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B12 · RUNFILE DISPATCHER</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22</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Tree walker — ROOTS → SUBSET → TRUNK → BRANCHES → dispatch</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22 / 23</a:t>
            </a:r>
          </a:p>
        </p:txBody>
      </p:sp>
      <p:sp>
        <p:nvSpPr>
          <p:cNvPr id="10" name="Rectangle 9"/>
          <p:cNvSpPr/>
          <p:nvPr/>
        </p:nvSpPr>
        <p:spPr>
          <a:xfrm>
            <a:off x="457200" y="1417320"/>
            <a:ext cx="11292840" cy="3657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11109960" cy="365760"/>
          </a:xfrm>
          <a:prstGeom prst="rect">
            <a:avLst/>
          </a:prstGeom>
          <a:noFill/>
        </p:spPr>
        <p:txBody>
          <a:bodyPr wrap="square" lIns="0" tIns="0" rIns="0" bIns="0" anchor="ctr">
            <a:spAutoFit/>
          </a:bodyPr>
          <a:lstStyle/>
          <a:p>
            <a:pPr algn="l"/>
            <a:r>
              <a:rPr sz="1200" b="1" i="0">
                <a:solidFill>
                  <a:srgbClr val="FFFFFF"/>
                </a:solidFill>
                <a:latin typeface="Calibri"/>
              </a:rPr>
              <a:t>refactored_ucb_runfile.py  (≈ 184 lines, no science inside)</a:t>
            </a:r>
          </a:p>
        </p:txBody>
      </p:sp>
      <p:sp>
        <p:nvSpPr>
          <p:cNvPr id="12" name="Rectangle 11"/>
          <p:cNvSpPr/>
          <p:nvPr/>
        </p:nvSpPr>
        <p:spPr>
          <a:xfrm>
            <a:off x="457200" y="1783080"/>
            <a:ext cx="11292840" cy="46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46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10927080" cy="4579376"/>
          </a:xfrm>
          <a:prstGeom prst="rect">
            <a:avLst/>
          </a:prstGeom>
          <a:noFill/>
        </p:spPr>
        <p:txBody>
          <a:bodyPr wrap="square" lIns="0" tIns="0" rIns="0" bIns="0">
            <a:spAutoFit/>
          </a:bodyPr>
          <a:lstStyle/>
          <a:p>
            <a:pPr algn="l"/>
            <a:r>
              <a:rPr sz="1000" b="0" i="0">
                <a:solidFill>
                  <a:srgbClr val="1E293B"/>
                </a:solidFill>
                <a:latin typeface="Consolas"/>
              </a:rPr>
              <a:t>def main():
    root     = pick_root()        #  1=DATA1   2=DATA2   3=DATA3   4=custom
    subset   = pick_subset(root)  #  DATA3:    all 26  /  single-salt 11  /  one sheet  /  fast 3
    trunk    = pick_trunk()       #  0=manifest_default  3=fit+multistart  4=+FIM  5=+DoE  6=mass-litmus
    branches = pick_branches()    #  m=mass   c=conc   p=params   f=FIM   d=DoE   all
    if root in {1, 2, 3} and trunk == 0:
        # exact byte-identical replication of published outputs
        materialize_all( root, subset, branches )
    elif root in {1, 2, 3} and trunk in {3, 4, 5}:
        results = estimate_parameters( root, subset, multistart=True, use_FIM=(trunk≥4), use_DoE=(trunk==5) )
        render( results, branches )
    elif root in {1, 2, 3} and trunk == 6:
        # NF270 mass-litmus baseline (sets NF270_MASS_LITMUS_TEST_ACTIVE = True)
        results = solve_mass_balance_only( load(root, subset) )
        render( results, branches )
    elif root == 4:
        # custom XLSX outside the campaign manifest
        results = run_pipeline( file_path, mode, workflow_family )
        render( results, branches )
No physics, no Pyomo, no IPOPT call lives in this file.  Replace it with a notebook, a CLI, a
web form — the library does not care.  All dispatch happens through the kept top-level
def-s in refactored_ucb_library.py.</a:t>
            </a:r>
          </a:p>
        </p:txBody>
      </p:sp>
    </p:spTree>
    <p:extLst>
      <p:ext uri="{BB962C8B-B14F-4D97-AF65-F5344CB8AC3E}">
        <p14:creationId xmlns:p14="http://schemas.microsoft.com/office/powerpoint/2010/main" val="3139291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92608"/>
            <a:ext cx="12191695" cy="36576"/>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6583680"/>
            <a:ext cx="12191695" cy="2743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65760" y="54864"/>
            <a:ext cx="8229600" cy="201168"/>
          </a:xfrm>
          <a:prstGeom prst="rect">
            <a:avLst/>
          </a:prstGeom>
          <a:noFill/>
        </p:spPr>
        <p:txBody>
          <a:bodyPr wrap="square" lIns="0" tIns="0" rIns="0" bIns="0">
            <a:spAutoFit/>
          </a:bodyPr>
          <a:lstStyle/>
          <a:p>
            <a:pPr algn="l"/>
            <a:r>
              <a:rPr sz="1100" b="1" i="0">
                <a:solidFill>
                  <a:srgbClr val="FFFFFF"/>
                </a:solidFill>
                <a:latin typeface="Calibri"/>
              </a:rPr>
              <a:t>B13 · CAVEATS</a:t>
            </a:r>
          </a:p>
        </p:txBody>
      </p:sp>
      <p:sp>
        <p:nvSpPr>
          <p:cNvPr id="6" name="TextBox 5"/>
          <p:cNvSpPr txBox="1"/>
          <p:nvPr/>
        </p:nvSpPr>
        <p:spPr>
          <a:xfrm>
            <a:off x="11247120" y="54864"/>
            <a:ext cx="914400" cy="201168"/>
          </a:xfrm>
          <a:prstGeom prst="rect">
            <a:avLst/>
          </a:prstGeom>
          <a:noFill/>
        </p:spPr>
        <p:txBody>
          <a:bodyPr wrap="square" lIns="0" tIns="0" rIns="0" bIns="0">
            <a:spAutoFit/>
          </a:bodyPr>
          <a:lstStyle/>
          <a:p>
            <a:pPr algn="r"/>
            <a:r>
              <a:rPr sz="1100" b="1" i="0">
                <a:solidFill>
                  <a:srgbClr val="02C39A"/>
                </a:solidFill>
                <a:latin typeface="Calibri"/>
              </a:rPr>
              <a:t>23</a:t>
            </a:r>
          </a:p>
        </p:txBody>
      </p:sp>
      <p:sp>
        <p:nvSpPr>
          <p:cNvPr id="7" name="TextBox 6"/>
          <p:cNvSpPr txBox="1"/>
          <p:nvPr/>
        </p:nvSpPr>
        <p:spPr>
          <a:xfrm>
            <a:off x="457200" y="502920"/>
            <a:ext cx="11247120" cy="640080"/>
          </a:xfrm>
          <a:prstGeom prst="rect">
            <a:avLst/>
          </a:prstGeom>
          <a:noFill/>
        </p:spPr>
        <p:txBody>
          <a:bodyPr wrap="square" lIns="0" tIns="0" rIns="0" bIns="0">
            <a:spAutoFit/>
          </a:bodyPr>
          <a:lstStyle/>
          <a:p>
            <a:pPr algn="l"/>
            <a:r>
              <a:rPr sz="2600" b="1" i="0">
                <a:solidFill>
                  <a:srgbClr val="21295C"/>
                </a:solidFill>
                <a:latin typeface="Calibri"/>
              </a:rPr>
              <a:t>Things to scrutinize before trusting any DATA3 fit</a:t>
            </a:r>
          </a:p>
        </p:txBody>
      </p:sp>
      <p:sp>
        <p:nvSpPr>
          <p:cNvPr id="8" name="TextBox 7"/>
          <p:cNvSpPr txBox="1"/>
          <p:nvPr/>
        </p:nvSpPr>
        <p:spPr>
          <a:xfrm>
            <a:off x="365760" y="6601968"/>
            <a:ext cx="8686800" cy="237744"/>
          </a:xfrm>
          <a:prstGeom prst="rect">
            <a:avLst/>
          </a:prstGeom>
          <a:noFill/>
        </p:spPr>
        <p:txBody>
          <a:bodyPr wrap="square" lIns="0" tIns="0" rIns="0" bIns="0">
            <a:spAutoFit/>
          </a:bodyPr>
          <a:lstStyle/>
          <a:p>
            <a:pPr algn="l"/>
            <a:r>
              <a:rPr sz="900" b="0" i="0">
                <a:solidFill>
                  <a:srgbClr val="F1F5F9"/>
                </a:solidFill>
                <a:latin typeface="Calibri"/>
              </a:rPr>
              <a:t>NF270 fitting · backup math layer for ARCHITECTURE.md</a:t>
            </a:r>
          </a:p>
        </p:txBody>
      </p:sp>
      <p:sp>
        <p:nvSpPr>
          <p:cNvPr id="9" name="TextBox 8"/>
          <p:cNvSpPr txBox="1"/>
          <p:nvPr/>
        </p:nvSpPr>
        <p:spPr>
          <a:xfrm>
            <a:off x="10972800" y="6601968"/>
            <a:ext cx="1097280" cy="237744"/>
          </a:xfrm>
          <a:prstGeom prst="rect">
            <a:avLst/>
          </a:prstGeom>
          <a:noFill/>
        </p:spPr>
        <p:txBody>
          <a:bodyPr wrap="square" lIns="0" tIns="0" rIns="0" bIns="0">
            <a:spAutoFit/>
          </a:bodyPr>
          <a:lstStyle/>
          <a:p>
            <a:pPr algn="r"/>
            <a:r>
              <a:rPr sz="900" b="0" i="0">
                <a:solidFill>
                  <a:srgbClr val="F1F5F9"/>
                </a:solidFill>
                <a:latin typeface="Calibri"/>
              </a:rPr>
              <a:t>23 / 23</a:t>
            </a:r>
          </a:p>
        </p:txBody>
      </p:sp>
      <p:sp>
        <p:nvSpPr>
          <p:cNvPr id="10" name="Rectangle 9"/>
          <p:cNvSpPr/>
          <p:nvPr/>
        </p:nvSpPr>
        <p:spPr>
          <a:xfrm>
            <a:off x="45720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4864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OBJECTIVE WEIGHTS DOMINATE THE ANSWER</a:t>
            </a:r>
          </a:p>
        </p:txBody>
      </p:sp>
      <p:sp>
        <p:nvSpPr>
          <p:cNvPr id="12" name="Rectangle 11"/>
          <p:cNvSpPr/>
          <p:nvPr/>
        </p:nvSpPr>
        <p:spPr>
          <a:xfrm>
            <a:off x="457200" y="178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 y="178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1520" y="1810512"/>
            <a:ext cx="5120640" cy="179376"/>
          </a:xfrm>
          <a:prstGeom prst="rect">
            <a:avLst/>
          </a:prstGeom>
          <a:noFill/>
        </p:spPr>
        <p:txBody>
          <a:bodyPr wrap="square" lIns="0" tIns="0" rIns="0" bIns="0">
            <a:spAutoFit/>
          </a:bodyPr>
          <a:lstStyle/>
          <a:p>
            <a:pPr algn="l"/>
            <a:r>
              <a:rPr sz="900" b="0" i="0">
                <a:solidFill>
                  <a:srgbClr val="1E293B"/>
                </a:solidFill>
                <a:latin typeface="Calibri"/>
              </a:rPr>
              <a:t>Retentate 0.3 % is very tight.  Permeate 3 % is loose.  Mass 0.01 g is tight
on the vial-1 scale (≈ 1 g) but loose on the cell scale (≈ 10 g).  Optimizer
will prioritize whichever residual has the smallest σ_meas — this is the
most common silent failure mode in WSSE parameter estimation.</a:t>
            </a:r>
          </a:p>
        </p:txBody>
      </p:sp>
      <p:sp>
        <p:nvSpPr>
          <p:cNvPr id="15" name="Rectangle 14"/>
          <p:cNvSpPr/>
          <p:nvPr/>
        </p:nvSpPr>
        <p:spPr>
          <a:xfrm>
            <a:off x="457200" y="209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48640" y="209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IPOPT IS LOCAL</a:t>
            </a:r>
          </a:p>
        </p:txBody>
      </p:sp>
      <p:sp>
        <p:nvSpPr>
          <p:cNvPr id="17" name="Rectangle 16"/>
          <p:cNvSpPr/>
          <p:nvPr/>
        </p:nvSpPr>
        <p:spPr>
          <a:xfrm>
            <a:off x="457200" y="246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57200" y="246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20" y="2490512"/>
            <a:ext cx="5120640" cy="179376"/>
          </a:xfrm>
          <a:prstGeom prst="rect">
            <a:avLst/>
          </a:prstGeom>
          <a:noFill/>
        </p:spPr>
        <p:txBody>
          <a:bodyPr wrap="square" lIns="0" tIns="0" rIns="0" bIns="0">
            <a:spAutoFit/>
          </a:bodyPr>
          <a:lstStyle/>
          <a:p>
            <a:pPr algn="l"/>
            <a:r>
              <a:rPr sz="900" b="0" i="0">
                <a:solidFill>
                  <a:srgbClr val="1E293B"/>
                </a:solidFill>
                <a:latin typeface="Calibri"/>
              </a:rPr>
              <a:t>Multistart is a heuristic, not a guarantee.  If the loss-function landscape
globally prefers a σ corner, every LHS start will find it.  Diagnose by
tightening σ to [0.30, 0.85] and checking whether Obj jumps up.</a:t>
            </a:r>
          </a:p>
        </p:txBody>
      </p:sp>
      <p:sp>
        <p:nvSpPr>
          <p:cNvPr id="20" name="Rectangle 19"/>
          <p:cNvSpPr/>
          <p:nvPr/>
        </p:nvSpPr>
        <p:spPr>
          <a:xfrm>
            <a:off x="457200" y="277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277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UNIT CONVERSIONS ARE EVERYWHERE</a:t>
            </a:r>
          </a:p>
        </p:txBody>
      </p:sp>
      <p:sp>
        <p:nvSpPr>
          <p:cNvPr id="22" name="Rectangle 21"/>
          <p:cNvSpPr/>
          <p:nvPr/>
        </p:nvSpPr>
        <p:spPr>
          <a:xfrm>
            <a:off x="457200" y="314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57200" y="314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 y="3170512"/>
            <a:ext cx="5120640" cy="179376"/>
          </a:xfrm>
          <a:prstGeom prst="rect">
            <a:avLst/>
          </a:prstGeom>
          <a:noFill/>
        </p:spPr>
        <p:txBody>
          <a:bodyPr wrap="square" lIns="0" tIns="0" rIns="0" bIns="0">
            <a:spAutoFit/>
          </a:bodyPr>
          <a:lstStyle/>
          <a:p>
            <a:pPr algn="l"/>
            <a:r>
              <a:rPr sz="900" b="0" i="0">
                <a:solidFill>
                  <a:srgbClr val="1E293B"/>
                </a:solidFill>
                <a:latin typeface="Calibri"/>
              </a:rPr>
              <a:t>The 36000 in Jw and the 10000 in Js are not cosmetic.  They encode the
unit system bridging L/(m²·hr·bar) → cm/s and μm/s → cm²·mM-per-time.
A wrong factor changes fitted Lp / B / σ silently.  No warning will fire.</a:t>
            </a:r>
          </a:p>
        </p:txBody>
      </p:sp>
      <p:sp>
        <p:nvSpPr>
          <p:cNvPr id="25" name="Rectangle 24"/>
          <p:cNvSpPr/>
          <p:nvPr/>
        </p:nvSpPr>
        <p:spPr>
          <a:xfrm>
            <a:off x="6263640" y="141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355080" y="141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cVmV  TRICK IS LATENT</a:t>
            </a:r>
          </a:p>
        </p:txBody>
      </p:sp>
      <p:sp>
        <p:nvSpPr>
          <p:cNvPr id="27" name="Rectangle 26"/>
          <p:cNvSpPr/>
          <p:nvPr/>
        </p:nvSpPr>
        <p:spPr>
          <a:xfrm>
            <a:off x="6263640" y="178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6263640" y="178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537960" y="1810512"/>
            <a:ext cx="5120640" cy="179376"/>
          </a:xfrm>
          <a:prstGeom prst="rect">
            <a:avLst/>
          </a:prstGeom>
          <a:noFill/>
        </p:spPr>
        <p:txBody>
          <a:bodyPr wrap="square" lIns="0" tIns="0" rIns="0" bIns="0">
            <a:spAutoFit/>
          </a:bodyPr>
          <a:lstStyle/>
          <a:p>
            <a:pPr algn="l"/>
            <a:r>
              <a:rPr sz="900" b="0" i="0">
                <a:solidFill>
                  <a:srgbClr val="1E293B"/>
                </a:solidFill>
                <a:latin typeface="Calibri"/>
              </a:rPr>
              <a:t>The fact that the model uses cVmV instead of cV is the difference between
an IPOPT solve that succeeds in 6 iterations and one that diverges trying
to evaluate 0 / 0.  Worth knowing if you refactor the state.</a:t>
            </a:r>
          </a:p>
        </p:txBody>
      </p:sp>
      <p:sp>
        <p:nvSpPr>
          <p:cNvPr id="30" name="Rectangle 29"/>
          <p:cNvSpPr/>
          <p:nvPr/>
        </p:nvSpPr>
        <p:spPr>
          <a:xfrm>
            <a:off x="6263640" y="209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355080" y="209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MASS-LITMUS IS EXCELLENT ENGINEERING</a:t>
            </a:r>
          </a:p>
        </p:txBody>
      </p:sp>
      <p:sp>
        <p:nvSpPr>
          <p:cNvPr id="32" name="Rectangle 31"/>
          <p:cNvSpPr/>
          <p:nvPr/>
        </p:nvSpPr>
        <p:spPr>
          <a:xfrm>
            <a:off x="6263640" y="246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6263640" y="246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537960" y="2490512"/>
            <a:ext cx="5120640" cy="179376"/>
          </a:xfrm>
          <a:prstGeom prst="rect">
            <a:avLst/>
          </a:prstGeom>
          <a:noFill/>
        </p:spPr>
        <p:txBody>
          <a:bodyPr wrap="square" lIns="0" tIns="0" rIns="0" bIns="0">
            <a:spAutoFit/>
          </a:bodyPr>
          <a:lstStyle/>
          <a:p>
            <a:pPr algn="l"/>
            <a:r>
              <a:rPr sz="900" b="0" i="0">
                <a:solidFill>
                  <a:srgbClr val="1E293B"/>
                </a:solidFill>
                <a:latin typeface="Calibri"/>
              </a:rPr>
              <a:t>A convex closed-form baseline that bypasses Pyomo / IPOPT entirely.  If
mass-litmus fails, the full fit cannot succeed — issue is in loader, units,
or data quality.  If it succeeds but the full fit fails, issue is σ-coupling
or the optimization landscape.</a:t>
            </a:r>
          </a:p>
        </p:txBody>
      </p:sp>
      <p:sp>
        <p:nvSpPr>
          <p:cNvPr id="35" name="Rectangle 34"/>
          <p:cNvSpPr/>
          <p:nvPr/>
        </p:nvSpPr>
        <p:spPr>
          <a:xfrm>
            <a:off x="6263640" y="2777320"/>
            <a:ext cx="5486400" cy="36576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355080" y="2777320"/>
            <a:ext cx="5303520" cy="365760"/>
          </a:xfrm>
          <a:prstGeom prst="rect">
            <a:avLst/>
          </a:prstGeom>
          <a:noFill/>
        </p:spPr>
        <p:txBody>
          <a:bodyPr wrap="square" lIns="0" tIns="0" rIns="0" bIns="0" anchor="ctr">
            <a:spAutoFit/>
          </a:bodyPr>
          <a:lstStyle/>
          <a:p>
            <a:pPr algn="l"/>
            <a:r>
              <a:rPr sz="1200" b="1" i="0">
                <a:solidFill>
                  <a:srgbClr val="FFFFFF"/>
                </a:solidFill>
                <a:latin typeface="Calibri"/>
              </a:rPr>
              <a:t>FIM IS LOCAL</a:t>
            </a:r>
          </a:p>
        </p:txBody>
      </p:sp>
      <p:sp>
        <p:nvSpPr>
          <p:cNvPr id="37" name="Rectangle 36"/>
          <p:cNvSpPr/>
          <p:nvPr/>
        </p:nvSpPr>
        <p:spPr>
          <a:xfrm>
            <a:off x="6263640" y="3143080"/>
            <a:ext cx="5486400" cy="234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6263640" y="3143080"/>
            <a:ext cx="91440" cy="234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537960" y="3170512"/>
            <a:ext cx="5120640" cy="179376"/>
          </a:xfrm>
          <a:prstGeom prst="rect">
            <a:avLst/>
          </a:prstGeom>
          <a:noFill/>
        </p:spPr>
        <p:txBody>
          <a:bodyPr wrap="square" lIns="0" tIns="0" rIns="0" bIns="0">
            <a:spAutoFit/>
          </a:bodyPr>
          <a:lstStyle/>
          <a:p>
            <a:pPr algn="l"/>
            <a:r>
              <a:rPr sz="900" b="0" i="0">
                <a:solidFill>
                  <a:srgbClr val="1E293B"/>
                </a:solidFill>
                <a:latin typeface="Calibri"/>
              </a:rPr>
              <a:t>Meaningful only near θ̂ and under the assumed σ_meas.  Reported eigenvalues
/ stds describe local identifiability, not global uncertainty.  For global
uncertainty, profile likelihood is the frequentist-clean upgrade.</a:t>
            </a:r>
          </a:p>
        </p:txBody>
      </p:sp>
    </p:spTree>
    <p:extLst>
      <p:ext uri="{BB962C8B-B14F-4D97-AF65-F5344CB8AC3E}">
        <p14:creationId xmlns:p14="http://schemas.microsoft.com/office/powerpoint/2010/main" val="1100711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itle 66">
            <a:extLst>
              <a:ext uri="{FF2B5EF4-FFF2-40B4-BE49-F238E27FC236}">
                <a16:creationId xmlns:a16="http://schemas.microsoft.com/office/drawing/2014/main" id="{83C67A1C-2317-4FCB-2BFC-C0E979A69E2F}"/>
              </a:ext>
            </a:extLst>
          </p:cNvPr>
          <p:cNvSpPr>
            <a:spLocks noGrp="1"/>
          </p:cNvSpPr>
          <p:nvPr>
            <p:ph type="title"/>
          </p:nvPr>
        </p:nvSpPr>
        <p:spPr>
          <a:xfrm>
            <a:off x="0" y="126586"/>
            <a:ext cx="12192000" cy="787814"/>
          </a:xfrm>
        </p:spPr>
        <p:txBody>
          <a:bodyPr>
            <a:normAutofit/>
          </a:bodyPr>
          <a:lstStyle/>
          <a:p>
            <a:pPr algn="ctr"/>
            <a:r>
              <a:rPr lang="en-US" dirty="0"/>
              <a:t>Membrane Characterization using a Digital Model</a:t>
            </a:r>
            <a:endParaRPr lang="en-US" sz="2200" dirty="0"/>
          </a:p>
        </p:txBody>
      </p:sp>
      <p:grpSp>
        <p:nvGrpSpPr>
          <p:cNvPr id="5" name="Group 4">
            <a:extLst>
              <a:ext uri="{FF2B5EF4-FFF2-40B4-BE49-F238E27FC236}">
                <a16:creationId xmlns:a16="http://schemas.microsoft.com/office/drawing/2014/main" id="{70DE6AB9-B45F-A744-3771-AECCC17ED1F1}"/>
              </a:ext>
            </a:extLst>
          </p:cNvPr>
          <p:cNvGrpSpPr/>
          <p:nvPr/>
        </p:nvGrpSpPr>
        <p:grpSpPr>
          <a:xfrm>
            <a:off x="618224" y="1224950"/>
            <a:ext cx="11130910" cy="4198364"/>
            <a:chOff x="618224" y="1224950"/>
            <a:chExt cx="11130910" cy="4198364"/>
          </a:xfrm>
        </p:grpSpPr>
        <p:cxnSp>
          <p:nvCxnSpPr>
            <p:cNvPr id="71" name="Google Shape;173;g392c667b943_0_12">
              <a:extLst>
                <a:ext uri="{FF2B5EF4-FFF2-40B4-BE49-F238E27FC236}">
                  <a16:creationId xmlns:a16="http://schemas.microsoft.com/office/drawing/2014/main" id="{0875509E-1601-9D7A-83AF-1AA8D36759FD}"/>
                </a:ext>
              </a:extLst>
            </p:cNvPr>
            <p:cNvCxnSpPr>
              <a:cxnSpLocks/>
              <a:stCxn id="63" idx="3"/>
              <a:endCxn id="51" idx="1"/>
            </p:cNvCxnSpPr>
            <p:nvPr/>
          </p:nvCxnSpPr>
          <p:spPr>
            <a:xfrm flipV="1">
              <a:off x="1882937" y="1831700"/>
              <a:ext cx="3618363" cy="1710995"/>
            </a:xfrm>
            <a:prstGeom prst="bentConnector3">
              <a:avLst>
                <a:gd name="adj1" fmla="val 69145"/>
              </a:avLst>
            </a:prstGeom>
            <a:noFill/>
            <a:ln w="57150" cap="flat" cmpd="sng">
              <a:solidFill>
                <a:srgbClr val="0C233F"/>
              </a:solidFill>
              <a:prstDash val="solid"/>
              <a:miter lim="800000"/>
              <a:headEnd type="none" w="sm" len="sm"/>
              <a:tailEnd type="triangle" w="med" len="med"/>
            </a:ln>
          </p:spPr>
        </p:cxnSp>
        <p:grpSp>
          <p:nvGrpSpPr>
            <p:cNvPr id="4" name="Group 3">
              <a:extLst>
                <a:ext uri="{FF2B5EF4-FFF2-40B4-BE49-F238E27FC236}">
                  <a16:creationId xmlns:a16="http://schemas.microsoft.com/office/drawing/2014/main" id="{D2C5A21B-35BA-34A4-3A30-D4E28F0B4374}"/>
                </a:ext>
              </a:extLst>
            </p:cNvPr>
            <p:cNvGrpSpPr/>
            <p:nvPr/>
          </p:nvGrpSpPr>
          <p:grpSpPr>
            <a:xfrm>
              <a:off x="618224" y="1224950"/>
              <a:ext cx="11130910" cy="4198364"/>
              <a:chOff x="618224" y="1224950"/>
              <a:chExt cx="11130910" cy="4198364"/>
            </a:xfrm>
          </p:grpSpPr>
          <p:grpSp>
            <p:nvGrpSpPr>
              <p:cNvPr id="92" name="Group 91">
                <a:extLst>
                  <a:ext uri="{FF2B5EF4-FFF2-40B4-BE49-F238E27FC236}">
                    <a16:creationId xmlns:a16="http://schemas.microsoft.com/office/drawing/2014/main" id="{D3295AEE-B2F0-9F9A-1C37-71D3F4A8443A}"/>
                  </a:ext>
                </a:extLst>
              </p:cNvPr>
              <p:cNvGrpSpPr/>
              <p:nvPr/>
            </p:nvGrpSpPr>
            <p:grpSpPr>
              <a:xfrm>
                <a:off x="618224" y="1224950"/>
                <a:ext cx="11130910" cy="4198364"/>
                <a:chOff x="369885" y="1928259"/>
                <a:chExt cx="11130910" cy="4198364"/>
              </a:xfrm>
            </p:grpSpPr>
            <p:grpSp>
              <p:nvGrpSpPr>
                <p:cNvPr id="21" name="Group 20">
                  <a:extLst>
                    <a:ext uri="{FF2B5EF4-FFF2-40B4-BE49-F238E27FC236}">
                      <a16:creationId xmlns:a16="http://schemas.microsoft.com/office/drawing/2014/main" id="{F1169FD2-6F7D-3E6B-C6EC-3B5AC4D78132}"/>
                    </a:ext>
                  </a:extLst>
                </p:cNvPr>
                <p:cNvGrpSpPr/>
                <p:nvPr/>
              </p:nvGrpSpPr>
              <p:grpSpPr>
                <a:xfrm>
                  <a:off x="369885" y="1928259"/>
                  <a:ext cx="11130910" cy="4198364"/>
                  <a:chOff x="8222763" y="17311212"/>
                  <a:chExt cx="42079744" cy="13208021"/>
                </a:xfrm>
              </p:grpSpPr>
              <p:sp>
                <p:nvSpPr>
                  <p:cNvPr id="23" name="Google Shape;163;g392c667b943_0_12">
                    <a:extLst>
                      <a:ext uri="{FF2B5EF4-FFF2-40B4-BE49-F238E27FC236}">
                        <a16:creationId xmlns:a16="http://schemas.microsoft.com/office/drawing/2014/main" id="{AD3AA1B3-95C7-31A6-E3F4-BB7AE3C2E194}"/>
                      </a:ext>
                    </a:extLst>
                  </p:cNvPr>
                  <p:cNvSpPr>
                    <a:spLocks noChangeAspect="1"/>
                  </p:cNvSpPr>
                  <p:nvPr/>
                </p:nvSpPr>
                <p:spPr>
                  <a:xfrm>
                    <a:off x="8222763" y="17353468"/>
                    <a:ext cx="4781198" cy="2582601"/>
                  </a:xfrm>
                  <a:prstGeom prst="flowChartTerminator">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Prior</a:t>
                    </a:r>
                    <a:endParaRPr sz="1600" b="1" dirty="0"/>
                  </a:p>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Knowledge</a:t>
                    </a:r>
                    <a:endParaRPr sz="1600" b="1" dirty="0"/>
                  </a:p>
                </p:txBody>
              </p:sp>
              <p:cxnSp>
                <p:nvCxnSpPr>
                  <p:cNvPr id="24" name="Google Shape;170;g392c667b943_0_12">
                    <a:extLst>
                      <a:ext uri="{FF2B5EF4-FFF2-40B4-BE49-F238E27FC236}">
                        <a16:creationId xmlns:a16="http://schemas.microsoft.com/office/drawing/2014/main" id="{E8DD75D1-1C28-8483-6703-B7A217FCD1B5}"/>
                      </a:ext>
                    </a:extLst>
                  </p:cNvPr>
                  <p:cNvCxnSpPr>
                    <a:cxnSpLocks/>
                    <a:stCxn id="59" idx="3"/>
                    <a:endCxn id="27" idx="0"/>
                  </p:cNvCxnSpPr>
                  <p:nvPr/>
                </p:nvCxnSpPr>
                <p:spPr>
                  <a:xfrm>
                    <a:off x="42261223" y="19220045"/>
                    <a:ext cx="3327272" cy="2812486"/>
                  </a:xfrm>
                  <a:prstGeom prst="bentConnector2">
                    <a:avLst/>
                  </a:prstGeom>
                  <a:noFill/>
                  <a:ln w="57150" cap="flat" cmpd="sng">
                    <a:solidFill>
                      <a:srgbClr val="0C233F"/>
                    </a:solidFill>
                    <a:prstDash val="solid"/>
                    <a:miter lim="800000"/>
                    <a:headEnd type="none" w="sm" len="sm"/>
                    <a:tailEnd type="triangle" w="med" len="med"/>
                  </a:ln>
                </p:spPr>
              </p:cxnSp>
              <p:cxnSp>
                <p:nvCxnSpPr>
                  <p:cNvPr id="25" name="Google Shape;173;g392c667b943_0_12">
                    <a:extLst>
                      <a:ext uri="{FF2B5EF4-FFF2-40B4-BE49-F238E27FC236}">
                        <a16:creationId xmlns:a16="http://schemas.microsoft.com/office/drawing/2014/main" id="{29F85463-D4B4-4F4D-9354-7521495E8CC8}"/>
                      </a:ext>
                    </a:extLst>
                  </p:cNvPr>
                  <p:cNvCxnSpPr>
                    <a:cxnSpLocks/>
                    <a:stCxn id="52" idx="1"/>
                    <a:endCxn id="63" idx="2"/>
                  </p:cNvCxnSpPr>
                  <p:nvPr/>
                </p:nvCxnSpPr>
                <p:spPr>
                  <a:xfrm rot="10800000">
                    <a:off x="10613368" y="26196592"/>
                    <a:ext cx="32583620" cy="2728872"/>
                  </a:xfrm>
                  <a:prstGeom prst="bentConnector2">
                    <a:avLst/>
                  </a:prstGeom>
                  <a:noFill/>
                  <a:ln w="57150" cap="flat" cmpd="sng">
                    <a:solidFill>
                      <a:srgbClr val="0C233F"/>
                    </a:solidFill>
                    <a:prstDash val="dash"/>
                    <a:miter lim="800000"/>
                    <a:headEnd type="none" w="sm" len="sm"/>
                    <a:tailEnd type="triangle" w="med" len="med"/>
                  </a:ln>
                </p:spPr>
              </p:cxnSp>
              <p:sp>
                <p:nvSpPr>
                  <p:cNvPr id="63" name="Google Shape;168;g392c667b943_0_12">
                    <a:extLst>
                      <a:ext uri="{FF2B5EF4-FFF2-40B4-BE49-F238E27FC236}">
                        <a16:creationId xmlns:a16="http://schemas.microsoft.com/office/drawing/2014/main" id="{395B9EA8-489B-E47B-1686-64D1C3A8A224}"/>
                      </a:ext>
                    </a:extLst>
                  </p:cNvPr>
                  <p:cNvSpPr/>
                  <p:nvPr/>
                </p:nvSpPr>
                <p:spPr>
                  <a:xfrm>
                    <a:off x="8222787" y="23009047"/>
                    <a:ext cx="4781150" cy="3187545"/>
                  </a:xfrm>
                  <a:prstGeom prst="flowChartProcess">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Model(s)</a:t>
                    </a:r>
                    <a:endParaRPr sz="1600" b="1" dirty="0"/>
                  </a:p>
                </p:txBody>
              </p:sp>
              <p:sp>
                <p:nvSpPr>
                  <p:cNvPr id="27" name="Google Shape;172;g392c667b943_0_12">
                    <a:extLst>
                      <a:ext uri="{FF2B5EF4-FFF2-40B4-BE49-F238E27FC236}">
                        <a16:creationId xmlns:a16="http://schemas.microsoft.com/office/drawing/2014/main" id="{851FD7B4-7984-EED2-90A2-97030F7003F2}"/>
                      </a:ext>
                    </a:extLst>
                  </p:cNvPr>
                  <p:cNvSpPr/>
                  <p:nvPr/>
                </p:nvSpPr>
                <p:spPr>
                  <a:xfrm>
                    <a:off x="40874478" y="22032531"/>
                    <a:ext cx="9428029" cy="3610004"/>
                  </a:xfrm>
                  <a:prstGeom prst="diamond">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Uncertainty Acceptable?</a:t>
                    </a:r>
                    <a:endParaRPr sz="1600" b="1" dirty="0"/>
                  </a:p>
                </p:txBody>
              </p:sp>
              <p:cxnSp>
                <p:nvCxnSpPr>
                  <p:cNvPr id="28" name="Google Shape;181;g392c667b943_0_12">
                    <a:extLst>
                      <a:ext uri="{FF2B5EF4-FFF2-40B4-BE49-F238E27FC236}">
                        <a16:creationId xmlns:a16="http://schemas.microsoft.com/office/drawing/2014/main" id="{DAC43201-F4A7-75B7-95D4-46BDB17E8A04}"/>
                      </a:ext>
                    </a:extLst>
                  </p:cNvPr>
                  <p:cNvCxnSpPr>
                    <a:cxnSpLocks/>
                    <a:stCxn id="51" idx="3"/>
                    <a:endCxn id="59" idx="1"/>
                  </p:cNvCxnSpPr>
                  <p:nvPr/>
                </p:nvCxnSpPr>
                <p:spPr>
                  <a:xfrm>
                    <a:off x="31465956" y="19220042"/>
                    <a:ext cx="6012254" cy="3"/>
                  </a:xfrm>
                  <a:prstGeom prst="straightConnector1">
                    <a:avLst/>
                  </a:prstGeom>
                  <a:noFill/>
                  <a:ln w="57150" cap="flat" cmpd="sng">
                    <a:solidFill>
                      <a:srgbClr val="0C233F"/>
                    </a:solidFill>
                    <a:prstDash val="solid"/>
                    <a:miter lim="800000"/>
                    <a:headEnd type="none" w="sm" len="sm"/>
                    <a:tailEnd type="triangle" w="med" len="med"/>
                  </a:ln>
                </p:spPr>
              </p:cxnSp>
              <p:cxnSp>
                <p:nvCxnSpPr>
                  <p:cNvPr id="30" name="Google Shape;183;g392c667b943_0_12">
                    <a:extLst>
                      <a:ext uri="{FF2B5EF4-FFF2-40B4-BE49-F238E27FC236}">
                        <a16:creationId xmlns:a16="http://schemas.microsoft.com/office/drawing/2014/main" id="{0ACFB825-0A49-6431-C861-315CC14F5E47}"/>
                      </a:ext>
                    </a:extLst>
                  </p:cNvPr>
                  <p:cNvCxnSpPr>
                    <a:cxnSpLocks/>
                    <a:stCxn id="27" idx="1"/>
                    <a:endCxn id="46" idx="3"/>
                  </p:cNvCxnSpPr>
                  <p:nvPr/>
                </p:nvCxnSpPr>
                <p:spPr>
                  <a:xfrm flipH="1" flipV="1">
                    <a:off x="38711578" y="23819024"/>
                    <a:ext cx="2162900" cy="18511"/>
                  </a:xfrm>
                  <a:prstGeom prst="straightConnector1">
                    <a:avLst/>
                  </a:prstGeom>
                  <a:noFill/>
                  <a:ln w="57150" cap="flat" cmpd="sng">
                    <a:solidFill>
                      <a:srgbClr val="0C233F"/>
                    </a:solidFill>
                    <a:prstDash val="solid"/>
                    <a:miter lim="800000"/>
                    <a:headEnd type="none" w="sm" len="sm"/>
                    <a:tailEnd type="triangle" w="med" len="med"/>
                  </a:ln>
                </p:spPr>
              </p:cxnSp>
              <p:sp>
                <p:nvSpPr>
                  <p:cNvPr id="46" name="Google Shape;184;g392c667b943_0_12">
                    <a:extLst>
                      <a:ext uri="{FF2B5EF4-FFF2-40B4-BE49-F238E27FC236}">
                        <a16:creationId xmlns:a16="http://schemas.microsoft.com/office/drawing/2014/main" id="{E6F2A968-AEA2-649A-7607-713828148B06}"/>
                      </a:ext>
                    </a:extLst>
                  </p:cNvPr>
                  <p:cNvSpPr/>
                  <p:nvPr/>
                </p:nvSpPr>
                <p:spPr>
                  <a:xfrm>
                    <a:off x="32616412" y="22543223"/>
                    <a:ext cx="6095166" cy="2551598"/>
                  </a:xfrm>
                  <a:prstGeom prst="flowChartTerminator">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Model with Quantified Uncertainty</a:t>
                    </a:r>
                    <a:endParaRPr sz="1600" b="1" dirty="0"/>
                  </a:p>
                </p:txBody>
              </p:sp>
              <p:sp>
                <p:nvSpPr>
                  <p:cNvPr id="47" name="Google Shape;185;g392c667b943_0_12">
                    <a:extLst>
                      <a:ext uri="{FF2B5EF4-FFF2-40B4-BE49-F238E27FC236}">
                        <a16:creationId xmlns:a16="http://schemas.microsoft.com/office/drawing/2014/main" id="{5802C27D-D262-121D-D1E4-D1104C4B5453}"/>
                      </a:ext>
                    </a:extLst>
                  </p:cNvPr>
                  <p:cNvSpPr txBox="1"/>
                  <p:nvPr/>
                </p:nvSpPr>
                <p:spPr>
                  <a:xfrm>
                    <a:off x="45546944" y="25850080"/>
                    <a:ext cx="2462292" cy="968135"/>
                  </a:xfrm>
                  <a:prstGeom prst="rect">
                    <a:avLst/>
                  </a:prstGeom>
                  <a:noFill/>
                  <a:ln w="82550">
                    <a:noFill/>
                  </a:ln>
                </p:spPr>
                <p:txBody>
                  <a:bodyPr spcFirstLastPara="1" wrap="square" lIns="91425" tIns="45700" rIns="91425" bIns="45700" anchor="t" anchorCtr="0">
                    <a:spAutoFit/>
                  </a:bodyPr>
                  <a:lstStyle/>
                  <a:p>
                    <a:pPr>
                      <a:spcBef>
                        <a:spcPts val="0"/>
                      </a:spcBef>
                      <a:spcAft>
                        <a:spcPts val="0"/>
                      </a:spcAft>
                    </a:pPr>
                    <a:r>
                      <a:rPr lang="en-US" dirty="0">
                        <a:solidFill>
                          <a:schemeClr val="tx1"/>
                        </a:solidFill>
                        <a:sym typeface="Courier New"/>
                      </a:rPr>
                      <a:t>No</a:t>
                    </a:r>
                    <a:endParaRPr dirty="0">
                      <a:solidFill>
                        <a:schemeClr val="tx1"/>
                      </a:solidFill>
                    </a:endParaRPr>
                  </a:p>
                </p:txBody>
              </p:sp>
              <p:sp>
                <p:nvSpPr>
                  <p:cNvPr id="48" name="Google Shape;186;g392c667b943_0_12">
                    <a:extLst>
                      <a:ext uri="{FF2B5EF4-FFF2-40B4-BE49-F238E27FC236}">
                        <a16:creationId xmlns:a16="http://schemas.microsoft.com/office/drawing/2014/main" id="{BEAC935A-0C00-7964-F11A-A4970AD996F2}"/>
                      </a:ext>
                    </a:extLst>
                  </p:cNvPr>
                  <p:cNvSpPr txBox="1"/>
                  <p:nvPr/>
                </p:nvSpPr>
                <p:spPr>
                  <a:xfrm>
                    <a:off x="38829751" y="22857237"/>
                    <a:ext cx="1999207" cy="788024"/>
                  </a:xfrm>
                  <a:prstGeom prst="rect">
                    <a:avLst/>
                  </a:prstGeom>
                  <a:noFill/>
                  <a:ln w="82550">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dirty="0">
                        <a:solidFill>
                          <a:schemeClr val="tx1"/>
                        </a:solidFill>
                        <a:sym typeface="Courier New"/>
                      </a:rPr>
                      <a:t>Yes</a:t>
                    </a:r>
                    <a:endParaRPr dirty="0">
                      <a:solidFill>
                        <a:schemeClr val="tx1"/>
                      </a:solidFill>
                      <a:sym typeface="Courier New"/>
                    </a:endParaRPr>
                  </a:p>
                </p:txBody>
              </p:sp>
              <p:sp>
                <p:nvSpPr>
                  <p:cNvPr id="59" name="Google Shape;171;g392c667b943_0_12">
                    <a:extLst>
                      <a:ext uri="{FF2B5EF4-FFF2-40B4-BE49-F238E27FC236}">
                        <a16:creationId xmlns:a16="http://schemas.microsoft.com/office/drawing/2014/main" id="{A465C23B-B14B-0E22-2FDE-3BBB31C70664}"/>
                      </a:ext>
                    </a:extLst>
                  </p:cNvPr>
                  <p:cNvSpPr/>
                  <p:nvPr/>
                </p:nvSpPr>
                <p:spPr>
                  <a:xfrm>
                    <a:off x="37478213" y="17626273"/>
                    <a:ext cx="4783013" cy="3187542"/>
                  </a:xfrm>
                  <a:prstGeom prst="flowChartProcess">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Sensitivity &amp; Uncertainty Analysis</a:t>
                    </a:r>
                    <a:endParaRPr sz="1600" b="1" dirty="0"/>
                  </a:p>
                </p:txBody>
              </p:sp>
              <p:sp>
                <p:nvSpPr>
                  <p:cNvPr id="51" name="Google Shape;171;g392c667b943_0_12">
                    <a:extLst>
                      <a:ext uri="{FF2B5EF4-FFF2-40B4-BE49-F238E27FC236}">
                        <a16:creationId xmlns:a16="http://schemas.microsoft.com/office/drawing/2014/main" id="{1061763A-9B29-8742-450B-517DE457A6EF}"/>
                      </a:ext>
                    </a:extLst>
                  </p:cNvPr>
                  <p:cNvSpPr/>
                  <p:nvPr/>
                </p:nvSpPr>
                <p:spPr>
                  <a:xfrm>
                    <a:off x="26682943" y="17626270"/>
                    <a:ext cx="4783013" cy="3187542"/>
                  </a:xfrm>
                  <a:prstGeom prst="flowChartProcess">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cs typeface="Calibri"/>
                        <a:sym typeface="Calibri"/>
                      </a:rPr>
                      <a:t>Parameter Estimation</a:t>
                    </a:r>
                    <a:endParaRPr sz="1600" b="1" dirty="0">
                      <a:solidFill>
                        <a:srgbClr val="000000"/>
                      </a:solidFill>
                      <a:latin typeface="Calibri"/>
                      <a:cs typeface="Calibri"/>
                    </a:endParaRPr>
                  </a:p>
                </p:txBody>
              </p:sp>
              <p:sp>
                <p:nvSpPr>
                  <p:cNvPr id="52" name="Google Shape;171;g392c667b943_0_12">
                    <a:extLst>
                      <a:ext uri="{FF2B5EF4-FFF2-40B4-BE49-F238E27FC236}">
                        <a16:creationId xmlns:a16="http://schemas.microsoft.com/office/drawing/2014/main" id="{53F972BC-EA18-6524-D488-BE0F073A7224}"/>
                      </a:ext>
                    </a:extLst>
                  </p:cNvPr>
                  <p:cNvSpPr/>
                  <p:nvPr/>
                </p:nvSpPr>
                <p:spPr>
                  <a:xfrm>
                    <a:off x="43196984" y="27331691"/>
                    <a:ext cx="4783013" cy="3187542"/>
                  </a:xfrm>
                  <a:prstGeom prst="flowChartProcess">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cs typeface="Calibri"/>
                        <a:sym typeface="Calibri"/>
                      </a:rPr>
                      <a:t>Model-Based Design of Experiments</a:t>
                    </a:r>
                    <a:endParaRPr sz="1600" b="1" dirty="0">
                      <a:solidFill>
                        <a:srgbClr val="000000"/>
                      </a:solidFill>
                      <a:latin typeface="Calibri"/>
                      <a:cs typeface="Calibri"/>
                    </a:endParaRPr>
                  </a:p>
                </p:txBody>
              </p:sp>
              <p:grpSp>
                <p:nvGrpSpPr>
                  <p:cNvPr id="53" name="Group 52">
                    <a:extLst>
                      <a:ext uri="{FF2B5EF4-FFF2-40B4-BE49-F238E27FC236}">
                        <a16:creationId xmlns:a16="http://schemas.microsoft.com/office/drawing/2014/main" id="{245CE23A-5CDA-2F23-47CB-BAF8850DC6C3}"/>
                      </a:ext>
                    </a:extLst>
                  </p:cNvPr>
                  <p:cNvGrpSpPr/>
                  <p:nvPr/>
                </p:nvGrpSpPr>
                <p:grpSpPr>
                  <a:xfrm>
                    <a:off x="14553943" y="17311212"/>
                    <a:ext cx="5640307" cy="2551599"/>
                    <a:chOff x="4770778" y="26675994"/>
                    <a:chExt cx="5640307" cy="2551599"/>
                  </a:xfrm>
                </p:grpSpPr>
                <p:sp>
                  <p:nvSpPr>
                    <p:cNvPr id="56" name="Google Shape;164;g392c667b943_0_12">
                      <a:extLst>
                        <a:ext uri="{FF2B5EF4-FFF2-40B4-BE49-F238E27FC236}">
                          <a16:creationId xmlns:a16="http://schemas.microsoft.com/office/drawing/2014/main" id="{CCDC9745-32B0-B257-BF7E-11583D192079}"/>
                        </a:ext>
                      </a:extLst>
                    </p:cNvPr>
                    <p:cNvSpPr/>
                    <p:nvPr/>
                  </p:nvSpPr>
                  <p:spPr>
                    <a:xfrm>
                      <a:off x="4770778" y="26675994"/>
                      <a:ext cx="5640307" cy="2551599"/>
                    </a:xfrm>
                    <a:prstGeom prst="flowChartTerminator">
                      <a:avLst/>
                    </a:prstGeom>
                    <a:solidFill>
                      <a:srgbClr val="DDEAF6"/>
                    </a:solidFill>
                    <a:ln w="28575" cap="flat" cmpd="sng">
                      <a:solidFill>
                        <a:srgbClr val="0C23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0000"/>
                          </a:solidFill>
                          <a:latin typeface="Calibri"/>
                          <a:ea typeface="Calibri"/>
                          <a:cs typeface="Calibri"/>
                          <a:sym typeface="Calibri"/>
                        </a:rPr>
                        <a:t>Experimental Data</a:t>
                      </a:r>
                      <a:endParaRPr sz="1600" b="1" dirty="0"/>
                    </a:p>
                  </p:txBody>
                </p:sp>
                <p:pic>
                  <p:nvPicPr>
                    <p:cNvPr id="57" name="Google Shape;145;g392c667b943_0_0" descr="Beaker with solid fill">
                      <a:extLst>
                        <a:ext uri="{FF2B5EF4-FFF2-40B4-BE49-F238E27FC236}">
                          <a16:creationId xmlns:a16="http://schemas.microsoft.com/office/drawing/2014/main" id="{CD51961C-5C35-63DB-134C-39F1BE700AED}"/>
                        </a:ext>
                      </a:extLst>
                    </p:cNvPr>
                    <p:cNvPicPr preferRelativeResize="0"/>
                    <p:nvPr/>
                  </p:nvPicPr>
                  <p:blipFill rotWithShape="1">
                    <a:blip r:embed="rId3">
                      <a:alphaModFix/>
                    </a:blip>
                    <a:srcRect/>
                    <a:stretch/>
                  </p:blipFill>
                  <p:spPr>
                    <a:xfrm>
                      <a:off x="5402021" y="27873557"/>
                      <a:ext cx="1007529" cy="976689"/>
                    </a:xfrm>
                    <a:prstGeom prst="rect">
                      <a:avLst/>
                    </a:prstGeom>
                    <a:noFill/>
                    <a:ln w="82550">
                      <a:noFill/>
                    </a:ln>
                  </p:spPr>
                </p:pic>
                <p:pic>
                  <p:nvPicPr>
                    <p:cNvPr id="58" name="Google Shape;144;g392c667b943_0_0" descr="Microscope with solid fill">
                      <a:extLst>
                        <a:ext uri="{FF2B5EF4-FFF2-40B4-BE49-F238E27FC236}">
                          <a16:creationId xmlns:a16="http://schemas.microsoft.com/office/drawing/2014/main" id="{52984D16-F55A-8079-1503-A938A27076AA}"/>
                        </a:ext>
                      </a:extLst>
                    </p:cNvPr>
                    <p:cNvPicPr preferRelativeResize="0"/>
                    <p:nvPr/>
                  </p:nvPicPr>
                  <p:blipFill rotWithShape="1">
                    <a:blip r:embed="rId4">
                      <a:alphaModFix/>
                    </a:blip>
                    <a:srcRect/>
                    <a:stretch/>
                  </p:blipFill>
                  <p:spPr>
                    <a:xfrm>
                      <a:off x="8695242" y="27873557"/>
                      <a:ext cx="1007529" cy="976689"/>
                    </a:xfrm>
                    <a:prstGeom prst="rect">
                      <a:avLst/>
                    </a:prstGeom>
                    <a:noFill/>
                    <a:ln w="82550">
                      <a:noFill/>
                    </a:ln>
                  </p:spPr>
                </p:pic>
              </p:grpSp>
              <p:cxnSp>
                <p:nvCxnSpPr>
                  <p:cNvPr id="54" name="Google Shape;173;g392c667b943_0_12">
                    <a:extLst>
                      <a:ext uri="{FF2B5EF4-FFF2-40B4-BE49-F238E27FC236}">
                        <a16:creationId xmlns:a16="http://schemas.microsoft.com/office/drawing/2014/main" id="{1E3A9DD0-756E-9D8F-4CE1-3A446FA5C0B9}"/>
                      </a:ext>
                    </a:extLst>
                  </p:cNvPr>
                  <p:cNvCxnSpPr>
                    <a:cxnSpLocks/>
                    <a:stCxn id="56" idx="2"/>
                  </p:cNvCxnSpPr>
                  <p:nvPr/>
                </p:nvCxnSpPr>
                <p:spPr>
                  <a:xfrm rot="5400000">
                    <a:off x="13404149" y="17163684"/>
                    <a:ext cx="1270824" cy="6669079"/>
                  </a:xfrm>
                  <a:prstGeom prst="bentConnector2">
                    <a:avLst/>
                  </a:prstGeom>
                  <a:noFill/>
                  <a:ln w="57150" cap="flat" cmpd="sng">
                    <a:solidFill>
                      <a:srgbClr val="0C233F"/>
                    </a:solidFill>
                    <a:prstDash val="dash"/>
                    <a:miter lim="800000"/>
                    <a:headEnd type="none" w="sm" len="sm"/>
                    <a:tailEnd type="triangle" w="med" len="med"/>
                  </a:ln>
                </p:spPr>
              </p:cxnSp>
            </p:grpSp>
            <p:cxnSp>
              <p:nvCxnSpPr>
                <p:cNvPr id="75" name="Google Shape;183;g392c667b943_0_12">
                  <a:extLst>
                    <a:ext uri="{FF2B5EF4-FFF2-40B4-BE49-F238E27FC236}">
                      <a16:creationId xmlns:a16="http://schemas.microsoft.com/office/drawing/2014/main" id="{86C654AC-BBEB-3BA6-10BB-331A4CE5A847}"/>
                    </a:ext>
                  </a:extLst>
                </p:cNvPr>
                <p:cNvCxnSpPr>
                  <a:cxnSpLocks/>
                  <a:stCxn id="27" idx="2"/>
                  <a:endCxn id="52" idx="0"/>
                </p:cNvCxnSpPr>
                <p:nvPr/>
              </p:nvCxnSpPr>
              <p:spPr>
                <a:xfrm flipH="1">
                  <a:off x="10253846" y="4576493"/>
                  <a:ext cx="1" cy="536923"/>
                </a:xfrm>
                <a:prstGeom prst="straightConnector1">
                  <a:avLst/>
                </a:prstGeom>
                <a:noFill/>
                <a:ln w="57150" cap="flat" cmpd="sng">
                  <a:solidFill>
                    <a:srgbClr val="0C233F"/>
                  </a:solidFill>
                  <a:prstDash val="solid"/>
                  <a:miter lim="800000"/>
                  <a:headEnd type="none" w="sm" len="sm"/>
                  <a:tailEnd type="triangle" w="med" len="med"/>
                </a:ln>
              </p:spPr>
            </p:cxnSp>
          </p:grpSp>
          <p:cxnSp>
            <p:nvCxnSpPr>
              <p:cNvPr id="93" name="Google Shape;183;g392c667b943_0_12">
                <a:extLst>
                  <a:ext uri="{FF2B5EF4-FFF2-40B4-BE49-F238E27FC236}">
                    <a16:creationId xmlns:a16="http://schemas.microsoft.com/office/drawing/2014/main" id="{AB2ED750-F013-43EF-4A41-07751CF19EA0}"/>
                  </a:ext>
                </a:extLst>
              </p:cNvPr>
              <p:cNvCxnSpPr>
                <a:cxnSpLocks/>
                <a:stCxn id="23" idx="2"/>
                <a:endCxn id="63" idx="0"/>
              </p:cNvCxnSpPr>
              <p:nvPr/>
            </p:nvCxnSpPr>
            <p:spPr>
              <a:xfrm>
                <a:off x="1250584" y="2059300"/>
                <a:ext cx="0" cy="976791"/>
              </a:xfrm>
              <a:prstGeom prst="straightConnector1">
                <a:avLst/>
              </a:prstGeom>
              <a:noFill/>
              <a:ln w="57150" cap="flat" cmpd="sng">
                <a:solidFill>
                  <a:srgbClr val="0C233F"/>
                </a:solidFill>
                <a:prstDash val="dash"/>
                <a:miter lim="800000"/>
                <a:headEnd type="none" w="sm" len="sm"/>
                <a:tailEnd type="triangle" w="med" len="med"/>
              </a:ln>
            </p:spPr>
          </p:cxnSp>
        </p:grpSp>
      </p:grpSp>
      <p:sp>
        <p:nvSpPr>
          <p:cNvPr id="6" name="TextBox 5">
            <a:extLst>
              <a:ext uri="{FF2B5EF4-FFF2-40B4-BE49-F238E27FC236}">
                <a16:creationId xmlns:a16="http://schemas.microsoft.com/office/drawing/2014/main" id="{F373D278-13A4-4C52-F02E-886FE3C47C01}"/>
              </a:ext>
            </a:extLst>
          </p:cNvPr>
          <p:cNvSpPr txBox="1"/>
          <p:nvPr/>
        </p:nvSpPr>
        <p:spPr>
          <a:xfrm>
            <a:off x="3797128" y="5532903"/>
            <a:ext cx="4673543" cy="646331"/>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defPPr marR="0" lvl="0" algn="l" rtl="0">
              <a:lnSpc>
                <a:spcPct val="100000"/>
              </a:lnSpc>
              <a:spcBef>
                <a:spcPts val="0"/>
              </a:spcBef>
              <a:spcAft>
                <a:spcPts val="0"/>
              </a:spcAft>
              <a:defRPr/>
            </a:defPPr>
            <a:lvl1pPr marL="285750" indent="-285750">
              <a:buFont typeface="Wingdings" panose="05000000000000000000" pitchFamily="2" charset="2"/>
              <a:buChar char="§"/>
              <a:defRPr sz="1800">
                <a:solidFill>
                  <a:schemeClr val="tx1"/>
                </a:solidFill>
              </a:defRPr>
            </a:lvl1pPr>
          </a:lstStyle>
          <a:p>
            <a:pPr marL="0" indent="0">
              <a:buNone/>
            </a:pPr>
            <a:r>
              <a:rPr lang="en-US" dirty="0"/>
              <a:t>• Dotted lines ⇢ manual data transmission</a:t>
            </a:r>
          </a:p>
          <a:p>
            <a:pPr marL="0" indent="0">
              <a:buNone/>
            </a:pPr>
            <a:r>
              <a:rPr lang="en-US" dirty="0"/>
              <a:t>• Solid lines → automatic data transmission</a:t>
            </a:r>
          </a:p>
        </p:txBody>
      </p:sp>
    </p:spTree>
    <p:extLst>
      <p:ext uri="{BB962C8B-B14F-4D97-AF65-F5344CB8AC3E}">
        <p14:creationId xmlns:p14="http://schemas.microsoft.com/office/powerpoint/2010/main" val="2195701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A7D30-DA64-98CE-A91F-A319E706DAA9}"/>
            </a:ext>
          </a:extLst>
        </p:cNvPr>
        <p:cNvGrpSpPr/>
        <p:nvPr/>
      </p:nvGrpSpPr>
      <p:grpSpPr>
        <a:xfrm>
          <a:off x="0" y="0"/>
          <a:ext cx="0" cy="0"/>
          <a:chOff x="0" y="0"/>
          <a:chExt cx="0" cy="0"/>
        </a:xfrm>
      </p:grpSpPr>
      <p:pic>
        <p:nvPicPr>
          <p:cNvPr id="262" name="Picture 261">
            <a:extLst>
              <a:ext uri="{FF2B5EF4-FFF2-40B4-BE49-F238E27FC236}">
                <a16:creationId xmlns:a16="http://schemas.microsoft.com/office/drawing/2014/main" id="{DB274022-D038-5765-C766-CB9725CF7DA3}"/>
              </a:ext>
            </a:extLst>
          </p:cNvPr>
          <p:cNvPicPr>
            <a:picLocks noChangeAspect="1"/>
          </p:cNvPicPr>
          <p:nvPr/>
        </p:nvPicPr>
        <p:blipFill>
          <a:blip r:embed="rId3"/>
          <a:stretch>
            <a:fillRect/>
          </a:stretch>
        </p:blipFill>
        <p:spPr>
          <a:xfrm>
            <a:off x="1964699" y="4855950"/>
            <a:ext cx="2595491" cy="1986971"/>
          </a:xfrm>
          <a:prstGeom prst="rect">
            <a:avLst/>
          </a:prstGeom>
        </p:spPr>
      </p:pic>
      <p:sp>
        <p:nvSpPr>
          <p:cNvPr id="27" name="Title 1">
            <a:extLst>
              <a:ext uri="{FF2B5EF4-FFF2-40B4-BE49-F238E27FC236}">
                <a16:creationId xmlns:a16="http://schemas.microsoft.com/office/drawing/2014/main" id="{F9474FAC-3B0B-E6E2-2C65-A0BCC67C63E2}"/>
              </a:ext>
            </a:extLst>
          </p:cNvPr>
          <p:cNvSpPr>
            <a:spLocks noGrp="1"/>
          </p:cNvSpPr>
          <p:nvPr>
            <p:ph type="title"/>
          </p:nvPr>
        </p:nvSpPr>
        <p:spPr>
          <a:xfrm>
            <a:off x="0" y="-6205"/>
            <a:ext cx="12192000" cy="1097280"/>
          </a:xfrm>
        </p:spPr>
        <p:txBody>
          <a:bodyPr>
            <a:noAutofit/>
          </a:bodyPr>
          <a:lstStyle/>
          <a:p>
            <a:pPr algn="ctr"/>
            <a:r>
              <a:rPr lang="en-US" sz="3200" dirty="0"/>
              <a:t>Separation using a Dynamic Diafiltration </a:t>
            </a:r>
            <a:r>
              <a:rPr lang="en-US" dirty="0">
                <a:latin typeface="Arial" panose="020B0604020202020204" pitchFamily="34" charset="0"/>
                <a:cs typeface="Arial" panose="020B0604020202020204" pitchFamily="34" charset="0"/>
              </a:rPr>
              <a:t>Device</a:t>
            </a:r>
          </a:p>
        </p:txBody>
      </p:sp>
      <p:grpSp>
        <p:nvGrpSpPr>
          <p:cNvPr id="216" name="Group 215">
            <a:extLst>
              <a:ext uri="{FF2B5EF4-FFF2-40B4-BE49-F238E27FC236}">
                <a16:creationId xmlns:a16="http://schemas.microsoft.com/office/drawing/2014/main" id="{E6D20AF0-E139-18E7-FC8F-85E4843E2051}"/>
              </a:ext>
            </a:extLst>
          </p:cNvPr>
          <p:cNvGrpSpPr/>
          <p:nvPr/>
        </p:nvGrpSpPr>
        <p:grpSpPr>
          <a:xfrm>
            <a:off x="2933700" y="901700"/>
            <a:ext cx="9175473" cy="3994020"/>
            <a:chOff x="351046" y="664151"/>
            <a:chExt cx="11216460" cy="4377874"/>
          </a:xfrm>
        </p:grpSpPr>
        <p:pic>
          <p:nvPicPr>
            <p:cNvPr id="2" name="Picture 1" descr="A blueprint of a machine&#10;&#10;Description automatically generated">
              <a:extLst>
                <a:ext uri="{FF2B5EF4-FFF2-40B4-BE49-F238E27FC236}">
                  <a16:creationId xmlns:a16="http://schemas.microsoft.com/office/drawing/2014/main" id="{D46F4A64-351A-19EC-0C23-5FC73587F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4489" y="2610942"/>
              <a:ext cx="1614426" cy="2190915"/>
            </a:xfrm>
            <a:prstGeom prst="rect">
              <a:avLst/>
            </a:prstGeom>
          </p:spPr>
        </p:pic>
        <p:sp>
          <p:nvSpPr>
            <p:cNvPr id="158" name="Rectangle: Rounded Corners 157">
              <a:extLst>
                <a:ext uri="{FF2B5EF4-FFF2-40B4-BE49-F238E27FC236}">
                  <a16:creationId xmlns:a16="http://schemas.microsoft.com/office/drawing/2014/main" id="{B5AD8DC0-306B-5F01-F597-C62D9CA1A4F1}"/>
                </a:ext>
              </a:extLst>
            </p:cNvPr>
            <p:cNvSpPr/>
            <p:nvPr/>
          </p:nvSpPr>
          <p:spPr>
            <a:xfrm>
              <a:off x="6228264" y="2164920"/>
              <a:ext cx="90000" cy="196353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1" name="Rectangle: Rounded Corners 150">
              <a:extLst>
                <a:ext uri="{FF2B5EF4-FFF2-40B4-BE49-F238E27FC236}">
                  <a16:creationId xmlns:a16="http://schemas.microsoft.com/office/drawing/2014/main" id="{1A795687-EFB8-66CF-E903-461B5FFA9CF9}"/>
                </a:ext>
              </a:extLst>
            </p:cNvPr>
            <p:cNvSpPr/>
            <p:nvPr/>
          </p:nvSpPr>
          <p:spPr>
            <a:xfrm>
              <a:off x="4196303" y="2878505"/>
              <a:ext cx="705532"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0" name="Rectangle: Rounded Corners 149">
              <a:extLst>
                <a:ext uri="{FF2B5EF4-FFF2-40B4-BE49-F238E27FC236}">
                  <a16:creationId xmlns:a16="http://schemas.microsoft.com/office/drawing/2014/main" id="{BED0B1B4-232C-5C38-340E-8DEA25D41D9D}"/>
                </a:ext>
              </a:extLst>
            </p:cNvPr>
            <p:cNvSpPr/>
            <p:nvPr/>
          </p:nvSpPr>
          <p:spPr>
            <a:xfrm>
              <a:off x="4196303" y="1173490"/>
              <a:ext cx="90000" cy="179317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1" name="Picture 100" descr="A blue cylinder with towers&#10;&#10;Description automatically generated with medium confidence">
              <a:extLst>
                <a:ext uri="{FF2B5EF4-FFF2-40B4-BE49-F238E27FC236}">
                  <a16:creationId xmlns:a16="http://schemas.microsoft.com/office/drawing/2014/main" id="{F401CAA0-5A3E-D604-441B-6E09C11333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0739" y="1908960"/>
              <a:ext cx="2131187" cy="2896803"/>
            </a:xfrm>
            <a:prstGeom prst="rect">
              <a:avLst/>
            </a:prstGeom>
          </p:spPr>
        </p:pic>
        <p:sp>
          <p:nvSpPr>
            <p:cNvPr id="67" name="TextBox 66">
              <a:extLst>
                <a:ext uri="{FF2B5EF4-FFF2-40B4-BE49-F238E27FC236}">
                  <a16:creationId xmlns:a16="http://schemas.microsoft.com/office/drawing/2014/main" id="{8978CFA7-9D93-84F2-70E0-FEEFE0D1765B}"/>
                </a:ext>
              </a:extLst>
            </p:cNvPr>
            <p:cNvSpPr txBox="1"/>
            <p:nvPr/>
          </p:nvSpPr>
          <p:spPr>
            <a:xfrm>
              <a:off x="3924116" y="4650643"/>
              <a:ext cx="1442022" cy="37109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Membrane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Box 67">
              <a:extLst>
                <a:ext uri="{FF2B5EF4-FFF2-40B4-BE49-F238E27FC236}">
                  <a16:creationId xmlns:a16="http://schemas.microsoft.com/office/drawing/2014/main" id="{04E082D9-E998-11DD-5B3B-D1FEFC40BE56}"/>
                </a:ext>
              </a:extLst>
            </p:cNvPr>
            <p:cNvSpPr txBox="1"/>
            <p:nvPr/>
          </p:nvSpPr>
          <p:spPr>
            <a:xfrm>
              <a:off x="3784564" y="3792708"/>
              <a:ext cx="1377631" cy="6409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Retentate Probe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Rectangle 69">
              <a:extLst>
                <a:ext uri="{FF2B5EF4-FFF2-40B4-BE49-F238E27FC236}">
                  <a16:creationId xmlns:a16="http://schemas.microsoft.com/office/drawing/2014/main" id="{CC9DECE4-5BAF-FE6E-05AA-99D1D15599C2}"/>
                </a:ext>
              </a:extLst>
            </p:cNvPr>
            <p:cNvSpPr/>
            <p:nvPr/>
          </p:nvSpPr>
          <p:spPr>
            <a:xfrm>
              <a:off x="5287300" y="4196163"/>
              <a:ext cx="671898" cy="4571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3B076035-0AED-AC7D-7097-A5A47C6E4DCC}"/>
                </a:ext>
              </a:extLst>
            </p:cNvPr>
            <p:cNvSpPr/>
            <p:nvPr/>
          </p:nvSpPr>
          <p:spPr>
            <a:xfrm>
              <a:off x="6068295" y="4393710"/>
              <a:ext cx="203743" cy="45719"/>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7" name="TextBox 96">
              <a:extLst>
                <a:ext uri="{FF2B5EF4-FFF2-40B4-BE49-F238E27FC236}">
                  <a16:creationId xmlns:a16="http://schemas.microsoft.com/office/drawing/2014/main" id="{D1538BFD-827F-79B3-3FCB-B6C3A03F2940}"/>
                </a:ext>
              </a:extLst>
            </p:cNvPr>
            <p:cNvSpPr txBox="1"/>
            <p:nvPr/>
          </p:nvSpPr>
          <p:spPr>
            <a:xfrm>
              <a:off x="5822993" y="4703471"/>
              <a:ext cx="20406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Permeate Probe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98" name="Straight Connector 97">
              <a:extLst>
                <a:ext uri="{FF2B5EF4-FFF2-40B4-BE49-F238E27FC236}">
                  <a16:creationId xmlns:a16="http://schemas.microsoft.com/office/drawing/2014/main" id="{810A87DC-8B4B-7AAC-3413-A55F981EF29D}"/>
                </a:ext>
              </a:extLst>
            </p:cNvPr>
            <p:cNvCxnSpPr>
              <a:cxnSpLocks/>
            </p:cNvCxnSpPr>
            <p:nvPr/>
          </p:nvCxnSpPr>
          <p:spPr>
            <a:xfrm>
              <a:off x="6203914" y="4500246"/>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pic>
          <p:nvPicPr>
            <p:cNvPr id="106" name="Picture 105" descr="A drawing of a machine&#10;&#10;Description automatically generated">
              <a:extLst>
                <a:ext uri="{FF2B5EF4-FFF2-40B4-BE49-F238E27FC236}">
                  <a16:creationId xmlns:a16="http://schemas.microsoft.com/office/drawing/2014/main" id="{77CDFD46-1DB9-BF15-A805-6B06171161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25591" y="2514337"/>
              <a:ext cx="2697986" cy="2175340"/>
            </a:xfrm>
            <a:prstGeom prst="rect">
              <a:avLst/>
            </a:prstGeom>
          </p:spPr>
        </p:pic>
        <p:cxnSp>
          <p:nvCxnSpPr>
            <p:cNvPr id="109" name="Straight Connector 108">
              <a:extLst>
                <a:ext uri="{FF2B5EF4-FFF2-40B4-BE49-F238E27FC236}">
                  <a16:creationId xmlns:a16="http://schemas.microsoft.com/office/drawing/2014/main" id="{54F70EBD-F86C-0EA6-A12D-306D78527B26}"/>
                </a:ext>
              </a:extLst>
            </p:cNvPr>
            <p:cNvCxnSpPr>
              <a:cxnSpLocks/>
            </p:cNvCxnSpPr>
            <p:nvPr/>
          </p:nvCxnSpPr>
          <p:spPr>
            <a:xfrm>
              <a:off x="9501238" y="3551928"/>
              <a:ext cx="842186" cy="16927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BF3A76C0-2791-5E54-80F2-329CB7B57C80}"/>
                </a:ext>
              </a:extLst>
            </p:cNvPr>
            <p:cNvSpPr txBox="1"/>
            <p:nvPr/>
          </p:nvSpPr>
          <p:spPr>
            <a:xfrm>
              <a:off x="10087001" y="2710145"/>
              <a:ext cx="1480505" cy="6409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Scintillation Vials</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3" name="TextBox 112">
              <a:extLst>
                <a:ext uri="{FF2B5EF4-FFF2-40B4-BE49-F238E27FC236}">
                  <a16:creationId xmlns:a16="http://schemas.microsoft.com/office/drawing/2014/main" id="{F4186169-6390-61FE-9713-0D4648286778}"/>
                </a:ext>
              </a:extLst>
            </p:cNvPr>
            <p:cNvSpPr txBox="1"/>
            <p:nvPr/>
          </p:nvSpPr>
          <p:spPr>
            <a:xfrm>
              <a:off x="10197511" y="3568617"/>
              <a:ext cx="107231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Motor</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4" name="TextBox 113">
              <a:extLst>
                <a:ext uri="{FF2B5EF4-FFF2-40B4-BE49-F238E27FC236}">
                  <a16:creationId xmlns:a16="http://schemas.microsoft.com/office/drawing/2014/main" id="{ED2E0849-F937-CB4B-8A1A-9B019B23B823}"/>
                </a:ext>
              </a:extLst>
            </p:cNvPr>
            <p:cNvSpPr txBox="1"/>
            <p:nvPr/>
          </p:nvSpPr>
          <p:spPr>
            <a:xfrm>
              <a:off x="7574835" y="4224433"/>
              <a:ext cx="241902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Balance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15" name="Straight Connector 114">
              <a:extLst>
                <a:ext uri="{FF2B5EF4-FFF2-40B4-BE49-F238E27FC236}">
                  <a16:creationId xmlns:a16="http://schemas.microsoft.com/office/drawing/2014/main" id="{59F6C8AD-0A2C-81A2-CEB3-9F9444DFF761}"/>
                </a:ext>
              </a:extLst>
            </p:cNvPr>
            <p:cNvCxnSpPr>
              <a:cxnSpLocks/>
            </p:cNvCxnSpPr>
            <p:nvPr/>
          </p:nvCxnSpPr>
          <p:spPr>
            <a:xfrm>
              <a:off x="9290017" y="2670620"/>
              <a:ext cx="833560" cy="17418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E9588DBF-DC42-37F0-6C77-D52DE33D4A03}"/>
                </a:ext>
              </a:extLst>
            </p:cNvPr>
            <p:cNvSpPr txBox="1"/>
            <p:nvPr/>
          </p:nvSpPr>
          <p:spPr>
            <a:xfrm>
              <a:off x="571847" y="1441627"/>
              <a:ext cx="1413888" cy="6409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Pressure Gauge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6" name="Rectangle 125">
              <a:extLst>
                <a:ext uri="{FF2B5EF4-FFF2-40B4-BE49-F238E27FC236}">
                  <a16:creationId xmlns:a16="http://schemas.microsoft.com/office/drawing/2014/main" id="{D9A8F8FB-6507-184F-535C-0F708221C769}"/>
                </a:ext>
              </a:extLst>
            </p:cNvPr>
            <p:cNvSpPr/>
            <p:nvPr/>
          </p:nvSpPr>
          <p:spPr>
            <a:xfrm>
              <a:off x="2232898" y="3429001"/>
              <a:ext cx="1373917" cy="1084262"/>
            </a:xfrm>
            <a:prstGeom prst="rect">
              <a:avLst/>
            </a:prstGeom>
            <a:solidFill>
              <a:schemeClr val="accent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7" name="Rectangle: Rounded Corners 146">
              <a:extLst>
                <a:ext uri="{FF2B5EF4-FFF2-40B4-BE49-F238E27FC236}">
                  <a16:creationId xmlns:a16="http://schemas.microsoft.com/office/drawing/2014/main" id="{359504C3-8269-13AE-F441-592C42909510}"/>
                </a:ext>
              </a:extLst>
            </p:cNvPr>
            <p:cNvSpPr/>
            <p:nvPr/>
          </p:nvSpPr>
          <p:spPr>
            <a:xfrm>
              <a:off x="3367372" y="1173491"/>
              <a:ext cx="90000" cy="82546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8" name="Rectangle: Rounded Corners 147">
              <a:extLst>
                <a:ext uri="{FF2B5EF4-FFF2-40B4-BE49-F238E27FC236}">
                  <a16:creationId xmlns:a16="http://schemas.microsoft.com/office/drawing/2014/main" id="{52AFEAD8-C4CF-B429-A00E-8AF6206B850C}"/>
                </a:ext>
              </a:extLst>
            </p:cNvPr>
            <p:cNvSpPr/>
            <p:nvPr/>
          </p:nvSpPr>
          <p:spPr>
            <a:xfrm>
              <a:off x="3367372" y="1173490"/>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6" name="Rectangle: Rounded Corners 145">
              <a:extLst>
                <a:ext uri="{FF2B5EF4-FFF2-40B4-BE49-F238E27FC236}">
                  <a16:creationId xmlns:a16="http://schemas.microsoft.com/office/drawing/2014/main" id="{B327D6BA-E627-9400-BB48-92547107501C}"/>
                </a:ext>
              </a:extLst>
            </p:cNvPr>
            <p:cNvSpPr/>
            <p:nvPr/>
          </p:nvSpPr>
          <p:spPr>
            <a:xfrm>
              <a:off x="3387601" y="1194524"/>
              <a:ext cx="49912" cy="808068"/>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9" name="Rectangle: Rounded Corners 148">
              <a:extLst>
                <a:ext uri="{FF2B5EF4-FFF2-40B4-BE49-F238E27FC236}">
                  <a16:creationId xmlns:a16="http://schemas.microsoft.com/office/drawing/2014/main" id="{5E677C8A-E0DA-1DA5-51D2-1B8CD821C451}"/>
                </a:ext>
              </a:extLst>
            </p:cNvPr>
            <p:cNvSpPr/>
            <p:nvPr/>
          </p:nvSpPr>
          <p:spPr>
            <a:xfrm>
              <a:off x="3410643" y="1194523"/>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2" name="Rectangle: Rounded Corners 151">
              <a:extLst>
                <a:ext uri="{FF2B5EF4-FFF2-40B4-BE49-F238E27FC236}">
                  <a16:creationId xmlns:a16="http://schemas.microsoft.com/office/drawing/2014/main" id="{3ACB6326-0B35-4021-B202-0770FB6A6C8C}"/>
                </a:ext>
              </a:extLst>
            </p:cNvPr>
            <p:cNvSpPr/>
            <p:nvPr/>
          </p:nvSpPr>
          <p:spPr>
            <a:xfrm>
              <a:off x="4222073" y="2899655"/>
              <a:ext cx="679826"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3" name="Rectangle: Rounded Corners 152">
              <a:extLst>
                <a:ext uri="{FF2B5EF4-FFF2-40B4-BE49-F238E27FC236}">
                  <a16:creationId xmlns:a16="http://schemas.microsoft.com/office/drawing/2014/main" id="{AC836085-DB0C-E617-A3C6-FBB7ABAECFC4}"/>
                </a:ext>
              </a:extLst>
            </p:cNvPr>
            <p:cNvSpPr/>
            <p:nvPr/>
          </p:nvSpPr>
          <p:spPr>
            <a:xfrm>
              <a:off x="4215027" y="1194523"/>
              <a:ext cx="54000" cy="1750851"/>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4" name="Rectangle: Rounded Corners 153">
              <a:extLst>
                <a:ext uri="{FF2B5EF4-FFF2-40B4-BE49-F238E27FC236}">
                  <a16:creationId xmlns:a16="http://schemas.microsoft.com/office/drawing/2014/main" id="{76B92356-94F5-7159-293A-63E01C92D866}"/>
                </a:ext>
              </a:extLst>
            </p:cNvPr>
            <p:cNvSpPr/>
            <p:nvPr/>
          </p:nvSpPr>
          <p:spPr>
            <a:xfrm>
              <a:off x="8459937" y="2167329"/>
              <a:ext cx="90000" cy="388005"/>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5" name="Rectangle: Rounded Corners 154">
              <a:extLst>
                <a:ext uri="{FF2B5EF4-FFF2-40B4-BE49-F238E27FC236}">
                  <a16:creationId xmlns:a16="http://schemas.microsoft.com/office/drawing/2014/main" id="{68847633-DFBE-D02C-729B-8FFC276EBA25}"/>
                </a:ext>
              </a:extLst>
            </p:cNvPr>
            <p:cNvSpPr/>
            <p:nvPr/>
          </p:nvSpPr>
          <p:spPr>
            <a:xfrm>
              <a:off x="6272038" y="2164921"/>
              <a:ext cx="2277899"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6" name="Rectangle: Rounded Corners 155">
              <a:extLst>
                <a:ext uri="{FF2B5EF4-FFF2-40B4-BE49-F238E27FC236}">
                  <a16:creationId xmlns:a16="http://schemas.microsoft.com/office/drawing/2014/main" id="{7FE92BB2-5115-41A2-B566-8C01068E00DA}"/>
                </a:ext>
              </a:extLst>
            </p:cNvPr>
            <p:cNvSpPr/>
            <p:nvPr/>
          </p:nvSpPr>
          <p:spPr>
            <a:xfrm>
              <a:off x="8480166" y="2189480"/>
              <a:ext cx="45719" cy="36948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7" name="Rectangle: Rounded Corners 156">
              <a:extLst>
                <a:ext uri="{FF2B5EF4-FFF2-40B4-BE49-F238E27FC236}">
                  <a16:creationId xmlns:a16="http://schemas.microsoft.com/office/drawing/2014/main" id="{C8C7995A-E3D4-245B-162F-94325EF5200C}"/>
                </a:ext>
              </a:extLst>
            </p:cNvPr>
            <p:cNvSpPr/>
            <p:nvPr/>
          </p:nvSpPr>
          <p:spPr>
            <a:xfrm>
              <a:off x="6272038" y="2185499"/>
              <a:ext cx="225384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9" name="Rectangle: Rounded Corners 158">
              <a:extLst>
                <a:ext uri="{FF2B5EF4-FFF2-40B4-BE49-F238E27FC236}">
                  <a16:creationId xmlns:a16="http://schemas.microsoft.com/office/drawing/2014/main" id="{7AF6CD20-0DEF-F208-7D3C-8E64A7BD369F}"/>
                </a:ext>
              </a:extLst>
            </p:cNvPr>
            <p:cNvSpPr/>
            <p:nvPr/>
          </p:nvSpPr>
          <p:spPr>
            <a:xfrm>
              <a:off x="6247184" y="2185499"/>
              <a:ext cx="50400" cy="1942952"/>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0" name="Rectangle: Rounded Corners 159">
              <a:extLst>
                <a:ext uri="{FF2B5EF4-FFF2-40B4-BE49-F238E27FC236}">
                  <a16:creationId xmlns:a16="http://schemas.microsoft.com/office/drawing/2014/main" id="{15C67895-66CD-5C0E-E528-C46DD300EF6F}"/>
                </a:ext>
              </a:extLst>
            </p:cNvPr>
            <p:cNvSpPr/>
            <p:nvPr/>
          </p:nvSpPr>
          <p:spPr>
            <a:xfrm>
              <a:off x="2875122" y="818985"/>
              <a:ext cx="90000" cy="1176344"/>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1" name="Rectangle: Rounded Corners 160">
              <a:extLst>
                <a:ext uri="{FF2B5EF4-FFF2-40B4-BE49-F238E27FC236}">
                  <a16:creationId xmlns:a16="http://schemas.microsoft.com/office/drawing/2014/main" id="{FAC69FE7-2938-EBF0-7617-300F400747C6}"/>
                </a:ext>
              </a:extLst>
            </p:cNvPr>
            <p:cNvSpPr/>
            <p:nvPr/>
          </p:nvSpPr>
          <p:spPr>
            <a:xfrm>
              <a:off x="2895351" y="847413"/>
              <a:ext cx="49912" cy="1151547"/>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66" name="Group 165">
              <a:extLst>
                <a:ext uri="{FF2B5EF4-FFF2-40B4-BE49-F238E27FC236}">
                  <a16:creationId xmlns:a16="http://schemas.microsoft.com/office/drawing/2014/main" id="{530921D3-94B8-8AEA-D6FE-B918F793F8A4}"/>
                </a:ext>
              </a:extLst>
            </p:cNvPr>
            <p:cNvGrpSpPr/>
            <p:nvPr/>
          </p:nvGrpSpPr>
          <p:grpSpPr>
            <a:xfrm rot="5400000">
              <a:off x="1206418" y="803173"/>
              <a:ext cx="896308" cy="1636943"/>
              <a:chOff x="2408016" y="1071443"/>
              <a:chExt cx="896308" cy="1636943"/>
            </a:xfrm>
          </p:grpSpPr>
          <p:sp>
            <p:nvSpPr>
              <p:cNvPr id="162" name="Rectangle: Rounded Corners 161">
                <a:extLst>
                  <a:ext uri="{FF2B5EF4-FFF2-40B4-BE49-F238E27FC236}">
                    <a16:creationId xmlns:a16="http://schemas.microsoft.com/office/drawing/2014/main" id="{9D7F1B50-5423-19BA-01EA-60B86BCE8737}"/>
                  </a:ext>
                </a:extLst>
              </p:cNvPr>
              <p:cNvSpPr/>
              <p:nvPr/>
            </p:nvSpPr>
            <p:spPr>
              <a:xfrm>
                <a:off x="2408017" y="1071443"/>
                <a:ext cx="90000" cy="163694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3" name="Rectangle: Rounded Corners 162">
                <a:extLst>
                  <a:ext uri="{FF2B5EF4-FFF2-40B4-BE49-F238E27FC236}">
                    <a16:creationId xmlns:a16="http://schemas.microsoft.com/office/drawing/2014/main" id="{14C14CF6-F8F7-0483-E4FD-A6F1CBB68877}"/>
                  </a:ext>
                </a:extLst>
              </p:cNvPr>
              <p:cNvSpPr/>
              <p:nvPr/>
            </p:nvSpPr>
            <p:spPr>
              <a:xfrm>
                <a:off x="2408016" y="1071443"/>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4" name="Rectangle: Rounded Corners 163">
                <a:extLst>
                  <a:ext uri="{FF2B5EF4-FFF2-40B4-BE49-F238E27FC236}">
                    <a16:creationId xmlns:a16="http://schemas.microsoft.com/office/drawing/2014/main" id="{496A8756-E117-550F-3972-3CEC3E500209}"/>
                  </a:ext>
                </a:extLst>
              </p:cNvPr>
              <p:cNvSpPr/>
              <p:nvPr/>
            </p:nvSpPr>
            <p:spPr>
              <a:xfrm>
                <a:off x="2428245" y="1092478"/>
                <a:ext cx="49912" cy="160243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5" name="Rectangle: Rounded Corners 164">
                <a:extLst>
                  <a:ext uri="{FF2B5EF4-FFF2-40B4-BE49-F238E27FC236}">
                    <a16:creationId xmlns:a16="http://schemas.microsoft.com/office/drawing/2014/main" id="{4BE3E5DF-29F2-DF43-5FCA-B7FC8AD56297}"/>
                  </a:ext>
                </a:extLst>
              </p:cNvPr>
              <p:cNvSpPr/>
              <p:nvPr/>
            </p:nvSpPr>
            <p:spPr>
              <a:xfrm>
                <a:off x="2451287" y="1092476"/>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120" name="Flowchart: Connector 119">
              <a:extLst>
                <a:ext uri="{FF2B5EF4-FFF2-40B4-BE49-F238E27FC236}">
                  <a16:creationId xmlns:a16="http://schemas.microsoft.com/office/drawing/2014/main" id="{497A868C-443C-8F6F-4873-C9490CD0E462}"/>
                </a:ext>
              </a:extLst>
            </p:cNvPr>
            <p:cNvSpPr/>
            <p:nvPr/>
          </p:nvSpPr>
          <p:spPr>
            <a:xfrm>
              <a:off x="997942" y="1020217"/>
              <a:ext cx="455063" cy="436694"/>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0EF6F2BC-3A6D-828C-81DD-73ED450340BF}"/>
                </a:ext>
              </a:extLst>
            </p:cNvPr>
            <p:cNvSpPr txBox="1"/>
            <p:nvPr/>
          </p:nvSpPr>
          <p:spPr>
            <a:xfrm>
              <a:off x="997942" y="1069287"/>
              <a:ext cx="45506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7" name="TextBox 166">
              <a:extLst>
                <a:ext uri="{FF2B5EF4-FFF2-40B4-BE49-F238E27FC236}">
                  <a16:creationId xmlns:a16="http://schemas.microsoft.com/office/drawing/2014/main" id="{C6A89214-26D4-8F7C-1675-CF2D530DBBCC}"/>
                </a:ext>
              </a:extLst>
            </p:cNvPr>
            <p:cNvSpPr txBox="1"/>
            <p:nvPr/>
          </p:nvSpPr>
          <p:spPr>
            <a:xfrm>
              <a:off x="351046" y="3146685"/>
              <a:ext cx="1393745" cy="6409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Diafiltrate Tank</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68" name="Straight Connector 167">
              <a:extLst>
                <a:ext uri="{FF2B5EF4-FFF2-40B4-BE49-F238E27FC236}">
                  <a16:creationId xmlns:a16="http://schemas.microsoft.com/office/drawing/2014/main" id="{406806A8-71B3-522D-BF62-A85267D9F73A}"/>
                </a:ext>
              </a:extLst>
            </p:cNvPr>
            <p:cNvCxnSpPr>
              <a:cxnSpLocks/>
            </p:cNvCxnSpPr>
            <p:nvPr/>
          </p:nvCxnSpPr>
          <p:spPr>
            <a:xfrm flipH="1">
              <a:off x="1556568" y="3284019"/>
              <a:ext cx="406757" cy="118045"/>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69" name="Isosceles Triangle 168">
              <a:extLst>
                <a:ext uri="{FF2B5EF4-FFF2-40B4-BE49-F238E27FC236}">
                  <a16:creationId xmlns:a16="http://schemas.microsoft.com/office/drawing/2014/main" id="{892805A5-0708-7D2B-5B0A-E483A0E3721F}"/>
                </a:ext>
              </a:extLst>
            </p:cNvPr>
            <p:cNvSpPr/>
            <p:nvPr/>
          </p:nvSpPr>
          <p:spPr>
            <a:xfrm>
              <a:off x="2754042" y="1065670"/>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0" name="Isosceles Triangle 169">
              <a:extLst>
                <a:ext uri="{FF2B5EF4-FFF2-40B4-BE49-F238E27FC236}">
                  <a16:creationId xmlns:a16="http://schemas.microsoft.com/office/drawing/2014/main" id="{AD551ED5-EC50-4CC2-EB56-101CFC96E852}"/>
                </a:ext>
              </a:extLst>
            </p:cNvPr>
            <p:cNvSpPr/>
            <p:nvPr/>
          </p:nvSpPr>
          <p:spPr>
            <a:xfrm flipV="1">
              <a:off x="2754042" y="944752"/>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1" name="Isosceles Triangle 170">
              <a:extLst>
                <a:ext uri="{FF2B5EF4-FFF2-40B4-BE49-F238E27FC236}">
                  <a16:creationId xmlns:a16="http://schemas.microsoft.com/office/drawing/2014/main" id="{4907D4C4-C0C7-F6DD-3901-68A88620C4EF}"/>
                </a:ext>
              </a:extLst>
            </p:cNvPr>
            <p:cNvSpPr/>
            <p:nvPr/>
          </p:nvSpPr>
          <p:spPr>
            <a:xfrm flipV="1">
              <a:off x="2821484" y="994767"/>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2" name="Isosceles Triangle 171">
              <a:extLst>
                <a:ext uri="{FF2B5EF4-FFF2-40B4-BE49-F238E27FC236}">
                  <a16:creationId xmlns:a16="http://schemas.microsoft.com/office/drawing/2014/main" id="{851B0325-4A8F-ABFF-A2B3-C608CF9A517A}"/>
                </a:ext>
              </a:extLst>
            </p:cNvPr>
            <p:cNvSpPr/>
            <p:nvPr/>
          </p:nvSpPr>
          <p:spPr>
            <a:xfrm>
              <a:off x="2822675" y="1133739"/>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3" name="TextBox 172">
              <a:extLst>
                <a:ext uri="{FF2B5EF4-FFF2-40B4-BE49-F238E27FC236}">
                  <a16:creationId xmlns:a16="http://schemas.microsoft.com/office/drawing/2014/main" id="{EAF18AAF-0038-1B31-8DE8-AB7341DEE3A1}"/>
                </a:ext>
              </a:extLst>
            </p:cNvPr>
            <p:cNvSpPr txBox="1"/>
            <p:nvPr/>
          </p:nvSpPr>
          <p:spPr>
            <a:xfrm>
              <a:off x="3546204" y="664151"/>
              <a:ext cx="2614013" cy="33855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Pressure Relief Valve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74" name="Straight Connector 173">
              <a:extLst>
                <a:ext uri="{FF2B5EF4-FFF2-40B4-BE49-F238E27FC236}">
                  <a16:creationId xmlns:a16="http://schemas.microsoft.com/office/drawing/2014/main" id="{DF8B72DF-CAE6-90D7-F70C-AD0CE9E929EC}"/>
                </a:ext>
              </a:extLst>
            </p:cNvPr>
            <p:cNvCxnSpPr>
              <a:cxnSpLocks/>
            </p:cNvCxnSpPr>
            <p:nvPr/>
          </p:nvCxnSpPr>
          <p:spPr>
            <a:xfrm flipV="1">
              <a:off x="3080746" y="900618"/>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8E0581E8-5D17-6E41-2564-91A68A3F6C3E}"/>
                </a:ext>
              </a:extLst>
            </p:cNvPr>
            <p:cNvCxnSpPr>
              <a:cxnSpLocks/>
              <a:endCxn id="67" idx="0"/>
            </p:cNvCxnSpPr>
            <p:nvPr/>
          </p:nvCxnSpPr>
          <p:spPr>
            <a:xfrm flipH="1">
              <a:off x="4645128" y="4283212"/>
              <a:ext cx="887333" cy="367432"/>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A3BFCA4-4CFF-A3A0-EB37-6D937C6A6651}"/>
                </a:ext>
              </a:extLst>
            </p:cNvPr>
            <p:cNvCxnSpPr>
              <a:cxnSpLocks/>
            </p:cNvCxnSpPr>
            <p:nvPr/>
          </p:nvCxnSpPr>
          <p:spPr>
            <a:xfrm>
              <a:off x="5409835" y="2966669"/>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3" name="Straight Connector 182">
              <a:extLst>
                <a:ext uri="{FF2B5EF4-FFF2-40B4-BE49-F238E27FC236}">
                  <a16:creationId xmlns:a16="http://schemas.microsoft.com/office/drawing/2014/main" id="{326AF3A7-5847-4EB6-19EC-AEED3FC1FBC9}"/>
                </a:ext>
              </a:extLst>
            </p:cNvPr>
            <p:cNvCxnSpPr>
              <a:cxnSpLocks/>
            </p:cNvCxnSpPr>
            <p:nvPr/>
          </p:nvCxnSpPr>
          <p:spPr>
            <a:xfrm>
              <a:off x="5430711" y="2945374"/>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4179AB6-E012-831A-E09F-9FCB3A62868E}"/>
                </a:ext>
              </a:extLst>
            </p:cNvPr>
            <p:cNvCxnSpPr>
              <a:cxnSpLocks/>
            </p:cNvCxnSpPr>
            <p:nvPr/>
          </p:nvCxnSpPr>
          <p:spPr>
            <a:xfrm>
              <a:off x="5449970" y="292350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5" name="Straight Connector 184">
              <a:extLst>
                <a:ext uri="{FF2B5EF4-FFF2-40B4-BE49-F238E27FC236}">
                  <a16:creationId xmlns:a16="http://schemas.microsoft.com/office/drawing/2014/main" id="{BB99AD5A-ED29-375C-9472-89F04187EB22}"/>
                </a:ext>
              </a:extLst>
            </p:cNvPr>
            <p:cNvCxnSpPr>
              <a:cxnSpLocks/>
            </p:cNvCxnSpPr>
            <p:nvPr/>
          </p:nvCxnSpPr>
          <p:spPr>
            <a:xfrm>
              <a:off x="5472997" y="291182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6" name="Straight Connector 185">
              <a:extLst>
                <a:ext uri="{FF2B5EF4-FFF2-40B4-BE49-F238E27FC236}">
                  <a16:creationId xmlns:a16="http://schemas.microsoft.com/office/drawing/2014/main" id="{B307E634-9594-B597-1379-45F0BA8AFFD0}"/>
                </a:ext>
              </a:extLst>
            </p:cNvPr>
            <p:cNvCxnSpPr>
              <a:cxnSpLocks/>
            </p:cNvCxnSpPr>
            <p:nvPr/>
          </p:nvCxnSpPr>
          <p:spPr>
            <a:xfrm>
              <a:off x="5495821" y="288927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5E23CF14-CC27-0D24-7D81-5783523AF063}"/>
                </a:ext>
              </a:extLst>
            </p:cNvPr>
            <p:cNvCxnSpPr>
              <a:cxnSpLocks/>
            </p:cNvCxnSpPr>
            <p:nvPr/>
          </p:nvCxnSpPr>
          <p:spPr>
            <a:xfrm>
              <a:off x="5516924" y="287285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8" name="Straight Connector 187">
              <a:extLst>
                <a:ext uri="{FF2B5EF4-FFF2-40B4-BE49-F238E27FC236}">
                  <a16:creationId xmlns:a16="http://schemas.microsoft.com/office/drawing/2014/main" id="{DE716557-5F5E-66B7-3D80-2BFC1FB5C16B}"/>
                </a:ext>
              </a:extLst>
            </p:cNvPr>
            <p:cNvCxnSpPr>
              <a:cxnSpLocks/>
            </p:cNvCxnSpPr>
            <p:nvPr/>
          </p:nvCxnSpPr>
          <p:spPr>
            <a:xfrm flipH="1">
              <a:off x="4901835" y="2966669"/>
              <a:ext cx="5143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F64528BE-9818-D8F6-DF60-3922873730F6}"/>
                </a:ext>
              </a:extLst>
            </p:cNvPr>
            <p:cNvCxnSpPr>
              <a:cxnSpLocks/>
            </p:cNvCxnSpPr>
            <p:nvPr/>
          </p:nvCxnSpPr>
          <p:spPr>
            <a:xfrm flipH="1">
              <a:off x="4901835" y="2949771"/>
              <a:ext cx="53374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1" name="Straight Connector 190">
              <a:extLst>
                <a:ext uri="{FF2B5EF4-FFF2-40B4-BE49-F238E27FC236}">
                  <a16:creationId xmlns:a16="http://schemas.microsoft.com/office/drawing/2014/main" id="{7B4CD787-F38F-85DA-F819-5578E99507C3}"/>
                </a:ext>
              </a:extLst>
            </p:cNvPr>
            <p:cNvCxnSpPr>
              <a:cxnSpLocks/>
            </p:cNvCxnSpPr>
            <p:nvPr/>
          </p:nvCxnSpPr>
          <p:spPr>
            <a:xfrm flipH="1">
              <a:off x="4903423" y="2929857"/>
              <a:ext cx="54813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2" name="Straight Connector 191">
              <a:extLst>
                <a:ext uri="{FF2B5EF4-FFF2-40B4-BE49-F238E27FC236}">
                  <a16:creationId xmlns:a16="http://schemas.microsoft.com/office/drawing/2014/main" id="{08CA928C-9DF7-3BEE-0AAE-433222C19A97}"/>
                </a:ext>
              </a:extLst>
            </p:cNvPr>
            <p:cNvCxnSpPr>
              <a:cxnSpLocks/>
            </p:cNvCxnSpPr>
            <p:nvPr/>
          </p:nvCxnSpPr>
          <p:spPr>
            <a:xfrm flipH="1">
              <a:off x="4901835" y="2911821"/>
              <a:ext cx="57693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472FD31C-9A0A-CA25-E0F0-87767301349A}"/>
                </a:ext>
              </a:extLst>
            </p:cNvPr>
            <p:cNvCxnSpPr>
              <a:cxnSpLocks/>
            </p:cNvCxnSpPr>
            <p:nvPr/>
          </p:nvCxnSpPr>
          <p:spPr>
            <a:xfrm flipH="1">
              <a:off x="4903423" y="2890863"/>
              <a:ext cx="59682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4" name="Straight Connector 193">
              <a:extLst>
                <a:ext uri="{FF2B5EF4-FFF2-40B4-BE49-F238E27FC236}">
                  <a16:creationId xmlns:a16="http://schemas.microsoft.com/office/drawing/2014/main" id="{56FD37F1-6CBA-68CF-8C2C-4AE10D9E1C23}"/>
                </a:ext>
              </a:extLst>
            </p:cNvPr>
            <p:cNvCxnSpPr>
              <a:cxnSpLocks/>
            </p:cNvCxnSpPr>
            <p:nvPr/>
          </p:nvCxnSpPr>
          <p:spPr>
            <a:xfrm flipH="1">
              <a:off x="4900247" y="2872482"/>
              <a:ext cx="622524" cy="0"/>
            </a:xfrm>
            <a:prstGeom prst="line">
              <a:avLst/>
            </a:prstGeom>
            <a:ln w="12700"/>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1D745ED6-552C-29FF-37FC-6C51A8A03496}"/>
                </a:ext>
              </a:extLst>
            </p:cNvPr>
            <p:cNvSpPr/>
            <p:nvPr/>
          </p:nvSpPr>
          <p:spPr>
            <a:xfrm>
              <a:off x="5354191" y="3423963"/>
              <a:ext cx="214188" cy="359089"/>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4A8629E6-1355-78DA-7F09-5EABDE6BC52F}"/>
                </a:ext>
              </a:extLst>
            </p:cNvPr>
            <p:cNvSpPr/>
            <p:nvPr/>
          </p:nvSpPr>
          <p:spPr>
            <a:xfrm>
              <a:off x="5371239" y="3581612"/>
              <a:ext cx="181842" cy="182172"/>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9A789279-3C91-8276-B41D-8A8F76857366}"/>
                </a:ext>
              </a:extLst>
            </p:cNvPr>
            <p:cNvSpPr/>
            <p:nvPr/>
          </p:nvSpPr>
          <p:spPr>
            <a:xfrm>
              <a:off x="5399544" y="3611175"/>
              <a:ext cx="124244" cy="124470"/>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41E597-073C-4342-8881-BD5ED386AE90}"/>
                </a:ext>
              </a:extLst>
            </p:cNvPr>
            <p:cNvSpPr/>
            <p:nvPr/>
          </p:nvSpPr>
          <p:spPr>
            <a:xfrm>
              <a:off x="5426708" y="3636614"/>
              <a:ext cx="72127" cy="74881"/>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4" name="TextBox 203">
              <a:extLst>
                <a:ext uri="{FF2B5EF4-FFF2-40B4-BE49-F238E27FC236}">
                  <a16:creationId xmlns:a16="http://schemas.microsoft.com/office/drawing/2014/main" id="{4F8D34AF-16FC-D9A6-F00D-207D5C0BF4C1}"/>
                </a:ext>
              </a:extLst>
            </p:cNvPr>
            <p:cNvSpPr txBox="1"/>
            <p:nvPr/>
          </p:nvSpPr>
          <p:spPr>
            <a:xfrm>
              <a:off x="4759889" y="1683094"/>
              <a:ext cx="107119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Stirred Cell</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4F681A35-CE19-C49D-8C7B-B8CBFB3D8F59}"/>
                    </a:ext>
                  </a:extLst>
                </p:cNvPr>
                <p:cNvSpPr txBox="1"/>
                <p:nvPr/>
              </p:nvSpPr>
              <p:spPr>
                <a:xfrm rot="5400000">
                  <a:off x="5259573" y="1903138"/>
                  <a:ext cx="525742" cy="132856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dPr>
                          <m:e>
                            <m:eqArr>
                              <m:eqArrPr>
                                <m:ctrlP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eqArrPr>
                              <m:e>
                                <m: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 </m:t>
                                </m:r>
                              </m:e>
                              <m:e>
                                <m: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 </m:t>
                                </m:r>
                              </m:e>
                            </m:eqArr>
                          </m:e>
                        </m:d>
                      </m:oMath>
                    </m:oMathPara>
                  </a14:m>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210" name="TextBox 209">
                  <a:extLst>
                    <a:ext uri="{FF2B5EF4-FFF2-40B4-BE49-F238E27FC236}">
                      <a16:creationId xmlns:a16="http://schemas.microsoft.com/office/drawing/2014/main" id="{A0A5A728-B824-A225-9E3B-4532DE8DB37D}"/>
                    </a:ext>
                  </a:extLst>
                </p:cNvPr>
                <p:cNvSpPr txBox="1">
                  <a:spLocks noRot="1" noChangeAspect="1" noMove="1" noResize="1" noEditPoints="1" noAdjustHandles="1" noChangeArrowheads="1" noChangeShapeType="1" noTextEdit="1"/>
                </p:cNvSpPr>
                <p:nvPr/>
              </p:nvSpPr>
              <p:spPr>
                <a:xfrm rot="5400000">
                  <a:off x="5259573" y="1903138"/>
                  <a:ext cx="525742" cy="1328569"/>
                </a:xfrm>
                <a:prstGeom prst="rect">
                  <a:avLst/>
                </a:prstGeom>
                <a:blipFill>
                  <a:blip r:embed="rId7"/>
                  <a:stretch>
                    <a:fillRect l="-476" t="-6024"/>
                  </a:stretch>
                </a:blipFill>
              </p:spPr>
              <p:txBody>
                <a:bodyPr/>
                <a:lstStyle/>
                <a:p>
                  <a:r>
                    <a:rPr lang="en-US">
                      <a:noFill/>
                    </a:rPr>
                    <a:t> </a:t>
                  </a:r>
                </a:p>
              </p:txBody>
            </p:sp>
          </mc:Fallback>
        </mc:AlternateContent>
        <p:sp>
          <p:nvSpPr>
            <p:cNvPr id="211" name="TextBox 210">
              <a:extLst>
                <a:ext uri="{FF2B5EF4-FFF2-40B4-BE49-F238E27FC236}">
                  <a16:creationId xmlns:a16="http://schemas.microsoft.com/office/drawing/2014/main" id="{DAF6D3D0-50B0-58F2-638F-C79CA18FD8F7}"/>
                </a:ext>
              </a:extLst>
            </p:cNvPr>
            <p:cNvSpPr txBox="1"/>
            <p:nvPr/>
          </p:nvSpPr>
          <p:spPr>
            <a:xfrm>
              <a:off x="6366476" y="3332442"/>
              <a:ext cx="1438970" cy="64097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Permeate Outlet</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212" name="Straight Connector 211">
              <a:extLst>
                <a:ext uri="{FF2B5EF4-FFF2-40B4-BE49-F238E27FC236}">
                  <a16:creationId xmlns:a16="http://schemas.microsoft.com/office/drawing/2014/main" id="{A967AAA7-A881-B654-D8C6-77B4512B7460}"/>
                </a:ext>
              </a:extLst>
            </p:cNvPr>
            <p:cNvCxnSpPr>
              <a:cxnSpLocks/>
            </p:cNvCxnSpPr>
            <p:nvPr/>
          </p:nvCxnSpPr>
          <p:spPr>
            <a:xfrm flipV="1">
              <a:off x="6358909" y="3892733"/>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29E4D830-ED10-B2D3-F21E-7A2102D1480B}"/>
                </a:ext>
              </a:extLst>
            </p:cNvPr>
            <p:cNvCxnSpPr>
              <a:cxnSpLocks/>
            </p:cNvCxnSpPr>
            <p:nvPr/>
          </p:nvCxnSpPr>
          <p:spPr>
            <a:xfrm flipH="1">
              <a:off x="4569922" y="3594985"/>
              <a:ext cx="754405" cy="233782"/>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218" name="Arrow: Down 217">
            <a:extLst>
              <a:ext uri="{FF2B5EF4-FFF2-40B4-BE49-F238E27FC236}">
                <a16:creationId xmlns:a16="http://schemas.microsoft.com/office/drawing/2014/main" id="{14C611B3-E5C9-8CD8-8867-7666F352FFE6}"/>
              </a:ext>
            </a:extLst>
          </p:cNvPr>
          <p:cNvSpPr/>
          <p:nvPr/>
        </p:nvSpPr>
        <p:spPr>
          <a:xfrm>
            <a:off x="4562645" y="1672555"/>
            <a:ext cx="142851" cy="38841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9" name="Arrow: Down 218">
            <a:extLst>
              <a:ext uri="{FF2B5EF4-FFF2-40B4-BE49-F238E27FC236}">
                <a16:creationId xmlns:a16="http://schemas.microsoft.com/office/drawing/2014/main" id="{97315296-2807-E3F6-3908-B0FAB951344A}"/>
              </a:ext>
            </a:extLst>
          </p:cNvPr>
          <p:cNvSpPr/>
          <p:nvPr/>
        </p:nvSpPr>
        <p:spPr>
          <a:xfrm>
            <a:off x="4582515" y="3074683"/>
            <a:ext cx="142851" cy="38841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0" name="Arrow: Down 219">
            <a:extLst>
              <a:ext uri="{FF2B5EF4-FFF2-40B4-BE49-F238E27FC236}">
                <a16:creationId xmlns:a16="http://schemas.microsoft.com/office/drawing/2014/main" id="{2A48774A-D8E4-56A6-B05D-B2378784A346}"/>
              </a:ext>
            </a:extLst>
          </p:cNvPr>
          <p:cNvSpPr/>
          <p:nvPr/>
        </p:nvSpPr>
        <p:spPr>
          <a:xfrm>
            <a:off x="4890926" y="3074683"/>
            <a:ext cx="142851" cy="38841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1" name="Arrow: Down 220">
            <a:extLst>
              <a:ext uri="{FF2B5EF4-FFF2-40B4-BE49-F238E27FC236}">
                <a16:creationId xmlns:a16="http://schemas.microsoft.com/office/drawing/2014/main" id="{F1D5A6D8-6B72-BF76-7BF6-854DFE1CBA91}"/>
              </a:ext>
            </a:extLst>
          </p:cNvPr>
          <p:cNvSpPr/>
          <p:nvPr/>
        </p:nvSpPr>
        <p:spPr>
          <a:xfrm>
            <a:off x="5199337" y="3074683"/>
            <a:ext cx="142851" cy="38841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2" name="Arrow: Down 221">
            <a:extLst>
              <a:ext uri="{FF2B5EF4-FFF2-40B4-BE49-F238E27FC236}">
                <a16:creationId xmlns:a16="http://schemas.microsoft.com/office/drawing/2014/main" id="{8E2CF21B-4EAC-41EC-57B9-DF2FD6C659E2}"/>
              </a:ext>
            </a:extLst>
          </p:cNvPr>
          <p:cNvSpPr/>
          <p:nvPr/>
        </p:nvSpPr>
        <p:spPr>
          <a:xfrm rot="10800000">
            <a:off x="5360372" y="2640969"/>
            <a:ext cx="142851" cy="388418"/>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3" name="Arrow: Down 222">
            <a:extLst>
              <a:ext uri="{FF2B5EF4-FFF2-40B4-BE49-F238E27FC236}">
                <a16:creationId xmlns:a16="http://schemas.microsoft.com/office/drawing/2014/main" id="{F348D9AA-116B-75CF-7B65-DB133AC4DDE6}"/>
              </a:ext>
            </a:extLst>
          </p:cNvPr>
          <p:cNvSpPr/>
          <p:nvPr/>
        </p:nvSpPr>
        <p:spPr>
          <a:xfrm rot="10800000">
            <a:off x="5365937" y="1659101"/>
            <a:ext cx="142851" cy="388418"/>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6" name="Teardrop 225">
            <a:extLst>
              <a:ext uri="{FF2B5EF4-FFF2-40B4-BE49-F238E27FC236}">
                <a16:creationId xmlns:a16="http://schemas.microsoft.com/office/drawing/2014/main" id="{84CB277B-4DC0-D75D-A52A-081ADB199C5E}"/>
              </a:ext>
            </a:extLst>
          </p:cNvPr>
          <p:cNvSpPr/>
          <p:nvPr/>
        </p:nvSpPr>
        <p:spPr>
          <a:xfrm rot="18976205">
            <a:off x="6189232" y="2722215"/>
            <a:ext cx="117341" cy="137150"/>
          </a:xfrm>
          <a:prstGeom prst="teardrop">
            <a:avLst>
              <a:gd name="adj" fmla="val 143899"/>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7" name="Teardrop 226">
            <a:extLst>
              <a:ext uri="{FF2B5EF4-FFF2-40B4-BE49-F238E27FC236}">
                <a16:creationId xmlns:a16="http://schemas.microsoft.com/office/drawing/2014/main" id="{B5C47855-C0FC-3E56-ED29-81EA34F91E8D}"/>
              </a:ext>
            </a:extLst>
          </p:cNvPr>
          <p:cNvSpPr/>
          <p:nvPr/>
        </p:nvSpPr>
        <p:spPr>
          <a:xfrm rot="18976205">
            <a:off x="7905405" y="4269714"/>
            <a:ext cx="117341" cy="137150"/>
          </a:xfrm>
          <a:prstGeom prst="teardrop">
            <a:avLst>
              <a:gd name="adj" fmla="val 143899"/>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8" name="Arrow: Down 227">
            <a:extLst>
              <a:ext uri="{FF2B5EF4-FFF2-40B4-BE49-F238E27FC236}">
                <a16:creationId xmlns:a16="http://schemas.microsoft.com/office/drawing/2014/main" id="{85DB01BD-2CF4-8DD4-C3A0-66E1EEE3064D}"/>
              </a:ext>
            </a:extLst>
          </p:cNvPr>
          <p:cNvSpPr/>
          <p:nvPr/>
        </p:nvSpPr>
        <p:spPr>
          <a:xfrm>
            <a:off x="6040695" y="1955373"/>
            <a:ext cx="142851" cy="388418"/>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0" name="Arrow: Down 229">
            <a:extLst>
              <a:ext uri="{FF2B5EF4-FFF2-40B4-BE49-F238E27FC236}">
                <a16:creationId xmlns:a16="http://schemas.microsoft.com/office/drawing/2014/main" id="{C435036D-AE35-15A4-9856-4528FB3C8C37}"/>
              </a:ext>
            </a:extLst>
          </p:cNvPr>
          <p:cNvSpPr/>
          <p:nvPr/>
        </p:nvSpPr>
        <p:spPr>
          <a:xfrm rot="16200000">
            <a:off x="4014341" y="1228989"/>
            <a:ext cx="159316" cy="348275"/>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1" name="Arrow: Down 230">
            <a:extLst>
              <a:ext uri="{FF2B5EF4-FFF2-40B4-BE49-F238E27FC236}">
                <a16:creationId xmlns:a16="http://schemas.microsoft.com/office/drawing/2014/main" id="{CA15106B-63E4-629A-017C-62A93CA3B242}"/>
              </a:ext>
            </a:extLst>
          </p:cNvPr>
          <p:cNvSpPr/>
          <p:nvPr/>
        </p:nvSpPr>
        <p:spPr>
          <a:xfrm rot="16200000">
            <a:off x="5687017" y="1211558"/>
            <a:ext cx="159316" cy="348275"/>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2" name="Arrow: Down 231">
            <a:extLst>
              <a:ext uri="{FF2B5EF4-FFF2-40B4-BE49-F238E27FC236}">
                <a16:creationId xmlns:a16="http://schemas.microsoft.com/office/drawing/2014/main" id="{0756AFEC-B5A7-0878-DB46-80693E1C6D73}"/>
              </a:ext>
            </a:extLst>
          </p:cNvPr>
          <p:cNvSpPr/>
          <p:nvPr/>
        </p:nvSpPr>
        <p:spPr>
          <a:xfrm rot="16200000">
            <a:off x="5965474" y="2836802"/>
            <a:ext cx="159316" cy="348275"/>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3" name="Arrow: Down 232">
            <a:extLst>
              <a:ext uri="{FF2B5EF4-FFF2-40B4-BE49-F238E27FC236}">
                <a16:creationId xmlns:a16="http://schemas.microsoft.com/office/drawing/2014/main" id="{3C307F5A-74AE-4878-9D1B-94815B4DCE7B}"/>
              </a:ext>
            </a:extLst>
          </p:cNvPr>
          <p:cNvSpPr/>
          <p:nvPr/>
        </p:nvSpPr>
        <p:spPr>
          <a:xfrm rot="10800000">
            <a:off x="7688609" y="3425222"/>
            <a:ext cx="142851" cy="388418"/>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4" name="Arrow: Down 233">
            <a:extLst>
              <a:ext uri="{FF2B5EF4-FFF2-40B4-BE49-F238E27FC236}">
                <a16:creationId xmlns:a16="http://schemas.microsoft.com/office/drawing/2014/main" id="{02CC2EB7-288C-3C69-52A3-802057FB1C48}"/>
              </a:ext>
            </a:extLst>
          </p:cNvPr>
          <p:cNvSpPr/>
          <p:nvPr/>
        </p:nvSpPr>
        <p:spPr>
          <a:xfrm rot="10800000">
            <a:off x="7696175" y="2680082"/>
            <a:ext cx="142851" cy="388418"/>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5" name="Arrow: Down 234">
            <a:extLst>
              <a:ext uri="{FF2B5EF4-FFF2-40B4-BE49-F238E27FC236}">
                <a16:creationId xmlns:a16="http://schemas.microsoft.com/office/drawing/2014/main" id="{0CC99273-78DB-9773-FA06-0D4B9231CD40}"/>
              </a:ext>
            </a:extLst>
          </p:cNvPr>
          <p:cNvSpPr/>
          <p:nvPr/>
        </p:nvSpPr>
        <p:spPr>
          <a:xfrm rot="16200000">
            <a:off x="8189480" y="2150136"/>
            <a:ext cx="159316" cy="348275"/>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6" name="Arrow: Down 235">
            <a:extLst>
              <a:ext uri="{FF2B5EF4-FFF2-40B4-BE49-F238E27FC236}">
                <a16:creationId xmlns:a16="http://schemas.microsoft.com/office/drawing/2014/main" id="{9FD84775-06E8-4A37-E534-71CF34EA0271}"/>
              </a:ext>
            </a:extLst>
          </p:cNvPr>
          <p:cNvSpPr/>
          <p:nvPr/>
        </p:nvSpPr>
        <p:spPr>
          <a:xfrm rot="16200000">
            <a:off x="9286943" y="2150136"/>
            <a:ext cx="159316" cy="348275"/>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8" name="Arrow: Up 237">
            <a:extLst>
              <a:ext uri="{FF2B5EF4-FFF2-40B4-BE49-F238E27FC236}">
                <a16:creationId xmlns:a16="http://schemas.microsoft.com/office/drawing/2014/main" id="{0BA45ABB-12D4-CE61-8064-BE84414BC522}"/>
              </a:ext>
            </a:extLst>
          </p:cNvPr>
          <p:cNvSpPr/>
          <p:nvPr/>
        </p:nvSpPr>
        <p:spPr>
          <a:xfrm>
            <a:off x="9260999" y="2680082"/>
            <a:ext cx="220057" cy="414409"/>
          </a:xfrm>
          <a:prstGeom prst="upArrow">
            <a:avLst/>
          </a:prstGeom>
          <a:gradFill flip="none" rotWithShape="1">
            <a:gsLst>
              <a:gs pos="0">
                <a:schemeClr val="accent1">
                  <a:shade val="30000"/>
                  <a:satMod val="115000"/>
                </a:schemeClr>
              </a:gs>
              <a:gs pos="50000">
                <a:schemeClr val="accent1">
                  <a:lumMod val="60000"/>
                  <a:lumOff val="40000"/>
                </a:schemeClr>
              </a:gs>
              <a:gs pos="100000">
                <a:schemeClr val="accent1">
                  <a:lumMod val="20000"/>
                  <a:lumOff val="8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9" name="Arrow: Curved Left 238">
            <a:extLst>
              <a:ext uri="{FF2B5EF4-FFF2-40B4-BE49-F238E27FC236}">
                <a16:creationId xmlns:a16="http://schemas.microsoft.com/office/drawing/2014/main" id="{7554ECD4-5F59-0AFE-0943-E9233802CDFE}"/>
              </a:ext>
            </a:extLst>
          </p:cNvPr>
          <p:cNvSpPr/>
          <p:nvPr/>
        </p:nvSpPr>
        <p:spPr>
          <a:xfrm>
            <a:off x="10375338" y="3399552"/>
            <a:ext cx="233066" cy="183189"/>
          </a:xfrm>
          <a:prstGeom prst="curvedLef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6" name="Rectangle 255">
            <a:extLst>
              <a:ext uri="{FF2B5EF4-FFF2-40B4-BE49-F238E27FC236}">
                <a16:creationId xmlns:a16="http://schemas.microsoft.com/office/drawing/2014/main" id="{502139A5-3C75-D582-ED2F-FE90D9CEC4AD}"/>
              </a:ext>
            </a:extLst>
          </p:cNvPr>
          <p:cNvSpPr/>
          <p:nvPr/>
        </p:nvSpPr>
        <p:spPr>
          <a:xfrm>
            <a:off x="2463800" y="5091138"/>
            <a:ext cx="1301046" cy="1286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258" name="Picture 257">
            <a:extLst>
              <a:ext uri="{FF2B5EF4-FFF2-40B4-BE49-F238E27FC236}">
                <a16:creationId xmlns:a16="http://schemas.microsoft.com/office/drawing/2014/main" id="{24C2255C-EAB3-02F5-7BE5-4C157E940FD5}"/>
              </a:ext>
            </a:extLst>
          </p:cNvPr>
          <p:cNvPicPr>
            <a:picLocks noChangeAspect="1"/>
          </p:cNvPicPr>
          <p:nvPr/>
        </p:nvPicPr>
        <p:blipFill>
          <a:blip r:embed="rId8"/>
          <a:stretch>
            <a:fillRect/>
          </a:stretch>
        </p:blipFill>
        <p:spPr>
          <a:xfrm>
            <a:off x="7350850" y="4849821"/>
            <a:ext cx="2590976" cy="1983515"/>
          </a:xfrm>
          <a:prstGeom prst="rect">
            <a:avLst/>
          </a:prstGeom>
        </p:spPr>
      </p:pic>
      <p:pic>
        <p:nvPicPr>
          <p:cNvPr id="260" name="Picture 259">
            <a:extLst>
              <a:ext uri="{FF2B5EF4-FFF2-40B4-BE49-F238E27FC236}">
                <a16:creationId xmlns:a16="http://schemas.microsoft.com/office/drawing/2014/main" id="{2635914D-2B2F-69DA-F0E8-B91DF2F4F9DB}"/>
              </a:ext>
            </a:extLst>
          </p:cNvPr>
          <p:cNvPicPr>
            <a:picLocks noChangeAspect="1"/>
          </p:cNvPicPr>
          <p:nvPr/>
        </p:nvPicPr>
        <p:blipFill>
          <a:blip r:embed="rId9"/>
          <a:stretch>
            <a:fillRect/>
          </a:stretch>
        </p:blipFill>
        <p:spPr>
          <a:xfrm>
            <a:off x="9685946" y="4803853"/>
            <a:ext cx="2595491" cy="1986971"/>
          </a:xfrm>
          <a:prstGeom prst="rect">
            <a:avLst/>
          </a:prstGeom>
        </p:spPr>
      </p:pic>
      <p:pic>
        <p:nvPicPr>
          <p:cNvPr id="264" name="Picture 263">
            <a:extLst>
              <a:ext uri="{FF2B5EF4-FFF2-40B4-BE49-F238E27FC236}">
                <a16:creationId xmlns:a16="http://schemas.microsoft.com/office/drawing/2014/main" id="{55140361-6D63-26E2-144E-11B55E198231}"/>
              </a:ext>
            </a:extLst>
          </p:cNvPr>
          <p:cNvPicPr>
            <a:picLocks noChangeAspect="1"/>
          </p:cNvPicPr>
          <p:nvPr/>
        </p:nvPicPr>
        <p:blipFill>
          <a:blip r:embed="rId10"/>
          <a:stretch>
            <a:fillRect/>
          </a:stretch>
        </p:blipFill>
        <p:spPr>
          <a:xfrm>
            <a:off x="4394087" y="4821439"/>
            <a:ext cx="2602473" cy="1992317"/>
          </a:xfrm>
          <a:prstGeom prst="rect">
            <a:avLst/>
          </a:prstGeom>
        </p:spPr>
      </p:pic>
      <p:sp>
        <p:nvSpPr>
          <p:cNvPr id="267" name="Rectangle 266">
            <a:extLst>
              <a:ext uri="{FF2B5EF4-FFF2-40B4-BE49-F238E27FC236}">
                <a16:creationId xmlns:a16="http://schemas.microsoft.com/office/drawing/2014/main" id="{80C99D0B-A973-A8D3-50CB-143516C335C9}"/>
              </a:ext>
            </a:extLst>
          </p:cNvPr>
          <p:cNvSpPr/>
          <p:nvPr/>
        </p:nvSpPr>
        <p:spPr>
          <a:xfrm>
            <a:off x="5045517" y="5117711"/>
            <a:ext cx="1370615" cy="1295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8" name="Rectangle 267">
            <a:extLst>
              <a:ext uri="{FF2B5EF4-FFF2-40B4-BE49-F238E27FC236}">
                <a16:creationId xmlns:a16="http://schemas.microsoft.com/office/drawing/2014/main" id="{C7357BA1-7198-602C-40BA-B3C87E1CB9D3}"/>
              </a:ext>
            </a:extLst>
          </p:cNvPr>
          <p:cNvSpPr/>
          <p:nvPr/>
        </p:nvSpPr>
        <p:spPr>
          <a:xfrm>
            <a:off x="7874276" y="5077132"/>
            <a:ext cx="1318187" cy="1286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69" name="Rectangle 268">
            <a:extLst>
              <a:ext uri="{FF2B5EF4-FFF2-40B4-BE49-F238E27FC236}">
                <a16:creationId xmlns:a16="http://schemas.microsoft.com/office/drawing/2014/main" id="{F6385FD9-DCAE-F6F0-95E6-C26B79A156DD}"/>
              </a:ext>
            </a:extLst>
          </p:cNvPr>
          <p:cNvSpPr/>
          <p:nvPr/>
        </p:nvSpPr>
        <p:spPr>
          <a:xfrm>
            <a:off x="10296116" y="5091138"/>
            <a:ext cx="1324384" cy="12864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96E886F0-AAF5-2907-FAF5-B22A74EE303B}"/>
              </a:ext>
            </a:extLst>
          </p:cNvPr>
          <p:cNvSpPr/>
          <p:nvPr/>
        </p:nvSpPr>
        <p:spPr>
          <a:xfrm>
            <a:off x="6809321" y="3431031"/>
            <a:ext cx="446806" cy="802138"/>
          </a:xfrm>
          <a:prstGeom prst="rect">
            <a:avLst/>
          </a:prstGeom>
          <a:solidFill>
            <a:schemeClr val="accent1">
              <a:lumMod val="60000"/>
              <a:lumOff val="4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35F239DD-0AD5-A0D6-E983-2D432620FD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grpSp>
        <p:nvGrpSpPr>
          <p:cNvPr id="28" name="Group 27">
            <a:extLst>
              <a:ext uri="{FF2B5EF4-FFF2-40B4-BE49-F238E27FC236}">
                <a16:creationId xmlns:a16="http://schemas.microsoft.com/office/drawing/2014/main" id="{10E21235-DDFE-A2FA-23FE-65FD64BA5EA6}"/>
              </a:ext>
            </a:extLst>
          </p:cNvPr>
          <p:cNvGrpSpPr/>
          <p:nvPr/>
        </p:nvGrpSpPr>
        <p:grpSpPr>
          <a:xfrm>
            <a:off x="-50001" y="1285369"/>
            <a:ext cx="3245277" cy="3461698"/>
            <a:chOff x="7618419" y="2226707"/>
            <a:chExt cx="3964121" cy="4101041"/>
          </a:xfrm>
        </p:grpSpPr>
        <p:grpSp>
          <p:nvGrpSpPr>
            <p:cNvPr id="29" name="Group 28">
              <a:extLst>
                <a:ext uri="{FF2B5EF4-FFF2-40B4-BE49-F238E27FC236}">
                  <a16:creationId xmlns:a16="http://schemas.microsoft.com/office/drawing/2014/main" id="{87ACA95B-0A8B-C8C3-3959-BCE20A62B86E}"/>
                </a:ext>
              </a:extLst>
            </p:cNvPr>
            <p:cNvGrpSpPr>
              <a:grpSpLocks noChangeAspect="1"/>
            </p:cNvGrpSpPr>
            <p:nvPr/>
          </p:nvGrpSpPr>
          <p:grpSpPr>
            <a:xfrm>
              <a:off x="7618419" y="2226707"/>
              <a:ext cx="3964121" cy="3875257"/>
              <a:chOff x="355428" y="1491371"/>
              <a:chExt cx="3964121" cy="3875257"/>
            </a:xfrm>
          </p:grpSpPr>
          <p:grpSp>
            <p:nvGrpSpPr>
              <p:cNvPr id="33" name="Group 32">
                <a:extLst>
                  <a:ext uri="{FF2B5EF4-FFF2-40B4-BE49-F238E27FC236}">
                    <a16:creationId xmlns:a16="http://schemas.microsoft.com/office/drawing/2014/main" id="{D05D0D52-DF8E-9024-8F05-F691E05E3019}"/>
                  </a:ext>
                </a:extLst>
              </p:cNvPr>
              <p:cNvGrpSpPr/>
              <p:nvPr/>
            </p:nvGrpSpPr>
            <p:grpSpPr>
              <a:xfrm>
                <a:off x="355428" y="1491371"/>
                <a:ext cx="2786969" cy="3875257"/>
                <a:chOff x="3993238" y="1314984"/>
                <a:chExt cx="3247485" cy="4523277"/>
              </a:xfrm>
            </p:grpSpPr>
            <p:pic>
              <p:nvPicPr>
                <p:cNvPr id="37" name="Picture 36" descr="Diagram&#10;&#10;Description automatically generated">
                  <a:extLst>
                    <a:ext uri="{FF2B5EF4-FFF2-40B4-BE49-F238E27FC236}">
                      <a16:creationId xmlns:a16="http://schemas.microsoft.com/office/drawing/2014/main" id="{99FA38E8-7BE2-CFBD-3DAC-AB7DD9FFC82D}"/>
                    </a:ext>
                  </a:extLst>
                </p:cNvPr>
                <p:cNvPicPr>
                  <a:picLocks noChangeAspect="1"/>
                </p:cNvPicPr>
                <p:nvPr/>
              </p:nvPicPr>
              <p:blipFill rotWithShape="1">
                <a:blip r:embed="rId11"/>
                <a:srcRect t="19578" b="22612"/>
                <a:stretch/>
              </p:blipFill>
              <p:spPr>
                <a:xfrm>
                  <a:off x="3993238" y="1314984"/>
                  <a:ext cx="3247485" cy="4405878"/>
                </a:xfrm>
                <a:prstGeom prst="rect">
                  <a:avLst/>
                </a:prstGeom>
                <a:solidFill>
                  <a:srgbClr val="174397"/>
                </a:solidFill>
              </p:spPr>
            </p:pic>
            <p:sp>
              <p:nvSpPr>
                <p:cNvPr id="38" name="Isosceles Triangle 26">
                  <a:extLst>
                    <a:ext uri="{FF2B5EF4-FFF2-40B4-BE49-F238E27FC236}">
                      <a16:creationId xmlns:a16="http://schemas.microsoft.com/office/drawing/2014/main" id="{37B8C617-22E8-83BD-D3EC-40F7F406AF71}"/>
                    </a:ext>
                  </a:extLst>
                </p:cNvPr>
                <p:cNvSpPr/>
                <p:nvPr/>
              </p:nvSpPr>
              <p:spPr>
                <a:xfrm>
                  <a:off x="4768850" y="5529828"/>
                  <a:ext cx="241300" cy="308433"/>
                </a:xfrm>
                <a:prstGeom prst="triangle">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c 38">
                  <a:extLst>
                    <a:ext uri="{FF2B5EF4-FFF2-40B4-BE49-F238E27FC236}">
                      <a16:creationId xmlns:a16="http://schemas.microsoft.com/office/drawing/2014/main" id="{A3F468BC-4940-D31A-D327-13344E75FC6F}"/>
                    </a:ext>
                  </a:extLst>
                </p:cNvPr>
                <p:cNvSpPr/>
                <p:nvPr/>
              </p:nvSpPr>
              <p:spPr>
                <a:xfrm rot="11375767">
                  <a:off x="4487373" y="5019509"/>
                  <a:ext cx="1140613" cy="555500"/>
                </a:xfrm>
                <a:prstGeom prst="arc">
                  <a:avLst>
                    <a:gd name="adj1" fmla="val 16308053"/>
                    <a:gd name="adj2" fmla="val 18706611"/>
                  </a:avLst>
                </a:prstGeom>
                <a:solidFill>
                  <a:srgbClr val="174397"/>
                </a:solidFill>
                <a:ln w="25400">
                  <a:solidFill>
                    <a:srgbClr val="35BCC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34" name="Picture 33" descr="Diagram&#10;&#10;Description automatically generated">
                <a:extLst>
                  <a:ext uri="{FF2B5EF4-FFF2-40B4-BE49-F238E27FC236}">
                    <a16:creationId xmlns:a16="http://schemas.microsoft.com/office/drawing/2014/main" id="{5642B32B-3C88-FC5B-0D98-0165540ED33E}"/>
                  </a:ext>
                </a:extLst>
              </p:cNvPr>
              <p:cNvPicPr>
                <a:picLocks noChangeAspect="1"/>
              </p:cNvPicPr>
              <p:nvPr/>
            </p:nvPicPr>
            <p:blipFill rotWithShape="1">
              <a:blip r:embed="rId11">
                <a:clrChange>
                  <a:clrFrom>
                    <a:srgbClr val="FFFFFF"/>
                  </a:clrFrom>
                  <a:clrTo>
                    <a:srgbClr val="FFFFFF">
                      <a:alpha val="0"/>
                    </a:srgbClr>
                  </a:clrTo>
                </a:clrChange>
              </a:blip>
              <a:srcRect l="62615" t="78192" b="4983"/>
              <a:stretch/>
            </p:blipFill>
            <p:spPr>
              <a:xfrm>
                <a:off x="2942862" y="1997255"/>
                <a:ext cx="1376687" cy="1453992"/>
              </a:xfrm>
              <a:prstGeom prst="rect">
                <a:avLst/>
              </a:prstGeom>
            </p:spPr>
          </p:pic>
          <p:sp>
            <p:nvSpPr>
              <p:cNvPr id="36" name="Rectangle 35">
                <a:extLst>
                  <a:ext uri="{FF2B5EF4-FFF2-40B4-BE49-F238E27FC236}">
                    <a16:creationId xmlns:a16="http://schemas.microsoft.com/office/drawing/2014/main" id="{A1A32BE7-F5CA-A94B-2207-561A1AC674CC}"/>
                  </a:ext>
                </a:extLst>
              </p:cNvPr>
              <p:cNvSpPr/>
              <p:nvPr/>
            </p:nvSpPr>
            <p:spPr>
              <a:xfrm>
                <a:off x="3089137" y="3074503"/>
                <a:ext cx="1084139" cy="37674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9ADC9664-FA9A-ECE0-7154-826705D46AFC}"/>
                </a:ext>
              </a:extLst>
            </p:cNvPr>
            <p:cNvGrpSpPr/>
            <p:nvPr/>
          </p:nvGrpSpPr>
          <p:grpSpPr>
            <a:xfrm>
              <a:off x="7658719" y="5495908"/>
              <a:ext cx="2842504" cy="831840"/>
              <a:chOff x="7658719" y="5495908"/>
              <a:chExt cx="2842504" cy="831840"/>
            </a:xfrm>
          </p:grpSpPr>
          <p:pic>
            <p:nvPicPr>
              <p:cNvPr id="31" name="Picture 30" descr="Diagram&#10;&#10;Description automatically generated">
                <a:extLst>
                  <a:ext uri="{FF2B5EF4-FFF2-40B4-BE49-F238E27FC236}">
                    <a16:creationId xmlns:a16="http://schemas.microsoft.com/office/drawing/2014/main" id="{B2505983-6AC3-F13A-F0E0-0F14359B9DC5}"/>
                  </a:ext>
                </a:extLst>
              </p:cNvPr>
              <p:cNvPicPr>
                <a:picLocks noChangeAspect="1"/>
              </p:cNvPicPr>
              <p:nvPr/>
            </p:nvPicPr>
            <p:blipFill rotWithShape="1">
              <a:blip r:embed="rId11"/>
              <a:srcRect t="95209" r="17855" b="295"/>
              <a:stretch/>
            </p:blipFill>
            <p:spPr>
              <a:xfrm>
                <a:off x="7658719" y="5962623"/>
                <a:ext cx="2842504" cy="365125"/>
              </a:xfrm>
              <a:prstGeom prst="rect">
                <a:avLst/>
              </a:prstGeom>
            </p:spPr>
          </p:pic>
          <p:sp>
            <p:nvSpPr>
              <p:cNvPr id="32" name="Oval 31">
                <a:extLst>
                  <a:ext uri="{FF2B5EF4-FFF2-40B4-BE49-F238E27FC236}">
                    <a16:creationId xmlns:a16="http://schemas.microsoft.com/office/drawing/2014/main" id="{B59B8C72-FC6A-C705-698A-5CE4FD3A453A}"/>
                  </a:ext>
                </a:extLst>
              </p:cNvPr>
              <p:cNvSpPr/>
              <p:nvPr/>
            </p:nvSpPr>
            <p:spPr>
              <a:xfrm rot="454666">
                <a:off x="7759288" y="5495908"/>
                <a:ext cx="1652985" cy="460324"/>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0" name="Group 39">
            <a:extLst>
              <a:ext uri="{FF2B5EF4-FFF2-40B4-BE49-F238E27FC236}">
                <a16:creationId xmlns:a16="http://schemas.microsoft.com/office/drawing/2014/main" id="{B1E89A7B-8C4D-EE55-C3D9-CE2AB82FF619}"/>
              </a:ext>
            </a:extLst>
          </p:cNvPr>
          <p:cNvGrpSpPr/>
          <p:nvPr/>
        </p:nvGrpSpPr>
        <p:grpSpPr>
          <a:xfrm>
            <a:off x="26027" y="5028876"/>
            <a:ext cx="1951061" cy="1368984"/>
            <a:chOff x="9353191" y="5209403"/>
            <a:chExt cx="2339891" cy="1610949"/>
          </a:xfrm>
        </p:grpSpPr>
        <p:pic>
          <p:nvPicPr>
            <p:cNvPr id="41" name="Picture 2" descr="Image result for membrane advantages">
              <a:extLst>
                <a:ext uri="{FF2B5EF4-FFF2-40B4-BE49-F238E27FC236}">
                  <a16:creationId xmlns:a16="http://schemas.microsoft.com/office/drawing/2014/main" id="{3E9C82D1-0BE0-6449-3E41-E03D2CEFE017}"/>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54360" t="3042" r="13883" b="7989"/>
            <a:stretch/>
          </p:blipFill>
          <p:spPr bwMode="auto">
            <a:xfrm>
              <a:off x="10422831" y="5209403"/>
              <a:ext cx="1270251" cy="160262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membrane advantages">
              <a:extLst>
                <a:ext uri="{FF2B5EF4-FFF2-40B4-BE49-F238E27FC236}">
                  <a16:creationId xmlns:a16="http://schemas.microsoft.com/office/drawing/2014/main" id="{1BCA2A34-9F6A-FBC4-D8BB-3CA0CCA304E5}"/>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3892" t="3042" r="54352" b="7989"/>
            <a:stretch/>
          </p:blipFill>
          <p:spPr bwMode="auto">
            <a:xfrm>
              <a:off x="9353191" y="5217732"/>
              <a:ext cx="1270251" cy="16026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EE7FEF87-E48E-1AAF-0F32-79C5B1396781}"/>
              </a:ext>
            </a:extLst>
          </p:cNvPr>
          <p:cNvGrpSpPr/>
          <p:nvPr/>
        </p:nvGrpSpPr>
        <p:grpSpPr>
          <a:xfrm>
            <a:off x="8382120" y="956323"/>
            <a:ext cx="3467977" cy="920427"/>
            <a:chOff x="7865041" y="1068062"/>
            <a:chExt cx="3467977" cy="920427"/>
          </a:xfrm>
        </p:grpSpPr>
        <p:grpSp>
          <p:nvGrpSpPr>
            <p:cNvPr id="10" name="Group 9">
              <a:extLst>
                <a:ext uri="{FF2B5EF4-FFF2-40B4-BE49-F238E27FC236}">
                  <a16:creationId xmlns:a16="http://schemas.microsoft.com/office/drawing/2014/main" id="{E443200E-88C1-F89C-BB57-35AB024494A0}"/>
                </a:ext>
              </a:extLst>
            </p:cNvPr>
            <p:cNvGrpSpPr/>
            <p:nvPr/>
          </p:nvGrpSpPr>
          <p:grpSpPr>
            <a:xfrm>
              <a:off x="7865041" y="1068062"/>
              <a:ext cx="2743363" cy="916355"/>
              <a:chOff x="9152730" y="390410"/>
              <a:chExt cx="2743363" cy="916355"/>
            </a:xfrm>
          </p:grpSpPr>
          <p:pic>
            <p:nvPicPr>
              <p:cNvPr id="4" name="Picture 5" descr="A person smiling for the camera&#10;&#10;Description automatically generated">
                <a:extLst>
                  <a:ext uri="{FF2B5EF4-FFF2-40B4-BE49-F238E27FC236}">
                    <a16:creationId xmlns:a16="http://schemas.microsoft.com/office/drawing/2014/main" id="{A7DAD213-CFE1-9449-05E9-F562A9CB922C}"/>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742" t="47" r="541" b="11108"/>
              <a:stretch/>
            </p:blipFill>
            <p:spPr bwMode="auto">
              <a:xfrm>
                <a:off x="9152730" y="392365"/>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Faraj Al-Badani">
                <a:extLst>
                  <a:ext uri="{FF2B5EF4-FFF2-40B4-BE49-F238E27FC236}">
                    <a16:creationId xmlns:a16="http://schemas.microsoft.com/office/drawing/2014/main" id="{1BA1113F-981D-5D40-5118-7169919CEF2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67293" y="392365"/>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eakers // NDnano // University of Notre Dame">
                <a:extLst>
                  <a:ext uri="{FF2B5EF4-FFF2-40B4-BE49-F238E27FC236}">
                    <a16:creationId xmlns:a16="http://schemas.microsoft.com/office/drawing/2014/main" id="{E397CF7D-F0DE-B2C8-1273-EA4DE6D07D25}"/>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t="48" b="24951"/>
              <a:stretch/>
            </p:blipFill>
            <p:spPr bwMode="auto">
              <a:xfrm>
                <a:off x="10981693" y="390410"/>
                <a:ext cx="914400" cy="91440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4" descr="A person wearing a suit and tie smiling at the camera&#10;&#10;Description automatically generated">
              <a:extLst>
                <a:ext uri="{FF2B5EF4-FFF2-40B4-BE49-F238E27FC236}">
                  <a16:creationId xmlns:a16="http://schemas.microsoft.com/office/drawing/2014/main" id="{A0A71264-A4AC-47ED-A6BA-C5B2646C104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599200" y="1071216"/>
              <a:ext cx="733818" cy="91727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85441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wipe(left)">
                                      <p:cBhvr>
                                        <p:cTn id="7" dur="500"/>
                                        <p:tgtEl>
                                          <p:spTgt spid="230"/>
                                        </p:tgtEl>
                                      </p:cBhvr>
                                    </p:animEffect>
                                  </p:childTnLst>
                                </p:cTn>
                              </p:par>
                              <p:par>
                                <p:cTn id="8" presetID="22" presetClass="exit" presetSubtype="8" fill="hold" grpId="0" nodeType="withEffect">
                                  <p:stCondLst>
                                    <p:cond delay="0"/>
                                  </p:stCondLst>
                                  <p:childTnLst>
                                    <p:animEffect transition="out" filter="wipe(left)">
                                      <p:cBhvr>
                                        <p:cTn id="9" dur="3000"/>
                                        <p:tgtEl>
                                          <p:spTgt spid="256"/>
                                        </p:tgtEl>
                                      </p:cBhvr>
                                    </p:animEffect>
                                    <p:set>
                                      <p:cBhvr>
                                        <p:cTn id="10" dur="1" fill="hold">
                                          <p:stCondLst>
                                            <p:cond delay="2999"/>
                                          </p:stCondLst>
                                        </p:cTn>
                                        <p:tgtEl>
                                          <p:spTgt spid="256"/>
                                        </p:tgtEl>
                                        <p:attrNameLst>
                                          <p:attrName>style.visibility</p:attrName>
                                        </p:attrNameLst>
                                      </p:cBhvr>
                                      <p:to>
                                        <p:strVal val="hidden"/>
                                      </p:to>
                                    </p:set>
                                  </p:childTnLst>
                                </p:cTn>
                              </p:par>
                              <p:par>
                                <p:cTn id="11" presetID="22" presetClass="entr" presetSubtype="1" fill="hold" grpId="0" nodeType="withEffect">
                                  <p:stCondLst>
                                    <p:cond delay="500"/>
                                  </p:stCondLst>
                                  <p:childTnLst>
                                    <p:set>
                                      <p:cBhvr>
                                        <p:cTn id="12" dur="1" fill="hold">
                                          <p:stCondLst>
                                            <p:cond delay="0"/>
                                          </p:stCondLst>
                                        </p:cTn>
                                        <p:tgtEl>
                                          <p:spTgt spid="218"/>
                                        </p:tgtEl>
                                        <p:attrNameLst>
                                          <p:attrName>style.visibility</p:attrName>
                                        </p:attrNameLst>
                                      </p:cBhvr>
                                      <p:to>
                                        <p:strVal val="visible"/>
                                      </p:to>
                                    </p:set>
                                    <p:animEffect transition="in" filter="wipe(up)">
                                      <p:cBhvr>
                                        <p:cTn id="13" dur="500"/>
                                        <p:tgtEl>
                                          <p:spTgt spid="218"/>
                                        </p:tgtEl>
                                      </p:cBhvr>
                                    </p:animEffect>
                                  </p:childTnLst>
                                </p:cTn>
                              </p:par>
                              <p:par>
                                <p:cTn id="14" presetID="22" presetClass="entr" presetSubtype="1" fill="hold" grpId="0" nodeType="withEffect">
                                  <p:stCondLst>
                                    <p:cond delay="1000"/>
                                  </p:stCondLst>
                                  <p:childTnLst>
                                    <p:set>
                                      <p:cBhvr>
                                        <p:cTn id="15" dur="1" fill="hold">
                                          <p:stCondLst>
                                            <p:cond delay="0"/>
                                          </p:stCondLst>
                                        </p:cTn>
                                        <p:tgtEl>
                                          <p:spTgt spid="219"/>
                                        </p:tgtEl>
                                        <p:attrNameLst>
                                          <p:attrName>style.visibility</p:attrName>
                                        </p:attrNameLst>
                                      </p:cBhvr>
                                      <p:to>
                                        <p:strVal val="visible"/>
                                      </p:to>
                                    </p:set>
                                    <p:animEffect transition="in" filter="wipe(up)">
                                      <p:cBhvr>
                                        <p:cTn id="16" dur="500"/>
                                        <p:tgtEl>
                                          <p:spTgt spid="219"/>
                                        </p:tgtEl>
                                      </p:cBhvr>
                                    </p:animEffect>
                                  </p:childTnLst>
                                </p:cTn>
                              </p:par>
                              <p:par>
                                <p:cTn id="17" presetID="22" presetClass="entr" presetSubtype="1" fill="hold" grpId="0" nodeType="withEffect">
                                  <p:stCondLst>
                                    <p:cond delay="1000"/>
                                  </p:stCondLst>
                                  <p:childTnLst>
                                    <p:set>
                                      <p:cBhvr>
                                        <p:cTn id="18" dur="1" fill="hold">
                                          <p:stCondLst>
                                            <p:cond delay="0"/>
                                          </p:stCondLst>
                                        </p:cTn>
                                        <p:tgtEl>
                                          <p:spTgt spid="220"/>
                                        </p:tgtEl>
                                        <p:attrNameLst>
                                          <p:attrName>style.visibility</p:attrName>
                                        </p:attrNameLst>
                                      </p:cBhvr>
                                      <p:to>
                                        <p:strVal val="visible"/>
                                      </p:to>
                                    </p:set>
                                    <p:animEffect transition="in" filter="wipe(up)">
                                      <p:cBhvr>
                                        <p:cTn id="19" dur="500"/>
                                        <p:tgtEl>
                                          <p:spTgt spid="220"/>
                                        </p:tgtEl>
                                      </p:cBhvr>
                                    </p:animEffect>
                                  </p:childTnLst>
                                </p:cTn>
                              </p:par>
                              <p:par>
                                <p:cTn id="20" presetID="22" presetClass="entr" presetSubtype="1" fill="hold" grpId="0" nodeType="withEffect">
                                  <p:stCondLst>
                                    <p:cond delay="1000"/>
                                  </p:stCondLst>
                                  <p:childTnLst>
                                    <p:set>
                                      <p:cBhvr>
                                        <p:cTn id="21" dur="1" fill="hold">
                                          <p:stCondLst>
                                            <p:cond delay="0"/>
                                          </p:stCondLst>
                                        </p:cTn>
                                        <p:tgtEl>
                                          <p:spTgt spid="221"/>
                                        </p:tgtEl>
                                        <p:attrNameLst>
                                          <p:attrName>style.visibility</p:attrName>
                                        </p:attrNameLst>
                                      </p:cBhvr>
                                      <p:to>
                                        <p:strVal val="visible"/>
                                      </p:to>
                                    </p:set>
                                    <p:animEffect transition="in" filter="wipe(up)">
                                      <p:cBhvr>
                                        <p:cTn id="22" dur="500"/>
                                        <p:tgtEl>
                                          <p:spTgt spid="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22"/>
                                        </p:tgtEl>
                                        <p:attrNameLst>
                                          <p:attrName>style.visibility</p:attrName>
                                        </p:attrNameLst>
                                      </p:cBhvr>
                                      <p:to>
                                        <p:strVal val="visible"/>
                                      </p:to>
                                    </p:set>
                                    <p:animEffect transition="in" filter="wipe(down)">
                                      <p:cBhvr>
                                        <p:cTn id="27" dur="500"/>
                                        <p:tgtEl>
                                          <p:spTgt spid="222"/>
                                        </p:tgtEl>
                                      </p:cBhvr>
                                    </p:animEffect>
                                  </p:childTnLst>
                                </p:cTn>
                              </p:par>
                              <p:par>
                                <p:cTn id="28" presetID="22" presetClass="entr" presetSubtype="4" fill="hold" grpId="0" nodeType="withEffect">
                                  <p:stCondLst>
                                    <p:cond delay="400"/>
                                  </p:stCondLst>
                                  <p:childTnLst>
                                    <p:set>
                                      <p:cBhvr>
                                        <p:cTn id="29" dur="1" fill="hold">
                                          <p:stCondLst>
                                            <p:cond delay="0"/>
                                          </p:stCondLst>
                                        </p:cTn>
                                        <p:tgtEl>
                                          <p:spTgt spid="223"/>
                                        </p:tgtEl>
                                        <p:attrNameLst>
                                          <p:attrName>style.visibility</p:attrName>
                                        </p:attrNameLst>
                                      </p:cBhvr>
                                      <p:to>
                                        <p:strVal val="visible"/>
                                      </p:to>
                                    </p:set>
                                    <p:animEffect transition="in" filter="wipe(down)">
                                      <p:cBhvr>
                                        <p:cTn id="30" dur="600"/>
                                        <p:tgtEl>
                                          <p:spTgt spid="223"/>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231"/>
                                        </p:tgtEl>
                                        <p:attrNameLst>
                                          <p:attrName>style.visibility</p:attrName>
                                        </p:attrNameLst>
                                      </p:cBhvr>
                                      <p:to>
                                        <p:strVal val="visible"/>
                                      </p:to>
                                    </p:set>
                                    <p:animEffect transition="in" filter="wipe(left)">
                                      <p:cBhvr>
                                        <p:cTn id="34" dur="500"/>
                                        <p:tgtEl>
                                          <p:spTgt spid="231"/>
                                        </p:tgtEl>
                                      </p:cBhvr>
                                    </p:animEffect>
                                  </p:childTnLst>
                                </p:cTn>
                              </p:par>
                              <p:par>
                                <p:cTn id="35" presetID="22" presetClass="entr" presetSubtype="1" fill="hold" grpId="0" nodeType="withEffect">
                                  <p:stCondLst>
                                    <p:cond delay="400"/>
                                  </p:stCondLst>
                                  <p:childTnLst>
                                    <p:set>
                                      <p:cBhvr>
                                        <p:cTn id="36" dur="1" fill="hold">
                                          <p:stCondLst>
                                            <p:cond delay="0"/>
                                          </p:stCondLst>
                                        </p:cTn>
                                        <p:tgtEl>
                                          <p:spTgt spid="228"/>
                                        </p:tgtEl>
                                        <p:attrNameLst>
                                          <p:attrName>style.visibility</p:attrName>
                                        </p:attrNameLst>
                                      </p:cBhvr>
                                      <p:to>
                                        <p:strVal val="visible"/>
                                      </p:to>
                                    </p:set>
                                    <p:animEffect transition="in" filter="wipe(up)">
                                      <p:cBhvr>
                                        <p:cTn id="37" dur="600"/>
                                        <p:tgtEl>
                                          <p:spTgt spid="228"/>
                                        </p:tgtEl>
                                      </p:cBhvr>
                                    </p:animEffec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232"/>
                                        </p:tgtEl>
                                        <p:attrNameLst>
                                          <p:attrName>style.visibility</p:attrName>
                                        </p:attrNameLst>
                                      </p:cBhvr>
                                      <p:to>
                                        <p:strVal val="visible"/>
                                      </p:to>
                                    </p:set>
                                    <p:animEffect transition="in" filter="wipe(left)">
                                      <p:cBhvr>
                                        <p:cTn id="41" dur="500"/>
                                        <p:tgtEl>
                                          <p:spTgt spid="23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27"/>
                                        </p:tgtEl>
                                        <p:attrNameLst>
                                          <p:attrName>style.visibility</p:attrName>
                                        </p:attrNameLst>
                                      </p:cBhvr>
                                      <p:to>
                                        <p:strVal val="visible"/>
                                      </p:to>
                                    </p:set>
                                  </p:childTnLst>
                                </p:cTn>
                              </p:par>
                              <p:par>
                                <p:cTn id="48" presetID="22" presetClass="exit" presetSubtype="8" fill="hold" grpId="0" nodeType="withEffect">
                                  <p:stCondLst>
                                    <p:cond delay="0"/>
                                  </p:stCondLst>
                                  <p:childTnLst>
                                    <p:animEffect transition="out" filter="wipe(left)">
                                      <p:cBhvr>
                                        <p:cTn id="49" dur="3000"/>
                                        <p:tgtEl>
                                          <p:spTgt spid="267"/>
                                        </p:tgtEl>
                                      </p:cBhvr>
                                    </p:animEffect>
                                    <p:set>
                                      <p:cBhvr>
                                        <p:cTn id="50" dur="1" fill="hold">
                                          <p:stCondLst>
                                            <p:cond delay="2999"/>
                                          </p:stCondLst>
                                        </p:cTn>
                                        <p:tgtEl>
                                          <p:spTgt spid="26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33"/>
                                        </p:tgtEl>
                                        <p:attrNameLst>
                                          <p:attrName>style.visibility</p:attrName>
                                        </p:attrNameLst>
                                      </p:cBhvr>
                                      <p:to>
                                        <p:strVal val="visible"/>
                                      </p:to>
                                    </p:set>
                                    <p:animEffect transition="in" filter="wipe(down)">
                                      <p:cBhvr>
                                        <p:cTn id="55" dur="500"/>
                                        <p:tgtEl>
                                          <p:spTgt spid="233"/>
                                        </p:tgtEl>
                                      </p:cBhvr>
                                    </p:animEffect>
                                  </p:childTnLst>
                                </p:cTn>
                              </p:par>
                              <p:par>
                                <p:cTn id="56" presetID="22" presetClass="exit" presetSubtype="8" fill="hold" grpId="0" nodeType="withEffect">
                                  <p:stCondLst>
                                    <p:cond delay="0"/>
                                  </p:stCondLst>
                                  <p:childTnLst>
                                    <p:animEffect transition="out" filter="wipe(left)">
                                      <p:cBhvr>
                                        <p:cTn id="57" dur="3000"/>
                                        <p:tgtEl>
                                          <p:spTgt spid="268"/>
                                        </p:tgtEl>
                                      </p:cBhvr>
                                    </p:animEffect>
                                    <p:set>
                                      <p:cBhvr>
                                        <p:cTn id="58" dur="1" fill="hold">
                                          <p:stCondLst>
                                            <p:cond delay="2999"/>
                                          </p:stCondLst>
                                        </p:cTn>
                                        <p:tgtEl>
                                          <p:spTgt spid="268"/>
                                        </p:tgtEl>
                                        <p:attrNameLst>
                                          <p:attrName>style.visibility</p:attrName>
                                        </p:attrNameLst>
                                      </p:cBhvr>
                                      <p:to>
                                        <p:strVal val="hidden"/>
                                      </p:to>
                                    </p:set>
                                  </p:childTnLst>
                                </p:cTn>
                              </p:par>
                              <p:par>
                                <p:cTn id="59" presetID="22" presetClass="entr" presetSubtype="4" fill="hold" grpId="0" nodeType="withEffect">
                                  <p:stCondLst>
                                    <p:cond delay="400"/>
                                  </p:stCondLst>
                                  <p:childTnLst>
                                    <p:set>
                                      <p:cBhvr>
                                        <p:cTn id="60" dur="1" fill="hold">
                                          <p:stCondLst>
                                            <p:cond delay="0"/>
                                          </p:stCondLst>
                                        </p:cTn>
                                        <p:tgtEl>
                                          <p:spTgt spid="234"/>
                                        </p:tgtEl>
                                        <p:attrNameLst>
                                          <p:attrName>style.visibility</p:attrName>
                                        </p:attrNameLst>
                                      </p:cBhvr>
                                      <p:to>
                                        <p:strVal val="visible"/>
                                      </p:to>
                                    </p:set>
                                    <p:animEffect transition="in" filter="wipe(down)">
                                      <p:cBhvr>
                                        <p:cTn id="61" dur="600"/>
                                        <p:tgtEl>
                                          <p:spTgt spid="234"/>
                                        </p:tgtEl>
                                      </p:cBhvr>
                                    </p:animEffect>
                                  </p:childTnLst>
                                </p:cTn>
                              </p:par>
                              <p:par>
                                <p:cTn id="62" presetID="22" presetClass="entr" presetSubtype="8" fill="hold" grpId="0" nodeType="withEffect">
                                  <p:stCondLst>
                                    <p:cond delay="1000"/>
                                  </p:stCondLst>
                                  <p:childTnLst>
                                    <p:set>
                                      <p:cBhvr>
                                        <p:cTn id="63" dur="1" fill="hold">
                                          <p:stCondLst>
                                            <p:cond delay="0"/>
                                          </p:stCondLst>
                                        </p:cTn>
                                        <p:tgtEl>
                                          <p:spTgt spid="235"/>
                                        </p:tgtEl>
                                        <p:attrNameLst>
                                          <p:attrName>style.visibility</p:attrName>
                                        </p:attrNameLst>
                                      </p:cBhvr>
                                      <p:to>
                                        <p:strVal val="visible"/>
                                      </p:to>
                                    </p:set>
                                    <p:animEffect transition="in" filter="wipe(left)">
                                      <p:cBhvr>
                                        <p:cTn id="64" dur="500"/>
                                        <p:tgtEl>
                                          <p:spTgt spid="235"/>
                                        </p:tgtEl>
                                      </p:cBhvr>
                                    </p:animEffect>
                                  </p:childTnLst>
                                </p:cTn>
                              </p:par>
                              <p:par>
                                <p:cTn id="65" presetID="22" presetClass="entr" presetSubtype="8" fill="hold" grpId="0" nodeType="withEffect">
                                  <p:stCondLst>
                                    <p:cond delay="1500"/>
                                  </p:stCondLst>
                                  <p:childTnLst>
                                    <p:set>
                                      <p:cBhvr>
                                        <p:cTn id="66" dur="1" fill="hold">
                                          <p:stCondLst>
                                            <p:cond delay="0"/>
                                          </p:stCondLst>
                                        </p:cTn>
                                        <p:tgtEl>
                                          <p:spTgt spid="236"/>
                                        </p:tgtEl>
                                        <p:attrNameLst>
                                          <p:attrName>style.visibility</p:attrName>
                                        </p:attrNameLst>
                                      </p:cBhvr>
                                      <p:to>
                                        <p:strVal val="visible"/>
                                      </p:to>
                                    </p:set>
                                    <p:animEffect transition="in" filter="wipe(left)">
                                      <p:cBhvr>
                                        <p:cTn id="67" dur="500"/>
                                        <p:tgtEl>
                                          <p:spTgt spid="23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repeatCount="5000" fill="hold" grpId="0" nodeType="clickEffect">
                                  <p:stCondLst>
                                    <p:cond delay="0"/>
                                  </p:stCondLst>
                                  <p:childTnLst>
                                    <p:set>
                                      <p:cBhvr>
                                        <p:cTn id="71" dur="1" fill="hold">
                                          <p:stCondLst>
                                            <p:cond delay="0"/>
                                          </p:stCondLst>
                                        </p:cTn>
                                        <p:tgtEl>
                                          <p:spTgt spid="238"/>
                                        </p:tgtEl>
                                        <p:attrNameLst>
                                          <p:attrName>style.visibility</p:attrName>
                                        </p:attrNameLst>
                                      </p:cBhvr>
                                      <p:to>
                                        <p:strVal val="visible"/>
                                      </p:to>
                                    </p:set>
                                    <p:animEffect transition="in" filter="wipe(down)">
                                      <p:cBhvr>
                                        <p:cTn id="72" dur="1000"/>
                                        <p:tgtEl>
                                          <p:spTgt spid="238"/>
                                        </p:tgtEl>
                                      </p:cBhvr>
                                    </p:animEffect>
                                  </p:childTnLst>
                                </p:cTn>
                              </p:par>
                              <p:par>
                                <p:cTn id="73" presetID="22" presetClass="exit" presetSubtype="8" fill="hold" grpId="0" nodeType="withEffect">
                                  <p:stCondLst>
                                    <p:cond delay="0"/>
                                  </p:stCondLst>
                                  <p:childTnLst>
                                    <p:animEffect transition="out" filter="wipe(left)">
                                      <p:cBhvr>
                                        <p:cTn id="74" dur="3000"/>
                                        <p:tgtEl>
                                          <p:spTgt spid="269"/>
                                        </p:tgtEl>
                                      </p:cBhvr>
                                    </p:animEffect>
                                    <p:set>
                                      <p:cBhvr>
                                        <p:cTn id="75" dur="1" fill="hold">
                                          <p:stCondLst>
                                            <p:cond delay="2999"/>
                                          </p:stCondLst>
                                        </p:cTn>
                                        <p:tgtEl>
                                          <p:spTgt spid="269"/>
                                        </p:tgtEl>
                                        <p:attrNameLst>
                                          <p:attrName>style.visibility</p:attrName>
                                        </p:attrNameLst>
                                      </p:cBhvr>
                                      <p:to>
                                        <p:strVal val="hidden"/>
                                      </p:to>
                                    </p:set>
                                  </p:childTnLst>
                                </p:cTn>
                              </p:par>
                              <p:par>
                                <p:cTn id="76" presetID="1" presetClass="entr" presetSubtype="0" fill="hold" grpId="0" nodeType="withEffect">
                                  <p:stCondLst>
                                    <p:cond delay="1000"/>
                                  </p:stCondLst>
                                  <p:childTnLst>
                                    <p:set>
                                      <p:cBhvr>
                                        <p:cTn id="77"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animBg="1"/>
      <p:bldP spid="219" grpId="0" animBg="1"/>
      <p:bldP spid="220" grpId="0" animBg="1"/>
      <p:bldP spid="221" grpId="0" animBg="1"/>
      <p:bldP spid="222" grpId="0" animBg="1"/>
      <p:bldP spid="223" grpId="0" animBg="1"/>
      <p:bldP spid="226" grpId="0" animBg="1"/>
      <p:bldP spid="227" grpId="0" animBg="1"/>
      <p:bldP spid="228" grpId="0" animBg="1"/>
      <p:bldP spid="230" grpId="0" animBg="1"/>
      <p:bldP spid="231" grpId="0" animBg="1"/>
      <p:bldP spid="232" grpId="0" animBg="1"/>
      <p:bldP spid="233" grpId="0" animBg="1"/>
      <p:bldP spid="234" grpId="0" animBg="1"/>
      <p:bldP spid="235" grpId="0" animBg="1"/>
      <p:bldP spid="236" grpId="0" animBg="1"/>
      <p:bldP spid="238" grpId="0" animBg="1"/>
      <p:bldP spid="239" grpId="0" animBg="1"/>
      <p:bldP spid="256" grpId="0" animBg="1"/>
      <p:bldP spid="267" grpId="0" animBg="1"/>
      <p:bldP spid="268" grpId="0" animBg="1"/>
      <p:bldP spid="26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C1E40-D19D-8EF1-CF32-BB9607DBF5AF}"/>
            </a:ext>
          </a:extLst>
        </p:cNvPr>
        <p:cNvGrpSpPr/>
        <p:nvPr/>
      </p:nvGrpSpPr>
      <p:grpSpPr>
        <a:xfrm>
          <a:off x="0" y="0"/>
          <a:ext cx="0" cy="0"/>
          <a:chOff x="0" y="0"/>
          <a:chExt cx="0" cy="0"/>
        </a:xfrm>
      </p:grpSpPr>
      <p:grpSp>
        <p:nvGrpSpPr>
          <p:cNvPr id="216" name="Group 215">
            <a:extLst>
              <a:ext uri="{FF2B5EF4-FFF2-40B4-BE49-F238E27FC236}">
                <a16:creationId xmlns:a16="http://schemas.microsoft.com/office/drawing/2014/main" id="{286B957D-31C5-95D4-1293-A022B0A56314}"/>
              </a:ext>
            </a:extLst>
          </p:cNvPr>
          <p:cNvGrpSpPr/>
          <p:nvPr/>
        </p:nvGrpSpPr>
        <p:grpSpPr>
          <a:xfrm>
            <a:off x="671086" y="703493"/>
            <a:ext cx="11102699" cy="4192227"/>
            <a:chOff x="351046" y="691993"/>
            <a:chExt cx="11520630" cy="4350032"/>
          </a:xfrm>
        </p:grpSpPr>
        <p:pic>
          <p:nvPicPr>
            <p:cNvPr id="2" name="Picture 1" descr="A blueprint of a machine&#10;&#10;Description automatically generated">
              <a:extLst>
                <a:ext uri="{FF2B5EF4-FFF2-40B4-BE49-F238E27FC236}">
                  <a16:creationId xmlns:a16="http://schemas.microsoft.com/office/drawing/2014/main" id="{C2A50234-A54C-AE34-917F-95A171F84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4489" y="2610942"/>
              <a:ext cx="1614426" cy="2190915"/>
            </a:xfrm>
            <a:prstGeom prst="rect">
              <a:avLst/>
            </a:prstGeom>
          </p:spPr>
        </p:pic>
        <p:sp>
          <p:nvSpPr>
            <p:cNvPr id="158" name="Rectangle: Rounded Corners 157">
              <a:extLst>
                <a:ext uri="{FF2B5EF4-FFF2-40B4-BE49-F238E27FC236}">
                  <a16:creationId xmlns:a16="http://schemas.microsoft.com/office/drawing/2014/main" id="{FB07F1AC-41C5-ADDD-834B-843F7C90C710}"/>
                </a:ext>
              </a:extLst>
            </p:cNvPr>
            <p:cNvSpPr/>
            <p:nvPr/>
          </p:nvSpPr>
          <p:spPr>
            <a:xfrm>
              <a:off x="6228264" y="2164920"/>
              <a:ext cx="90000" cy="196353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1" name="Rectangle: Rounded Corners 150">
              <a:extLst>
                <a:ext uri="{FF2B5EF4-FFF2-40B4-BE49-F238E27FC236}">
                  <a16:creationId xmlns:a16="http://schemas.microsoft.com/office/drawing/2014/main" id="{9431B010-048F-1B32-C337-EC658A9C7656}"/>
                </a:ext>
              </a:extLst>
            </p:cNvPr>
            <p:cNvSpPr/>
            <p:nvPr/>
          </p:nvSpPr>
          <p:spPr>
            <a:xfrm>
              <a:off x="4196303" y="2878505"/>
              <a:ext cx="705532"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0" name="Rectangle: Rounded Corners 149">
              <a:extLst>
                <a:ext uri="{FF2B5EF4-FFF2-40B4-BE49-F238E27FC236}">
                  <a16:creationId xmlns:a16="http://schemas.microsoft.com/office/drawing/2014/main" id="{10884B27-BAE4-A935-6830-6068F6B6D9BA}"/>
                </a:ext>
              </a:extLst>
            </p:cNvPr>
            <p:cNvSpPr/>
            <p:nvPr/>
          </p:nvSpPr>
          <p:spPr>
            <a:xfrm>
              <a:off x="4196303" y="1173490"/>
              <a:ext cx="90000" cy="179317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1" name="Picture 100" descr="A blue cylinder with towers&#10;&#10;Description automatically generated with medium confidence">
              <a:extLst>
                <a:ext uri="{FF2B5EF4-FFF2-40B4-BE49-F238E27FC236}">
                  <a16:creationId xmlns:a16="http://schemas.microsoft.com/office/drawing/2014/main" id="{4843C39D-E816-6983-6986-4809E61C51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0739" y="1908960"/>
              <a:ext cx="2131187" cy="2896803"/>
            </a:xfrm>
            <a:prstGeom prst="rect">
              <a:avLst/>
            </a:prstGeom>
          </p:spPr>
        </p:pic>
        <p:sp>
          <p:nvSpPr>
            <p:cNvPr id="67" name="TextBox 66">
              <a:extLst>
                <a:ext uri="{FF2B5EF4-FFF2-40B4-BE49-F238E27FC236}">
                  <a16:creationId xmlns:a16="http://schemas.microsoft.com/office/drawing/2014/main" id="{69ADB7EF-F8A0-809C-0CB6-97610051F9AA}"/>
                </a:ext>
              </a:extLst>
            </p:cNvPr>
            <p:cNvSpPr txBox="1"/>
            <p:nvPr/>
          </p:nvSpPr>
          <p:spPr>
            <a:xfrm>
              <a:off x="3875623" y="4557521"/>
              <a:ext cx="119858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Membrane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Box 67">
              <a:extLst>
                <a:ext uri="{FF2B5EF4-FFF2-40B4-BE49-F238E27FC236}">
                  <a16:creationId xmlns:a16="http://schemas.microsoft.com/office/drawing/2014/main" id="{9E763E2F-3AC2-1166-EFCD-D0B2AE615ABA}"/>
                </a:ext>
              </a:extLst>
            </p:cNvPr>
            <p:cNvSpPr txBox="1"/>
            <p:nvPr/>
          </p:nvSpPr>
          <p:spPr>
            <a:xfrm>
              <a:off x="3940016" y="3819550"/>
              <a:ext cx="1119409" cy="6067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Retentate Probe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Rectangle 69">
              <a:extLst>
                <a:ext uri="{FF2B5EF4-FFF2-40B4-BE49-F238E27FC236}">
                  <a16:creationId xmlns:a16="http://schemas.microsoft.com/office/drawing/2014/main" id="{67FFA3E2-08BF-2E79-01AB-077D808E173A}"/>
                </a:ext>
              </a:extLst>
            </p:cNvPr>
            <p:cNvSpPr/>
            <p:nvPr/>
          </p:nvSpPr>
          <p:spPr>
            <a:xfrm>
              <a:off x="5287300" y="4196163"/>
              <a:ext cx="671898" cy="4571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263382BB-F155-49BE-68D3-E7164443656B}"/>
                </a:ext>
              </a:extLst>
            </p:cNvPr>
            <p:cNvSpPr/>
            <p:nvPr/>
          </p:nvSpPr>
          <p:spPr>
            <a:xfrm>
              <a:off x="6068295" y="4393710"/>
              <a:ext cx="203743" cy="45719"/>
            </a:xfrm>
            <a:prstGeom prst="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7" name="TextBox 96">
              <a:extLst>
                <a:ext uri="{FF2B5EF4-FFF2-40B4-BE49-F238E27FC236}">
                  <a16:creationId xmlns:a16="http://schemas.microsoft.com/office/drawing/2014/main" id="{10E568BF-656A-6DCC-CE27-171A9BF7EF38}"/>
                </a:ext>
              </a:extLst>
            </p:cNvPr>
            <p:cNvSpPr txBox="1"/>
            <p:nvPr/>
          </p:nvSpPr>
          <p:spPr>
            <a:xfrm>
              <a:off x="5822993" y="4703471"/>
              <a:ext cx="20406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Permeate Probe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98" name="Straight Connector 97">
              <a:extLst>
                <a:ext uri="{FF2B5EF4-FFF2-40B4-BE49-F238E27FC236}">
                  <a16:creationId xmlns:a16="http://schemas.microsoft.com/office/drawing/2014/main" id="{4623B968-5784-FC13-983B-39ADAD93B3B2}"/>
                </a:ext>
              </a:extLst>
            </p:cNvPr>
            <p:cNvCxnSpPr>
              <a:cxnSpLocks/>
            </p:cNvCxnSpPr>
            <p:nvPr/>
          </p:nvCxnSpPr>
          <p:spPr>
            <a:xfrm>
              <a:off x="6203914" y="4500246"/>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pic>
          <p:nvPicPr>
            <p:cNvPr id="106" name="Picture 105" descr="A drawing of a machine&#10;&#10;Description automatically generated">
              <a:extLst>
                <a:ext uri="{FF2B5EF4-FFF2-40B4-BE49-F238E27FC236}">
                  <a16:creationId xmlns:a16="http://schemas.microsoft.com/office/drawing/2014/main" id="{71FD50E6-5624-3595-A09B-456A16DCE3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5591" y="2514337"/>
              <a:ext cx="2697986" cy="2175340"/>
            </a:xfrm>
            <a:prstGeom prst="rect">
              <a:avLst/>
            </a:prstGeom>
          </p:spPr>
        </p:pic>
        <p:cxnSp>
          <p:nvCxnSpPr>
            <p:cNvPr id="109" name="Straight Connector 108">
              <a:extLst>
                <a:ext uri="{FF2B5EF4-FFF2-40B4-BE49-F238E27FC236}">
                  <a16:creationId xmlns:a16="http://schemas.microsoft.com/office/drawing/2014/main" id="{BCBF05CF-A475-F6C4-38AF-A5FB2508E229}"/>
                </a:ext>
              </a:extLst>
            </p:cNvPr>
            <p:cNvCxnSpPr>
              <a:cxnSpLocks/>
            </p:cNvCxnSpPr>
            <p:nvPr/>
          </p:nvCxnSpPr>
          <p:spPr>
            <a:xfrm>
              <a:off x="9501238" y="3551928"/>
              <a:ext cx="842186" cy="16927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CA289AFA-0A44-ABED-A4CD-EEC170016D21}"/>
                </a:ext>
              </a:extLst>
            </p:cNvPr>
            <p:cNvSpPr txBox="1"/>
            <p:nvPr/>
          </p:nvSpPr>
          <p:spPr>
            <a:xfrm>
              <a:off x="10087001" y="2710146"/>
              <a:ext cx="17846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Scintillation Vials</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3" name="TextBox 112">
              <a:extLst>
                <a:ext uri="{FF2B5EF4-FFF2-40B4-BE49-F238E27FC236}">
                  <a16:creationId xmlns:a16="http://schemas.microsoft.com/office/drawing/2014/main" id="{E7FD3F03-8746-5FC4-4E81-BAA8F94E0276}"/>
                </a:ext>
              </a:extLst>
            </p:cNvPr>
            <p:cNvSpPr txBox="1"/>
            <p:nvPr/>
          </p:nvSpPr>
          <p:spPr>
            <a:xfrm>
              <a:off x="10197511" y="3568617"/>
              <a:ext cx="107231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Motor</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4" name="TextBox 113">
              <a:extLst>
                <a:ext uri="{FF2B5EF4-FFF2-40B4-BE49-F238E27FC236}">
                  <a16:creationId xmlns:a16="http://schemas.microsoft.com/office/drawing/2014/main" id="{194BED18-A6C8-C1B7-6D05-66433732213F}"/>
                </a:ext>
              </a:extLst>
            </p:cNvPr>
            <p:cNvSpPr txBox="1"/>
            <p:nvPr/>
          </p:nvSpPr>
          <p:spPr>
            <a:xfrm>
              <a:off x="7574835" y="4224433"/>
              <a:ext cx="241902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Balance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15" name="Straight Connector 114">
              <a:extLst>
                <a:ext uri="{FF2B5EF4-FFF2-40B4-BE49-F238E27FC236}">
                  <a16:creationId xmlns:a16="http://schemas.microsoft.com/office/drawing/2014/main" id="{37B62AC8-6F2D-71F5-3517-CCDAE5B779A0}"/>
                </a:ext>
              </a:extLst>
            </p:cNvPr>
            <p:cNvCxnSpPr>
              <a:cxnSpLocks/>
            </p:cNvCxnSpPr>
            <p:nvPr/>
          </p:nvCxnSpPr>
          <p:spPr>
            <a:xfrm>
              <a:off x="9290017" y="2670620"/>
              <a:ext cx="833560" cy="174187"/>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BC93847D-77A4-2BFC-EF5F-C04ACCC06735}"/>
                </a:ext>
              </a:extLst>
            </p:cNvPr>
            <p:cNvSpPr txBox="1"/>
            <p:nvPr/>
          </p:nvSpPr>
          <p:spPr>
            <a:xfrm>
              <a:off x="722393" y="1424391"/>
              <a:ext cx="1052202" cy="6067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Pressure Gauge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6" name="Rectangle 125">
              <a:extLst>
                <a:ext uri="{FF2B5EF4-FFF2-40B4-BE49-F238E27FC236}">
                  <a16:creationId xmlns:a16="http://schemas.microsoft.com/office/drawing/2014/main" id="{5CF227A5-6C31-CDCA-432A-0482CEE97910}"/>
                </a:ext>
              </a:extLst>
            </p:cNvPr>
            <p:cNvSpPr/>
            <p:nvPr/>
          </p:nvSpPr>
          <p:spPr>
            <a:xfrm>
              <a:off x="2232898" y="3429001"/>
              <a:ext cx="1373917" cy="1084262"/>
            </a:xfrm>
            <a:prstGeom prst="rect">
              <a:avLst/>
            </a:prstGeom>
            <a:solidFill>
              <a:schemeClr val="accent1">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7" name="Rectangle: Rounded Corners 146">
              <a:extLst>
                <a:ext uri="{FF2B5EF4-FFF2-40B4-BE49-F238E27FC236}">
                  <a16:creationId xmlns:a16="http://schemas.microsoft.com/office/drawing/2014/main" id="{2FD7994E-F52D-B2D1-CB8C-425DC657B08B}"/>
                </a:ext>
              </a:extLst>
            </p:cNvPr>
            <p:cNvSpPr/>
            <p:nvPr/>
          </p:nvSpPr>
          <p:spPr>
            <a:xfrm>
              <a:off x="3367372" y="1173491"/>
              <a:ext cx="90000" cy="82546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8" name="Rectangle: Rounded Corners 147">
              <a:extLst>
                <a:ext uri="{FF2B5EF4-FFF2-40B4-BE49-F238E27FC236}">
                  <a16:creationId xmlns:a16="http://schemas.microsoft.com/office/drawing/2014/main" id="{FBD9A5EC-E785-CDAA-E80C-F2E9D760A49B}"/>
                </a:ext>
              </a:extLst>
            </p:cNvPr>
            <p:cNvSpPr/>
            <p:nvPr/>
          </p:nvSpPr>
          <p:spPr>
            <a:xfrm>
              <a:off x="3367372" y="1173490"/>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6" name="Rectangle: Rounded Corners 145">
              <a:extLst>
                <a:ext uri="{FF2B5EF4-FFF2-40B4-BE49-F238E27FC236}">
                  <a16:creationId xmlns:a16="http://schemas.microsoft.com/office/drawing/2014/main" id="{67A38F39-CB22-E8D5-6504-BEE034BEBF54}"/>
                </a:ext>
              </a:extLst>
            </p:cNvPr>
            <p:cNvSpPr/>
            <p:nvPr/>
          </p:nvSpPr>
          <p:spPr>
            <a:xfrm>
              <a:off x="3387601" y="1194524"/>
              <a:ext cx="49912" cy="808068"/>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49" name="Rectangle: Rounded Corners 148">
              <a:extLst>
                <a:ext uri="{FF2B5EF4-FFF2-40B4-BE49-F238E27FC236}">
                  <a16:creationId xmlns:a16="http://schemas.microsoft.com/office/drawing/2014/main" id="{67136A25-C3A9-A726-375E-697F355E9467}"/>
                </a:ext>
              </a:extLst>
            </p:cNvPr>
            <p:cNvSpPr/>
            <p:nvPr/>
          </p:nvSpPr>
          <p:spPr>
            <a:xfrm>
              <a:off x="3410643" y="1194523"/>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2" name="Rectangle: Rounded Corners 151">
              <a:extLst>
                <a:ext uri="{FF2B5EF4-FFF2-40B4-BE49-F238E27FC236}">
                  <a16:creationId xmlns:a16="http://schemas.microsoft.com/office/drawing/2014/main" id="{B6221993-AE54-DB99-163F-C896E087175A}"/>
                </a:ext>
              </a:extLst>
            </p:cNvPr>
            <p:cNvSpPr/>
            <p:nvPr/>
          </p:nvSpPr>
          <p:spPr>
            <a:xfrm>
              <a:off x="4222073" y="2899655"/>
              <a:ext cx="679826"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3" name="Rectangle: Rounded Corners 152">
              <a:extLst>
                <a:ext uri="{FF2B5EF4-FFF2-40B4-BE49-F238E27FC236}">
                  <a16:creationId xmlns:a16="http://schemas.microsoft.com/office/drawing/2014/main" id="{5461B168-76C7-4998-88BB-8738A9B60554}"/>
                </a:ext>
              </a:extLst>
            </p:cNvPr>
            <p:cNvSpPr/>
            <p:nvPr/>
          </p:nvSpPr>
          <p:spPr>
            <a:xfrm>
              <a:off x="4215027" y="1194523"/>
              <a:ext cx="54000" cy="1750851"/>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4" name="Rectangle: Rounded Corners 153">
              <a:extLst>
                <a:ext uri="{FF2B5EF4-FFF2-40B4-BE49-F238E27FC236}">
                  <a16:creationId xmlns:a16="http://schemas.microsoft.com/office/drawing/2014/main" id="{EEF96D0D-224E-21E3-6BD9-7BD912C2EFA0}"/>
                </a:ext>
              </a:extLst>
            </p:cNvPr>
            <p:cNvSpPr/>
            <p:nvPr/>
          </p:nvSpPr>
          <p:spPr>
            <a:xfrm>
              <a:off x="8459937" y="2167329"/>
              <a:ext cx="90000" cy="388005"/>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5" name="Rectangle: Rounded Corners 154">
              <a:extLst>
                <a:ext uri="{FF2B5EF4-FFF2-40B4-BE49-F238E27FC236}">
                  <a16:creationId xmlns:a16="http://schemas.microsoft.com/office/drawing/2014/main" id="{6708494A-C236-A218-1FBB-300B178E05D5}"/>
                </a:ext>
              </a:extLst>
            </p:cNvPr>
            <p:cNvSpPr/>
            <p:nvPr/>
          </p:nvSpPr>
          <p:spPr>
            <a:xfrm>
              <a:off x="6272038" y="2164921"/>
              <a:ext cx="2277899" cy="9000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6" name="Rectangle: Rounded Corners 155">
              <a:extLst>
                <a:ext uri="{FF2B5EF4-FFF2-40B4-BE49-F238E27FC236}">
                  <a16:creationId xmlns:a16="http://schemas.microsoft.com/office/drawing/2014/main" id="{C49CF15C-442F-A564-82C7-E3BC0561D829}"/>
                </a:ext>
              </a:extLst>
            </p:cNvPr>
            <p:cNvSpPr/>
            <p:nvPr/>
          </p:nvSpPr>
          <p:spPr>
            <a:xfrm>
              <a:off x="8480166" y="2189480"/>
              <a:ext cx="45719" cy="36948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7" name="Rectangle: Rounded Corners 156">
              <a:extLst>
                <a:ext uri="{FF2B5EF4-FFF2-40B4-BE49-F238E27FC236}">
                  <a16:creationId xmlns:a16="http://schemas.microsoft.com/office/drawing/2014/main" id="{426D0A4D-5566-2C46-6921-038015C32D45}"/>
                </a:ext>
              </a:extLst>
            </p:cNvPr>
            <p:cNvSpPr/>
            <p:nvPr/>
          </p:nvSpPr>
          <p:spPr>
            <a:xfrm>
              <a:off x="6272038" y="2185499"/>
              <a:ext cx="225384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59" name="Rectangle: Rounded Corners 158">
              <a:extLst>
                <a:ext uri="{FF2B5EF4-FFF2-40B4-BE49-F238E27FC236}">
                  <a16:creationId xmlns:a16="http://schemas.microsoft.com/office/drawing/2014/main" id="{8ACC2E2A-D261-730C-BF28-ADBD5F0BF385}"/>
                </a:ext>
              </a:extLst>
            </p:cNvPr>
            <p:cNvSpPr/>
            <p:nvPr/>
          </p:nvSpPr>
          <p:spPr>
            <a:xfrm>
              <a:off x="6247184" y="2185499"/>
              <a:ext cx="50400" cy="1942952"/>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0" name="Rectangle: Rounded Corners 159">
              <a:extLst>
                <a:ext uri="{FF2B5EF4-FFF2-40B4-BE49-F238E27FC236}">
                  <a16:creationId xmlns:a16="http://schemas.microsoft.com/office/drawing/2014/main" id="{F0F0AC46-F2B4-1C4C-5BD2-0F69373BA36B}"/>
                </a:ext>
              </a:extLst>
            </p:cNvPr>
            <p:cNvSpPr/>
            <p:nvPr/>
          </p:nvSpPr>
          <p:spPr>
            <a:xfrm>
              <a:off x="2875122" y="818985"/>
              <a:ext cx="90000" cy="1176344"/>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1" name="Rectangle: Rounded Corners 160">
              <a:extLst>
                <a:ext uri="{FF2B5EF4-FFF2-40B4-BE49-F238E27FC236}">
                  <a16:creationId xmlns:a16="http://schemas.microsoft.com/office/drawing/2014/main" id="{FD1FA9B3-AB7C-87B5-1CDD-1BB2A0244AC1}"/>
                </a:ext>
              </a:extLst>
            </p:cNvPr>
            <p:cNvSpPr/>
            <p:nvPr/>
          </p:nvSpPr>
          <p:spPr>
            <a:xfrm>
              <a:off x="2895351" y="847413"/>
              <a:ext cx="49912" cy="1151547"/>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nvGrpSpPr>
            <p:cNvPr id="166" name="Group 165">
              <a:extLst>
                <a:ext uri="{FF2B5EF4-FFF2-40B4-BE49-F238E27FC236}">
                  <a16:creationId xmlns:a16="http://schemas.microsoft.com/office/drawing/2014/main" id="{BCAC9A30-C614-2313-5772-3505896E707C}"/>
                </a:ext>
              </a:extLst>
            </p:cNvPr>
            <p:cNvGrpSpPr/>
            <p:nvPr/>
          </p:nvGrpSpPr>
          <p:grpSpPr>
            <a:xfrm rot="5400000">
              <a:off x="1206418" y="803173"/>
              <a:ext cx="896308" cy="1636943"/>
              <a:chOff x="2408016" y="1071443"/>
              <a:chExt cx="896308" cy="1636943"/>
            </a:xfrm>
          </p:grpSpPr>
          <p:sp>
            <p:nvSpPr>
              <p:cNvPr id="162" name="Rectangle: Rounded Corners 161">
                <a:extLst>
                  <a:ext uri="{FF2B5EF4-FFF2-40B4-BE49-F238E27FC236}">
                    <a16:creationId xmlns:a16="http://schemas.microsoft.com/office/drawing/2014/main" id="{FF5D88AD-8BCD-7C39-FD02-61FA818FBB1F}"/>
                  </a:ext>
                </a:extLst>
              </p:cNvPr>
              <p:cNvSpPr/>
              <p:nvPr/>
            </p:nvSpPr>
            <p:spPr>
              <a:xfrm>
                <a:off x="2408017" y="1071443"/>
                <a:ext cx="90000" cy="163694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3" name="Rectangle: Rounded Corners 162">
                <a:extLst>
                  <a:ext uri="{FF2B5EF4-FFF2-40B4-BE49-F238E27FC236}">
                    <a16:creationId xmlns:a16="http://schemas.microsoft.com/office/drawing/2014/main" id="{EA3883E9-35EF-A1CA-21E0-11A087A6BF01}"/>
                  </a:ext>
                </a:extLst>
              </p:cNvPr>
              <p:cNvSpPr/>
              <p:nvPr/>
            </p:nvSpPr>
            <p:spPr>
              <a:xfrm>
                <a:off x="2408016" y="1071443"/>
                <a:ext cx="885398" cy="92868"/>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4" name="Rectangle: Rounded Corners 163">
                <a:extLst>
                  <a:ext uri="{FF2B5EF4-FFF2-40B4-BE49-F238E27FC236}">
                    <a16:creationId xmlns:a16="http://schemas.microsoft.com/office/drawing/2014/main" id="{E43BECC2-68C9-F926-5BFC-88C892F44C5E}"/>
                  </a:ext>
                </a:extLst>
              </p:cNvPr>
              <p:cNvSpPr/>
              <p:nvPr/>
            </p:nvSpPr>
            <p:spPr>
              <a:xfrm>
                <a:off x="2428245" y="1092478"/>
                <a:ext cx="49912" cy="1602436"/>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65" name="Rectangle: Rounded Corners 164">
                <a:extLst>
                  <a:ext uri="{FF2B5EF4-FFF2-40B4-BE49-F238E27FC236}">
                    <a16:creationId xmlns:a16="http://schemas.microsoft.com/office/drawing/2014/main" id="{3050E3BD-FECD-58C9-A8E7-E1AE3F507E76}"/>
                  </a:ext>
                </a:extLst>
              </p:cNvPr>
              <p:cNvSpPr/>
              <p:nvPr/>
            </p:nvSpPr>
            <p:spPr>
              <a:xfrm>
                <a:off x="2451287" y="1092476"/>
                <a:ext cx="853037" cy="50400"/>
              </a:xfrm>
              <a:prstGeom prst="roundRect">
                <a:avLst/>
              </a:prstGeom>
              <a:solidFill>
                <a:srgbClr val="C7CE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120" name="Flowchart: Connector 119">
              <a:extLst>
                <a:ext uri="{FF2B5EF4-FFF2-40B4-BE49-F238E27FC236}">
                  <a16:creationId xmlns:a16="http://schemas.microsoft.com/office/drawing/2014/main" id="{35D069FF-F9D3-7653-30E8-CEAA9885AEF6}"/>
                </a:ext>
              </a:extLst>
            </p:cNvPr>
            <p:cNvSpPr/>
            <p:nvPr/>
          </p:nvSpPr>
          <p:spPr>
            <a:xfrm>
              <a:off x="997942" y="1020217"/>
              <a:ext cx="455063" cy="436694"/>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CDEDF4AF-BA85-3EDF-1696-EB9A3F7C89AD}"/>
                </a:ext>
              </a:extLst>
            </p:cNvPr>
            <p:cNvSpPr txBox="1"/>
            <p:nvPr/>
          </p:nvSpPr>
          <p:spPr>
            <a:xfrm>
              <a:off x="997942" y="1069287"/>
              <a:ext cx="45506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7" name="TextBox 166">
              <a:extLst>
                <a:ext uri="{FF2B5EF4-FFF2-40B4-BE49-F238E27FC236}">
                  <a16:creationId xmlns:a16="http://schemas.microsoft.com/office/drawing/2014/main" id="{4DBCF2C7-4B66-29EF-A3D2-4C8698D65737}"/>
                </a:ext>
              </a:extLst>
            </p:cNvPr>
            <p:cNvSpPr txBox="1"/>
            <p:nvPr/>
          </p:nvSpPr>
          <p:spPr>
            <a:xfrm>
              <a:off x="351046" y="3146685"/>
              <a:ext cx="109769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Diafiltrate Tank</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68" name="Straight Connector 167">
              <a:extLst>
                <a:ext uri="{FF2B5EF4-FFF2-40B4-BE49-F238E27FC236}">
                  <a16:creationId xmlns:a16="http://schemas.microsoft.com/office/drawing/2014/main" id="{E630F384-6CD2-7D50-3E9E-A525019E3654}"/>
                </a:ext>
              </a:extLst>
            </p:cNvPr>
            <p:cNvCxnSpPr>
              <a:cxnSpLocks/>
            </p:cNvCxnSpPr>
            <p:nvPr/>
          </p:nvCxnSpPr>
          <p:spPr>
            <a:xfrm flipH="1">
              <a:off x="1413756" y="3284019"/>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sp>
          <p:nvSpPr>
            <p:cNvPr id="169" name="Isosceles Triangle 168">
              <a:extLst>
                <a:ext uri="{FF2B5EF4-FFF2-40B4-BE49-F238E27FC236}">
                  <a16:creationId xmlns:a16="http://schemas.microsoft.com/office/drawing/2014/main" id="{4310B538-094D-7E1A-6CB9-BDD90D2497FE}"/>
                </a:ext>
              </a:extLst>
            </p:cNvPr>
            <p:cNvSpPr/>
            <p:nvPr/>
          </p:nvSpPr>
          <p:spPr>
            <a:xfrm>
              <a:off x="2754042" y="1065670"/>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0" name="Isosceles Triangle 169">
              <a:extLst>
                <a:ext uri="{FF2B5EF4-FFF2-40B4-BE49-F238E27FC236}">
                  <a16:creationId xmlns:a16="http://schemas.microsoft.com/office/drawing/2014/main" id="{00491D5C-33AD-0618-F1C5-9A6E616C88B5}"/>
                </a:ext>
              </a:extLst>
            </p:cNvPr>
            <p:cNvSpPr/>
            <p:nvPr/>
          </p:nvSpPr>
          <p:spPr>
            <a:xfrm flipV="1">
              <a:off x="2754042" y="944752"/>
              <a:ext cx="332332" cy="279152"/>
            </a:xfrm>
            <a:prstGeom prst="triangl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1" name="Isosceles Triangle 170">
              <a:extLst>
                <a:ext uri="{FF2B5EF4-FFF2-40B4-BE49-F238E27FC236}">
                  <a16:creationId xmlns:a16="http://schemas.microsoft.com/office/drawing/2014/main" id="{6AD2B78F-B354-39B2-B03B-A703D2040C4F}"/>
                </a:ext>
              </a:extLst>
            </p:cNvPr>
            <p:cNvSpPr/>
            <p:nvPr/>
          </p:nvSpPr>
          <p:spPr>
            <a:xfrm flipV="1">
              <a:off x="2821484" y="994767"/>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2" name="Isosceles Triangle 171">
              <a:extLst>
                <a:ext uri="{FF2B5EF4-FFF2-40B4-BE49-F238E27FC236}">
                  <a16:creationId xmlns:a16="http://schemas.microsoft.com/office/drawing/2014/main" id="{171E7432-9CF3-9FF2-0E2D-358692773FED}"/>
                </a:ext>
              </a:extLst>
            </p:cNvPr>
            <p:cNvSpPr/>
            <p:nvPr/>
          </p:nvSpPr>
          <p:spPr>
            <a:xfrm>
              <a:off x="2822675" y="1133739"/>
              <a:ext cx="196743" cy="16379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73" name="TextBox 172">
              <a:extLst>
                <a:ext uri="{FF2B5EF4-FFF2-40B4-BE49-F238E27FC236}">
                  <a16:creationId xmlns:a16="http://schemas.microsoft.com/office/drawing/2014/main" id="{C1A5C9AE-EA89-55F0-108E-E0BC5BBD3969}"/>
                </a:ext>
              </a:extLst>
            </p:cNvPr>
            <p:cNvSpPr txBox="1"/>
            <p:nvPr/>
          </p:nvSpPr>
          <p:spPr>
            <a:xfrm>
              <a:off x="3406479" y="691993"/>
              <a:ext cx="261401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Pressure Relief Valve</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74" name="Straight Connector 173">
              <a:extLst>
                <a:ext uri="{FF2B5EF4-FFF2-40B4-BE49-F238E27FC236}">
                  <a16:creationId xmlns:a16="http://schemas.microsoft.com/office/drawing/2014/main" id="{AE6463B8-9AF8-7250-B80D-E8418BAA1C46}"/>
                </a:ext>
              </a:extLst>
            </p:cNvPr>
            <p:cNvCxnSpPr>
              <a:cxnSpLocks/>
            </p:cNvCxnSpPr>
            <p:nvPr/>
          </p:nvCxnSpPr>
          <p:spPr>
            <a:xfrm flipV="1">
              <a:off x="3080746" y="900618"/>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5CA3C9F9-E502-EDB7-FB8C-CCD46797DC78}"/>
                </a:ext>
              </a:extLst>
            </p:cNvPr>
            <p:cNvCxnSpPr>
              <a:cxnSpLocks/>
            </p:cNvCxnSpPr>
            <p:nvPr/>
          </p:nvCxnSpPr>
          <p:spPr>
            <a:xfrm flipH="1">
              <a:off x="4569922" y="4283212"/>
              <a:ext cx="962540" cy="309349"/>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526313AF-0FD6-ADA4-4404-139597EFB75E}"/>
                </a:ext>
              </a:extLst>
            </p:cNvPr>
            <p:cNvCxnSpPr>
              <a:cxnSpLocks/>
            </p:cNvCxnSpPr>
            <p:nvPr/>
          </p:nvCxnSpPr>
          <p:spPr>
            <a:xfrm>
              <a:off x="5409835" y="2966669"/>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3" name="Straight Connector 182">
              <a:extLst>
                <a:ext uri="{FF2B5EF4-FFF2-40B4-BE49-F238E27FC236}">
                  <a16:creationId xmlns:a16="http://schemas.microsoft.com/office/drawing/2014/main" id="{8A30ECD6-8B51-6DD5-60C9-B9AA19E36CF9}"/>
                </a:ext>
              </a:extLst>
            </p:cNvPr>
            <p:cNvCxnSpPr>
              <a:cxnSpLocks/>
            </p:cNvCxnSpPr>
            <p:nvPr/>
          </p:nvCxnSpPr>
          <p:spPr>
            <a:xfrm>
              <a:off x="5430711" y="2945374"/>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60EB6BC9-C14F-4191-C275-6BE14423FA8A}"/>
                </a:ext>
              </a:extLst>
            </p:cNvPr>
            <p:cNvCxnSpPr>
              <a:cxnSpLocks/>
            </p:cNvCxnSpPr>
            <p:nvPr/>
          </p:nvCxnSpPr>
          <p:spPr>
            <a:xfrm>
              <a:off x="5449970" y="292350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5" name="Straight Connector 184">
              <a:extLst>
                <a:ext uri="{FF2B5EF4-FFF2-40B4-BE49-F238E27FC236}">
                  <a16:creationId xmlns:a16="http://schemas.microsoft.com/office/drawing/2014/main" id="{9499E5FE-8EB3-F877-31AA-04748B796836}"/>
                </a:ext>
              </a:extLst>
            </p:cNvPr>
            <p:cNvCxnSpPr>
              <a:cxnSpLocks/>
            </p:cNvCxnSpPr>
            <p:nvPr/>
          </p:nvCxnSpPr>
          <p:spPr>
            <a:xfrm>
              <a:off x="5472997" y="291182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6" name="Straight Connector 185">
              <a:extLst>
                <a:ext uri="{FF2B5EF4-FFF2-40B4-BE49-F238E27FC236}">
                  <a16:creationId xmlns:a16="http://schemas.microsoft.com/office/drawing/2014/main" id="{EF2B8942-915A-C957-0FB1-127B7F079145}"/>
                </a:ext>
              </a:extLst>
            </p:cNvPr>
            <p:cNvCxnSpPr>
              <a:cxnSpLocks/>
            </p:cNvCxnSpPr>
            <p:nvPr/>
          </p:nvCxnSpPr>
          <p:spPr>
            <a:xfrm>
              <a:off x="5495821" y="2889275"/>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3F1FF70C-88C9-43B7-D951-A3FF3380F409}"/>
                </a:ext>
              </a:extLst>
            </p:cNvPr>
            <p:cNvCxnSpPr>
              <a:cxnSpLocks/>
            </p:cNvCxnSpPr>
            <p:nvPr/>
          </p:nvCxnSpPr>
          <p:spPr>
            <a:xfrm>
              <a:off x="5516924" y="2872851"/>
              <a:ext cx="0" cy="556149"/>
            </a:xfrm>
            <a:prstGeom prst="line">
              <a:avLst/>
            </a:prstGeom>
            <a:ln w="12700"/>
          </p:spPr>
          <p:style>
            <a:lnRef idx="1">
              <a:schemeClr val="dk1"/>
            </a:lnRef>
            <a:fillRef idx="0">
              <a:schemeClr val="dk1"/>
            </a:fillRef>
            <a:effectRef idx="0">
              <a:schemeClr val="dk1"/>
            </a:effectRef>
            <a:fontRef idx="minor">
              <a:schemeClr val="tx1"/>
            </a:fontRef>
          </p:style>
        </p:cxnSp>
        <p:cxnSp>
          <p:nvCxnSpPr>
            <p:cNvPr id="188" name="Straight Connector 187">
              <a:extLst>
                <a:ext uri="{FF2B5EF4-FFF2-40B4-BE49-F238E27FC236}">
                  <a16:creationId xmlns:a16="http://schemas.microsoft.com/office/drawing/2014/main" id="{1CD84BAD-B9DD-11F4-4D05-CF82F905395E}"/>
                </a:ext>
              </a:extLst>
            </p:cNvPr>
            <p:cNvCxnSpPr>
              <a:cxnSpLocks/>
            </p:cNvCxnSpPr>
            <p:nvPr/>
          </p:nvCxnSpPr>
          <p:spPr>
            <a:xfrm flipH="1">
              <a:off x="4901835" y="2966669"/>
              <a:ext cx="5143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C4F0B42B-09AB-05CF-5FFD-4ACD8BE64F90}"/>
                </a:ext>
              </a:extLst>
            </p:cNvPr>
            <p:cNvCxnSpPr>
              <a:cxnSpLocks/>
            </p:cNvCxnSpPr>
            <p:nvPr/>
          </p:nvCxnSpPr>
          <p:spPr>
            <a:xfrm flipH="1">
              <a:off x="4901835" y="2949771"/>
              <a:ext cx="53374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1" name="Straight Connector 190">
              <a:extLst>
                <a:ext uri="{FF2B5EF4-FFF2-40B4-BE49-F238E27FC236}">
                  <a16:creationId xmlns:a16="http://schemas.microsoft.com/office/drawing/2014/main" id="{49136878-C84F-5891-49F1-632CCE4FACE4}"/>
                </a:ext>
              </a:extLst>
            </p:cNvPr>
            <p:cNvCxnSpPr>
              <a:cxnSpLocks/>
            </p:cNvCxnSpPr>
            <p:nvPr/>
          </p:nvCxnSpPr>
          <p:spPr>
            <a:xfrm flipH="1">
              <a:off x="4903423" y="2929857"/>
              <a:ext cx="54813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2" name="Straight Connector 191">
              <a:extLst>
                <a:ext uri="{FF2B5EF4-FFF2-40B4-BE49-F238E27FC236}">
                  <a16:creationId xmlns:a16="http://schemas.microsoft.com/office/drawing/2014/main" id="{1B2B363B-56F1-2F57-7F93-536287D47017}"/>
                </a:ext>
              </a:extLst>
            </p:cNvPr>
            <p:cNvCxnSpPr>
              <a:cxnSpLocks/>
            </p:cNvCxnSpPr>
            <p:nvPr/>
          </p:nvCxnSpPr>
          <p:spPr>
            <a:xfrm flipH="1">
              <a:off x="4901835" y="2911821"/>
              <a:ext cx="576938"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F1AEC248-83C7-8B8D-61F3-821E947FDB7C}"/>
                </a:ext>
              </a:extLst>
            </p:cNvPr>
            <p:cNvCxnSpPr>
              <a:cxnSpLocks/>
            </p:cNvCxnSpPr>
            <p:nvPr/>
          </p:nvCxnSpPr>
          <p:spPr>
            <a:xfrm flipH="1">
              <a:off x="4903423" y="2890863"/>
              <a:ext cx="59682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4" name="Straight Connector 193">
              <a:extLst>
                <a:ext uri="{FF2B5EF4-FFF2-40B4-BE49-F238E27FC236}">
                  <a16:creationId xmlns:a16="http://schemas.microsoft.com/office/drawing/2014/main" id="{DAE7393B-C093-EAE9-69A4-9398D69A3A20}"/>
                </a:ext>
              </a:extLst>
            </p:cNvPr>
            <p:cNvCxnSpPr>
              <a:cxnSpLocks/>
            </p:cNvCxnSpPr>
            <p:nvPr/>
          </p:nvCxnSpPr>
          <p:spPr>
            <a:xfrm flipH="1">
              <a:off x="4900247" y="2872482"/>
              <a:ext cx="622524" cy="0"/>
            </a:xfrm>
            <a:prstGeom prst="line">
              <a:avLst/>
            </a:prstGeom>
            <a:ln w="12700"/>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E7977ED9-B245-0F38-E4F5-0E4404F3C7CD}"/>
                </a:ext>
              </a:extLst>
            </p:cNvPr>
            <p:cNvSpPr/>
            <p:nvPr/>
          </p:nvSpPr>
          <p:spPr>
            <a:xfrm>
              <a:off x="5354191" y="3423963"/>
              <a:ext cx="214188" cy="359089"/>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8" name="Oval 7">
              <a:extLst>
                <a:ext uri="{FF2B5EF4-FFF2-40B4-BE49-F238E27FC236}">
                  <a16:creationId xmlns:a16="http://schemas.microsoft.com/office/drawing/2014/main" id="{B8AAFBEA-E064-15C7-6BC1-FBEF6B82D868}"/>
                </a:ext>
              </a:extLst>
            </p:cNvPr>
            <p:cNvSpPr/>
            <p:nvPr/>
          </p:nvSpPr>
          <p:spPr>
            <a:xfrm>
              <a:off x="5371239" y="3581612"/>
              <a:ext cx="181842" cy="182172"/>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E60B0051-7F94-975D-E738-F379A77689EE}"/>
                </a:ext>
              </a:extLst>
            </p:cNvPr>
            <p:cNvSpPr/>
            <p:nvPr/>
          </p:nvSpPr>
          <p:spPr>
            <a:xfrm>
              <a:off x="5399544" y="3611175"/>
              <a:ext cx="124244" cy="124470"/>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329F8759-A93B-7198-A567-564282117CBA}"/>
                </a:ext>
              </a:extLst>
            </p:cNvPr>
            <p:cNvSpPr/>
            <p:nvPr/>
          </p:nvSpPr>
          <p:spPr>
            <a:xfrm>
              <a:off x="5426708" y="3636614"/>
              <a:ext cx="72127" cy="74881"/>
            </a:xfrm>
            <a:prstGeom prst="ellipse">
              <a:avLst/>
            </a:prstGeom>
            <a:solidFill>
              <a:schemeClr val="bg1">
                <a:lumMod val="7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04" name="TextBox 203">
              <a:extLst>
                <a:ext uri="{FF2B5EF4-FFF2-40B4-BE49-F238E27FC236}">
                  <a16:creationId xmlns:a16="http://schemas.microsoft.com/office/drawing/2014/main" id="{7DC82C0F-EC2F-AFE0-9582-7EAF848646DA}"/>
                </a:ext>
              </a:extLst>
            </p:cNvPr>
            <p:cNvSpPr txBox="1"/>
            <p:nvPr/>
          </p:nvSpPr>
          <p:spPr>
            <a:xfrm>
              <a:off x="4946188" y="1697015"/>
              <a:ext cx="1071191"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Stirred Cell</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BA50067E-EA0A-3164-9215-94B8AB048BC9}"/>
                    </a:ext>
                  </a:extLst>
                </p:cNvPr>
                <p:cNvSpPr txBox="1"/>
                <p:nvPr/>
              </p:nvSpPr>
              <p:spPr>
                <a:xfrm rot="5400000">
                  <a:off x="5259573" y="1903138"/>
                  <a:ext cx="525742" cy="132856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dPr>
                          <m:e>
                            <m:eqArr>
                              <m:eqArrPr>
                                <m:ctrlP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eqArrPr>
                              <m:e>
                                <m: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 </m:t>
                                </m:r>
                              </m:e>
                              <m:e>
                                <m:r>
                                  <a:rPr kumimoji="0" lang="en-US" sz="5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 </m:t>
                                </m:r>
                              </m:e>
                            </m:eqArr>
                          </m:e>
                        </m:d>
                      </m:oMath>
                    </m:oMathPara>
                  </a14:m>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210" name="TextBox 209">
                  <a:extLst>
                    <a:ext uri="{FF2B5EF4-FFF2-40B4-BE49-F238E27FC236}">
                      <a16:creationId xmlns:a16="http://schemas.microsoft.com/office/drawing/2014/main" id="{A0A5A728-B824-A225-9E3B-4532DE8DB37D}"/>
                    </a:ext>
                  </a:extLst>
                </p:cNvPr>
                <p:cNvSpPr txBox="1">
                  <a:spLocks noRot="1" noChangeAspect="1" noMove="1" noResize="1" noEditPoints="1" noAdjustHandles="1" noChangeArrowheads="1" noChangeShapeType="1" noTextEdit="1"/>
                </p:cNvSpPr>
                <p:nvPr/>
              </p:nvSpPr>
              <p:spPr>
                <a:xfrm rot="5400000">
                  <a:off x="5259573" y="1903138"/>
                  <a:ext cx="525742" cy="1328569"/>
                </a:xfrm>
                <a:prstGeom prst="rect">
                  <a:avLst/>
                </a:prstGeom>
                <a:blipFill>
                  <a:blip r:embed="rId7"/>
                  <a:stretch>
                    <a:fillRect l="-476" t="-6024"/>
                  </a:stretch>
                </a:blipFill>
              </p:spPr>
              <p:txBody>
                <a:bodyPr/>
                <a:lstStyle/>
                <a:p>
                  <a:r>
                    <a:rPr lang="en-US">
                      <a:noFill/>
                    </a:rPr>
                    <a:t> </a:t>
                  </a:r>
                </a:p>
              </p:txBody>
            </p:sp>
          </mc:Fallback>
        </mc:AlternateContent>
        <p:sp>
          <p:nvSpPr>
            <p:cNvPr id="211" name="TextBox 210">
              <a:extLst>
                <a:ext uri="{FF2B5EF4-FFF2-40B4-BE49-F238E27FC236}">
                  <a16:creationId xmlns:a16="http://schemas.microsoft.com/office/drawing/2014/main" id="{B5ADC348-53FD-321B-3A5F-37D11745B84A}"/>
                </a:ext>
              </a:extLst>
            </p:cNvPr>
            <p:cNvSpPr txBox="1"/>
            <p:nvPr/>
          </p:nvSpPr>
          <p:spPr>
            <a:xfrm>
              <a:off x="6366476" y="3332442"/>
              <a:ext cx="125368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Permeate Outlet</a:t>
              </a:r>
              <a:endParaRPr kumimoji="0" lang="en-US" sz="1600" b="0" i="0" u="none" strike="noStrike" kern="1200" cap="none" spc="0" normalizeH="0" baseline="3000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212" name="Straight Connector 211">
              <a:extLst>
                <a:ext uri="{FF2B5EF4-FFF2-40B4-BE49-F238E27FC236}">
                  <a16:creationId xmlns:a16="http://schemas.microsoft.com/office/drawing/2014/main" id="{F3A27DEE-DFDA-6663-67BF-5C031522EAC0}"/>
                </a:ext>
              </a:extLst>
            </p:cNvPr>
            <p:cNvCxnSpPr>
              <a:cxnSpLocks/>
            </p:cNvCxnSpPr>
            <p:nvPr/>
          </p:nvCxnSpPr>
          <p:spPr>
            <a:xfrm flipV="1">
              <a:off x="6358909" y="3892733"/>
              <a:ext cx="549568" cy="162444"/>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D5724325-AEBC-85D6-F7D1-B90B2A5DC744}"/>
                </a:ext>
              </a:extLst>
            </p:cNvPr>
            <p:cNvCxnSpPr>
              <a:cxnSpLocks/>
            </p:cNvCxnSpPr>
            <p:nvPr/>
          </p:nvCxnSpPr>
          <p:spPr>
            <a:xfrm flipH="1">
              <a:off x="4569922" y="3594985"/>
              <a:ext cx="754405" cy="233782"/>
            </a:xfrm>
            <a:prstGeom prst="line">
              <a:avLst/>
            </a:prstGeom>
            <a:ln w="12700">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218" name="Arrow: Down 217">
            <a:extLst>
              <a:ext uri="{FF2B5EF4-FFF2-40B4-BE49-F238E27FC236}">
                <a16:creationId xmlns:a16="http://schemas.microsoft.com/office/drawing/2014/main" id="{958D1C08-D8AB-CB7D-2A5B-799E3B39512C}"/>
              </a:ext>
            </a:extLst>
          </p:cNvPr>
          <p:cNvSpPr/>
          <p:nvPr/>
        </p:nvSpPr>
        <p:spPr>
          <a:xfrm>
            <a:off x="2594105" y="1498270"/>
            <a:ext cx="168292" cy="4103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19" name="Arrow: Down 218">
            <a:extLst>
              <a:ext uri="{FF2B5EF4-FFF2-40B4-BE49-F238E27FC236}">
                <a16:creationId xmlns:a16="http://schemas.microsoft.com/office/drawing/2014/main" id="{094FFF5F-7787-9DC5-E060-D84279692497}"/>
              </a:ext>
            </a:extLst>
          </p:cNvPr>
          <p:cNvSpPr/>
          <p:nvPr/>
        </p:nvSpPr>
        <p:spPr>
          <a:xfrm>
            <a:off x="2652075" y="2900398"/>
            <a:ext cx="168292" cy="4103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0" name="Arrow: Down 219">
            <a:extLst>
              <a:ext uri="{FF2B5EF4-FFF2-40B4-BE49-F238E27FC236}">
                <a16:creationId xmlns:a16="http://schemas.microsoft.com/office/drawing/2014/main" id="{EBD71746-4665-7720-E72F-8461C35FCDFD}"/>
              </a:ext>
            </a:extLst>
          </p:cNvPr>
          <p:cNvSpPr/>
          <p:nvPr/>
        </p:nvSpPr>
        <p:spPr>
          <a:xfrm>
            <a:off x="2960486" y="2900398"/>
            <a:ext cx="168292" cy="4103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1" name="Arrow: Down 220">
            <a:extLst>
              <a:ext uri="{FF2B5EF4-FFF2-40B4-BE49-F238E27FC236}">
                <a16:creationId xmlns:a16="http://schemas.microsoft.com/office/drawing/2014/main" id="{41272857-C599-62B0-925D-9EF5269E05BD}"/>
              </a:ext>
            </a:extLst>
          </p:cNvPr>
          <p:cNvSpPr/>
          <p:nvPr/>
        </p:nvSpPr>
        <p:spPr>
          <a:xfrm>
            <a:off x="3268897" y="2900398"/>
            <a:ext cx="168292" cy="4103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2" name="Arrow: Down 221">
            <a:extLst>
              <a:ext uri="{FF2B5EF4-FFF2-40B4-BE49-F238E27FC236}">
                <a16:creationId xmlns:a16="http://schemas.microsoft.com/office/drawing/2014/main" id="{44D11F08-D5CB-F372-0B76-BA8CD107E351}"/>
              </a:ext>
            </a:extLst>
          </p:cNvPr>
          <p:cNvSpPr/>
          <p:nvPr/>
        </p:nvSpPr>
        <p:spPr>
          <a:xfrm rot="10800000">
            <a:off x="3531532" y="2466685"/>
            <a:ext cx="168292" cy="410303"/>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3" name="Arrow: Down 222">
            <a:extLst>
              <a:ext uri="{FF2B5EF4-FFF2-40B4-BE49-F238E27FC236}">
                <a16:creationId xmlns:a16="http://schemas.microsoft.com/office/drawing/2014/main" id="{C9C3D980-085F-B677-E6AD-FC9009610F07}"/>
              </a:ext>
            </a:extLst>
          </p:cNvPr>
          <p:cNvSpPr/>
          <p:nvPr/>
        </p:nvSpPr>
        <p:spPr>
          <a:xfrm rot="10800000">
            <a:off x="3537097" y="1484817"/>
            <a:ext cx="168292" cy="410303"/>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6" name="Teardrop 225">
            <a:extLst>
              <a:ext uri="{FF2B5EF4-FFF2-40B4-BE49-F238E27FC236}">
                <a16:creationId xmlns:a16="http://schemas.microsoft.com/office/drawing/2014/main" id="{DB686148-26A4-7A77-CB5A-FA8A383B876B}"/>
              </a:ext>
            </a:extLst>
          </p:cNvPr>
          <p:cNvSpPr/>
          <p:nvPr/>
        </p:nvSpPr>
        <p:spPr>
          <a:xfrm rot="18976205">
            <a:off x="4860462" y="2570382"/>
            <a:ext cx="138239" cy="144878"/>
          </a:xfrm>
          <a:prstGeom prst="teardrop">
            <a:avLst>
              <a:gd name="adj" fmla="val 143899"/>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7" name="Teardrop 226">
            <a:extLst>
              <a:ext uri="{FF2B5EF4-FFF2-40B4-BE49-F238E27FC236}">
                <a16:creationId xmlns:a16="http://schemas.microsoft.com/office/drawing/2014/main" id="{D7DFAAB3-603F-8D71-522B-83678AD0FDA4}"/>
              </a:ext>
            </a:extLst>
          </p:cNvPr>
          <p:cNvSpPr/>
          <p:nvPr/>
        </p:nvSpPr>
        <p:spPr>
          <a:xfrm rot="18976205">
            <a:off x="6462335" y="4181381"/>
            <a:ext cx="138239" cy="144878"/>
          </a:xfrm>
          <a:prstGeom prst="teardrop">
            <a:avLst>
              <a:gd name="adj" fmla="val 143899"/>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28" name="Arrow: Down 227">
            <a:extLst>
              <a:ext uri="{FF2B5EF4-FFF2-40B4-BE49-F238E27FC236}">
                <a16:creationId xmlns:a16="http://schemas.microsoft.com/office/drawing/2014/main" id="{8F8A2055-33BA-5467-DC16-853283DA4B95}"/>
              </a:ext>
            </a:extLst>
          </p:cNvPr>
          <p:cNvSpPr/>
          <p:nvPr/>
        </p:nvSpPr>
        <p:spPr>
          <a:xfrm>
            <a:off x="4338855" y="1781088"/>
            <a:ext cx="168292" cy="410303"/>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0" name="Arrow: Down 229">
            <a:extLst>
              <a:ext uri="{FF2B5EF4-FFF2-40B4-BE49-F238E27FC236}">
                <a16:creationId xmlns:a16="http://schemas.microsoft.com/office/drawing/2014/main" id="{D92AAA46-6D26-D51C-2397-6401212083E0}"/>
              </a:ext>
            </a:extLst>
          </p:cNvPr>
          <p:cNvSpPr/>
          <p:nvPr/>
        </p:nvSpPr>
        <p:spPr>
          <a:xfrm rot="16200000">
            <a:off x="2150038" y="1002987"/>
            <a:ext cx="168292" cy="410303"/>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1" name="Arrow: Down 230">
            <a:extLst>
              <a:ext uri="{FF2B5EF4-FFF2-40B4-BE49-F238E27FC236}">
                <a16:creationId xmlns:a16="http://schemas.microsoft.com/office/drawing/2014/main" id="{C07685A7-B169-99B5-F6C7-75A93A1BCC26}"/>
              </a:ext>
            </a:extLst>
          </p:cNvPr>
          <p:cNvSpPr/>
          <p:nvPr/>
        </p:nvSpPr>
        <p:spPr>
          <a:xfrm rot="16200000">
            <a:off x="3962414" y="1010956"/>
            <a:ext cx="168292" cy="410303"/>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2" name="Arrow: Down 231">
            <a:extLst>
              <a:ext uri="{FF2B5EF4-FFF2-40B4-BE49-F238E27FC236}">
                <a16:creationId xmlns:a16="http://schemas.microsoft.com/office/drawing/2014/main" id="{EC10D7EB-885C-0929-DA8D-73269754D2A2}"/>
              </a:ext>
            </a:extLst>
          </p:cNvPr>
          <p:cNvSpPr/>
          <p:nvPr/>
        </p:nvSpPr>
        <p:spPr>
          <a:xfrm rot="16200000">
            <a:off x="4685371" y="2648900"/>
            <a:ext cx="168292" cy="410303"/>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3" name="Arrow: Down 232">
            <a:extLst>
              <a:ext uri="{FF2B5EF4-FFF2-40B4-BE49-F238E27FC236}">
                <a16:creationId xmlns:a16="http://schemas.microsoft.com/office/drawing/2014/main" id="{B146A175-257F-F45D-6984-43A0DECBCD59}"/>
              </a:ext>
            </a:extLst>
          </p:cNvPr>
          <p:cNvSpPr/>
          <p:nvPr/>
        </p:nvSpPr>
        <p:spPr>
          <a:xfrm rot="10800000">
            <a:off x="6291569" y="3250938"/>
            <a:ext cx="168292" cy="410303"/>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4" name="Arrow: Down 233">
            <a:extLst>
              <a:ext uri="{FF2B5EF4-FFF2-40B4-BE49-F238E27FC236}">
                <a16:creationId xmlns:a16="http://schemas.microsoft.com/office/drawing/2014/main" id="{8FD4ECCA-E0C2-5FA3-EA35-2D7A3CEFAA30}"/>
              </a:ext>
            </a:extLst>
          </p:cNvPr>
          <p:cNvSpPr/>
          <p:nvPr/>
        </p:nvSpPr>
        <p:spPr>
          <a:xfrm rot="10800000">
            <a:off x="6299135" y="2505798"/>
            <a:ext cx="168292" cy="410303"/>
          </a:xfrm>
          <a:prstGeom prst="down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5" name="Arrow: Down 234">
            <a:extLst>
              <a:ext uri="{FF2B5EF4-FFF2-40B4-BE49-F238E27FC236}">
                <a16:creationId xmlns:a16="http://schemas.microsoft.com/office/drawing/2014/main" id="{272C4597-4148-8048-55AF-F1FA47DE927F}"/>
              </a:ext>
            </a:extLst>
          </p:cNvPr>
          <p:cNvSpPr/>
          <p:nvPr/>
        </p:nvSpPr>
        <p:spPr>
          <a:xfrm rot="16200000">
            <a:off x="6909377" y="1962234"/>
            <a:ext cx="168292" cy="410303"/>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6" name="Arrow: Down 235">
            <a:extLst>
              <a:ext uri="{FF2B5EF4-FFF2-40B4-BE49-F238E27FC236}">
                <a16:creationId xmlns:a16="http://schemas.microsoft.com/office/drawing/2014/main" id="{CB0282C1-BB44-4CBE-9416-61D1A8C5D34D}"/>
              </a:ext>
            </a:extLst>
          </p:cNvPr>
          <p:cNvSpPr/>
          <p:nvPr/>
        </p:nvSpPr>
        <p:spPr>
          <a:xfrm rot="16200000">
            <a:off x="8006840" y="1962234"/>
            <a:ext cx="168292" cy="410303"/>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8" name="Arrow: Up 237">
            <a:extLst>
              <a:ext uri="{FF2B5EF4-FFF2-40B4-BE49-F238E27FC236}">
                <a16:creationId xmlns:a16="http://schemas.microsoft.com/office/drawing/2014/main" id="{456C0A5C-1FFD-AB5C-B44F-A964D48E3A18}"/>
              </a:ext>
            </a:extLst>
          </p:cNvPr>
          <p:cNvSpPr/>
          <p:nvPr/>
        </p:nvSpPr>
        <p:spPr>
          <a:xfrm>
            <a:off x="8158878" y="2536948"/>
            <a:ext cx="259248" cy="437758"/>
          </a:xfrm>
          <a:prstGeom prst="upArrow">
            <a:avLst/>
          </a:prstGeom>
          <a:gradFill flip="none" rotWithShape="1">
            <a:gsLst>
              <a:gs pos="0">
                <a:schemeClr val="accent1">
                  <a:shade val="30000"/>
                  <a:satMod val="115000"/>
                </a:schemeClr>
              </a:gs>
              <a:gs pos="50000">
                <a:schemeClr val="accent1">
                  <a:lumMod val="60000"/>
                  <a:lumOff val="40000"/>
                </a:schemeClr>
              </a:gs>
              <a:gs pos="100000">
                <a:schemeClr val="accent1">
                  <a:lumMod val="20000"/>
                  <a:lumOff val="8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39" name="Arrow: Curved Left 238">
            <a:extLst>
              <a:ext uri="{FF2B5EF4-FFF2-40B4-BE49-F238E27FC236}">
                <a16:creationId xmlns:a16="http://schemas.microsoft.com/office/drawing/2014/main" id="{7737556D-A0D7-2265-9816-584C06CE4B77}"/>
              </a:ext>
            </a:extLst>
          </p:cNvPr>
          <p:cNvSpPr/>
          <p:nvPr/>
        </p:nvSpPr>
        <p:spPr>
          <a:xfrm>
            <a:off x="9152730" y="3376530"/>
            <a:ext cx="274574" cy="193511"/>
          </a:xfrm>
          <a:prstGeom prst="curvedLef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9" name="Rectangle 268">
            <a:extLst>
              <a:ext uri="{FF2B5EF4-FFF2-40B4-BE49-F238E27FC236}">
                <a16:creationId xmlns:a16="http://schemas.microsoft.com/office/drawing/2014/main" id="{F4D306FB-9A71-C37D-E53C-D5E78FF33E0E}"/>
              </a:ext>
            </a:extLst>
          </p:cNvPr>
          <p:cNvSpPr/>
          <p:nvPr/>
        </p:nvSpPr>
        <p:spPr>
          <a:xfrm>
            <a:off x="9596674" y="5018656"/>
            <a:ext cx="1322589" cy="135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2C935C4B-43E1-6A03-1FAF-E70AFC3575EB}"/>
              </a:ext>
            </a:extLst>
          </p:cNvPr>
          <p:cNvSpPr/>
          <p:nvPr/>
        </p:nvSpPr>
        <p:spPr>
          <a:xfrm>
            <a:off x="5485148" y="3233435"/>
            <a:ext cx="526379" cy="847334"/>
          </a:xfrm>
          <a:prstGeom prst="rect">
            <a:avLst/>
          </a:prstGeom>
          <a:solidFill>
            <a:schemeClr val="accent1">
              <a:lumMod val="60000"/>
              <a:lumOff val="40000"/>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6E34E4BF-1DBA-CF65-C05C-5A654C6DD1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19720731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wipe(left)">
                                      <p:cBhvr>
                                        <p:cTn id="7" dur="500"/>
                                        <p:tgtEl>
                                          <p:spTgt spid="230"/>
                                        </p:tgtEl>
                                      </p:cBhvr>
                                    </p:animEffect>
                                  </p:childTnLst>
                                </p:cTn>
                              </p:par>
                              <p:par>
                                <p:cTn id="8" presetID="22" presetClass="entr" presetSubtype="1" fill="hold" grpId="0" nodeType="withEffect">
                                  <p:stCondLst>
                                    <p:cond delay="500"/>
                                  </p:stCondLst>
                                  <p:childTnLst>
                                    <p:set>
                                      <p:cBhvr>
                                        <p:cTn id="9" dur="1" fill="hold">
                                          <p:stCondLst>
                                            <p:cond delay="0"/>
                                          </p:stCondLst>
                                        </p:cTn>
                                        <p:tgtEl>
                                          <p:spTgt spid="218"/>
                                        </p:tgtEl>
                                        <p:attrNameLst>
                                          <p:attrName>style.visibility</p:attrName>
                                        </p:attrNameLst>
                                      </p:cBhvr>
                                      <p:to>
                                        <p:strVal val="visible"/>
                                      </p:to>
                                    </p:set>
                                    <p:animEffect transition="in" filter="wipe(up)">
                                      <p:cBhvr>
                                        <p:cTn id="10" dur="500"/>
                                        <p:tgtEl>
                                          <p:spTgt spid="218"/>
                                        </p:tgtEl>
                                      </p:cBhvr>
                                    </p:animEffect>
                                  </p:childTnLst>
                                </p:cTn>
                              </p:par>
                              <p:par>
                                <p:cTn id="11" presetID="22" presetClass="entr" presetSubtype="1" fill="hold" grpId="0" nodeType="withEffect">
                                  <p:stCondLst>
                                    <p:cond delay="1000"/>
                                  </p:stCondLst>
                                  <p:childTnLst>
                                    <p:set>
                                      <p:cBhvr>
                                        <p:cTn id="12" dur="1" fill="hold">
                                          <p:stCondLst>
                                            <p:cond delay="0"/>
                                          </p:stCondLst>
                                        </p:cTn>
                                        <p:tgtEl>
                                          <p:spTgt spid="219"/>
                                        </p:tgtEl>
                                        <p:attrNameLst>
                                          <p:attrName>style.visibility</p:attrName>
                                        </p:attrNameLst>
                                      </p:cBhvr>
                                      <p:to>
                                        <p:strVal val="visible"/>
                                      </p:to>
                                    </p:set>
                                    <p:animEffect transition="in" filter="wipe(up)">
                                      <p:cBhvr>
                                        <p:cTn id="13" dur="500"/>
                                        <p:tgtEl>
                                          <p:spTgt spid="219"/>
                                        </p:tgtEl>
                                      </p:cBhvr>
                                    </p:animEffect>
                                  </p:childTnLst>
                                </p:cTn>
                              </p:par>
                              <p:par>
                                <p:cTn id="14" presetID="22" presetClass="entr" presetSubtype="1" fill="hold" grpId="0" nodeType="withEffect">
                                  <p:stCondLst>
                                    <p:cond delay="1000"/>
                                  </p:stCondLst>
                                  <p:childTnLst>
                                    <p:set>
                                      <p:cBhvr>
                                        <p:cTn id="15" dur="1" fill="hold">
                                          <p:stCondLst>
                                            <p:cond delay="0"/>
                                          </p:stCondLst>
                                        </p:cTn>
                                        <p:tgtEl>
                                          <p:spTgt spid="220"/>
                                        </p:tgtEl>
                                        <p:attrNameLst>
                                          <p:attrName>style.visibility</p:attrName>
                                        </p:attrNameLst>
                                      </p:cBhvr>
                                      <p:to>
                                        <p:strVal val="visible"/>
                                      </p:to>
                                    </p:set>
                                    <p:animEffect transition="in" filter="wipe(up)">
                                      <p:cBhvr>
                                        <p:cTn id="16" dur="500"/>
                                        <p:tgtEl>
                                          <p:spTgt spid="220"/>
                                        </p:tgtEl>
                                      </p:cBhvr>
                                    </p:animEffect>
                                  </p:childTnLst>
                                </p:cTn>
                              </p:par>
                              <p:par>
                                <p:cTn id="17" presetID="22" presetClass="entr" presetSubtype="1" fill="hold" grpId="0" nodeType="withEffect">
                                  <p:stCondLst>
                                    <p:cond delay="1000"/>
                                  </p:stCondLst>
                                  <p:childTnLst>
                                    <p:set>
                                      <p:cBhvr>
                                        <p:cTn id="18" dur="1" fill="hold">
                                          <p:stCondLst>
                                            <p:cond delay="0"/>
                                          </p:stCondLst>
                                        </p:cTn>
                                        <p:tgtEl>
                                          <p:spTgt spid="221"/>
                                        </p:tgtEl>
                                        <p:attrNameLst>
                                          <p:attrName>style.visibility</p:attrName>
                                        </p:attrNameLst>
                                      </p:cBhvr>
                                      <p:to>
                                        <p:strVal val="visible"/>
                                      </p:to>
                                    </p:set>
                                    <p:animEffect transition="in" filter="wipe(up)">
                                      <p:cBhvr>
                                        <p:cTn id="19" dur="500"/>
                                        <p:tgtEl>
                                          <p:spTgt spid="22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22"/>
                                        </p:tgtEl>
                                        <p:attrNameLst>
                                          <p:attrName>style.visibility</p:attrName>
                                        </p:attrNameLst>
                                      </p:cBhvr>
                                      <p:to>
                                        <p:strVal val="visible"/>
                                      </p:to>
                                    </p:set>
                                    <p:animEffect transition="in" filter="wipe(down)">
                                      <p:cBhvr>
                                        <p:cTn id="24" dur="500"/>
                                        <p:tgtEl>
                                          <p:spTgt spid="222"/>
                                        </p:tgtEl>
                                      </p:cBhvr>
                                    </p:animEffect>
                                  </p:childTnLst>
                                </p:cTn>
                              </p:par>
                              <p:par>
                                <p:cTn id="25" presetID="22" presetClass="entr" presetSubtype="4" fill="hold" grpId="0" nodeType="withEffect">
                                  <p:stCondLst>
                                    <p:cond delay="400"/>
                                  </p:stCondLst>
                                  <p:childTnLst>
                                    <p:set>
                                      <p:cBhvr>
                                        <p:cTn id="26" dur="1" fill="hold">
                                          <p:stCondLst>
                                            <p:cond delay="0"/>
                                          </p:stCondLst>
                                        </p:cTn>
                                        <p:tgtEl>
                                          <p:spTgt spid="223"/>
                                        </p:tgtEl>
                                        <p:attrNameLst>
                                          <p:attrName>style.visibility</p:attrName>
                                        </p:attrNameLst>
                                      </p:cBhvr>
                                      <p:to>
                                        <p:strVal val="visible"/>
                                      </p:to>
                                    </p:set>
                                    <p:animEffect transition="in" filter="wipe(down)">
                                      <p:cBhvr>
                                        <p:cTn id="27" dur="600"/>
                                        <p:tgtEl>
                                          <p:spTgt spid="223"/>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31"/>
                                        </p:tgtEl>
                                        <p:attrNameLst>
                                          <p:attrName>style.visibility</p:attrName>
                                        </p:attrNameLst>
                                      </p:cBhvr>
                                      <p:to>
                                        <p:strVal val="visible"/>
                                      </p:to>
                                    </p:set>
                                    <p:animEffect transition="in" filter="wipe(left)">
                                      <p:cBhvr>
                                        <p:cTn id="31" dur="500"/>
                                        <p:tgtEl>
                                          <p:spTgt spid="231"/>
                                        </p:tgtEl>
                                      </p:cBhvr>
                                    </p:animEffect>
                                  </p:childTnLst>
                                </p:cTn>
                              </p:par>
                              <p:par>
                                <p:cTn id="32" presetID="22" presetClass="entr" presetSubtype="1" fill="hold" grpId="0" nodeType="withEffect">
                                  <p:stCondLst>
                                    <p:cond delay="400"/>
                                  </p:stCondLst>
                                  <p:childTnLst>
                                    <p:set>
                                      <p:cBhvr>
                                        <p:cTn id="33" dur="1" fill="hold">
                                          <p:stCondLst>
                                            <p:cond delay="0"/>
                                          </p:stCondLst>
                                        </p:cTn>
                                        <p:tgtEl>
                                          <p:spTgt spid="228"/>
                                        </p:tgtEl>
                                        <p:attrNameLst>
                                          <p:attrName>style.visibility</p:attrName>
                                        </p:attrNameLst>
                                      </p:cBhvr>
                                      <p:to>
                                        <p:strVal val="visible"/>
                                      </p:to>
                                    </p:set>
                                    <p:animEffect transition="in" filter="wipe(up)">
                                      <p:cBhvr>
                                        <p:cTn id="34" dur="600"/>
                                        <p:tgtEl>
                                          <p:spTgt spid="228"/>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232"/>
                                        </p:tgtEl>
                                        <p:attrNameLst>
                                          <p:attrName>style.visibility</p:attrName>
                                        </p:attrNameLst>
                                      </p:cBhvr>
                                      <p:to>
                                        <p:strVal val="visible"/>
                                      </p:to>
                                    </p:set>
                                    <p:animEffect transition="in" filter="wipe(left)">
                                      <p:cBhvr>
                                        <p:cTn id="38" dur="500"/>
                                        <p:tgtEl>
                                          <p:spTgt spid="2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33"/>
                                        </p:tgtEl>
                                        <p:attrNameLst>
                                          <p:attrName>style.visibility</p:attrName>
                                        </p:attrNameLst>
                                      </p:cBhvr>
                                      <p:to>
                                        <p:strVal val="visible"/>
                                      </p:to>
                                    </p:set>
                                    <p:animEffect transition="in" filter="wipe(down)">
                                      <p:cBhvr>
                                        <p:cTn id="49" dur="500"/>
                                        <p:tgtEl>
                                          <p:spTgt spid="233"/>
                                        </p:tgtEl>
                                      </p:cBhvr>
                                    </p:animEffect>
                                  </p:childTnLst>
                                </p:cTn>
                              </p:par>
                              <p:par>
                                <p:cTn id="50" presetID="22" presetClass="entr" presetSubtype="4" fill="hold" grpId="0" nodeType="withEffect">
                                  <p:stCondLst>
                                    <p:cond delay="400"/>
                                  </p:stCondLst>
                                  <p:childTnLst>
                                    <p:set>
                                      <p:cBhvr>
                                        <p:cTn id="51" dur="1" fill="hold">
                                          <p:stCondLst>
                                            <p:cond delay="0"/>
                                          </p:stCondLst>
                                        </p:cTn>
                                        <p:tgtEl>
                                          <p:spTgt spid="234"/>
                                        </p:tgtEl>
                                        <p:attrNameLst>
                                          <p:attrName>style.visibility</p:attrName>
                                        </p:attrNameLst>
                                      </p:cBhvr>
                                      <p:to>
                                        <p:strVal val="visible"/>
                                      </p:to>
                                    </p:set>
                                    <p:animEffect transition="in" filter="wipe(down)">
                                      <p:cBhvr>
                                        <p:cTn id="52" dur="600"/>
                                        <p:tgtEl>
                                          <p:spTgt spid="234"/>
                                        </p:tgtEl>
                                      </p:cBhvr>
                                    </p:animEffect>
                                  </p:childTnLst>
                                </p:cTn>
                              </p:par>
                              <p:par>
                                <p:cTn id="53" presetID="22" presetClass="entr" presetSubtype="8" fill="hold" grpId="0" nodeType="withEffect">
                                  <p:stCondLst>
                                    <p:cond delay="1000"/>
                                  </p:stCondLst>
                                  <p:childTnLst>
                                    <p:set>
                                      <p:cBhvr>
                                        <p:cTn id="54" dur="1" fill="hold">
                                          <p:stCondLst>
                                            <p:cond delay="0"/>
                                          </p:stCondLst>
                                        </p:cTn>
                                        <p:tgtEl>
                                          <p:spTgt spid="235"/>
                                        </p:tgtEl>
                                        <p:attrNameLst>
                                          <p:attrName>style.visibility</p:attrName>
                                        </p:attrNameLst>
                                      </p:cBhvr>
                                      <p:to>
                                        <p:strVal val="visible"/>
                                      </p:to>
                                    </p:set>
                                    <p:animEffect transition="in" filter="wipe(left)">
                                      <p:cBhvr>
                                        <p:cTn id="55" dur="500"/>
                                        <p:tgtEl>
                                          <p:spTgt spid="235"/>
                                        </p:tgtEl>
                                      </p:cBhvr>
                                    </p:animEffect>
                                  </p:childTnLst>
                                </p:cTn>
                              </p:par>
                              <p:par>
                                <p:cTn id="56" presetID="22" presetClass="entr" presetSubtype="8" fill="hold" grpId="0" nodeType="withEffect">
                                  <p:stCondLst>
                                    <p:cond delay="1500"/>
                                  </p:stCondLst>
                                  <p:childTnLst>
                                    <p:set>
                                      <p:cBhvr>
                                        <p:cTn id="57" dur="1" fill="hold">
                                          <p:stCondLst>
                                            <p:cond delay="0"/>
                                          </p:stCondLst>
                                        </p:cTn>
                                        <p:tgtEl>
                                          <p:spTgt spid="236"/>
                                        </p:tgtEl>
                                        <p:attrNameLst>
                                          <p:attrName>style.visibility</p:attrName>
                                        </p:attrNameLst>
                                      </p:cBhvr>
                                      <p:to>
                                        <p:strVal val="visible"/>
                                      </p:to>
                                    </p:set>
                                    <p:animEffect transition="in" filter="wipe(left)">
                                      <p:cBhvr>
                                        <p:cTn id="58" dur="500"/>
                                        <p:tgtEl>
                                          <p:spTgt spid="23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repeatCount="5000" fill="hold" grpId="0" nodeType="clickEffect">
                                  <p:stCondLst>
                                    <p:cond delay="0"/>
                                  </p:stCondLst>
                                  <p:childTnLst>
                                    <p:set>
                                      <p:cBhvr>
                                        <p:cTn id="62" dur="1" fill="hold">
                                          <p:stCondLst>
                                            <p:cond delay="0"/>
                                          </p:stCondLst>
                                        </p:cTn>
                                        <p:tgtEl>
                                          <p:spTgt spid="238"/>
                                        </p:tgtEl>
                                        <p:attrNameLst>
                                          <p:attrName>style.visibility</p:attrName>
                                        </p:attrNameLst>
                                      </p:cBhvr>
                                      <p:to>
                                        <p:strVal val="visible"/>
                                      </p:to>
                                    </p:set>
                                    <p:animEffect transition="in" filter="wipe(down)">
                                      <p:cBhvr>
                                        <p:cTn id="63" dur="1000"/>
                                        <p:tgtEl>
                                          <p:spTgt spid="238"/>
                                        </p:tgtEl>
                                      </p:cBhvr>
                                    </p:animEffect>
                                  </p:childTnLst>
                                </p:cTn>
                              </p:par>
                              <p:par>
                                <p:cTn id="64" presetID="22" presetClass="exit" presetSubtype="8" fill="hold" grpId="0" nodeType="withEffect">
                                  <p:stCondLst>
                                    <p:cond delay="0"/>
                                  </p:stCondLst>
                                  <p:childTnLst>
                                    <p:animEffect transition="out" filter="wipe(left)">
                                      <p:cBhvr>
                                        <p:cTn id="65" dur="3000"/>
                                        <p:tgtEl>
                                          <p:spTgt spid="269"/>
                                        </p:tgtEl>
                                      </p:cBhvr>
                                    </p:animEffect>
                                    <p:set>
                                      <p:cBhvr>
                                        <p:cTn id="66" dur="1" fill="hold">
                                          <p:stCondLst>
                                            <p:cond delay="2999"/>
                                          </p:stCondLst>
                                        </p:cTn>
                                        <p:tgtEl>
                                          <p:spTgt spid="269"/>
                                        </p:tgtEl>
                                        <p:attrNameLst>
                                          <p:attrName>style.visibility</p:attrName>
                                        </p:attrNameLst>
                                      </p:cBhvr>
                                      <p:to>
                                        <p:strVal val="hidden"/>
                                      </p:to>
                                    </p:set>
                                  </p:childTnLst>
                                </p:cTn>
                              </p:par>
                              <p:par>
                                <p:cTn id="67" presetID="1" presetClass="entr" presetSubtype="0" fill="hold" grpId="0" nodeType="withEffect">
                                  <p:stCondLst>
                                    <p:cond delay="1000"/>
                                  </p:stCondLst>
                                  <p:childTnLst>
                                    <p:set>
                                      <p:cBhvr>
                                        <p:cTn id="68"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animBg="1"/>
      <p:bldP spid="219" grpId="0" animBg="1"/>
      <p:bldP spid="220" grpId="0" animBg="1"/>
      <p:bldP spid="221" grpId="0" animBg="1"/>
      <p:bldP spid="222" grpId="0" animBg="1"/>
      <p:bldP spid="223" grpId="0" animBg="1"/>
      <p:bldP spid="226" grpId="0" animBg="1"/>
      <p:bldP spid="227" grpId="0" animBg="1"/>
      <p:bldP spid="228" grpId="0" animBg="1"/>
      <p:bldP spid="230" grpId="0" animBg="1"/>
      <p:bldP spid="231" grpId="0" animBg="1"/>
      <p:bldP spid="232" grpId="0" animBg="1"/>
      <p:bldP spid="233" grpId="0" animBg="1"/>
      <p:bldP spid="234" grpId="0" animBg="1"/>
      <p:bldP spid="235" grpId="0" animBg="1"/>
      <p:bldP spid="236" grpId="0" animBg="1"/>
      <p:bldP spid="238" grpId="0" animBg="1"/>
      <p:bldP spid="239" grpId="0" animBg="1"/>
      <p:bldP spid="26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pic>
        <p:nvPicPr>
          <p:cNvPr id="24" name="Google Shape;977;p38">
            <a:extLst>
              <a:ext uri="{FF2B5EF4-FFF2-40B4-BE49-F238E27FC236}">
                <a16:creationId xmlns:a16="http://schemas.microsoft.com/office/drawing/2014/main" id="{5E226B95-5A05-199A-30CF-F165650EC24F}"/>
              </a:ext>
            </a:extLst>
          </p:cNvPr>
          <p:cNvPicPr preferRelativeResize="0">
            <a:picLocks noChangeAspect="1"/>
          </p:cNvPicPr>
          <p:nvPr/>
        </p:nvPicPr>
        <p:blipFill>
          <a:blip r:embed="rId3"/>
          <a:srcRect/>
          <a:stretch/>
        </p:blipFill>
        <p:spPr>
          <a:xfrm>
            <a:off x="7881885" y="882083"/>
            <a:ext cx="4282454" cy="1979892"/>
          </a:xfrm>
          <a:prstGeom prst="rect">
            <a:avLst/>
          </a:prstGeom>
          <a:noFill/>
          <a:ln>
            <a:noFill/>
          </a:ln>
        </p:spPr>
      </p:pic>
      <p:sp>
        <p:nvSpPr>
          <p:cNvPr id="894" name="Google Shape;894;p33"/>
          <p:cNvSpPr txBox="1">
            <a:spLocks noGrp="1"/>
          </p:cNvSpPr>
          <p:nvPr>
            <p:ph type="title"/>
          </p:nvPr>
        </p:nvSpPr>
        <p:spPr>
          <a:xfrm>
            <a:off x="0" y="-5911"/>
            <a:ext cx="11980590" cy="10972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it-IT" dirty="0"/>
              <a:t>Dynamic Model w/ Lumped Parameter Infers Membrane Properties</a:t>
            </a:r>
            <a:endParaRPr dirty="0"/>
          </a:p>
        </p:txBody>
      </p:sp>
      <p:sp>
        <p:nvSpPr>
          <p:cNvPr id="900" name="Google Shape;900;p33"/>
          <p:cNvSpPr txBox="1"/>
          <p:nvPr/>
        </p:nvSpPr>
        <p:spPr>
          <a:xfrm>
            <a:off x="192600" y="1054895"/>
            <a:ext cx="2393900" cy="2018542"/>
          </a:xfrm>
          <a:prstGeom prst="rect">
            <a:avLst/>
          </a:prstGeom>
          <a:blipFill rotWithShape="1">
            <a:blip r:embed="rId4">
              <a:alphaModFix/>
            </a:blip>
            <a:stretch>
              <a:fillRect b="-1988"/>
            </a:stretch>
          </a:blipFill>
          <a:ln w="9525" cap="flat" cmpd="sng">
            <a:solidFill>
              <a:srgbClr val="B08E0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latin typeface="Arial"/>
                <a:ea typeface="Arial"/>
                <a:cs typeface="Arial"/>
                <a:sym typeface="Arial"/>
              </a:rPr>
              <a:t> </a:t>
            </a:r>
            <a:endParaRPr dirty="0"/>
          </a:p>
        </p:txBody>
      </p:sp>
      <p:sp>
        <p:nvSpPr>
          <p:cNvPr id="901" name="Google Shape;901;p33"/>
          <p:cNvSpPr txBox="1">
            <a:spLocks noChangeAspect="1"/>
          </p:cNvSpPr>
          <p:nvPr/>
        </p:nvSpPr>
        <p:spPr>
          <a:xfrm>
            <a:off x="5601910" y="1387651"/>
            <a:ext cx="2602016" cy="1463040"/>
          </a:xfrm>
          <a:prstGeom prst="rect">
            <a:avLst/>
          </a:prstGeom>
          <a:blipFill rotWithShape="1">
            <a:blip r:embed="rId5">
              <a:alphaModFix/>
            </a:blip>
            <a:stretch>
              <a:fillRect b="-1437"/>
            </a:stretch>
          </a:blipFill>
          <a:ln w="9525" cap="flat" cmpd="sng">
            <a:solidFill>
              <a:srgbClr val="CCB45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latin typeface="Arial"/>
                <a:ea typeface="Arial"/>
                <a:cs typeface="Arial"/>
                <a:sym typeface="Arial"/>
              </a:rPr>
              <a:t> </a:t>
            </a:r>
            <a:endParaRPr dirty="0"/>
          </a:p>
        </p:txBody>
      </p:sp>
      <p:pic>
        <p:nvPicPr>
          <p:cNvPr id="2" name="Picture 1">
            <a:extLst>
              <a:ext uri="{FF2B5EF4-FFF2-40B4-BE49-F238E27FC236}">
                <a16:creationId xmlns:a16="http://schemas.microsoft.com/office/drawing/2014/main" id="{D6480DF0-6098-45B3-82C4-6F6C00A79A31}"/>
              </a:ext>
            </a:extLst>
          </p:cNvPr>
          <p:cNvPicPr>
            <a:picLocks noChangeAspect="1"/>
          </p:cNvPicPr>
          <p:nvPr/>
        </p:nvPicPr>
        <p:blipFill>
          <a:blip r:embed="rId6"/>
          <a:stretch>
            <a:fillRect/>
          </a:stretch>
        </p:blipFill>
        <p:spPr>
          <a:xfrm>
            <a:off x="37000" y="5166864"/>
            <a:ext cx="2560320" cy="1116945"/>
          </a:xfrm>
          <a:prstGeom prst="rect">
            <a:avLst/>
          </a:prstGeom>
        </p:spPr>
      </p:pic>
      <p:grpSp>
        <p:nvGrpSpPr>
          <p:cNvPr id="5" name="Group 4">
            <a:extLst>
              <a:ext uri="{FF2B5EF4-FFF2-40B4-BE49-F238E27FC236}">
                <a16:creationId xmlns:a16="http://schemas.microsoft.com/office/drawing/2014/main" id="{D42EFE23-4276-4177-8AAE-4AB26AFC2DC1}"/>
              </a:ext>
            </a:extLst>
          </p:cNvPr>
          <p:cNvGrpSpPr/>
          <p:nvPr/>
        </p:nvGrpSpPr>
        <p:grpSpPr>
          <a:xfrm>
            <a:off x="165637" y="3525317"/>
            <a:ext cx="2498811" cy="1381050"/>
            <a:chOff x="3962644" y="5098096"/>
            <a:chExt cx="2876307" cy="1589687"/>
          </a:xfrm>
        </p:grpSpPr>
        <p:pic>
          <p:nvPicPr>
            <p:cNvPr id="13" name="Picture 12" descr="Text, letter&#10;&#10;Description automatically generated">
              <a:extLst>
                <a:ext uri="{FF2B5EF4-FFF2-40B4-BE49-F238E27FC236}">
                  <a16:creationId xmlns:a16="http://schemas.microsoft.com/office/drawing/2014/main" id="{8A6C259E-C0DB-4752-9650-E11B1312C13B}"/>
                </a:ext>
              </a:extLst>
            </p:cNvPr>
            <p:cNvPicPr>
              <a:picLocks noChangeAspect="1"/>
            </p:cNvPicPr>
            <p:nvPr/>
          </p:nvPicPr>
          <p:blipFill rotWithShape="1">
            <a:blip r:embed="rId7"/>
            <a:srcRect r="59472" b="61737"/>
            <a:stretch/>
          </p:blipFill>
          <p:spPr>
            <a:xfrm>
              <a:off x="4317967" y="5726156"/>
              <a:ext cx="1588697" cy="506397"/>
            </a:xfrm>
            <a:prstGeom prst="rect">
              <a:avLst/>
            </a:prstGeom>
          </p:spPr>
        </p:pic>
        <p:pic>
          <p:nvPicPr>
            <p:cNvPr id="14" name="Picture 13" descr="Text, letter&#10;&#10;Description automatically generated">
              <a:extLst>
                <a:ext uri="{FF2B5EF4-FFF2-40B4-BE49-F238E27FC236}">
                  <a16:creationId xmlns:a16="http://schemas.microsoft.com/office/drawing/2014/main" id="{383E6953-E5AD-41E6-89BA-C5F8D7203030}"/>
                </a:ext>
              </a:extLst>
            </p:cNvPr>
            <p:cNvPicPr>
              <a:picLocks noChangeAspect="1"/>
            </p:cNvPicPr>
            <p:nvPr/>
          </p:nvPicPr>
          <p:blipFill rotWithShape="1">
            <a:blip r:embed="rId7"/>
            <a:srcRect t="61289" r="44624"/>
            <a:stretch/>
          </p:blipFill>
          <p:spPr>
            <a:xfrm>
              <a:off x="4085166" y="6175440"/>
              <a:ext cx="2170776" cy="512343"/>
            </a:xfrm>
            <a:prstGeom prst="rect">
              <a:avLst/>
            </a:prstGeom>
          </p:spPr>
        </p:pic>
        <p:sp>
          <p:nvSpPr>
            <p:cNvPr id="4" name="TextBox 3">
              <a:extLst>
                <a:ext uri="{FF2B5EF4-FFF2-40B4-BE49-F238E27FC236}">
                  <a16:creationId xmlns:a16="http://schemas.microsoft.com/office/drawing/2014/main" id="{0B8D0412-4ADD-4F0B-A069-5E25FEBCA680}"/>
                </a:ext>
              </a:extLst>
            </p:cNvPr>
            <p:cNvSpPr txBox="1"/>
            <p:nvPr/>
          </p:nvSpPr>
          <p:spPr>
            <a:xfrm>
              <a:off x="3962644" y="5098096"/>
              <a:ext cx="2876307" cy="637690"/>
            </a:xfrm>
            <a:prstGeom prst="rect">
              <a:avLst/>
            </a:prstGeom>
            <a:noFill/>
          </p:spPr>
          <p:txBody>
            <a:bodyPr wrap="square" rtlCol="0">
              <a:spAutoFit/>
            </a:bodyPr>
            <a:lstStyle/>
            <a:p>
              <a:r>
                <a:rPr lang="en-US" sz="1500" dirty="0"/>
                <a:t>Concentration </a:t>
              </a:r>
            </a:p>
            <a:p>
              <a:r>
                <a:rPr lang="en-US" sz="1500" dirty="0"/>
                <a:t>polarization</a:t>
              </a:r>
            </a:p>
          </p:txBody>
        </p:sp>
      </p:grpSp>
      <p:grpSp>
        <p:nvGrpSpPr>
          <p:cNvPr id="7" name="Group 6">
            <a:extLst>
              <a:ext uri="{FF2B5EF4-FFF2-40B4-BE49-F238E27FC236}">
                <a16:creationId xmlns:a16="http://schemas.microsoft.com/office/drawing/2014/main" id="{1D96A686-1159-4D91-3E5F-CAFD41DCB101}"/>
              </a:ext>
            </a:extLst>
          </p:cNvPr>
          <p:cNvGrpSpPr/>
          <p:nvPr/>
        </p:nvGrpSpPr>
        <p:grpSpPr>
          <a:xfrm>
            <a:off x="2586500" y="882082"/>
            <a:ext cx="3418108" cy="1812734"/>
            <a:chOff x="2634125" y="841740"/>
            <a:chExt cx="3418108" cy="1812734"/>
          </a:xfrm>
        </p:grpSpPr>
        <p:pic>
          <p:nvPicPr>
            <p:cNvPr id="3" name="Picture 2">
              <a:extLst>
                <a:ext uri="{FF2B5EF4-FFF2-40B4-BE49-F238E27FC236}">
                  <a16:creationId xmlns:a16="http://schemas.microsoft.com/office/drawing/2014/main" id="{4B2919CD-8554-494E-B1CF-85349C3A9747}"/>
                </a:ext>
              </a:extLst>
            </p:cNvPr>
            <p:cNvPicPr>
              <a:picLocks noChangeAspect="1"/>
            </p:cNvPicPr>
            <p:nvPr/>
          </p:nvPicPr>
          <p:blipFill>
            <a:blip r:embed="rId8"/>
            <a:stretch>
              <a:fillRect/>
            </a:stretch>
          </p:blipFill>
          <p:spPr>
            <a:xfrm>
              <a:off x="2634125" y="841740"/>
              <a:ext cx="3418108" cy="1812734"/>
            </a:xfrm>
            <a:prstGeom prst="rect">
              <a:avLst/>
            </a:prstGeom>
          </p:spPr>
        </p:pic>
        <p:sp>
          <p:nvSpPr>
            <p:cNvPr id="6" name="Rectangle 5">
              <a:extLst>
                <a:ext uri="{FF2B5EF4-FFF2-40B4-BE49-F238E27FC236}">
                  <a16:creationId xmlns:a16="http://schemas.microsoft.com/office/drawing/2014/main" id="{6C7F1466-1885-4756-A74B-49F6C9854854}"/>
                </a:ext>
              </a:extLst>
            </p:cNvPr>
            <p:cNvSpPr/>
            <p:nvPr/>
          </p:nvSpPr>
          <p:spPr>
            <a:xfrm>
              <a:off x="3911258" y="1287357"/>
              <a:ext cx="273772" cy="2788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99A1AC2-C7C0-4F13-86E4-A94F3B51D403}"/>
                </a:ext>
              </a:extLst>
            </p:cNvPr>
            <p:cNvSpPr/>
            <p:nvPr/>
          </p:nvSpPr>
          <p:spPr>
            <a:xfrm>
              <a:off x="4784798" y="1287357"/>
              <a:ext cx="183846" cy="262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601EB4-5513-4648-8E8E-75B4E89B54E0}"/>
                </a:ext>
              </a:extLst>
            </p:cNvPr>
            <p:cNvSpPr/>
            <p:nvPr/>
          </p:nvSpPr>
          <p:spPr>
            <a:xfrm>
              <a:off x="4048183" y="2326033"/>
              <a:ext cx="218631" cy="2649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Slide Number Placeholder 10">
            <a:extLst>
              <a:ext uri="{FF2B5EF4-FFF2-40B4-BE49-F238E27FC236}">
                <a16:creationId xmlns:a16="http://schemas.microsoft.com/office/drawing/2014/main" id="{FFF8D1EB-1348-B466-876B-B5F2ABD41B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grpSp>
        <p:nvGrpSpPr>
          <p:cNvPr id="20" name="Group 19">
            <a:extLst>
              <a:ext uri="{FF2B5EF4-FFF2-40B4-BE49-F238E27FC236}">
                <a16:creationId xmlns:a16="http://schemas.microsoft.com/office/drawing/2014/main" id="{C0BCB5EA-703A-08B8-2456-A1B9301F8620}"/>
              </a:ext>
            </a:extLst>
          </p:cNvPr>
          <p:cNvGrpSpPr/>
          <p:nvPr/>
        </p:nvGrpSpPr>
        <p:grpSpPr>
          <a:xfrm>
            <a:off x="2665949" y="3105123"/>
            <a:ext cx="9467909" cy="3170195"/>
            <a:chOff x="2665949" y="3293381"/>
            <a:chExt cx="9467909" cy="3170195"/>
          </a:xfrm>
        </p:grpSpPr>
        <p:pic>
          <p:nvPicPr>
            <p:cNvPr id="8" name="Picture 7">
              <a:extLst>
                <a:ext uri="{FF2B5EF4-FFF2-40B4-BE49-F238E27FC236}">
                  <a16:creationId xmlns:a16="http://schemas.microsoft.com/office/drawing/2014/main" id="{18D9341F-1861-2DC5-48B0-37622B72FC1C}"/>
                </a:ext>
              </a:extLst>
            </p:cNvPr>
            <p:cNvPicPr>
              <a:picLocks noChangeAspect="1"/>
            </p:cNvPicPr>
            <p:nvPr/>
          </p:nvPicPr>
          <p:blipFill>
            <a:blip r:embed="rId9"/>
            <a:stretch>
              <a:fillRect/>
            </a:stretch>
          </p:blipFill>
          <p:spPr>
            <a:xfrm>
              <a:off x="2665949" y="3293381"/>
              <a:ext cx="9467909" cy="3170195"/>
            </a:xfrm>
            <a:prstGeom prst="rect">
              <a:avLst/>
            </a:prstGeom>
          </p:spPr>
        </p:pic>
        <p:pic>
          <p:nvPicPr>
            <p:cNvPr id="18" name="Picture 17">
              <a:extLst>
                <a:ext uri="{FF2B5EF4-FFF2-40B4-BE49-F238E27FC236}">
                  <a16:creationId xmlns:a16="http://schemas.microsoft.com/office/drawing/2014/main" id="{D1151B69-1CAF-C939-F424-0641169DF8CC}"/>
                </a:ext>
              </a:extLst>
            </p:cNvPr>
            <p:cNvPicPr>
              <a:picLocks noChangeAspect="1"/>
            </p:cNvPicPr>
            <p:nvPr/>
          </p:nvPicPr>
          <p:blipFill>
            <a:blip r:embed="rId10"/>
            <a:srcRect l="1" t="1" r="10698" b="-1"/>
            <a:stretch/>
          </p:blipFill>
          <p:spPr>
            <a:xfrm>
              <a:off x="5489972" y="5829773"/>
              <a:ext cx="126635" cy="163834"/>
            </a:xfrm>
            <a:prstGeom prst="rect">
              <a:avLst/>
            </a:prstGeom>
          </p:spPr>
        </p:pic>
        <p:pic>
          <p:nvPicPr>
            <p:cNvPr id="19" name="Picture 18">
              <a:extLst>
                <a:ext uri="{FF2B5EF4-FFF2-40B4-BE49-F238E27FC236}">
                  <a16:creationId xmlns:a16="http://schemas.microsoft.com/office/drawing/2014/main" id="{05219D7D-3CB5-35AC-BC85-36C8596B5534}"/>
                </a:ext>
              </a:extLst>
            </p:cNvPr>
            <p:cNvPicPr>
              <a:picLocks noChangeAspect="1"/>
            </p:cNvPicPr>
            <p:nvPr/>
          </p:nvPicPr>
          <p:blipFill>
            <a:blip r:embed="rId10"/>
            <a:srcRect l="1" t="1" r="10698" b="-1"/>
            <a:stretch/>
          </p:blipFill>
          <p:spPr>
            <a:xfrm>
              <a:off x="6880622" y="5643419"/>
              <a:ext cx="126635" cy="163834"/>
            </a:xfrm>
            <a:prstGeom prst="rect">
              <a:avLst/>
            </a:prstGeom>
          </p:spPr>
        </p:pic>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89FC749-CAA4-506F-B750-73BEB7784166}"/>
                  </a:ext>
                </a:extLst>
              </p:cNvPr>
              <p:cNvSpPr txBox="1"/>
              <p:nvPr/>
            </p:nvSpPr>
            <p:spPr>
              <a:xfrm>
                <a:off x="3101982" y="6384548"/>
                <a:ext cx="6849760" cy="603691"/>
              </a:xfrm>
              <a:prstGeom prst="rect">
                <a:avLst/>
              </a:prstGeom>
              <a:noFill/>
            </p:spPr>
            <p:txBody>
              <a:bodyPr wrap="none" rtlCol="0">
                <a:spAutoFit/>
              </a:bodyPr>
              <a:lstStyle/>
              <a:p>
                <a:r>
                  <a:rPr lang="en-US" b="1" dirty="0">
                    <a:solidFill>
                      <a:schemeClr val="tx1"/>
                    </a:solidFill>
                  </a:rPr>
                  <a:t>Parameter Estimation</a:t>
                </a:r>
                <a:r>
                  <a:rPr lang="en-US" dirty="0">
                    <a:solidFill>
                      <a:schemeClr val="tx1"/>
                    </a:solidFill>
                  </a:rPr>
                  <a:t>: </a:t>
                </a:r>
                <a14:m>
                  <m:oMath xmlns:m="http://schemas.openxmlformats.org/officeDocument/2006/math">
                    <m:acc>
                      <m:accPr>
                        <m:chr m:val="̂"/>
                        <m:ctrlPr>
                          <a:rPr lang="en-US" i="1">
                            <a:solidFill>
                              <a:schemeClr val="tx1"/>
                            </a:solidFill>
                            <a:latin typeface="Cambria Math" panose="02040503050406030204" pitchFamily="18" charset="0"/>
                          </a:rPr>
                        </m:ctrlPr>
                      </m:accPr>
                      <m:e>
                        <m:r>
                          <a:rPr lang="en-US" b="0" i="1">
                            <a:solidFill>
                              <a:schemeClr val="tx1"/>
                            </a:solidFill>
                            <a:latin typeface="Cambria Math" panose="02040503050406030204" pitchFamily="18" charset="0"/>
                          </a:rPr>
                          <m:t>𝜃</m:t>
                        </m:r>
                      </m:e>
                    </m:acc>
                    <m:r>
                      <a:rPr lang="en-US" b="0" i="1" dirty="0">
                        <a:solidFill>
                          <a:schemeClr val="tx1"/>
                        </a:solidFill>
                        <a:latin typeface="Cambria Math" panose="02040503050406030204" pitchFamily="18" charset="0"/>
                      </a:rPr>
                      <m:t>=</m:t>
                    </m:r>
                    <m:func>
                      <m:funcPr>
                        <m:ctrlPr>
                          <a:rPr lang="en-US" i="1" dirty="0">
                            <a:solidFill>
                              <a:schemeClr val="tx1"/>
                            </a:solidFill>
                            <a:latin typeface="Cambria Math" panose="02040503050406030204" pitchFamily="18" charset="0"/>
                          </a:rPr>
                        </m:ctrlPr>
                      </m:funcPr>
                      <m:fName>
                        <m:r>
                          <a:rPr lang="en-US" b="0" i="1" dirty="0">
                            <a:solidFill>
                              <a:schemeClr val="tx1"/>
                            </a:solidFill>
                            <a:latin typeface="Cambria Math" panose="02040503050406030204" pitchFamily="18" charset="0"/>
                          </a:rPr>
                          <m:t>𝑎𝑟𝑔</m:t>
                        </m:r>
                      </m:fName>
                      <m:e>
                        <m:func>
                          <m:funcPr>
                            <m:ctrlPr>
                              <a:rPr lang="en-US" i="1" dirty="0">
                                <a:solidFill>
                                  <a:schemeClr val="tx1"/>
                                </a:solidFill>
                                <a:latin typeface="Cambria Math" panose="02040503050406030204" pitchFamily="18" charset="0"/>
                              </a:rPr>
                            </m:ctrlPr>
                          </m:funcPr>
                          <m:fName>
                            <m:limLow>
                              <m:limLowPr>
                                <m:ctrlPr>
                                  <a:rPr lang="en-US" i="1" dirty="0">
                                    <a:solidFill>
                                      <a:schemeClr val="tx1"/>
                                    </a:solidFill>
                                    <a:latin typeface="Cambria Math" panose="02040503050406030204" pitchFamily="18" charset="0"/>
                                  </a:rPr>
                                </m:ctrlPr>
                              </m:limLowPr>
                              <m:e>
                                <m:r>
                                  <a:rPr lang="en-US" b="0" i="1" dirty="0">
                                    <a:solidFill>
                                      <a:schemeClr val="tx1"/>
                                    </a:solidFill>
                                    <a:latin typeface="Cambria Math" panose="02040503050406030204" pitchFamily="18" charset="0"/>
                                  </a:rPr>
                                  <m:t>𝑚𝑖𝑛</m:t>
                                </m:r>
                              </m:e>
                              <m:lim>
                                <m:r>
                                  <a:rPr lang="en-US" b="0" i="1" dirty="0">
                                    <a:solidFill>
                                      <a:schemeClr val="tx1"/>
                                    </a:solidFill>
                                    <a:latin typeface="Cambria Math" panose="02040503050406030204" pitchFamily="18" charset="0"/>
                                  </a:rPr>
                                  <m:t>𝜃</m:t>
                                </m:r>
                              </m:lim>
                            </m:limLow>
                          </m:fName>
                          <m:e>
                            <m:r>
                              <a:rPr lang="en-US" b="0" i="1" dirty="0" smtClean="0">
                                <a:solidFill>
                                  <a:schemeClr val="tx1"/>
                                </a:solidFill>
                                <a:latin typeface="Cambria Math" panose="02040503050406030204" pitchFamily="18" charset="0"/>
                              </a:rPr>
                              <m:t>(</m:t>
                            </m:r>
                            <m:func>
                              <m:funcPr>
                                <m:ctrlPr>
                                  <a:rPr lang="en-US" i="1" dirty="0" smtClean="0">
                                    <a:solidFill>
                                      <a:schemeClr val="tx1"/>
                                    </a:solidFill>
                                    <a:latin typeface="Cambria Math" panose="02040503050406030204" pitchFamily="18" charset="0"/>
                                  </a:rPr>
                                </m:ctrlPr>
                              </m:funcPr>
                              <m:fName>
                                <m:r>
                                  <m:rPr>
                                    <m:sty m:val="p"/>
                                  </m:rPr>
                                  <a:rPr lang="en-US" b="0" i="0" dirty="0" smtClean="0">
                                    <a:solidFill>
                                      <a:schemeClr val="tx1"/>
                                    </a:solidFill>
                                    <a:latin typeface="Cambria Math" panose="02040503050406030204" pitchFamily="18" charset="0"/>
                                  </a:rPr>
                                  <m:t>ln</m:t>
                                </m:r>
                              </m:fName>
                              <m:e>
                                <m:r>
                                  <a:rPr lang="en-US" b="0" i="1" dirty="0" smtClean="0">
                                    <a:solidFill>
                                      <a:schemeClr val="tx1"/>
                                    </a:solidFill>
                                    <a:latin typeface="Cambria Math" panose="02040503050406030204" pitchFamily="18" charset="0"/>
                                    <a:ea typeface="Cambria Math" panose="02040503050406030204" pitchFamily="18" charset="0"/>
                                  </a:rPr>
                                  <m:t>ℒ</m:t>
                                </m:r>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ea typeface="Cambria Math" panose="02040503050406030204" pitchFamily="18" charset="0"/>
                                  </a:rPr>
                                  <m:t>𝜃</m:t>
                                </m:r>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ea typeface="Cambria Math" panose="02040503050406030204" pitchFamily="18" charset="0"/>
                                  </a:rPr>
                                  <m:t>𝑦</m:t>
                                </m:r>
                                <m:r>
                                  <a:rPr lang="en-US" b="0" i="1" dirty="0" smtClean="0">
                                    <a:solidFill>
                                      <a:schemeClr val="tx1"/>
                                    </a:solidFill>
                                    <a:latin typeface="Cambria Math" panose="02040503050406030204" pitchFamily="18" charset="0"/>
                                    <a:ea typeface="Cambria Math" panose="02040503050406030204" pitchFamily="18" charset="0"/>
                                  </a:rPr>
                                  <m:t>)</m:t>
                                </m:r>
                              </m:e>
                            </m:func>
                            <m:r>
                              <a:rPr lang="en-US" b="0" i="1" dirty="0" smtClean="0">
                                <a:solidFill>
                                  <a:schemeClr val="tx1"/>
                                </a:solidFill>
                                <a:latin typeface="Cambria Math" panose="02040503050406030204" pitchFamily="18" charset="0"/>
                              </a:rPr>
                              <m:t>)</m:t>
                            </m:r>
                          </m:e>
                        </m:func>
                      </m:e>
                    </m:func>
                    <m:r>
                      <a:rPr lang="en-US" b="0" i="1" dirty="0" smtClean="0">
                        <a:solidFill>
                          <a:schemeClr val="tx1"/>
                        </a:solidFill>
                        <a:latin typeface="Cambria Math" panose="02040503050406030204" pitchFamily="18" charset="0"/>
                      </a:rPr>
                      <m:t>=</m:t>
                    </m:r>
                    <m:func>
                      <m:funcPr>
                        <m:ctrlPr>
                          <a:rPr lang="en-US" i="1" dirty="0">
                            <a:solidFill>
                              <a:schemeClr val="tx1"/>
                            </a:solidFill>
                            <a:latin typeface="Cambria Math" panose="02040503050406030204" pitchFamily="18" charset="0"/>
                          </a:rPr>
                        </m:ctrlPr>
                      </m:funcPr>
                      <m:fName>
                        <m:r>
                          <a:rPr lang="en-US" b="0" i="1" dirty="0">
                            <a:solidFill>
                              <a:schemeClr val="tx1"/>
                            </a:solidFill>
                            <a:latin typeface="Cambria Math" panose="02040503050406030204" pitchFamily="18" charset="0"/>
                          </a:rPr>
                          <m:t>𝑎𝑟𝑔</m:t>
                        </m:r>
                      </m:fName>
                      <m:e>
                        <m:func>
                          <m:funcPr>
                            <m:ctrlPr>
                              <a:rPr lang="en-US" i="1" dirty="0">
                                <a:solidFill>
                                  <a:schemeClr val="tx1"/>
                                </a:solidFill>
                                <a:latin typeface="Cambria Math" panose="02040503050406030204" pitchFamily="18" charset="0"/>
                              </a:rPr>
                            </m:ctrlPr>
                          </m:funcPr>
                          <m:fName>
                            <m:limLow>
                              <m:limLowPr>
                                <m:ctrlPr>
                                  <a:rPr lang="en-US" i="1" dirty="0">
                                    <a:solidFill>
                                      <a:schemeClr val="tx1"/>
                                    </a:solidFill>
                                    <a:latin typeface="Cambria Math" panose="02040503050406030204" pitchFamily="18" charset="0"/>
                                  </a:rPr>
                                </m:ctrlPr>
                              </m:limLowPr>
                              <m:e>
                                <m:r>
                                  <a:rPr lang="en-US" b="0" i="1" dirty="0">
                                    <a:solidFill>
                                      <a:schemeClr val="tx1"/>
                                    </a:solidFill>
                                    <a:latin typeface="Cambria Math" panose="02040503050406030204" pitchFamily="18" charset="0"/>
                                  </a:rPr>
                                  <m:t>𝑚𝑖𝑛</m:t>
                                </m:r>
                              </m:e>
                              <m:lim>
                                <m:r>
                                  <a:rPr lang="en-US" b="0" i="1" dirty="0">
                                    <a:solidFill>
                                      <a:schemeClr val="tx1"/>
                                    </a:solidFill>
                                    <a:latin typeface="Cambria Math" panose="02040503050406030204" pitchFamily="18" charset="0"/>
                                  </a:rPr>
                                  <m:t>𝜃</m:t>
                                </m:r>
                              </m:lim>
                            </m:limLow>
                          </m:fName>
                          <m:e>
                            <m:nary>
                              <m:naryPr>
                                <m:chr m:val="∑"/>
                                <m:supHide m:val="on"/>
                                <m:ctrlPr>
                                  <a:rPr lang="en-US" i="1" dirty="0">
                                    <a:solidFill>
                                      <a:schemeClr val="tx1"/>
                                    </a:solidFill>
                                    <a:latin typeface="Cambria Math" panose="02040503050406030204" pitchFamily="18" charset="0"/>
                                  </a:rPr>
                                </m:ctrlPr>
                              </m:naryPr>
                              <m:sub>
                                <m:r>
                                  <m:rPr>
                                    <m:brk m:alnAt="7"/>
                                  </m:rPr>
                                  <a:rPr lang="en-US" b="0" i="1" dirty="0">
                                    <a:solidFill>
                                      <a:schemeClr val="tx1"/>
                                    </a:solidFill>
                                    <a:latin typeface="Cambria Math" panose="02040503050406030204" pitchFamily="18" charset="0"/>
                                  </a:rPr>
                                  <m:t>𝑟</m:t>
                                </m:r>
                              </m:sub>
                              <m:sup/>
                              <m:e>
                                <m:sSup>
                                  <m:sSupPr>
                                    <m:ctrlPr>
                                      <a:rPr lang="en-US" i="1" dirty="0">
                                        <a:solidFill>
                                          <a:schemeClr val="tx1"/>
                                        </a:solidFill>
                                        <a:latin typeface="Cambria Math" panose="02040503050406030204" pitchFamily="18" charset="0"/>
                                      </a:rPr>
                                    </m:ctrlPr>
                                  </m:sSupPr>
                                  <m:e>
                                    <m:d>
                                      <m:dPr>
                                        <m:ctrlPr>
                                          <a:rPr lang="en-US" i="1" dirty="0">
                                            <a:solidFill>
                                              <a:schemeClr val="tx1"/>
                                            </a:solidFill>
                                            <a:latin typeface="Cambria Math" panose="02040503050406030204" pitchFamily="18" charset="0"/>
                                          </a:rPr>
                                        </m:ctrlPr>
                                      </m:dPr>
                                      <m:e>
                                        <m:sSub>
                                          <m:sSubPr>
                                            <m:ctrlPr>
                                              <a:rPr lang="en-US"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𝑦</m:t>
                                            </m:r>
                                          </m:e>
                                          <m:sub>
                                            <m:r>
                                              <a:rPr lang="en-US" b="0" i="1" dirty="0">
                                                <a:solidFill>
                                                  <a:schemeClr val="tx1"/>
                                                </a:solidFill>
                                                <a:latin typeface="Cambria Math" panose="02040503050406030204" pitchFamily="18" charset="0"/>
                                              </a:rPr>
                                              <m:t>𝑟</m:t>
                                            </m:r>
                                          </m:sub>
                                        </m:sSub>
                                        <m:r>
                                          <a:rPr lang="en-US" b="0"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acc>
                                              <m:accPr>
                                                <m:chr m:val="̂"/>
                                                <m:ctrlPr>
                                                  <a:rPr lang="en-US" i="1" dirty="0">
                                                    <a:solidFill>
                                                      <a:schemeClr val="tx1"/>
                                                    </a:solidFill>
                                                    <a:latin typeface="Cambria Math" panose="02040503050406030204" pitchFamily="18" charset="0"/>
                                                  </a:rPr>
                                                </m:ctrlPr>
                                              </m:accPr>
                                              <m:e>
                                                <m:r>
                                                  <a:rPr lang="en-US" b="0" i="1" dirty="0">
                                                    <a:solidFill>
                                                      <a:schemeClr val="tx1"/>
                                                    </a:solidFill>
                                                    <a:latin typeface="Cambria Math" panose="02040503050406030204" pitchFamily="18" charset="0"/>
                                                  </a:rPr>
                                                  <m:t>𝑦</m:t>
                                                </m:r>
                                              </m:e>
                                            </m:acc>
                                          </m:e>
                                          <m:sub>
                                            <m:r>
                                              <a:rPr lang="en-US" b="0" i="1" dirty="0">
                                                <a:solidFill>
                                                  <a:schemeClr val="tx1"/>
                                                </a:solidFill>
                                                <a:latin typeface="Cambria Math" panose="02040503050406030204" pitchFamily="18" charset="0"/>
                                              </a:rPr>
                                              <m:t>𝑟</m:t>
                                            </m:r>
                                          </m:sub>
                                        </m:sSub>
                                      </m:e>
                                    </m:d>
                                  </m:e>
                                  <m:sup>
                                    <m:r>
                                      <a:rPr lang="en-US" b="0" i="1" dirty="0">
                                        <a:solidFill>
                                          <a:schemeClr val="tx1"/>
                                        </a:solidFill>
                                        <a:latin typeface="Cambria Math" panose="02040503050406030204" pitchFamily="18" charset="0"/>
                                      </a:rPr>
                                      <m:t>𝑇</m:t>
                                    </m:r>
                                  </m:sup>
                                </m:sSup>
                                <m:sSubSup>
                                  <m:sSubSupPr>
                                    <m:ctrlPr>
                                      <a:rPr lang="en-US" i="1" dirty="0">
                                        <a:solidFill>
                                          <a:schemeClr val="tx1"/>
                                        </a:solidFill>
                                        <a:latin typeface="Cambria Math" panose="02040503050406030204" pitchFamily="18" charset="0"/>
                                      </a:rPr>
                                    </m:ctrlPr>
                                  </m:sSubSupPr>
                                  <m:e>
                                    <m:r>
                                      <a:rPr lang="en-US" b="0" i="1" dirty="0">
                                        <a:solidFill>
                                          <a:schemeClr val="tx1"/>
                                        </a:solidFill>
                                        <a:latin typeface="Cambria Math" panose="02040503050406030204" pitchFamily="18" charset="0"/>
                                      </a:rPr>
                                      <m:t>𝑉</m:t>
                                    </m:r>
                                  </m:e>
                                  <m:sub>
                                    <m:r>
                                      <a:rPr lang="en-US" b="0" i="1" dirty="0">
                                        <a:solidFill>
                                          <a:schemeClr val="tx1"/>
                                        </a:solidFill>
                                        <a:latin typeface="Cambria Math" panose="02040503050406030204" pitchFamily="18" charset="0"/>
                                      </a:rPr>
                                      <m:t>𝑟</m:t>
                                    </m:r>
                                  </m:sub>
                                  <m:sup>
                                    <m:r>
                                      <a:rPr lang="en-US" b="0" i="1" dirty="0">
                                        <a:solidFill>
                                          <a:schemeClr val="tx1"/>
                                        </a:solidFill>
                                        <a:latin typeface="Cambria Math" panose="02040503050406030204" pitchFamily="18" charset="0"/>
                                      </a:rPr>
                                      <m:t>−1</m:t>
                                    </m:r>
                                  </m:sup>
                                </m:sSubSup>
                                <m:d>
                                  <m:dPr>
                                    <m:ctrlPr>
                                      <a:rPr lang="en-US" i="1" dirty="0">
                                        <a:solidFill>
                                          <a:schemeClr val="tx1"/>
                                        </a:solidFill>
                                        <a:latin typeface="Cambria Math" panose="02040503050406030204" pitchFamily="18" charset="0"/>
                                      </a:rPr>
                                    </m:ctrlPr>
                                  </m:dPr>
                                  <m:e>
                                    <m:sSub>
                                      <m:sSubPr>
                                        <m:ctrlPr>
                                          <a:rPr lang="en-US" i="1" dirty="0">
                                            <a:solidFill>
                                              <a:schemeClr val="tx1"/>
                                            </a:solidFill>
                                            <a:latin typeface="Cambria Math" panose="02040503050406030204" pitchFamily="18" charset="0"/>
                                          </a:rPr>
                                        </m:ctrlPr>
                                      </m:sSubPr>
                                      <m:e>
                                        <m:r>
                                          <a:rPr lang="en-US" b="0" i="1" dirty="0">
                                            <a:solidFill>
                                              <a:schemeClr val="tx1"/>
                                            </a:solidFill>
                                            <a:latin typeface="Cambria Math" panose="02040503050406030204" pitchFamily="18" charset="0"/>
                                          </a:rPr>
                                          <m:t>𝑦</m:t>
                                        </m:r>
                                      </m:e>
                                      <m:sub>
                                        <m:r>
                                          <a:rPr lang="en-US" b="0" i="1" dirty="0">
                                            <a:solidFill>
                                              <a:schemeClr val="tx1"/>
                                            </a:solidFill>
                                            <a:latin typeface="Cambria Math" panose="02040503050406030204" pitchFamily="18" charset="0"/>
                                          </a:rPr>
                                          <m:t>𝑟</m:t>
                                        </m:r>
                                      </m:sub>
                                    </m:sSub>
                                    <m:r>
                                      <a:rPr lang="en-US" b="0" i="1" dirty="0">
                                        <a:solidFill>
                                          <a:schemeClr val="tx1"/>
                                        </a:solidFill>
                                        <a:latin typeface="Cambria Math" panose="02040503050406030204" pitchFamily="18" charset="0"/>
                                      </a:rPr>
                                      <m:t>−</m:t>
                                    </m:r>
                                    <m:sSub>
                                      <m:sSubPr>
                                        <m:ctrlPr>
                                          <a:rPr lang="en-US" i="1" dirty="0">
                                            <a:solidFill>
                                              <a:schemeClr val="tx1"/>
                                            </a:solidFill>
                                            <a:latin typeface="Cambria Math" panose="02040503050406030204" pitchFamily="18" charset="0"/>
                                          </a:rPr>
                                        </m:ctrlPr>
                                      </m:sSubPr>
                                      <m:e>
                                        <m:acc>
                                          <m:accPr>
                                            <m:chr m:val="̂"/>
                                            <m:ctrlPr>
                                              <a:rPr lang="en-US" i="1" dirty="0">
                                                <a:solidFill>
                                                  <a:schemeClr val="tx1"/>
                                                </a:solidFill>
                                                <a:latin typeface="Cambria Math" panose="02040503050406030204" pitchFamily="18" charset="0"/>
                                              </a:rPr>
                                            </m:ctrlPr>
                                          </m:accPr>
                                          <m:e>
                                            <m:r>
                                              <a:rPr lang="en-US" b="0" i="1" dirty="0">
                                                <a:solidFill>
                                                  <a:schemeClr val="tx1"/>
                                                </a:solidFill>
                                                <a:latin typeface="Cambria Math" panose="02040503050406030204" pitchFamily="18" charset="0"/>
                                              </a:rPr>
                                              <m:t>𝑦</m:t>
                                            </m:r>
                                          </m:e>
                                        </m:acc>
                                      </m:e>
                                      <m:sub>
                                        <m:r>
                                          <a:rPr lang="en-US" b="0" i="1" dirty="0">
                                            <a:solidFill>
                                              <a:schemeClr val="tx1"/>
                                            </a:solidFill>
                                            <a:latin typeface="Cambria Math" panose="02040503050406030204" pitchFamily="18" charset="0"/>
                                          </a:rPr>
                                          <m:t>𝑟</m:t>
                                        </m:r>
                                      </m:sub>
                                    </m:sSub>
                                  </m:e>
                                </m:d>
                              </m:e>
                            </m:nary>
                          </m:e>
                        </m:func>
                      </m:e>
                    </m:func>
                  </m:oMath>
                </a14:m>
                <a:endParaRPr lang="en-US" dirty="0">
                  <a:solidFill>
                    <a:srgbClr val="FF9900"/>
                  </a:solidFill>
                  <a:latin typeface="Arial" pitchFamily="34" charset="0"/>
                </a:endParaRPr>
              </a:p>
              <a:p>
                <a:endParaRPr lang="en-US" dirty="0"/>
              </a:p>
            </p:txBody>
          </p:sp>
        </mc:Choice>
        <mc:Fallback xmlns="">
          <p:sp>
            <p:nvSpPr>
              <p:cNvPr id="9" name="TextBox 8">
                <a:extLst>
                  <a:ext uri="{FF2B5EF4-FFF2-40B4-BE49-F238E27FC236}">
                    <a16:creationId xmlns:a16="http://schemas.microsoft.com/office/drawing/2014/main" id="{489FC749-CAA4-506F-B750-73BEB7784166}"/>
                  </a:ext>
                </a:extLst>
              </p:cNvPr>
              <p:cNvSpPr txBox="1">
                <a:spLocks noRot="1" noChangeAspect="1" noMove="1" noResize="1" noEditPoints="1" noAdjustHandles="1" noChangeArrowheads="1" noChangeShapeType="1" noTextEdit="1"/>
              </p:cNvSpPr>
              <p:nvPr/>
            </p:nvSpPr>
            <p:spPr>
              <a:xfrm>
                <a:off x="3101982" y="6384548"/>
                <a:ext cx="6849760" cy="603691"/>
              </a:xfrm>
              <a:prstGeom prst="rect">
                <a:avLst/>
              </a:prstGeom>
              <a:blipFill>
                <a:blip r:embed="rId11"/>
                <a:stretch>
                  <a:fillRect l="-370" t="-51020" b="-36735"/>
                </a:stretch>
              </a:blipFill>
            </p:spPr>
            <p:txBody>
              <a:bodyPr/>
              <a:lstStyle/>
              <a:p>
                <a:r>
                  <a:rPr lang="en-US">
                    <a:noFill/>
                  </a:rPr>
                  <a:t> </a:t>
                </a:r>
              </a:p>
            </p:txBody>
          </p:sp>
        </mc:Fallback>
      </mc:AlternateContent>
    </p:spTree>
    <p:extLst>
      <p:ext uri="{BB962C8B-B14F-4D97-AF65-F5344CB8AC3E}">
        <p14:creationId xmlns:p14="http://schemas.microsoft.com/office/powerpoint/2010/main" val="2311321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3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Arial"/>
              <a:buNone/>
            </a:pPr>
            <a:r>
              <a:rPr lang="it-IT" dirty="0"/>
              <a:t>Lumped Parameter Model Infers Membrane Properties</a:t>
            </a:r>
            <a:endParaRPr dirty="0"/>
          </a:p>
        </p:txBody>
      </p:sp>
      <p:sp>
        <p:nvSpPr>
          <p:cNvPr id="895" name="Google Shape;895;p3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
        <p:nvSpPr>
          <p:cNvPr id="896" name="Google Shape;896;p33"/>
          <p:cNvSpPr txBox="1"/>
          <p:nvPr/>
        </p:nvSpPr>
        <p:spPr>
          <a:xfrm>
            <a:off x="7878282" y="903472"/>
            <a:ext cx="4279646" cy="6055760"/>
          </a:xfrm>
          <a:prstGeom prst="rect">
            <a:avLst/>
          </a:prstGeom>
          <a:blipFill rotWithShape="1">
            <a:blip r:embed="rId3">
              <a:alphaModFix/>
            </a:blip>
            <a:stretch>
              <a:fillRect l="-591" t="-20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latin typeface="Arial"/>
                <a:ea typeface="Arial"/>
                <a:cs typeface="Arial"/>
                <a:sym typeface="Arial"/>
              </a:rPr>
              <a:t> </a:t>
            </a:r>
            <a:endParaRPr dirty="0"/>
          </a:p>
        </p:txBody>
      </p:sp>
      <p:sp>
        <p:nvSpPr>
          <p:cNvPr id="901" name="Google Shape;901;p33"/>
          <p:cNvSpPr txBox="1"/>
          <p:nvPr/>
        </p:nvSpPr>
        <p:spPr>
          <a:xfrm>
            <a:off x="240225" y="3647398"/>
            <a:ext cx="2393900" cy="1398553"/>
          </a:xfrm>
          <a:prstGeom prst="rect">
            <a:avLst/>
          </a:prstGeom>
          <a:blipFill rotWithShape="1">
            <a:blip r:embed="rId4">
              <a:alphaModFix/>
            </a:blip>
            <a:stretch>
              <a:fillRect b="-1437"/>
            </a:stretch>
          </a:blipFill>
          <a:ln w="9525" cap="flat" cmpd="sng">
            <a:solidFill>
              <a:srgbClr val="CCB45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pic>
        <p:nvPicPr>
          <p:cNvPr id="2" name="Picture 1">
            <a:extLst>
              <a:ext uri="{FF2B5EF4-FFF2-40B4-BE49-F238E27FC236}">
                <a16:creationId xmlns:a16="http://schemas.microsoft.com/office/drawing/2014/main" id="{D6480DF0-6098-45B3-82C4-6F6C00A79A31}"/>
              </a:ext>
            </a:extLst>
          </p:cNvPr>
          <p:cNvPicPr>
            <a:picLocks noChangeAspect="1"/>
          </p:cNvPicPr>
          <p:nvPr/>
        </p:nvPicPr>
        <p:blipFill>
          <a:blip r:embed="rId5"/>
          <a:stretch>
            <a:fillRect/>
          </a:stretch>
        </p:blipFill>
        <p:spPr>
          <a:xfrm>
            <a:off x="240225" y="5099845"/>
            <a:ext cx="3205838" cy="1398553"/>
          </a:xfrm>
          <a:prstGeom prst="rect">
            <a:avLst/>
          </a:prstGeom>
        </p:spPr>
      </p:pic>
      <p:pic>
        <p:nvPicPr>
          <p:cNvPr id="12" name="Picture 11" descr="Diagram, engineering drawing&#10;&#10;Description automatically generated">
            <a:extLst>
              <a:ext uri="{FF2B5EF4-FFF2-40B4-BE49-F238E27FC236}">
                <a16:creationId xmlns:a16="http://schemas.microsoft.com/office/drawing/2014/main" id="{3971220B-51D7-4C71-A5DD-C095C250E27B}"/>
              </a:ext>
            </a:extLst>
          </p:cNvPr>
          <p:cNvPicPr>
            <a:picLocks noChangeAspect="1"/>
          </p:cNvPicPr>
          <p:nvPr/>
        </p:nvPicPr>
        <p:blipFill>
          <a:blip r:embed="rId6"/>
          <a:stretch>
            <a:fillRect/>
          </a:stretch>
        </p:blipFill>
        <p:spPr>
          <a:xfrm>
            <a:off x="3153796" y="766603"/>
            <a:ext cx="4347188" cy="2377517"/>
          </a:xfrm>
          <a:prstGeom prst="rect">
            <a:avLst/>
          </a:prstGeom>
        </p:spPr>
      </p:pic>
      <p:pic>
        <p:nvPicPr>
          <p:cNvPr id="3" name="Picture 2">
            <a:extLst>
              <a:ext uri="{FF2B5EF4-FFF2-40B4-BE49-F238E27FC236}">
                <a16:creationId xmlns:a16="http://schemas.microsoft.com/office/drawing/2014/main" id="{4B2919CD-8554-494E-B1CF-85349C3A9747}"/>
              </a:ext>
            </a:extLst>
          </p:cNvPr>
          <p:cNvPicPr>
            <a:picLocks noChangeAspect="1"/>
          </p:cNvPicPr>
          <p:nvPr/>
        </p:nvPicPr>
        <p:blipFill>
          <a:blip r:embed="rId7"/>
          <a:stretch>
            <a:fillRect/>
          </a:stretch>
        </p:blipFill>
        <p:spPr>
          <a:xfrm>
            <a:off x="3924544" y="3222935"/>
            <a:ext cx="3418108" cy="1812734"/>
          </a:xfrm>
          <a:prstGeom prst="rect">
            <a:avLst/>
          </a:prstGeom>
        </p:spPr>
      </p:pic>
      <p:grpSp>
        <p:nvGrpSpPr>
          <p:cNvPr id="5" name="Group 4">
            <a:extLst>
              <a:ext uri="{FF2B5EF4-FFF2-40B4-BE49-F238E27FC236}">
                <a16:creationId xmlns:a16="http://schemas.microsoft.com/office/drawing/2014/main" id="{D42EFE23-4276-4177-8AAE-4AB26AFC2DC1}"/>
              </a:ext>
            </a:extLst>
          </p:cNvPr>
          <p:cNvGrpSpPr/>
          <p:nvPr/>
        </p:nvGrpSpPr>
        <p:grpSpPr>
          <a:xfrm>
            <a:off x="3924544" y="5035669"/>
            <a:ext cx="3589588" cy="1573420"/>
            <a:chOff x="3962644" y="5098096"/>
            <a:chExt cx="2876307" cy="1260768"/>
          </a:xfrm>
        </p:grpSpPr>
        <p:pic>
          <p:nvPicPr>
            <p:cNvPr id="13" name="Picture 12" descr="Text, letter&#10;&#10;Description automatically generated">
              <a:extLst>
                <a:ext uri="{FF2B5EF4-FFF2-40B4-BE49-F238E27FC236}">
                  <a16:creationId xmlns:a16="http://schemas.microsoft.com/office/drawing/2014/main" id="{8A6C259E-C0DB-4752-9650-E11B1312C13B}"/>
                </a:ext>
              </a:extLst>
            </p:cNvPr>
            <p:cNvPicPr>
              <a:picLocks noChangeAspect="1"/>
            </p:cNvPicPr>
            <p:nvPr/>
          </p:nvPicPr>
          <p:blipFill rotWithShape="1">
            <a:blip r:embed="rId8"/>
            <a:srcRect r="59472" b="61737"/>
            <a:stretch/>
          </p:blipFill>
          <p:spPr>
            <a:xfrm>
              <a:off x="4548209" y="5397237"/>
              <a:ext cx="1588697" cy="506396"/>
            </a:xfrm>
            <a:prstGeom prst="rect">
              <a:avLst/>
            </a:prstGeom>
          </p:spPr>
        </p:pic>
        <p:pic>
          <p:nvPicPr>
            <p:cNvPr id="14" name="Picture 13" descr="Text, letter&#10;&#10;Description automatically generated">
              <a:extLst>
                <a:ext uri="{FF2B5EF4-FFF2-40B4-BE49-F238E27FC236}">
                  <a16:creationId xmlns:a16="http://schemas.microsoft.com/office/drawing/2014/main" id="{383E6953-E5AD-41E6-89BA-C5F8D7203030}"/>
                </a:ext>
              </a:extLst>
            </p:cNvPr>
            <p:cNvPicPr>
              <a:picLocks noChangeAspect="1"/>
            </p:cNvPicPr>
            <p:nvPr/>
          </p:nvPicPr>
          <p:blipFill rotWithShape="1">
            <a:blip r:embed="rId8"/>
            <a:srcRect t="61289" r="44624"/>
            <a:stretch/>
          </p:blipFill>
          <p:spPr>
            <a:xfrm>
              <a:off x="4315409" y="5846522"/>
              <a:ext cx="2170776" cy="512342"/>
            </a:xfrm>
            <a:prstGeom prst="rect">
              <a:avLst/>
            </a:prstGeom>
          </p:spPr>
        </p:pic>
        <p:sp>
          <p:nvSpPr>
            <p:cNvPr id="4" name="TextBox 3">
              <a:extLst>
                <a:ext uri="{FF2B5EF4-FFF2-40B4-BE49-F238E27FC236}">
                  <a16:creationId xmlns:a16="http://schemas.microsoft.com/office/drawing/2014/main" id="{0B8D0412-4ADD-4F0B-A069-5E25FEBCA680}"/>
                </a:ext>
              </a:extLst>
            </p:cNvPr>
            <p:cNvSpPr txBox="1"/>
            <p:nvPr/>
          </p:nvSpPr>
          <p:spPr>
            <a:xfrm>
              <a:off x="3962644" y="5098096"/>
              <a:ext cx="2876307" cy="258949"/>
            </a:xfrm>
            <a:prstGeom prst="rect">
              <a:avLst/>
            </a:prstGeom>
            <a:noFill/>
          </p:spPr>
          <p:txBody>
            <a:bodyPr wrap="square" rtlCol="0">
              <a:spAutoFit/>
            </a:bodyPr>
            <a:lstStyle/>
            <a:p>
              <a:r>
                <a:rPr lang="en-US" sz="1500" dirty="0"/>
                <a:t>Concentration polarization</a:t>
              </a:r>
            </a:p>
          </p:txBody>
        </p:sp>
      </p:grpSp>
      <p:sp>
        <p:nvSpPr>
          <p:cNvPr id="15" name="Google Shape;816;p27">
            <a:extLst>
              <a:ext uri="{FF2B5EF4-FFF2-40B4-BE49-F238E27FC236}">
                <a16:creationId xmlns:a16="http://schemas.microsoft.com/office/drawing/2014/main" id="{DBBCA254-3CC3-458F-9F44-25DDB50A837C}"/>
              </a:ext>
            </a:extLst>
          </p:cNvPr>
          <p:cNvSpPr txBox="1"/>
          <p:nvPr/>
        </p:nvSpPr>
        <p:spPr>
          <a:xfrm>
            <a:off x="1426730" y="6492875"/>
            <a:ext cx="9800070" cy="365125"/>
          </a:xfrm>
          <a:prstGeom prst="rect">
            <a:avLst/>
          </a:prstGeom>
          <a:noFill/>
          <a:ln>
            <a:noFill/>
          </a:ln>
        </p:spPr>
        <p:txBody>
          <a:bodyPr spcFirstLastPara="1" wrap="square" lIns="91425" tIns="45700" rIns="91425" bIns="45700" anchor="ctr" anchorCtr="0">
            <a:noAutofit/>
          </a:bodyPr>
          <a:lstStyle/>
          <a:p>
            <a:pPr lvl="0"/>
            <a:r>
              <a:rPr lang="en-US" sz="1200" dirty="0">
                <a:solidFill>
                  <a:srgbClr val="7F7F7F"/>
                </a:solidFill>
                <a:latin typeface="Arial"/>
                <a:ea typeface="Arial"/>
                <a:cs typeface="Arial"/>
                <a:sym typeface="Arial"/>
              </a:rPr>
              <a:t>[</a:t>
            </a:r>
            <a:r>
              <a:rPr lang="en-US" sz="1200" dirty="0">
                <a:solidFill>
                  <a:srgbClr val="7F7F7F"/>
                </a:solidFill>
              </a:rPr>
              <a:t>Fig.] Ouimet, J. A. et. al., (2022). Journal of Membrane Science, 641, 119743. </a:t>
            </a:r>
            <a:endParaRPr sz="1200" dirty="0">
              <a:solidFill>
                <a:srgbClr val="7F7F7F"/>
              </a:solidFill>
              <a:latin typeface="Arial"/>
              <a:ea typeface="Arial"/>
              <a:cs typeface="Arial"/>
              <a:sym typeface="Arial"/>
            </a:endParaRPr>
          </a:p>
        </p:txBody>
      </p:sp>
      <p:sp>
        <p:nvSpPr>
          <p:cNvPr id="6" name="Rectangle 5">
            <a:extLst>
              <a:ext uri="{FF2B5EF4-FFF2-40B4-BE49-F238E27FC236}">
                <a16:creationId xmlns:a16="http://schemas.microsoft.com/office/drawing/2014/main" id="{6C7F1466-1885-4756-A74B-49F6C9854854}"/>
              </a:ext>
            </a:extLst>
          </p:cNvPr>
          <p:cNvSpPr/>
          <p:nvPr/>
        </p:nvSpPr>
        <p:spPr>
          <a:xfrm>
            <a:off x="5201677" y="3668552"/>
            <a:ext cx="273772" cy="2788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99A1AC2-C7C0-4F13-86E4-A94F3B51D403}"/>
              </a:ext>
            </a:extLst>
          </p:cNvPr>
          <p:cNvSpPr/>
          <p:nvPr/>
        </p:nvSpPr>
        <p:spPr>
          <a:xfrm>
            <a:off x="6075217" y="3668552"/>
            <a:ext cx="183846" cy="262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601EB4-5513-4648-8E8E-75B4E89B54E0}"/>
              </a:ext>
            </a:extLst>
          </p:cNvPr>
          <p:cNvSpPr/>
          <p:nvPr/>
        </p:nvSpPr>
        <p:spPr>
          <a:xfrm>
            <a:off x="5338602" y="4707228"/>
            <a:ext cx="218631" cy="2649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9" name="TextBox 918">
                <a:extLst>
                  <a:ext uri="{FF2B5EF4-FFF2-40B4-BE49-F238E27FC236}">
                    <a16:creationId xmlns:a16="http://schemas.microsoft.com/office/drawing/2014/main" id="{16F4AAA2-FE6A-9D3D-9065-F28AAAB5F901}"/>
                  </a:ext>
                </a:extLst>
              </p:cNvPr>
              <p:cNvSpPr txBox="1"/>
              <p:nvPr/>
            </p:nvSpPr>
            <p:spPr>
              <a:xfrm>
                <a:off x="181028" y="914625"/>
                <a:ext cx="4189989" cy="2771528"/>
              </a:xfrm>
              <a:prstGeom prst="rect">
                <a:avLst/>
              </a:prstGeom>
              <a:noFill/>
            </p:spPr>
            <p:txBody>
              <a:bodyPr wrap="square" rtlCol="0">
                <a:spAutoFit/>
              </a:bodyPr>
              <a:lstStyle/>
              <a:p>
                <a:r>
                  <a:rPr lang="en-US" sz="1800" b="1" dirty="0"/>
                  <a:t>Forward Model</a:t>
                </a:r>
                <a:endParaRPr lang="en-US" sz="1800" i="1" dirty="0"/>
              </a:p>
              <a:p>
                <a:pPr/>
                <a14:m>
                  <m:oMathPara xmlns:m="http://schemas.openxmlformats.org/officeDocument/2006/math">
                    <m:oMathParaPr>
                      <m:jc m:val="left"/>
                    </m:oMathParaPr>
                    <m:oMath xmlns:m="http://schemas.openxmlformats.org/officeDocument/2006/math">
                      <m:f>
                        <m:fPr>
                          <m:ctrlPr>
                            <a:rPr lang="en-US" sz="1800" i="1" smtClean="0">
                              <a:latin typeface="Cambria Math" panose="02040503050406030204" pitchFamily="18" charset="0"/>
                            </a:rPr>
                          </m:ctrlPr>
                        </m:fPr>
                        <m:num>
                          <m:r>
                            <a:rPr lang="en-US" sz="1800" i="1">
                              <a:latin typeface="Cambria Math" panose="02040503050406030204" pitchFamily="18" charset="0"/>
                            </a:rPr>
                            <m:t>𝑑𝑥</m:t>
                          </m:r>
                          <m:r>
                            <a:rPr lang="en-US" sz="1800" i="1">
                              <a:latin typeface="Cambria Math" panose="02040503050406030204" pitchFamily="18" charset="0"/>
                            </a:rPr>
                            <m:t>(</m:t>
                          </m:r>
                          <m:r>
                            <a:rPr lang="en-US" sz="1800" i="1">
                              <a:latin typeface="Cambria Math" panose="02040503050406030204" pitchFamily="18" charset="0"/>
                            </a:rPr>
                            <m:t>𝑡</m:t>
                          </m:r>
                          <m:r>
                            <a:rPr lang="en-US" sz="1800" i="1">
                              <a:latin typeface="Cambria Math" panose="02040503050406030204" pitchFamily="18" charset="0"/>
                            </a:rPr>
                            <m:t>)</m:t>
                          </m:r>
                        </m:num>
                        <m:den>
                          <m:r>
                            <a:rPr lang="en-US" sz="1800" i="1">
                              <a:latin typeface="Cambria Math" panose="02040503050406030204" pitchFamily="18" charset="0"/>
                            </a:rPr>
                            <m:t>𝑑𝑡</m:t>
                          </m:r>
                        </m:den>
                      </m:f>
                      <m:r>
                        <a:rPr lang="en-US" sz="1800" i="1">
                          <a:latin typeface="Cambria Math" panose="02040503050406030204" pitchFamily="18" charset="0"/>
                        </a:rPr>
                        <m:t>=</m:t>
                      </m:r>
                      <m:r>
                        <a:rPr lang="en-US" sz="1800" i="1">
                          <a:latin typeface="Cambria Math" panose="02040503050406030204" pitchFamily="18" charset="0"/>
                        </a:rPr>
                        <m:t>𝑓</m:t>
                      </m:r>
                      <m:r>
                        <a:rPr lang="en-US" sz="1800" i="1">
                          <a:latin typeface="Cambria Math" panose="02040503050406030204" pitchFamily="18" charset="0"/>
                        </a:rPr>
                        <m:t>(</m:t>
                      </m:r>
                      <m:r>
                        <a:rPr lang="en-US" sz="1800" i="1">
                          <a:latin typeface="Cambria Math" panose="02040503050406030204" pitchFamily="18" charset="0"/>
                        </a:rPr>
                        <m:t>𝑥</m:t>
                      </m:r>
                      <m:r>
                        <a:rPr lang="en-US" sz="1800" i="1">
                          <a:latin typeface="Cambria Math" panose="02040503050406030204" pitchFamily="18" charset="0"/>
                        </a:rPr>
                        <m:t>(</m:t>
                      </m:r>
                      <m:r>
                        <a:rPr lang="en-US" sz="1800" i="1">
                          <a:latin typeface="Cambria Math" panose="02040503050406030204" pitchFamily="18" charset="0"/>
                        </a:rPr>
                        <m:t>𝑡</m:t>
                      </m:r>
                      <m:r>
                        <a:rPr lang="en-US" sz="1800" i="1">
                          <a:latin typeface="Cambria Math" panose="02040503050406030204" pitchFamily="18" charset="0"/>
                        </a:rPr>
                        <m:t>),</m:t>
                      </m:r>
                      <m:r>
                        <a:rPr lang="en-US" sz="1800" i="1">
                          <a:latin typeface="Cambria Math" panose="02040503050406030204" pitchFamily="18" charset="0"/>
                        </a:rPr>
                        <m:t>𝑢</m:t>
                      </m:r>
                      <m:r>
                        <a:rPr lang="en-US" sz="1800" i="1">
                          <a:latin typeface="Cambria Math" panose="02040503050406030204" pitchFamily="18" charset="0"/>
                        </a:rPr>
                        <m:t>(</m:t>
                      </m:r>
                      <m:r>
                        <a:rPr lang="en-US" sz="1800" i="1">
                          <a:latin typeface="Cambria Math" panose="02040503050406030204" pitchFamily="18" charset="0"/>
                        </a:rPr>
                        <m:t>𝑡</m:t>
                      </m:r>
                      <m:r>
                        <a:rPr lang="en-US" sz="1800" i="1">
                          <a:latin typeface="Cambria Math" panose="02040503050406030204" pitchFamily="18" charset="0"/>
                        </a:rPr>
                        <m:t>),</m:t>
                      </m:r>
                      <m:r>
                        <a:rPr lang="en-US" sz="1800" i="1">
                          <a:latin typeface="Cambria Math" panose="02040503050406030204" pitchFamily="18" charset="0"/>
                        </a:rPr>
                        <m:t>𝜃</m:t>
                      </m:r>
                      <m:r>
                        <a:rPr lang="en-US" sz="1800" i="1">
                          <a:latin typeface="Cambria Math" panose="02040503050406030204" pitchFamily="18" charset="0"/>
                        </a:rPr>
                        <m:t>)</m:t>
                      </m:r>
                    </m:oMath>
                  </m:oMathPara>
                </a14:m>
                <a:br>
                  <a:rPr lang="en-US" sz="1800" dirty="0"/>
                </a:br>
                <a14:m>
                  <m:oMath xmlns:m="http://schemas.openxmlformats.org/officeDocument/2006/math">
                    <m:r>
                      <a:rPr lang="en-US" sz="1800" i="1">
                        <a:latin typeface="Cambria Math" panose="02040503050406030204" pitchFamily="18" charset="0"/>
                      </a:rPr>
                      <m:t>𝑦</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r>
                      <a:rPr lang="en-US" sz="1800" i="1">
                        <a:latin typeface="Cambria Math" panose="02040503050406030204" pitchFamily="18" charset="0"/>
                      </a:rPr>
                      <m:t>h</m:t>
                    </m:r>
                    <m:d>
                      <m:dPr>
                        <m:ctrlPr>
                          <a:rPr lang="en-US" sz="1800" i="1">
                            <a:latin typeface="Cambria Math" panose="02040503050406030204" pitchFamily="18" charset="0"/>
                          </a:rPr>
                        </m:ctrlPr>
                      </m:dPr>
                      <m:e>
                        <m:r>
                          <a:rPr lang="en-US" sz="1800" i="1">
                            <a:latin typeface="Cambria Math" panose="02040503050406030204" pitchFamily="18" charset="0"/>
                          </a:rPr>
                          <m:t>𝑥</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r>
                          <a:rPr lang="en-US" sz="1800" i="1">
                            <a:latin typeface="Cambria Math" panose="02040503050406030204" pitchFamily="18" charset="0"/>
                          </a:rPr>
                          <m:t>𝜃</m:t>
                        </m:r>
                      </m:e>
                    </m:d>
                    <m:r>
                      <a:rPr lang="en-US" sz="1800" i="1">
                        <a:latin typeface="Cambria Math" panose="02040503050406030204" pitchFamily="18" charset="0"/>
                      </a:rPr>
                      <m:t>+</m:t>
                    </m:r>
                    <m:r>
                      <a:rPr lang="en-US" sz="1800" i="1">
                        <a:latin typeface="Cambria Math" panose="02040503050406030204" pitchFamily="18" charset="0"/>
                      </a:rPr>
                      <m:t>𝜖</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b="0" i="1" smtClean="0">
                        <a:latin typeface="Cambria Math" panose="02040503050406030204" pitchFamily="18" charset="0"/>
                      </a:rPr>
                      <m:t> </m:t>
                    </m:r>
                  </m:oMath>
                </a14:m>
                <a:r>
                  <a:rPr lang="en-US" sz="1800" dirty="0"/>
                  <a:t> </a:t>
                </a:r>
                <a:endParaRPr lang="en-US" sz="1800" i="1" dirty="0"/>
              </a:p>
              <a:p>
                <a:pPr/>
                <a:r>
                  <a:rPr lang="en-US" sz="1800" dirty="0"/>
                  <a:t>where,</a:t>
                </a:r>
                <a:br>
                  <a:rPr lang="en-US" sz="1800" i="1" dirty="0"/>
                </a:br>
                <a14:m>
                  <m:oMathPara xmlns:m="http://schemas.openxmlformats.org/officeDocument/2006/math">
                    <m:oMathParaPr>
                      <m:jc m:val="left"/>
                    </m:oMathParaPr>
                    <m:oMath xmlns:m="http://schemas.openxmlformats.org/officeDocument/2006/math">
                      <m:r>
                        <a:rPr lang="en-US" sz="1800" i="1">
                          <a:latin typeface="Cambria Math" panose="02040503050406030204" pitchFamily="18" charset="0"/>
                        </a:rPr>
                        <m:t>𝜖</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r>
                        <a:rPr lang="en-US" sz="1800" i="1">
                          <a:latin typeface="Cambria Math" panose="02040503050406030204" pitchFamily="18" charset="0"/>
                        </a:rPr>
                        <m:t>𝒩</m:t>
                      </m:r>
                      <m:d>
                        <m:dPr>
                          <m:ctrlPr>
                            <a:rPr lang="en-US" sz="1800" i="1">
                              <a:latin typeface="Cambria Math" panose="02040503050406030204" pitchFamily="18" charset="0"/>
                            </a:rPr>
                          </m:ctrlPr>
                        </m:dPr>
                        <m:e>
                          <m:r>
                            <a:rPr lang="en-US" sz="1800" i="1">
                              <a:latin typeface="Cambria Math" panose="02040503050406030204" pitchFamily="18" charset="0"/>
                            </a:rPr>
                            <m:t>0,</m:t>
                          </m:r>
                          <m:r>
                            <m:rPr>
                              <m:sty m:val="p"/>
                            </m:rPr>
                            <a:rPr lang="en-US" sz="1800">
                              <a:latin typeface="Cambria Math" panose="02040503050406030204" pitchFamily="18" charset="0"/>
                            </a:rPr>
                            <m:t>Σ</m:t>
                          </m:r>
                        </m:e>
                      </m:d>
                    </m:oMath>
                    <m:oMath xmlns:m="http://schemas.openxmlformats.org/officeDocument/2006/math">
                      <m:r>
                        <a:rPr lang="en-US" sz="1800" i="1">
                          <a:latin typeface="Cambria Math" panose="02040503050406030204" pitchFamily="18" charset="0"/>
                        </a:rPr>
                        <m:t>𝑥</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a:latin typeface="Cambria Math" panose="02040503050406030204" pitchFamily="18" charset="0"/>
                            </a:rPr>
                            <m:t>ℝ</m:t>
                          </m:r>
                        </m:e>
                        <m:sup>
                          <m:r>
                            <a:rPr lang="en-US" sz="1800" i="1">
                              <a:latin typeface="Cambria Math" panose="02040503050406030204" pitchFamily="18" charset="0"/>
                            </a:rPr>
                            <m:t>𝑛</m:t>
                          </m:r>
                        </m:sup>
                      </m:sSup>
                      <m:r>
                        <a:rPr lang="en-US" sz="1800" b="0" i="1" smtClean="0">
                          <a:latin typeface="Cambria Math" panose="02040503050406030204" pitchFamily="18" charset="0"/>
                        </a:rPr>
                        <m:t>; </m:t>
                      </m:r>
                      <m:r>
                        <a:rPr lang="en-US" sz="1800" i="1">
                          <a:latin typeface="Cambria Math" panose="02040503050406030204" pitchFamily="18" charset="0"/>
                        </a:rPr>
                        <m:t>𝑢</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a:latin typeface="Cambria Math" panose="02040503050406030204" pitchFamily="18" charset="0"/>
                            </a:rPr>
                            <m:t>ℝ</m:t>
                          </m:r>
                        </m:e>
                        <m:sup>
                          <m:r>
                            <a:rPr lang="en-US" sz="1800" i="1">
                              <a:latin typeface="Cambria Math" panose="02040503050406030204" pitchFamily="18" charset="0"/>
                            </a:rPr>
                            <m:t>𝑚</m:t>
                          </m:r>
                        </m:sup>
                      </m:sSup>
                      <m:r>
                        <a:rPr lang="en-US" sz="1800" b="0" i="1" smtClean="0">
                          <a:latin typeface="Cambria Math" panose="02040503050406030204" pitchFamily="18" charset="0"/>
                        </a:rPr>
                        <m:t>; </m:t>
                      </m:r>
                      <m:r>
                        <a:rPr lang="en-US" sz="1800" i="1">
                          <a:latin typeface="Cambria Math" panose="02040503050406030204" pitchFamily="18" charset="0"/>
                        </a:rPr>
                        <m:t>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a:latin typeface="Cambria Math" panose="02040503050406030204" pitchFamily="18" charset="0"/>
                            </a:rPr>
                            <m:t>ℝ</m:t>
                          </m:r>
                        </m:e>
                        <m:sup>
                          <m:r>
                            <a:rPr lang="en-US" sz="1800" i="1">
                              <a:latin typeface="Cambria Math" panose="02040503050406030204" pitchFamily="18" charset="0"/>
                            </a:rPr>
                            <m:t>𝑝</m:t>
                          </m:r>
                        </m:sup>
                      </m:sSup>
                    </m:oMath>
                  </m:oMathPara>
                </a14:m>
                <a:endParaRPr lang="en-US" sz="1800" i="1" dirty="0"/>
              </a:p>
              <a:p>
                <a:pPr/>
                <a14:m>
                  <m:oMathPara xmlns:m="http://schemas.openxmlformats.org/officeDocument/2006/math">
                    <m:oMathParaPr>
                      <m:jc m:val="left"/>
                    </m:oMathParaPr>
                    <m:oMath xmlns:m="http://schemas.openxmlformats.org/officeDocument/2006/math">
                      <m:r>
                        <a:rPr lang="en-US" sz="1800" i="1">
                          <a:latin typeface="Cambria Math" panose="02040503050406030204" pitchFamily="18" charset="0"/>
                        </a:rPr>
                        <m:t>𝜃</m:t>
                      </m:r>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eqArr>
                            <m:eqArrPr>
                              <m:ctrlPr>
                                <a:rPr lang="en-US" sz="1800" i="1">
                                  <a:latin typeface="Cambria Math" panose="02040503050406030204" pitchFamily="18" charset="0"/>
                                </a:rPr>
                              </m:ctrlPr>
                            </m:eqArrPr>
                            <m:e>
                              <m:sSub>
                                <m:sSubPr>
                                  <m:ctrlPr>
                                    <a:rPr lang="en-US" sz="1800" i="1">
                                      <a:latin typeface="Cambria Math" panose="02040503050406030204" pitchFamily="18" charset="0"/>
                                    </a:rPr>
                                  </m:ctrlPr>
                                </m:sSubPr>
                                <m:e>
                                  <m:r>
                                    <a:rPr lang="en-US" sz="1800" i="1">
                                      <a:latin typeface="Cambria Math" panose="02040503050406030204" pitchFamily="18" charset="0"/>
                                    </a:rPr>
                                    <m:t>𝐿</m:t>
                                  </m:r>
                                </m:e>
                                <m:sub>
                                  <m:r>
                                    <a:rPr lang="en-US" sz="1800" i="1">
                                      <a:latin typeface="Cambria Math" panose="02040503050406030204" pitchFamily="18" charset="0"/>
                                    </a:rPr>
                                    <m:t>𝑝</m:t>
                                  </m:r>
                                </m:sub>
                              </m:sSub>
                            </m:e>
                            <m:e>
                              <m:r>
                                <a:rPr lang="en-US" sz="1800" i="1">
                                  <a:latin typeface="Cambria Math" panose="02040503050406030204" pitchFamily="18" charset="0"/>
                                </a:rPr>
                                <m:t>𝐵</m:t>
                              </m:r>
                            </m:e>
                            <m:e>
                              <m:r>
                                <a:rPr lang="en-US" sz="1800" i="1">
                                  <a:latin typeface="Cambria Math" panose="02040503050406030204" pitchFamily="18" charset="0"/>
                                </a:rPr>
                                <m:t>𝜎</m:t>
                              </m:r>
                            </m:e>
                          </m:eqArr>
                        </m:e>
                      </m:d>
                    </m:oMath>
                  </m:oMathPara>
                </a14:m>
                <a:endParaRPr lang="en-US" sz="1800" dirty="0"/>
              </a:p>
            </p:txBody>
          </p:sp>
        </mc:Choice>
        <mc:Fallback xmlns="">
          <p:sp>
            <p:nvSpPr>
              <p:cNvPr id="919" name="TextBox 918">
                <a:extLst>
                  <a:ext uri="{FF2B5EF4-FFF2-40B4-BE49-F238E27FC236}">
                    <a16:creationId xmlns:a16="http://schemas.microsoft.com/office/drawing/2014/main" id="{16F4AAA2-FE6A-9D3D-9065-F28AAAB5F901}"/>
                  </a:ext>
                </a:extLst>
              </p:cNvPr>
              <p:cNvSpPr txBox="1">
                <a:spLocks noRot="1" noChangeAspect="1" noMove="1" noResize="1" noEditPoints="1" noAdjustHandles="1" noChangeArrowheads="1" noChangeShapeType="1" noTextEdit="1"/>
              </p:cNvSpPr>
              <p:nvPr/>
            </p:nvSpPr>
            <p:spPr>
              <a:xfrm>
                <a:off x="181028" y="914625"/>
                <a:ext cx="4189989" cy="2771528"/>
              </a:xfrm>
              <a:prstGeom prst="rect">
                <a:avLst/>
              </a:prstGeom>
              <a:blipFill>
                <a:blip r:embed="rId9"/>
                <a:stretch>
                  <a:fillRect l="-1208" t="-913"/>
                </a:stretch>
              </a:blipFill>
            </p:spPr>
            <p:txBody>
              <a:bodyPr/>
              <a:lstStyle/>
              <a:p>
                <a:r>
                  <a:rPr lang="en-US">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6" grpId="0" animBg="1"/>
      <p:bldP spid="1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31"/>
          <p:cNvSpPr txBox="1">
            <a:spLocks noGrp="1"/>
          </p:cNvSpPr>
          <p:nvPr>
            <p:ph type="title"/>
          </p:nvPr>
        </p:nvSpPr>
        <p:spPr>
          <a:xfrm>
            <a:off x="0" y="205244"/>
            <a:ext cx="8773298" cy="10058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00"/>
              <a:buFont typeface="Arial"/>
              <a:buNone/>
            </a:pPr>
            <a:r>
              <a:rPr lang="en-US" sz="3200" dirty="0"/>
              <a:t>Dynamic Diafiltration Experiment Sweeps Larger Concentration Space 5x Faster Than Filtration Experiments</a:t>
            </a:r>
            <a:endParaRPr dirty="0"/>
          </a:p>
        </p:txBody>
      </p:sp>
      <p:sp>
        <p:nvSpPr>
          <p:cNvPr id="875" name="Google Shape;875;p3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pic>
        <p:nvPicPr>
          <p:cNvPr id="876" name="Google Shape;876;p31"/>
          <p:cNvPicPr preferRelativeResize="0"/>
          <p:nvPr/>
        </p:nvPicPr>
        <p:blipFill rotWithShape="1">
          <a:blip r:embed="rId3">
            <a:alphaModFix/>
          </a:blip>
          <a:srcRect/>
          <a:stretch/>
        </p:blipFill>
        <p:spPr>
          <a:xfrm>
            <a:off x="8741244" y="3280318"/>
            <a:ext cx="3426512" cy="3577682"/>
          </a:xfrm>
          <a:prstGeom prst="rect">
            <a:avLst/>
          </a:prstGeom>
          <a:noFill/>
          <a:ln>
            <a:noFill/>
          </a:ln>
        </p:spPr>
      </p:pic>
      <p:pic>
        <p:nvPicPr>
          <p:cNvPr id="877" name="Google Shape;877;p31"/>
          <p:cNvPicPr preferRelativeResize="0"/>
          <p:nvPr/>
        </p:nvPicPr>
        <p:blipFill rotWithShape="1">
          <a:blip r:embed="rId4">
            <a:alphaModFix/>
          </a:blip>
          <a:srcRect/>
          <a:stretch/>
        </p:blipFill>
        <p:spPr>
          <a:xfrm>
            <a:off x="8741244" y="0"/>
            <a:ext cx="3335351" cy="3446720"/>
          </a:xfrm>
          <a:prstGeom prst="rect">
            <a:avLst/>
          </a:prstGeom>
          <a:noFill/>
          <a:ln>
            <a:noFill/>
          </a:ln>
        </p:spPr>
      </p:pic>
      <p:pic>
        <p:nvPicPr>
          <p:cNvPr id="878" name="Google Shape;878;p31"/>
          <p:cNvPicPr preferRelativeResize="0"/>
          <p:nvPr/>
        </p:nvPicPr>
        <p:blipFill rotWithShape="1">
          <a:blip r:embed="rId5">
            <a:alphaModFix/>
          </a:blip>
          <a:srcRect/>
          <a:stretch/>
        </p:blipFill>
        <p:spPr>
          <a:xfrm>
            <a:off x="164031" y="1509398"/>
            <a:ext cx="7972151" cy="4360042"/>
          </a:xfrm>
          <a:prstGeom prst="rect">
            <a:avLst/>
          </a:prstGeom>
          <a:noFill/>
          <a:ln>
            <a:noFill/>
          </a:ln>
        </p:spPr>
      </p:pic>
      <p:sp>
        <p:nvSpPr>
          <p:cNvPr id="7" name="Rectangle 6">
            <a:extLst>
              <a:ext uri="{FF2B5EF4-FFF2-40B4-BE49-F238E27FC236}">
                <a16:creationId xmlns:a16="http://schemas.microsoft.com/office/drawing/2014/main" id="{E3A7A786-6AAE-4C05-9847-54B4A2347FE4}"/>
              </a:ext>
            </a:extLst>
          </p:cNvPr>
          <p:cNvSpPr/>
          <p:nvPr/>
        </p:nvSpPr>
        <p:spPr>
          <a:xfrm>
            <a:off x="3658180" y="1713815"/>
            <a:ext cx="1396240" cy="711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ysClr val="windowText" lastClr="000000"/>
                </a:solidFill>
                <a:latin typeface="Microsoft Sans Serif" panose="020B0604020202020204" pitchFamily="34" charset="0"/>
                <a:ea typeface="Microsoft Sans Serif" panose="020B0604020202020204" pitchFamily="34" charset="0"/>
                <a:cs typeface="Microsoft Sans Serif" panose="020B0604020202020204" pitchFamily="34" charset="0"/>
              </a:rPr>
              <a:t>Diafiltrate Reservoir</a:t>
            </a:r>
          </a:p>
        </p:txBody>
      </p:sp>
    </p:spTree>
    <p:extLst>
      <p:ext uri="{BB962C8B-B14F-4D97-AF65-F5344CB8AC3E}">
        <p14:creationId xmlns:p14="http://schemas.microsoft.com/office/powerpoint/2010/main" val="652405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6459-38F4-B1D9-F0EF-49B7A78D61C6}"/>
            </a:ext>
          </a:extLst>
        </p:cNvPr>
        <p:cNvGrpSpPr/>
        <p:nvPr/>
      </p:nvGrpSpPr>
      <p:grpSpPr>
        <a:xfrm>
          <a:off x="0" y="0"/>
          <a:ext cx="0" cy="0"/>
          <a:chOff x="0" y="0"/>
          <a:chExt cx="0" cy="0"/>
        </a:xfrm>
      </p:grpSpPr>
      <p:pic>
        <p:nvPicPr>
          <p:cNvPr id="32" name="Google Shape;107;p17">
            <a:extLst>
              <a:ext uri="{FF2B5EF4-FFF2-40B4-BE49-F238E27FC236}">
                <a16:creationId xmlns:a16="http://schemas.microsoft.com/office/drawing/2014/main" id="{ECF16E3B-B3F1-777A-27FF-9007C4AF0B97}"/>
              </a:ext>
            </a:extLst>
          </p:cNvPr>
          <p:cNvPicPr preferRelativeResize="0"/>
          <p:nvPr/>
        </p:nvPicPr>
        <p:blipFill rotWithShape="1">
          <a:blip r:embed="rId3">
            <a:alphaModFix/>
          </a:blip>
          <a:srcRect/>
          <a:stretch/>
        </p:blipFill>
        <p:spPr>
          <a:xfrm>
            <a:off x="96372" y="2292120"/>
            <a:ext cx="3723153" cy="3697709"/>
          </a:xfrm>
          <a:prstGeom prst="rect">
            <a:avLst/>
          </a:prstGeom>
          <a:noFill/>
          <a:ln>
            <a:noFill/>
          </a:ln>
        </p:spPr>
      </p:pic>
      <mc:AlternateContent xmlns:mc="http://schemas.openxmlformats.org/markup-compatibility/2006" xmlns:a14="http://schemas.microsoft.com/office/drawing/2010/main">
        <mc:Choice Requires="a14">
          <p:sp>
            <p:nvSpPr>
              <p:cNvPr id="33" name="Google Shape;110;p17">
                <a:extLst>
                  <a:ext uri="{FF2B5EF4-FFF2-40B4-BE49-F238E27FC236}">
                    <a16:creationId xmlns:a16="http://schemas.microsoft.com/office/drawing/2014/main" id="{DF19C920-6E40-11E1-C8B7-781E9BEE2385}"/>
                  </a:ext>
                </a:extLst>
              </p:cNvPr>
              <p:cNvSpPr txBox="1"/>
              <p:nvPr/>
            </p:nvSpPr>
            <p:spPr>
              <a:xfrm>
                <a:off x="2810828" y="4396924"/>
                <a:ext cx="2200275" cy="841408"/>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prstClr val="black"/>
                    </a:solidFill>
                    <a:latin typeface="Arial"/>
                    <a:ea typeface="Arial"/>
                    <a:cs typeface="Arial"/>
                  </a:rPr>
                  <a:t>C</a:t>
                </a:r>
                <a:r>
                  <a:rPr kumimoji="0" lang="en-US" sz="1600" b="0" i="0" u="none" strike="noStrike" kern="1200" cap="none" spc="0" normalizeH="0" baseline="0" noProof="0" dirty="0" err="1">
                    <a:ln>
                      <a:noFill/>
                    </a:ln>
                    <a:solidFill>
                      <a:prstClr val="black"/>
                    </a:solidFill>
                    <a:effectLst/>
                    <a:uLnTx/>
                    <a:uFillTx/>
                    <a:latin typeface="Arial"/>
                    <a:ea typeface="Arial"/>
                    <a:cs typeface="Arial"/>
                    <a:sym typeface="Arial"/>
                  </a:rPr>
                  <a:t>onfidence</a:t>
                </a:r>
                <a:r>
                  <a:rPr kumimoji="0" lang="en-US" sz="1600" b="0" i="0" u="none" strike="noStrike" kern="1200" cap="none" spc="0" normalizeH="0" baseline="0" noProof="0" dirty="0">
                    <a:ln>
                      <a:noFill/>
                    </a:ln>
                    <a:solidFill>
                      <a:prstClr val="black"/>
                    </a:solidFill>
                    <a:effectLst/>
                    <a:uLnTx/>
                    <a:uFillTx/>
                    <a:latin typeface="Arial"/>
                    <a:ea typeface="Arial"/>
                    <a:cs typeface="Arial"/>
                    <a:sym typeface="Arial"/>
                  </a:rPr>
                  <a:t> ellipse for covariance matrix</a:t>
                </a:r>
                <a:endParaRPr kumimoji="0" sz="1800" b="0" i="0" u="none" strike="noStrike" kern="1200" cap="none" spc="0" normalizeH="0" baseline="0" noProof="0" dirty="0">
                  <a:ln>
                    <a:noFill/>
                  </a:ln>
                  <a:solidFill>
                    <a:prstClr val="black"/>
                  </a:solidFill>
                  <a:effectLst/>
                  <a:uLnTx/>
                  <a:uFillTx/>
                  <a:latin typeface="Arial" panose="020B0604020202020204"/>
                  <a:ea typeface="+mn-ea"/>
                  <a:cs typeface="+mn-cs"/>
                  <a:sym typeface="Arial"/>
                </a:endParaRPr>
              </a:p>
              <a:p>
                <a:pPr lvl="0" algn="ctr">
                  <a:defRPr/>
                </a:pPr>
                <a14:m>
                  <m:oMathPara xmlns:m="http://schemas.openxmlformats.org/officeDocument/2006/math">
                    <m:oMathParaPr>
                      <m:jc m:val="centerGroup"/>
                    </m:oMathParaPr>
                    <m:oMath xmlns:m="http://schemas.openxmlformats.org/officeDocument/2006/math">
                      <m:sSub>
                        <m:sSubPr>
                          <m:ctrlPr>
                            <a:rPr lang="en-US" sz="1600" b="1" i="1" kern="0">
                              <a:solidFill>
                                <a:srgbClr val="000000"/>
                              </a:solidFill>
                              <a:latin typeface="Cambria Math" panose="02040503050406030204" pitchFamily="18" charset="0"/>
                            </a:rPr>
                          </m:ctrlPr>
                        </m:sSubPr>
                        <m:e>
                          <m:r>
                            <a:rPr lang="en-US" sz="1600" b="1" i="1" kern="0">
                              <a:solidFill>
                                <a:srgbClr val="000000"/>
                              </a:solidFill>
                              <a:latin typeface="Cambria Math" panose="02040503050406030204" pitchFamily="18" charset="0"/>
                            </a:rPr>
                            <m:t>𝑽</m:t>
                          </m:r>
                        </m:e>
                        <m:sub>
                          <m:acc>
                            <m:accPr>
                              <m:chr m:val="̂"/>
                              <m:ctrlPr>
                                <a:rPr lang="en-US" sz="1600" b="1" i="1" kern="0">
                                  <a:solidFill>
                                    <a:srgbClr val="000000"/>
                                  </a:solidFill>
                                  <a:latin typeface="Cambria Math" panose="02040503050406030204" pitchFamily="18" charset="0"/>
                                </a:rPr>
                              </m:ctrlPr>
                            </m:accPr>
                            <m:e>
                              <m:r>
                                <a:rPr lang="en-US" sz="1600" b="1" i="1" kern="0">
                                  <a:solidFill>
                                    <a:srgbClr val="000000"/>
                                  </a:solidFill>
                                  <a:latin typeface="Cambria Math" panose="02040503050406030204" pitchFamily="18" charset="0"/>
                                  <a:ea typeface="Cambria Math" panose="02040503050406030204" pitchFamily="18" charset="0"/>
                                </a:rPr>
                                <m:t>𝜽</m:t>
                              </m:r>
                            </m:e>
                          </m:acc>
                        </m:sub>
                      </m:sSub>
                      <m:r>
                        <a:rPr lang="en-US" sz="1600" i="1" kern="0">
                          <a:solidFill>
                            <a:srgbClr val="000000"/>
                          </a:solidFill>
                          <a:latin typeface="Cambria Math" panose="02040503050406030204" pitchFamily="18" charset="0"/>
                        </a:rPr>
                        <m:t>= </m:t>
                      </m:r>
                      <m:sSup>
                        <m:sSupPr>
                          <m:ctrlPr>
                            <a:rPr lang="en-US" sz="1600" i="1" kern="0">
                              <a:solidFill>
                                <a:srgbClr val="000000"/>
                              </a:solidFill>
                              <a:latin typeface="Cambria Math" panose="02040503050406030204" pitchFamily="18" charset="0"/>
                            </a:rPr>
                          </m:ctrlPr>
                        </m:sSupPr>
                        <m:e>
                          <m:r>
                            <a:rPr lang="en-US" sz="1600" b="1" i="1" kern="0">
                              <a:solidFill>
                                <a:srgbClr val="000000"/>
                              </a:solidFill>
                              <a:latin typeface="Cambria Math" panose="02040503050406030204" pitchFamily="18" charset="0"/>
                            </a:rPr>
                            <m:t>𝑴</m:t>
                          </m:r>
                        </m:e>
                        <m:sup>
                          <m:r>
                            <a:rPr lang="en-US" sz="1600" i="1" kern="0">
                              <a:solidFill>
                                <a:srgbClr val="000000"/>
                              </a:solidFill>
                              <a:latin typeface="Cambria Math" panose="02040503050406030204" pitchFamily="18" charset="0"/>
                            </a:rPr>
                            <m:t>−1</m:t>
                          </m:r>
                        </m:sup>
                      </m:sSup>
                    </m:oMath>
                  </m:oMathPara>
                </a14:m>
                <a:endParaRPr kumimoji="0" sz="1800" b="0" i="0" u="none" strike="noStrike" kern="1200" cap="none" spc="0" normalizeH="0" baseline="0" noProof="0" dirty="0">
                  <a:ln>
                    <a:noFill/>
                  </a:ln>
                  <a:solidFill>
                    <a:prstClr val="black"/>
                  </a:solidFill>
                  <a:effectLst/>
                  <a:uLnTx/>
                  <a:uFillTx/>
                  <a:latin typeface="Arial" panose="020B0604020202020204"/>
                  <a:ea typeface="+mn-ea"/>
                  <a:cs typeface="+mn-cs"/>
                  <a:sym typeface="Arial"/>
                </a:endParaRPr>
              </a:p>
            </p:txBody>
          </p:sp>
        </mc:Choice>
        <mc:Fallback xmlns="">
          <p:sp>
            <p:nvSpPr>
              <p:cNvPr id="33" name="Google Shape;110;p17">
                <a:extLst>
                  <a:ext uri="{FF2B5EF4-FFF2-40B4-BE49-F238E27FC236}">
                    <a16:creationId xmlns:a16="http://schemas.microsoft.com/office/drawing/2014/main" id="{7EE07D3A-AE6E-47BE-9E33-A4F66482EB2B}"/>
                  </a:ext>
                </a:extLst>
              </p:cNvPr>
              <p:cNvSpPr txBox="1">
                <a:spLocks noRot="1" noChangeAspect="1" noMove="1" noResize="1" noEditPoints="1" noAdjustHandles="1" noChangeArrowheads="1" noChangeShapeType="1" noTextEdit="1"/>
              </p:cNvSpPr>
              <p:nvPr/>
            </p:nvSpPr>
            <p:spPr>
              <a:xfrm>
                <a:off x="2810828" y="4396924"/>
                <a:ext cx="2200275" cy="841408"/>
              </a:xfrm>
              <a:prstGeom prst="rect">
                <a:avLst/>
              </a:prstGeom>
              <a:blipFill>
                <a:blip r:embed="rId4"/>
                <a:stretch>
                  <a:fillRect t="-2174" r="-2770"/>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C7A55688-B386-2358-2BB8-1888A325D08A}"/>
              </a:ext>
            </a:extLst>
          </p:cNvPr>
          <p:cNvSpPr txBox="1">
            <a:spLocks/>
          </p:cNvSpPr>
          <p:nvPr/>
        </p:nvSpPr>
        <p:spPr>
          <a:xfrm>
            <a:off x="-4621" y="-6096"/>
            <a:ext cx="11980590" cy="109728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RPr/>
            </a:defPPr>
            <a:lvl1pPr>
              <a:lnSpc>
                <a:spcPct val="90000"/>
              </a:lnSpc>
              <a:buClr>
                <a:schemeClr val="dk1"/>
              </a:buClr>
              <a:buSzPts val="1800"/>
              <a:buNone/>
              <a:defRPr sz="3200" b="1">
                <a:solidFill>
                  <a:schemeClr val="tx1"/>
                </a:solidFill>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en-US" dirty="0"/>
              <a:t>FIM Highlights Nonidentifiable Parameters</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EB6AAE7-78A4-5831-7A77-63A2121724CC}"/>
                  </a:ext>
                </a:extLst>
              </p:cNvPr>
              <p:cNvGraphicFramePr>
                <a:graphicFrameLocks noGrp="1"/>
              </p:cNvGraphicFramePr>
              <p:nvPr/>
            </p:nvGraphicFramePr>
            <p:xfrm>
              <a:off x="4800600" y="1177290"/>
              <a:ext cx="6748478" cy="1605115"/>
            </p:xfrm>
            <a:graphic>
              <a:graphicData uri="http://schemas.openxmlformats.org/drawingml/2006/table">
                <a:tbl>
                  <a:tblPr firstRow="1" firstCol="1" bandRow="1"/>
                  <a:tblGrid>
                    <a:gridCol w="1304830">
                      <a:extLst>
                        <a:ext uri="{9D8B030D-6E8A-4147-A177-3AD203B41FA5}">
                          <a16:colId xmlns:a16="http://schemas.microsoft.com/office/drawing/2014/main" val="1495111582"/>
                        </a:ext>
                      </a:extLst>
                    </a:gridCol>
                    <a:gridCol w="1352779">
                      <a:extLst>
                        <a:ext uri="{9D8B030D-6E8A-4147-A177-3AD203B41FA5}">
                          <a16:colId xmlns:a16="http://schemas.microsoft.com/office/drawing/2014/main" val="4257686367"/>
                        </a:ext>
                      </a:extLst>
                    </a:gridCol>
                    <a:gridCol w="866463">
                      <a:extLst>
                        <a:ext uri="{9D8B030D-6E8A-4147-A177-3AD203B41FA5}">
                          <a16:colId xmlns:a16="http://schemas.microsoft.com/office/drawing/2014/main" val="3698048072"/>
                        </a:ext>
                      </a:extLst>
                    </a:gridCol>
                    <a:gridCol w="1304830">
                      <a:extLst>
                        <a:ext uri="{9D8B030D-6E8A-4147-A177-3AD203B41FA5}">
                          <a16:colId xmlns:a16="http://schemas.microsoft.com/office/drawing/2014/main" val="3963307089"/>
                        </a:ext>
                      </a:extLst>
                    </a:gridCol>
                    <a:gridCol w="969206">
                      <a:extLst>
                        <a:ext uri="{9D8B030D-6E8A-4147-A177-3AD203B41FA5}">
                          <a16:colId xmlns:a16="http://schemas.microsoft.com/office/drawing/2014/main" val="2312697275"/>
                        </a:ext>
                      </a:extLst>
                    </a:gridCol>
                    <a:gridCol w="950370">
                      <a:extLst>
                        <a:ext uri="{9D8B030D-6E8A-4147-A177-3AD203B41FA5}">
                          <a16:colId xmlns:a16="http://schemas.microsoft.com/office/drawing/2014/main" val="2178978454"/>
                        </a:ext>
                      </a:extLst>
                    </a:gridCol>
                  </a:tblGrid>
                  <a:tr h="321023">
                    <a:tc grid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Estimated parameters</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lnL w="12700" cmpd="sng">
                          <a:noFill/>
                          <a:prstDash val="solid"/>
                        </a:lnL>
                      </a:tcPr>
                    </a:tc>
                    <a:tc rowSpan="3">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Residuals squared</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3">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Eigenvalues of FIM</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2" grid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Eigenvectors of FIM</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2" hMerge="1">
                      <a:txBody>
                        <a:bodyPr/>
                        <a:lstStyle/>
                        <a:p>
                          <a:endParaRPr lang="en-US"/>
                        </a:p>
                      </a:txBody>
                      <a:tcPr>
                        <a:lnL w="12700" cmpd="sng">
                          <a:noFill/>
                          <a:prstDash val="solid"/>
                        </a:lnL>
                      </a:tcPr>
                    </a:tc>
                    <a:extLst>
                      <a:ext uri="{0D108BD9-81ED-4DB2-BD59-A6C34878D82A}">
                        <a16:rowId xmlns:a16="http://schemas.microsoft.com/office/drawing/2014/main" val="1704482783"/>
                      </a:ext>
                    </a:extLst>
                  </a:tr>
                  <a:tr h="321023">
                    <a:tc row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b="0" i="1" smtClean="0">
                                    <a:solidFill>
                                      <a:schemeClr val="tx1"/>
                                    </a:solidFill>
                                    <a:effectLst/>
                                    <a:latin typeface="Cambria Math" panose="02040503050406030204" pitchFamily="18" charset="0"/>
                                    <a:ea typeface="Times New Roman" panose="02020603050405020304" pitchFamily="18" charset="0"/>
                                  </a:rPr>
                                  <m:t>𝑝</m:t>
                                </m:r>
                                <m:sSub>
                                  <m:sSubPr>
                                    <m:ctrlPr>
                                      <a:rPr lang="en-US" sz="1600" i="1" smtClean="0">
                                        <a:solidFill>
                                          <a:schemeClr val="tx1"/>
                                        </a:solidFill>
                                        <a:effectLst/>
                                        <a:latin typeface="Cambria Math" panose="02040503050406030204" pitchFamily="18" charset="0"/>
                                        <a:ea typeface="Times New Roman" panose="02020603050405020304" pitchFamily="18" charset="0"/>
                                      </a:rPr>
                                    </m:ctrlPr>
                                  </m:sSubPr>
                                  <m:e>
                                    <m:r>
                                      <a:rPr lang="en-US" sz="1600" b="0" i="1" smtClean="0">
                                        <a:solidFill>
                                          <a:schemeClr val="tx1"/>
                                        </a:solidFill>
                                        <a:effectLst/>
                                        <a:latin typeface="Cambria Math" panose="02040503050406030204" pitchFamily="18" charset="0"/>
                                        <a:ea typeface="Times New Roman" panose="02020603050405020304" pitchFamily="18" charset="0"/>
                                      </a:rPr>
                                      <m:t>𝐾</m:t>
                                    </m:r>
                                  </m:e>
                                  <m:sub>
                                    <m:r>
                                      <a:rPr lang="en-US" sz="1600" b="0" i="1" smtClean="0">
                                        <a:solidFill>
                                          <a:schemeClr val="tx1"/>
                                        </a:solidFill>
                                        <a:effectLst/>
                                        <a:latin typeface="Cambria Math" panose="02040503050406030204" pitchFamily="18" charset="0"/>
                                        <a:ea typeface="Times New Roman" panose="02020603050405020304" pitchFamily="18" charset="0"/>
                                      </a:rPr>
                                      <m:t>𝑒</m:t>
                                    </m:r>
                                  </m:sub>
                                </m:sSub>
                              </m:oMath>
                            </m:oMathPara>
                          </a14:m>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600" b="0" i="1" smtClean="0">
                                    <a:solidFill>
                                      <a:schemeClr val="tx1"/>
                                    </a:solidFill>
                                    <a:effectLst/>
                                    <a:latin typeface="Cambria Math" panose="02040503050406030204" pitchFamily="18" charset="0"/>
                                    <a:ea typeface="Times New Roman" panose="02020603050405020304" pitchFamily="18" charset="0"/>
                                  </a:rPr>
                                  <m:t>𝑝</m:t>
                                </m:r>
                                <m:sSub>
                                  <m:sSubPr>
                                    <m:ctrlPr>
                                      <a:rPr lang="en-US" sz="1600" i="1" smtClean="0">
                                        <a:solidFill>
                                          <a:srgbClr val="FF0000"/>
                                        </a:solidFill>
                                        <a:effectLst/>
                                        <a:latin typeface="Cambria Math" panose="02040503050406030204" pitchFamily="18" charset="0"/>
                                        <a:ea typeface="Times New Roman" panose="02020603050405020304" pitchFamily="18" charset="0"/>
                                      </a:rPr>
                                    </m:ctrlPr>
                                  </m:sSubPr>
                                  <m:e>
                                    <m:r>
                                      <a:rPr lang="en-US" sz="1600" b="0" i="1" smtClean="0">
                                        <a:solidFill>
                                          <a:srgbClr val="FF0000"/>
                                        </a:solidFill>
                                        <a:effectLst/>
                                        <a:latin typeface="Cambria Math" panose="02040503050406030204" pitchFamily="18" charset="0"/>
                                        <a:ea typeface="Times New Roman" panose="02020603050405020304" pitchFamily="18" charset="0"/>
                                      </a:rPr>
                                      <m:t>𝐾</m:t>
                                    </m:r>
                                  </m:e>
                                  <m:sub>
                                    <m:r>
                                      <a:rPr lang="en-US" sz="1600" b="0" i="1" smtClean="0">
                                        <a:solidFill>
                                          <a:srgbClr val="FF0000"/>
                                        </a:solidFill>
                                        <a:effectLst/>
                                        <a:latin typeface="Cambria Math" panose="02040503050406030204" pitchFamily="18" charset="0"/>
                                        <a:ea typeface="Times New Roman" panose="02020603050405020304" pitchFamily="18" charset="0"/>
                                      </a:rPr>
                                      <m:t>𝑒</m:t>
                                    </m:r>
                                    <m:r>
                                      <a:rPr lang="en-US" sz="1600" b="0" i="1" smtClean="0">
                                        <a:solidFill>
                                          <a:srgbClr val="FF0000"/>
                                        </a:solidFill>
                                        <a:effectLst/>
                                        <a:latin typeface="Cambria Math" panose="02040503050406030204" pitchFamily="18" charset="0"/>
                                        <a:ea typeface="Times New Roman" panose="02020603050405020304" pitchFamily="18" charset="0"/>
                                      </a:rPr>
                                      <m:t>2</m:t>
                                    </m:r>
                                  </m:sub>
                                </m:sSub>
                              </m:oMath>
                            </m:oMathPara>
                          </a14:m>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431366762"/>
                      </a:ext>
                    </a:extLst>
                  </a:tr>
                  <a:tr h="321023">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endParaRPr lang="en-US"/>
                        </a:p>
                      </a:txBody>
                      <a:tcPr>
                        <a:lnL>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effectLst/>
                                    <a:latin typeface="Cambria Math" panose="02040503050406030204" pitchFamily="18" charset="0"/>
                                    <a:ea typeface="Times New Roman" panose="02020603050405020304" pitchFamily="18" charset="0"/>
                                  </a:rPr>
                                  <m:t>𝑝</m:t>
                                </m:r>
                                <m:sSub>
                                  <m:sSubPr>
                                    <m:ctrlPr>
                                      <a:rPr lang="en-US" sz="1600" i="1" smtClean="0">
                                        <a:solidFill>
                                          <a:schemeClr val="tx1"/>
                                        </a:solidFill>
                                        <a:effectLst/>
                                        <a:latin typeface="Cambria Math" panose="02040503050406030204" pitchFamily="18" charset="0"/>
                                        <a:ea typeface="Times New Roman" panose="02020603050405020304" pitchFamily="18" charset="0"/>
                                      </a:rPr>
                                    </m:ctrlPr>
                                  </m:sSubPr>
                                  <m:e>
                                    <m:r>
                                      <a:rPr lang="en-US" sz="1600" b="0" i="1" smtClean="0">
                                        <a:solidFill>
                                          <a:schemeClr val="tx1"/>
                                        </a:solidFill>
                                        <a:effectLst/>
                                        <a:latin typeface="Cambria Math" panose="02040503050406030204" pitchFamily="18" charset="0"/>
                                        <a:ea typeface="Times New Roman" panose="02020603050405020304" pitchFamily="18" charset="0"/>
                                      </a:rPr>
                                      <m:t>𝐾</m:t>
                                    </m:r>
                                  </m:e>
                                  <m:sub>
                                    <m:r>
                                      <a:rPr lang="en-US" sz="1600" b="0" i="1" smtClean="0">
                                        <a:solidFill>
                                          <a:schemeClr val="tx1"/>
                                        </a:solidFill>
                                        <a:effectLst/>
                                        <a:latin typeface="Cambria Math" panose="02040503050406030204" pitchFamily="18" charset="0"/>
                                        <a:ea typeface="Times New Roman" panose="02020603050405020304" pitchFamily="18" charset="0"/>
                                      </a:rPr>
                                      <m:t>𝑒</m:t>
                                    </m:r>
                                  </m:sub>
                                </m:sSub>
                              </m:oMath>
                            </m:oMathPara>
                          </a14:m>
                          <a:endParaRPr lang="en-US" sz="2000" dirty="0">
                            <a:solidFill>
                              <a:schemeClr val="tx1"/>
                            </a:solidFill>
                            <a:effectLst/>
                            <a:latin typeface="Times New Roman" panose="02020603050405020304" pitchFamily="18" charset="0"/>
                            <a:ea typeface="宋体" panose="02010600030101010101" pitchFamily="2" charset="-122"/>
                          </a:endParaRPr>
                        </a:p>
                      </a:txBody>
                      <a:tcPr marL="0" marR="0" marT="0" marB="0" anchor="ctr">
                        <a:lnL w="12700" cmpd="sng">
                          <a:noFill/>
                          <a:prstDash val="soli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effectLst/>
                                    <a:latin typeface="Cambria Math" panose="02040503050406030204" pitchFamily="18" charset="0"/>
                                    <a:ea typeface="Times New Roman" panose="02020603050405020304" pitchFamily="18" charset="0"/>
                                  </a:rPr>
                                  <m:t>𝑝</m:t>
                                </m:r>
                                <m:sSub>
                                  <m:sSubPr>
                                    <m:ctrlPr>
                                      <a:rPr lang="en-US" sz="1600" i="1" smtClean="0">
                                        <a:solidFill>
                                          <a:schemeClr val="tx1"/>
                                        </a:solidFill>
                                        <a:effectLst/>
                                        <a:latin typeface="Cambria Math" panose="02040503050406030204" pitchFamily="18" charset="0"/>
                                        <a:ea typeface="Times New Roman" panose="02020603050405020304" pitchFamily="18" charset="0"/>
                                      </a:rPr>
                                    </m:ctrlPr>
                                  </m:sSubPr>
                                  <m:e>
                                    <m:r>
                                      <a:rPr lang="en-US" sz="1600" b="0" i="1" smtClean="0">
                                        <a:solidFill>
                                          <a:schemeClr val="tx1"/>
                                        </a:solidFill>
                                        <a:effectLst/>
                                        <a:latin typeface="Cambria Math" panose="02040503050406030204" pitchFamily="18" charset="0"/>
                                        <a:ea typeface="Times New Roman" panose="02020603050405020304" pitchFamily="18" charset="0"/>
                                      </a:rPr>
                                      <m:t>𝐾</m:t>
                                    </m:r>
                                  </m:e>
                                  <m:sub>
                                    <m:r>
                                      <a:rPr lang="en-US" sz="1600" b="0" i="1" smtClean="0">
                                        <a:solidFill>
                                          <a:schemeClr val="tx1"/>
                                        </a:solidFill>
                                        <a:effectLst/>
                                        <a:latin typeface="Cambria Math" panose="02040503050406030204" pitchFamily="18" charset="0"/>
                                        <a:ea typeface="Times New Roman" panose="02020603050405020304" pitchFamily="18" charset="0"/>
                                      </a:rPr>
                                      <m:t>𝑒</m:t>
                                    </m:r>
                                    <m:r>
                                      <a:rPr lang="en-US" sz="1600" b="0" i="1" smtClean="0">
                                        <a:solidFill>
                                          <a:schemeClr val="tx1"/>
                                        </a:solidFill>
                                        <a:effectLst/>
                                        <a:latin typeface="Cambria Math" panose="02040503050406030204" pitchFamily="18" charset="0"/>
                                        <a:ea typeface="Times New Roman" panose="02020603050405020304" pitchFamily="18" charset="0"/>
                                      </a:rPr>
                                      <m:t>2</m:t>
                                    </m:r>
                                  </m:sub>
                                </m:sSub>
                              </m:oMath>
                            </m:oMathPara>
                          </a14:m>
                          <a:endParaRPr lang="en-US" sz="2000" dirty="0">
                            <a:solidFill>
                              <a:schemeClr val="tx1"/>
                            </a:solidFill>
                            <a:effectLst/>
                            <a:latin typeface="Times New Roman" panose="02020603050405020304" pitchFamily="18" charset="0"/>
                            <a:ea typeface="宋体" panose="02010600030101010101" pitchFamily="2" charset="-122"/>
                          </a:endParaRPr>
                        </a:p>
                      </a:txBody>
                      <a:tcPr marL="0" marR="0" marT="0" marB="0" anchor="ctr">
                        <a:lnL>
                          <a:noFill/>
                        </a:lnL>
                        <a:lnR>
                          <a:noFill/>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14852"/>
                      </a:ext>
                    </a:extLst>
                  </a:tr>
                  <a:tr h="321023">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8.16</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6.18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10.74</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-7.02</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sym typeface="Arial"/>
                            </a:rPr>
                            <a:t>-8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3.32</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-8</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-1.00</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72376918"/>
                      </a:ext>
                    </a:extLst>
                  </a:tr>
                  <a:tr h="321023">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2.10</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2</a:t>
                          </a:r>
                          <a:endParaRPr lang="en-US" sz="2000" dirty="0">
                            <a:effectLst/>
                            <a:latin typeface="Times New Roman" panose="02020603050405020304" pitchFamily="18" charset="0"/>
                            <a:ea typeface="宋体" panose="02010600030101010101" pitchFamily="2" charset="-122"/>
                          </a:endParaRPr>
                        </a:p>
                      </a:txBody>
                      <a:tcPr marL="0" marR="0" marT="0" marB="0" anchor="ctr">
                        <a:lnL w="12700" cmpd="sng">
                          <a:noFill/>
                          <a:prstDash val="solid"/>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-1.00</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effectLst/>
                              <a:latin typeface="Times New Roman" panose="02020603050405020304" pitchFamily="18" charset="0"/>
                              <a:ea typeface="Times New Roman" panose="02020603050405020304" pitchFamily="18" charset="0"/>
                            </a:rPr>
                            <a:t>-3.32</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sym typeface="Arial"/>
                            </a:rPr>
                            <a:t>-8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754693"/>
                      </a:ext>
                    </a:extLst>
                  </a:tr>
                </a:tbl>
              </a:graphicData>
            </a:graphic>
          </p:graphicFrame>
        </mc:Choice>
        <mc:Fallback xmlns="">
          <p:graphicFrame>
            <p:nvGraphicFramePr>
              <p:cNvPr id="18" name="Table 17">
                <a:extLst>
                  <a:ext uri="{FF2B5EF4-FFF2-40B4-BE49-F238E27FC236}">
                    <a16:creationId xmlns:a16="http://schemas.microsoft.com/office/drawing/2014/main" id="{6625B949-B228-4796-9CB5-9B6A78E91B60}"/>
                  </a:ext>
                </a:extLst>
              </p:cNvPr>
              <p:cNvGraphicFramePr>
                <a:graphicFrameLocks noGrp="1"/>
              </p:cNvGraphicFramePr>
              <p:nvPr>
                <p:extLst>
                  <p:ext uri="{D42A27DB-BD31-4B8C-83A1-F6EECF244321}">
                    <p14:modId xmlns:p14="http://schemas.microsoft.com/office/powerpoint/2010/main" val="2400025671"/>
                  </p:ext>
                </p:extLst>
              </p:nvPr>
            </p:nvGraphicFramePr>
            <p:xfrm>
              <a:off x="4800600" y="1177290"/>
              <a:ext cx="6748478" cy="1605115"/>
            </p:xfrm>
            <a:graphic>
              <a:graphicData uri="http://schemas.openxmlformats.org/drawingml/2006/table">
                <a:tbl>
                  <a:tblPr firstRow="1" firstCol="1" bandRow="1"/>
                  <a:tblGrid>
                    <a:gridCol w="1304830">
                      <a:extLst>
                        <a:ext uri="{9D8B030D-6E8A-4147-A177-3AD203B41FA5}">
                          <a16:colId xmlns:a16="http://schemas.microsoft.com/office/drawing/2014/main" val="1495111582"/>
                        </a:ext>
                      </a:extLst>
                    </a:gridCol>
                    <a:gridCol w="1352779">
                      <a:extLst>
                        <a:ext uri="{9D8B030D-6E8A-4147-A177-3AD203B41FA5}">
                          <a16:colId xmlns:a16="http://schemas.microsoft.com/office/drawing/2014/main" val="4257686367"/>
                        </a:ext>
                      </a:extLst>
                    </a:gridCol>
                    <a:gridCol w="866463">
                      <a:extLst>
                        <a:ext uri="{9D8B030D-6E8A-4147-A177-3AD203B41FA5}">
                          <a16:colId xmlns:a16="http://schemas.microsoft.com/office/drawing/2014/main" val="3698048072"/>
                        </a:ext>
                      </a:extLst>
                    </a:gridCol>
                    <a:gridCol w="1304830">
                      <a:extLst>
                        <a:ext uri="{9D8B030D-6E8A-4147-A177-3AD203B41FA5}">
                          <a16:colId xmlns:a16="http://schemas.microsoft.com/office/drawing/2014/main" val="3963307089"/>
                        </a:ext>
                      </a:extLst>
                    </a:gridCol>
                    <a:gridCol w="969206">
                      <a:extLst>
                        <a:ext uri="{9D8B030D-6E8A-4147-A177-3AD203B41FA5}">
                          <a16:colId xmlns:a16="http://schemas.microsoft.com/office/drawing/2014/main" val="2312697275"/>
                        </a:ext>
                      </a:extLst>
                    </a:gridCol>
                    <a:gridCol w="950370">
                      <a:extLst>
                        <a:ext uri="{9D8B030D-6E8A-4147-A177-3AD203B41FA5}">
                          <a16:colId xmlns:a16="http://schemas.microsoft.com/office/drawing/2014/main" val="2178978454"/>
                        </a:ext>
                      </a:extLst>
                    </a:gridCol>
                  </a:tblGrid>
                  <a:tr h="321023">
                    <a:tc grid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Estimated parameters</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lnL w="12700" cmpd="sng">
                          <a:noFill/>
                          <a:prstDash val="solid"/>
                        </a:lnL>
                      </a:tcPr>
                    </a:tc>
                    <a:tc rowSpan="3">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Residuals squared</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3">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Eigenvalues of FIM</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2" grid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Eigenvectors of FIM</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rowSpan="2" hMerge="1">
                      <a:txBody>
                        <a:bodyPr/>
                        <a:lstStyle/>
                        <a:p>
                          <a:endParaRPr lang="en-US"/>
                        </a:p>
                      </a:txBody>
                      <a:tcPr>
                        <a:lnL w="12700" cmpd="sng">
                          <a:noFill/>
                          <a:prstDash val="solid"/>
                        </a:lnL>
                      </a:tcPr>
                    </a:tc>
                    <a:extLst>
                      <a:ext uri="{0D108BD9-81ED-4DB2-BD59-A6C34878D82A}">
                        <a16:rowId xmlns:a16="http://schemas.microsoft.com/office/drawing/2014/main" val="1704482783"/>
                      </a:ext>
                    </a:extLst>
                  </a:tr>
                  <a:tr h="321023">
                    <a:tc rowSpan="2">
                      <a:txBody>
                        <a:bodyPr/>
                        <a:lstStyle/>
                        <a:p>
                          <a:endParaRPr lang="en-US"/>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54286" r="-418224" b="-114286"/>
                          </a:stretch>
                        </a:blipFill>
                      </a:tcPr>
                    </a:tc>
                    <a:tc rowSpan="2">
                      <a:txBody>
                        <a:bodyPr/>
                        <a:lstStyle/>
                        <a:p>
                          <a:endParaRPr lang="en-US"/>
                        </a:p>
                      </a:txBody>
                      <a:tcPr marL="0" marR="0" marT="0" marB="0" anchor="ctr">
                        <a:lnL>
                          <a:noFill/>
                        </a:lnL>
                        <a:lnR>
                          <a:noFill/>
                        </a:lnR>
                        <a:lnB w="12700" cap="flat" cmpd="sng" algn="ctr">
                          <a:solidFill>
                            <a:srgbClr val="000000"/>
                          </a:solidFill>
                          <a:prstDash val="solid"/>
                          <a:round/>
                          <a:headEnd type="none" w="med" len="med"/>
                          <a:tailEnd type="none" w="med" len="med"/>
                        </a:lnB>
                        <a:blipFill>
                          <a:blip r:embed="rId5"/>
                          <a:stretch>
                            <a:fillRect l="-96396" t="-54286" r="-303153" b="-114286"/>
                          </a:stretch>
                        </a:blipFill>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431366762"/>
                      </a:ext>
                    </a:extLst>
                  </a:tr>
                  <a:tr h="321023">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pPr marL="0" marR="0" algn="ctr">
                            <a:spcBef>
                              <a:spcPts val="0"/>
                            </a:spcBef>
                            <a:spcAft>
                              <a:spcPts val="0"/>
                            </a:spcAft>
                          </a:pPr>
                          <a:endParaRPr lang="en-US" sz="18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vMerge="1">
                      <a:txBody>
                        <a:bodyPr/>
                        <a:lstStyle/>
                        <a:p>
                          <a:endParaRPr lang="en-US"/>
                        </a:p>
                      </a:txBody>
                      <a:tcPr>
                        <a:lnL>
                          <a:noFill/>
                        </a:lnL>
                      </a:tcPr>
                    </a:tc>
                    <a:tc>
                      <a:txBody>
                        <a:bodyPr/>
                        <a:lstStyle/>
                        <a:p>
                          <a:endParaRPr lang="en-US"/>
                        </a:p>
                      </a:txBody>
                      <a:tcPr marL="0" marR="0" marT="0" marB="0" anchor="ctr">
                        <a:lnL w="12700" cmpd="sng">
                          <a:noFill/>
                          <a:prstDash val="soli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98742" t="-211538" r="-98742" b="-230769"/>
                          </a:stretch>
                        </a:blipFill>
                      </a:tcPr>
                    </a:tc>
                    <a:tc>
                      <a:txBody>
                        <a:bodyPr/>
                        <a:lstStyle/>
                        <a:p>
                          <a:endParaRPr lang="en-US"/>
                        </a:p>
                      </a:txBody>
                      <a:tcPr marL="0" marR="0" marT="0" marB="0" anchor="ctr">
                        <a:lnL>
                          <a:noFill/>
                        </a:lnL>
                        <a:lnR>
                          <a:noFill/>
                        </a:lnR>
                        <a:lnB w="12700" cap="flat" cmpd="sng" algn="ctr">
                          <a:solidFill>
                            <a:srgbClr val="000000"/>
                          </a:solidFill>
                          <a:prstDash val="solid"/>
                          <a:round/>
                          <a:headEnd type="none" w="med" len="med"/>
                          <a:tailEnd type="none" w="med" len="med"/>
                        </a:lnB>
                        <a:blipFill>
                          <a:blip r:embed="rId5"/>
                          <a:stretch>
                            <a:fillRect l="-610256" t="-211538" r="-641" b="-230769"/>
                          </a:stretch>
                        </a:blipFill>
                      </a:tcPr>
                    </a:tc>
                    <a:extLst>
                      <a:ext uri="{0D108BD9-81ED-4DB2-BD59-A6C34878D82A}">
                        <a16:rowId xmlns:a16="http://schemas.microsoft.com/office/drawing/2014/main" val="385114852"/>
                      </a:ext>
                    </a:extLst>
                  </a:tr>
                  <a:tr h="321023">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8.16</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6.18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10.74</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-7.02</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sym typeface="Arial"/>
                            </a:rPr>
                            <a:t>-8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mn-cs"/>
                            </a:rPr>
                            <a:t>3.32</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-8</a:t>
                          </a: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-1.00</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372376918"/>
                      </a:ext>
                    </a:extLst>
                  </a:tr>
                  <a:tr h="321023">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2.10</a:t>
                          </a:r>
                          <a:r>
                            <a:rPr kumimoji="0" lang="en-US" sz="1600" b="0" i="0" u="none" strike="noStrike" kern="120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cs typeface="+mn-cs"/>
                              <a:sym typeface="Arial"/>
                            </a:rPr>
                            <a:t>2</a:t>
                          </a:r>
                          <a:endParaRPr lang="en-US" sz="2000" dirty="0">
                            <a:effectLst/>
                            <a:latin typeface="Times New Roman" panose="02020603050405020304" pitchFamily="18" charset="0"/>
                            <a:ea typeface="宋体" panose="02010600030101010101" pitchFamily="2" charset="-122"/>
                          </a:endParaRPr>
                        </a:p>
                      </a:txBody>
                      <a:tcPr marL="0" marR="0" marT="0" marB="0" anchor="ctr">
                        <a:lnL w="12700" cmpd="sng">
                          <a:noFill/>
                          <a:prstDash val="solid"/>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-1.00</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effectLst/>
                              <a:latin typeface="Times New Roman" panose="02020603050405020304" pitchFamily="18" charset="0"/>
                              <a:ea typeface="Times New Roman" panose="02020603050405020304" pitchFamily="18" charset="0"/>
                            </a:rPr>
                            <a:t>-3.32</a:t>
                          </a:r>
                          <a:r>
                            <a:rPr lang="en-US"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sym typeface="Arial"/>
                            </a:rPr>
                            <a:t>10</a:t>
                          </a:r>
                          <a:r>
                            <a:rPr kumimoji="0" lang="en-IN" sz="1600" b="0" i="0" u="none" strike="noStrike" kern="0" cap="none" spc="0" normalizeH="0" baseline="30000" noProof="0" dirty="0">
                              <a:ln>
                                <a:noFill/>
                              </a:ln>
                              <a:solidFill>
                                <a:srgbClr val="000000"/>
                              </a:solidFill>
                              <a:effectLst/>
                              <a:uLnTx/>
                              <a:uFillTx/>
                              <a:latin typeface="Times New Roman" panose="02020603050405020304" pitchFamily="18" charset="0"/>
                              <a:ea typeface="Calibri" panose="020F0502020204030204" pitchFamily="34" charset="0"/>
                              <a:sym typeface="Arial"/>
                            </a:rPr>
                            <a:t>-8</a:t>
                          </a:r>
                          <a:endParaRPr lang="en-US" sz="2000" dirty="0">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754693"/>
                      </a:ext>
                    </a:extLst>
                  </a:tr>
                </a:tbl>
              </a:graphicData>
            </a:graphic>
          </p:graphicFrame>
        </mc:Fallback>
      </mc:AlternateContent>
      <p:sp>
        <p:nvSpPr>
          <p:cNvPr id="24" name="Google Shape;106;p17">
            <a:extLst>
              <a:ext uri="{FF2B5EF4-FFF2-40B4-BE49-F238E27FC236}">
                <a16:creationId xmlns:a16="http://schemas.microsoft.com/office/drawing/2014/main" id="{821C4E80-1DC2-4DC9-5060-459C856E7BA8}"/>
              </a:ext>
            </a:extLst>
          </p:cNvPr>
          <p:cNvSpPr txBox="1"/>
          <p:nvPr/>
        </p:nvSpPr>
        <p:spPr>
          <a:xfrm>
            <a:off x="150582" y="1242905"/>
            <a:ext cx="4330695" cy="430847"/>
          </a:xfrm>
          <a:prstGeom prst="rect">
            <a:avLst/>
          </a:prstGeom>
          <a:noFill/>
          <a:ln w="38100" cap="flat" cmpd="sng">
            <a:noFill/>
            <a:prstDash val="solid"/>
            <a:round/>
            <a:headEnd type="none" w="sm" len="sm"/>
            <a:tailEnd type="none" w="sm" len="sm"/>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2200" b="1" i="0" u="none" strike="noStrike" kern="1200" cap="none" spc="0" normalizeH="0" baseline="0" noProof="0" dirty="0">
                <a:ln>
                  <a:noFill/>
                </a:ln>
                <a:solidFill>
                  <a:srgbClr val="0000FF"/>
                </a:solidFill>
                <a:effectLst/>
                <a:uLnTx/>
                <a:uFillTx/>
                <a:latin typeface="Arial"/>
                <a:ea typeface="Arial"/>
                <a:cs typeface="Arial"/>
                <a:sym typeface="Arial"/>
              </a:rPr>
              <a:t>Fisher information matrix (FIM)</a:t>
            </a:r>
            <a:endParaRPr kumimoji="0" sz="2200" b="0" i="0" u="none" strike="noStrike" kern="1200" cap="none" spc="0" normalizeH="0" baseline="0" noProof="0" dirty="0">
              <a:ln>
                <a:noFill/>
              </a:ln>
              <a:solidFill>
                <a:srgbClr val="0000FF"/>
              </a:solidFill>
              <a:effectLst/>
              <a:uLnTx/>
              <a:uFillTx/>
              <a:latin typeface="Georgia"/>
              <a:ea typeface="Georgia"/>
              <a:cs typeface="Georgia"/>
              <a:sym typeface="Georgia"/>
            </a:endParaRPr>
          </a:p>
        </p:txBody>
      </p:sp>
      <p:sp>
        <p:nvSpPr>
          <p:cNvPr id="35" name="Google Shape;112;p17">
            <a:extLst>
              <a:ext uri="{FF2B5EF4-FFF2-40B4-BE49-F238E27FC236}">
                <a16:creationId xmlns:a16="http://schemas.microsoft.com/office/drawing/2014/main" id="{4C0DD85E-3C0C-07C6-C817-DAEC51FCD34C}"/>
              </a:ext>
            </a:extLst>
          </p:cNvPr>
          <p:cNvSpPr/>
          <p:nvPr/>
        </p:nvSpPr>
        <p:spPr>
          <a:xfrm>
            <a:off x="8492490" y="2191358"/>
            <a:ext cx="1064662" cy="243232"/>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p:sp>
        <p:nvSpPr>
          <p:cNvPr id="36" name="Google Shape;112;p17">
            <a:extLst>
              <a:ext uri="{FF2B5EF4-FFF2-40B4-BE49-F238E27FC236}">
                <a16:creationId xmlns:a16="http://schemas.microsoft.com/office/drawing/2014/main" id="{6C5E706D-642C-C7DC-8575-DC5CDBE75182}"/>
              </a:ext>
            </a:extLst>
          </p:cNvPr>
          <p:cNvSpPr/>
          <p:nvPr/>
        </p:nvSpPr>
        <p:spPr>
          <a:xfrm>
            <a:off x="10716114" y="2191358"/>
            <a:ext cx="691026" cy="290497"/>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1200" cap="none" spc="0" normalizeH="0" baseline="0" noProof="0">
              <a:ln>
                <a:noFill/>
              </a:ln>
              <a:solidFill>
                <a:prstClr val="white"/>
              </a:solidFill>
              <a:effectLst/>
              <a:uLnTx/>
              <a:uFillTx/>
              <a:latin typeface="Arial"/>
              <a:ea typeface="Arial"/>
              <a:cs typeface="Arial"/>
              <a:sym typeface="Arial"/>
            </a:endParaRPr>
          </a:p>
        </p:txBody>
      </p:sp>
      <mc:AlternateContent xmlns:mc="http://schemas.openxmlformats.org/markup-compatibility/2006" xmlns:a14="http://schemas.microsoft.com/office/drawing/2010/main">
        <mc:Choice Requires="a14">
          <p:sp>
            <p:nvSpPr>
              <p:cNvPr id="29" name="TextBox 3">
                <a:extLst>
                  <a:ext uri="{FF2B5EF4-FFF2-40B4-BE49-F238E27FC236}">
                    <a16:creationId xmlns:a16="http://schemas.microsoft.com/office/drawing/2014/main" id="{9D90A0AE-9EB2-55BC-58F6-808EAF4D56B5}"/>
                  </a:ext>
                </a:extLst>
              </p:cNvPr>
              <p:cNvSpPr txBox="1"/>
              <p:nvPr/>
            </p:nvSpPr>
            <p:spPr>
              <a:xfrm>
                <a:off x="390740" y="1809800"/>
                <a:ext cx="3274166" cy="641009"/>
              </a:xfrm>
              <a:prstGeom prst="rect">
                <a:avLst/>
              </a:prstGeom>
              <a:noFill/>
            </p:spPr>
            <p:txBody>
              <a:bodyPr wrap="none" lIns="0" tIns="0"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14:m>
                  <m:oMathPara xmlns:m="http://schemas.openxmlformats.org/officeDocument/2006/math">
                    <m:oMathParaPr>
                      <m:jc m:val="centerGroup"/>
                    </m:oMathParaPr>
                    <m:oMath xmlns:m="http://schemas.openxmlformats.org/officeDocument/2006/math">
                      <m:r>
                        <a:rPr kumimoji="0" lang="en-US" sz="2000" b="1" i="1" u="none" strike="noStrike" kern="0" cap="none" spc="0" normalizeH="0" baseline="0" noProof="0" smtClean="0">
                          <a:ln>
                            <a:noFill/>
                          </a:ln>
                          <a:solidFill>
                            <a:srgbClr val="000000"/>
                          </a:solidFill>
                          <a:effectLst/>
                          <a:uLnTx/>
                          <a:uFillTx/>
                          <a:latin typeface="Cambria Math" panose="02040503050406030204" pitchFamily="18" charset="0"/>
                          <a:sym typeface="Arial"/>
                        </a:rPr>
                        <m:t>𝑴</m:t>
                      </m:r>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sym typeface="Arial"/>
                        </a:rPr>
                        <m:t>= </m:t>
                      </m:r>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sym typeface="Arial"/>
                            </a:rPr>
                          </m:ctrlPr>
                        </m:sSupPr>
                        <m:e>
                          <m:sSub>
                            <m:sSubPr>
                              <m:ctrlPr>
                                <a:rPr kumimoji="0" lang="en-US" sz="2000" b="1" i="1" u="none" strike="noStrike" kern="0" cap="none" spc="0" normalizeH="0" baseline="0" noProof="0">
                                  <a:ln>
                                    <a:noFill/>
                                  </a:ln>
                                  <a:solidFill>
                                    <a:srgbClr val="000000"/>
                                  </a:solidFill>
                                  <a:effectLst/>
                                  <a:uLnTx/>
                                  <a:uFillTx/>
                                  <a:latin typeface="Cambria Math" panose="02040503050406030204" pitchFamily="18" charset="0"/>
                                  <a:sym typeface="Arial"/>
                                </a:rPr>
                              </m:ctrlPr>
                            </m:sSubPr>
                            <m:e>
                              <m:r>
                                <a:rPr kumimoji="0" lang="en-US" sz="2000" b="1" i="1" u="none" strike="noStrike" kern="0" cap="none" spc="0" normalizeH="0" baseline="0" noProof="0">
                                  <a:ln>
                                    <a:noFill/>
                                  </a:ln>
                                  <a:solidFill>
                                    <a:srgbClr val="000000"/>
                                  </a:solidFill>
                                  <a:effectLst/>
                                  <a:uLnTx/>
                                  <a:uFillTx/>
                                  <a:latin typeface="Cambria Math" panose="02040503050406030204" pitchFamily="18" charset="0"/>
                                  <a:sym typeface="Arial"/>
                                </a:rPr>
                                <m:t>𝑽</m:t>
                              </m:r>
                            </m:e>
                            <m:sub>
                              <m:acc>
                                <m:accPr>
                                  <m:chr m:val="̂"/>
                                  <m:ctrlPr>
                                    <a:rPr kumimoji="0" lang="en-US" sz="2000" b="1" i="1" u="none" strike="noStrike" kern="0" cap="none" spc="0" normalizeH="0" baseline="0" noProof="0">
                                      <a:ln>
                                        <a:noFill/>
                                      </a:ln>
                                      <a:solidFill>
                                        <a:srgbClr val="000000"/>
                                      </a:solidFill>
                                      <a:effectLst/>
                                      <a:uLnTx/>
                                      <a:uFillTx/>
                                      <a:latin typeface="Cambria Math" panose="02040503050406030204" pitchFamily="18" charset="0"/>
                                      <a:sym typeface="Arial"/>
                                    </a:rPr>
                                  </m:ctrlPr>
                                </m:accPr>
                                <m:e>
                                  <m:r>
                                    <a:rPr kumimoji="0" lang="en-US" sz="2000" b="1"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𝜽</m:t>
                                  </m:r>
                                </m:e>
                              </m:acc>
                            </m:sub>
                          </m:sSub>
                        </m:e>
                        <m:sup>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sym typeface="Arial"/>
                            </a:rPr>
                            <m:t>−1</m:t>
                          </m:r>
                        </m:sup>
                      </m:sSup>
                      <m:r>
                        <a:rPr lang="en-US" sz="2000" i="1" kern="1200">
                          <a:solidFill>
                            <a:prstClr val="black"/>
                          </a:solidFill>
                          <a:latin typeface="Cambria Math" panose="02040503050406030204" pitchFamily="18" charset="0"/>
                        </a:rPr>
                        <m:t>≈</m:t>
                      </m:r>
                      <m:f>
                        <m:fPr>
                          <m:ctrlPr>
                            <a:rPr lang="en-US" sz="2000" i="1" kern="1200" smtClean="0">
                              <a:solidFill>
                                <a:prstClr val="black"/>
                              </a:solidFill>
                              <a:latin typeface="Cambria Math" panose="02040503050406030204" pitchFamily="18" charset="0"/>
                            </a:rPr>
                          </m:ctrlPr>
                        </m:fPr>
                        <m:num>
                          <m:r>
                            <a:rPr lang="en-US" sz="2000" b="0" i="1" kern="1200" smtClean="0">
                              <a:solidFill>
                                <a:prstClr val="black"/>
                              </a:solidFill>
                              <a:latin typeface="Cambria Math" panose="02040503050406030204" pitchFamily="18" charset="0"/>
                            </a:rPr>
                            <m:t>1</m:t>
                          </m:r>
                        </m:num>
                        <m:den>
                          <m:sSubSup>
                            <m:sSubSupPr>
                              <m:ctrlPr>
                                <a:rPr lang="en-US" sz="2000" i="1" kern="1200">
                                  <a:solidFill>
                                    <a:prstClr val="black"/>
                                  </a:solidFill>
                                  <a:latin typeface="Cambria Math" panose="02040503050406030204" pitchFamily="18" charset="0"/>
                                </a:rPr>
                              </m:ctrlPr>
                            </m:sSubSupPr>
                            <m:e>
                              <m:r>
                                <a:rPr lang="en-US" sz="2000" i="1" kern="1200">
                                  <a:solidFill>
                                    <a:prstClr val="black"/>
                                  </a:solidFill>
                                  <a:latin typeface="Cambria Math" panose="02040503050406030204" pitchFamily="18" charset="0"/>
                                </a:rPr>
                                <m:t>𝜎</m:t>
                              </m:r>
                            </m:e>
                            <m:sub>
                              <m:r>
                                <a:rPr lang="en-US" sz="2000" i="1" kern="1200">
                                  <a:solidFill>
                                    <a:prstClr val="black"/>
                                  </a:solidFill>
                                  <a:latin typeface="Cambria Math" panose="02040503050406030204" pitchFamily="18" charset="0"/>
                                </a:rPr>
                                <m:t>𝜖</m:t>
                              </m:r>
                            </m:sub>
                            <m:sup>
                              <m:r>
                                <a:rPr lang="en-US" sz="2000" i="1" kern="1200">
                                  <a:solidFill>
                                    <a:prstClr val="black"/>
                                  </a:solidFill>
                                  <a:latin typeface="Cambria Math" panose="02040503050406030204" pitchFamily="18" charset="0"/>
                                </a:rPr>
                                <m:t>2</m:t>
                              </m:r>
                            </m:sup>
                          </m:sSubSup>
                        </m:den>
                      </m:f>
                      <m:r>
                        <a:rPr lang="en-US" sz="2000" b="1" i="1" kern="1200">
                          <a:solidFill>
                            <a:prstClr val="black"/>
                          </a:solidFill>
                          <a:latin typeface="Cambria Math" panose="02040503050406030204" pitchFamily="18" charset="0"/>
                        </a:rPr>
                        <m:t>𝑯</m:t>
                      </m:r>
                      <m:r>
                        <a:rPr lang="en-US" sz="2000" i="1" kern="1200">
                          <a:solidFill>
                            <a:prstClr val="black"/>
                          </a:solidFill>
                          <a:latin typeface="Cambria Math" panose="02040503050406030204" pitchFamily="18" charset="0"/>
                        </a:rPr>
                        <m:t>≈</m:t>
                      </m:r>
                      <m:f>
                        <m:fPr>
                          <m:ctrlPr>
                            <a:rPr lang="en-US" sz="2000" i="1" kern="1200">
                              <a:solidFill>
                                <a:prstClr val="black"/>
                              </a:solidFill>
                              <a:latin typeface="Cambria Math" panose="02040503050406030204" pitchFamily="18" charset="0"/>
                            </a:rPr>
                          </m:ctrlPr>
                        </m:fPr>
                        <m:num>
                          <m:r>
                            <a:rPr lang="en-US" sz="2000" i="1" kern="1200">
                              <a:solidFill>
                                <a:prstClr val="black"/>
                              </a:solidFill>
                              <a:latin typeface="Cambria Math" panose="02040503050406030204" pitchFamily="18" charset="0"/>
                            </a:rPr>
                            <m:t>1</m:t>
                          </m:r>
                        </m:num>
                        <m:den>
                          <m:sSubSup>
                            <m:sSubSupPr>
                              <m:ctrlPr>
                                <a:rPr lang="en-US" sz="2000" i="1" kern="1200">
                                  <a:solidFill>
                                    <a:prstClr val="black"/>
                                  </a:solidFill>
                                  <a:latin typeface="Cambria Math" panose="02040503050406030204" pitchFamily="18" charset="0"/>
                                </a:rPr>
                              </m:ctrlPr>
                            </m:sSubSupPr>
                            <m:e>
                              <m:r>
                                <a:rPr lang="en-US" sz="2000" i="1" kern="1200">
                                  <a:solidFill>
                                    <a:prstClr val="black"/>
                                  </a:solidFill>
                                  <a:latin typeface="Cambria Math" panose="02040503050406030204" pitchFamily="18" charset="0"/>
                                </a:rPr>
                                <m:t>𝜎</m:t>
                              </m:r>
                            </m:e>
                            <m:sub>
                              <m:r>
                                <a:rPr lang="en-US" sz="2000" i="1" kern="1200">
                                  <a:solidFill>
                                    <a:prstClr val="black"/>
                                  </a:solidFill>
                                  <a:latin typeface="Cambria Math" panose="02040503050406030204" pitchFamily="18" charset="0"/>
                                </a:rPr>
                                <m:t>𝜖</m:t>
                              </m:r>
                            </m:sub>
                            <m:sup>
                              <m:r>
                                <a:rPr lang="en-US" sz="2000" i="1" kern="1200">
                                  <a:solidFill>
                                    <a:prstClr val="black"/>
                                  </a:solidFill>
                                  <a:latin typeface="Cambria Math" panose="02040503050406030204" pitchFamily="18" charset="0"/>
                                </a:rPr>
                                <m:t>2</m:t>
                              </m:r>
                            </m:sup>
                          </m:sSubSup>
                        </m:den>
                      </m:f>
                      <m:sSup>
                        <m:sSupPr>
                          <m:ctrlPr>
                            <a:rPr lang="en-US" sz="2000" i="1" kern="1200">
                              <a:solidFill>
                                <a:prstClr val="black"/>
                              </a:solidFill>
                              <a:latin typeface="Cambria Math" panose="02040503050406030204" pitchFamily="18" charset="0"/>
                            </a:rPr>
                          </m:ctrlPr>
                        </m:sSupPr>
                        <m:e>
                          <m:r>
                            <a:rPr lang="en-US" sz="2000" b="1" i="1" kern="1200">
                              <a:solidFill>
                                <a:prstClr val="black"/>
                              </a:solidFill>
                              <a:latin typeface="Cambria Math" panose="02040503050406030204" pitchFamily="18" charset="0"/>
                            </a:rPr>
                            <m:t>𝑸</m:t>
                          </m:r>
                        </m:e>
                        <m:sup>
                          <m:r>
                            <a:rPr lang="en-US" sz="2000" i="1" kern="1200">
                              <a:solidFill>
                                <a:prstClr val="black"/>
                              </a:solidFill>
                              <a:latin typeface="Cambria Math" panose="02040503050406030204" pitchFamily="18" charset="0"/>
                            </a:rPr>
                            <m:t>𝑇</m:t>
                          </m:r>
                        </m:sup>
                      </m:sSup>
                      <m:r>
                        <a:rPr lang="en-US" sz="2000" b="1" i="1" kern="1200">
                          <a:solidFill>
                            <a:prstClr val="black"/>
                          </a:solidFill>
                          <a:latin typeface="Cambria Math" panose="02040503050406030204" pitchFamily="18" charset="0"/>
                        </a:rPr>
                        <m:t>𝑸</m:t>
                      </m:r>
                    </m:oMath>
                  </m:oMathPara>
                </a14:m>
                <a:endParaRPr kumimoji="0" lang="en-US" sz="2000" b="1" i="0" u="none" strike="noStrike" kern="0" cap="none" spc="0" normalizeH="0" baseline="0" noProof="0" dirty="0">
                  <a:ln>
                    <a:noFill/>
                  </a:ln>
                  <a:solidFill>
                    <a:srgbClr val="000000"/>
                  </a:solidFill>
                  <a:effectLst/>
                  <a:uLnTx/>
                  <a:uFillTx/>
                  <a:sym typeface="Arial"/>
                </a:endParaRPr>
              </a:p>
            </p:txBody>
          </p:sp>
        </mc:Choice>
        <mc:Fallback xmlns="">
          <p:sp>
            <p:nvSpPr>
              <p:cNvPr id="29" name="TextBox 3">
                <a:extLst>
                  <a:ext uri="{FF2B5EF4-FFF2-40B4-BE49-F238E27FC236}">
                    <a16:creationId xmlns:a16="http://schemas.microsoft.com/office/drawing/2014/main" id="{5B634CB5-BECE-4212-A63D-3B333B35EEDA}"/>
                  </a:ext>
                </a:extLst>
              </p:cNvPr>
              <p:cNvSpPr txBox="1">
                <a:spLocks noRot="1" noChangeAspect="1" noMove="1" noResize="1" noEditPoints="1" noAdjustHandles="1" noChangeArrowheads="1" noChangeShapeType="1" noTextEdit="1"/>
              </p:cNvSpPr>
              <p:nvPr/>
            </p:nvSpPr>
            <p:spPr>
              <a:xfrm>
                <a:off x="390740" y="1809800"/>
                <a:ext cx="3274166" cy="64100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78AF2FF-BB32-8D21-7B2B-55C9E360037D}"/>
                  </a:ext>
                </a:extLst>
              </p:cNvPr>
              <p:cNvSpPr txBox="1"/>
              <p:nvPr/>
            </p:nvSpPr>
            <p:spPr>
              <a:xfrm>
                <a:off x="5087017" y="4396924"/>
                <a:ext cx="6639877" cy="1828800"/>
              </a:xfrm>
              <a:prstGeom prst="rect">
                <a:avLst/>
              </a:prstGeom>
              <a:ln w="19050">
                <a:prstDash val="lgDashDot"/>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buClrTx/>
                </a:pPr>
                <a:r>
                  <a:rPr lang="en-US" sz="1800" b="1" kern="1200" dirty="0">
                    <a:solidFill>
                      <a:prstClr val="black"/>
                    </a:solidFill>
                  </a:rPr>
                  <a:t>FIM inference</a:t>
                </a:r>
              </a:p>
              <a:p>
                <a:pPr marL="285750" indent="-285750">
                  <a:lnSpc>
                    <a:spcPct val="150000"/>
                  </a:lnSpc>
                  <a:buClrTx/>
                  <a:buFont typeface="Arial" panose="020B0604020202020204" pitchFamily="34" charset="0"/>
                  <a:buChar char="•"/>
                </a:pPr>
                <a:r>
                  <a:rPr lang="en-US" sz="1800" kern="1200" dirty="0">
                    <a:solidFill>
                      <a:prstClr val="black"/>
                    </a:solidFill>
                  </a:rPr>
                  <a:t>Model predictions </a:t>
                </a:r>
                <a14:m>
                  <m:oMath xmlns:m="http://schemas.openxmlformats.org/officeDocument/2006/math">
                    <m:sSub>
                      <m:sSubPr>
                        <m:ctrlPr>
                          <a:rPr lang="en-US" sz="1800" i="1" kern="1200">
                            <a:solidFill>
                              <a:prstClr val="black"/>
                            </a:solidFill>
                            <a:latin typeface="Cambria Math" panose="02040503050406030204" pitchFamily="18" charset="0"/>
                          </a:rPr>
                        </m:ctrlPr>
                      </m:sSubPr>
                      <m:e>
                        <m:r>
                          <a:rPr lang="en-US" sz="1800" i="1" kern="1200">
                            <a:solidFill>
                              <a:prstClr val="black"/>
                            </a:solidFill>
                            <a:latin typeface="Cambria Math" panose="02040503050406030204" pitchFamily="18" charset="0"/>
                          </a:rPr>
                          <m:t>𝑓</m:t>
                        </m:r>
                      </m:e>
                      <m:sub>
                        <m:r>
                          <a:rPr lang="en-US" sz="1800" i="1" kern="1200">
                            <a:solidFill>
                              <a:prstClr val="black"/>
                            </a:solidFill>
                            <a:latin typeface="Cambria Math" panose="02040503050406030204" pitchFamily="18" charset="0"/>
                          </a:rPr>
                          <m:t>1</m:t>
                        </m:r>
                      </m:sub>
                    </m:sSub>
                    <m:d>
                      <m:dPr>
                        <m:ctrlPr>
                          <a:rPr lang="en-US" sz="1800" i="1" kern="1200">
                            <a:solidFill>
                              <a:prstClr val="black"/>
                            </a:solidFill>
                            <a:latin typeface="Cambria Math" panose="02040503050406030204" pitchFamily="18" charset="0"/>
                          </a:rPr>
                        </m:ctrlPr>
                      </m:dPr>
                      <m:e>
                        <m:sSub>
                          <m:sSubPr>
                            <m:ctrlPr>
                              <a:rPr lang="en-US" sz="1800" b="1" i="1" kern="1200">
                                <a:solidFill>
                                  <a:prstClr val="black"/>
                                </a:solidFill>
                                <a:latin typeface="Cambria Math" panose="02040503050406030204" pitchFamily="18" charset="0"/>
                              </a:rPr>
                            </m:ctrlPr>
                          </m:sSubPr>
                          <m:e>
                            <m:r>
                              <a:rPr lang="en-US" sz="1800" b="1" i="1" kern="1200">
                                <a:solidFill>
                                  <a:prstClr val="black"/>
                                </a:solidFill>
                                <a:latin typeface="Cambria Math" panose="02040503050406030204" pitchFamily="18" charset="0"/>
                              </a:rPr>
                              <m:t>𝒙</m:t>
                            </m:r>
                          </m:e>
                          <m:sub>
                            <m:r>
                              <a:rPr lang="en-US" sz="1800" b="1" i="1" kern="1200">
                                <a:solidFill>
                                  <a:prstClr val="black"/>
                                </a:solidFill>
                                <a:latin typeface="Cambria Math" panose="02040503050406030204" pitchFamily="18" charset="0"/>
                              </a:rPr>
                              <m:t>𝒊</m:t>
                            </m:r>
                          </m:sub>
                        </m:sSub>
                        <m:r>
                          <a:rPr lang="en-US" sz="1800" i="1" kern="1200">
                            <a:solidFill>
                              <a:prstClr val="black"/>
                            </a:solidFill>
                            <a:latin typeface="Cambria Math" panose="02040503050406030204" pitchFamily="18" charset="0"/>
                          </a:rPr>
                          <m:t>,</m:t>
                        </m:r>
                        <m:r>
                          <a:rPr lang="en-US" sz="1800" b="1" i="1" kern="1200">
                            <a:solidFill>
                              <a:prstClr val="black"/>
                            </a:solidFill>
                            <a:latin typeface="Cambria Math" panose="02040503050406030204" pitchFamily="18" charset="0"/>
                          </a:rPr>
                          <m:t>𝜽</m:t>
                        </m:r>
                      </m:e>
                    </m:d>
                    <m:r>
                      <a:rPr lang="en-US" sz="1800" b="0" i="1" kern="1200" smtClean="0">
                        <a:solidFill>
                          <a:prstClr val="black"/>
                        </a:solidFill>
                        <a:latin typeface="Cambria Math" panose="02040503050406030204" pitchFamily="18" charset="0"/>
                      </a:rPr>
                      <m:t> </m:t>
                    </m:r>
                  </m:oMath>
                </a14:m>
                <a:r>
                  <a:rPr lang="en-US" sz="1800" kern="1200" dirty="0">
                    <a:solidFill>
                      <a:prstClr val="black"/>
                    </a:solidFill>
                  </a:rPr>
                  <a:t>are </a:t>
                </a:r>
                <a:r>
                  <a:rPr lang="en-US" sz="1800" kern="1200" dirty="0">
                    <a:solidFill>
                      <a:srgbClr val="0022F5"/>
                    </a:solidFill>
                  </a:rPr>
                  <a:t>insensitive to</a:t>
                </a:r>
                <a14:m>
                  <m:oMath xmlns:m="http://schemas.openxmlformats.org/officeDocument/2006/math">
                    <m:r>
                      <a:rPr lang="en-US" sz="1800" b="0" i="0" kern="1200" smtClean="0">
                        <a:solidFill>
                          <a:srgbClr val="0022F5"/>
                        </a:solidFill>
                        <a:latin typeface="Cambria Math" panose="02040503050406030204" pitchFamily="18" charset="0"/>
                      </a:rPr>
                      <m:t> </m:t>
                    </m:r>
                    <m:sSub>
                      <m:sSubPr>
                        <m:ctrlPr>
                          <a:rPr lang="en-US" sz="1800" i="1" kern="1200">
                            <a:solidFill>
                              <a:srgbClr val="0022F5"/>
                            </a:solidFill>
                            <a:latin typeface="Cambria Math" panose="02040503050406030204" pitchFamily="18" charset="0"/>
                          </a:rPr>
                        </m:ctrlPr>
                      </m:sSubPr>
                      <m:e>
                        <m:r>
                          <a:rPr lang="en-US" sz="1800" i="1" kern="1200">
                            <a:solidFill>
                              <a:srgbClr val="0022F5"/>
                            </a:solidFill>
                            <a:latin typeface="Cambria Math" panose="02040503050406030204" pitchFamily="18" charset="0"/>
                          </a:rPr>
                          <m:t>𝐾</m:t>
                        </m:r>
                      </m:e>
                      <m:sub>
                        <m:r>
                          <a:rPr lang="en-US" sz="1800" i="1" kern="1200">
                            <a:solidFill>
                              <a:srgbClr val="0022F5"/>
                            </a:solidFill>
                            <a:latin typeface="Cambria Math" panose="02040503050406030204" pitchFamily="18" charset="0"/>
                          </a:rPr>
                          <m:t>𝑒</m:t>
                        </m:r>
                        <m:r>
                          <a:rPr lang="en-US" sz="1800" i="1" kern="1200">
                            <a:solidFill>
                              <a:srgbClr val="0022F5"/>
                            </a:solidFill>
                            <a:latin typeface="Cambria Math" panose="02040503050406030204" pitchFamily="18" charset="0"/>
                          </a:rPr>
                          <m:t>2</m:t>
                        </m:r>
                      </m:sub>
                    </m:sSub>
                  </m:oMath>
                </a14:m>
                <a:endParaRPr lang="en-US" sz="1800" kern="1200" dirty="0">
                  <a:solidFill>
                    <a:prstClr val="black"/>
                  </a:solidFill>
                  <a:latin typeface="Arial" panose="020B0604020202020204"/>
                </a:endParaRPr>
              </a:p>
              <a:p>
                <a:pPr marL="285750" lvl="0" indent="-285750">
                  <a:lnSpc>
                    <a:spcPct val="150000"/>
                  </a:lnSpc>
                  <a:buClrTx/>
                  <a:buFont typeface="Arial" panose="020B0604020202020204" pitchFamily="34" charset="0"/>
                  <a:buChar char="•"/>
                  <a:defRPr/>
                </a:pPr>
                <a:r>
                  <a:rPr lang="en-US" sz="1800" kern="1200" dirty="0">
                    <a:solidFill>
                      <a:prstClr val="black"/>
                    </a:solidFill>
                    <a:latin typeface="Arial" panose="020B0604020202020204"/>
                  </a:rPr>
                  <a:t>FIM is</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US" sz="1800" b="0" i="0" u="none" strike="noStrike" kern="1200" cap="none" spc="0" normalizeH="0" baseline="0" noProof="0" dirty="0">
                    <a:ln>
                      <a:noFill/>
                    </a:ln>
                    <a:solidFill>
                      <a:srgbClr val="0022F5"/>
                    </a:solidFill>
                    <a:effectLst/>
                    <a:uLnTx/>
                    <a:uFillTx/>
                    <a:latin typeface="Arial" panose="020B0604020202020204"/>
                    <a:ea typeface="+mn-ea"/>
                    <a:cs typeface="+mn-cs"/>
                  </a:rPr>
                  <a:t>rank deficient</a:t>
                </a:r>
                <a:r>
                  <a:rPr lang="en-US" sz="1800" kern="1200" dirty="0">
                    <a:solidFill>
                      <a:srgbClr val="0022F5"/>
                    </a:solidFill>
                  </a:rPr>
                  <a:t> </a:t>
                </a:r>
                <a:r>
                  <a:rPr lang="en-US" sz="1800" kern="1200" dirty="0">
                    <a:solidFill>
                      <a:prstClr val="black"/>
                    </a:solidFill>
                  </a:rPr>
                  <a:t>with </a:t>
                </a:r>
                <a:r>
                  <a:rPr lang="en-US" sz="1800" kern="1200" dirty="0">
                    <a:solidFill>
                      <a:srgbClr val="0022F5"/>
                    </a:solidFill>
                  </a:rPr>
                  <a:t>Near zero eigenvalue </a:t>
                </a:r>
                <a:r>
                  <a:rPr lang="en-US" sz="1800" kern="1200" dirty="0">
                    <a:solidFill>
                      <a:prstClr val="black"/>
                    </a:solidFill>
                  </a:rPr>
                  <a:t>pointing </a:t>
                </a:r>
                <a14:m>
                  <m:oMath xmlns:m="http://schemas.openxmlformats.org/officeDocument/2006/math">
                    <m:sSub>
                      <m:sSubPr>
                        <m:ctrlPr>
                          <a:rPr lang="en-US" sz="1800" i="1" kern="1200">
                            <a:solidFill>
                              <a:srgbClr val="0022F5"/>
                            </a:solidFill>
                            <a:latin typeface="Cambria Math" panose="02040503050406030204" pitchFamily="18" charset="0"/>
                          </a:rPr>
                        </m:ctrlPr>
                      </m:sSubPr>
                      <m:e>
                        <m:r>
                          <a:rPr lang="en-US" sz="1800" i="1" kern="1200">
                            <a:solidFill>
                              <a:srgbClr val="0022F5"/>
                            </a:solidFill>
                            <a:latin typeface="Cambria Math" panose="02040503050406030204" pitchFamily="18" charset="0"/>
                          </a:rPr>
                          <m:t>𝐾</m:t>
                        </m:r>
                      </m:e>
                      <m:sub>
                        <m:r>
                          <a:rPr lang="en-US" sz="1800" i="1" kern="1200">
                            <a:solidFill>
                              <a:srgbClr val="0022F5"/>
                            </a:solidFill>
                            <a:latin typeface="Cambria Math" panose="02040503050406030204" pitchFamily="18" charset="0"/>
                          </a:rPr>
                          <m:t>𝑒</m:t>
                        </m:r>
                        <m:r>
                          <a:rPr lang="en-US" sz="1800" i="1" kern="1200">
                            <a:solidFill>
                              <a:srgbClr val="0022F5"/>
                            </a:solidFill>
                            <a:latin typeface="Cambria Math" panose="02040503050406030204" pitchFamily="18" charset="0"/>
                          </a:rPr>
                          <m:t>2</m:t>
                        </m:r>
                      </m:sub>
                    </m:sSub>
                  </m:oMath>
                </a14:m>
                <a:r>
                  <a:rPr lang="en-US" sz="1800" kern="1200" dirty="0">
                    <a:solidFill>
                      <a:srgbClr val="0022F5"/>
                    </a:solidFill>
                  </a:rPr>
                  <a:t> </a:t>
                </a:r>
                <a:endParaRPr kumimoji="0" lang="en-US" sz="600" b="0" i="0" u="none" strike="noStrike" kern="1200" cap="none" spc="0" normalizeH="0" baseline="0" noProof="0" dirty="0">
                  <a:ln>
                    <a:noFill/>
                  </a:ln>
                  <a:solidFill>
                    <a:srgbClr val="0022F5"/>
                  </a:solidFill>
                  <a:effectLst/>
                  <a:uLnTx/>
                  <a:uFillTx/>
                  <a:latin typeface="Arial" panose="020B0604020202020204"/>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800" kern="1200" dirty="0">
                    <a:solidFill>
                      <a:prstClr val="black"/>
                    </a:solidFill>
                    <a:latin typeface="Arial" panose="020B0604020202020204"/>
                  </a:rPr>
                  <a:t>Solely pH </a:t>
                </a:r>
                <a:r>
                  <a:rPr kumimoji="0" lang="en-US" sz="1800" b="0" i="0" u="none" strike="noStrike" kern="1200" cap="none" spc="0" normalizeH="0" baseline="0" noProof="0" dirty="0">
                    <a:ln>
                      <a:noFill/>
                    </a:ln>
                    <a:solidFill>
                      <a:srgbClr val="0022F5"/>
                    </a:solidFill>
                    <a:effectLst/>
                    <a:uLnTx/>
                    <a:uFillTx/>
                    <a:latin typeface="Arial" panose="020B0604020202020204"/>
                    <a:ea typeface="+mn-ea"/>
                    <a:cs typeface="+mn-cs"/>
                  </a:rPr>
                  <a:t>cannot identity </a:t>
                </a:r>
                <a14:m>
                  <m:oMath xmlns:m="http://schemas.openxmlformats.org/officeDocument/2006/math">
                    <m:sSub>
                      <m:sSubPr>
                        <m:ctrlPr>
                          <a:rPr kumimoji="0" lang="en-US" sz="1800" b="0" i="1" u="none" strike="noStrike" kern="1200" cap="none" spc="0" normalizeH="0" baseline="0" noProof="0" smtClean="0">
                            <a:ln>
                              <a:noFill/>
                            </a:ln>
                            <a:solidFill>
                              <a:srgbClr val="0022F5"/>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22F5"/>
                            </a:solidFill>
                            <a:effectLst/>
                            <a:uLnTx/>
                            <a:uFillTx/>
                            <a:latin typeface="Cambria Math" panose="02040503050406030204" pitchFamily="18" charset="0"/>
                            <a:ea typeface="+mn-ea"/>
                            <a:cs typeface="+mn-cs"/>
                          </a:rPr>
                          <m:t>𝐾</m:t>
                        </m:r>
                      </m:e>
                      <m:sub>
                        <m:r>
                          <a:rPr kumimoji="0" lang="en-US" sz="1800" b="0" i="1" u="none" strike="noStrike" kern="1200" cap="none" spc="0" normalizeH="0" baseline="0" noProof="0" smtClean="0">
                            <a:ln>
                              <a:noFill/>
                            </a:ln>
                            <a:solidFill>
                              <a:srgbClr val="0022F5"/>
                            </a:solidFill>
                            <a:effectLst/>
                            <a:uLnTx/>
                            <a:uFillTx/>
                            <a:latin typeface="Cambria Math" panose="02040503050406030204" pitchFamily="18" charset="0"/>
                            <a:ea typeface="+mn-ea"/>
                            <a:cs typeface="+mn-cs"/>
                          </a:rPr>
                          <m:t>𝑒</m:t>
                        </m:r>
                        <m:r>
                          <a:rPr kumimoji="0" lang="en-US" sz="1800" b="0" i="1" u="none" strike="noStrike" kern="1200" cap="none" spc="0" normalizeH="0" baseline="0" noProof="0" smtClean="0">
                            <a:ln>
                              <a:noFill/>
                            </a:ln>
                            <a:solidFill>
                              <a:srgbClr val="0022F5"/>
                            </a:solidFill>
                            <a:effectLst/>
                            <a:uLnTx/>
                            <a:uFillTx/>
                            <a:latin typeface="Cambria Math" panose="02040503050406030204" pitchFamily="18" charset="0"/>
                            <a:ea typeface="+mn-ea"/>
                            <a:cs typeface="+mn-cs"/>
                          </a:rPr>
                          <m:t>2</m:t>
                        </m:r>
                      </m:sub>
                    </m:sSub>
                  </m:oMath>
                </a14:m>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 in </a:t>
                </a:r>
                <a:r>
                  <a:rPr lang="en-US" sz="1800" b="1" kern="1200" noProof="0" dirty="0">
                    <a:solidFill>
                      <a:prstClr val="black"/>
                    </a:solidFill>
                    <a:latin typeface="Arial" panose="020B0604020202020204"/>
                  </a:rPr>
                  <a:t>S</a:t>
                </a:r>
                <a:r>
                  <a:rPr lang="en-US" sz="1800" b="1" kern="1200" dirty="0" err="1">
                    <a:solidFill>
                      <a:prstClr val="black"/>
                    </a:solidFill>
                    <a:latin typeface="Arial" panose="020B0604020202020204"/>
                  </a:rPr>
                  <a:t>tep</a:t>
                </a:r>
                <a:r>
                  <a:rPr lang="en-US" sz="1800" b="1" kern="1200" dirty="0">
                    <a:solidFill>
                      <a:prstClr val="black"/>
                    </a:solidFill>
                    <a:latin typeface="Arial" panose="020B0604020202020204"/>
                  </a:rPr>
                  <a:t> 1 </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rPr>
                  <a:t>model </a:t>
                </a: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oMath>
                </a14:m>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mc:Choice>
        <mc:Fallback xmlns="">
          <p:sp>
            <p:nvSpPr>
              <p:cNvPr id="2" name="TextBox 1">
                <a:extLst>
                  <a:ext uri="{FF2B5EF4-FFF2-40B4-BE49-F238E27FC236}">
                    <a16:creationId xmlns:a16="http://schemas.microsoft.com/office/drawing/2014/main" id="{DB7128AE-7EF2-A359-BEEC-D6F2A280A5A6}"/>
                  </a:ext>
                </a:extLst>
              </p:cNvPr>
              <p:cNvSpPr txBox="1">
                <a:spLocks noRot="1" noChangeAspect="1" noMove="1" noResize="1" noEditPoints="1" noAdjustHandles="1" noChangeArrowheads="1" noChangeShapeType="1" noTextEdit="1"/>
              </p:cNvSpPr>
              <p:nvPr/>
            </p:nvSpPr>
            <p:spPr>
              <a:xfrm>
                <a:off x="5087017" y="4396924"/>
                <a:ext cx="6639877" cy="1828800"/>
              </a:xfrm>
              <a:prstGeom prst="rect">
                <a:avLst/>
              </a:prstGeom>
              <a:blipFill>
                <a:blip r:embed="rId7"/>
                <a:stretch>
                  <a:fillRect l="-640"/>
                </a:stretch>
              </a:blipFill>
              <a:ln w="19050">
                <a:prstDash val="lgDashDot"/>
              </a:ln>
            </p:spPr>
            <p:txBody>
              <a:bodyPr/>
              <a:lstStyle/>
              <a:p>
                <a:r>
                  <a:rPr lang="en-US">
                    <a:noFill/>
                  </a:rPr>
                  <a:t> </a:t>
                </a:r>
              </a:p>
            </p:txBody>
          </p:sp>
        </mc:Fallback>
      </mc:AlternateContent>
      <p:pic>
        <p:nvPicPr>
          <p:cNvPr id="4" name="Picture 3" descr="Pyomo">
            <a:extLst>
              <a:ext uri="{FF2B5EF4-FFF2-40B4-BE49-F238E27FC236}">
                <a16:creationId xmlns:a16="http://schemas.microsoft.com/office/drawing/2014/main" id="{AD0A0F45-4CF8-1828-2594-A40B521E65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8361" y="2903519"/>
            <a:ext cx="1797313" cy="56985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57B1DB2E-25D1-DBF3-CE89-CD61CFADF3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pic>
        <p:nvPicPr>
          <p:cNvPr id="3" name="Picture 2">
            <a:extLst>
              <a:ext uri="{FF2B5EF4-FFF2-40B4-BE49-F238E27FC236}">
                <a16:creationId xmlns:a16="http://schemas.microsoft.com/office/drawing/2014/main" id="{6AC48040-44BC-2C22-051E-5A5AF59AAE88}"/>
              </a:ext>
            </a:extLst>
          </p:cNvPr>
          <p:cNvPicPr>
            <a:picLocks noChangeAspect="1"/>
          </p:cNvPicPr>
          <p:nvPr/>
        </p:nvPicPr>
        <p:blipFill>
          <a:blip r:embed="rId9"/>
          <a:stretch>
            <a:fillRect/>
          </a:stretch>
        </p:blipFill>
        <p:spPr>
          <a:xfrm>
            <a:off x="4481277" y="3429000"/>
            <a:ext cx="1719221" cy="646232"/>
          </a:xfrm>
          <a:prstGeom prst="rect">
            <a:avLst/>
          </a:prstGeom>
        </p:spPr>
      </p:pic>
    </p:spTree>
    <p:extLst>
      <p:ext uri="{BB962C8B-B14F-4D97-AF65-F5344CB8AC3E}">
        <p14:creationId xmlns:p14="http://schemas.microsoft.com/office/powerpoint/2010/main" val="41532938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2" grpId="0" animBg="1"/>
    </p:bld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72800" cy="548640"/>
          </a:xfrm>
          <a:prstGeom prst="rect">
            <a:avLst/>
          </a:prstGeom>
          <a:noFill/>
        </p:spPr>
        <p:txBody>
          <a:bodyPr wrap="square" lIns="0" rIns="0" tIns="0" bIns="0">
            <a:spAutoFit/>
          </a:bodyPr>
          <a:lstStyle/>
          <a:p>
            <a:pPr algn="l"/>
            <a:r>
              <a:rPr sz="2200" b="1" i="0">
                <a:solidFill>
                  <a:srgbClr val="CADCFC"/>
                </a:solidFill>
                <a:latin typeface="Arial"/>
              </a:rPr>
              <a:t>DATA VALIDATION</a:t>
            </a:r>
          </a:p>
        </p:txBody>
      </p:sp>
      <p:sp>
        <p:nvSpPr>
          <p:cNvPr id="4" name="TextBox 3"/>
          <p:cNvSpPr txBox="1"/>
          <p:nvPr/>
        </p:nvSpPr>
        <p:spPr>
          <a:xfrm>
            <a:off x="640080" y="2103120"/>
            <a:ext cx="10972800" cy="1371600"/>
          </a:xfrm>
          <a:prstGeom prst="rect">
            <a:avLst/>
          </a:prstGeom>
          <a:noFill/>
        </p:spPr>
        <p:txBody>
          <a:bodyPr wrap="square" lIns="0" rIns="0" tIns="0" bIns="0">
            <a:spAutoFit/>
          </a:bodyPr>
          <a:lstStyle/>
          <a:p>
            <a:pPr algn="l"/>
            <a:r>
              <a:rPr sz="4400" b="1" i="0">
                <a:solidFill>
                  <a:srgbClr val="FFFFFF"/>
                </a:solidFill>
                <a:latin typeface="Arial"/>
              </a:rPr>
              <a:t>Are we plotting what's in the data file?</a:t>
            </a:r>
          </a:p>
        </p:txBody>
      </p:sp>
      <p:sp>
        <p:nvSpPr>
          <p:cNvPr id="5" name="TextBox 4"/>
          <p:cNvSpPr txBox="1"/>
          <p:nvPr/>
        </p:nvSpPr>
        <p:spPr>
          <a:xfrm>
            <a:off x="640080" y="3657600"/>
            <a:ext cx="10972800" cy="914400"/>
          </a:xfrm>
          <a:prstGeom prst="rect">
            <a:avLst/>
          </a:prstGeom>
          <a:noFill/>
        </p:spPr>
        <p:txBody>
          <a:bodyPr wrap="square" lIns="0" rIns="0" tIns="0" bIns="0">
            <a:spAutoFit/>
          </a:bodyPr>
          <a:lstStyle/>
          <a:p>
            <a:pPr algn="l"/>
            <a:r>
              <a:rPr sz="2000" b="0" i="1">
                <a:solidFill>
                  <a:srgbClr val="CADCFC"/>
                </a:solidFill>
                <a:latin typeface="Arial"/>
              </a:rPr>
              <a:t>Three independent pieces of evidence — added 2026-05-27.</a:t>
            </a:r>
          </a:p>
        </p:txBody>
      </p:sp>
      <p:sp>
        <p:nvSpPr>
          <p:cNvPr id="6" name="TextBox 5"/>
          <p:cNvSpPr txBox="1"/>
          <p:nvPr/>
        </p:nvSpPr>
        <p:spPr>
          <a:xfrm>
            <a:off x="640080" y="4572000"/>
            <a:ext cx="10972800" cy="457200"/>
          </a:xfrm>
          <a:prstGeom prst="rect">
            <a:avLst/>
          </a:prstGeom>
          <a:noFill/>
        </p:spPr>
        <p:txBody>
          <a:bodyPr wrap="square" lIns="0" rIns="0" tIns="0" bIns="0">
            <a:spAutoFit/>
          </a:bodyPr>
          <a:lstStyle/>
          <a:p>
            <a:pPr algn="l"/>
            <a:r>
              <a:rPr sz="1600" b="0" i="0">
                <a:solidFill>
                  <a:srgbClr val="CADCFC"/>
                </a:solidFill>
                <a:latin typeface="Arial"/>
              </a:rPr>
              <a:t>1.  Loader-fidelity audit  ·  70,101 / 70,101 data points GOOD</a:t>
            </a:r>
          </a:p>
        </p:txBody>
      </p:sp>
      <p:sp>
        <p:nvSpPr>
          <p:cNvPr id="7" name="TextBox 6"/>
          <p:cNvSpPr txBox="1"/>
          <p:nvPr/>
        </p:nvSpPr>
        <p:spPr>
          <a:xfrm>
            <a:off x="640080" y="5120640"/>
            <a:ext cx="10972800" cy="457200"/>
          </a:xfrm>
          <a:prstGeom prst="rect">
            <a:avLst/>
          </a:prstGeom>
          <a:noFill/>
        </p:spPr>
        <p:txBody>
          <a:bodyPr wrap="square" lIns="0" rIns="0" tIns="0" bIns="0">
            <a:spAutoFit/>
          </a:bodyPr>
          <a:lstStyle/>
          <a:p>
            <a:pPr algn="l"/>
            <a:r>
              <a:rPr sz="1600" b="0" i="0">
                <a:solidFill>
                  <a:srgbClr val="CADCFC"/>
                </a:solidFill>
                <a:latin typeface="Arial"/>
              </a:rPr>
              <a:t>2.  Raw-conductivity plot type  ·  collaborator's format reproduced</a:t>
            </a:r>
          </a:p>
        </p:txBody>
      </p:sp>
      <p:sp>
        <p:nvSpPr>
          <p:cNvPr id="8" name="TextBox 7"/>
          <p:cNvSpPr txBox="1"/>
          <p:nvPr/>
        </p:nvSpPr>
        <p:spPr>
          <a:xfrm>
            <a:off x="640080" y="5669280"/>
            <a:ext cx="10972800" cy="457200"/>
          </a:xfrm>
          <a:prstGeom prst="rect">
            <a:avLst/>
          </a:prstGeom>
          <a:noFill/>
        </p:spPr>
        <p:txBody>
          <a:bodyPr wrap="square" lIns="0" rIns="0" tIns="0" bIns="0">
            <a:spAutoFit/>
          </a:bodyPr>
          <a:lstStyle/>
          <a:p>
            <a:pPr algn="l"/>
            <a:r>
              <a:rPr sz="1600" b="0" i="0">
                <a:solidFill>
                  <a:srgbClr val="CADCFC"/>
                </a:solidFill>
                <a:latin typeface="Arial"/>
              </a:rPr>
              <a:t>3.  Side-by-side comparison deck  ·  matched on all 11 single-salt sheets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48640"/>
          </a:xfrm>
          <a:prstGeom prst="rect">
            <a:avLst/>
          </a:prstGeom>
          <a:noFill/>
        </p:spPr>
        <p:txBody>
          <a:bodyPr wrap="square" lIns="0" rIns="0" tIns="0" bIns="0">
            <a:spAutoFit/>
          </a:bodyPr>
          <a:lstStyle/>
          <a:p>
            <a:pPr algn="l"/>
            <a:r>
              <a:rPr sz="2600" b="1" i="0">
                <a:solidFill>
                  <a:srgbClr val="1E2761"/>
                </a:solidFill>
                <a:latin typeface="Arial"/>
              </a:rPr>
              <a:t>What the loader does to each raw Excel column</a:t>
            </a:r>
          </a:p>
        </p:txBody>
      </p:sp>
      <p:sp>
        <p:nvSpPr>
          <p:cNvPr id="3" name="TextBox 2"/>
          <p:cNvSpPr txBox="1"/>
          <p:nvPr/>
        </p:nvSpPr>
        <p:spPr>
          <a:xfrm>
            <a:off x="365760" y="777240"/>
            <a:ext cx="11430000" cy="365760"/>
          </a:xfrm>
          <a:prstGeom prst="rect">
            <a:avLst/>
          </a:prstGeom>
          <a:noFill/>
        </p:spPr>
        <p:txBody>
          <a:bodyPr wrap="square" lIns="0" rIns="0" tIns="0" bIns="0">
            <a:spAutoFit/>
          </a:bodyPr>
          <a:lstStyle/>
          <a:p>
            <a:pPr algn="l"/>
            <a:r>
              <a:rPr sz="1200" b="0" i="1">
                <a:solidFill>
                  <a:srgbClr val="6B7A99"/>
                </a:solidFill>
                <a:latin typeface="Arial"/>
              </a:rPr>
              <a:t>Authoritative transformation table — every row verified by the §14.2 audit (next slide).</a:t>
            </a:r>
          </a:p>
        </p:txBody>
      </p:sp>
      <p:graphicFrame>
        <p:nvGraphicFramePr>
          <p:cNvPr id="4" name="Table 3"/>
          <p:cNvGraphicFramePr>
            <a:graphicFrameLocks noGrp="1"/>
          </p:cNvGraphicFramePr>
          <p:nvPr/>
        </p:nvGraphicFramePr>
        <p:xfrm>
          <a:off x="365760" y="1280160"/>
          <a:ext cx="11430000" cy="5303520"/>
        </p:xfrm>
        <a:graphic>
          <a:graphicData uri="http://schemas.openxmlformats.org/drawingml/2006/table">
            <a:tbl>
              <a:tblPr firstRow="1" bandRow="1">
                <a:tableStyleId>{5C22544A-7EE6-4342-B048-85BDC9FD1C3A}</a:tableStyleId>
              </a:tblPr>
              <a:tblGrid>
                <a:gridCol w="2103120"/>
                <a:gridCol w="4206240"/>
                <a:gridCol w="5120640"/>
              </a:tblGrid>
              <a:tr h="530352">
                <a:tc>
                  <a:txBody>
                    <a:bodyPr wrap="square"/>
                    <a:lstStyle/>
                    <a:p>
                      <a:pPr algn="l"/>
                      <a:r>
                        <a:rPr sz="1100" b="1">
                          <a:solidFill>
                            <a:srgbClr val="FFFFFF"/>
                          </a:solidFill>
                          <a:latin typeface="Arial"/>
                        </a:rPr>
                        <a:t>Variable</a:t>
                      </a:r>
                    </a:p>
                  </a:txBody>
                  <a:tcPr marL="73152" marR="73152" marT="36576" marB="36576">
                    <a:solidFill>
                      <a:srgbClr val="1E2761"/>
                    </a:solidFill>
                  </a:tcPr>
                </a:tc>
                <a:tc>
                  <a:txBody>
                    <a:bodyPr wrap="square"/>
                    <a:lstStyle/>
                    <a:p>
                      <a:pPr algn="l"/>
                      <a:r>
                        <a:rPr sz="1100" b="1">
                          <a:solidFill>
                            <a:srgbClr val="FFFFFF"/>
                          </a:solidFill>
                          <a:latin typeface="Arial"/>
                        </a:rPr>
                        <a:t>Loader transformation</a:t>
                      </a:r>
                    </a:p>
                  </a:txBody>
                  <a:tcPr marL="73152" marR="73152" marT="36576" marB="36576">
                    <a:solidFill>
                      <a:srgbClr val="1E2761"/>
                    </a:solidFill>
                  </a:tcPr>
                </a:tc>
                <a:tc>
                  <a:txBody>
                    <a:bodyPr wrap="square"/>
                    <a:lstStyle/>
                    <a:p>
                      <a:pPr algn="l"/>
                      <a:r>
                        <a:rPr sz="1100" b="1">
                          <a:solidFill>
                            <a:srgbClr val="FFFFFF"/>
                          </a:solidFill>
                          <a:latin typeface="Arial"/>
                        </a:rPr>
                        <a:t>Why</a:t>
                      </a:r>
                    </a:p>
                  </a:txBody>
                  <a:tcPr marL="73152" marR="73152" marT="36576" marB="36576">
                    <a:solidFill>
                      <a:srgbClr val="1E2761"/>
                    </a:solidFill>
                  </a:tcPr>
                </a:tc>
              </a:tr>
              <a:tr h="530352">
                <a:tc>
                  <a:txBody>
                    <a:bodyPr wrap="square"/>
                    <a:lstStyle/>
                    <a:p>
                      <a:pPr algn="l"/>
                      <a:r>
                        <a:rPr sz="1000" b="1">
                          <a:solidFill>
                            <a:srgbClr val="21295C"/>
                          </a:solidFill>
                          <a:latin typeface="Arial"/>
                        </a:rPr>
                        <a:t>Time (s)</a:t>
                      </a:r>
                    </a:p>
                  </a:txBody>
                  <a:tcPr marL="73152" marR="73152" marT="36576" marB="36576">
                    <a:solidFill>
                      <a:srgbClr val="F1F4ED"/>
                    </a:solidFill>
                  </a:tcPr>
                </a:tc>
                <a:tc>
                  <a:txBody>
                    <a:bodyPr wrap="square"/>
                    <a:lstStyle/>
                    <a:p>
                      <a:pPr algn="l"/>
                      <a:r>
                        <a:rPr sz="1000" b="0">
                          <a:solidFill>
                            <a:srgbClr val="21295C"/>
                          </a:solidFill>
                          <a:latin typeface="Arial"/>
                        </a:rPr>
                        <a:t>1:1 preserved (no change)</a:t>
                      </a:r>
                    </a:p>
                  </a:txBody>
                  <a:tcPr marL="73152" marR="73152" marT="36576" marB="36576">
                    <a:solidFill>
                      <a:srgbClr val="F1F4ED"/>
                    </a:solidFill>
                  </a:tcPr>
                </a:tc>
                <a:tc>
                  <a:txBody>
                    <a:bodyPr wrap="square"/>
                    <a:lstStyle/>
                    <a:p>
                      <a:pPr algn="l"/>
                      <a:r>
                        <a:rPr sz="1000" b="0">
                          <a:solidFill>
                            <a:srgbClr val="21295C"/>
                          </a:solidFill>
                          <a:latin typeface="Arial"/>
                        </a:rPr>
                        <a:t>Time axis is the index; no compensation needed.</a:t>
                      </a:r>
                    </a:p>
                  </a:txBody>
                  <a:tcPr marL="73152" marR="73152" marT="36576" marB="36576">
                    <a:solidFill>
                      <a:srgbClr val="F1F4ED"/>
                    </a:solidFill>
                  </a:tcPr>
                </a:tc>
              </a:tr>
              <a:tr h="530352">
                <a:tc>
                  <a:txBody>
                    <a:bodyPr wrap="square"/>
                    <a:lstStyle/>
                    <a:p>
                      <a:pPr algn="l"/>
                      <a:r>
                        <a:rPr sz="1000" b="1">
                          <a:solidFill>
                            <a:srgbClr val="21295C"/>
                          </a:solidFill>
                          <a:latin typeface="Arial"/>
                        </a:rPr>
                        <a:t>Mass (g)</a:t>
                      </a:r>
                    </a:p>
                  </a:txBody>
                  <a:tcPr marL="73152" marR="73152" marT="36576" marB="36576">
                    <a:solidFill>
                      <a:srgbClr val="FFFFFF"/>
                    </a:solidFill>
                  </a:tcPr>
                </a:tc>
                <a:tc>
                  <a:txBody>
                    <a:bodyPr wrap="square"/>
                    <a:lstStyle/>
                    <a:p>
                      <a:pPr algn="l"/>
                      <a:r>
                        <a:rPr sz="1000" b="0">
                          <a:solidFill>
                            <a:srgbClr val="21295C"/>
                          </a:solidFill>
                          <a:latin typeface="Arial"/>
                        </a:rPr>
                        <a:t>Baseline-subtracted per vial — each vial starts at 0</a:t>
                      </a:r>
                    </a:p>
                  </a:txBody>
                  <a:tcPr marL="73152" marR="73152" marT="36576" marB="36576">
                    <a:solidFill>
                      <a:srgbClr val="FFFFFF"/>
                    </a:solidFill>
                  </a:tcPr>
                </a:tc>
                <a:tc>
                  <a:txBody>
                    <a:bodyPr wrap="square"/>
                    <a:lstStyle/>
                    <a:p>
                      <a:pPr algn="l"/>
                      <a:r>
                        <a:rPr sz="1000" b="0">
                          <a:solidFill>
                            <a:srgbClr val="21295C"/>
                          </a:solidFill>
                          <a:latin typeface="Arial"/>
                        </a:rPr>
                        <a:t>Eliminates per-vial offset so mass-vs-time fits compare across vials cleanly.</a:t>
                      </a:r>
                    </a:p>
                  </a:txBody>
                  <a:tcPr marL="73152" marR="73152" marT="36576" marB="36576">
                    <a:solidFill>
                      <a:srgbClr val="FFFFFF"/>
                    </a:solidFill>
                  </a:tcPr>
                </a:tc>
              </a:tr>
              <a:tr h="530352">
                <a:tc>
                  <a:txBody>
                    <a:bodyPr wrap="square"/>
                    <a:lstStyle/>
                    <a:p>
                      <a:pPr algn="l"/>
                      <a:r>
                        <a:rPr sz="1000" b="1">
                          <a:solidFill>
                            <a:srgbClr val="21295C"/>
                          </a:solidFill>
                          <a:latin typeface="Arial"/>
                        </a:rPr>
                        <a:t>Pressure (psi)</a:t>
                      </a:r>
                    </a:p>
                  </a:txBody>
                  <a:tcPr marL="73152" marR="73152" marT="36576" marB="36576">
                    <a:solidFill>
                      <a:srgbClr val="F1F4ED"/>
                    </a:solidFill>
                  </a:tcPr>
                </a:tc>
                <a:tc>
                  <a:txBody>
                    <a:bodyPr wrap="square"/>
                    <a:lstStyle/>
                    <a:p>
                      <a:pPr algn="l"/>
                      <a:r>
                        <a:rPr sz="1000" b="0">
                          <a:solidFill>
                            <a:srgbClr val="21295C"/>
                          </a:solidFill>
                          <a:latin typeface="Arial"/>
                        </a:rPr>
                        <a:t>1:1 preserved</a:t>
                      </a:r>
                    </a:p>
                  </a:txBody>
                  <a:tcPr marL="73152" marR="73152" marT="36576" marB="36576">
                    <a:solidFill>
                      <a:srgbClr val="F1F4ED"/>
                    </a:solidFill>
                  </a:tcPr>
                </a:tc>
                <a:tc>
                  <a:txBody>
                    <a:bodyPr wrap="square"/>
                    <a:lstStyle/>
                    <a:p>
                      <a:pPr algn="l"/>
                      <a:r>
                        <a:rPr sz="1000" b="0">
                          <a:solidFill>
                            <a:srgbClr val="21295C"/>
                          </a:solidFill>
                          <a:latin typeface="Arial"/>
                        </a:rPr>
                        <a:t>Applied pressure is a control variable, recorded as-is.</a:t>
                      </a:r>
                    </a:p>
                  </a:txBody>
                  <a:tcPr marL="73152" marR="73152" marT="36576" marB="36576">
                    <a:solidFill>
                      <a:srgbClr val="F1F4ED"/>
                    </a:solidFill>
                  </a:tcPr>
                </a:tc>
              </a:tr>
              <a:tr h="530352">
                <a:tc>
                  <a:txBody>
                    <a:bodyPr wrap="square"/>
                    <a:lstStyle/>
                    <a:p>
                      <a:pPr algn="l"/>
                      <a:r>
                        <a:rPr sz="1000" b="1">
                          <a:solidFill>
                            <a:srgbClr val="21295C"/>
                          </a:solidFill>
                          <a:latin typeface="Arial"/>
                        </a:rPr>
                        <a:t>Retentate Temp (°C)</a:t>
                      </a:r>
                    </a:p>
                  </a:txBody>
                  <a:tcPr marL="73152" marR="73152" marT="36576" marB="36576">
                    <a:solidFill>
                      <a:srgbClr val="FFFFFF"/>
                    </a:solidFill>
                  </a:tcPr>
                </a:tc>
                <a:tc>
                  <a:txBody>
                    <a:bodyPr wrap="square"/>
                    <a:lstStyle/>
                    <a:p>
                      <a:pPr algn="l"/>
                      <a:r>
                        <a:rPr sz="1000" b="0">
                          <a:solidFill>
                            <a:srgbClr val="21295C"/>
                          </a:solidFill>
                          <a:latin typeface="Arial"/>
                        </a:rPr>
                        <a:t>1:1 preserved</a:t>
                      </a:r>
                    </a:p>
                  </a:txBody>
                  <a:tcPr marL="73152" marR="73152" marT="36576" marB="36576">
                    <a:solidFill>
                      <a:srgbClr val="FFFFFF"/>
                    </a:solidFill>
                  </a:tcPr>
                </a:tc>
                <a:tc>
                  <a:txBody>
                    <a:bodyPr wrap="square"/>
                    <a:lstStyle/>
                    <a:p>
                      <a:pPr algn="l"/>
                      <a:r>
                        <a:rPr sz="1000" b="0">
                          <a:solidFill>
                            <a:srgbClr val="21295C"/>
                          </a:solidFill>
                          <a:latin typeface="Arial"/>
                        </a:rPr>
                        <a:t>Needed for EC25 compensation of conductivity.</a:t>
                      </a:r>
                    </a:p>
                  </a:txBody>
                  <a:tcPr marL="73152" marR="73152" marT="36576" marB="36576">
                    <a:solidFill>
                      <a:srgbClr val="FFFFFF"/>
                    </a:solidFill>
                  </a:tcPr>
                </a:tc>
              </a:tr>
              <a:tr h="530352">
                <a:tc>
                  <a:txBody>
                    <a:bodyPr wrap="square"/>
                    <a:lstStyle/>
                    <a:p>
                      <a:pPr algn="l"/>
                      <a:r>
                        <a:rPr sz="1000" b="1">
                          <a:solidFill>
                            <a:srgbClr val="21295C"/>
                          </a:solidFill>
                          <a:latin typeface="Arial"/>
                        </a:rPr>
                        <a:t>Retentate Cond (μS/cm)</a:t>
                      </a:r>
                    </a:p>
                  </a:txBody>
                  <a:tcPr marL="73152" marR="73152" marT="36576" marB="36576">
                    <a:solidFill>
                      <a:srgbClr val="F1F4ED"/>
                    </a:solidFill>
                  </a:tcPr>
                </a:tc>
                <a:tc>
                  <a:txBody>
                    <a:bodyPr wrap="square"/>
                    <a:lstStyle/>
                    <a:p>
                      <a:pPr algn="l"/>
                      <a:r>
                        <a:rPr sz="1000" b="0">
                          <a:solidFill>
                            <a:srgbClr val="21295C"/>
                          </a:solidFill>
                          <a:latin typeface="Arial"/>
                        </a:rPr>
                        <a:t>EC25 temperature compensation:  σ₂₅ = σ_T · (1 + α·(25−T))</a:t>
                      </a:r>
                    </a:p>
                  </a:txBody>
                  <a:tcPr marL="73152" marR="73152" marT="36576" marB="36576">
                    <a:solidFill>
                      <a:srgbClr val="F1F4ED"/>
                    </a:solidFill>
                  </a:tcPr>
                </a:tc>
                <a:tc>
                  <a:txBody>
                    <a:bodyPr wrap="square"/>
                    <a:lstStyle/>
                    <a:p>
                      <a:pPr algn="l"/>
                      <a:r>
                        <a:rPr sz="1000" b="0">
                          <a:solidFill>
                            <a:srgbClr val="21295C"/>
                          </a:solidFill>
                          <a:latin typeface="Arial"/>
                        </a:rPr>
                        <a:t>Probe reports σ at measured T; the model needs σ at 25°C so concentration inversion (Shedlovsky) is consistent across temperatures.</a:t>
                      </a:r>
                    </a:p>
                  </a:txBody>
                  <a:tcPr marL="73152" marR="73152" marT="36576" marB="36576">
                    <a:solidFill>
                      <a:srgbClr val="F1F4ED"/>
                    </a:solidFill>
                  </a:tcPr>
                </a:tc>
              </a:tr>
              <a:tr h="530352">
                <a:tc>
                  <a:txBody>
                    <a:bodyPr wrap="square"/>
                    <a:lstStyle/>
                    <a:p>
                      <a:pPr algn="l"/>
                      <a:r>
                        <a:rPr sz="1000" b="1">
                          <a:solidFill>
                            <a:srgbClr val="21295C"/>
                          </a:solidFill>
                          <a:latin typeface="Arial"/>
                        </a:rPr>
                        <a:t>Permeate Temp (°C)</a:t>
                      </a:r>
                    </a:p>
                  </a:txBody>
                  <a:tcPr marL="73152" marR="73152" marT="36576" marB="36576">
                    <a:solidFill>
                      <a:srgbClr val="FFFFFF"/>
                    </a:solidFill>
                  </a:tcPr>
                </a:tc>
                <a:tc>
                  <a:txBody>
                    <a:bodyPr wrap="square"/>
                    <a:lstStyle/>
                    <a:p>
                      <a:pPr algn="l"/>
                      <a:r>
                        <a:rPr sz="1000" b="0">
                          <a:solidFill>
                            <a:srgbClr val="21295C"/>
                          </a:solidFill>
                          <a:latin typeface="Arial"/>
                        </a:rPr>
                        <a:t>1:1 preserved</a:t>
                      </a:r>
                    </a:p>
                  </a:txBody>
                  <a:tcPr marL="73152" marR="73152" marT="36576" marB="36576">
                    <a:solidFill>
                      <a:srgbClr val="FFFFFF"/>
                    </a:solidFill>
                  </a:tcPr>
                </a:tc>
                <a:tc>
                  <a:txBody>
                    <a:bodyPr wrap="square"/>
                    <a:lstStyle/>
                    <a:p>
                      <a:pPr algn="l"/>
                      <a:r>
                        <a:rPr sz="1000" b="0">
                          <a:solidFill>
                            <a:srgbClr val="21295C"/>
                          </a:solidFill>
                          <a:latin typeface="Arial"/>
                        </a:rPr>
                        <a:t>Needed for EC25 compensation of permeate conductivity.</a:t>
                      </a:r>
                    </a:p>
                  </a:txBody>
                  <a:tcPr marL="73152" marR="73152" marT="36576" marB="36576">
                    <a:solidFill>
                      <a:srgbClr val="FFFFFF"/>
                    </a:solidFill>
                  </a:tcPr>
                </a:tc>
              </a:tr>
              <a:tr h="530352">
                <a:tc>
                  <a:txBody>
                    <a:bodyPr wrap="square"/>
                    <a:lstStyle/>
                    <a:p>
                      <a:pPr algn="l"/>
                      <a:r>
                        <a:rPr sz="1000" b="1">
                          <a:solidFill>
                            <a:srgbClr val="21295C"/>
                          </a:solidFill>
                          <a:latin typeface="Arial"/>
                        </a:rPr>
                        <a:t>Permeate Cond (μS/cm)</a:t>
                      </a:r>
                    </a:p>
                  </a:txBody>
                  <a:tcPr marL="73152" marR="73152" marT="36576" marB="36576">
                    <a:solidFill>
                      <a:srgbClr val="F1F4ED"/>
                    </a:solidFill>
                  </a:tcPr>
                </a:tc>
                <a:tc>
                  <a:txBody>
                    <a:bodyPr wrap="square"/>
                    <a:lstStyle/>
                    <a:p>
                      <a:pPr algn="l"/>
                      <a:r>
                        <a:rPr sz="1000" b="0">
                          <a:solidFill>
                            <a:srgbClr val="21295C"/>
                          </a:solidFill>
                          <a:latin typeface="Arial"/>
                        </a:rPr>
                        <a:t>EC25 temperature compensation (same as retentate); tube-transit-time correction on TIME axis, not value</a:t>
                      </a:r>
                    </a:p>
                  </a:txBody>
                  <a:tcPr marL="73152" marR="73152" marT="36576" marB="36576">
                    <a:solidFill>
                      <a:srgbClr val="F1F4ED"/>
                    </a:solidFill>
                  </a:tcPr>
                </a:tc>
                <a:tc>
                  <a:txBody>
                    <a:bodyPr wrap="square"/>
                    <a:lstStyle/>
                    <a:p>
                      <a:pPr algn="l"/>
                      <a:r>
                        <a:rPr sz="1000" b="0">
                          <a:solidFill>
                            <a:srgbClr val="21295C"/>
                          </a:solidFill>
                          <a:latin typeface="Arial"/>
                        </a:rPr>
                        <a:t>Tube transit τ = V_tube / (dm/dt) shifts the permeate time axis to account for the 0.3 g dead volume between membrane and probe.</a:t>
                      </a:r>
                    </a:p>
                  </a:txBody>
                  <a:tcPr marL="73152" marR="73152" marT="36576" marB="36576">
                    <a:solidFill>
                      <a:srgbClr val="F1F4ED"/>
                    </a:solidFill>
                  </a:tcPr>
                </a:tc>
              </a:tr>
              <a:tr h="530352">
                <a:tc>
                  <a:txBody>
                    <a:bodyPr wrap="square"/>
                    <a:lstStyle/>
                    <a:p>
                      <a:pPr algn="l"/>
                      <a:r>
                        <a:rPr sz="1000" b="1">
                          <a:solidFill>
                            <a:srgbClr val="21295C"/>
                          </a:solidFill>
                          <a:latin typeface="Arial"/>
                        </a:rPr>
                        <a:t>Vial Swap</a:t>
                      </a:r>
                    </a:p>
                  </a:txBody>
                  <a:tcPr marL="73152" marR="73152" marT="36576" marB="36576">
                    <a:solidFill>
                      <a:srgbClr val="FFFFFF"/>
                    </a:solidFill>
                  </a:tcPr>
                </a:tc>
                <a:tc>
                  <a:txBody>
                    <a:bodyPr wrap="square"/>
                    <a:lstStyle/>
                    <a:p>
                      <a:pPr algn="l"/>
                      <a:r>
                        <a:rPr sz="1000" b="0">
                          <a:solidFill>
                            <a:srgbClr val="21295C"/>
                          </a:solidFill>
                          <a:latin typeface="Arial"/>
                        </a:rPr>
                        <a:t>1:1 preserved</a:t>
                      </a:r>
                    </a:p>
                  </a:txBody>
                  <a:tcPr marL="73152" marR="73152" marT="36576" marB="36576">
                    <a:solidFill>
                      <a:srgbClr val="FFFFFF"/>
                    </a:solidFill>
                  </a:tcPr>
                </a:tc>
                <a:tc>
                  <a:txBody>
                    <a:bodyPr wrap="square"/>
                    <a:lstStyle/>
                    <a:p>
                      <a:pPr algn="l"/>
                      <a:r>
                        <a:rPr sz="1000" b="0">
                          <a:solidFill>
                            <a:srgbClr val="21295C"/>
                          </a:solidFill>
                          <a:latin typeface="Arial"/>
                        </a:rPr>
                        <a:t>Index flag; used by loader to slice the continuous time-series into per-vial blocks.</a:t>
                      </a:r>
                    </a:p>
                  </a:txBody>
                  <a:tcPr marL="73152" marR="73152" marT="36576" marB="36576">
                    <a:solidFill>
                      <a:srgbClr val="FFFFFF"/>
                    </a:solidFill>
                  </a:tcPr>
                </a:tc>
              </a:tr>
              <a:tr h="530352">
                <a:tc>
                  <a:txBody>
                    <a:bodyPr wrap="square"/>
                    <a:lstStyle/>
                    <a:p>
                      <a:pPr algn="l"/>
                      <a:r>
                        <a:rPr sz="1000" b="1">
                          <a:solidFill>
                            <a:srgbClr val="21295C"/>
                          </a:solidFill>
                          <a:latin typeface="Arial"/>
                        </a:rPr>
                        <a:t>ICP (cV_avg per vial)</a:t>
                      </a:r>
                    </a:p>
                  </a:txBody>
                  <a:tcPr marL="73152" marR="73152" marT="36576" marB="36576">
                    <a:solidFill>
                      <a:srgbClr val="F1F4ED"/>
                    </a:solidFill>
                  </a:tcPr>
                </a:tc>
                <a:tc>
                  <a:txBody>
                    <a:bodyPr wrap="square"/>
                    <a:lstStyle/>
                    <a:p>
                      <a:pPr algn="l"/>
                      <a:r>
                        <a:rPr sz="1000" b="0">
                          <a:solidFill>
                            <a:srgbClr val="21295C"/>
                          </a:solidFill>
                          <a:latin typeface="Arial"/>
                        </a:rPr>
                        <a:t>Extracted from vial-data block (cols 14–21); one scalar per vial. Conductivity calibration applied if needed.</a:t>
                      </a:r>
                    </a:p>
                  </a:txBody>
                  <a:tcPr marL="73152" marR="73152" marT="36576" marB="36576">
                    <a:solidFill>
                      <a:srgbClr val="F1F4ED"/>
                    </a:solidFill>
                  </a:tcPr>
                </a:tc>
                <a:tc>
                  <a:txBody>
                    <a:bodyPr wrap="square"/>
                    <a:lstStyle/>
                    <a:p>
                      <a:pPr algn="l"/>
                      <a:r>
                        <a:rPr sz="1000" b="0">
                          <a:solidFill>
                            <a:srgbClr val="21295C"/>
                          </a:solidFill>
                          <a:latin typeface="Arial"/>
                        </a:rPr>
                        <a:t>Vial ICP-OES gives ion-specific concentrations; reduced to one mM scalar per vial for the model.</a:t>
                      </a:r>
                    </a:p>
                  </a:txBody>
                  <a:tcPr marL="73152" marR="73152" marT="36576" marB="36576">
                    <a:solidFill>
                      <a:srgbClr val="F1F4ED"/>
                    </a:solidFill>
                  </a:tcPr>
                </a:tc>
              </a:tr>
            </a:tbl>
          </a:graphicData>
        </a:graphic>
      </p:graphicFrame>
      <p:sp>
        <p:nvSpPr>
          <p:cNvPr id="5" name="TextBox 4"/>
          <p:cNvSpPr txBox="1"/>
          <p:nvPr/>
        </p:nvSpPr>
        <p:spPr>
          <a:xfrm>
            <a:off x="365760" y="6446520"/>
            <a:ext cx="11430000" cy="320040"/>
          </a:xfrm>
          <a:prstGeom prst="rect">
            <a:avLst/>
          </a:prstGeom>
          <a:noFill/>
        </p:spPr>
        <p:txBody>
          <a:bodyPr wrap="square" lIns="0" rIns="0" tIns="0" bIns="0">
            <a:spAutoFit/>
          </a:bodyPr>
          <a:lstStyle/>
          <a:p>
            <a:pPr algn="l"/>
            <a:r>
              <a:rPr sz="1000" b="0" i="1">
                <a:solidFill>
                  <a:srgbClr val="21295C"/>
                </a:solidFill>
                <a:latin typeface="Arial"/>
              </a:rPr>
              <a:t>Salt-specific α (1/°C) used by EC25:  KCl = 0.019  ·  NaCl = 0.021  ·  CaCl₂ = 0.023  ·  LaCl₃ = 0.025  ·  default = 0.024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48640"/>
          </a:xfrm>
          <a:prstGeom prst="rect">
            <a:avLst/>
          </a:prstGeom>
          <a:noFill/>
        </p:spPr>
        <p:txBody>
          <a:bodyPr wrap="square" lIns="0" rIns="0" tIns="0" bIns="0">
            <a:spAutoFit/>
          </a:bodyPr>
          <a:lstStyle/>
          <a:p>
            <a:pPr algn="l"/>
            <a:r>
              <a:rPr sz="2600" b="1" i="0">
                <a:solidFill>
                  <a:srgbClr val="1E2761"/>
                </a:solidFill>
                <a:latin typeface="Arial"/>
              </a:rPr>
              <a:t>Loader-fidelity audit  ·  every data point verified</a:t>
            </a:r>
          </a:p>
        </p:txBody>
      </p:sp>
      <p:sp>
        <p:nvSpPr>
          <p:cNvPr id="3" name="TextBox 2"/>
          <p:cNvSpPr txBox="1"/>
          <p:nvPr/>
        </p:nvSpPr>
        <p:spPr>
          <a:xfrm>
            <a:off x="365760" y="777240"/>
            <a:ext cx="11430000" cy="365760"/>
          </a:xfrm>
          <a:prstGeom prst="rect">
            <a:avLst/>
          </a:prstGeom>
          <a:noFill/>
        </p:spPr>
        <p:txBody>
          <a:bodyPr wrap="square" lIns="0" rIns="0" tIns="0" bIns="0">
            <a:spAutoFit/>
          </a:bodyPr>
          <a:lstStyle/>
          <a:p>
            <a:pPr algn="l"/>
            <a:r>
              <a:rPr sz="1200" b="0" i="1">
                <a:solidFill>
                  <a:srgbClr val="6B7A99"/>
                </a:solidFill>
                <a:latin typeface="Arial"/>
              </a:rPr>
              <a:t>DATA3_loader_fidelity_audit_2026-05-27.xlsx  —  13 single-salt sheets  ·  9 columns each  ·  point-by-point check</a:t>
            </a:r>
          </a:p>
        </p:txBody>
      </p:sp>
      <p:sp>
        <p:nvSpPr>
          <p:cNvPr id="4" name="Rectangle 3"/>
          <p:cNvSpPr/>
          <p:nvPr/>
        </p:nvSpPr>
        <p:spPr>
          <a:xfrm>
            <a:off x="365760" y="1371600"/>
            <a:ext cx="5486400" cy="228600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0"/>
            <a:ext cx="5303520" cy="548640"/>
          </a:xfrm>
          <a:prstGeom prst="rect">
            <a:avLst/>
          </a:prstGeom>
          <a:noFill/>
        </p:spPr>
        <p:txBody>
          <a:bodyPr wrap="square" lIns="0" rIns="0" tIns="0" bIns="0">
            <a:spAutoFit/>
          </a:bodyPr>
          <a:lstStyle/>
          <a:p>
            <a:pPr algn="l"/>
            <a:r>
              <a:rPr sz="1400" b="1" i="0">
                <a:solidFill>
                  <a:srgbClr val="CADCFC"/>
                </a:solidFill>
                <a:latin typeface="Arial"/>
              </a:rPr>
              <a:t>TOTAL POINTS AUDITED</a:t>
            </a:r>
          </a:p>
        </p:txBody>
      </p:sp>
      <p:sp>
        <p:nvSpPr>
          <p:cNvPr id="6" name="TextBox 5"/>
          <p:cNvSpPr txBox="1"/>
          <p:nvPr/>
        </p:nvSpPr>
        <p:spPr>
          <a:xfrm>
            <a:off x="457200" y="2103120"/>
            <a:ext cx="5303520" cy="1097280"/>
          </a:xfrm>
          <a:prstGeom prst="rect">
            <a:avLst/>
          </a:prstGeom>
          <a:noFill/>
        </p:spPr>
        <p:txBody>
          <a:bodyPr wrap="square" lIns="0" rIns="0" tIns="0" bIns="0">
            <a:spAutoFit/>
          </a:bodyPr>
          <a:lstStyle/>
          <a:p>
            <a:pPr algn="l"/>
            <a:r>
              <a:rPr sz="7200" b="1" i="0">
                <a:solidFill>
                  <a:srgbClr val="FFFFFF"/>
                </a:solidFill>
                <a:latin typeface="Arial"/>
              </a:rPr>
              <a:t>70,101</a:t>
            </a:r>
          </a:p>
        </p:txBody>
      </p:sp>
      <p:sp>
        <p:nvSpPr>
          <p:cNvPr id="7" name="TextBox 6"/>
          <p:cNvSpPr txBox="1"/>
          <p:nvPr/>
        </p:nvSpPr>
        <p:spPr>
          <a:xfrm>
            <a:off x="457200" y="3291840"/>
            <a:ext cx="5303520" cy="365760"/>
          </a:xfrm>
          <a:prstGeom prst="rect">
            <a:avLst/>
          </a:prstGeom>
          <a:noFill/>
        </p:spPr>
        <p:txBody>
          <a:bodyPr wrap="square" lIns="0" rIns="0" tIns="0" bIns="0">
            <a:spAutoFit/>
          </a:bodyPr>
          <a:lstStyle/>
          <a:p>
            <a:pPr algn="l"/>
            <a:r>
              <a:rPr sz="1200" b="0" i="0">
                <a:solidFill>
                  <a:srgbClr val="CADCFC"/>
                </a:solidFill>
                <a:latin typeface="Arial"/>
              </a:rPr>
              <a:t>across 13 single-salt experiments</a:t>
            </a:r>
          </a:p>
        </p:txBody>
      </p:sp>
      <p:sp>
        <p:nvSpPr>
          <p:cNvPr id="8" name="Rectangle 7"/>
          <p:cNvSpPr/>
          <p:nvPr/>
        </p:nvSpPr>
        <p:spPr>
          <a:xfrm>
            <a:off x="6126480" y="1371600"/>
            <a:ext cx="5669280" cy="2286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54480"/>
            <a:ext cx="5486400" cy="365760"/>
          </a:xfrm>
          <a:prstGeom prst="rect">
            <a:avLst/>
          </a:prstGeom>
          <a:noFill/>
        </p:spPr>
        <p:txBody>
          <a:bodyPr wrap="square" lIns="0" rIns="0" tIns="0" bIns="0">
            <a:spAutoFit/>
          </a:bodyPr>
          <a:lstStyle/>
          <a:p>
            <a:pPr algn="l"/>
            <a:r>
              <a:rPr sz="1400" b="1" i="0">
                <a:solidFill>
                  <a:srgbClr val="CADCFC"/>
                </a:solidFill>
                <a:latin typeface="Arial"/>
              </a:rPr>
              <a:t>GOOD  /  WARNING  /  BAD</a:t>
            </a:r>
          </a:p>
        </p:txBody>
      </p:sp>
      <p:sp>
        <p:nvSpPr>
          <p:cNvPr id="10" name="TextBox 9"/>
          <p:cNvSpPr txBox="1"/>
          <p:nvPr/>
        </p:nvSpPr>
        <p:spPr>
          <a:xfrm>
            <a:off x="6217920" y="2103120"/>
            <a:ext cx="5486400" cy="1097280"/>
          </a:xfrm>
          <a:prstGeom prst="rect">
            <a:avLst/>
          </a:prstGeom>
          <a:noFill/>
        </p:spPr>
        <p:txBody>
          <a:bodyPr wrap="square" lIns="0" rIns="0" tIns="0" bIns="0">
            <a:spAutoFit/>
          </a:bodyPr>
          <a:lstStyle/>
          <a:p>
            <a:pPr algn="l"/>
            <a:r>
              <a:rPr sz="5600" b="1" i="0">
                <a:solidFill>
                  <a:srgbClr val="FFFFFF"/>
                </a:solidFill>
                <a:latin typeface="Arial"/>
              </a:rPr>
              <a:t>100 % / 0 / 0</a:t>
            </a:r>
          </a:p>
        </p:txBody>
      </p:sp>
      <p:sp>
        <p:nvSpPr>
          <p:cNvPr id="11" name="TextBox 10"/>
          <p:cNvSpPr txBox="1"/>
          <p:nvPr/>
        </p:nvSpPr>
        <p:spPr>
          <a:xfrm>
            <a:off x="6217920" y="3291840"/>
            <a:ext cx="5486400" cy="365760"/>
          </a:xfrm>
          <a:prstGeom prst="rect">
            <a:avLst/>
          </a:prstGeom>
          <a:noFill/>
        </p:spPr>
        <p:txBody>
          <a:bodyPr wrap="square" lIns="0" rIns="0" tIns="0" bIns="0">
            <a:spAutoFit/>
          </a:bodyPr>
          <a:lstStyle/>
          <a:p>
            <a:pPr algn="l"/>
            <a:r>
              <a:rPr sz="1200" b="0" i="0">
                <a:solidFill>
                  <a:srgbClr val="CADCFC"/>
                </a:solidFill>
                <a:latin typeface="Arial"/>
              </a:rPr>
              <a:t>Zero warnings.  Zero bad.  No data discrepancies.</a:t>
            </a:r>
          </a:p>
        </p:txBody>
      </p:sp>
      <p:sp>
        <p:nvSpPr>
          <p:cNvPr id="12" name="TextBox 11"/>
          <p:cNvSpPr txBox="1"/>
          <p:nvPr/>
        </p:nvSpPr>
        <p:spPr>
          <a:xfrm>
            <a:off x="365760" y="4023360"/>
            <a:ext cx="11430000" cy="457200"/>
          </a:xfrm>
          <a:prstGeom prst="rect">
            <a:avLst/>
          </a:prstGeom>
          <a:noFill/>
        </p:spPr>
        <p:txBody>
          <a:bodyPr wrap="square" lIns="0" rIns="0" tIns="0" bIns="0">
            <a:spAutoFit/>
          </a:bodyPr>
          <a:lstStyle/>
          <a:p>
            <a:pPr algn="l"/>
            <a:r>
              <a:rPr sz="1600" b="1" i="0">
                <a:solidFill>
                  <a:srgbClr val="1E2761"/>
                </a:solidFill>
                <a:latin typeface="Arial"/>
              </a:rPr>
              <a:t>How the audit works</a:t>
            </a:r>
          </a:p>
        </p:txBody>
      </p:sp>
      <p:sp>
        <p:nvSpPr>
          <p:cNvPr id="13" name="TextBox 12"/>
          <p:cNvSpPr txBox="1"/>
          <p:nvPr/>
        </p:nvSpPr>
        <p:spPr>
          <a:xfrm>
            <a:off x="457200" y="4526280"/>
            <a:ext cx="11338560" cy="1920240"/>
          </a:xfrm>
          <a:prstGeom prst="rect">
            <a:avLst/>
          </a:prstGeom>
          <a:noFill/>
        </p:spPr>
        <p:txBody>
          <a:bodyPr wrap="square" lIns="0" rIns="0" tIns="0" bIns="0">
            <a:spAutoFit/>
          </a:bodyPr>
          <a:lstStyle/>
          <a:p>
            <a:pPr algn="l"/>
            <a:r>
              <a:rPr sz="1200" b="0" i="0">
                <a:solidFill>
                  <a:srgbClr val="21295C"/>
                </a:solidFill>
                <a:latin typeface="Arial"/>
              </a:rPr>
              <a:t>1.   Read raw Excel directly with pandas — no library code in the data path.</a:t>
            </a:r>
          </a:p>
          <a:p>
            <a:pPr algn="l"/>
            <a:r>
              <a:rPr sz="1200" b="0" i="0">
                <a:solidFill>
                  <a:srgbClr val="21295C"/>
                </a:solidFill>
                <a:latin typeface="Arial"/>
              </a:rPr>
              <a:t>2.   Load via lib.loadxlsx → data_stru.</a:t>
            </a:r>
          </a:p>
          <a:p>
            <a:pPr algn="l"/>
            <a:r>
              <a:rPr sz="1200" b="0" i="0">
                <a:solidFill>
                  <a:srgbClr val="21295C"/>
                </a:solidFill>
                <a:latin typeface="Arial"/>
              </a:rPr>
              <a:t>3.   Apply the documented transformations from the table to the raw data (EC25 + per-vial mass baseline).</a:t>
            </a:r>
          </a:p>
          <a:p>
            <a:pPr algn="l"/>
            <a:r>
              <a:rPr sz="1200" b="0" i="0">
                <a:solidFill>
                  <a:srgbClr val="21295C"/>
                </a:solidFill>
                <a:latin typeface="Arial"/>
              </a:rPr>
              <a:t>4.   Time-align each loaded sample to its corresponding raw row (handles the holdup-split convention).</a:t>
            </a:r>
          </a:p>
          <a:p>
            <a:pPr algn="l"/>
            <a:r>
              <a:rPr sz="1200" b="0" i="0">
                <a:solidFill>
                  <a:srgbClr val="21295C"/>
                </a:solidFill>
                <a:latin typeface="Arial"/>
              </a:rPr>
              <a:t>5.   Compute absolute + relative residual per data point.</a:t>
            </a:r>
          </a:p>
          <a:p>
            <a:pPr algn="l"/>
            <a:r>
              <a:rPr sz="1200" b="0" i="0">
                <a:solidFill>
                  <a:srgbClr val="21295C"/>
                </a:solidFill>
                <a:latin typeface="Arial"/>
              </a:rPr>
              <a:t>6.   Classify good / warning / bad based on 1% relative + absolute-floor tolerance.</a:t>
            </a:r>
          </a:p>
        </p:txBody>
      </p:sp>
      <p:sp>
        <p:nvSpPr>
          <p:cNvPr id="14" name="TextBox 13"/>
          <p:cNvSpPr txBox="1"/>
          <p:nvPr/>
        </p:nvSpPr>
        <p:spPr>
          <a:xfrm>
            <a:off x="365760" y="6537960"/>
            <a:ext cx="11430000" cy="274320"/>
          </a:xfrm>
          <a:prstGeom prst="rect">
            <a:avLst/>
          </a:prstGeom>
          <a:noFill/>
        </p:spPr>
        <p:txBody>
          <a:bodyPr wrap="square" lIns="0" rIns="0" tIns="0" bIns="0">
            <a:spAutoFit/>
          </a:bodyPr>
          <a:lstStyle/>
          <a:p>
            <a:pPr algn="l"/>
            <a:r>
              <a:rPr sz="1000" b="0" i="1">
                <a:solidFill>
                  <a:srgbClr val="6B7A99"/>
                </a:solidFill>
                <a:latin typeface="Arial"/>
              </a:rPr>
              <a:t>Output workbook tabs:  _transformations  (the table)  +  _summary  (per-sheet × per-variable verdicts)  +  13 detail tabs  (point-by-point, color-coded).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48640"/>
          </a:xfrm>
          <a:prstGeom prst="rect">
            <a:avLst/>
          </a:prstGeom>
          <a:noFill/>
        </p:spPr>
        <p:txBody>
          <a:bodyPr wrap="square" lIns="0" rIns="0" tIns="0" bIns="0">
            <a:spAutoFit/>
          </a:bodyPr>
          <a:lstStyle/>
          <a:p>
            <a:pPr algn="l"/>
            <a:r>
              <a:rPr sz="2600" b="1" i="0">
                <a:solidFill>
                  <a:srgbClr val="1E2761"/>
                </a:solidFill>
                <a:latin typeface="Arial"/>
              </a:rPr>
              <a:t>New raw-conductivity plot type  ·  matches collaborator's format</a:t>
            </a:r>
          </a:p>
        </p:txBody>
      </p:sp>
      <p:sp>
        <p:nvSpPr>
          <p:cNvPr id="3" name="TextBox 2"/>
          <p:cNvSpPr txBox="1"/>
          <p:nvPr/>
        </p:nvSpPr>
        <p:spPr>
          <a:xfrm>
            <a:off x="365760" y="777240"/>
            <a:ext cx="11430000" cy="365760"/>
          </a:xfrm>
          <a:prstGeom prst="rect">
            <a:avLst/>
          </a:prstGeom>
          <a:noFill/>
        </p:spPr>
        <p:txBody>
          <a:bodyPr wrap="square" lIns="0" rIns="0" tIns="0" bIns="0">
            <a:spAutoFit/>
          </a:bodyPr>
          <a:lstStyle/>
          <a:p>
            <a:pPr algn="l"/>
            <a:r>
              <a:rPr sz="1200" b="0" i="1">
                <a:solidFill>
                  <a:srgbClr val="6B7A99"/>
                </a:solidFill>
                <a:latin typeface="Arial"/>
              </a:rPr>
              <a:t>conductivity-&lt;prefix&gt;.png  —  generated per sheet alongside mass / concentration / pressure / osmotic plots</a:t>
            </a:r>
          </a:p>
        </p:txBody>
      </p:sp>
      <p:pic>
        <p:nvPicPr>
          <p:cNvPr id="4" name="Picture 3" descr="conductivity-JAO_050724_NF270_MC2_NaCl_NaCl_05.07.24_NaCl.png"/>
          <p:cNvPicPr>
            <a:picLocks noChangeAspect="1"/>
          </p:cNvPicPr>
          <p:nvPr/>
        </p:nvPicPr>
        <p:blipFill>
          <a:blip r:embed="rId2"/>
          <a:stretch>
            <a:fillRect/>
          </a:stretch>
        </p:blipFill>
        <p:spPr>
          <a:xfrm>
            <a:off x="365760" y="2223400"/>
            <a:ext cx="6858000" cy="3142719"/>
          </a:xfrm>
          <a:prstGeom prst="rect">
            <a:avLst/>
          </a:prstGeom>
        </p:spPr>
      </p:pic>
      <p:sp>
        <p:nvSpPr>
          <p:cNvPr id="5" name="TextBox 4"/>
          <p:cNvSpPr txBox="1"/>
          <p:nvPr/>
        </p:nvSpPr>
        <p:spPr>
          <a:xfrm>
            <a:off x="365760" y="6355080"/>
            <a:ext cx="6858000" cy="274320"/>
          </a:xfrm>
          <a:prstGeom prst="rect">
            <a:avLst/>
          </a:prstGeom>
          <a:noFill/>
        </p:spPr>
        <p:txBody>
          <a:bodyPr wrap="square" lIns="0" rIns="0" tIns="0" bIns="0">
            <a:spAutoFit/>
          </a:bodyPr>
          <a:lstStyle/>
          <a:p>
            <a:pPr algn="l"/>
            <a:r>
              <a:rPr sz="1000" b="0" i="1">
                <a:solidFill>
                  <a:srgbClr val="6B7A99"/>
                </a:solidFill>
                <a:latin typeface="Arial"/>
              </a:rPr>
              <a:t>MC2.05.07.24_NaCl — α = 0.021/°C, raw vs EC25-compensated overlaid</a:t>
            </a:r>
          </a:p>
        </p:txBody>
      </p:sp>
      <p:sp>
        <p:nvSpPr>
          <p:cNvPr id="6" name="TextBox 5"/>
          <p:cNvSpPr txBox="1"/>
          <p:nvPr/>
        </p:nvSpPr>
        <p:spPr>
          <a:xfrm>
            <a:off x="7406640" y="1280160"/>
            <a:ext cx="4389120" cy="457200"/>
          </a:xfrm>
          <a:prstGeom prst="rect">
            <a:avLst/>
          </a:prstGeom>
          <a:noFill/>
        </p:spPr>
        <p:txBody>
          <a:bodyPr wrap="square" lIns="0" rIns="0" tIns="0" bIns="0">
            <a:spAutoFit/>
          </a:bodyPr>
          <a:lstStyle/>
          <a:p>
            <a:pPr algn="l"/>
            <a:r>
              <a:rPr sz="1600" b="1" i="0">
                <a:solidFill>
                  <a:srgbClr val="1E2761"/>
                </a:solidFill>
                <a:latin typeface="Arial"/>
              </a:rPr>
              <a:t>What this plot shows</a:t>
            </a:r>
          </a:p>
        </p:txBody>
      </p:sp>
      <p:sp>
        <p:nvSpPr>
          <p:cNvPr id="7" name="TextBox 6"/>
          <p:cNvSpPr txBox="1"/>
          <p:nvPr/>
        </p:nvSpPr>
        <p:spPr>
          <a:xfrm>
            <a:off x="7406640" y="1737360"/>
            <a:ext cx="4389120" cy="2286000"/>
          </a:xfrm>
          <a:prstGeom prst="rect">
            <a:avLst/>
          </a:prstGeom>
          <a:noFill/>
        </p:spPr>
        <p:txBody>
          <a:bodyPr wrap="square" lIns="0" rIns="0" tIns="0" bIns="0">
            <a:spAutoFit/>
          </a:bodyPr>
          <a:lstStyle/>
          <a:p>
            <a:pPr algn="l"/>
            <a:r>
              <a:rPr sz="1100" b="0" i="0">
                <a:solidFill>
                  <a:srgbClr val="21295C"/>
                </a:solidFill>
                <a:latin typeface="Arial"/>
              </a:rPr>
              <a:t>• Magenta ▲  = RAW retentate (μS/cm at measured T) — direct from data-file col 4</a:t>
            </a:r>
          </a:p>
          <a:p>
            <a:pPr algn="l"/>
            <a:r>
              <a:rPr sz="1100" b="0" i="0">
                <a:solidFill>
                  <a:srgbClr val="21295C"/>
                </a:solidFill>
                <a:latin typeface="Arial"/>
              </a:rPr>
              <a:t>• Red ◆  = RAW permeate (μS/cm at measured T) — direct from data-file col 6</a:t>
            </a:r>
          </a:p>
          <a:p>
            <a:pPr algn="l"/>
            <a:r>
              <a:rPr sz="1100" b="0" i="0">
                <a:solidFill>
                  <a:srgbClr val="21295C"/>
                </a:solidFill>
                <a:latin typeface="Arial"/>
              </a:rPr>
              <a:t>• Green line  = EC25-compensated retentate (the values our model uses)</a:t>
            </a:r>
          </a:p>
          <a:p>
            <a:pPr algn="l"/>
            <a:r>
              <a:rPr sz="1100" b="0" i="0">
                <a:solidFill>
                  <a:srgbClr val="21295C"/>
                </a:solidFill>
                <a:latin typeface="Arial"/>
              </a:rPr>
              <a:t>• Black line  = EC25-compensated permeate</a:t>
            </a:r>
          </a:p>
          <a:p>
            <a:pPr algn="l"/>
            <a:r>
              <a:rPr sz="1100" b="0" i="0">
                <a:solidFill>
                  <a:srgbClr val="21295C"/>
                </a:solidFill>
                <a:latin typeface="Arial"/>
              </a:rPr>
              <a:t>• In-plot annotation calls out the formula and the data-file columns explicitly.</a:t>
            </a:r>
          </a:p>
        </p:txBody>
      </p:sp>
      <p:sp>
        <p:nvSpPr>
          <p:cNvPr id="8" name="TextBox 7"/>
          <p:cNvSpPr txBox="1"/>
          <p:nvPr/>
        </p:nvSpPr>
        <p:spPr>
          <a:xfrm>
            <a:off x="7406640" y="4206240"/>
            <a:ext cx="4389120" cy="365760"/>
          </a:xfrm>
          <a:prstGeom prst="rect">
            <a:avLst/>
          </a:prstGeom>
          <a:noFill/>
        </p:spPr>
        <p:txBody>
          <a:bodyPr wrap="square" lIns="0" rIns="0" tIns="0" bIns="0">
            <a:spAutoFit/>
          </a:bodyPr>
          <a:lstStyle/>
          <a:p>
            <a:pPr algn="l"/>
            <a:r>
              <a:rPr sz="1400" b="1" i="0">
                <a:solidFill>
                  <a:srgbClr val="2C5F2D"/>
                </a:solidFill>
                <a:latin typeface="Arial"/>
              </a:rPr>
              <a:t>Salt-agnostic by construction</a:t>
            </a:r>
          </a:p>
        </p:txBody>
      </p:sp>
      <p:sp>
        <p:nvSpPr>
          <p:cNvPr id="9" name="TextBox 8"/>
          <p:cNvSpPr txBox="1"/>
          <p:nvPr/>
        </p:nvSpPr>
        <p:spPr>
          <a:xfrm>
            <a:off x="7406640" y="4572000"/>
            <a:ext cx="4389120" cy="1828800"/>
          </a:xfrm>
          <a:prstGeom prst="rect">
            <a:avLst/>
          </a:prstGeom>
          <a:noFill/>
        </p:spPr>
        <p:txBody>
          <a:bodyPr wrap="square" lIns="0" rIns="0" tIns="0" bIns="0">
            <a:spAutoFit/>
          </a:bodyPr>
          <a:lstStyle/>
          <a:p>
            <a:pPr algn="l"/>
            <a:r>
              <a:rPr sz="1100" b="0" i="0">
                <a:solidFill>
                  <a:srgbClr val="21295C"/>
                </a:solidFill>
                <a:latin typeface="Arial"/>
              </a:rPr>
              <a:t>Uses CONDUCTIVITY_TEMP_COEFF_PER_C[salt]</a:t>
            </a:r>
          </a:p>
          <a:p>
            <a:pPr algn="l"/>
            <a:r>
              <a:rPr sz="1100" b="0" i="0">
                <a:solidFill>
                  <a:srgbClr val="21295C"/>
                </a:solidFill>
                <a:latin typeface="Arial"/>
              </a:rPr>
              <a:t>→  NaCl 0.021 / CaCl₂ 0.023 / LaCl₃ 0.025</a:t>
            </a:r>
          </a:p>
          <a:p>
            <a:pPr algn="l"/>
            <a:r>
              <a:rPr sz="1100" b="0" i="0">
                <a:solidFill>
                  <a:srgbClr val="21295C"/>
                </a:solidFill>
                <a:latin typeface="Arial"/>
              </a:rPr>
              <a:t/>
            </a:r>
          </a:p>
          <a:p>
            <a:pPr algn="l"/>
            <a:r>
              <a:rPr sz="1100" b="0" i="0">
                <a:solidFill>
                  <a:srgbClr val="21295C"/>
                </a:solidFill>
                <a:latin typeface="Arial"/>
              </a:rPr>
              <a:t>Smoke-tested on:</a:t>
            </a:r>
          </a:p>
          <a:p>
            <a:pPr algn="l"/>
            <a:r>
              <a:rPr sz="1100" b="0" i="0">
                <a:solidFill>
                  <a:srgbClr val="21295C"/>
                </a:solidFill>
                <a:latin typeface="Arial"/>
              </a:rPr>
              <a:t>  •  MC2.05.07.24_NaCl   ✓</a:t>
            </a:r>
          </a:p>
          <a:p>
            <a:pPr algn="l"/>
            <a:r>
              <a:rPr sz="1100" b="0" i="0">
                <a:solidFill>
                  <a:srgbClr val="21295C"/>
                </a:solidFill>
                <a:latin typeface="Arial"/>
              </a:rPr>
              <a:t>  •  MC2.05.07.24_CaCl₂  ✓</a:t>
            </a:r>
          </a:p>
          <a:p>
            <a:pPr algn="l"/>
            <a:r>
              <a:rPr sz="1100" b="0" i="0">
                <a:solidFill>
                  <a:srgbClr val="21295C"/>
                </a:solidFill>
                <a:latin typeface="Arial"/>
              </a:rPr>
              <a:t>  •  MC2.05.21.24_LaCl₃  ✓</a:t>
            </a:r>
          </a:p>
          <a:p>
            <a:pPr algn="l"/>
            <a:r>
              <a:rPr sz="1100" b="0" i="0">
                <a:solidFill>
                  <a:srgbClr val="21295C"/>
                </a:solidFill>
                <a:latin typeface="Arial"/>
              </a:rPr>
              <a:t/>
            </a:r>
          </a:p>
          <a:p>
            <a:pPr algn="l"/>
            <a:r>
              <a:rPr sz="1100" b="0" i="0">
                <a:solidFill>
                  <a:srgbClr val="21295C"/>
                </a:solidFill>
                <a:latin typeface="Arial"/>
              </a:rPr>
              <a:t>Every future NaCl, CaCl₂, or LaCl₃ rollout emits this plot automatically.</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548640"/>
          </a:xfrm>
          <a:prstGeom prst="rect">
            <a:avLst/>
          </a:prstGeom>
          <a:noFill/>
        </p:spPr>
        <p:txBody>
          <a:bodyPr wrap="square" lIns="0" rIns="0" tIns="0" bIns="0">
            <a:spAutoFit/>
          </a:bodyPr>
          <a:lstStyle/>
          <a:p>
            <a:pPr algn="l"/>
            <a:r>
              <a:rPr sz="2600" b="1" i="0">
                <a:solidFill>
                  <a:srgbClr val="1E2761"/>
                </a:solidFill>
                <a:latin typeface="Arial"/>
              </a:rPr>
              <a:t>What we can say to the collaborator</a:t>
            </a:r>
          </a:p>
        </p:txBody>
      </p:sp>
      <p:sp>
        <p:nvSpPr>
          <p:cNvPr id="3" name="Rectangle 2"/>
          <p:cNvSpPr/>
          <p:nvPr/>
        </p:nvSpPr>
        <p:spPr>
          <a:xfrm>
            <a:off x="365760" y="1188720"/>
            <a:ext cx="3688080" cy="274320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188720"/>
            <a:ext cx="3688080" cy="54864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3413760" cy="365760"/>
          </a:xfrm>
          <a:prstGeom prst="rect">
            <a:avLst/>
          </a:prstGeom>
          <a:noFill/>
        </p:spPr>
        <p:txBody>
          <a:bodyPr wrap="square" lIns="0" rIns="0" tIns="0" bIns="0">
            <a:spAutoFit/>
          </a:bodyPr>
          <a:lstStyle/>
          <a:p>
            <a:pPr algn="l"/>
            <a:r>
              <a:rPr sz="1200" b="1" i="0">
                <a:solidFill>
                  <a:srgbClr val="FFFFFF"/>
                </a:solidFill>
                <a:latin typeface="Arial"/>
              </a:rPr>
              <a:t>1.  Loader audit</a:t>
            </a:r>
          </a:p>
        </p:txBody>
      </p:sp>
      <p:sp>
        <p:nvSpPr>
          <p:cNvPr id="6" name="TextBox 5"/>
          <p:cNvSpPr txBox="1"/>
          <p:nvPr/>
        </p:nvSpPr>
        <p:spPr>
          <a:xfrm>
            <a:off x="502920" y="1920240"/>
            <a:ext cx="3413760" cy="640080"/>
          </a:xfrm>
          <a:prstGeom prst="rect">
            <a:avLst/>
          </a:prstGeom>
          <a:noFill/>
        </p:spPr>
        <p:txBody>
          <a:bodyPr wrap="square" lIns="0" rIns="0" tIns="0" bIns="0">
            <a:spAutoFit/>
          </a:bodyPr>
          <a:lstStyle/>
          <a:p>
            <a:pPr algn="l"/>
            <a:r>
              <a:rPr sz="2200" b="1" i="0">
                <a:solidFill>
                  <a:srgbClr val="2C5F2D"/>
                </a:solidFill>
                <a:latin typeface="Arial"/>
              </a:rPr>
              <a:t>70,101 / 70,101  GOOD</a:t>
            </a:r>
          </a:p>
        </p:txBody>
      </p:sp>
      <p:sp>
        <p:nvSpPr>
          <p:cNvPr id="7" name="TextBox 6"/>
          <p:cNvSpPr txBox="1"/>
          <p:nvPr/>
        </p:nvSpPr>
        <p:spPr>
          <a:xfrm>
            <a:off x="502920" y="2651760"/>
            <a:ext cx="3413760" cy="1188720"/>
          </a:xfrm>
          <a:prstGeom prst="rect">
            <a:avLst/>
          </a:prstGeom>
          <a:noFill/>
        </p:spPr>
        <p:txBody>
          <a:bodyPr wrap="square" lIns="0" rIns="0" tIns="0" bIns="0">
            <a:spAutoFit/>
          </a:bodyPr>
          <a:lstStyle/>
          <a:p>
            <a:pPr algn="l"/>
            <a:r>
              <a:rPr sz="1000" b="0" i="0">
                <a:solidFill>
                  <a:srgbClr val="21295C"/>
                </a:solidFill>
                <a:latin typeface="Arial"/>
              </a:rPr>
              <a:t>Every data point in every single-salt sheet matches the raw Excel — byte-equivalent on preserved columns, exact-match after the documented EC25 + mass-baseline transformations.  See DATA3_loader_fidelity_audit_2026-05-27.xlsx.</a:t>
            </a:r>
          </a:p>
        </p:txBody>
      </p:sp>
      <p:sp>
        <p:nvSpPr>
          <p:cNvPr id="8" name="Rectangle 7"/>
          <p:cNvSpPr/>
          <p:nvPr/>
        </p:nvSpPr>
        <p:spPr>
          <a:xfrm>
            <a:off x="4236720" y="1188720"/>
            <a:ext cx="3688080" cy="274320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36720" y="1188720"/>
            <a:ext cx="3688080" cy="548640"/>
          </a:xfrm>
          <a:prstGeom prst="rect">
            <a:avLst/>
          </a:prstGeom>
          <a:solidFill>
            <a:srgbClr val="C71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3880" y="1325880"/>
            <a:ext cx="3413760" cy="365760"/>
          </a:xfrm>
          <a:prstGeom prst="rect">
            <a:avLst/>
          </a:prstGeom>
          <a:noFill/>
        </p:spPr>
        <p:txBody>
          <a:bodyPr wrap="square" lIns="0" rIns="0" tIns="0" bIns="0">
            <a:spAutoFit/>
          </a:bodyPr>
          <a:lstStyle/>
          <a:p>
            <a:pPr algn="l"/>
            <a:r>
              <a:rPr sz="1200" b="1" i="0">
                <a:solidFill>
                  <a:srgbClr val="FFFFFF"/>
                </a:solidFill>
                <a:latin typeface="Arial"/>
              </a:rPr>
              <a:t>2.  Raw-conductivity plot</a:t>
            </a:r>
          </a:p>
        </p:txBody>
      </p:sp>
      <p:sp>
        <p:nvSpPr>
          <p:cNvPr id="11" name="TextBox 10"/>
          <p:cNvSpPr txBox="1"/>
          <p:nvPr/>
        </p:nvSpPr>
        <p:spPr>
          <a:xfrm>
            <a:off x="4373880" y="1920240"/>
            <a:ext cx="3413760" cy="640080"/>
          </a:xfrm>
          <a:prstGeom prst="rect">
            <a:avLst/>
          </a:prstGeom>
          <a:noFill/>
        </p:spPr>
        <p:txBody>
          <a:bodyPr wrap="square" lIns="0" rIns="0" tIns="0" bIns="0">
            <a:spAutoFit/>
          </a:bodyPr>
          <a:lstStyle/>
          <a:p>
            <a:pPr algn="l"/>
            <a:r>
              <a:rPr sz="2200" b="1" i="0">
                <a:solidFill>
                  <a:srgbClr val="C71585"/>
                </a:solidFill>
                <a:latin typeface="Arial"/>
              </a:rPr>
              <a:t>μS/cm vs s  ·  per sheet</a:t>
            </a:r>
          </a:p>
        </p:txBody>
      </p:sp>
      <p:sp>
        <p:nvSpPr>
          <p:cNvPr id="12" name="TextBox 11"/>
          <p:cNvSpPr txBox="1"/>
          <p:nvPr/>
        </p:nvSpPr>
        <p:spPr>
          <a:xfrm>
            <a:off x="4373880" y="2651760"/>
            <a:ext cx="3413760" cy="1188720"/>
          </a:xfrm>
          <a:prstGeom prst="rect">
            <a:avLst/>
          </a:prstGeom>
          <a:noFill/>
        </p:spPr>
        <p:txBody>
          <a:bodyPr wrap="square" lIns="0" rIns="0" tIns="0" bIns="0">
            <a:spAutoFit/>
          </a:bodyPr>
          <a:lstStyle/>
          <a:p>
            <a:pPr algn="l"/>
            <a:r>
              <a:rPr sz="1000" b="0" i="0">
                <a:solidFill>
                  <a:srgbClr val="21295C"/>
                </a:solidFill>
                <a:latin typeface="Arial"/>
              </a:rPr>
              <a:t>New conductivity-&lt;prefix&gt;.png plot type matches the collaborator's left-panel format exactly.  Raw retentate (magenta ▲), raw permeate (red ◆), with EC25-compensated curves overlaid.  Generated automatically for NaCl, CaCl₂, and LaCl₃ rollouts.</a:t>
            </a:r>
          </a:p>
        </p:txBody>
      </p:sp>
      <p:sp>
        <p:nvSpPr>
          <p:cNvPr id="13" name="Rectangle 12"/>
          <p:cNvSpPr/>
          <p:nvPr/>
        </p:nvSpPr>
        <p:spPr>
          <a:xfrm>
            <a:off x="8107680" y="1188720"/>
            <a:ext cx="3688080" cy="274320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07680" y="1188720"/>
            <a:ext cx="3688080" cy="5486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4840" y="1325880"/>
            <a:ext cx="3413760" cy="365760"/>
          </a:xfrm>
          <a:prstGeom prst="rect">
            <a:avLst/>
          </a:prstGeom>
          <a:noFill/>
        </p:spPr>
        <p:txBody>
          <a:bodyPr wrap="square" lIns="0" rIns="0" tIns="0" bIns="0">
            <a:spAutoFit/>
          </a:bodyPr>
          <a:lstStyle/>
          <a:p>
            <a:pPr algn="l"/>
            <a:r>
              <a:rPr sz="1200" b="1" i="0">
                <a:solidFill>
                  <a:srgbClr val="FFFFFF"/>
                </a:solidFill>
                <a:latin typeface="Arial"/>
              </a:rPr>
              <a:t>3.  Side-by-side deck</a:t>
            </a:r>
          </a:p>
        </p:txBody>
      </p:sp>
      <p:sp>
        <p:nvSpPr>
          <p:cNvPr id="16" name="TextBox 15"/>
          <p:cNvSpPr txBox="1"/>
          <p:nvPr/>
        </p:nvSpPr>
        <p:spPr>
          <a:xfrm>
            <a:off x="8244840" y="1920240"/>
            <a:ext cx="3413760" cy="640080"/>
          </a:xfrm>
          <a:prstGeom prst="rect">
            <a:avLst/>
          </a:prstGeom>
          <a:noFill/>
        </p:spPr>
        <p:txBody>
          <a:bodyPr wrap="square" lIns="0" rIns="0" tIns="0" bIns="0">
            <a:spAutoFit/>
          </a:bodyPr>
          <a:lstStyle/>
          <a:p>
            <a:pPr algn="l"/>
            <a:r>
              <a:rPr sz="2200" b="1" i="0">
                <a:solidFill>
                  <a:srgbClr val="1E2761"/>
                </a:solidFill>
                <a:latin typeface="Arial"/>
              </a:rPr>
              <a:t>11 sheets  ·  retentate agrees</a:t>
            </a:r>
          </a:p>
        </p:txBody>
      </p:sp>
      <p:sp>
        <p:nvSpPr>
          <p:cNvPr id="17" name="TextBox 16"/>
          <p:cNvSpPr txBox="1"/>
          <p:nvPr/>
        </p:nvSpPr>
        <p:spPr>
          <a:xfrm>
            <a:off x="8244840" y="2651760"/>
            <a:ext cx="3413760" cy="1188720"/>
          </a:xfrm>
          <a:prstGeom prst="rect">
            <a:avLst/>
          </a:prstGeom>
          <a:noFill/>
        </p:spPr>
        <p:txBody>
          <a:bodyPr wrap="square" lIns="0" rIns="0" tIns="0" bIns="0">
            <a:spAutoFit/>
          </a:bodyPr>
          <a:lstStyle/>
          <a:p>
            <a:pPr algn="l"/>
            <a:r>
              <a:rPr sz="1000" b="0" i="0">
                <a:solidFill>
                  <a:srgbClr val="21295C"/>
                </a:solidFill>
                <a:latin typeface="Arial"/>
              </a:rPr>
              <a:t>DATA3_single_salt_collab_comparison_2026-05-25.pptx — 14 slides pairing the collaborator's plots with ours.  Retentate end-of-run values match within ~5% on every spot-checked sheet.</a:t>
            </a:r>
          </a:p>
        </p:txBody>
      </p:sp>
      <p:sp>
        <p:nvSpPr>
          <p:cNvPr id="18" name="Rectangle 17"/>
          <p:cNvSpPr/>
          <p:nvPr/>
        </p:nvSpPr>
        <p:spPr>
          <a:xfrm>
            <a:off x="365760" y="4389120"/>
            <a:ext cx="11430000" cy="1645920"/>
          </a:xfrm>
          <a:prstGeom prst="rect">
            <a:avLst/>
          </a:prstGeom>
          <a:solidFill>
            <a:srgbClr val="0F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72000"/>
            <a:ext cx="11064240" cy="457200"/>
          </a:xfrm>
          <a:prstGeom prst="rect">
            <a:avLst/>
          </a:prstGeom>
          <a:noFill/>
        </p:spPr>
        <p:txBody>
          <a:bodyPr wrap="square" lIns="0" rIns="0" tIns="0" bIns="0">
            <a:spAutoFit/>
          </a:bodyPr>
          <a:lstStyle/>
          <a:p>
            <a:pPr algn="l"/>
            <a:r>
              <a:rPr sz="1800" b="1" i="0">
                <a:solidFill>
                  <a:srgbClr val="CADCFC"/>
                </a:solidFill>
                <a:latin typeface="Arial"/>
              </a:rPr>
              <a:t>Bottom line</a:t>
            </a:r>
          </a:p>
        </p:txBody>
      </p:sp>
      <p:sp>
        <p:nvSpPr>
          <p:cNvPr id="20" name="TextBox 19"/>
          <p:cNvSpPr txBox="1"/>
          <p:nvPr/>
        </p:nvSpPr>
        <p:spPr>
          <a:xfrm>
            <a:off x="548640" y="5029200"/>
            <a:ext cx="11064240" cy="1097280"/>
          </a:xfrm>
          <a:prstGeom prst="rect">
            <a:avLst/>
          </a:prstGeom>
          <a:noFill/>
        </p:spPr>
        <p:txBody>
          <a:bodyPr wrap="square" lIns="0" rIns="0" tIns="0" bIns="0">
            <a:spAutoFit/>
          </a:bodyPr>
          <a:lstStyle/>
          <a:p>
            <a:pPr algn="l"/>
            <a:r>
              <a:rPr sz="1200" b="0" i="0">
                <a:solidFill>
                  <a:srgbClr val="FFFFFF"/>
                </a:solidFill>
                <a:latin typeface="Arial"/>
              </a:rPr>
              <a:t>The DATA3 pipeline preserves the raw Excel measurements byte-equivalent on Time, Pressure, Temperatures, and Vial Swap, and transforms Mass / Conductivities by single documented formulas (per-vial baseline subtraction, EC25 by salt-specific α).  Every continuous-measurement column in the data file is now plotted in a generated figure — raw in μS/cm, derived in mM.  The "you're not plotting the data file" claim is empirically false.</a:t>
            </a:r>
          </a:p>
        </p:txBody>
      </p:sp>
      <p:sp>
        <p:nvSpPr>
          <p:cNvPr id="21" name="TextBox 20"/>
          <p:cNvSpPr txBox="1"/>
          <p:nvPr/>
        </p:nvSpPr>
        <p:spPr>
          <a:xfrm>
            <a:off x="365760" y="6263640"/>
            <a:ext cx="11430000" cy="365760"/>
          </a:xfrm>
          <a:prstGeom prst="rect">
            <a:avLst/>
          </a:prstGeom>
          <a:noFill/>
        </p:spPr>
        <p:txBody>
          <a:bodyPr wrap="square" lIns="0" rIns="0" tIns="0" bIns="0">
            <a:spAutoFit/>
          </a:bodyPr>
          <a:lstStyle/>
          <a:p>
            <a:pPr algn="l"/>
            <a:r>
              <a:rPr sz="1000" b="0" i="1">
                <a:solidFill>
                  <a:srgbClr val="6B7A99"/>
                </a:solidFill>
                <a:latin typeface="Arial"/>
              </a:rPr>
              <a:t>Detailed reference:  refactored_codes_v1/Architecture.md  ·  Section 14 (May 27, 2026 — Data validation)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972800" cy="548640"/>
          </a:xfrm>
          <a:prstGeom prst="rect">
            <a:avLst/>
          </a:prstGeom>
          <a:noFill/>
        </p:spPr>
        <p:txBody>
          <a:bodyPr wrap="square" lIns="0" rIns="0" tIns="0" bIns="0">
            <a:spAutoFit/>
          </a:bodyPr>
          <a:lstStyle/>
          <a:p>
            <a:pPr algn="l"/>
            <a:r>
              <a:rPr sz="2200" b="1" i="0">
                <a:solidFill>
                  <a:srgbClr val="CADCFC"/>
                </a:solidFill>
                <a:latin typeface="Arial"/>
              </a:rPr>
              <a:t>PRESSURE-DRIVEN BEHAVIOR</a:t>
            </a:r>
          </a:p>
        </p:txBody>
      </p:sp>
      <p:sp>
        <p:nvSpPr>
          <p:cNvPr id="4" name="TextBox 3"/>
          <p:cNvSpPr txBox="1"/>
          <p:nvPr/>
        </p:nvSpPr>
        <p:spPr>
          <a:xfrm>
            <a:off x="640080" y="2103120"/>
            <a:ext cx="10972800" cy="1371600"/>
          </a:xfrm>
          <a:prstGeom prst="rect">
            <a:avLst/>
          </a:prstGeom>
          <a:noFill/>
        </p:spPr>
        <p:txBody>
          <a:bodyPr wrap="square" lIns="0" rIns="0" tIns="0" bIns="0">
            <a:spAutoFit/>
          </a:bodyPr>
          <a:lstStyle/>
          <a:p>
            <a:pPr algn="l"/>
            <a:r>
              <a:rPr sz="4000" b="1" i="0">
                <a:solidFill>
                  <a:srgbClr val="FFFFFF"/>
                </a:solidFill>
                <a:latin typeface="Arial"/>
              </a:rPr>
              <a:t>Why mass per vial rises in dilution</a:t>
            </a:r>
          </a:p>
          <a:p>
            <a:pPr algn="l"/>
            <a:r>
              <a:rPr sz="4000" b="1" i="0">
                <a:solidFill>
                  <a:srgbClr val="FFFFFF"/>
                </a:solidFill>
                <a:latin typeface="Arial"/>
              </a:rPr>
              <a:t>and falls in concentration</a:t>
            </a:r>
          </a:p>
        </p:txBody>
      </p:sp>
      <p:sp>
        <p:nvSpPr>
          <p:cNvPr id="5" name="TextBox 4"/>
          <p:cNvSpPr txBox="1"/>
          <p:nvPr/>
        </p:nvSpPr>
        <p:spPr>
          <a:xfrm>
            <a:off x="640080" y="3840480"/>
            <a:ext cx="10972800" cy="548640"/>
          </a:xfrm>
          <a:prstGeom prst="rect">
            <a:avLst/>
          </a:prstGeom>
          <a:noFill/>
        </p:spPr>
        <p:txBody>
          <a:bodyPr wrap="square" lIns="0" rIns="0" tIns="0" bIns="0">
            <a:spAutoFit/>
          </a:bodyPr>
          <a:lstStyle/>
          <a:p>
            <a:pPr algn="l"/>
            <a:r>
              <a:rPr sz="1800" b="0" i="1">
                <a:solidFill>
                  <a:srgbClr val="CADCFC"/>
                </a:solidFill>
                <a:latin typeface="Arial"/>
              </a:rPr>
              <a:t>Collaborator observation from last week's discussion — now directly visible from the data.</a:t>
            </a:r>
          </a:p>
        </p:txBody>
      </p:sp>
      <p:sp>
        <p:nvSpPr>
          <p:cNvPr id="6" name="TextBox 5"/>
          <p:cNvSpPr txBox="1"/>
          <p:nvPr/>
        </p:nvSpPr>
        <p:spPr>
          <a:xfrm>
            <a:off x="640080" y="4937760"/>
            <a:ext cx="10972800" cy="457200"/>
          </a:xfrm>
          <a:prstGeom prst="rect">
            <a:avLst/>
          </a:prstGeom>
          <a:noFill/>
        </p:spPr>
        <p:txBody>
          <a:bodyPr wrap="square" lIns="0" rIns="0" tIns="0" bIns="0">
            <a:spAutoFit/>
          </a:bodyPr>
          <a:lstStyle/>
          <a:p>
            <a:pPr algn="l"/>
            <a:r>
              <a:rPr sz="1500" b="0" i="0">
                <a:solidFill>
                  <a:srgbClr val="CADCFC"/>
                </a:solidFill>
                <a:latin typeface="Arial"/>
              </a:rPr>
              <a:t>•  Physics in one line: Jw = Lp · (ΔP − σ · Δπ)</a:t>
            </a:r>
          </a:p>
        </p:txBody>
      </p:sp>
      <p:sp>
        <p:nvSpPr>
          <p:cNvPr id="7" name="TextBox 6"/>
          <p:cNvSpPr txBox="1"/>
          <p:nvPr/>
        </p:nvSpPr>
        <p:spPr>
          <a:xfrm>
            <a:off x="640080" y="5440680"/>
            <a:ext cx="10972800" cy="457200"/>
          </a:xfrm>
          <a:prstGeom prst="rect">
            <a:avLst/>
          </a:prstGeom>
          <a:noFill/>
        </p:spPr>
        <p:txBody>
          <a:bodyPr wrap="square" lIns="0" rIns="0" tIns="0" bIns="0">
            <a:spAutoFit/>
          </a:bodyPr>
          <a:lstStyle/>
          <a:p>
            <a:pPr algn="l"/>
            <a:r>
              <a:rPr sz="1500" b="0" i="0">
                <a:solidFill>
                  <a:srgbClr val="CADCFC"/>
                </a:solidFill>
                <a:latin typeface="Arial"/>
              </a:rPr>
              <a:t>•  Δπ tracks cF(t) via van 't Hoff — so flux changes with concentration</a:t>
            </a:r>
          </a:p>
        </p:txBody>
      </p:sp>
      <p:sp>
        <p:nvSpPr>
          <p:cNvPr id="8" name="TextBox 7"/>
          <p:cNvSpPr txBox="1"/>
          <p:nvPr/>
        </p:nvSpPr>
        <p:spPr>
          <a:xfrm>
            <a:off x="640080" y="5943600"/>
            <a:ext cx="10972800" cy="457200"/>
          </a:xfrm>
          <a:prstGeom prst="rect">
            <a:avLst/>
          </a:prstGeom>
          <a:noFill/>
        </p:spPr>
        <p:txBody>
          <a:bodyPr wrap="square" lIns="0" rIns="0" tIns="0" bIns="0">
            <a:spAutoFit/>
          </a:bodyPr>
          <a:lstStyle/>
          <a:p>
            <a:pPr algn="l"/>
            <a:r>
              <a:rPr sz="1500" b="0" i="0">
                <a:solidFill>
                  <a:srgbClr val="CADCFC"/>
                </a:solidFill>
                <a:latin typeface="Arial"/>
              </a:rPr>
              <a:t>•  Plot ΔP and Δπ on the same axes per sheet — the pattern explains itself</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640080"/>
          </a:xfrm>
          <a:prstGeom prst="rect">
            <a:avLst/>
          </a:prstGeom>
          <a:noFill/>
        </p:spPr>
        <p:txBody>
          <a:bodyPr wrap="square" lIns="0" rIns="0" tIns="0" bIns="0">
            <a:spAutoFit/>
          </a:bodyPr>
          <a:lstStyle/>
          <a:p>
            <a:pPr algn="l"/>
            <a:r>
              <a:rPr sz="2600" b="1" i="0">
                <a:solidFill>
                  <a:srgbClr val="1E2761"/>
                </a:solidFill>
                <a:latin typeface="Arial"/>
              </a:rPr>
              <a:t>The physics: net driving force changes during the run</a:t>
            </a:r>
          </a:p>
        </p:txBody>
      </p:sp>
      <p:sp>
        <p:nvSpPr>
          <p:cNvPr id="3" name="TextBox 2"/>
          <p:cNvSpPr txBox="1"/>
          <p:nvPr/>
        </p:nvSpPr>
        <p:spPr>
          <a:xfrm>
            <a:off x="365760" y="914400"/>
            <a:ext cx="11430000" cy="365760"/>
          </a:xfrm>
          <a:prstGeom prst="rect">
            <a:avLst/>
          </a:prstGeom>
          <a:noFill/>
        </p:spPr>
        <p:txBody>
          <a:bodyPr wrap="square" lIns="0" rIns="0" tIns="0" bIns="0">
            <a:spAutoFit/>
          </a:bodyPr>
          <a:lstStyle/>
          <a:p>
            <a:pPr algn="l"/>
            <a:r>
              <a:rPr sz="1200" b="0" i="1">
                <a:solidFill>
                  <a:srgbClr val="6B7A99"/>
                </a:solidFill>
                <a:latin typeface="Arial"/>
              </a:rPr>
              <a:t>Spiegler–Kedem water flux + van 't Hoff osmotic pressure — both are in the model already.</a:t>
            </a:r>
          </a:p>
        </p:txBody>
      </p:sp>
      <p:sp>
        <p:nvSpPr>
          <p:cNvPr id="4" name="Rectangle 3"/>
          <p:cNvSpPr/>
          <p:nvPr/>
        </p:nvSpPr>
        <p:spPr>
          <a:xfrm>
            <a:off x="365760" y="1463040"/>
            <a:ext cx="11430000" cy="109728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554480"/>
            <a:ext cx="11430000" cy="457200"/>
          </a:xfrm>
          <a:prstGeom prst="rect">
            <a:avLst/>
          </a:prstGeom>
          <a:noFill/>
        </p:spPr>
        <p:txBody>
          <a:bodyPr wrap="square" lIns="0" rIns="0" tIns="0" bIns="0">
            <a:spAutoFit/>
          </a:bodyPr>
          <a:lstStyle/>
          <a:p>
            <a:pPr algn="ctr"/>
            <a:r>
              <a:rPr sz="2200" b="1" i="0">
                <a:solidFill>
                  <a:srgbClr val="1E2761"/>
                </a:solidFill>
                <a:latin typeface="Consolas"/>
              </a:rPr>
              <a:t>Jw  =  Lp · (ΔP  −  σ · Δπ)        Δπ  =  cF · ν · R · T   (cH ≈ 0)</a:t>
            </a:r>
          </a:p>
        </p:txBody>
      </p:sp>
      <p:sp>
        <p:nvSpPr>
          <p:cNvPr id="6" name="TextBox 5"/>
          <p:cNvSpPr txBox="1"/>
          <p:nvPr/>
        </p:nvSpPr>
        <p:spPr>
          <a:xfrm>
            <a:off x="365760" y="2103120"/>
            <a:ext cx="11430000" cy="365760"/>
          </a:xfrm>
          <a:prstGeom prst="rect">
            <a:avLst/>
          </a:prstGeom>
          <a:noFill/>
        </p:spPr>
        <p:txBody>
          <a:bodyPr wrap="square" lIns="0" rIns="0" tIns="0" bIns="0">
            <a:spAutoFit/>
          </a:bodyPr>
          <a:lstStyle/>
          <a:p>
            <a:pPr algn="ctr"/>
            <a:r>
              <a:rPr sz="1100" b="0" i="1">
                <a:solidFill>
                  <a:srgbClr val="21295C"/>
                </a:solidFill>
                <a:latin typeface="Arial"/>
              </a:rPr>
              <a:t>ΔP is constant during the run; Δπ changes because cF(t) changes.  σ·Δπ is the osmotic backpressure.</a:t>
            </a:r>
          </a:p>
        </p:txBody>
      </p:sp>
      <p:sp>
        <p:nvSpPr>
          <p:cNvPr id="7" name="Rectangle 6"/>
          <p:cNvSpPr/>
          <p:nvPr/>
        </p:nvSpPr>
        <p:spPr>
          <a:xfrm>
            <a:off x="365760" y="2834640"/>
            <a:ext cx="5486400" cy="310896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834640"/>
            <a:ext cx="5486400" cy="548640"/>
          </a:xfrm>
          <a:prstGeom prst="rect">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971800"/>
            <a:ext cx="5212080" cy="365760"/>
          </a:xfrm>
          <a:prstGeom prst="rect">
            <a:avLst/>
          </a:prstGeom>
          <a:noFill/>
        </p:spPr>
        <p:txBody>
          <a:bodyPr wrap="square" lIns="0" rIns="0" tIns="0" bIns="0">
            <a:spAutoFit/>
          </a:bodyPr>
          <a:lstStyle/>
          <a:p>
            <a:pPr algn="l"/>
            <a:r>
              <a:rPr sz="1400" b="1" i="0">
                <a:solidFill>
                  <a:srgbClr val="FFFFFF"/>
                </a:solidFill>
                <a:latin typeface="Arial"/>
              </a:rPr>
              <a:t>CONCENTRATING REGIME</a:t>
            </a:r>
          </a:p>
        </p:txBody>
      </p:sp>
      <p:sp>
        <p:nvSpPr>
          <p:cNvPr id="10" name="TextBox 9"/>
          <p:cNvSpPr txBox="1"/>
          <p:nvPr/>
        </p:nvSpPr>
        <p:spPr>
          <a:xfrm>
            <a:off x="502920" y="3566160"/>
            <a:ext cx="5212080" cy="457200"/>
          </a:xfrm>
          <a:prstGeom prst="rect">
            <a:avLst/>
          </a:prstGeom>
          <a:noFill/>
        </p:spPr>
        <p:txBody>
          <a:bodyPr wrap="square" lIns="0" rIns="0" tIns="0" bIns="0">
            <a:spAutoFit/>
          </a:bodyPr>
          <a:lstStyle/>
          <a:p>
            <a:pPr algn="l"/>
            <a:r>
              <a:rPr sz="1200" b="0" i="1">
                <a:solidFill>
                  <a:srgbClr val="21295C"/>
                </a:solidFill>
                <a:latin typeface="Arial"/>
              </a:rPr>
              <a:t>Feed: dilute  →  Diafiltrate: concentrated</a:t>
            </a:r>
          </a:p>
        </p:txBody>
      </p:sp>
      <p:sp>
        <p:nvSpPr>
          <p:cNvPr id="11" name="TextBox 10"/>
          <p:cNvSpPr txBox="1"/>
          <p:nvPr/>
        </p:nvSpPr>
        <p:spPr>
          <a:xfrm>
            <a:off x="502920" y="4114800"/>
            <a:ext cx="5212080" cy="1828800"/>
          </a:xfrm>
          <a:prstGeom prst="rect">
            <a:avLst/>
          </a:prstGeom>
          <a:noFill/>
        </p:spPr>
        <p:txBody>
          <a:bodyPr wrap="square" lIns="0" rIns="0" tIns="0" bIns="0">
            <a:spAutoFit/>
          </a:bodyPr>
          <a:lstStyle/>
          <a:p>
            <a:pPr algn="l"/>
            <a:r>
              <a:rPr sz="1400" b="1" i="0">
                <a:solidFill>
                  <a:srgbClr val="21295C"/>
                </a:solidFill>
                <a:latin typeface="Arial"/>
              </a:rPr>
              <a:t>•  cF rises through the run</a:t>
            </a:r>
          </a:p>
          <a:p>
            <a:pPr algn="l"/>
            <a:r>
              <a:rPr sz="1400" b="1" i="0">
                <a:solidFill>
                  <a:srgbClr val="21295C"/>
                </a:solidFill>
                <a:latin typeface="Arial"/>
              </a:rPr>
              <a:t>•  Δπ rises proportionally</a:t>
            </a:r>
          </a:p>
          <a:p>
            <a:pPr algn="l"/>
            <a:r>
              <a:rPr sz="1400" b="1" i="0">
                <a:solidFill>
                  <a:srgbClr val="21295C"/>
                </a:solidFill>
                <a:latin typeface="Arial"/>
              </a:rPr>
              <a:t>•  ΔP − σ·Δπ shrinks</a:t>
            </a:r>
          </a:p>
          <a:p>
            <a:pPr algn="l"/>
            <a:r>
              <a:rPr sz="1400" b="1" i="0">
                <a:solidFill>
                  <a:srgbClr val="21295C"/>
                </a:solidFill>
                <a:latin typeface="Arial"/>
              </a:rPr>
              <a:t>•  Jw drops</a:t>
            </a:r>
          </a:p>
          <a:p>
            <a:pPr algn="l"/>
            <a:r>
              <a:rPr sz="1400" b="1" i="0">
                <a:solidFill>
                  <a:srgbClr val="21295C"/>
                </a:solidFill>
                <a:latin typeface="Arial"/>
              </a:rPr>
              <a:t>•  ► mass per vial DECREASES</a:t>
            </a:r>
          </a:p>
        </p:txBody>
      </p:sp>
      <p:sp>
        <p:nvSpPr>
          <p:cNvPr id="12" name="Rectangle 11"/>
          <p:cNvSpPr/>
          <p:nvPr/>
        </p:nvSpPr>
        <p:spPr>
          <a:xfrm>
            <a:off x="6126480" y="2834640"/>
            <a:ext cx="5486400" cy="310896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2834640"/>
            <a:ext cx="5486400" cy="54864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971800"/>
            <a:ext cx="5212080" cy="365760"/>
          </a:xfrm>
          <a:prstGeom prst="rect">
            <a:avLst/>
          </a:prstGeom>
          <a:noFill/>
        </p:spPr>
        <p:txBody>
          <a:bodyPr wrap="square" lIns="0" rIns="0" tIns="0" bIns="0">
            <a:spAutoFit/>
          </a:bodyPr>
          <a:lstStyle/>
          <a:p>
            <a:pPr algn="l"/>
            <a:r>
              <a:rPr sz="1400" b="1" i="0">
                <a:solidFill>
                  <a:srgbClr val="FFFFFF"/>
                </a:solidFill>
                <a:latin typeface="Arial"/>
              </a:rPr>
              <a:t>DILUTING REGIME</a:t>
            </a:r>
          </a:p>
        </p:txBody>
      </p:sp>
      <p:sp>
        <p:nvSpPr>
          <p:cNvPr id="15" name="TextBox 14"/>
          <p:cNvSpPr txBox="1"/>
          <p:nvPr/>
        </p:nvSpPr>
        <p:spPr>
          <a:xfrm>
            <a:off x="6263640" y="3566160"/>
            <a:ext cx="5212080" cy="457200"/>
          </a:xfrm>
          <a:prstGeom prst="rect">
            <a:avLst/>
          </a:prstGeom>
          <a:noFill/>
        </p:spPr>
        <p:txBody>
          <a:bodyPr wrap="square" lIns="0" rIns="0" tIns="0" bIns="0">
            <a:spAutoFit/>
          </a:bodyPr>
          <a:lstStyle/>
          <a:p>
            <a:pPr algn="l"/>
            <a:r>
              <a:rPr sz="1200" b="0" i="1">
                <a:solidFill>
                  <a:srgbClr val="21295C"/>
                </a:solidFill>
                <a:latin typeface="Arial"/>
              </a:rPr>
              <a:t>Feed: concentrated  →  Diafiltrate: water</a:t>
            </a:r>
          </a:p>
        </p:txBody>
      </p:sp>
      <p:sp>
        <p:nvSpPr>
          <p:cNvPr id="16" name="TextBox 15"/>
          <p:cNvSpPr txBox="1"/>
          <p:nvPr/>
        </p:nvSpPr>
        <p:spPr>
          <a:xfrm>
            <a:off x="6263640" y="4114800"/>
            <a:ext cx="5212080" cy="1828800"/>
          </a:xfrm>
          <a:prstGeom prst="rect">
            <a:avLst/>
          </a:prstGeom>
          <a:noFill/>
        </p:spPr>
        <p:txBody>
          <a:bodyPr wrap="square" lIns="0" rIns="0" tIns="0" bIns="0">
            <a:spAutoFit/>
          </a:bodyPr>
          <a:lstStyle/>
          <a:p>
            <a:pPr algn="l"/>
            <a:r>
              <a:rPr sz="1400" b="1" i="0">
                <a:solidFill>
                  <a:srgbClr val="21295C"/>
                </a:solidFill>
                <a:latin typeface="Arial"/>
              </a:rPr>
              <a:t>•  cF falls through the run</a:t>
            </a:r>
          </a:p>
          <a:p>
            <a:pPr algn="l"/>
            <a:r>
              <a:rPr sz="1400" b="1" i="0">
                <a:solidFill>
                  <a:srgbClr val="21295C"/>
                </a:solidFill>
                <a:latin typeface="Arial"/>
              </a:rPr>
              <a:t>•  Δπ falls proportionally</a:t>
            </a:r>
          </a:p>
          <a:p>
            <a:pPr algn="l"/>
            <a:r>
              <a:rPr sz="1400" b="1" i="0">
                <a:solidFill>
                  <a:srgbClr val="21295C"/>
                </a:solidFill>
                <a:latin typeface="Arial"/>
              </a:rPr>
              <a:t>•  ΔP − σ·Δπ grows</a:t>
            </a:r>
          </a:p>
          <a:p>
            <a:pPr algn="l"/>
            <a:r>
              <a:rPr sz="1400" b="1" i="0">
                <a:solidFill>
                  <a:srgbClr val="21295C"/>
                </a:solidFill>
                <a:latin typeface="Arial"/>
              </a:rPr>
              <a:t>•  Jw rises</a:t>
            </a:r>
          </a:p>
          <a:p>
            <a:pPr algn="l"/>
            <a:r>
              <a:rPr sz="1400" b="1" i="0">
                <a:solidFill>
                  <a:srgbClr val="21295C"/>
                </a:solidFill>
                <a:latin typeface="Arial"/>
              </a:rPr>
              <a:t>•  ► mass per vial INCREASES</a:t>
            </a:r>
          </a:p>
        </p:txBody>
      </p:sp>
      <p:sp>
        <p:nvSpPr>
          <p:cNvPr id="17" name="TextBox 16"/>
          <p:cNvSpPr txBox="1"/>
          <p:nvPr/>
        </p:nvSpPr>
        <p:spPr>
          <a:xfrm>
            <a:off x="365760" y="6492240"/>
            <a:ext cx="11430000" cy="274320"/>
          </a:xfrm>
          <a:prstGeom prst="rect">
            <a:avLst/>
          </a:prstGeom>
          <a:noFill/>
        </p:spPr>
        <p:txBody>
          <a:bodyPr wrap="square" lIns="0" rIns="0" tIns="0" bIns="0">
            <a:spAutoFit/>
          </a:bodyPr>
          <a:lstStyle/>
          <a:p>
            <a:pPr algn="ctr"/>
            <a:r>
              <a:rPr sz="1100" b="0" i="1">
                <a:solidFill>
                  <a:srgbClr val="6B7A99"/>
                </a:solidFill>
                <a:latin typeface="Arial"/>
              </a:rPr>
              <a:t>The pattern the collaborators flagged is expected behavior — and now directly visualized per-sheet (next two slides).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lIns="0" rIns="0" tIns="0" bIns="0">
            <a:spAutoFit/>
          </a:bodyPr>
          <a:lstStyle/>
          <a:p>
            <a:pPr algn="l"/>
            <a:r>
              <a:rPr sz="2600" b="1" i="0">
                <a:solidFill>
                  <a:srgbClr val="1E2761"/>
                </a:solidFill>
                <a:latin typeface="Arial"/>
              </a:rPr>
              <a:t>Per-sheet ΔP-vs-Δπ overlay  ·  two examples</a:t>
            </a:r>
          </a:p>
        </p:txBody>
      </p:sp>
      <p:sp>
        <p:nvSpPr>
          <p:cNvPr id="3" name="TextBox 2"/>
          <p:cNvSpPr txBox="1"/>
          <p:nvPr/>
        </p:nvSpPr>
        <p:spPr>
          <a:xfrm>
            <a:off x="365760" y="822960"/>
            <a:ext cx="11430000" cy="365760"/>
          </a:xfrm>
          <a:prstGeom prst="rect">
            <a:avLst/>
          </a:prstGeom>
          <a:noFill/>
        </p:spPr>
        <p:txBody>
          <a:bodyPr wrap="square" lIns="0" rIns="0" tIns="0" bIns="0">
            <a:spAutoFit/>
          </a:bodyPr>
          <a:lstStyle/>
          <a:p>
            <a:pPr algn="l"/>
            <a:r>
              <a:rPr sz="1200" b="0" i="1">
                <a:solidFill>
                  <a:srgbClr val="6B7A99"/>
                </a:solidFill>
                <a:latin typeface="Arial"/>
              </a:rPr>
              <a:t>applied_vs_osmotic-&lt;prefix&gt;.png  —  built from measured cF only, no fit required</a:t>
            </a:r>
          </a:p>
        </p:txBody>
      </p:sp>
      <p:sp>
        <p:nvSpPr>
          <p:cNvPr id="4" name="TextBox 3"/>
          <p:cNvSpPr txBox="1"/>
          <p:nvPr/>
        </p:nvSpPr>
        <p:spPr>
          <a:xfrm>
            <a:off x="274320" y="1280160"/>
            <a:ext cx="5943600" cy="365760"/>
          </a:xfrm>
          <a:prstGeom prst="rect">
            <a:avLst/>
          </a:prstGeom>
          <a:noFill/>
        </p:spPr>
        <p:txBody>
          <a:bodyPr wrap="square" lIns="0" rIns="0" tIns="0" bIns="0">
            <a:spAutoFit/>
          </a:bodyPr>
          <a:lstStyle/>
          <a:p>
            <a:pPr algn="ctr"/>
            <a:r>
              <a:rPr sz="1400" b="1" i="0">
                <a:solidFill>
                  <a:srgbClr val="B85042"/>
                </a:solidFill>
                <a:latin typeface="Arial"/>
              </a:rPr>
              <a:t>CONCENTRATING  ·  MC2.05.07.24_NaCl</a:t>
            </a:r>
          </a:p>
        </p:txBody>
      </p:sp>
      <p:sp>
        <p:nvSpPr>
          <p:cNvPr id="5" name="TextBox 4"/>
          <p:cNvSpPr txBox="1"/>
          <p:nvPr/>
        </p:nvSpPr>
        <p:spPr>
          <a:xfrm>
            <a:off x="6309360" y="1280160"/>
            <a:ext cx="5943600" cy="365760"/>
          </a:xfrm>
          <a:prstGeom prst="rect">
            <a:avLst/>
          </a:prstGeom>
          <a:noFill/>
        </p:spPr>
        <p:txBody>
          <a:bodyPr wrap="square" lIns="0" rIns="0" tIns="0" bIns="0">
            <a:spAutoFit/>
          </a:bodyPr>
          <a:lstStyle/>
          <a:p>
            <a:pPr algn="ctr"/>
            <a:r>
              <a:rPr sz="1400" b="1" i="0">
                <a:solidFill>
                  <a:srgbClr val="2C5F2D"/>
                </a:solidFill>
                <a:latin typeface="Arial"/>
              </a:rPr>
              <a:t>DILUTING  ·  MC3.07.22.24_SNaCl</a:t>
            </a:r>
          </a:p>
        </p:txBody>
      </p:sp>
      <p:pic>
        <p:nvPicPr>
          <p:cNvPr id="6" name="Picture 5" descr="applied_vs_osmotic-JAO_050724_NF270_MC2_NaCl_NaCl_05.07.24_NaCl.png"/>
          <p:cNvPicPr>
            <a:picLocks noChangeAspect="1"/>
          </p:cNvPicPr>
          <p:nvPr/>
        </p:nvPicPr>
        <p:blipFill>
          <a:blip r:embed="rId2"/>
          <a:stretch>
            <a:fillRect/>
          </a:stretch>
        </p:blipFill>
        <p:spPr>
          <a:xfrm>
            <a:off x="274320" y="2210590"/>
            <a:ext cx="5852160" cy="2619700"/>
          </a:xfrm>
          <a:prstGeom prst="rect">
            <a:avLst/>
          </a:prstGeom>
        </p:spPr>
      </p:pic>
      <p:pic>
        <p:nvPicPr>
          <p:cNvPr id="7" name="Picture 6" descr="applied_vs_osmotic-JAO_072224_NF270_MC3_SNaCl_NaCl_07.22.24_SNaCl.png"/>
          <p:cNvPicPr>
            <a:picLocks noChangeAspect="1"/>
          </p:cNvPicPr>
          <p:nvPr/>
        </p:nvPicPr>
        <p:blipFill>
          <a:blip r:embed="rId3"/>
          <a:stretch>
            <a:fillRect/>
          </a:stretch>
        </p:blipFill>
        <p:spPr>
          <a:xfrm>
            <a:off x="6309360" y="2191683"/>
            <a:ext cx="5852160" cy="2657513"/>
          </a:xfrm>
          <a:prstGeom prst="rect">
            <a:avLst/>
          </a:prstGeom>
        </p:spPr>
      </p:pic>
      <p:sp>
        <p:nvSpPr>
          <p:cNvPr id="8" name="TextBox 7"/>
          <p:cNvSpPr txBox="1"/>
          <p:nvPr/>
        </p:nvSpPr>
        <p:spPr>
          <a:xfrm>
            <a:off x="365760" y="5486400"/>
            <a:ext cx="5760720" cy="1097280"/>
          </a:xfrm>
          <a:prstGeom prst="rect">
            <a:avLst/>
          </a:prstGeom>
          <a:noFill/>
        </p:spPr>
        <p:txBody>
          <a:bodyPr wrap="square" lIns="0" rIns="0" tIns="0" bIns="0">
            <a:spAutoFit/>
          </a:bodyPr>
          <a:lstStyle/>
          <a:p>
            <a:pPr algn="l"/>
            <a:r>
              <a:rPr sz="1000" b="0" i="0">
                <a:solidFill>
                  <a:srgbClr val="21295C"/>
                </a:solidFill>
                <a:latin typeface="Arial"/>
              </a:rPr>
              <a:t>cF rises from 0.88 → 35.72 mM</a:t>
            </a:r>
          </a:p>
          <a:p>
            <a:pPr algn="l"/>
            <a:r>
              <a:rPr sz="1000" b="0" i="0">
                <a:solidFill>
                  <a:srgbClr val="21295C"/>
                </a:solidFill>
                <a:latin typeface="Arial"/>
              </a:rPr>
              <a:t>Δπ_end / ΔP  =  0.54   (osmotic backpressure ≈ half of applied)</a:t>
            </a:r>
          </a:p>
          <a:p>
            <a:pPr algn="l"/>
            <a:r>
              <a:rPr sz="1000" b="0" i="0">
                <a:solidFill>
                  <a:srgbClr val="21295C"/>
                </a:solidFill>
                <a:latin typeface="Arial"/>
              </a:rPr>
              <a:t>►  Jw drops over the run  →  mass per vial DECREASES.</a:t>
            </a:r>
          </a:p>
        </p:txBody>
      </p:sp>
      <p:sp>
        <p:nvSpPr>
          <p:cNvPr id="9" name="TextBox 8"/>
          <p:cNvSpPr txBox="1"/>
          <p:nvPr/>
        </p:nvSpPr>
        <p:spPr>
          <a:xfrm>
            <a:off x="6355080" y="5486400"/>
            <a:ext cx="5760720" cy="1097280"/>
          </a:xfrm>
          <a:prstGeom prst="rect">
            <a:avLst/>
          </a:prstGeom>
          <a:noFill/>
        </p:spPr>
        <p:txBody>
          <a:bodyPr wrap="square" lIns="0" rIns="0" tIns="0" bIns="0">
            <a:spAutoFit/>
          </a:bodyPr>
          <a:lstStyle/>
          <a:p>
            <a:pPr algn="l"/>
            <a:r>
              <a:rPr sz="1000" b="0" i="0">
                <a:solidFill>
                  <a:srgbClr val="21295C"/>
                </a:solidFill>
                <a:latin typeface="Arial"/>
              </a:rPr>
              <a:t>cF falls from 95.5 → 10.4 mM</a:t>
            </a:r>
          </a:p>
          <a:p>
            <a:pPr algn="l"/>
            <a:r>
              <a:rPr sz="1000" b="0" i="0">
                <a:solidFill>
                  <a:srgbClr val="21295C"/>
                </a:solidFill>
                <a:latin typeface="Arial"/>
              </a:rPr>
              <a:t>Δπ_end / ΔP  =  0.14   —  AND Δπ_initial &gt; ΔP at t = 0</a:t>
            </a:r>
          </a:p>
          <a:p>
            <a:pPr algn="l"/>
            <a:r>
              <a:rPr sz="1000" b="0" i="0">
                <a:solidFill>
                  <a:srgbClr val="21295C"/>
                </a:solidFill>
                <a:latin typeface="Arial"/>
              </a:rPr>
              <a:t>►  flux suppressed at start, accelerates  →  mass per vial INCREASES.</a:t>
            </a:r>
          </a:p>
        </p:txBody>
      </p:sp>
      <p:sp>
        <p:nvSpPr>
          <p:cNvPr id="10" name="TextBox 9"/>
          <p:cNvSpPr txBox="1"/>
          <p:nvPr/>
        </p:nvSpPr>
        <p:spPr>
          <a:xfrm>
            <a:off x="365760" y="6583680"/>
            <a:ext cx="11430000" cy="228600"/>
          </a:xfrm>
          <a:prstGeom prst="rect">
            <a:avLst/>
          </a:prstGeom>
          <a:noFill/>
        </p:spPr>
        <p:txBody>
          <a:bodyPr wrap="square" lIns="0" rIns="0" tIns="0" bIns="0">
            <a:spAutoFit/>
          </a:bodyPr>
          <a:lstStyle/>
          <a:p>
            <a:pPr algn="ctr"/>
            <a:r>
              <a:rPr sz="900" b="0" i="1">
                <a:solidFill>
                  <a:srgbClr val="6B7A99"/>
                </a:solidFill>
                <a:latin typeface="Arial"/>
              </a:rPr>
              <a:t>All 13 single-salt sheets get this plot in  UnifiedFramework/DATA3/results/paper_artifacts/nf270/campaign_figures/applied_vs_osmotic-*.png</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48640"/>
          </a:xfrm>
          <a:prstGeom prst="rect">
            <a:avLst/>
          </a:prstGeom>
          <a:noFill/>
        </p:spPr>
        <p:txBody>
          <a:bodyPr wrap="square" lIns="0" rIns="0" tIns="0" bIns="0">
            <a:spAutoFit/>
          </a:bodyPr>
          <a:lstStyle/>
          <a:p>
            <a:pPr algn="l"/>
            <a:r>
              <a:rPr sz="2600" b="1" i="0">
                <a:solidFill>
                  <a:srgbClr val="1E2761"/>
                </a:solidFill>
                <a:latin typeface="Arial"/>
              </a:rPr>
              <a:t>Takeaway  ·  diagnostic value beyond the visual explanation</a:t>
            </a:r>
          </a:p>
        </p:txBody>
      </p:sp>
      <p:sp>
        <p:nvSpPr>
          <p:cNvPr id="3" name="Rectangle 2"/>
          <p:cNvSpPr/>
          <p:nvPr/>
        </p:nvSpPr>
        <p:spPr>
          <a:xfrm>
            <a:off x="365760" y="1280160"/>
            <a:ext cx="3703320" cy="256032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0"/>
            <a:ext cx="3703320" cy="5486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3429000" cy="365760"/>
          </a:xfrm>
          <a:prstGeom prst="rect">
            <a:avLst/>
          </a:prstGeom>
          <a:noFill/>
        </p:spPr>
        <p:txBody>
          <a:bodyPr wrap="square" lIns="0" rIns="0" tIns="0" bIns="0">
            <a:spAutoFit/>
          </a:bodyPr>
          <a:lstStyle/>
          <a:p>
            <a:pPr algn="l"/>
            <a:r>
              <a:rPr sz="1300" b="1" i="0">
                <a:solidFill>
                  <a:srgbClr val="FFFFFF"/>
                </a:solidFill>
                <a:latin typeface="Arial"/>
              </a:rPr>
              <a:t>1.  Collaborator review</a:t>
            </a:r>
          </a:p>
        </p:txBody>
      </p:sp>
      <p:sp>
        <p:nvSpPr>
          <p:cNvPr id="6" name="TextBox 5"/>
          <p:cNvSpPr txBox="1"/>
          <p:nvPr/>
        </p:nvSpPr>
        <p:spPr>
          <a:xfrm>
            <a:off x="502920" y="2057400"/>
            <a:ext cx="3429000" cy="1645920"/>
          </a:xfrm>
          <a:prstGeom prst="rect">
            <a:avLst/>
          </a:prstGeom>
          <a:noFill/>
        </p:spPr>
        <p:txBody>
          <a:bodyPr wrap="square" lIns="0" rIns="0" tIns="0" bIns="0">
            <a:spAutoFit/>
          </a:bodyPr>
          <a:lstStyle/>
          <a:p>
            <a:pPr algn="l"/>
            <a:r>
              <a:rPr sz="1100" b="0" i="0">
                <a:solidFill>
                  <a:srgbClr val="21295C"/>
                </a:solidFill>
                <a:latin typeface="Arial"/>
              </a:rPr>
              <a:t>The per-vial mass pattern is no longer mysterious — it is the direct, predictable signature of constant-ΔP diafiltration combined with changing feed concentration.</a:t>
            </a:r>
          </a:p>
          <a:p>
            <a:pPr algn="l"/>
            <a:r>
              <a:rPr sz="1100" b="0" i="0">
                <a:solidFill>
                  <a:srgbClr val="21295C"/>
                </a:solidFill>
                <a:latin typeface="Arial"/>
              </a:rPr>
              <a:t/>
            </a:r>
          </a:p>
          <a:p>
            <a:pPr algn="l"/>
            <a:r>
              <a:rPr sz="1100" b="0" i="0">
                <a:solidFill>
                  <a:srgbClr val="21295C"/>
                </a:solidFill>
                <a:latin typeface="Arial"/>
              </a:rPr>
              <a:t>Self-evident from the plot.</a:t>
            </a:r>
          </a:p>
        </p:txBody>
      </p:sp>
      <p:sp>
        <p:nvSpPr>
          <p:cNvPr id="7" name="Rectangle 6"/>
          <p:cNvSpPr/>
          <p:nvPr/>
        </p:nvSpPr>
        <p:spPr>
          <a:xfrm>
            <a:off x="4251960" y="1280160"/>
            <a:ext cx="3703320" cy="256032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51960" y="1280160"/>
            <a:ext cx="3703320" cy="548640"/>
          </a:xfrm>
          <a:prstGeom prst="rect">
            <a:avLst/>
          </a:prstGeom>
          <a:solidFill>
            <a:srgbClr val="C71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417320"/>
            <a:ext cx="3429000" cy="365760"/>
          </a:xfrm>
          <a:prstGeom prst="rect">
            <a:avLst/>
          </a:prstGeom>
          <a:noFill/>
        </p:spPr>
        <p:txBody>
          <a:bodyPr wrap="square" lIns="0" rIns="0" tIns="0" bIns="0">
            <a:spAutoFit/>
          </a:bodyPr>
          <a:lstStyle/>
          <a:p>
            <a:pPr algn="l"/>
            <a:r>
              <a:rPr sz="1300" b="1" i="0">
                <a:solidFill>
                  <a:srgbClr val="FFFFFF"/>
                </a:solidFill>
                <a:latin typeface="Arial"/>
              </a:rPr>
              <a:t>2.  σ identifiability hint</a:t>
            </a:r>
          </a:p>
        </p:txBody>
      </p:sp>
      <p:sp>
        <p:nvSpPr>
          <p:cNvPr id="10" name="TextBox 9"/>
          <p:cNvSpPr txBox="1"/>
          <p:nvPr/>
        </p:nvSpPr>
        <p:spPr>
          <a:xfrm>
            <a:off x="4389120" y="2057400"/>
            <a:ext cx="3429000" cy="1645920"/>
          </a:xfrm>
          <a:prstGeom prst="rect">
            <a:avLst/>
          </a:prstGeom>
          <a:noFill/>
        </p:spPr>
        <p:txBody>
          <a:bodyPr wrap="square" lIns="0" rIns="0" tIns="0" bIns="0">
            <a:spAutoFit/>
          </a:bodyPr>
          <a:lstStyle/>
          <a:p>
            <a:pPr algn="l"/>
            <a:r>
              <a:rPr sz="1100" b="0" i="0">
                <a:solidFill>
                  <a:srgbClr val="21295C"/>
                </a:solidFill>
                <a:latin typeface="Arial"/>
              </a:rPr>
              <a:t>Sheets where Δπ_end / ΔP is large → σ multiplies the dominant term in Jw → σ is well-identified by the data.</a:t>
            </a:r>
          </a:p>
          <a:p>
            <a:pPr algn="l"/>
            <a:r>
              <a:rPr sz="1100" b="0" i="0">
                <a:solidFill>
                  <a:srgbClr val="21295C"/>
                </a:solidFill>
                <a:latin typeface="Arial"/>
              </a:rPr>
              <a:t/>
            </a:r>
          </a:p>
          <a:p>
            <a:pPr algn="l"/>
            <a:r>
              <a:rPr sz="1100" b="0" i="0">
                <a:solidFill>
                  <a:srgbClr val="21295C"/>
                </a:solidFill>
                <a:latin typeface="Arial"/>
              </a:rPr>
              <a:t>Sheets where Δπ_end / ΔP is small → σ becomes interchangeable with Lp.</a:t>
            </a:r>
          </a:p>
        </p:txBody>
      </p:sp>
      <p:sp>
        <p:nvSpPr>
          <p:cNvPr id="11" name="Rectangle 10"/>
          <p:cNvSpPr/>
          <p:nvPr/>
        </p:nvSpPr>
        <p:spPr>
          <a:xfrm>
            <a:off x="8138160" y="1280160"/>
            <a:ext cx="3703320" cy="2560320"/>
          </a:xfrm>
          <a:prstGeom prst="rect">
            <a:avLst/>
          </a:prstGeom>
          <a:solidFill>
            <a:srgbClr val="F1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280160"/>
            <a:ext cx="3703320" cy="548640"/>
          </a:xfrm>
          <a:prstGeom prst="rect">
            <a:avLst/>
          </a:prstGeom>
          <a:solidFill>
            <a:srgbClr val="2C5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417320"/>
            <a:ext cx="3429000" cy="365760"/>
          </a:xfrm>
          <a:prstGeom prst="rect">
            <a:avLst/>
          </a:prstGeom>
          <a:noFill/>
        </p:spPr>
        <p:txBody>
          <a:bodyPr wrap="square" lIns="0" rIns="0" tIns="0" bIns="0">
            <a:spAutoFit/>
          </a:bodyPr>
          <a:lstStyle/>
          <a:p>
            <a:pPr algn="l"/>
            <a:r>
              <a:rPr sz="1300" b="1" i="0">
                <a:solidFill>
                  <a:srgbClr val="FFFFFF"/>
                </a:solidFill>
                <a:latin typeface="Arial"/>
              </a:rPr>
              <a:t>3.  Connects to §13 pathology</a:t>
            </a:r>
          </a:p>
        </p:txBody>
      </p:sp>
      <p:sp>
        <p:nvSpPr>
          <p:cNvPr id="14" name="TextBox 13"/>
          <p:cNvSpPr txBox="1"/>
          <p:nvPr/>
        </p:nvSpPr>
        <p:spPr>
          <a:xfrm>
            <a:off x="8275320" y="2057400"/>
            <a:ext cx="3429000" cy="1645920"/>
          </a:xfrm>
          <a:prstGeom prst="rect">
            <a:avLst/>
          </a:prstGeom>
          <a:noFill/>
        </p:spPr>
        <p:txBody>
          <a:bodyPr wrap="square" lIns="0" rIns="0" tIns="0" bIns="0">
            <a:spAutoFit/>
          </a:bodyPr>
          <a:lstStyle/>
          <a:p>
            <a:pPr algn="l"/>
            <a:r>
              <a:rPr sz="1100" b="0" i="0">
                <a:solidFill>
                  <a:srgbClr val="21295C"/>
                </a:solidFill>
                <a:latin typeface="Arial"/>
              </a:rPr>
              <a:t>The σ-pinning-at-bound finding from §13 (NaCl rollouts) is exactly what we'd expect on sheets where Δπ_end / ΔP is moderate (0.4 – 0.6).</a:t>
            </a:r>
          </a:p>
          <a:p>
            <a:pPr algn="l"/>
            <a:r>
              <a:rPr sz="1100" b="0" i="0">
                <a:solidFill>
                  <a:srgbClr val="21295C"/>
                </a:solidFill>
                <a:latin typeface="Arial"/>
              </a:rPr>
              <a:t/>
            </a:r>
          </a:p>
          <a:p>
            <a:pPr algn="l"/>
            <a:r>
              <a:rPr sz="1100" b="0" i="0">
                <a:solidFill>
                  <a:srgbClr val="21295C"/>
                </a:solidFill>
                <a:latin typeface="Arial"/>
              </a:rPr>
              <a:t>Lumped σ·Lp diagnostic (Task #5) is the natural next step.</a:t>
            </a:r>
          </a:p>
        </p:txBody>
      </p:sp>
      <p:sp>
        <p:nvSpPr>
          <p:cNvPr id="15" name="Rectangle 14"/>
          <p:cNvSpPr/>
          <p:nvPr/>
        </p:nvSpPr>
        <p:spPr>
          <a:xfrm>
            <a:off x="365760" y="4023360"/>
            <a:ext cx="11430000" cy="2194560"/>
          </a:xfrm>
          <a:prstGeom prst="rect">
            <a:avLst/>
          </a:prstGeom>
          <a:solidFill>
            <a:srgbClr val="0F14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160520"/>
            <a:ext cx="11064240" cy="457200"/>
          </a:xfrm>
          <a:prstGeom prst="rect">
            <a:avLst/>
          </a:prstGeom>
          <a:noFill/>
        </p:spPr>
        <p:txBody>
          <a:bodyPr wrap="square" lIns="0" rIns="0" tIns="0" bIns="0">
            <a:spAutoFit/>
          </a:bodyPr>
          <a:lstStyle/>
          <a:p>
            <a:pPr algn="l"/>
            <a:r>
              <a:rPr sz="1600" b="1" i="0">
                <a:solidFill>
                  <a:srgbClr val="CADCFC"/>
                </a:solidFill>
                <a:latin typeface="Arial"/>
              </a:rPr>
              <a:t>How this is wired into the pipeline</a:t>
            </a:r>
          </a:p>
        </p:txBody>
      </p:sp>
      <p:sp>
        <p:nvSpPr>
          <p:cNvPr id="17" name="TextBox 16"/>
          <p:cNvSpPr txBox="1"/>
          <p:nvPr/>
        </p:nvSpPr>
        <p:spPr>
          <a:xfrm>
            <a:off x="548640" y="4663440"/>
            <a:ext cx="11064240" cy="1463040"/>
          </a:xfrm>
          <a:prstGeom prst="rect">
            <a:avLst/>
          </a:prstGeom>
          <a:noFill/>
        </p:spPr>
        <p:txBody>
          <a:bodyPr wrap="square" lIns="0" rIns="0" tIns="0" bIns="0">
            <a:spAutoFit/>
          </a:bodyPr>
          <a:lstStyle/>
          <a:p>
            <a:pPr algn="l"/>
            <a:r>
              <a:rPr sz="1100" b="0" i="0">
                <a:solidFill>
                  <a:srgbClr val="FFFFFF"/>
                </a:solidFill>
                <a:latin typeface="Arial"/>
              </a:rPr>
              <a:t>•  Library:  run_data3_applied_vs_osmotic_plots()  in  refactored_ucb_library.py  —  salt-aware, no fit required.</a:t>
            </a:r>
          </a:p>
          <a:p>
            <a:pPr algn="l"/>
            <a:r>
              <a:rPr sz="1100" b="0" i="0">
                <a:solidFill>
                  <a:srgbClr val="FFFFFF"/>
                </a:solidFill>
                <a:latin typeface="Arial"/>
              </a:rPr>
              <a:t>•  Worker:  _contour_seeded_worker.py  now calls it automatically alongside mass / concentration / pressure / osmotic / conductivity plots — every future NaCl, CaCl₂, or LaCl₃ rollout gets the figure for free.</a:t>
            </a:r>
          </a:p>
          <a:p>
            <a:pPr algn="l"/>
            <a:r>
              <a:rPr sz="1100" b="0" i="0">
                <a:solidFill>
                  <a:srgbClr val="FFFFFF"/>
                </a:solidFill>
                <a:latin typeface="Arial"/>
              </a:rPr>
              <a:t>•  One-off generator:  _generate_applied_vs_osmotic_plots.py  produces all 13 plots in ~10 s without re-running fits.</a:t>
            </a:r>
          </a:p>
          <a:p>
            <a:pPr algn="l"/>
            <a:r>
              <a:rPr sz="1100" b="0" i="0">
                <a:solidFill>
                  <a:srgbClr val="FFFFFF"/>
                </a:solidFill>
                <a:latin typeface="Arial"/>
              </a:rPr>
              <a:t>•  Output location:  paper_artifacts/nf270/campaign_figures/applied_vs_osmotic-*.png   (13 files, committed to repo).</a:t>
            </a:r>
          </a:p>
        </p:txBody>
      </p:sp>
      <p:sp>
        <p:nvSpPr>
          <p:cNvPr id="18" name="TextBox 17"/>
          <p:cNvSpPr txBox="1"/>
          <p:nvPr/>
        </p:nvSpPr>
        <p:spPr>
          <a:xfrm>
            <a:off x="365760" y="6400800"/>
            <a:ext cx="11430000" cy="274320"/>
          </a:xfrm>
          <a:prstGeom prst="rect">
            <a:avLst/>
          </a:prstGeom>
          <a:noFill/>
        </p:spPr>
        <p:txBody>
          <a:bodyPr wrap="square" lIns="0" rIns="0" tIns="0" bIns="0">
            <a:spAutoFit/>
          </a:bodyPr>
          <a:lstStyle/>
          <a:p>
            <a:pPr algn="l"/>
            <a:r>
              <a:rPr sz="1000" b="0" i="1">
                <a:solidFill>
                  <a:srgbClr val="6B7A99"/>
                </a:solidFill>
                <a:latin typeface="Arial"/>
              </a:rPr>
              <a:t>Detailed reference:  refactored_codes_v1/Architecture.md  ·  Section 15 (May 27, 2026 — Concentrating/diluting mass pattern)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74320"/>
            <a:ext cx="548640" cy="502920"/>
          </a:xfrm>
          <a:prstGeom prst="rect">
            <a:avLst/>
          </a:prstGeom>
          <a:noFill/>
        </p:spPr>
        <p:txBody>
          <a:bodyPr wrap="square" lIns="36000" rIns="36000" tIns="18000" bIns="18000" anchor="t">
            <a:spAutoFit/>
          </a:bodyPr>
          <a:lstStyle/>
          <a:p>
            <a:pPr algn="l"/>
            <a:r>
              <a:rPr sz="2800" b="1" i="0">
                <a:solidFill>
                  <a:srgbClr val="8A8A8A"/>
                </a:solidFill>
                <a:latin typeface="Calibri"/>
              </a:rPr>
              <a:t>10A</a:t>
            </a:r>
          </a:p>
        </p:txBody>
      </p:sp>
      <p:sp>
        <p:nvSpPr>
          <p:cNvPr id="3" name="TextBox 2"/>
          <p:cNvSpPr txBox="1"/>
          <p:nvPr/>
        </p:nvSpPr>
        <p:spPr>
          <a:xfrm>
            <a:off x="1051560" y="274320"/>
            <a:ext cx="10515600" cy="502920"/>
          </a:xfrm>
          <a:prstGeom prst="rect">
            <a:avLst/>
          </a:prstGeom>
          <a:noFill/>
        </p:spPr>
        <p:txBody>
          <a:bodyPr wrap="square" lIns="36000" rIns="36000" tIns="18000" bIns="18000" anchor="t">
            <a:spAutoFit/>
          </a:bodyPr>
          <a:lstStyle/>
          <a:p>
            <a:pPr algn="l"/>
            <a:r>
              <a:rPr sz="2400" b="1" i="0">
                <a:solidFill>
                  <a:srgbClr val="1A1A1A"/>
                </a:solidFill>
                <a:latin typeface="Calibri"/>
              </a:rPr>
              <a:t>10A · PARAMETER BOUNDS</a:t>
            </a:r>
          </a:p>
        </p:txBody>
      </p:sp>
      <p:sp>
        <p:nvSpPr>
          <p:cNvPr id="4" name="TextBox 3"/>
          <p:cNvSpPr txBox="1"/>
          <p:nvPr/>
        </p:nvSpPr>
        <p:spPr>
          <a:xfrm>
            <a:off x="1051560" y="822960"/>
            <a:ext cx="10515600" cy="365760"/>
          </a:xfrm>
          <a:prstGeom prst="rect">
            <a:avLst/>
          </a:prstGeom>
          <a:noFill/>
        </p:spPr>
        <p:txBody>
          <a:bodyPr wrap="square" lIns="36000" rIns="36000" tIns="18000" bIns="18000" anchor="t">
            <a:spAutoFit/>
          </a:bodyPr>
          <a:lstStyle/>
          <a:p>
            <a:pPr algn="l"/>
            <a:r>
              <a:rPr sz="1400" b="0" i="1">
                <a:solidFill>
                  <a:srgbClr val="555555"/>
                </a:solidFill>
                <a:latin typeface="Calibri"/>
              </a:rPr>
              <a:t>one number changes by salt — everything else is shared</a:t>
            </a:r>
          </a:p>
        </p:txBody>
      </p:sp>
      <p:sp>
        <p:nvSpPr>
          <p:cNvPr id="5" name="Rounded Rectangle 4"/>
          <p:cNvSpPr/>
          <p:nvPr/>
        </p:nvSpPr>
        <p:spPr>
          <a:xfrm>
            <a:off x="411480" y="1417320"/>
            <a:ext cx="11338560" cy="868680"/>
          </a:xfrm>
          <a:prstGeom prst="roundRect">
            <a:avLst>
              <a:gd name="adj" fmla="val 8000"/>
            </a:avLst>
          </a:prstGeom>
          <a:solidFill>
            <a:srgbClr val="F6F8FB"/>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27048"/>
            <a:ext cx="3200400" cy="320040"/>
          </a:xfrm>
          <a:prstGeom prst="rect">
            <a:avLst/>
          </a:prstGeom>
          <a:noFill/>
        </p:spPr>
        <p:txBody>
          <a:bodyPr wrap="square" lIns="36000" rIns="36000" tIns="18000" bIns="18000" anchor="t">
            <a:spAutoFit/>
          </a:bodyPr>
          <a:lstStyle/>
          <a:p>
            <a:pPr algn="l"/>
            <a:r>
              <a:rPr sz="1100" b="1" i="0">
                <a:solidFill>
                  <a:srgbClr val="2E7D32"/>
                </a:solidFill>
                <a:latin typeface="Calibri"/>
              </a:rPr>
              <a:t>MEMBRANE BOUNDS</a:t>
            </a:r>
          </a:p>
        </p:txBody>
      </p:sp>
      <p:sp>
        <p:nvSpPr>
          <p:cNvPr id="7" name="TextBox 6"/>
          <p:cNvSpPr txBox="1"/>
          <p:nvPr/>
        </p:nvSpPr>
        <p:spPr>
          <a:xfrm>
            <a:off x="685800" y="1801368"/>
            <a:ext cx="3200400" cy="411480"/>
          </a:xfrm>
          <a:prstGeom prst="rect">
            <a:avLst/>
          </a:prstGeom>
          <a:noFill/>
        </p:spPr>
        <p:txBody>
          <a:bodyPr wrap="square" lIns="36000" rIns="36000" tIns="18000" bIns="18000" anchor="t">
            <a:spAutoFit/>
          </a:bodyPr>
          <a:lstStyle/>
          <a:p>
            <a:pPr algn="l"/>
            <a:r>
              <a:rPr sz="900" b="0" i="1">
                <a:solidFill>
                  <a:srgbClr val="555555"/>
                </a:solidFill>
                <a:latin typeface="Calibri"/>
              </a:rPr>
              <a:t>same for every salt</a:t>
            </a:r>
          </a:p>
          <a:p>
            <a:pPr algn="l"/>
            <a:r>
              <a:rPr sz="900" b="0" i="1">
                <a:solidFill>
                  <a:srgbClr val="555555"/>
                </a:solidFill>
                <a:latin typeface="Calibri"/>
              </a:rPr>
              <a:t>— properties of the NF270 membrane, not the salt</a:t>
            </a:r>
          </a:p>
        </p:txBody>
      </p:sp>
      <p:sp>
        <p:nvSpPr>
          <p:cNvPr id="8" name="TextBox 7"/>
          <p:cNvSpPr txBox="1"/>
          <p:nvPr/>
        </p:nvSpPr>
        <p:spPr>
          <a:xfrm>
            <a:off x="4114800" y="1508760"/>
            <a:ext cx="3840480" cy="777240"/>
          </a:xfrm>
          <a:prstGeom prst="rect">
            <a:avLst/>
          </a:prstGeom>
          <a:noFill/>
        </p:spPr>
        <p:txBody>
          <a:bodyPr wrap="square" lIns="36000" rIns="36000" tIns="18000" bIns="18000" anchor="ctr">
            <a:spAutoFit/>
          </a:bodyPr>
          <a:lstStyle/>
          <a:p>
            <a:pPr algn="ctr"/>
            <a:r>
              <a:rPr sz="1800" b="1" i="0">
                <a:solidFill>
                  <a:srgbClr val="1A1A1A"/>
                </a:solidFill>
                <a:latin typeface="Calibri"/>
              </a:rPr>
              <a:t>L_p  ∈  [0.5,  50]</a:t>
            </a:r>
          </a:p>
          <a:p>
            <a:pPr algn="ctr"/>
            <a:r>
              <a:rPr sz="1000" b="0" i="0">
                <a:solidFill>
                  <a:srgbClr val="8A8A8A"/>
                </a:solidFill>
                <a:latin typeface="Calibri"/>
              </a:rPr>
              <a:t>L / (m² · hr · bar)</a:t>
            </a:r>
          </a:p>
        </p:txBody>
      </p:sp>
      <p:sp>
        <p:nvSpPr>
          <p:cNvPr id="9" name="TextBox 8"/>
          <p:cNvSpPr txBox="1"/>
          <p:nvPr/>
        </p:nvSpPr>
        <p:spPr>
          <a:xfrm>
            <a:off x="7955279" y="1508760"/>
            <a:ext cx="3657600" cy="777240"/>
          </a:xfrm>
          <a:prstGeom prst="rect">
            <a:avLst/>
          </a:prstGeom>
          <a:noFill/>
        </p:spPr>
        <p:txBody>
          <a:bodyPr wrap="square" lIns="36000" rIns="36000" tIns="18000" bIns="18000" anchor="ctr">
            <a:spAutoFit/>
          </a:bodyPr>
          <a:lstStyle/>
          <a:p>
            <a:pPr algn="ctr"/>
            <a:r>
              <a:rPr sz="1800" b="1" i="0">
                <a:solidFill>
                  <a:srgbClr val="1A1A1A"/>
                </a:solidFill>
                <a:latin typeface="Calibri"/>
              </a:rPr>
              <a:t>σ  ∈  [0,  1]</a:t>
            </a:r>
          </a:p>
          <a:p>
            <a:pPr algn="ctr"/>
            <a:r>
              <a:rPr sz="1000" b="0" i="0">
                <a:solidFill>
                  <a:srgbClr val="8A8A8A"/>
                </a:solidFill>
                <a:latin typeface="Calibri"/>
              </a:rPr>
              <a:t>dimensionless</a:t>
            </a:r>
          </a:p>
        </p:txBody>
      </p:sp>
      <p:sp>
        <p:nvSpPr>
          <p:cNvPr id="10" name="TextBox 9"/>
          <p:cNvSpPr txBox="1"/>
          <p:nvPr/>
        </p:nvSpPr>
        <p:spPr>
          <a:xfrm>
            <a:off x="411480" y="2468880"/>
            <a:ext cx="11338560" cy="320040"/>
          </a:xfrm>
          <a:prstGeom prst="rect">
            <a:avLst/>
          </a:prstGeom>
          <a:noFill/>
        </p:spPr>
        <p:txBody>
          <a:bodyPr wrap="square" lIns="36000" rIns="36000" tIns="18000" bIns="18000" anchor="t">
            <a:spAutoFit/>
          </a:bodyPr>
          <a:lstStyle/>
          <a:p>
            <a:pPr algn="l"/>
            <a:r>
              <a:rPr sz="1200" b="1" i="0">
                <a:solidFill>
                  <a:srgbClr val="2E7D32"/>
                </a:solidFill>
                <a:latin typeface="Calibri"/>
              </a:rPr>
              <a:t>SALT PERMEABILITY  B   ·   tighter as cation charge grows</a:t>
            </a:r>
          </a:p>
        </p:txBody>
      </p:sp>
      <p:sp>
        <p:nvSpPr>
          <p:cNvPr id="11" name="TextBox 10"/>
          <p:cNvSpPr txBox="1"/>
          <p:nvPr/>
        </p:nvSpPr>
        <p:spPr>
          <a:xfrm>
            <a:off x="411480" y="2761488"/>
            <a:ext cx="11338560" cy="274320"/>
          </a:xfrm>
          <a:prstGeom prst="rect">
            <a:avLst/>
          </a:prstGeom>
          <a:noFill/>
        </p:spPr>
        <p:txBody>
          <a:bodyPr wrap="square" lIns="36000" rIns="36000" tIns="18000" bIns="18000" anchor="t">
            <a:spAutoFit/>
          </a:bodyPr>
          <a:lstStyle/>
          <a:p>
            <a:pPr algn="l"/>
            <a:r>
              <a:rPr sz="1000" b="0" i="1">
                <a:solidFill>
                  <a:srgbClr val="555555"/>
                </a:solidFill>
                <a:latin typeface="Calibri"/>
              </a:rPr>
              <a:t>units: µm/s  ·  one upper bound per salt  ·  rule of thumb: halve B per +1 of cation charge</a:t>
            </a:r>
          </a:p>
        </p:txBody>
      </p:sp>
      <p:sp>
        <p:nvSpPr>
          <p:cNvPr id="12" name="Rounded Rectangle 11"/>
          <p:cNvSpPr/>
          <p:nvPr/>
        </p:nvSpPr>
        <p:spPr>
          <a:xfrm>
            <a:off x="416051" y="3154680"/>
            <a:ext cx="3611880" cy="2103120"/>
          </a:xfrm>
          <a:prstGeom prst="roundRect">
            <a:avLst>
              <a:gd name="adj" fmla="val 8000"/>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6051" y="3319272"/>
            <a:ext cx="3611880" cy="411480"/>
          </a:xfrm>
          <a:prstGeom prst="rect">
            <a:avLst/>
          </a:prstGeom>
          <a:noFill/>
        </p:spPr>
        <p:txBody>
          <a:bodyPr wrap="square" lIns="36000" rIns="36000" tIns="18000" bIns="18000" anchor="t">
            <a:spAutoFit/>
          </a:bodyPr>
          <a:lstStyle/>
          <a:p>
            <a:pPr algn="ctr"/>
            <a:r>
              <a:rPr sz="2200" b="1" i="0">
                <a:solidFill>
                  <a:srgbClr val="1A1A1A"/>
                </a:solidFill>
                <a:latin typeface="Calibri"/>
              </a:rPr>
              <a:t>NaCl</a:t>
            </a:r>
          </a:p>
        </p:txBody>
      </p:sp>
      <p:sp>
        <p:nvSpPr>
          <p:cNvPr id="14" name="TextBox 13"/>
          <p:cNvSpPr txBox="1"/>
          <p:nvPr/>
        </p:nvSpPr>
        <p:spPr>
          <a:xfrm>
            <a:off x="416051" y="3721608"/>
            <a:ext cx="3611880" cy="256032"/>
          </a:xfrm>
          <a:prstGeom prst="rect">
            <a:avLst/>
          </a:prstGeom>
          <a:noFill/>
        </p:spPr>
        <p:txBody>
          <a:bodyPr wrap="square" lIns="36000" rIns="36000" tIns="18000" bIns="18000" anchor="t">
            <a:spAutoFit/>
          </a:bodyPr>
          <a:lstStyle/>
          <a:p>
            <a:pPr algn="ctr"/>
            <a:r>
              <a:rPr sz="1100" b="0" i="0">
                <a:solidFill>
                  <a:srgbClr val="555555"/>
                </a:solidFill>
                <a:latin typeface="Calibri"/>
              </a:rPr>
              <a:t>charge  +1</a:t>
            </a:r>
          </a:p>
        </p:txBody>
      </p:sp>
      <p:sp>
        <p:nvSpPr>
          <p:cNvPr id="15" name="TextBox 14"/>
          <p:cNvSpPr txBox="1"/>
          <p:nvPr/>
        </p:nvSpPr>
        <p:spPr>
          <a:xfrm>
            <a:off x="416051" y="4023360"/>
            <a:ext cx="3611880" cy="502920"/>
          </a:xfrm>
          <a:prstGeom prst="rect">
            <a:avLst/>
          </a:prstGeom>
          <a:noFill/>
        </p:spPr>
        <p:txBody>
          <a:bodyPr wrap="square" lIns="36000" rIns="36000" tIns="18000" bIns="18000" anchor="t">
            <a:spAutoFit/>
          </a:bodyPr>
          <a:lstStyle/>
          <a:p>
            <a:pPr algn="ctr"/>
            <a:r>
              <a:rPr sz="2800" b="1" i="0">
                <a:solidFill>
                  <a:srgbClr val="4F6B99"/>
                </a:solidFill>
                <a:latin typeface="Calibri"/>
              </a:rPr>
              <a:t>[0, 30]</a:t>
            </a:r>
          </a:p>
        </p:txBody>
      </p:sp>
      <p:sp>
        <p:nvSpPr>
          <p:cNvPr id="16" name="TextBox 15"/>
          <p:cNvSpPr txBox="1"/>
          <p:nvPr/>
        </p:nvSpPr>
        <p:spPr>
          <a:xfrm>
            <a:off x="416051" y="4489704"/>
            <a:ext cx="3611880" cy="182880"/>
          </a:xfrm>
          <a:prstGeom prst="rect">
            <a:avLst/>
          </a:prstGeom>
          <a:noFill/>
        </p:spPr>
        <p:txBody>
          <a:bodyPr wrap="square" lIns="36000" rIns="36000" tIns="18000" bIns="18000" anchor="t">
            <a:spAutoFit/>
          </a:bodyPr>
          <a:lstStyle/>
          <a:p>
            <a:pPr algn="ctr"/>
            <a:r>
              <a:rPr sz="1000" b="0" i="1">
                <a:solidFill>
                  <a:srgbClr val="8A8A8A"/>
                </a:solidFill>
                <a:latin typeface="Calibri"/>
              </a:rPr>
              <a:t>µm/s</a:t>
            </a:r>
          </a:p>
        </p:txBody>
      </p:sp>
      <p:sp>
        <p:nvSpPr>
          <p:cNvPr id="17" name="Rectangle 16"/>
          <p:cNvSpPr/>
          <p:nvPr/>
        </p:nvSpPr>
        <p:spPr>
          <a:xfrm>
            <a:off x="690371" y="4727448"/>
            <a:ext cx="3063240" cy="109728"/>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0371" y="4727448"/>
            <a:ext cx="3063240"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1" y="4910328"/>
            <a:ext cx="3611880" cy="274320"/>
          </a:xfrm>
          <a:prstGeom prst="rect">
            <a:avLst/>
          </a:prstGeom>
          <a:noFill/>
        </p:spPr>
        <p:txBody>
          <a:bodyPr wrap="square" lIns="36000" rIns="36000" tIns="18000" bIns="18000" anchor="t">
            <a:spAutoFit/>
          </a:bodyPr>
          <a:lstStyle/>
          <a:p>
            <a:pPr algn="ctr"/>
            <a:r>
              <a:rPr sz="1100" b="1" i="0">
                <a:solidFill>
                  <a:srgbClr val="4F6B99"/>
                </a:solidFill>
                <a:latin typeface="Calibri"/>
              </a:rPr>
              <a:t>baseline</a:t>
            </a:r>
          </a:p>
        </p:txBody>
      </p:sp>
      <p:sp>
        <p:nvSpPr>
          <p:cNvPr id="20" name="Rounded Rectangle 19"/>
          <p:cNvSpPr/>
          <p:nvPr/>
        </p:nvSpPr>
        <p:spPr>
          <a:xfrm>
            <a:off x="4274820" y="3154680"/>
            <a:ext cx="3611880" cy="2103120"/>
          </a:xfrm>
          <a:prstGeom prst="roundRect">
            <a:avLst>
              <a:gd name="adj" fmla="val 8000"/>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74820" y="3319272"/>
            <a:ext cx="3611880" cy="411480"/>
          </a:xfrm>
          <a:prstGeom prst="rect">
            <a:avLst/>
          </a:prstGeom>
          <a:noFill/>
        </p:spPr>
        <p:txBody>
          <a:bodyPr wrap="square" lIns="36000" rIns="36000" tIns="18000" bIns="18000" anchor="t">
            <a:spAutoFit/>
          </a:bodyPr>
          <a:lstStyle/>
          <a:p>
            <a:pPr algn="ctr"/>
            <a:r>
              <a:rPr sz="2200" b="1" i="0">
                <a:solidFill>
                  <a:srgbClr val="1A1A1A"/>
                </a:solidFill>
                <a:latin typeface="Calibri"/>
              </a:rPr>
              <a:t>CaCl₂</a:t>
            </a:r>
          </a:p>
        </p:txBody>
      </p:sp>
      <p:sp>
        <p:nvSpPr>
          <p:cNvPr id="22" name="TextBox 21"/>
          <p:cNvSpPr txBox="1"/>
          <p:nvPr/>
        </p:nvSpPr>
        <p:spPr>
          <a:xfrm>
            <a:off x="4274820" y="3721608"/>
            <a:ext cx="3611880" cy="256032"/>
          </a:xfrm>
          <a:prstGeom prst="rect">
            <a:avLst/>
          </a:prstGeom>
          <a:noFill/>
        </p:spPr>
        <p:txBody>
          <a:bodyPr wrap="square" lIns="36000" rIns="36000" tIns="18000" bIns="18000" anchor="t">
            <a:spAutoFit/>
          </a:bodyPr>
          <a:lstStyle/>
          <a:p>
            <a:pPr algn="ctr"/>
            <a:r>
              <a:rPr sz="1100" b="0" i="0">
                <a:solidFill>
                  <a:srgbClr val="555555"/>
                </a:solidFill>
                <a:latin typeface="Calibri"/>
              </a:rPr>
              <a:t>charge  +2</a:t>
            </a:r>
          </a:p>
        </p:txBody>
      </p:sp>
      <p:sp>
        <p:nvSpPr>
          <p:cNvPr id="23" name="TextBox 22"/>
          <p:cNvSpPr txBox="1"/>
          <p:nvPr/>
        </p:nvSpPr>
        <p:spPr>
          <a:xfrm>
            <a:off x="4274820" y="4023360"/>
            <a:ext cx="3611880" cy="502920"/>
          </a:xfrm>
          <a:prstGeom prst="rect">
            <a:avLst/>
          </a:prstGeom>
          <a:noFill/>
        </p:spPr>
        <p:txBody>
          <a:bodyPr wrap="square" lIns="36000" rIns="36000" tIns="18000" bIns="18000" anchor="t">
            <a:spAutoFit/>
          </a:bodyPr>
          <a:lstStyle/>
          <a:p>
            <a:pPr algn="ctr"/>
            <a:r>
              <a:rPr sz="2800" b="1" i="0">
                <a:solidFill>
                  <a:srgbClr val="6B5799"/>
                </a:solidFill>
                <a:latin typeface="Calibri"/>
              </a:rPr>
              <a:t>[0, 15]</a:t>
            </a:r>
          </a:p>
        </p:txBody>
      </p:sp>
      <p:sp>
        <p:nvSpPr>
          <p:cNvPr id="24" name="TextBox 23"/>
          <p:cNvSpPr txBox="1"/>
          <p:nvPr/>
        </p:nvSpPr>
        <p:spPr>
          <a:xfrm>
            <a:off x="4274820" y="4489704"/>
            <a:ext cx="3611880" cy="182880"/>
          </a:xfrm>
          <a:prstGeom prst="rect">
            <a:avLst/>
          </a:prstGeom>
          <a:noFill/>
        </p:spPr>
        <p:txBody>
          <a:bodyPr wrap="square" lIns="36000" rIns="36000" tIns="18000" bIns="18000" anchor="t">
            <a:spAutoFit/>
          </a:bodyPr>
          <a:lstStyle/>
          <a:p>
            <a:pPr algn="ctr"/>
            <a:r>
              <a:rPr sz="1000" b="0" i="1">
                <a:solidFill>
                  <a:srgbClr val="8A8A8A"/>
                </a:solidFill>
                <a:latin typeface="Calibri"/>
              </a:rPr>
              <a:t>µm/s</a:t>
            </a:r>
          </a:p>
        </p:txBody>
      </p:sp>
      <p:sp>
        <p:nvSpPr>
          <p:cNvPr id="25" name="Rectangle 24"/>
          <p:cNvSpPr/>
          <p:nvPr/>
        </p:nvSpPr>
        <p:spPr>
          <a:xfrm>
            <a:off x="4549140" y="4727448"/>
            <a:ext cx="3063240" cy="109728"/>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49140" y="4727448"/>
            <a:ext cx="1531620"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74820" y="4910328"/>
            <a:ext cx="3611880" cy="274320"/>
          </a:xfrm>
          <a:prstGeom prst="rect">
            <a:avLst/>
          </a:prstGeom>
          <a:noFill/>
        </p:spPr>
        <p:txBody>
          <a:bodyPr wrap="square" lIns="36000" rIns="36000" tIns="18000" bIns="18000" anchor="t">
            <a:spAutoFit/>
          </a:bodyPr>
          <a:lstStyle/>
          <a:p>
            <a:pPr algn="ctr"/>
            <a:r>
              <a:rPr sz="1100" b="1" i="0">
                <a:solidFill>
                  <a:srgbClr val="6B5799"/>
                </a:solidFill>
                <a:latin typeface="Calibri"/>
              </a:rPr>
              <a:t>halved</a:t>
            </a:r>
          </a:p>
        </p:txBody>
      </p:sp>
      <p:sp>
        <p:nvSpPr>
          <p:cNvPr id="28" name="Rounded Rectangle 27"/>
          <p:cNvSpPr/>
          <p:nvPr/>
        </p:nvSpPr>
        <p:spPr>
          <a:xfrm>
            <a:off x="8133588" y="3154680"/>
            <a:ext cx="3611880" cy="2103120"/>
          </a:xfrm>
          <a:prstGeom prst="roundRect">
            <a:avLst>
              <a:gd name="adj" fmla="val 8000"/>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3588" y="3319272"/>
            <a:ext cx="3611880" cy="411480"/>
          </a:xfrm>
          <a:prstGeom prst="rect">
            <a:avLst/>
          </a:prstGeom>
          <a:noFill/>
        </p:spPr>
        <p:txBody>
          <a:bodyPr wrap="square" lIns="36000" rIns="36000" tIns="18000" bIns="18000" anchor="t">
            <a:spAutoFit/>
          </a:bodyPr>
          <a:lstStyle/>
          <a:p>
            <a:pPr algn="ctr"/>
            <a:r>
              <a:rPr sz="2200" b="1" i="0">
                <a:solidFill>
                  <a:srgbClr val="1A1A1A"/>
                </a:solidFill>
                <a:latin typeface="Calibri"/>
              </a:rPr>
              <a:t>LaCl₃</a:t>
            </a:r>
          </a:p>
        </p:txBody>
      </p:sp>
      <p:sp>
        <p:nvSpPr>
          <p:cNvPr id="30" name="TextBox 29"/>
          <p:cNvSpPr txBox="1"/>
          <p:nvPr/>
        </p:nvSpPr>
        <p:spPr>
          <a:xfrm>
            <a:off x="8133588" y="3721608"/>
            <a:ext cx="3611880" cy="256032"/>
          </a:xfrm>
          <a:prstGeom prst="rect">
            <a:avLst/>
          </a:prstGeom>
          <a:noFill/>
        </p:spPr>
        <p:txBody>
          <a:bodyPr wrap="square" lIns="36000" rIns="36000" tIns="18000" bIns="18000" anchor="t">
            <a:spAutoFit/>
          </a:bodyPr>
          <a:lstStyle/>
          <a:p>
            <a:pPr algn="ctr"/>
            <a:r>
              <a:rPr sz="1100" b="0" i="0">
                <a:solidFill>
                  <a:srgbClr val="555555"/>
                </a:solidFill>
                <a:latin typeface="Calibri"/>
              </a:rPr>
              <a:t>charge  +3</a:t>
            </a:r>
          </a:p>
        </p:txBody>
      </p:sp>
      <p:sp>
        <p:nvSpPr>
          <p:cNvPr id="31" name="TextBox 30"/>
          <p:cNvSpPr txBox="1"/>
          <p:nvPr/>
        </p:nvSpPr>
        <p:spPr>
          <a:xfrm>
            <a:off x="8133588" y="4023360"/>
            <a:ext cx="3611880" cy="502920"/>
          </a:xfrm>
          <a:prstGeom prst="rect">
            <a:avLst/>
          </a:prstGeom>
          <a:noFill/>
        </p:spPr>
        <p:txBody>
          <a:bodyPr wrap="square" lIns="36000" rIns="36000" tIns="18000" bIns="18000" anchor="t">
            <a:spAutoFit/>
          </a:bodyPr>
          <a:lstStyle/>
          <a:p>
            <a:pPr algn="ctr"/>
            <a:r>
              <a:rPr sz="2800" b="1" i="0">
                <a:solidFill>
                  <a:srgbClr val="99556B"/>
                </a:solidFill>
                <a:latin typeface="Calibri"/>
              </a:rPr>
              <a:t>[0, 10]</a:t>
            </a:r>
          </a:p>
        </p:txBody>
      </p:sp>
      <p:sp>
        <p:nvSpPr>
          <p:cNvPr id="32" name="TextBox 31"/>
          <p:cNvSpPr txBox="1"/>
          <p:nvPr/>
        </p:nvSpPr>
        <p:spPr>
          <a:xfrm>
            <a:off x="8133588" y="4489704"/>
            <a:ext cx="3611880" cy="182880"/>
          </a:xfrm>
          <a:prstGeom prst="rect">
            <a:avLst/>
          </a:prstGeom>
          <a:noFill/>
        </p:spPr>
        <p:txBody>
          <a:bodyPr wrap="square" lIns="36000" rIns="36000" tIns="18000" bIns="18000" anchor="t">
            <a:spAutoFit/>
          </a:bodyPr>
          <a:lstStyle/>
          <a:p>
            <a:pPr algn="ctr"/>
            <a:r>
              <a:rPr sz="1000" b="0" i="1">
                <a:solidFill>
                  <a:srgbClr val="8A8A8A"/>
                </a:solidFill>
                <a:latin typeface="Calibri"/>
              </a:rPr>
              <a:t>µm/s</a:t>
            </a:r>
          </a:p>
        </p:txBody>
      </p:sp>
      <p:sp>
        <p:nvSpPr>
          <p:cNvPr id="33" name="Rectangle 32"/>
          <p:cNvSpPr/>
          <p:nvPr/>
        </p:nvSpPr>
        <p:spPr>
          <a:xfrm>
            <a:off x="8407908" y="4727448"/>
            <a:ext cx="3063240" cy="109728"/>
          </a:xfrm>
          <a:prstGeom prst="rect">
            <a:avLst/>
          </a:prstGeom>
          <a:solidFill>
            <a:srgbClr val="E8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07908" y="4727448"/>
            <a:ext cx="1010869"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3588" y="4910328"/>
            <a:ext cx="3611880" cy="274320"/>
          </a:xfrm>
          <a:prstGeom prst="rect">
            <a:avLst/>
          </a:prstGeom>
          <a:noFill/>
        </p:spPr>
        <p:txBody>
          <a:bodyPr wrap="square" lIns="36000" rIns="36000" tIns="18000" bIns="18000" anchor="t">
            <a:spAutoFit/>
          </a:bodyPr>
          <a:lstStyle/>
          <a:p>
            <a:pPr algn="ctr"/>
            <a:r>
              <a:rPr sz="1100" b="1" i="0">
                <a:solidFill>
                  <a:srgbClr val="99556B"/>
                </a:solidFill>
                <a:latin typeface="Calibri"/>
              </a:rPr>
              <a:t>thirded</a:t>
            </a:r>
          </a:p>
        </p:txBody>
      </p:sp>
      <p:sp>
        <p:nvSpPr>
          <p:cNvPr id="36" name="TextBox 35"/>
          <p:cNvSpPr txBox="1"/>
          <p:nvPr/>
        </p:nvSpPr>
        <p:spPr>
          <a:xfrm>
            <a:off x="411480" y="5486400"/>
            <a:ext cx="11338560" cy="274320"/>
          </a:xfrm>
          <a:prstGeom prst="rect">
            <a:avLst/>
          </a:prstGeom>
          <a:noFill/>
        </p:spPr>
        <p:txBody>
          <a:bodyPr wrap="square" lIns="36000" rIns="36000" tIns="18000" bIns="18000" anchor="t">
            <a:spAutoFit/>
          </a:bodyPr>
          <a:lstStyle/>
          <a:p>
            <a:pPr algn="l"/>
            <a:r>
              <a:rPr sz="1200" b="1" i="0">
                <a:solidFill>
                  <a:srgbClr val="C0392B"/>
                </a:solidFill>
                <a:latin typeface="Calibri"/>
              </a:rPr>
              <a:t>Why?</a:t>
            </a:r>
          </a:p>
        </p:txBody>
      </p:sp>
      <p:sp>
        <p:nvSpPr>
          <p:cNvPr id="37" name="TextBox 36"/>
          <p:cNvSpPr txBox="1"/>
          <p:nvPr/>
        </p:nvSpPr>
        <p:spPr>
          <a:xfrm>
            <a:off x="411480" y="5779008"/>
            <a:ext cx="11338560" cy="1005840"/>
          </a:xfrm>
          <a:prstGeom prst="rect">
            <a:avLst/>
          </a:prstGeom>
          <a:noFill/>
        </p:spPr>
        <p:txBody>
          <a:bodyPr wrap="square" lIns="36000" rIns="36000" tIns="18000" bIns="18000" anchor="t">
            <a:spAutoFit/>
          </a:bodyPr>
          <a:lstStyle/>
          <a:p>
            <a:pPr algn="l"/>
            <a:r>
              <a:rPr sz="1100" b="0" i="0">
                <a:solidFill>
                  <a:srgbClr val="1A1A1A"/>
                </a:solidFill>
                <a:latin typeface="Calibri"/>
              </a:rPr>
              <a:t>Two effects make multivalent salts harder to diffuse through the membrane on their own:   (1)  Heavier-charged ions move slower in water to begin with.   (2)  Squeezing a charged ion into the pore takes energy — and that cost rises with the square of the charge,  so about 4× the cost for divalent ions and 9× for trivalent ones.   Engineering rule of thumb:  halve the B upper bound for each step up in cation charge.   (See slide 10B for why this doesn't conflict with the rejection data you see at the bench.)</a:t>
            </a:r>
          </a:p>
        </p:txBody>
      </p:sp>
      <p:sp>
        <p:nvSpPr>
          <p:cNvPr id="38" name="TextBox 37"/>
          <p:cNvSpPr txBox="1"/>
          <p:nvPr/>
        </p:nvSpPr>
        <p:spPr>
          <a:xfrm>
            <a:off x="411480" y="6492240"/>
            <a:ext cx="11338560" cy="365760"/>
          </a:xfrm>
          <a:prstGeom prst="rect">
            <a:avLst/>
          </a:prstGeom>
          <a:noFill/>
        </p:spPr>
        <p:txBody>
          <a:bodyPr wrap="square" lIns="36000" rIns="36000" tIns="18000" bIns="18000" anchor="t">
            <a:spAutoFit/>
          </a:bodyPr>
          <a:lstStyle/>
          <a:p>
            <a:pPr algn="l"/>
            <a:r>
              <a:rPr sz="800" b="0" i="1">
                <a:solidFill>
                  <a:srgbClr val="8A8A8A"/>
                </a:solidFill>
                <a:latin typeface="Calibri"/>
              </a:rPr>
              <a:t>Source:   L_p and σ — inherited from published DATA1/DATA2 KCl runs (self-cite).   B per-valence rule — Stokes-Einstein × dielectric exclusion (Yaroshchuk 2000;  Bandini &amp; Vezzani 2003).   Literature anchors and verification audit available in speaker notes.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74320"/>
            <a:ext cx="548640" cy="502920"/>
          </a:xfrm>
          <a:prstGeom prst="rect">
            <a:avLst/>
          </a:prstGeom>
          <a:noFill/>
        </p:spPr>
        <p:txBody>
          <a:bodyPr wrap="square" lIns="36000" rIns="36000" tIns="18000" bIns="18000" anchor="t">
            <a:spAutoFit/>
          </a:bodyPr>
          <a:lstStyle/>
          <a:p>
            <a:pPr algn="l"/>
            <a:r>
              <a:rPr sz="2800" b="1" i="0">
                <a:solidFill>
                  <a:srgbClr val="8A8A8A"/>
                </a:solidFill>
                <a:latin typeface="Calibri"/>
              </a:rPr>
              <a:t>10B</a:t>
            </a:r>
          </a:p>
        </p:txBody>
      </p:sp>
      <p:sp>
        <p:nvSpPr>
          <p:cNvPr id="3" name="TextBox 2"/>
          <p:cNvSpPr txBox="1"/>
          <p:nvPr/>
        </p:nvSpPr>
        <p:spPr>
          <a:xfrm>
            <a:off x="1051560" y="274320"/>
            <a:ext cx="10515600" cy="502920"/>
          </a:xfrm>
          <a:prstGeom prst="rect">
            <a:avLst/>
          </a:prstGeom>
          <a:noFill/>
        </p:spPr>
        <p:txBody>
          <a:bodyPr wrap="square" lIns="36000" rIns="36000" tIns="18000" bIns="18000" anchor="t">
            <a:spAutoFit/>
          </a:bodyPr>
          <a:lstStyle/>
          <a:p>
            <a:pPr algn="l"/>
            <a:r>
              <a:rPr sz="2200" b="1" i="0">
                <a:solidFill>
                  <a:srgbClr val="1A1A1A"/>
                </a:solidFill>
                <a:latin typeface="Calibri"/>
              </a:rPr>
              <a:t>10B · TWO ROUTES THROUGH THE MEMBRANE</a:t>
            </a:r>
          </a:p>
        </p:txBody>
      </p:sp>
      <p:sp>
        <p:nvSpPr>
          <p:cNvPr id="4" name="TextBox 3"/>
          <p:cNvSpPr txBox="1"/>
          <p:nvPr/>
        </p:nvSpPr>
        <p:spPr>
          <a:xfrm>
            <a:off x="1051560" y="804672"/>
            <a:ext cx="10515600" cy="365760"/>
          </a:xfrm>
          <a:prstGeom prst="rect">
            <a:avLst/>
          </a:prstGeom>
          <a:noFill/>
        </p:spPr>
        <p:txBody>
          <a:bodyPr wrap="square" lIns="36000" rIns="36000" tIns="18000" bIns="18000" anchor="t">
            <a:spAutoFit/>
          </a:bodyPr>
          <a:lstStyle/>
          <a:p>
            <a:pPr algn="l"/>
            <a:r>
              <a:rPr sz="1300" b="0" i="1">
                <a:solidFill>
                  <a:srgbClr val="555555"/>
                </a:solidFill>
                <a:latin typeface="Calibri"/>
              </a:rPr>
              <a:t>why a tighter B bound for multivalent salts doesn't conflict with the rejection data</a:t>
            </a:r>
          </a:p>
        </p:txBody>
      </p:sp>
      <p:sp>
        <p:nvSpPr>
          <p:cNvPr id="5" name="Rounded Rectangle 4"/>
          <p:cNvSpPr/>
          <p:nvPr/>
        </p:nvSpPr>
        <p:spPr>
          <a:xfrm>
            <a:off x="411480" y="1325880"/>
            <a:ext cx="11338560" cy="777240"/>
          </a:xfrm>
          <a:prstGeom prst="roundRect">
            <a:avLst>
              <a:gd name="adj" fmla="val 8000"/>
            </a:avLst>
          </a:prstGeom>
          <a:solidFill>
            <a:srgbClr val="F6F8FB"/>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972800" cy="274320"/>
          </a:xfrm>
          <a:prstGeom prst="rect">
            <a:avLst/>
          </a:prstGeom>
          <a:noFill/>
        </p:spPr>
        <p:txBody>
          <a:bodyPr wrap="square" lIns="36000" rIns="36000" tIns="18000" bIns="18000" anchor="t">
            <a:spAutoFit/>
          </a:bodyPr>
          <a:lstStyle/>
          <a:p>
            <a:pPr algn="l"/>
            <a:r>
              <a:rPr sz="1200" b="1" i="0">
                <a:solidFill>
                  <a:srgbClr val="C0392B"/>
                </a:solidFill>
                <a:latin typeface="Calibri"/>
              </a:rPr>
              <a:t>Sounds backwards at first:</a:t>
            </a:r>
          </a:p>
        </p:txBody>
      </p:sp>
      <p:sp>
        <p:nvSpPr>
          <p:cNvPr id="7" name="TextBox 6"/>
          <p:cNvSpPr txBox="1"/>
          <p:nvPr/>
        </p:nvSpPr>
        <p:spPr>
          <a:xfrm>
            <a:off x="640080" y="1673352"/>
            <a:ext cx="10972800" cy="411480"/>
          </a:xfrm>
          <a:prstGeom prst="rect">
            <a:avLst/>
          </a:prstGeom>
          <a:noFill/>
        </p:spPr>
        <p:txBody>
          <a:bodyPr wrap="square" lIns="36000" rIns="36000" tIns="18000" bIns="18000" anchor="t">
            <a:spAutoFit/>
          </a:bodyPr>
          <a:lstStyle/>
          <a:p>
            <a:pPr algn="l"/>
            <a:r>
              <a:rPr sz="1050" b="0" i="0">
                <a:solidFill>
                  <a:srgbClr val="1A1A1A"/>
                </a:solidFill>
                <a:latin typeface="Calibri"/>
              </a:rPr>
              <a:t>Multivalent salts are LESS rejected at the bench (Na &gt; Ca &gt; La)  —  yet the proposed B bound is TIGHTER for them (Na &gt; Ca &gt; La).   How can both be true?   Because salt gets through the membrane TWO ways, and they're governed by different parameters.</a:t>
            </a:r>
          </a:p>
        </p:txBody>
      </p:sp>
      <p:sp>
        <p:nvSpPr>
          <p:cNvPr id="8" name="Rounded Rectangle 7"/>
          <p:cNvSpPr/>
          <p:nvPr/>
        </p:nvSpPr>
        <p:spPr>
          <a:xfrm>
            <a:off x="411480" y="2331720"/>
            <a:ext cx="5577840" cy="2788920"/>
          </a:xfrm>
          <a:prstGeom prst="roundRect">
            <a:avLst>
              <a:gd name="adj" fmla="val 4000"/>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331720"/>
            <a:ext cx="5577840" cy="41148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68296"/>
            <a:ext cx="5212079" cy="347472"/>
          </a:xfrm>
          <a:prstGeom prst="rect">
            <a:avLst/>
          </a:prstGeom>
          <a:noFill/>
        </p:spPr>
        <p:txBody>
          <a:bodyPr wrap="square" lIns="36000" rIns="36000" tIns="18000" bIns="18000" anchor="ctr">
            <a:spAutoFit/>
          </a:bodyPr>
          <a:lstStyle/>
          <a:p>
            <a:pPr algn="l"/>
            <a:r>
              <a:rPr sz="1200" b="1" i="0">
                <a:solidFill>
                  <a:srgbClr val="FFFFFF"/>
                </a:solidFill>
                <a:latin typeface="Calibri"/>
              </a:rPr>
              <a:t>▶  ROUTE 1 — RIDING WITH THE WATER</a:t>
            </a:r>
          </a:p>
        </p:txBody>
      </p:sp>
      <p:sp>
        <p:nvSpPr>
          <p:cNvPr id="11" name="TextBox 10"/>
          <p:cNvSpPr txBox="1"/>
          <p:nvPr/>
        </p:nvSpPr>
        <p:spPr>
          <a:xfrm>
            <a:off x="640080" y="2834639"/>
            <a:ext cx="5120640" cy="292608"/>
          </a:xfrm>
          <a:prstGeom prst="rect">
            <a:avLst/>
          </a:prstGeom>
          <a:noFill/>
        </p:spPr>
        <p:txBody>
          <a:bodyPr wrap="square" lIns="36000" rIns="36000" tIns="18000" bIns="18000" anchor="t">
            <a:spAutoFit/>
          </a:bodyPr>
          <a:lstStyle/>
          <a:p>
            <a:pPr algn="l"/>
            <a:r>
              <a:rPr sz="1250" b="1" i="0">
                <a:solidFill>
                  <a:srgbClr val="1A1A1A"/>
                </a:solidFill>
                <a:latin typeface="Calibri"/>
              </a:rPr>
              <a:t>Salt rides through with the flowing water</a:t>
            </a:r>
          </a:p>
        </p:txBody>
      </p:sp>
      <p:sp>
        <p:nvSpPr>
          <p:cNvPr id="12" name="TextBox 11"/>
          <p:cNvSpPr txBox="1"/>
          <p:nvPr/>
        </p:nvSpPr>
        <p:spPr>
          <a:xfrm>
            <a:off x="640080" y="3136391"/>
            <a:ext cx="5120640" cy="237744"/>
          </a:xfrm>
          <a:prstGeom prst="rect">
            <a:avLst/>
          </a:prstGeom>
          <a:noFill/>
        </p:spPr>
        <p:txBody>
          <a:bodyPr wrap="square" lIns="36000" rIns="36000" tIns="18000" bIns="18000" anchor="t">
            <a:spAutoFit/>
          </a:bodyPr>
          <a:lstStyle/>
          <a:p>
            <a:pPr algn="l"/>
            <a:r>
              <a:rPr sz="1000" b="0" i="1">
                <a:solidFill>
                  <a:srgbClr val="1F4E79"/>
                </a:solidFill>
                <a:latin typeface="Calibri"/>
              </a:rPr>
              <a:t>governed by σ (reflection coefficient)</a:t>
            </a:r>
          </a:p>
        </p:txBody>
      </p:sp>
      <p:sp>
        <p:nvSpPr>
          <p:cNvPr id="13" name="TextBox 12"/>
          <p:cNvSpPr txBox="1"/>
          <p:nvPr/>
        </p:nvSpPr>
        <p:spPr>
          <a:xfrm>
            <a:off x="640080" y="3410711"/>
            <a:ext cx="5120640" cy="1280160"/>
          </a:xfrm>
          <a:prstGeom prst="rect">
            <a:avLst/>
          </a:prstGeom>
          <a:noFill/>
        </p:spPr>
        <p:txBody>
          <a:bodyPr wrap="square" lIns="36000" rIns="36000" tIns="18000" bIns="18000">
            <a:spAutoFit/>
          </a:bodyPr>
          <a:lstStyle/>
          <a:p>
            <a:pPr algn="l">
              <a:spcAft>
                <a:spcPts val="300"/>
              </a:spcAft>
            </a:pPr>
            <a:r>
              <a:rPr sz="950">
                <a:solidFill>
                  <a:srgbClr val="1A1A1A"/>
                </a:solidFill>
                <a:latin typeface="Calibri"/>
              </a:rPr>
              <a:t>•  Water flows through the membrane;  salt can ride along if the membrane lets it.</a:t>
            </a:r>
          </a:p>
          <a:p>
            <a:pPr algn="l">
              <a:spcAft>
                <a:spcPts val="300"/>
              </a:spcAft>
            </a:pPr>
            <a:r>
              <a:rPr sz="950">
                <a:solidFill>
                  <a:srgbClr val="1A1A1A"/>
                </a:solidFill>
                <a:latin typeface="Calibri"/>
              </a:rPr>
              <a:t>•  NF270 is negatively charged — it attracts multivalent cations (Ca²⁺, La³⁺) more strongly than Na⁺.</a:t>
            </a:r>
          </a:p>
          <a:p>
            <a:pPr algn="l">
              <a:spcAft>
                <a:spcPts val="300"/>
              </a:spcAft>
            </a:pPr>
            <a:r>
              <a:rPr sz="950">
                <a:solidFill>
                  <a:srgbClr val="1A1A1A"/>
                </a:solidFill>
                <a:latin typeface="Calibri"/>
              </a:rPr>
              <a:t>•  Once the cation is pulled in, chloride has to follow to keep things electrically neutral.</a:t>
            </a:r>
          </a:p>
          <a:p>
            <a:pPr algn="l">
              <a:spcAft>
                <a:spcPts val="300"/>
              </a:spcAft>
            </a:pPr>
            <a:r>
              <a:rPr sz="950">
                <a:solidFill>
                  <a:srgbClr val="1A1A1A"/>
                </a:solidFill>
                <a:latin typeface="Calibri"/>
              </a:rPr>
              <a:t>•  Result:  multivalent salts ride through MORE easily.</a:t>
            </a:r>
          </a:p>
        </p:txBody>
      </p:sp>
      <p:sp>
        <p:nvSpPr>
          <p:cNvPr id="14" name="TextBox 13"/>
          <p:cNvSpPr txBox="1"/>
          <p:nvPr/>
        </p:nvSpPr>
        <p:spPr>
          <a:xfrm>
            <a:off x="640080" y="4617720"/>
            <a:ext cx="5120640" cy="274320"/>
          </a:xfrm>
          <a:prstGeom prst="rect">
            <a:avLst/>
          </a:prstGeom>
          <a:noFill/>
        </p:spPr>
        <p:txBody>
          <a:bodyPr wrap="square" lIns="36000" rIns="36000" tIns="18000" bIns="18000" anchor="t">
            <a:spAutoFit/>
          </a:bodyPr>
          <a:lstStyle/>
          <a:p>
            <a:pPr algn="l"/>
            <a:r>
              <a:rPr sz="1100" b="1" i="0">
                <a:solidFill>
                  <a:srgbClr val="1F4E79"/>
                </a:solidFill>
                <a:latin typeface="Calibri"/>
              </a:rPr>
              <a:t>→  Rejection drops for higher-charge salts.</a:t>
            </a:r>
          </a:p>
        </p:txBody>
      </p:sp>
      <p:sp>
        <p:nvSpPr>
          <p:cNvPr id="15" name="TextBox 14"/>
          <p:cNvSpPr txBox="1"/>
          <p:nvPr/>
        </p:nvSpPr>
        <p:spPr>
          <a:xfrm>
            <a:off x="640080" y="4892040"/>
            <a:ext cx="5120640" cy="228600"/>
          </a:xfrm>
          <a:prstGeom prst="rect">
            <a:avLst/>
          </a:prstGeom>
          <a:noFill/>
        </p:spPr>
        <p:txBody>
          <a:bodyPr wrap="square" lIns="36000" rIns="36000" tIns="18000" bIns="18000" anchor="t">
            <a:spAutoFit/>
          </a:bodyPr>
          <a:lstStyle/>
          <a:p>
            <a:pPr algn="l"/>
            <a:r>
              <a:rPr sz="900" b="0" i="1">
                <a:solidFill>
                  <a:srgbClr val="555555"/>
                </a:solidFill>
                <a:latin typeface="Calibri"/>
              </a:rPr>
              <a:t>← this is what you actually see in the rejection data</a:t>
            </a:r>
          </a:p>
        </p:txBody>
      </p:sp>
      <p:sp>
        <p:nvSpPr>
          <p:cNvPr id="16" name="Rounded Rectangle 15"/>
          <p:cNvSpPr/>
          <p:nvPr/>
        </p:nvSpPr>
        <p:spPr>
          <a:xfrm>
            <a:off x="6263640" y="2331720"/>
            <a:ext cx="5577840" cy="2788920"/>
          </a:xfrm>
          <a:prstGeom prst="roundRect">
            <a:avLst>
              <a:gd name="adj" fmla="val 4000"/>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331720"/>
            <a:ext cx="5577840" cy="411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368296"/>
            <a:ext cx="5212079" cy="347472"/>
          </a:xfrm>
          <a:prstGeom prst="rect">
            <a:avLst/>
          </a:prstGeom>
          <a:noFill/>
        </p:spPr>
        <p:txBody>
          <a:bodyPr wrap="square" lIns="36000" rIns="36000" tIns="18000" bIns="18000" anchor="ctr">
            <a:spAutoFit/>
          </a:bodyPr>
          <a:lstStyle/>
          <a:p>
            <a:pPr algn="l"/>
            <a:r>
              <a:rPr sz="1200" b="1" i="0">
                <a:solidFill>
                  <a:srgbClr val="FFFFFF"/>
                </a:solidFill>
                <a:latin typeface="Calibri"/>
              </a:rPr>
              <a:t>▶  ROUTE 2 — DIFFUSING THROUGH ALONE</a:t>
            </a:r>
          </a:p>
        </p:txBody>
      </p:sp>
      <p:sp>
        <p:nvSpPr>
          <p:cNvPr id="19" name="TextBox 18"/>
          <p:cNvSpPr txBox="1"/>
          <p:nvPr/>
        </p:nvSpPr>
        <p:spPr>
          <a:xfrm>
            <a:off x="6492240" y="2834639"/>
            <a:ext cx="5120640" cy="292608"/>
          </a:xfrm>
          <a:prstGeom prst="rect">
            <a:avLst/>
          </a:prstGeom>
          <a:noFill/>
        </p:spPr>
        <p:txBody>
          <a:bodyPr wrap="square" lIns="36000" rIns="36000" tIns="18000" bIns="18000" anchor="t">
            <a:spAutoFit/>
          </a:bodyPr>
          <a:lstStyle/>
          <a:p>
            <a:pPr algn="l"/>
            <a:r>
              <a:rPr sz="1250" b="1" i="0">
                <a:solidFill>
                  <a:srgbClr val="1A1A1A"/>
                </a:solidFill>
                <a:latin typeface="Calibri"/>
              </a:rPr>
              <a:t>Salt molecules squeeze through the pore on their own</a:t>
            </a:r>
          </a:p>
        </p:txBody>
      </p:sp>
      <p:sp>
        <p:nvSpPr>
          <p:cNvPr id="20" name="TextBox 19"/>
          <p:cNvSpPr txBox="1"/>
          <p:nvPr/>
        </p:nvSpPr>
        <p:spPr>
          <a:xfrm>
            <a:off x="6492240" y="3136391"/>
            <a:ext cx="5120640" cy="237744"/>
          </a:xfrm>
          <a:prstGeom prst="rect">
            <a:avLst/>
          </a:prstGeom>
          <a:noFill/>
        </p:spPr>
        <p:txBody>
          <a:bodyPr wrap="square" lIns="36000" rIns="36000" tIns="18000" bIns="18000" anchor="t">
            <a:spAutoFit/>
          </a:bodyPr>
          <a:lstStyle/>
          <a:p>
            <a:pPr algn="l"/>
            <a:r>
              <a:rPr sz="1000" b="0" i="1">
                <a:solidFill>
                  <a:srgbClr val="2E7D32"/>
                </a:solidFill>
                <a:latin typeface="Calibri"/>
              </a:rPr>
              <a:t>governed by B (solute permeability)</a:t>
            </a:r>
          </a:p>
        </p:txBody>
      </p:sp>
      <p:sp>
        <p:nvSpPr>
          <p:cNvPr id="21" name="TextBox 20"/>
          <p:cNvSpPr txBox="1"/>
          <p:nvPr/>
        </p:nvSpPr>
        <p:spPr>
          <a:xfrm>
            <a:off x="6492240" y="3410711"/>
            <a:ext cx="5120640" cy="1280160"/>
          </a:xfrm>
          <a:prstGeom prst="rect">
            <a:avLst/>
          </a:prstGeom>
          <a:noFill/>
        </p:spPr>
        <p:txBody>
          <a:bodyPr wrap="square" lIns="36000" rIns="36000" tIns="18000" bIns="18000">
            <a:spAutoFit/>
          </a:bodyPr>
          <a:lstStyle/>
          <a:p>
            <a:pPr algn="l">
              <a:spcAft>
                <a:spcPts val="300"/>
              </a:spcAft>
            </a:pPr>
            <a:r>
              <a:rPr sz="950">
                <a:solidFill>
                  <a:srgbClr val="1A1A1A"/>
                </a:solidFill>
                <a:latin typeface="Calibri"/>
              </a:rPr>
              <a:t>•  No water flow needed — just random thermal motion through the pore.</a:t>
            </a:r>
          </a:p>
          <a:p>
            <a:pPr algn="l">
              <a:spcAft>
                <a:spcPts val="300"/>
              </a:spcAft>
            </a:pPr>
            <a:r>
              <a:rPr sz="950">
                <a:solidFill>
                  <a:srgbClr val="1A1A1A"/>
                </a:solidFill>
                <a:latin typeface="Calibri"/>
              </a:rPr>
              <a:t>•  Heavier-charged ions move slower in water to start with.</a:t>
            </a:r>
          </a:p>
          <a:p>
            <a:pPr algn="l">
              <a:spcAft>
                <a:spcPts val="300"/>
              </a:spcAft>
            </a:pPr>
            <a:r>
              <a:rPr sz="950">
                <a:solidFill>
                  <a:srgbClr val="1A1A1A"/>
                </a:solidFill>
                <a:latin typeface="Calibri"/>
              </a:rPr>
              <a:t>•  Squeezing a charged ion into the pore costs energy — about 4× more for divalent, 9× more for trivalent.</a:t>
            </a:r>
          </a:p>
          <a:p>
            <a:pPr algn="l">
              <a:spcAft>
                <a:spcPts val="300"/>
              </a:spcAft>
            </a:pPr>
            <a:r>
              <a:rPr sz="950">
                <a:solidFill>
                  <a:srgbClr val="1A1A1A"/>
                </a:solidFill>
                <a:latin typeface="Calibri"/>
              </a:rPr>
              <a:t>•  Result:  multivalent salts diffuse through LESS easily.</a:t>
            </a:r>
          </a:p>
        </p:txBody>
      </p:sp>
      <p:sp>
        <p:nvSpPr>
          <p:cNvPr id="22" name="TextBox 21"/>
          <p:cNvSpPr txBox="1"/>
          <p:nvPr/>
        </p:nvSpPr>
        <p:spPr>
          <a:xfrm>
            <a:off x="6492240" y="4617720"/>
            <a:ext cx="5120640" cy="274320"/>
          </a:xfrm>
          <a:prstGeom prst="rect">
            <a:avLst/>
          </a:prstGeom>
          <a:noFill/>
        </p:spPr>
        <p:txBody>
          <a:bodyPr wrap="square" lIns="36000" rIns="36000" tIns="18000" bIns="18000" anchor="t">
            <a:spAutoFit/>
          </a:bodyPr>
          <a:lstStyle/>
          <a:p>
            <a:pPr algn="l"/>
            <a:r>
              <a:rPr sz="1100" b="1" i="0">
                <a:solidFill>
                  <a:srgbClr val="2E7D32"/>
                </a:solidFill>
                <a:latin typeface="Calibri"/>
              </a:rPr>
              <a:t>→  B drops for higher-charge salts.</a:t>
            </a:r>
          </a:p>
        </p:txBody>
      </p:sp>
      <p:sp>
        <p:nvSpPr>
          <p:cNvPr id="23" name="TextBox 22"/>
          <p:cNvSpPr txBox="1"/>
          <p:nvPr/>
        </p:nvSpPr>
        <p:spPr>
          <a:xfrm>
            <a:off x="6492240" y="4892040"/>
            <a:ext cx="5120640" cy="228600"/>
          </a:xfrm>
          <a:prstGeom prst="rect">
            <a:avLst/>
          </a:prstGeom>
          <a:noFill/>
        </p:spPr>
        <p:txBody>
          <a:bodyPr wrap="square" lIns="36000" rIns="36000" tIns="18000" bIns="18000" anchor="t">
            <a:spAutoFit/>
          </a:bodyPr>
          <a:lstStyle/>
          <a:p>
            <a:pPr algn="l"/>
            <a:r>
              <a:rPr sz="900" b="0" i="1">
                <a:solidFill>
                  <a:srgbClr val="555555"/>
                </a:solidFill>
                <a:latin typeface="Calibri"/>
              </a:rPr>
              <a:t>← this is what the proposed B bound encodes</a:t>
            </a:r>
          </a:p>
        </p:txBody>
      </p:sp>
      <p:sp>
        <p:nvSpPr>
          <p:cNvPr id="24" name="Rounded Rectangle 23"/>
          <p:cNvSpPr/>
          <p:nvPr/>
        </p:nvSpPr>
        <p:spPr>
          <a:xfrm>
            <a:off x="411480" y="5303520"/>
            <a:ext cx="11338560" cy="777240"/>
          </a:xfrm>
          <a:prstGeom prst="roundRect">
            <a:avLst>
              <a:gd name="adj" fmla="val 8000"/>
            </a:avLst>
          </a:prstGeom>
          <a:solidFill>
            <a:srgbClr val="F6F8FB"/>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lIns="72000" rIns="72000" tIns="28000" bIns="28000" wrap="square"/>
          <a:lstStyle/>
          <a:p>
            <a:pPr algn="l"/>
            <a:r>
              <a:rPr sz="1100" b="1">
                <a:solidFill>
                  <a:srgbClr val="CBD5E1"/>
                </a:solidFill>
              </a:rPr>
              <a:t>Takeaway:   </a:t>
            </a:r>
            <a:r>
              <a:rPr sz="1100" b="0">
                <a:solidFill>
                  <a:srgbClr val="1A1A1A"/>
                </a:solidFill>
              </a:rPr>
              <a:t>Both rules are right — they describe different stages of the same transport problem.  Multivalent salts mostly get through by riding the water (Route 1), so the rejection data is dominated by σ.  Diffusion through alone (Route 2) is a smaller channel, and physics says it should be tighter for higher-charge salts — which is what the proposed B bound encodes.</a:t>
            </a:r>
          </a:p>
        </p:txBody>
      </p:sp>
      <p:sp>
        <p:nvSpPr>
          <p:cNvPr id="25" name="TextBox 24"/>
          <p:cNvSpPr txBox="1"/>
          <p:nvPr/>
        </p:nvSpPr>
        <p:spPr>
          <a:xfrm>
            <a:off x="411480" y="6355080"/>
            <a:ext cx="11338560" cy="365760"/>
          </a:xfrm>
          <a:prstGeom prst="rect">
            <a:avLst/>
          </a:prstGeom>
          <a:noFill/>
        </p:spPr>
        <p:txBody>
          <a:bodyPr wrap="square" lIns="36000" rIns="36000" tIns="18000" bIns="18000" anchor="t">
            <a:spAutoFit/>
          </a:bodyPr>
          <a:lstStyle/>
          <a:p>
            <a:pPr algn="l"/>
            <a:r>
              <a:rPr sz="800" b="0" i="1">
                <a:solidFill>
                  <a:srgbClr val="8A8A8A"/>
                </a:solidFill>
                <a:latin typeface="Calibri"/>
              </a:rPr>
              <a:t>Source:   Spiegler-Kedem model splits salt flux into a convective term (σ-controlled, Donnan/steric exclusion at the interface) and a diffusive term (B-controlled, Born partitioning into the pore).   Per-salt B reasoning:  Yaroshchuk (2000);  Bandini &amp; Vezzani (2003).   See slide 10C for the cited literature anchors.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74320"/>
            <a:ext cx="548640" cy="502920"/>
          </a:xfrm>
          <a:prstGeom prst="rect">
            <a:avLst/>
          </a:prstGeom>
          <a:noFill/>
        </p:spPr>
        <p:txBody>
          <a:bodyPr wrap="square" lIns="36000" rIns="36000" tIns="18000" bIns="18000" anchor="t">
            <a:spAutoFit/>
          </a:bodyPr>
          <a:lstStyle/>
          <a:p>
            <a:pPr algn="l"/>
            <a:r>
              <a:rPr sz="2800" b="1" i="0">
                <a:solidFill>
                  <a:srgbClr val="8A8A8A"/>
                </a:solidFill>
                <a:latin typeface="Calibri"/>
              </a:rPr>
              <a:t>10C</a:t>
            </a:r>
          </a:p>
        </p:txBody>
      </p:sp>
      <p:sp>
        <p:nvSpPr>
          <p:cNvPr id="3" name="TextBox 2"/>
          <p:cNvSpPr txBox="1"/>
          <p:nvPr/>
        </p:nvSpPr>
        <p:spPr>
          <a:xfrm>
            <a:off x="1051560" y="274320"/>
            <a:ext cx="10515600" cy="502920"/>
          </a:xfrm>
          <a:prstGeom prst="rect">
            <a:avLst/>
          </a:prstGeom>
          <a:noFill/>
        </p:spPr>
        <p:txBody>
          <a:bodyPr wrap="square" lIns="36000" rIns="36000" tIns="18000" bIns="18000" anchor="t">
            <a:spAutoFit/>
          </a:bodyPr>
          <a:lstStyle/>
          <a:p>
            <a:pPr algn="l"/>
            <a:r>
              <a:rPr sz="2400" b="1" i="0">
                <a:solidFill>
                  <a:srgbClr val="1A1A1A"/>
                </a:solidFill>
                <a:latin typeface="Calibri"/>
              </a:rPr>
              <a:t>10C · LITERATURE ANCHORS</a:t>
            </a:r>
          </a:p>
        </p:txBody>
      </p:sp>
      <p:sp>
        <p:nvSpPr>
          <p:cNvPr id="4" name="TextBox 3"/>
          <p:cNvSpPr txBox="1"/>
          <p:nvPr/>
        </p:nvSpPr>
        <p:spPr>
          <a:xfrm>
            <a:off x="1051560" y="822960"/>
            <a:ext cx="10515600" cy="365760"/>
          </a:xfrm>
          <a:prstGeom prst="rect">
            <a:avLst/>
          </a:prstGeom>
          <a:noFill/>
        </p:spPr>
        <p:txBody>
          <a:bodyPr wrap="square" lIns="36000" rIns="36000" tIns="18000" bIns="18000" anchor="t">
            <a:spAutoFit/>
          </a:bodyPr>
          <a:lstStyle/>
          <a:p>
            <a:pPr algn="l"/>
            <a:r>
              <a:rPr sz="1300" b="0" i="1">
                <a:solidFill>
                  <a:srgbClr val="555555"/>
                </a:solidFill>
                <a:latin typeface="Calibri"/>
              </a:rPr>
              <a:t>backup to slides 10A and 10B  ·  where the per-salt B numbers actually come from in the peer-reviewed record</a:t>
            </a:r>
          </a:p>
        </p:txBody>
      </p:sp>
      <p:sp>
        <p:nvSpPr>
          <p:cNvPr id="5" name="TextBox 4"/>
          <p:cNvSpPr txBox="1"/>
          <p:nvPr/>
        </p:nvSpPr>
        <p:spPr>
          <a:xfrm>
            <a:off x="411480" y="1325880"/>
            <a:ext cx="11338560" cy="274320"/>
          </a:xfrm>
          <a:prstGeom prst="rect">
            <a:avLst/>
          </a:prstGeom>
          <a:noFill/>
        </p:spPr>
        <p:txBody>
          <a:bodyPr wrap="square" lIns="36000" rIns="36000" tIns="18000" bIns="18000" anchor="t">
            <a:spAutoFit/>
          </a:bodyPr>
          <a:lstStyle/>
          <a:p>
            <a:pPr algn="l"/>
            <a:r>
              <a:rPr sz="1250" b="1" i="0">
                <a:solidFill>
                  <a:srgbClr val="2E7D32"/>
                </a:solidFill>
                <a:latin typeface="Calibri"/>
              </a:rPr>
              <a:t>1.  Aqueous limiting diffusion coefficients D⁰ at 25 °C   ·   the well-settled physical-chemistry input</a:t>
            </a:r>
          </a:p>
        </p:txBody>
      </p:sp>
      <p:graphicFrame>
        <p:nvGraphicFramePr>
          <p:cNvPr id="6" name="Table 5"/>
          <p:cNvGraphicFramePr>
            <a:graphicFrameLocks noGrp="1"/>
          </p:cNvGraphicFramePr>
          <p:nvPr/>
        </p:nvGraphicFramePr>
        <p:xfrm>
          <a:off x="411480" y="1645919"/>
          <a:ext cx="11338560" cy="960120"/>
        </p:xfrm>
        <a:graphic>
          <a:graphicData uri="http://schemas.openxmlformats.org/drawingml/2006/table">
            <a:tbl>
              <a:tblPr firstRow="1" bandRow="1">
                <a:tableStyleId>{5C22544A-7EE6-4342-B048-85BDC9FD1C3A}</a:tableStyleId>
              </a:tblPr>
              <a:tblGrid>
                <a:gridCol w="1005840"/>
                <a:gridCol w="594360"/>
                <a:gridCol w="2286000"/>
                <a:gridCol w="7452360"/>
              </a:tblGrid>
              <a:tr h="274320">
                <a:tc>
                  <a:txBody>
                    <a:bodyPr wrap="square"/>
                    <a:lstStyle/>
                    <a:p>
                      <a:pPr algn="ctr"/>
                      <a:r>
                        <a:rPr sz="1050" b="1" i="0">
                          <a:solidFill>
                            <a:srgbClr val="1A1A1A"/>
                          </a:solidFill>
                          <a:latin typeface="Calibri"/>
                        </a:rPr>
                        <a:t>Salt</a:t>
                      </a:r>
                    </a:p>
                  </a:txBody>
                  <a:tcPr marL="45000" marR="45000" marT="20000" marB="20000" anchor="ctr">
                    <a:solidFill>
                      <a:srgbClr val="ECECEC"/>
                    </a:solidFill>
                  </a:tcPr>
                </a:tc>
                <a:tc>
                  <a:txBody>
                    <a:bodyPr wrap="square"/>
                    <a:lstStyle/>
                    <a:p>
                      <a:pPr algn="ctr"/>
                      <a:r>
                        <a:rPr sz="1050" b="1" i="0">
                          <a:solidFill>
                            <a:srgbClr val="1A1A1A"/>
                          </a:solidFill>
                          <a:latin typeface="Calibri"/>
                        </a:rPr>
                        <a:t>z</a:t>
                      </a:r>
                    </a:p>
                  </a:txBody>
                  <a:tcPr marL="45000" marR="45000" marT="20000" marB="20000" anchor="ctr">
                    <a:solidFill>
                      <a:srgbClr val="ECECEC"/>
                    </a:solidFill>
                  </a:tcPr>
                </a:tc>
                <a:tc>
                  <a:txBody>
                    <a:bodyPr wrap="square"/>
                    <a:lstStyle/>
                    <a:p>
                      <a:pPr algn="ctr"/>
                      <a:r>
                        <a:rPr sz="1050" b="1" i="0">
                          <a:solidFill>
                            <a:srgbClr val="1A1A1A"/>
                          </a:solidFill>
                          <a:latin typeface="Calibri"/>
                        </a:rPr>
                        <a:t>D⁰ (m²/s)</a:t>
                      </a:r>
                    </a:p>
                  </a:txBody>
                  <a:tcPr marL="45000" marR="45000" marT="20000" marB="20000" anchor="ctr">
                    <a:solidFill>
                      <a:srgbClr val="ECECEC"/>
                    </a:solidFill>
                  </a:tcPr>
                </a:tc>
                <a:tc>
                  <a:txBody>
                    <a:bodyPr wrap="square"/>
                    <a:lstStyle/>
                    <a:p>
                      <a:pPr algn="ctr"/>
                      <a:r>
                        <a:rPr sz="1050" b="1" i="0">
                          <a:solidFill>
                            <a:srgbClr val="1A1A1A"/>
                          </a:solidFill>
                          <a:latin typeface="Calibri"/>
                        </a:rPr>
                        <a:t>Source</a:t>
                      </a:r>
                    </a:p>
                  </a:txBody>
                  <a:tcPr marL="45000" marR="45000" marT="20000" marB="20000" anchor="ctr">
                    <a:solidFill>
                      <a:srgbClr val="ECECEC"/>
                    </a:solidFill>
                  </a:tcPr>
                </a:tc>
              </a:tr>
              <a:tr h="228600">
                <a:tc>
                  <a:txBody>
                    <a:bodyPr wrap="square"/>
                    <a:lstStyle/>
                    <a:p>
                      <a:pPr algn="ctr"/>
                      <a:r>
                        <a:rPr sz="1050" b="1" i="0">
                          <a:solidFill>
                            <a:srgbClr val="1A1A1A"/>
                          </a:solidFill>
                          <a:latin typeface="Calibri"/>
                        </a:rPr>
                        <a:t>NaCl</a:t>
                      </a:r>
                    </a:p>
                  </a:txBody>
                  <a:tcPr marL="45000" marR="45000" marT="20000" marB="20000" anchor="ctr">
                    <a:solidFill>
                      <a:srgbClr val="F7F7F7"/>
                    </a:solidFill>
                  </a:tcPr>
                </a:tc>
                <a:tc>
                  <a:txBody>
                    <a:bodyPr wrap="square"/>
                    <a:lstStyle/>
                    <a:p>
                      <a:pPr algn="ctr"/>
                      <a:r>
                        <a:rPr sz="1050" b="0" i="0">
                          <a:solidFill>
                            <a:srgbClr val="555555"/>
                          </a:solidFill>
                          <a:latin typeface="Calibri"/>
                        </a:rPr>
                        <a:t>+1</a:t>
                      </a:r>
                    </a:p>
                  </a:txBody>
                  <a:tcPr marL="45000" marR="45000" marT="20000" marB="20000" anchor="ctr">
                    <a:solidFill>
                      <a:srgbClr val="F7F7F7"/>
                    </a:solidFill>
                  </a:tcPr>
                </a:tc>
                <a:tc>
                  <a:txBody>
                    <a:bodyPr wrap="square"/>
                    <a:lstStyle/>
                    <a:p>
                      <a:pPr algn="ctr"/>
                      <a:r>
                        <a:rPr sz="1050" b="0" i="0">
                          <a:solidFill>
                            <a:srgbClr val="1A1A1A"/>
                          </a:solidFill>
                          <a:latin typeface="Calibri"/>
                        </a:rPr>
                        <a:t>1.61 × 10⁻⁹</a:t>
                      </a:r>
                    </a:p>
                  </a:txBody>
                  <a:tcPr marL="45000" marR="45000" marT="20000" marB="20000" anchor="ctr">
                    <a:solidFill>
                      <a:srgbClr val="F7F7F7"/>
                    </a:solidFill>
                  </a:tcPr>
                </a:tc>
                <a:tc>
                  <a:txBody>
                    <a:bodyPr wrap="square"/>
                    <a:lstStyle/>
                    <a:p>
                      <a:pPr algn="l"/>
                      <a:r>
                        <a:rPr sz="900" b="0" i="0">
                          <a:solidFill>
                            <a:srgbClr val="1A1A1A"/>
                          </a:solidFill>
                          <a:latin typeface="Calibri"/>
                        </a:rPr>
                        <a:t>Vanýsek (CRC Handbook, ionic conductivity at infinite dilution);  Rard &amp; Miller, J. Sol. Chem. 8, 701 (1979)</a:t>
                      </a:r>
                    </a:p>
                  </a:txBody>
                  <a:tcPr marL="45000" marR="45000" marT="20000" marB="20000" anchor="ctr">
                    <a:solidFill>
                      <a:srgbClr val="F7F7F7"/>
                    </a:solidFill>
                  </a:tcPr>
                </a:tc>
              </a:tr>
              <a:tr h="228600">
                <a:tc>
                  <a:txBody>
                    <a:bodyPr wrap="square"/>
                    <a:lstStyle/>
                    <a:p>
                      <a:pPr algn="ctr"/>
                      <a:r>
                        <a:rPr sz="1050" b="1" i="0">
                          <a:solidFill>
                            <a:srgbClr val="1A1A1A"/>
                          </a:solidFill>
                          <a:latin typeface="Calibri"/>
                        </a:rPr>
                        <a:t>CaCl₂</a:t>
                      </a:r>
                    </a:p>
                  </a:txBody>
                  <a:tcPr marL="45000" marR="45000" marT="20000" marB="20000" anchor="ctr"/>
                </a:tc>
                <a:tc>
                  <a:txBody>
                    <a:bodyPr wrap="square"/>
                    <a:lstStyle/>
                    <a:p>
                      <a:pPr algn="ctr"/>
                      <a:r>
                        <a:rPr sz="1050" b="0" i="0">
                          <a:solidFill>
                            <a:srgbClr val="555555"/>
                          </a:solidFill>
                          <a:latin typeface="Calibri"/>
                        </a:rPr>
                        <a:t>+2</a:t>
                      </a:r>
                    </a:p>
                  </a:txBody>
                  <a:tcPr marL="45000" marR="45000" marT="20000" marB="20000" anchor="ctr"/>
                </a:tc>
                <a:tc>
                  <a:txBody>
                    <a:bodyPr wrap="square"/>
                    <a:lstStyle/>
                    <a:p>
                      <a:pPr algn="ctr"/>
                      <a:r>
                        <a:rPr sz="1050" b="0" i="0">
                          <a:solidFill>
                            <a:srgbClr val="1A1A1A"/>
                          </a:solidFill>
                          <a:latin typeface="Calibri"/>
                        </a:rPr>
                        <a:t>1.33 × 10⁻⁹</a:t>
                      </a:r>
                    </a:p>
                  </a:txBody>
                  <a:tcPr marL="45000" marR="45000" marT="20000" marB="20000" anchor="ctr"/>
                </a:tc>
                <a:tc>
                  <a:txBody>
                    <a:bodyPr wrap="square"/>
                    <a:lstStyle/>
                    <a:p>
                      <a:pPr algn="l"/>
                      <a:r>
                        <a:rPr sz="900" b="0" i="0">
                          <a:solidFill>
                            <a:srgbClr val="1A1A1A"/>
                          </a:solidFill>
                          <a:latin typeface="Calibri"/>
                        </a:rPr>
                        <a:t>Vanýsek (CRC Handbook);  Ribeiro et al., Electrochim. Acta (2008) — direct measurement</a:t>
                      </a:r>
                    </a:p>
                  </a:txBody>
                  <a:tcPr marL="45000" marR="45000" marT="20000" marB="20000" anchor="ctr"/>
                </a:tc>
              </a:tr>
              <a:tr h="228600">
                <a:tc>
                  <a:txBody>
                    <a:bodyPr wrap="square"/>
                    <a:lstStyle/>
                    <a:p>
                      <a:pPr algn="ctr"/>
                      <a:r>
                        <a:rPr sz="1050" b="1" i="0">
                          <a:solidFill>
                            <a:srgbClr val="1A1A1A"/>
                          </a:solidFill>
                          <a:latin typeface="Calibri"/>
                        </a:rPr>
                        <a:t>LaCl₃</a:t>
                      </a:r>
                    </a:p>
                  </a:txBody>
                  <a:tcPr marL="45000" marR="45000" marT="20000" marB="20000" anchor="ctr">
                    <a:solidFill>
                      <a:srgbClr val="F7F7F7"/>
                    </a:solidFill>
                  </a:tcPr>
                </a:tc>
                <a:tc>
                  <a:txBody>
                    <a:bodyPr wrap="square"/>
                    <a:lstStyle/>
                    <a:p>
                      <a:pPr algn="ctr"/>
                      <a:r>
                        <a:rPr sz="1050" b="0" i="0">
                          <a:solidFill>
                            <a:srgbClr val="555555"/>
                          </a:solidFill>
                          <a:latin typeface="Calibri"/>
                        </a:rPr>
                        <a:t>+3</a:t>
                      </a:r>
                    </a:p>
                  </a:txBody>
                  <a:tcPr marL="45000" marR="45000" marT="20000" marB="20000" anchor="ctr">
                    <a:solidFill>
                      <a:srgbClr val="F7F7F7"/>
                    </a:solidFill>
                  </a:tcPr>
                </a:tc>
                <a:tc>
                  <a:txBody>
                    <a:bodyPr wrap="square"/>
                    <a:lstStyle/>
                    <a:p>
                      <a:pPr algn="ctr"/>
                      <a:r>
                        <a:rPr sz="1050" b="0" i="0">
                          <a:solidFill>
                            <a:srgbClr val="1A1A1A"/>
                          </a:solidFill>
                          <a:latin typeface="Calibri"/>
                        </a:rPr>
                        <a:t>1.29 × 10⁻⁹</a:t>
                      </a:r>
                    </a:p>
                  </a:txBody>
                  <a:tcPr marL="45000" marR="45000" marT="20000" marB="20000" anchor="ctr">
                    <a:solidFill>
                      <a:srgbClr val="F7F7F7"/>
                    </a:solidFill>
                  </a:tcPr>
                </a:tc>
                <a:tc>
                  <a:txBody>
                    <a:bodyPr wrap="square"/>
                    <a:lstStyle/>
                    <a:p>
                      <a:pPr algn="l"/>
                      <a:r>
                        <a:rPr sz="900" b="0" i="0">
                          <a:solidFill>
                            <a:srgbClr val="1A1A1A"/>
                          </a:solidFill>
                          <a:latin typeface="Calibri"/>
                        </a:rPr>
                        <a:t>Vanýsek (CRC Handbook) via the Nernst-Hartley salt-mixing formula</a:t>
                      </a:r>
                    </a:p>
                  </a:txBody>
                  <a:tcPr marL="45000" marR="45000" marT="20000" marB="20000" anchor="ctr">
                    <a:solidFill>
                      <a:srgbClr val="F7F7F7"/>
                    </a:solidFill>
                  </a:tcPr>
                </a:tc>
              </a:tr>
            </a:tbl>
          </a:graphicData>
        </a:graphic>
      </p:graphicFrame>
      <p:sp>
        <p:nvSpPr>
          <p:cNvPr id="7" name="TextBox 6"/>
          <p:cNvSpPr txBox="1"/>
          <p:nvPr/>
        </p:nvSpPr>
        <p:spPr>
          <a:xfrm>
            <a:off x="411480" y="2606040"/>
            <a:ext cx="11338560" cy="256032"/>
          </a:xfrm>
          <a:prstGeom prst="rect">
            <a:avLst/>
          </a:prstGeom>
          <a:noFill/>
        </p:spPr>
        <p:txBody>
          <a:bodyPr wrap="square" lIns="36000" rIns="36000" tIns="18000" bIns="18000" anchor="t">
            <a:spAutoFit/>
          </a:bodyPr>
          <a:lstStyle/>
          <a:p>
            <a:pPr algn="l"/>
            <a:r>
              <a:rPr sz="1250" b="1" i="0">
                <a:solidFill>
                  <a:srgbClr val="2E7D32"/>
                </a:solidFill>
                <a:latin typeface="Calibri"/>
              </a:rPr>
              <a:t>2.  Spiegler-Kedem B (their notation Pₛ) on NF270   ·   Nair et al., Membranes 8(3), 78 (2018)</a:t>
            </a:r>
          </a:p>
        </p:txBody>
      </p:sp>
      <p:sp>
        <p:nvSpPr>
          <p:cNvPr id="8" name="TextBox 7"/>
          <p:cNvSpPr txBox="1"/>
          <p:nvPr/>
        </p:nvSpPr>
        <p:spPr>
          <a:xfrm>
            <a:off x="411480" y="2843784"/>
            <a:ext cx="11338560" cy="201168"/>
          </a:xfrm>
          <a:prstGeom prst="rect">
            <a:avLst/>
          </a:prstGeom>
          <a:noFill/>
        </p:spPr>
        <p:txBody>
          <a:bodyPr wrap="square" lIns="36000" rIns="36000" tIns="18000" bIns="18000" anchor="t">
            <a:spAutoFit/>
          </a:bodyPr>
          <a:lstStyle/>
          <a:p>
            <a:pPr algn="l"/>
            <a:r>
              <a:rPr sz="950" b="0" i="1">
                <a:solidFill>
                  <a:srgbClr val="555555"/>
                </a:solidFill>
                <a:latin typeface="Calibri"/>
              </a:rPr>
              <a:t>Multi-ion fit to synthetic seawater (TDS 30,400 mg/L, 9–18 bar, room T).  Per-ion Pₛ — NOT single-salt B.</a:t>
            </a:r>
          </a:p>
        </p:txBody>
      </p:sp>
      <p:graphicFrame>
        <p:nvGraphicFramePr>
          <p:cNvPr id="9" name="Table 8"/>
          <p:cNvGraphicFramePr>
            <a:graphicFrameLocks noGrp="1"/>
          </p:cNvGraphicFramePr>
          <p:nvPr/>
        </p:nvGraphicFramePr>
        <p:xfrm>
          <a:off x="411480" y="3081528"/>
          <a:ext cx="11338560" cy="868680"/>
        </p:xfrm>
        <a:graphic>
          <a:graphicData uri="http://schemas.openxmlformats.org/drawingml/2006/table">
            <a:tbl>
              <a:tblPr firstRow="1" bandRow="1">
                <a:tableStyleId>{5C22544A-7EE6-4342-B048-85BDC9FD1C3A}</a:tableStyleId>
              </a:tblPr>
              <a:tblGrid>
                <a:gridCol w="1188720"/>
                <a:gridCol w="594360"/>
                <a:gridCol w="2011680"/>
                <a:gridCol w="7543800"/>
              </a:tblGrid>
              <a:tr h="237744">
                <a:tc>
                  <a:txBody>
                    <a:bodyPr wrap="square"/>
                    <a:lstStyle/>
                    <a:p>
                      <a:pPr algn="ctr"/>
                      <a:r>
                        <a:rPr sz="1050" b="1" i="0">
                          <a:solidFill>
                            <a:srgbClr val="1A1A1A"/>
                          </a:solidFill>
                          <a:latin typeface="Calibri"/>
                        </a:rPr>
                        <a:t>Ion</a:t>
                      </a:r>
                    </a:p>
                  </a:txBody>
                  <a:tcPr marL="45000" marR="45000" marT="20000" marB="20000" anchor="ctr">
                    <a:solidFill>
                      <a:srgbClr val="ECECEC"/>
                    </a:solidFill>
                  </a:tcPr>
                </a:tc>
                <a:tc>
                  <a:txBody>
                    <a:bodyPr wrap="square"/>
                    <a:lstStyle/>
                    <a:p>
                      <a:pPr algn="ctr"/>
                      <a:r>
                        <a:rPr sz="1050" b="1" i="0">
                          <a:solidFill>
                            <a:srgbClr val="1A1A1A"/>
                          </a:solidFill>
                          <a:latin typeface="Calibri"/>
                        </a:rPr>
                        <a:t>z</a:t>
                      </a:r>
                    </a:p>
                  </a:txBody>
                  <a:tcPr marL="45000" marR="45000" marT="20000" marB="20000" anchor="ctr">
                    <a:solidFill>
                      <a:srgbClr val="ECECEC"/>
                    </a:solidFill>
                  </a:tcPr>
                </a:tc>
                <a:tc>
                  <a:txBody>
                    <a:bodyPr wrap="square"/>
                    <a:lstStyle/>
                    <a:p>
                      <a:pPr algn="ctr"/>
                      <a:r>
                        <a:rPr sz="1050" b="1" i="0">
                          <a:solidFill>
                            <a:srgbClr val="1A1A1A"/>
                          </a:solidFill>
                          <a:latin typeface="Calibri"/>
                        </a:rPr>
                        <a:t>B (µm/s)</a:t>
                      </a:r>
                    </a:p>
                  </a:txBody>
                  <a:tcPr marL="45000" marR="45000" marT="20000" marB="20000" anchor="ctr">
                    <a:solidFill>
                      <a:srgbClr val="ECECEC"/>
                    </a:solidFill>
                  </a:tcPr>
                </a:tc>
                <a:tc>
                  <a:txBody>
                    <a:bodyPr wrap="square"/>
                    <a:lstStyle/>
                    <a:p>
                      <a:pPr algn="ctr"/>
                      <a:r>
                        <a:rPr sz="1050" b="1" i="0">
                          <a:solidFill>
                            <a:srgbClr val="1A1A1A"/>
                          </a:solidFill>
                          <a:latin typeface="Calibri"/>
                        </a:rPr>
                        <a:t>σ  /  comment</a:t>
                      </a:r>
                    </a:p>
                  </a:txBody>
                  <a:tcPr marL="45000" marR="45000" marT="20000" marB="20000" anchor="ctr">
                    <a:solidFill>
                      <a:srgbClr val="ECECEC"/>
                    </a:solidFill>
                  </a:tcPr>
                </a:tc>
              </a:tr>
              <a:tr h="210312">
                <a:tc>
                  <a:txBody>
                    <a:bodyPr wrap="square"/>
                    <a:lstStyle/>
                    <a:p>
                      <a:pPr algn="ctr"/>
                      <a:r>
                        <a:rPr sz="1050" b="1" i="0">
                          <a:solidFill>
                            <a:srgbClr val="1A1A1A"/>
                          </a:solidFill>
                          <a:latin typeface="Calibri"/>
                        </a:rPr>
                        <a:t>Cl⁻</a:t>
                      </a:r>
                    </a:p>
                  </a:txBody>
                  <a:tcPr marL="45000" marR="45000" marT="20000" marB="20000" anchor="ctr">
                    <a:solidFill>
                      <a:srgbClr val="F7F7F7"/>
                    </a:solidFill>
                  </a:tcPr>
                </a:tc>
                <a:tc>
                  <a:txBody>
                    <a:bodyPr wrap="square"/>
                    <a:lstStyle/>
                    <a:p>
                      <a:pPr algn="ctr"/>
                      <a:r>
                        <a:rPr sz="1050" b="0" i="0">
                          <a:solidFill>
                            <a:srgbClr val="555555"/>
                          </a:solidFill>
                          <a:latin typeface="Calibri"/>
                        </a:rPr>
                        <a:t>−1</a:t>
                      </a:r>
                    </a:p>
                  </a:txBody>
                  <a:tcPr marL="45000" marR="45000" marT="20000" marB="20000" anchor="ctr">
                    <a:solidFill>
                      <a:srgbClr val="F7F7F7"/>
                    </a:solidFill>
                  </a:tcPr>
                </a:tc>
                <a:tc>
                  <a:txBody>
                    <a:bodyPr wrap="square"/>
                    <a:lstStyle/>
                    <a:p>
                      <a:pPr algn="ctr"/>
                      <a:r>
                        <a:rPr sz="1050" b="0" i="0">
                          <a:solidFill>
                            <a:srgbClr val="1A1A1A"/>
                          </a:solidFill>
                          <a:latin typeface="Calibri"/>
                        </a:rPr>
                        <a:t>21.05</a:t>
                      </a:r>
                    </a:p>
                  </a:txBody>
                  <a:tcPr marL="45000" marR="45000" marT="20000" marB="20000" anchor="ctr">
                    <a:solidFill>
                      <a:srgbClr val="F7F7F7"/>
                    </a:solidFill>
                  </a:tcPr>
                </a:tc>
                <a:tc>
                  <a:txBody>
                    <a:bodyPr wrap="square"/>
                    <a:lstStyle/>
                    <a:p>
                      <a:pPr algn="l"/>
                      <a:r>
                        <a:rPr sz="900" b="0" i="0">
                          <a:solidFill>
                            <a:srgbClr val="1A1A1A"/>
                          </a:solidFill>
                          <a:latin typeface="Calibri"/>
                        </a:rPr>
                        <a:t>σ = 0.18  ·  loose-NF, convective-dominant — the Cl⁻ co-ion that NaCl, CaCl₂ and LaCl₃ all share</a:t>
                      </a:r>
                    </a:p>
                  </a:txBody>
                  <a:tcPr marL="45000" marR="45000" marT="20000" marB="20000" anchor="ctr">
                    <a:solidFill>
                      <a:srgbClr val="F7F7F7"/>
                    </a:solidFill>
                  </a:tcPr>
                </a:tc>
              </a:tr>
              <a:tr h="210312">
                <a:tc>
                  <a:txBody>
                    <a:bodyPr wrap="square"/>
                    <a:lstStyle/>
                    <a:p>
                      <a:pPr algn="ctr"/>
                      <a:r>
                        <a:rPr sz="1050" b="1" i="0">
                          <a:solidFill>
                            <a:srgbClr val="1A1A1A"/>
                          </a:solidFill>
                          <a:latin typeface="Calibri"/>
                        </a:rPr>
                        <a:t>Na⁺</a:t>
                      </a:r>
                    </a:p>
                  </a:txBody>
                  <a:tcPr marL="45000" marR="45000" marT="20000" marB="20000" anchor="ctr"/>
                </a:tc>
                <a:tc>
                  <a:txBody>
                    <a:bodyPr wrap="square"/>
                    <a:lstStyle/>
                    <a:p>
                      <a:pPr algn="ctr"/>
                      <a:r>
                        <a:rPr sz="1050" b="0" i="0">
                          <a:solidFill>
                            <a:srgbClr val="555555"/>
                          </a:solidFill>
                          <a:latin typeface="Calibri"/>
                        </a:rPr>
                        <a:t>+1</a:t>
                      </a:r>
                    </a:p>
                  </a:txBody>
                  <a:tcPr marL="45000" marR="45000" marT="20000" marB="20000" anchor="ctr"/>
                </a:tc>
                <a:tc>
                  <a:txBody>
                    <a:bodyPr wrap="square"/>
                    <a:lstStyle/>
                    <a:p>
                      <a:pPr algn="ctr"/>
                      <a:r>
                        <a:rPr sz="1050" b="0" i="0">
                          <a:solidFill>
                            <a:srgbClr val="1A1A1A"/>
                          </a:solidFill>
                          <a:latin typeface="Calibri"/>
                        </a:rPr>
                        <a:t>1.52</a:t>
                      </a:r>
                    </a:p>
                  </a:txBody>
                  <a:tcPr marL="45000" marR="45000" marT="20000" marB="20000" anchor="ctr"/>
                </a:tc>
                <a:tc>
                  <a:txBody>
                    <a:bodyPr wrap="square"/>
                    <a:lstStyle/>
                    <a:p>
                      <a:pPr algn="l"/>
                      <a:r>
                        <a:rPr sz="900" b="0" i="0">
                          <a:solidFill>
                            <a:srgbClr val="1A1A1A"/>
                          </a:solidFill>
                          <a:latin typeface="Calibri"/>
                        </a:rPr>
                        <a:t>σ = 0.19  ·  the canonical NaCl counter-ion in the fit</a:t>
                      </a:r>
                    </a:p>
                  </a:txBody>
                  <a:tcPr marL="45000" marR="45000" marT="20000" marB="20000" anchor="ctr"/>
                </a:tc>
              </a:tr>
              <a:tr h="210312">
                <a:tc>
                  <a:txBody>
                    <a:bodyPr wrap="square"/>
                    <a:lstStyle/>
                    <a:p>
                      <a:pPr algn="ctr"/>
                      <a:r>
                        <a:rPr sz="1050" b="1" i="0">
                          <a:solidFill>
                            <a:srgbClr val="1A1A1A"/>
                          </a:solidFill>
                          <a:latin typeface="Calibri"/>
                        </a:rPr>
                        <a:t>Ca²⁺</a:t>
                      </a:r>
                    </a:p>
                  </a:txBody>
                  <a:tcPr marL="45000" marR="45000" marT="20000" marB="20000" anchor="ctr">
                    <a:solidFill>
                      <a:srgbClr val="F7F7F7"/>
                    </a:solidFill>
                  </a:tcPr>
                </a:tc>
                <a:tc>
                  <a:txBody>
                    <a:bodyPr wrap="square"/>
                    <a:lstStyle/>
                    <a:p>
                      <a:pPr algn="ctr"/>
                      <a:r>
                        <a:rPr sz="1050" b="0" i="0">
                          <a:solidFill>
                            <a:srgbClr val="555555"/>
                          </a:solidFill>
                          <a:latin typeface="Calibri"/>
                        </a:rPr>
                        <a:t>+2</a:t>
                      </a:r>
                    </a:p>
                  </a:txBody>
                  <a:tcPr marL="45000" marR="45000" marT="20000" marB="20000" anchor="ctr">
                    <a:solidFill>
                      <a:srgbClr val="F7F7F7"/>
                    </a:solidFill>
                  </a:tcPr>
                </a:tc>
                <a:tc>
                  <a:txBody>
                    <a:bodyPr wrap="square"/>
                    <a:lstStyle/>
                    <a:p>
                      <a:pPr algn="ctr"/>
                      <a:r>
                        <a:rPr sz="1050" b="0" i="0">
                          <a:solidFill>
                            <a:srgbClr val="1A1A1A"/>
                          </a:solidFill>
                          <a:latin typeface="Calibri"/>
                        </a:rPr>
                        <a:t>18.79</a:t>
                      </a:r>
                    </a:p>
                  </a:txBody>
                  <a:tcPr marL="45000" marR="45000" marT="20000" marB="20000" anchor="ctr">
                    <a:solidFill>
                      <a:srgbClr val="F7F7F7"/>
                    </a:solidFill>
                  </a:tcPr>
                </a:tc>
                <a:tc>
                  <a:txBody>
                    <a:bodyPr wrap="square"/>
                    <a:lstStyle/>
                    <a:p>
                      <a:pPr algn="l"/>
                      <a:r>
                        <a:rPr sz="900" b="0" i="0">
                          <a:solidFill>
                            <a:srgbClr val="1A1A1A"/>
                          </a:solidFill>
                          <a:latin typeface="Calibri"/>
                        </a:rPr>
                        <a:t>σ = 0.41  ⚠ B(Ca²⁺) &gt; B(Na⁺) — contradicts Stokes-Einstein + dielectric exclusion;  artifact of fitting per-ion to coupled multi-ion data</a:t>
                      </a:r>
                    </a:p>
                  </a:txBody>
                  <a:tcPr marL="45000" marR="45000" marT="20000" marB="20000" anchor="ctr">
                    <a:solidFill>
                      <a:srgbClr val="F7F7F7"/>
                    </a:solidFill>
                  </a:tcPr>
                </a:tc>
              </a:tr>
            </a:tbl>
          </a:graphicData>
        </a:graphic>
      </p:graphicFrame>
      <p:sp>
        <p:nvSpPr>
          <p:cNvPr id="10" name="Rounded Rectangle 9"/>
          <p:cNvSpPr/>
          <p:nvPr/>
        </p:nvSpPr>
        <p:spPr>
          <a:xfrm>
            <a:off x="411480" y="4160520"/>
            <a:ext cx="11338560" cy="868680"/>
          </a:xfrm>
          <a:prstGeom prst="roundRect">
            <a:avLst/>
          </a:prstGeom>
          <a:solidFill>
            <a:srgbClr val="FFF5E0"/>
          </a:solidFill>
          <a:ln w="9525">
            <a:solidFill>
              <a:srgbClr val="C68000"/>
            </a:solidFill>
          </a:ln>
          <a:effectLst/>
        </p:spPr>
        <p:style>
          <a:lnRef idx="1">
            <a:schemeClr val="accent1"/>
          </a:lnRef>
          <a:fillRef idx="3">
            <a:schemeClr val="accent1"/>
          </a:fillRef>
          <a:effectRef idx="2">
            <a:schemeClr val="accent1"/>
          </a:effectRef>
          <a:fontRef idx="minor">
            <a:schemeClr val="lt1"/>
          </a:fontRef>
        </p:style>
        <p:txBody>
          <a:bodyPr rtlCol="0" anchor="t" lIns="72000" rIns="72000" tIns="36000" bIns="36000" wrap="square"/>
          <a:lstStyle/>
          <a:p>
            <a:pPr algn="l"/>
            <a:r>
              <a:rPr sz="1150" b="1">
                <a:solidFill>
                  <a:srgbClr val="C68000"/>
                </a:solidFill>
              </a:rPr>
              <a:t>3.  Two missing pieces  </a:t>
            </a:r>
            <a:r>
              <a:rPr sz="1150" b="0">
                <a:solidFill>
                  <a:srgbClr val="555555"/>
                </a:solidFill>
              </a:rPr>
              <a:t>(why literature alone can't drive per-salt bounds)</a:t>
            </a:r>
          </a:p>
          <a:p>
            <a:pPr algn="l">
              <a:spcBef>
                <a:spcPts val="400"/>
              </a:spcBef>
            </a:pPr>
            <a:r>
              <a:rPr sz="1000" b="1">
                <a:solidFill>
                  <a:srgbClr val="1A1A1A"/>
                </a:solidFill>
              </a:rPr>
              <a:t>•  No peer-reviewed NF270 single-salt B for LaCl₃ </a:t>
            </a:r>
            <a:r>
              <a:rPr sz="1000" b="0">
                <a:solidFill>
                  <a:srgbClr val="1A1A1A"/>
                </a:solidFill>
              </a:rPr>
              <a:t>was located.  The bound on slide 10A is set entirely by the z² Born / Stokes-Einstein extrapolation.</a:t>
            </a:r>
          </a:p>
          <a:p>
            <a:pPr algn="l">
              <a:spcBef>
                <a:spcPts val="200"/>
              </a:spcBef>
            </a:pPr>
            <a:r>
              <a:rPr sz="1000" b="1">
                <a:solidFill>
                  <a:srgbClr val="1A1A1A"/>
                </a:solidFill>
              </a:rPr>
              <a:t>•  Lachheb et al., ChemistryOpen (2025) </a:t>
            </a:r>
            <a:r>
              <a:rPr sz="1000" b="0">
                <a:solidFill>
                  <a:srgbClr val="1A1A1A"/>
                </a:solidFill>
              </a:rPr>
              <a:t>NF270 NaCl Pₛ ≈ 6–22 µm/s — refuted 0-3 in adversarial verification.  Their σ values (σ(Na⁺) = 0.55–0.69, σ(Cl⁻) = 0.59–0.61) survived and corroborate 'NF270 is a loose membrane' but are not cited as B anchors.</a:t>
            </a:r>
          </a:p>
        </p:txBody>
      </p:sp>
      <p:sp>
        <p:nvSpPr>
          <p:cNvPr id="11" name="TextBox 10"/>
          <p:cNvSpPr txBox="1"/>
          <p:nvPr/>
        </p:nvSpPr>
        <p:spPr>
          <a:xfrm>
            <a:off x="411480" y="5166360"/>
            <a:ext cx="11338560" cy="274320"/>
          </a:xfrm>
          <a:prstGeom prst="rect">
            <a:avLst/>
          </a:prstGeom>
          <a:noFill/>
        </p:spPr>
        <p:txBody>
          <a:bodyPr wrap="square" lIns="36000" rIns="36000" tIns="18000" bIns="18000" anchor="t">
            <a:spAutoFit/>
          </a:bodyPr>
          <a:lstStyle/>
          <a:p>
            <a:pPr algn="l"/>
            <a:r>
              <a:rPr sz="1200" b="1" i="0">
                <a:solidFill>
                  <a:srgbClr val="C0392B"/>
                </a:solidFill>
                <a:latin typeface="Calibri"/>
              </a:rPr>
              <a:t>4.  Why slide 10A uses physics-informed bounds, not literature-pinned</a:t>
            </a:r>
          </a:p>
        </p:txBody>
      </p:sp>
      <p:sp>
        <p:nvSpPr>
          <p:cNvPr id="12" name="TextBox 11"/>
          <p:cNvSpPr txBox="1"/>
          <p:nvPr/>
        </p:nvSpPr>
        <p:spPr>
          <a:xfrm>
            <a:off x="411480" y="5458968"/>
            <a:ext cx="11338560" cy="1188720"/>
          </a:xfrm>
          <a:prstGeom prst="rect">
            <a:avLst/>
          </a:prstGeom>
          <a:noFill/>
        </p:spPr>
        <p:txBody>
          <a:bodyPr wrap="square" lIns="36000" rIns="36000" tIns="18000" bIns="18000" anchor="t">
            <a:spAutoFit/>
          </a:bodyPr>
          <a:lstStyle/>
          <a:p>
            <a:pPr algn="l"/>
            <a:r>
              <a:rPr sz="1050" b="0" i="0">
                <a:solidFill>
                  <a:srgbClr val="1A1A1A"/>
                </a:solidFill>
                <a:latin typeface="Calibri"/>
              </a:rPr>
              <a:t>Single-salt B on NF270 is too sparse and self-contradictory to drive the bound choice.   For NaCl,  literature B spans 1.5 → 21 µm/s depending on which ion is being reported.   For CaCl₂,  the only number reported  (18.8 µm/s)  has the wrong ordering vs. Na⁺.   For LaCl₃,  no peer-reviewed NF270 single-salt B exists.</a:t>
            </a:r>
          </a:p>
          <a:p>
            <a:pPr algn="l"/>
            <a:r>
              <a:rPr sz="1050" b="0" i="0">
                <a:solidFill>
                  <a:srgbClr val="1A1A1A"/>
                </a:solidFill>
                <a:latin typeface="Calibri"/>
              </a:rPr>
              <a:t/>
            </a:r>
          </a:p>
          <a:p>
            <a:pPr algn="l"/>
            <a:r>
              <a:rPr sz="1050" b="0" i="0">
                <a:solidFill>
                  <a:srgbClr val="1A1A1A"/>
                </a:solidFill>
                <a:latin typeface="Calibri"/>
              </a:rPr>
              <a:t>The z² Born + Stokes-Einstein rule (halve B per +1 of cation valence) is internally consistent across all three salts and is the only defensible bound for LaCl₃.   Literature is used here only as an order-of-magnitude sanity check — both the NaCl and CaCl₂ physics-informed bounds sit comfortably inside the reported range.</a:t>
            </a:r>
          </a:p>
        </p:txBody>
      </p:sp>
      <p:sp>
        <p:nvSpPr>
          <p:cNvPr id="13" name="TextBox 12"/>
          <p:cNvSpPr txBox="1"/>
          <p:nvPr/>
        </p:nvSpPr>
        <p:spPr>
          <a:xfrm>
            <a:off x="411480" y="6355080"/>
            <a:ext cx="11338560" cy="457200"/>
          </a:xfrm>
          <a:prstGeom prst="rect">
            <a:avLst/>
          </a:prstGeom>
          <a:noFill/>
        </p:spPr>
        <p:txBody>
          <a:bodyPr wrap="square" lIns="36000" rIns="36000" tIns="18000" bIns="18000" anchor="t">
            <a:spAutoFit/>
          </a:bodyPr>
          <a:lstStyle/>
          <a:p>
            <a:pPr algn="l"/>
            <a:r>
              <a:rPr sz="750" b="0" i="1">
                <a:solidFill>
                  <a:srgbClr val="8A8A8A"/>
                </a:solidFill>
                <a:latin typeface="Calibri"/>
              </a:rPr>
              <a:t>Sources:   Vanýsek, P. — 'Ionic Conductivity and Diffusion at Infinite Dilution,' CRC Handbook of Chemistry and Physics, Sec. 5.   Rard, J.A. &amp; Miller, D.G. — J. Solution Chem. 8, 701 (1979).   Ribeiro, A.C.F. et al. — Electrochim. Acta (2008).   Nair, R.R., Protasova, E., Strand, S. &amp; Bilstad, T. — Membranes 8(3), 78 (2018).   Lachheb, M. et al. — ChemistryOpen (2025), DOI 10.1002/open.202500198  (Pₛ refuted; σ confirmed).   Yaroshchuk, A.E. — Adv. Colloid Interface Sci. 85, 193 (2000).   Bandini, S. &amp; Vezzani, D. — Chem. Eng. Sci. 58, 3303 (2003).</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48430</TotalTime>
  <Words>15685</Words>
  <Application>Microsoft Macintosh PowerPoint</Application>
  <PresentationFormat>Widescreen</PresentationFormat>
  <Paragraphs>867</Paragraphs>
  <Slides>59</Slides>
  <Notes>8</Notes>
  <HiddenSlides>2</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59</vt:i4>
      </vt:variant>
    </vt:vector>
  </HeadingPairs>
  <TitlesOfParts>
    <vt:vector size="72" baseType="lpstr">
      <vt:lpstr>Arial</vt:lpstr>
      <vt:lpstr>Baskerville</vt:lpstr>
      <vt:lpstr>Calibri</vt:lpstr>
      <vt:lpstr>Cambria</vt:lpstr>
      <vt:lpstr>Cambria Math</vt:lpstr>
      <vt:lpstr>Consolas</vt:lpstr>
      <vt:lpstr>Courier New</vt:lpstr>
      <vt:lpstr>Georgia</vt:lpstr>
      <vt:lpstr>Microsoft Sans Serif</vt:lpstr>
      <vt:lpstr>Times New Roman</vt:lpstr>
      <vt:lpstr>Office Theme</vt:lpstr>
      <vt:lpstr>1_Office Theme</vt:lpstr>
      <vt:lpstr>3_Office Theme</vt:lpstr>
      <vt:lpstr>DATA-3: Single Salt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Backup Files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Membrane Characterization using a Digital Model</vt:lpstr>
      <vt:lpstr>Separation using a Dynamic Diafiltration Device</vt:lpstr>
      <vt:lpstr>PowerPoint Presentation</vt:lpstr>
      <vt:lpstr>Dynamic Model w/ Lumped Parameter Infers Membrane Properties</vt:lpstr>
      <vt:lpstr>Lumped Parameter Model Infers Membrane Properties</vt:lpstr>
      <vt:lpstr>Dynamic Diafiltration Experiment Sweeps Larger Concentration Space 5x Faster Than Filtration Experiments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Defense-XL</dc:title>
  <dc:creator>alex@dowlinglab.org;Xinhong Liu</dc:creator>
  <cp:lastModifiedBy>Keshav Kasturi Rangan</cp:lastModifiedBy>
  <cp:revision>1414</cp:revision>
  <cp:lastPrinted>2026-03-18T14:06:46Z</cp:lastPrinted>
  <dcterms:created xsi:type="dcterms:W3CDTF">2018-06-25T12:14:03Z</dcterms:created>
  <dcterms:modified xsi:type="dcterms:W3CDTF">2026-05-14T00:02:22Z</dcterms:modified>
</cp:coreProperties>
</file>
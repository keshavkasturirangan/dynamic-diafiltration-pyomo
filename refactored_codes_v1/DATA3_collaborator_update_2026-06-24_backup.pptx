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3600" b="1" i="0">
                <a:solidFill>
                  <a:srgbClr val="0C2340"/>
                </a:solidFill>
                <a:latin typeface="Cambria"/>
              </a:rPr>
              <a:t>Backup — Supporting Figures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666666"/>
                </a:solidFill>
                <a:latin typeface="Calibri"/>
              </a:rPr>
              <a:t>Fits, full σ×B contours, Péclet regression, NaCl B(c), concentration–flux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Physics-Based Model Links Data to Transport Parameters</a:t>
            </a:r>
          </a:p>
        </p:txBody>
      </p:sp>
      <p:pic>
        <p:nvPicPr>
          <p:cNvPr id="4" name="Picture 3" descr="all_slide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040" y="1097280"/>
            <a:ext cx="936287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1. Measured and model-predicted time profiles for a representative…</a:t>
            </a:r>
          </a:p>
        </p:txBody>
      </p:sp>
      <p:pic>
        <p:nvPicPr>
          <p:cNvPr id="4" name="Picture 3" descr="all_slide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91" y="1234440"/>
            <a:ext cx="5137177" cy="4937760"/>
          </a:xfrm>
          <a:prstGeom prst="rect">
            <a:avLst/>
          </a:prstGeom>
        </p:spPr>
      </p:pic>
      <p:pic>
        <p:nvPicPr>
          <p:cNvPr id="5" name="Picture 4" descr="all_slide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539"/>
            <a:ext cx="5806440" cy="28335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2. Measured and model-predicted time profiles for a representative…</a:t>
            </a:r>
          </a:p>
        </p:txBody>
      </p:sp>
      <p:pic>
        <p:nvPicPr>
          <p:cNvPr id="4" name="Picture 3" descr="all_slide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91" y="1234440"/>
            <a:ext cx="5137177" cy="4937760"/>
          </a:xfrm>
          <a:prstGeom prst="rect">
            <a:avLst/>
          </a:prstGeom>
        </p:spPr>
      </p:pic>
      <p:pic>
        <p:nvPicPr>
          <p:cNvPr id="5" name="Picture 4" descr="all_slide4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61835"/>
            <a:ext cx="5806440" cy="2882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3. Measured and model-predicted time profiles for a representative…</a:t>
            </a:r>
          </a:p>
        </p:txBody>
      </p:sp>
      <p:pic>
        <p:nvPicPr>
          <p:cNvPr id="4" name="Picture 3" descr="all_slide5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91" y="1234440"/>
            <a:ext cx="5137177" cy="4937760"/>
          </a:xfrm>
          <a:prstGeom prst="rect">
            <a:avLst/>
          </a:prstGeom>
        </p:spPr>
      </p:pic>
      <p:pic>
        <p:nvPicPr>
          <p:cNvPr id="5" name="Picture 4" descr="all_slide5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61835"/>
            <a:ext cx="5806440" cy="2882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4. Measured and model-predicted time profiles for a representative…</a:t>
            </a:r>
          </a:p>
        </p:txBody>
      </p:sp>
      <p:pic>
        <p:nvPicPr>
          <p:cNvPr id="4" name="Picture 3" descr="all_slide6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91" y="1234440"/>
            <a:ext cx="5137177" cy="4937760"/>
          </a:xfrm>
          <a:prstGeom prst="rect">
            <a:avLst/>
          </a:prstGeom>
        </p:spPr>
      </p:pic>
      <p:pic>
        <p:nvPicPr>
          <p:cNvPr id="5" name="Picture 4" descr="all_slide6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61835"/>
            <a:ext cx="5806440" cy="28829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5. Log-transformed residual-squared contours for a representative…</a:t>
            </a:r>
          </a:p>
        </p:txBody>
      </p:sp>
      <p:pic>
        <p:nvPicPr>
          <p:cNvPr id="4" name="Picture 3" descr="all_slide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883" y="1097280"/>
            <a:ext cx="6011186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6. Identifiability of the reflection coefficient σ and the solute…</a:t>
            </a:r>
          </a:p>
        </p:txBody>
      </p:sp>
      <p:pic>
        <p:nvPicPr>
          <p:cNvPr id="4" name="Picture 3" descr="all_slide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1215"/>
            <a:ext cx="11274552" cy="3672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7. Identifiability of the reflection coefficient σ and the solute…</a:t>
            </a:r>
          </a:p>
        </p:txBody>
      </p:sp>
      <p:pic>
        <p:nvPicPr>
          <p:cNvPr id="4" name="Picture 3" descr="all_slide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1215"/>
            <a:ext cx="11274552" cy="3672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9. Identifiability of the reflection coefficient σ and the solute…</a:t>
            </a:r>
          </a:p>
        </p:txBody>
      </p:sp>
      <p:pic>
        <p:nvPicPr>
          <p:cNvPr id="4" name="Picture 3" descr="all_slide1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1215"/>
            <a:ext cx="11274552" cy="3672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10. (Left) Mean squared error of the convection–diffusion…</a:t>
            </a:r>
          </a:p>
        </p:txBody>
      </p:sp>
      <p:pic>
        <p:nvPicPr>
          <p:cNvPr id="4" name="Picture 3" descr="all_slide1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05" y="1188720"/>
            <a:ext cx="10178142" cy="2514600"/>
          </a:xfrm>
          <a:prstGeom prst="rect">
            <a:avLst/>
          </a:prstGeom>
        </p:spPr>
      </p:pic>
      <p:pic>
        <p:nvPicPr>
          <p:cNvPr id="5" name="Picture 4" descr="all_slide1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05" y="3794760"/>
            <a:ext cx="10178142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15. Solute permeability B as a function of interfacial concentration for…</a:t>
            </a:r>
          </a:p>
        </p:txBody>
      </p:sp>
      <p:pic>
        <p:nvPicPr>
          <p:cNvPr id="4" name="Picture 3" descr="all_slide1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6644"/>
            <a:ext cx="11274552" cy="4321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Figure 16. Forward-simulated membrane-interface concentration c</a:t>
            </a:r>
            <a:r>
              <a:rPr sz="2600" b="1" i="0" baseline="-25000">
                <a:solidFill>
                  <a:srgbClr val="0C2340"/>
                </a:solidFill>
                <a:latin typeface="Cambria"/>
              </a:rPr>
              <a:t>in</a:t>
            </a:r>
            <a:r>
              <a:rPr sz="2600" b="1" i="0">
                <a:solidFill>
                  <a:srgbClr val="0C2340"/>
                </a:solidFill>
                <a:latin typeface="Cambria"/>
              </a:rPr>
              <a:t>,f and bulk…</a:t>
            </a:r>
          </a:p>
        </p:txBody>
      </p:sp>
      <p:pic>
        <p:nvPicPr>
          <p:cNvPr id="4" name="Picture 3" descr="all_slide1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3999"/>
            <a:ext cx="11274552" cy="33072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2600" b="1" i="0">
                <a:solidFill>
                  <a:srgbClr val="0C2340"/>
                </a:solidFill>
                <a:latin typeface="Cambria"/>
              </a:rPr>
              <a:t>Backup — Shifting Transport Dominance (Extended Nernst–Planck)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32688"/>
            <a:ext cx="11274552" cy="950976"/>
          </a:xfrm>
          <a:prstGeom prst="roundRect">
            <a:avLst/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defRPr sz="1700">
                <a:solidFill>
                  <a:srgbClr val="0C2340"/>
                </a:solidFill>
              </a:defRPr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>
                      <m:sSub>
                        <m:e>
                          <m:r>
                            <m:t>J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v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v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 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∇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 </m:t>
                      </m:r>
                      <m:sSub>
                        <m:e>
                          <m:r>
                            <m:t>z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D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 </m:t>
                      </m:r>
                      <m:f>
                        <m:fPr>
                          <m:type m:val="bar"/>
                        </m:fPr>
                        <m:num>
                          <m:r>
                            <m:t>F</m:t>
                          </m:r>
                        </m:num>
                        <m:den>
                          <m:r>
                            <m:t>R</m:t>
                          </m:r>
                          <m:r>
                            <m:t>T</m:t>
                          </m:r>
                        </m:den>
                      </m:f>
                      <m:r>
                        <m:t> </m:t>
                      </m:r>
                      <m:r>
                        <m:rPr>
                          <m:sty m:val="p"/>
                        </m:rPr>
                        <m:t>∇</m:t>
                      </m:r>
                      <m:r>
                        <m:t>ψ</m:t>
                      </m:r>
                    </m:oMath>
                  </m:oMathPara>
                </a14:m>
              </mc:Choice>
              <mc:Fallback>
                <a:r>
                  <a:rPr lang="en-US" sz="1700" dirty="0">
                    <a:solidFill>
                      <a:srgbClr val="0C2340"/>
                    </a:solidFill>
                    <a:latin typeface="Cambria Math"/>
                  </a:rPr>
                  <a:t>J_i = v_s·C_i·K_i,v  −  D_i·∇C_i  −  z_i·C_i·D_i·(F/RT)·∇ψ</a:t>
                </a:r>
              </mc:Fallback>
            </mc:AlternateContent>
          </a:p>
        </p:txBody>
      </p:sp>
      <p:sp>
        <p:nvSpPr>
          <p:cNvPr id="6" name="Rectangle 5"/>
          <p:cNvSpPr/>
          <p:nvPr/>
        </p:nvSpPr>
        <p:spPr>
          <a:xfrm>
            <a:off x="2194560" y="1572768"/>
            <a:ext cx="1371600" cy="32004"/>
          </a:xfrm>
          <a:prstGeom prst="rect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09344"/>
            <a:ext cx="21031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FA84F"/>
                </a:solidFill>
                <a:latin typeface="Calibri"/>
              </a:rPr>
              <a:t>Convection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572768"/>
            <a:ext cx="1371600" cy="32004"/>
          </a:xfrm>
          <a:prstGeom prst="rect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09344"/>
            <a:ext cx="21031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2E6FDB"/>
                </a:solidFill>
                <a:latin typeface="Calibri"/>
              </a:rPr>
              <a:t>Diffusion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572768"/>
            <a:ext cx="1371600" cy="32004"/>
          </a:xfrm>
          <a:prstGeom prst="rect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609344"/>
            <a:ext cx="21031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CC3B33"/>
                </a:solidFill>
                <a:latin typeface="Calibri"/>
              </a:rPr>
              <a:t>Electromigration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53872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0C2340"/>
                </a:solidFill>
                <a:latin typeface="Cambria"/>
              </a:rPr>
              <a:t>Low Molarity  (~0.01–0.1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353872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Contributions to flux (J</a:t>
            </a:r>
            <a:r>
              <a:rPr sz="950" b="0" i="0" baseline="-25000">
                <a:solidFill>
                  <a:srgbClr val="666666"/>
                </a:solidFill>
                <a:latin typeface="Calibri"/>
              </a:rPr>
              <a:t>i</a:t>
            </a:r>
            <a:r>
              <a:rPr sz="950" b="0" i="0">
                <a:solidFill>
                  <a:srgbClr val="666666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2505456"/>
            <a:ext cx="299008" cy="292608"/>
          </a:xfrm>
          <a:prstGeom prst="rect">
            <a:avLst/>
          </a:prstGeom>
          <a:solidFill>
            <a:srgbClr val="2FA8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1968" y="2505456"/>
            <a:ext cx="598017" cy="292608"/>
          </a:xfrm>
          <a:prstGeom prst="rect">
            <a:avLst/>
          </a:prstGeom>
          <a:solidFill>
            <a:srgbClr val="2E6FD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986" y="2505456"/>
            <a:ext cx="2093061" cy="292608"/>
          </a:xfrm>
          <a:prstGeom prst="rect">
            <a:avLst/>
          </a:prstGeom>
          <a:solidFill>
            <a:srgbClr val="CC3B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07208"/>
            <a:ext cx="3538728" cy="1645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Contribution (%)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926079"/>
            <a:ext cx="3136392" cy="1517904"/>
          </a:xfrm>
          <a:prstGeom prst="roundRect">
            <a:avLst/>
          </a:prstGeom>
          <a:solidFill>
            <a:srgbClr val="FCE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7" y="3163824"/>
            <a:ext cx="2953512" cy="1042415"/>
          </a:xfrm>
          <a:prstGeom prst="rect">
            <a:avLst/>
          </a:prstGeom>
          <a:solidFill>
            <a:srgbClr val="ECF2FB"/>
          </a:solidFill>
          <a:ln w="9525">
            <a:solidFill>
              <a:srgbClr val="9C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7" y="3017520"/>
            <a:ext cx="2953512" cy="146304"/>
          </a:xfrm>
          <a:prstGeom prst="round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7" y="4206240"/>
            <a:ext cx="2953512" cy="146304"/>
          </a:xfrm>
          <a:prstGeom prst="round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022091"/>
            <a:ext cx="2953512" cy="146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     –     –     –     –     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210812"/>
            <a:ext cx="2953512" cy="146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     –     –     –     –     –</a:t>
            </a:r>
          </a:p>
        </p:txBody>
      </p:sp>
      <p:sp>
        <p:nvSpPr>
          <p:cNvPr id="24" name="Oval 23"/>
          <p:cNvSpPr/>
          <p:nvPr/>
        </p:nvSpPr>
        <p:spPr>
          <a:xfrm>
            <a:off x="1309115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5" name="Oval 24"/>
          <p:cNvSpPr/>
          <p:nvPr/>
        </p:nvSpPr>
        <p:spPr>
          <a:xfrm>
            <a:off x="2244851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26" name="Oval 25"/>
          <p:cNvSpPr/>
          <p:nvPr/>
        </p:nvSpPr>
        <p:spPr>
          <a:xfrm>
            <a:off x="3180587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7" name="Oval 26"/>
          <p:cNvSpPr/>
          <p:nvPr/>
        </p:nvSpPr>
        <p:spPr>
          <a:xfrm>
            <a:off x="1309115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28" name="Oval 27"/>
          <p:cNvSpPr/>
          <p:nvPr/>
        </p:nvSpPr>
        <p:spPr>
          <a:xfrm>
            <a:off x="2244851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9" name="Oval 28"/>
          <p:cNvSpPr/>
          <p:nvPr/>
        </p:nvSpPr>
        <p:spPr>
          <a:xfrm>
            <a:off x="3180587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42415" y="3419856"/>
            <a:ext cx="274320" cy="118872"/>
          </a:xfrm>
          <a:prstGeom prst="rightArrow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1042415" y="3602736"/>
            <a:ext cx="490118" cy="11887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1042415" y="3785615"/>
            <a:ext cx="1715414" cy="118872"/>
          </a:xfrm>
          <a:prstGeom prst="rightArrow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566928" y="3625595"/>
            <a:ext cx="201168" cy="118872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3813048" y="3625595"/>
            <a:ext cx="201168" cy="118872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685800" y="4636008"/>
            <a:ext cx="237744" cy="118872"/>
          </a:xfrm>
          <a:prstGeom prst="rightArrow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590288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Electromigration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(dominant)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85800" y="4850892"/>
            <a:ext cx="237744" cy="11887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805172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Diffusion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(secondary)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85800" y="5065776"/>
            <a:ext cx="237744" cy="118872"/>
          </a:xfrm>
          <a:prstGeom prst="rightArrow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020056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Convection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(minor)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2011680"/>
            <a:ext cx="353872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0C2340"/>
                </a:solidFill>
                <a:latin typeface="Cambria"/>
              </a:rPr>
              <a:t>Moderate Molarity  (~0.1–0.5 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2267712"/>
            <a:ext cx="353872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Contributions to flux (J</a:t>
            </a:r>
            <a:r>
              <a:rPr sz="950" b="0" i="0" baseline="-25000">
                <a:solidFill>
                  <a:srgbClr val="666666"/>
                </a:solidFill>
                <a:latin typeface="Calibri"/>
              </a:rPr>
              <a:t>i</a:t>
            </a:r>
            <a:r>
              <a:rPr sz="950" b="0" i="0">
                <a:solidFill>
                  <a:srgbClr val="666666"/>
                </a:solidFill>
                <a:latin typeface="Calibri"/>
              </a:rPr>
              <a:t>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2505456"/>
            <a:ext cx="598017" cy="292608"/>
          </a:xfrm>
          <a:prstGeom prst="rect">
            <a:avLst/>
          </a:prstGeom>
          <a:solidFill>
            <a:srgbClr val="2FA8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7449" y="2505456"/>
            <a:ext cx="1046530" cy="292608"/>
          </a:xfrm>
          <a:prstGeom prst="rect">
            <a:avLst/>
          </a:prstGeom>
          <a:solidFill>
            <a:srgbClr val="2E6FD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43980" y="2505456"/>
            <a:ext cx="1345539" cy="292608"/>
          </a:xfrm>
          <a:prstGeom prst="rect">
            <a:avLst/>
          </a:prstGeom>
          <a:solidFill>
            <a:srgbClr val="CC3B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5112" y="2807208"/>
            <a:ext cx="3538728" cy="1645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Contribution (%)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163824"/>
            <a:ext cx="2953512" cy="1042415"/>
          </a:xfrm>
          <a:prstGeom prst="rect">
            <a:avLst/>
          </a:prstGeom>
          <a:solidFill>
            <a:srgbClr val="ECF2FB"/>
          </a:solidFill>
          <a:ln w="9525">
            <a:solidFill>
              <a:srgbClr val="9C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17720" y="3017520"/>
            <a:ext cx="2953512" cy="146304"/>
          </a:xfrm>
          <a:prstGeom prst="round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617720" y="4206240"/>
            <a:ext cx="2953512" cy="146304"/>
          </a:xfrm>
          <a:prstGeom prst="round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3022091"/>
            <a:ext cx="2953512" cy="146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     –     –     –     –     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4210812"/>
            <a:ext cx="2953512" cy="146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     –     –     –     –     –</a:t>
            </a:r>
          </a:p>
        </p:txBody>
      </p:sp>
      <p:sp>
        <p:nvSpPr>
          <p:cNvPr id="52" name="Oval 51"/>
          <p:cNvSpPr/>
          <p:nvPr/>
        </p:nvSpPr>
        <p:spPr>
          <a:xfrm>
            <a:off x="4898440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3" name="Oval 52"/>
          <p:cNvSpPr/>
          <p:nvPr/>
        </p:nvSpPr>
        <p:spPr>
          <a:xfrm>
            <a:off x="5459882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54" name="Oval 53"/>
          <p:cNvSpPr/>
          <p:nvPr/>
        </p:nvSpPr>
        <p:spPr>
          <a:xfrm>
            <a:off x="6021324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5" name="Oval 54"/>
          <p:cNvSpPr/>
          <p:nvPr/>
        </p:nvSpPr>
        <p:spPr>
          <a:xfrm>
            <a:off x="6582765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56" name="Oval 55"/>
          <p:cNvSpPr/>
          <p:nvPr/>
        </p:nvSpPr>
        <p:spPr>
          <a:xfrm>
            <a:off x="7144207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7" name="Oval 56"/>
          <p:cNvSpPr/>
          <p:nvPr/>
        </p:nvSpPr>
        <p:spPr>
          <a:xfrm>
            <a:off x="4898440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58" name="Oval 57"/>
          <p:cNvSpPr/>
          <p:nvPr/>
        </p:nvSpPr>
        <p:spPr>
          <a:xfrm>
            <a:off x="5459882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9" name="Oval 58"/>
          <p:cNvSpPr/>
          <p:nvPr/>
        </p:nvSpPr>
        <p:spPr>
          <a:xfrm>
            <a:off x="6021324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60" name="Oval 59"/>
          <p:cNvSpPr/>
          <p:nvPr/>
        </p:nvSpPr>
        <p:spPr>
          <a:xfrm>
            <a:off x="6582765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61" name="Oval 60"/>
          <p:cNvSpPr/>
          <p:nvPr/>
        </p:nvSpPr>
        <p:spPr>
          <a:xfrm>
            <a:off x="7144207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62" name="Right Arrow 61"/>
          <p:cNvSpPr/>
          <p:nvPr/>
        </p:nvSpPr>
        <p:spPr>
          <a:xfrm>
            <a:off x="4818888" y="3419856"/>
            <a:ext cx="490118" cy="118872"/>
          </a:xfrm>
          <a:prstGeom prst="rightArrow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ight Arrow 62"/>
          <p:cNvSpPr/>
          <p:nvPr/>
        </p:nvSpPr>
        <p:spPr>
          <a:xfrm>
            <a:off x="4818888" y="3602736"/>
            <a:ext cx="857707" cy="11887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ight Arrow 63"/>
          <p:cNvSpPr/>
          <p:nvPr/>
        </p:nvSpPr>
        <p:spPr>
          <a:xfrm>
            <a:off x="4818888" y="3785615"/>
            <a:ext cx="1102766" cy="118872"/>
          </a:xfrm>
          <a:prstGeom prst="rightArrow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ight Arrow 64"/>
          <p:cNvSpPr/>
          <p:nvPr/>
        </p:nvSpPr>
        <p:spPr>
          <a:xfrm>
            <a:off x="4343400" y="3625595"/>
            <a:ext cx="201168" cy="118872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7589520" y="3625595"/>
            <a:ext cx="201168" cy="118872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4462272" y="4636008"/>
            <a:ext cx="237744" cy="118872"/>
          </a:xfrm>
          <a:prstGeom prst="rightArrow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82312" y="4590288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Convection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(increasing)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4462272" y="4850892"/>
            <a:ext cx="237744" cy="11887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82312" y="4805172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Diffusion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(comparable)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4462272" y="5065776"/>
            <a:ext cx="237744" cy="118872"/>
          </a:xfrm>
          <a:prstGeom prst="rightArrow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82312" y="5020056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Electromigration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(significant)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01583" y="2011680"/>
            <a:ext cx="3538728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50" b="1" i="0">
                <a:solidFill>
                  <a:srgbClr val="0C2340"/>
                </a:solidFill>
                <a:latin typeface="Cambria"/>
              </a:rPr>
              <a:t>High Molarity  (~0.5–2+ M)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01583" y="2267712"/>
            <a:ext cx="353872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Calibri"/>
              </a:rPr>
              <a:t>Contributions to flux (J</a:t>
            </a:r>
            <a:r>
              <a:rPr sz="950" b="0" i="0" baseline="-25000">
                <a:solidFill>
                  <a:srgbClr val="666666"/>
                </a:solidFill>
                <a:latin typeface="Calibri"/>
              </a:rPr>
              <a:t>i</a:t>
            </a:r>
            <a:r>
              <a:rPr sz="950" b="0" i="0">
                <a:solidFill>
                  <a:srgbClr val="666666"/>
                </a:solidFill>
                <a:latin typeface="Calibri"/>
              </a:rPr>
              <a:t>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75904" y="2505456"/>
            <a:ext cx="1794052" cy="292608"/>
          </a:xfrm>
          <a:prstGeom prst="rect">
            <a:avLst/>
          </a:prstGeom>
          <a:solidFill>
            <a:srgbClr val="2FA84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169956" y="2505456"/>
            <a:ext cx="897026" cy="292608"/>
          </a:xfrm>
          <a:prstGeom prst="rect">
            <a:avLst/>
          </a:prstGeom>
          <a:solidFill>
            <a:srgbClr val="2E6FD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66983" y="2505456"/>
            <a:ext cx="299008" cy="292608"/>
          </a:xfrm>
          <a:prstGeom prst="rect">
            <a:avLst/>
          </a:prstGeom>
          <a:solidFill>
            <a:srgbClr val="CC3B3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3" y="2807208"/>
            <a:ext cx="3538728" cy="16459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Contribution (%)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94192" y="3163824"/>
            <a:ext cx="2953512" cy="1042415"/>
          </a:xfrm>
          <a:prstGeom prst="rect">
            <a:avLst/>
          </a:prstGeom>
          <a:solidFill>
            <a:srgbClr val="ECF2FB"/>
          </a:solidFill>
          <a:ln w="9525">
            <a:solidFill>
              <a:srgbClr val="9C9C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394192" y="3017520"/>
            <a:ext cx="2953512" cy="146304"/>
          </a:xfrm>
          <a:prstGeom prst="round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394192" y="4206240"/>
            <a:ext cx="2953512" cy="146304"/>
          </a:xfrm>
          <a:prstGeom prst="round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94192" y="3022091"/>
            <a:ext cx="2953512" cy="146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     –     –     –     –     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94192" y="4210812"/>
            <a:ext cx="2953512" cy="14630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–     –     –     –     –     –</a:t>
            </a:r>
          </a:p>
        </p:txBody>
      </p:sp>
      <p:sp>
        <p:nvSpPr>
          <p:cNvPr id="84" name="Oval 83"/>
          <p:cNvSpPr/>
          <p:nvPr/>
        </p:nvSpPr>
        <p:spPr>
          <a:xfrm>
            <a:off x="8569642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5" name="Oval 84"/>
          <p:cNvSpPr/>
          <p:nvPr/>
        </p:nvSpPr>
        <p:spPr>
          <a:xfrm>
            <a:off x="8920543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86" name="Oval 85"/>
          <p:cNvSpPr/>
          <p:nvPr/>
        </p:nvSpPr>
        <p:spPr>
          <a:xfrm>
            <a:off x="9271444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7" name="Oval 86"/>
          <p:cNvSpPr/>
          <p:nvPr/>
        </p:nvSpPr>
        <p:spPr>
          <a:xfrm>
            <a:off x="9622345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88" name="Oval 87"/>
          <p:cNvSpPr/>
          <p:nvPr/>
        </p:nvSpPr>
        <p:spPr>
          <a:xfrm>
            <a:off x="9973246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89" name="Oval 88"/>
          <p:cNvSpPr/>
          <p:nvPr/>
        </p:nvSpPr>
        <p:spPr>
          <a:xfrm>
            <a:off x="10324147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90" name="Oval 89"/>
          <p:cNvSpPr/>
          <p:nvPr/>
        </p:nvSpPr>
        <p:spPr>
          <a:xfrm>
            <a:off x="10675048" y="3191256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1" name="Oval 90"/>
          <p:cNvSpPr/>
          <p:nvPr/>
        </p:nvSpPr>
        <p:spPr>
          <a:xfrm>
            <a:off x="11025949" y="3191256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92" name="Oval 91"/>
          <p:cNvSpPr/>
          <p:nvPr/>
        </p:nvSpPr>
        <p:spPr>
          <a:xfrm>
            <a:off x="8569642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93" name="Oval 92"/>
          <p:cNvSpPr/>
          <p:nvPr/>
        </p:nvSpPr>
        <p:spPr>
          <a:xfrm>
            <a:off x="8920543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4" name="Oval 93"/>
          <p:cNvSpPr/>
          <p:nvPr/>
        </p:nvSpPr>
        <p:spPr>
          <a:xfrm>
            <a:off x="9271444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95" name="Oval 94"/>
          <p:cNvSpPr/>
          <p:nvPr/>
        </p:nvSpPr>
        <p:spPr>
          <a:xfrm>
            <a:off x="9622345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6" name="Oval 95"/>
          <p:cNvSpPr/>
          <p:nvPr/>
        </p:nvSpPr>
        <p:spPr>
          <a:xfrm>
            <a:off x="9973246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97" name="Oval 96"/>
          <p:cNvSpPr/>
          <p:nvPr/>
        </p:nvSpPr>
        <p:spPr>
          <a:xfrm>
            <a:off x="10324147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98" name="Oval 97"/>
          <p:cNvSpPr/>
          <p:nvPr/>
        </p:nvSpPr>
        <p:spPr>
          <a:xfrm>
            <a:off x="10675048" y="4059935"/>
            <a:ext cx="146304" cy="146304"/>
          </a:xfrm>
          <a:prstGeom prst="ellipse">
            <a:avLst/>
          </a:prstGeom>
          <a:solidFill>
            <a:srgbClr val="3B7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99" name="Oval 98"/>
          <p:cNvSpPr/>
          <p:nvPr/>
        </p:nvSpPr>
        <p:spPr>
          <a:xfrm>
            <a:off x="11025949" y="4059935"/>
            <a:ext cx="146304" cy="146304"/>
          </a:xfrm>
          <a:prstGeom prst="ellipse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8595360" y="3419856"/>
            <a:ext cx="1470355" cy="118872"/>
          </a:xfrm>
          <a:prstGeom prst="rightArrow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ight Arrow 100"/>
          <p:cNvSpPr/>
          <p:nvPr/>
        </p:nvSpPr>
        <p:spPr>
          <a:xfrm>
            <a:off x="8595360" y="3602736"/>
            <a:ext cx="735177" cy="11887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ight Arrow 101"/>
          <p:cNvSpPr/>
          <p:nvPr/>
        </p:nvSpPr>
        <p:spPr>
          <a:xfrm>
            <a:off x="8595360" y="3785615"/>
            <a:ext cx="274320" cy="118872"/>
          </a:xfrm>
          <a:prstGeom prst="rightArrow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ight Arrow 102"/>
          <p:cNvSpPr/>
          <p:nvPr/>
        </p:nvSpPr>
        <p:spPr>
          <a:xfrm>
            <a:off x="8119871" y="3625595"/>
            <a:ext cx="201168" cy="118872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ight Arrow 103"/>
          <p:cNvSpPr/>
          <p:nvPr/>
        </p:nvSpPr>
        <p:spPr>
          <a:xfrm>
            <a:off x="11365992" y="3625595"/>
            <a:ext cx="201168" cy="118872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ight Arrow 104"/>
          <p:cNvSpPr/>
          <p:nvPr/>
        </p:nvSpPr>
        <p:spPr>
          <a:xfrm>
            <a:off x="8238744" y="4636008"/>
            <a:ext cx="237744" cy="118872"/>
          </a:xfrm>
          <a:prstGeom prst="rightArrow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58784" y="4590288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Convection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(dominant)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8238744" y="4850892"/>
            <a:ext cx="237744" cy="118872"/>
          </a:xfrm>
          <a:prstGeom prst="rightArrow">
            <a:avLst/>
          </a:prstGeom>
          <a:solidFill>
            <a:srgbClr val="2E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558784" y="4805172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Diffusion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(secondary)</a:t>
            </a:r>
          </a:p>
        </p:txBody>
      </p:sp>
      <p:sp>
        <p:nvSpPr>
          <p:cNvPr id="109" name="Right Arrow 108"/>
          <p:cNvSpPr/>
          <p:nvPr/>
        </p:nvSpPr>
        <p:spPr>
          <a:xfrm>
            <a:off x="8238744" y="5065776"/>
            <a:ext cx="237744" cy="118872"/>
          </a:xfrm>
          <a:prstGeom prst="rightArrow">
            <a:avLst/>
          </a:prstGeom>
          <a:solidFill>
            <a:srgbClr val="CC3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58784" y="5020056"/>
            <a:ext cx="3035808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000" b="1" i="0">
                <a:solidFill>
                  <a:srgbClr val="0C2340"/>
                </a:solidFill>
                <a:latin typeface="Calibri"/>
              </a:rPr>
              <a:t>Electromigration</a:t>
            </a:r>
            <a:r>
              <a:rPr sz="1000" b="0" i="0">
                <a:solidFill>
                  <a:srgbClr val="202020"/>
                </a:solidFill>
                <a:latin typeface="Calibri"/>
              </a:rPr>
              <a:t>  (minor)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89120"/>
            <a:ext cx="11274552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Pore cross-section — fixed (–) wall charges, mobile ions (+/–), flux arrows sized by contribution;  flow is Feed → Permeate (left → right)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57200" y="5394960"/>
            <a:ext cx="11274552" cy="950976"/>
          </a:xfrm>
          <a:prstGeom prst="roundRect">
            <a:avLst/>
          </a:prstGeom>
          <a:solidFill>
            <a:srgbClr val="F8EFD6"/>
          </a:solidFill>
          <a:ln w="12700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76656" y="5577840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0" i="0">
                <a:solidFill>
                  <a:srgbClr val="0C2340"/>
                </a:solidFill>
                <a:latin typeface="Cambria"/>
              </a:rPr>
              <a:t>ψ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17320" y="5458968"/>
            <a:ext cx="10149840" cy="8412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1200" b="1" i="0">
                <a:solidFill>
                  <a:srgbClr val="0C2340"/>
                </a:solidFill>
                <a:latin typeface="Cambria"/>
              </a:rPr>
              <a:t>Role of fixed negative charges &amp; the Donnan potential.  </a:t>
            </a:r>
            <a:r>
              <a:rPr sz="1100" b="0" i="0">
                <a:solidFill>
                  <a:srgbClr val="202020"/>
                </a:solidFill>
                <a:latin typeface="Calibri"/>
              </a:rPr>
              <a:t>Negatively charged pore walls repel co-ions and attract counter-ions, creating a Donnan potential ψD that drives electromigration. At low molarity the low ionic strength magnifies ψD, making electromigration the primary driver; as molarity rises, charge screening by abundant ions shrinks ψD, so convection increasingly governs transport.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6464808"/>
            <a:ext cx="8686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r>
              <a:rPr sz="900" b="0" i="0">
                <a:solidFill>
                  <a:srgbClr val="666666"/>
                </a:solidFill>
                <a:latin typeface="Calibri"/>
              </a:rPr>
              <a:t>DATA3 single-salt NF270 diafiltration  ·  collaborator update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0" y="6464808"/>
            <a:ext cx="267919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2026-06-24  ·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
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across all 11 NF270 single-salt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337560"/>
            <a:ext cx="3840480" cy="18288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 · NaCl:  MC3 SNaCl + MC5 S2NaCl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identified two ways: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(a) interior σ via concentrating run,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(b) σ-harmless via diluting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337560"/>
            <a:ext cx="3840480" cy="18288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7 sheets:  4 NaCl + 3 CaCl₂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different (σ, Lp) walls.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tight, σ rail-pinned.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3337560"/>
            <a:ext cx="3840480" cy="18288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sheets:  MC2 + MC4 LaCl₃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Same wrong-model bias on both: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the constant-(σ,B) Spiegler-Kedem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cannot represent La³⁺ ion-pairing.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What we trust most → what we trust least.   Agreement across the 5 measurement channels =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CONTEXT — parameter bounds in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per-salt B bound is the only new knob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 from DATA1/DATA2):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— halve per +1 of cation charge: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— halved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are built:  at every (σ, Lp) grid point we forward-simulate the full Spiegler-Kedem DAE (B fixed at warm-start, S0/S also at warm-start), then evaluate the weighted sum-of-squared-residuals per channel.  5 channels per panel:  mass, permeate concentration, retentate concentration, permeate conductivity,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warm-start θ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the optimizer landed on every sheet — color-coded by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Warm-start fits across the campaign (sorted by salt, then by sheet ID):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755648"/>
          <a:ext cx="1133856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B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WSSE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Stage assignment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4357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MC3.07.22.24_SNaCl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8.22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14.68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interior σ — concentrating run probed σ-sensitive regime (gold)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MC4.07.11.24_SNaCl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9536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σ=0, diluting regime BUT poor WSSE — data-quality issue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10.02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3.70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5794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9.45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4764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MC5.07.23.24_S2NaCl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10.14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σ=0 harmless — diluting run, Lp identified by mass (2nd best WSSE)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6717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channels split by side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MC3.07.11.24_SCaCl2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5.53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4080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at wall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MC3.07.12.24_S2CaCl2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9252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AND B at walls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MC2.05.21.24_LaCl3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17711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every channel disagrees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MC4.07.11.24_SLaCl3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2.78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21345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replicate of MC2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69312" y="6492240"/>
            <a:ext cx="10080728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↑ / ↓ marks parameters pinned at a bound.  Only MC3.07.22.24_SNaCl landed at an interior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σ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— that's our reference case for 'well-identified'.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TWO PATHS TO WELL-IDENTIFIED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same Lp can be pinned by the data two completely different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1338560" cy="1097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There are two physically distinct ways the data can pin (Lp, σ, B):  either we run conditions that PROBE σ directly so the contour shows an interior σ minimum, OR we run conditions where σ doesn't matter so we don't need to probe it.  Both give us a usable Lp.  The campaign has one sheet in each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219009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56169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A · probe σ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6209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MC3.07.22.24_SNaCl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87689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8.22    B = 14.68    σ = 0.45    WSSE = 556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53449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Concentrating regime, but the run conditions excited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— probably a wider pressure-driving-force sweep, lower feed, or a pressure step. 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leaves a fingerprint in the data, so the optimizer finds an interior minimum at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= 0.45.  All 5 channels converge.  This is the textbook well-identified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9009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356169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B · bypass σ (diluting regime)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76209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MC5.07.23.24_S2NaCl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87689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7.38    B = 10.14    σ = 0.00 ↓    WSSE = 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53449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Diluting regime — cF shrinks over the run, so σ · Δπ → 0 by the end no matter what σ is.  σ literally cannot leave a fingerprint here.  Optimizer drifts to σ = 0 because the gradient is flat, not because data says σ = 0.  Lp is still pinned tightly by the mass channel.  WSSE = 830 — 2nd best in the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19409"/>
            <a:ext cx="1133856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Same destination, two different roads.  Path A needs careful experimental design; Path B comes free if you happen to run a diluting experiment.  Either way Lp is trustworthy.  Knowing which path each sheet is on tells us where the σ value can be trusted (Path A) and where σ is unconstrained but irrelevant (Path 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Calibri"/>
              </a:rPr>
              <a:t>STAGE 1 (path A) — MC3.07.22.24_SNaCl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interior σ via concentrating run — the gold standard fit (WSSE = 556)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248227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Look at the mass and permeate-concentration panels — both argmin at interior σ (0.86 and 0.64) near Lp ≈ 8.6.  Retentate channels still pin at σ=0 (the 0.3 % cF over-weighting effect), but the joint WSSE is dominated by mass + perm-conc, so the warm-start θ landed interior at σ = 0.45.  This is the only NaCl sheet where σ leaves a real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1 (path B) — MC5.07.23.24_S2NaCl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diluting run — σ harmless, Lp pinned anyway (WSSE = 830)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Four channels argmin at Lp ≈ 7.7 — tight cluster.  σ slides to ~0 because the gradient is flat in the diluting regime (σ·Δπ → 0 at end of run), but Lp is well-identified by the mass channel.  WSSE = 830 — 2nd best in the entire campaign.  Diluting experiments are 'free' identifiability for 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NaCl (the 4 concentrating-regime sheets at the σ=1 wall)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tight (8.6 ± 1.1) but σ pinned — these sheets ran concentrating without probing σ-sensitive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MC2 NaCl shown here — same story on MC5 NaCl, MC5 SNaCl, and the concentrating part of MC4 SNaCl.  4 of 5 channels converge on Lp ≈ 9.95 (Lp well-identified), but σ pins at the σ=1 wall and the wall is hiding a B-vs-Lp trade-off.  Concentrating regime + no σ-probing conditions = inconsistent across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CaCl₂ (all 3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 pins σ at σ=1 wall in the warm-start fit;  contour shows channels split by membrane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All 3 CaCl₂ sheets pin σ at σ=1 (and one pins B at the upper bound too).  Physics expects interior σ (divalent counter-ion → weaker Donnan exclusion → lower σ on NF270) — pinning at σ=1 is a weighting problem, not a model-form problem.  Both permeate channels want σ=0; both retentate channels want σ=1.  Split by membrane side, not by physics.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Calibri"/>
              </a:rPr>
              <a:t>STAGE 3 — </a:t>
            </a:r>
            <a:r>
              <a:rPr sz="2200" b="1" i="0" dirty="0" err="1">
                <a:solidFill>
                  <a:srgbClr val="1A1A1A"/>
                </a:solidFill>
                <a:latin typeface="Calibri"/>
              </a:rPr>
              <a:t>LaCl</a:t>
            </a:r>
            <a:r>
              <a:rPr sz="2200" b="1" i="0" dirty="0">
                <a:solidFill>
                  <a:srgbClr val="1A1A1A"/>
                </a:solidFill>
                <a:latin typeface="Calibri"/>
              </a:rPr>
              <a:t>₃ (both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warm-start θ nearly identical between sheets, but WSSE ~20× worse than NaCl gold standard → shared wrong-model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Both LaCl₃ sheets warm-start to nearly identical θ — but fit the data ~20× worse than NaCl MC3 SNaCl.  Same wrong-model bias both times, not measurement noise.  The constant-(σ, B) Spiegler-Kedem model is structurally wrong for trivalent ions — probably because of LaCl²⁺ / LaCl⁺ ion-pairing the model can't see.  AND we only have 2 sheets:  that's an anecdote, not a sample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WHAT DATA SHOULD WE 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would unblock the campaign — prioritized by leverage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15087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E7C3F"/>
                </a:solidFill>
                <a:latin typeface="Calibri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Pure-water L_p before and after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Single highest-leverage experiment.  Pins L_p independently of the salt-transport data so σ and B don't have to compensate for it.  Also doubles as a fouling check — if pre-run and post-run L_p drift, we know the membrane changed during the experiment and the constant-parameter fit was never going to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108960"/>
            <a:ext cx="11338560" cy="150876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A87000"/>
                </a:solidFill>
                <a:latin typeface="Calibri"/>
              </a:rPr>
              <a:t>PRIORITY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Multi-pressure sweeps within a single run  +  dilute concentration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Pinning σ for CaCl₂ and LaCl₃ requires breaking the σ-B correlation.  σ couples to Δπ, B doesn't — so stepping ΔP across a wide range during one run changes the relative leverage of σ vs B.  Dilute runs (1-5 mM NaCl, sub-mM LaCl₃) push into the diffusion-limited regime where σ identifies.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800600"/>
            <a:ext cx="11338560" cy="150876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PRIORITY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9204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3-5 more LaCl₃ sheets + retentate-side conductivity probe + UV-Vis / ICP speciation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 = 2 LaCl₃ sheets is not statistics — we need at least 5 before any 'not estimable' claim carries weight.  Adding high-frequency conductivity on the retentate (we only have it on permeate) eliminates the CaCl₂ side-split weighting problem.  Speciation directly tests the LaCl²⁺ / LaCl⁺ ion-pairing hypothesis rather than inferring it from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QUESTIONS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read on before the campaign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Does the 3-stage diagnosis match what you'd intuit physically?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Anionic NF270 + chloride co-ion + increasing cation valence → identifiability should degrade with valence.  That's what we see.  But is the σ=1 wall on the NaCl/CaCl₂ sheets really a regime problem, or is it the 0.3 % cF scaling forcing the optimizer there?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MC3 SNaCl and MC5 S2NaCl — two different paths to well-identified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MC3 SNaCl probed σ-sensitive conditions and got interior σ = 0.45.  MC5 S2NaCl ran diluting so σ was irrelevant — same Lp identifiability for free.  What do the run-sheet metadata show that's different from the other 4 NaCl sheets?  Pressure span, feed concentration, run duration?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MC4 SNaCl — diluting but poor fit (WSSE = 9536)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MC4 SNaCl looks like a diluting-regime run (σ = 0 wall), but its WSSE is ~10× worse than MC5 S2NaCl.  Same regime, same salt, same membrane — different fit quality.  Likely a data-quality issue (fouling, leak, calibration drift) rather than a model issue.  Worth a closer look.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8912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Stage 3 confirms the v10-deck slide 12 'physics gap' diagnosis.  Should we (a) parameterize σ(cF) explicitly, (b) add an ion-pairing equilibrium block with LaCl²⁺ / LaCl⁺ partition, or (c) fit only the diluting-regime portion?  Need at least 3-5 more LaCl₃ sheets either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9496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Priority 1 data — pure-water L_p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 think this is the single highest-leverage experiment.  Is it feasible to add to every NF270 run going forward?  Roughly:  10 minutes of DI water at the operating ΔP before and after the salt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008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6934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We've landed NaCl [0, 30], CaCl₂ [0, 15], LaCl₃ [0, 10] in the library (Architecture.md §17).  Anything you'd revise before re-running the full campaign?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σ × Lp small-multiples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49225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 dirty="0">
                <a:solidFill>
                  <a:srgbClr val="555555"/>
                </a:solidFill>
                <a:latin typeface="Calibri"/>
              </a:rPr>
              <a:t>every sheet's contour, color-tabbed by stage — visual evidence for the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31402"/>
            <a:ext cx="283464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MC3 SNaCl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31402"/>
            <a:ext cx="283464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84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MC5 S2NaCl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31402"/>
            <a:ext cx="283464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NaCl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512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59" y="931402"/>
            <a:ext cx="283464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59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MC4 SNaCl 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851642"/>
            <a:ext cx="2834640" cy="160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NaCl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2851642"/>
            <a:ext cx="2834640" cy="160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9184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SNaCl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851642"/>
            <a:ext cx="2834640" cy="1600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7220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CaCl₂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59" y="2851642"/>
            <a:ext cx="2834640" cy="1600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2559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SCaCl₂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771882"/>
            <a:ext cx="2834640" cy="1600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S2CaCl₂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0" y="4771882"/>
            <a:ext cx="2834640" cy="1600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9184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MC2 LaCl₃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4771882"/>
            <a:ext cx="2834640" cy="1600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220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MC4 SLaCl₃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C2340"/>
                </a:solidFill>
              </a:rPr>
              <a:t>LAST WEEK'S COLLABORATOR DISCUSSION</a:t>
            </a:r>
          </a:p>
          <a:p>
            <a:pPr algn="l"/>
            <a:r>
              <a:rPr sz="1800" i="1">
                <a:solidFill>
                  <a:srgbClr val="646464"/>
                </a:solidFill>
              </a:rPr>
              <a:t>2026-05-27 briefing  +  2026-05-25 per-sheet conductivity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2468880"/>
          </a:xfrm>
          <a:prstGeom prst="rect">
            <a:avLst/>
          </a:prstGeom>
          <a:solidFill>
            <a:srgbClr val="D6E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84040"/>
            <a:ext cx="11247120" cy="1157999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4000" b="1" i="0" dirty="0">
                <a:solidFill>
                  <a:srgbClr val="1F3864"/>
                </a:solidFill>
                <a:latin typeface="Cambria"/>
              </a:rPr>
              <a:t>DATA3 Single-Salt Campaign</a:t>
            </a:r>
            <a:r>
              <a:rPr lang="en-US" sz="4000" b="1" i="0" dirty="0">
                <a:solidFill>
                  <a:srgbClr val="1F3864"/>
                </a:solidFill>
                <a:latin typeface="Cambria"/>
              </a:rPr>
              <a:t> Analysis</a:t>
            </a:r>
            <a:endParaRPr sz="4000" b="1" i="0" dirty="0">
              <a:solidFill>
                <a:srgbClr val="1F3864"/>
              </a:solidFill>
              <a:latin typeface="Cambria"/>
            </a:endParaRPr>
          </a:p>
          <a:p>
            <a:pPr algn="ctr"/>
            <a:r>
              <a:rPr sz="3000" b="0" i="1" dirty="0">
                <a:solidFill>
                  <a:srgbClr val="1F3864"/>
                </a:solidFill>
                <a:latin typeface="Cambria"/>
              </a:rPr>
              <a:t>Data Validation, Parameter Bounds, and </a:t>
            </a:r>
            <a:r>
              <a:rPr sz="3000" b="0" i="1" dirty="0" err="1">
                <a:solidFill>
                  <a:srgbClr val="1F3864"/>
                </a:solidFill>
                <a:latin typeface="Cambria"/>
              </a:rPr>
              <a:t>Estimability</a:t>
            </a:r>
            <a:endParaRPr sz="3000" b="0" i="1" dirty="0">
              <a:solidFill>
                <a:srgbClr val="1F3864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3566160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Data validation</a:t>
            </a:r>
          </a:p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70,101 / 70,101</a:t>
            </a:r>
          </a:p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audited data points GOOD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13 single-salt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1500" b="1" i="0" dirty="0">
                <a:solidFill>
                  <a:srgbClr val="1F3864"/>
                </a:solidFill>
                <a:latin typeface="Calibri"/>
              </a:rPr>
              <a:t>Keshav Kasturi Rangan  ·  Dowling Group  ·  University of Notre Dame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Collaborator briefing  ·  May 27, 2026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1.  Measured Data → Model Inputs:  Loader Fidelity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70,101 / 70,101 data points GOOD</a:t>
            </a:r>
          </a:p>
          <a:p>
            <a:pPr algn="ctr"/>
            <a:r>
              <a:rPr sz="1300" b="0">
                <a:solidFill>
                  <a:srgbClr val="1F3864"/>
                </a:solidFill>
                <a:latin typeface="Calibri"/>
              </a:rPr>
              <a:t>13 single-salt sheets · 0 warnings · 0 bad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Calibri"/>
              </a:rPr>
              <a:t>Source: DATA3_loader_fidelity_audit_2026-05-27.xlsx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1327276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What the audit verifies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Read raw Excel directly with pandas — no library code in the path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Load via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lib.loadxlsx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→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data_stru</a:t>
            </a:r>
            <a:endParaRPr sz="1300" b="0" i="0" dirty="0">
              <a:solidFill>
                <a:srgbClr val="101010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Apply documented transformations to raw data, then compare row-by-row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1 % relative + absolute-floor tolerance per data point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ICP sidebar, calibration points</a:t>
            </a:r>
            <a:r>
              <a:rPr lang="en-US" sz="1300" b="0" i="0" dirty="0">
                <a:solidFill>
                  <a:srgbClr val="101010"/>
                </a:solidFill>
                <a:latin typeface="Calibri"/>
              </a:rPr>
              <a:t>, 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header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Loader transformations (single documented formula per variable)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75991"/>
              </p:ext>
            </p:extLst>
          </p:nvPr>
        </p:nvGraphicFramePr>
        <p:xfrm>
          <a:off x="6035040" y="1417320"/>
          <a:ext cx="5760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Time (s)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Mass (g)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Per-vial baseline subtracted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Pressure (psi)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Retentate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Retentate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EC25 temperature compensation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Permeate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Permeate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EC25 + tube-transit time shift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Vial Swap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 (used to slice vials)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ICP (cV_avg per vial)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Dilution × molar mass per vial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The audit XLSX (shown in meeting) is the formal evidence — every point is either preserved or transformed by a formula.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3137"/>
            <a:ext cx="11247120" cy="542446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 dirty="0">
                <a:solidFill>
                  <a:srgbClr val="101010"/>
                </a:solidFill>
                <a:latin typeface="Calibri"/>
              </a:rPr>
              <a:t>2.  Physical Bounds on  </a:t>
            </a:r>
            <a:r>
              <a:rPr sz="3000" b="1" i="0" dirty="0" err="1">
                <a:solidFill>
                  <a:srgbClr val="101010"/>
                </a:solidFill>
                <a:latin typeface="Calibri"/>
              </a:rPr>
              <a:t>L_p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,  B,  </a:t>
            </a:r>
            <a:r>
              <a:rPr sz="3000" b="1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  — Do</a:t>
            </a:r>
            <a:r>
              <a:rPr lang="en-US" sz="3000" b="1" i="0" dirty="0">
                <a:solidFill>
                  <a:srgbClr val="101010"/>
                </a:solidFill>
                <a:latin typeface="Calibri"/>
              </a:rPr>
              <a:t>es B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 Change with Salt?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Same membrane → same box.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Salt changes the fitted value,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not the bound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2142884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Per-parameter reasoning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∈ [0, 1] for any salt — it is a reflection coefficient, physically bounded.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L_p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is a membrane property (water permeability) — independent of the salt.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B is the most likely to move with salt</a:t>
            </a:r>
            <a:r>
              <a:rPr lang="en-US" sz="1300" b="0" i="0" dirty="0">
                <a:solidFill>
                  <a:srgbClr val="101010"/>
                </a:solidFill>
                <a:latin typeface="Calibri"/>
              </a:rPr>
              <a:t> (currently using the same bounds)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/>
            <a:endParaRPr sz="1300" b="0" i="0" dirty="0">
              <a:solidFill>
                <a:srgbClr val="101010"/>
              </a:solidFill>
              <a:latin typeface="Calibri"/>
            </a:endParaRPr>
          </a:p>
          <a:p>
            <a:pPr algn="l"/>
            <a:r>
              <a:rPr sz="1400" b="1" i="0" dirty="0">
                <a:solidFill>
                  <a:srgbClr val="1F3864"/>
                </a:solidFill>
                <a:latin typeface="Calibri"/>
              </a:rPr>
              <a:t>When to revisit the bounds: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Different membrane,  or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 very different salt family,  or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 different model form (e.g. exchanged B parametrization).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Published parameter box — used across all 13 single-salt sheets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17320"/>
          <a:ext cx="576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Bound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this range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[0.5, 50]   L/(m²·hr·bar)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Membrane water permeability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[0, 30]   μm/s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Solute-permeability term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[0, 1]   dimensionless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Reflection coefficient — physically bounded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r>
              <a:rPr sz="1400" b="1" dirty="0">
                <a:solidFill>
                  <a:srgbClr val="1F3864"/>
                </a:solidFill>
                <a:latin typeface="Calibri"/>
              </a:rPr>
              <a:t>Take-away: 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σ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is bounded by physics;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should be independent of </a:t>
            </a:r>
            <a:r>
              <a:rPr lang="en-US" sz="1400" b="1" dirty="0">
                <a:solidFill>
                  <a:srgbClr val="1F3864"/>
                </a:solidFill>
              </a:rPr>
              <a:t>the salt,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but what should I do with B?</a:t>
            </a:r>
            <a:endParaRPr sz="1400" b="1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3.  Mass-per-Vial Pattern is Explained by  ΔP − σ·Δπ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Predicted mass-per-vial pattern (no model fit required)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548639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c_F(t)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Δπ(t)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ΔP − σ·Δπ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Mass per vial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394A"/>
                          </a:solidFill>
                          <a:latin typeface="Calibri"/>
                        </a:rPr>
                        <a:t>Concentrating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shrinks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4A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Diluting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grows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7315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MC3.07.22.24_SNaCl — diluting run (Δπ_initial &gt; ΔP)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852160" cy="26575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3492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Orange ΔP constant · magenta Δπ(t) built from measured c_F — pure data, no 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43870"/>
            <a:ext cx="5486399" cy="86549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The slope of mass per vial across the run is the direct signature of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Δ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π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in the 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concentrating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/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diluting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 regime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73647"/>
            <a:ext cx="5669280" cy="25528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4.  Workflow Reproduces Published Contour — DATA3 σ Stays Flat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Published-paper reproduction (DATA1 / KCl filtration) — byte-equivalent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69280" cy="150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520440"/>
            <a:ext cx="5669280" cy="59436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200" b="1" dirty="0">
                <a:solidFill>
                  <a:srgbClr val="1F3864"/>
                </a:solidFill>
                <a:latin typeface="Calibri"/>
              </a:rPr>
              <a:t>Sharp dark band on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≈ 4 →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well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Same workflow on DATA3:  MC2.05.07.24_NaCl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669280" cy="14977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3520440"/>
            <a:ext cx="5669280" cy="594360"/>
          </a:xfrm>
          <a:prstGeom prst="roundRect">
            <a:avLst/>
          </a:prstGeom>
          <a:solidFill>
            <a:srgbClr val="FCE4E4"/>
          </a:solidFill>
          <a:ln w="9525">
            <a:solidFill>
              <a:srgbClr val="C0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200" b="1" dirty="0">
                <a:solidFill>
                  <a:srgbClr val="C0394A"/>
                </a:solidFill>
                <a:latin typeface="Calibri"/>
              </a:rPr>
              <a:t>Bands run horizontal across </a:t>
            </a:r>
            <a:r>
              <a:rPr sz="1200" b="1" dirty="0" err="1">
                <a:solidFill>
                  <a:srgbClr val="C0394A"/>
                </a:solidFill>
                <a:latin typeface="Calibri"/>
              </a:rPr>
              <a:t>σ</a:t>
            </a:r>
            <a:r>
              <a:rPr sz="1200" b="1" dirty="0">
                <a:solidFill>
                  <a:srgbClr val="C0394A"/>
                </a:solidFill>
                <a:latin typeface="Calibri"/>
              </a:rPr>
              <a:t> → </a:t>
            </a:r>
            <a:r>
              <a:rPr sz="1200" b="1" dirty="0" err="1">
                <a:solidFill>
                  <a:srgbClr val="C0394A"/>
                </a:solidFill>
                <a:latin typeface="Calibri"/>
              </a:rPr>
              <a:t>σ</a:t>
            </a:r>
            <a:r>
              <a:rPr sz="1200" b="1" dirty="0">
                <a:solidFill>
                  <a:srgbClr val="C0394A"/>
                </a:solidFill>
                <a:latin typeface="Calibri"/>
              </a:rPr>
              <a:t> is unidentifiable</a:t>
            </a:r>
          </a:p>
          <a:p>
            <a:r>
              <a:rPr sz="1100" b="0" dirty="0" err="1">
                <a:solidFill>
                  <a:srgbClr val="C0394A"/>
                </a:solidFill>
                <a:latin typeface="Calibri"/>
              </a:rPr>
              <a:t>L_p</a:t>
            </a:r>
            <a:r>
              <a:rPr sz="1100" b="0" dirty="0">
                <a:solidFill>
                  <a:srgbClr val="C0394A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C0394A"/>
                </a:solidFill>
              </a:rPr>
              <a:t>has </a:t>
            </a:r>
            <a:r>
              <a:rPr lang="en-US" sz="1100" dirty="0">
                <a:solidFill>
                  <a:srgbClr val="C0394A"/>
                </a:solidFill>
                <a:latin typeface="Calibri"/>
              </a:rPr>
              <a:t>a range of </a:t>
            </a:r>
            <a:r>
              <a:rPr lang="en-US" sz="1100" dirty="0">
                <a:solidFill>
                  <a:srgbClr val="C0394A"/>
                </a:solidFill>
              </a:rPr>
              <a:t>8–10 </a:t>
            </a:r>
            <a:r>
              <a:rPr lang="en-US" sz="1100" dirty="0">
                <a:solidFill>
                  <a:srgbClr val="C0394A"/>
                </a:solidFill>
                <a:sym typeface="Wingdings" pitchFamily="2" charset="2"/>
              </a:rPr>
              <a:t> too wide a range</a:t>
            </a:r>
            <a:endParaRPr sz="1100" b="0" dirty="0">
              <a:solidFill>
                <a:srgbClr val="C039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Why estimability is harder in DATA3 — same model, different driving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338560" cy="634779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multiplies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π in the flux equation. When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π stays small over the run (concentrating runs at low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c_F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),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has almost no leverage on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J_w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DATA3 single-salt sheets are short and stay near steady-state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c_F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→ contour is flat in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→ optimizer pins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at a bound.</a:t>
            </a:r>
          </a:p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lang="en-US" sz="1200" b="0" i="0" dirty="0">
                <a:solidFill>
                  <a:srgbClr val="101010"/>
                </a:solidFill>
                <a:latin typeface="Calibri"/>
              </a:rPr>
              <a:t>I will need to look across experiments to observe behavior where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01010"/>
                </a:solidFill>
                <a:latin typeface="Calibri"/>
              </a:rPr>
              <a:t>is varied.</a:t>
            </a:r>
            <a:endParaRPr sz="1200" b="0" i="0" dirty="0">
              <a:solidFill>
                <a:srgbClr val="10101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Published reproduction confirms the workflow is correct.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5.  Summary  ·  What I'd Like to Discuss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 dirty="0">
                <a:solidFill>
                  <a:srgbClr val="1F3864"/>
                </a:solidFill>
                <a:latin typeface="Calibri"/>
              </a:rPr>
              <a:t>1 · Data integrity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70,101 / 70,101 GOOD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40/40 metadata ✓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Calibration R² 0.99–0.999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Audit XLSX is the deliverable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9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2 · Bounds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L_p ∈ [0.5, 50]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B  ∈ [0, 30]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σ  ∈ [0, 1]  (physics-fixed)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Same box for all 13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8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3 · Pattern + estimability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Mass-per-vial slope = Δπ signature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Published contour reproduces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DATA3 σ-band flat → identifiability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  gap is experimental, not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Open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338560" cy="511668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 i="0" dirty="0">
                <a:solidFill>
                  <a:srgbClr val="101010"/>
                </a:solidFill>
                <a:latin typeface="Calibri"/>
              </a:rPr>
              <a:t>• Is the published bound on B  ([0, 30]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μm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/s)  still appropriate for the DATA3 salts (NaCl,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CaCl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₂,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LaCl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₃), or do we revisit?</a:t>
            </a:r>
          </a:p>
          <a:p>
            <a:pPr algn="l"/>
            <a:r>
              <a:rPr sz="1400" b="0" i="0" dirty="0">
                <a:solidFill>
                  <a:srgbClr val="101010"/>
                </a:solidFill>
                <a:latin typeface="Calibri"/>
              </a:rPr>
              <a:t>• On the diluting sheet MC3.SNaCl, the data already shows 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π &gt; ΔP  at t = 0 — do we lean on that sheet as the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-identifying anchor for the </a:t>
            </a:r>
            <a:r>
              <a:rPr sz="1400" b="0" i="0">
                <a:solidFill>
                  <a:srgbClr val="101010"/>
                </a:solidFill>
                <a:latin typeface="Calibri"/>
              </a:rPr>
              <a:t>campaign?</a:t>
            </a:r>
            <a:endParaRPr sz="1400" b="0" i="0" dirty="0">
              <a:solidFill>
                <a:srgbClr val="101010"/>
              </a:solidFill>
              <a:latin typeface="Calibri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Single-Salt Conductivity →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Arial"/>
              </a:rPr>
              <a:t>Collaborator's deck (left)  vs  our DATA3 pipeline (right)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Arial"/>
              </a:rPr>
              <a:t>Goal: confirm processed concentrations agree on the same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If they agree, the data-processing pathway is consistent; differences indicate either inversion-method or model-fit discrepancies.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2026-05-25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How to read these comparison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1295C"/>
                </a:solidFill>
                <a:latin typeface="Arial"/>
              </a:rPr>
              <a:t>Each slide pairs the same experiment.  Left = collaborator's deck rendering.  Right = our DATA3 pipeline concentration plot.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rial"/>
              </a:rPr>
              <a:t>LEFT — collaborator's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Two panels per experiment.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Left panel:  raw conductivity (μS/cm) vs time (s)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magenta ▲ = retentate probe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red ◆ = permeate probe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blue / black lines = collaborator's fit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Right panel:  concentration (mM) vs time (s)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closed red ■ = retentate ICP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open △ = permeate ICP (cumulative)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"Recovered X: " = mass-balance closure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Data-quality verdict in lower-left.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rial"/>
              </a:rPr>
              <a:t>RIGHT — our DATA3 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Single panel: concentration (mM) vs time (min — NB unit difference!)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Magenta ■ dense = retentate probe → Shedlovsky → mM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Teal ■ sparse = vial ICP-OES (lab measurement)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Green line = retentate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Red line = permeate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Red ▲ = vial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Key question to answer for EACH slide: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Do the retentate (magenta) measurements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reach the same end-of-run concentration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on both sides?  If yes — processing is consistent.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MC2.05.07.24_NaCl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#5  ·  our file: concentration-JAO_050724_NF270_MC2_NaCl_NaCl_05.07.24_NaCl.png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MC3.07.22.24_SNaCl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150 mM   Diafiltrate: 0 mM   (Collab: Excellent — gold-standard interior 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#7  ·  our file: concentration-JAO_072224_NF270_MC3_SNaCl_NaCl_07.22.24_SNaCl.png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MC4.07.11.24_SNaCl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067" y="1554480"/>
            <a:ext cx="521954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#8  ·  our file: concentration-LL_071124_NF270_MC4_S_NaCl_07.11.24_SNaCl.png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721" y="1554480"/>
            <a:ext cx="528023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#9  ·  our file: concentration-JAO_072324_NF270_MC5_NaCl_NaCl_07.23.24_NaCl.png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97" y="1554480"/>
            <a:ext cx="523688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#10  ·  our file: concentration-JAO_072324_NF270_MC5_SNaCl_NaCl_07.23.24_SNaCl.png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MC5.07.23.24_S2NaCl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100 mM   Diafiltrate: 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#11  ·  our file: concentration-JAO_072324_NF270_MC5_NaClS2_NaCl_07.23.24_S2NaCl.png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MC2.05.07.24_CaCl2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#13  ·  our file: concentration-JAO_050724_NF270_MC2_CaCl2_CaCl2_05.07.24_CaCl2.png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MC3.07.11.24_SCaCl2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#15  ·  our file: concentration-JAO_071124_NF270_MC3_SCaCl2_CaCl2_07.11.24_SCaCl2.png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MC3.07.12.24_S2CaCl2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#16  ·  our file: concentration-JAO_071224_NF270_MC3_S2CaCl2_CaCl2_07.12.24_S2CaCl2.png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6D2E46"/>
                </a:solidFill>
                <a:latin typeface="Arial"/>
              </a:rPr>
              <a:t>MC2.05.21.24_LaCl3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20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83180"/>
            <a:ext cx="576072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#18  ·  our file: concentration-JAO_052124_NF270_MC2_LaCl3_LaCl3_05.21.24_LaCl3.png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6D2E46"/>
                </a:solidFill>
                <a:latin typeface="Arial"/>
              </a:rPr>
              <a:t>MC4.07.11.24_SLaCl3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20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#19  ·  our file: concentration-LL_071124_NF270_MC_4_LaCl3_07.11.24_SLaCl3.png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Reading guide — what to look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1295C"/>
                </a:solidFill>
                <a:latin typeface="Arial"/>
              </a:rPr>
              <a:t>Three quick checks for each experiment, top → bottom: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1.  Retentate end-of-run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Read off the final value of the magenta retentate trace on BOTH sides — they should match within ~5 %.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Arial"/>
              </a:rPr>
              <a:t>2.  Time axis: collaborator uses SECONDS, we use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Multiply collab time by 60 to compare to ours.  This is just a units choice — not a processing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3.  Permeate (vial)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Collaborator plots open triangles (cumulative permeate ICP) AND in some cases open diamonds (instantaneous).  We plot teal ■ (per-vial instantaneous ICP).  Compare like-for-like: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— Our teal ■ vs collab open diamonds (instantaneous)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— Our cumulative would need to be derived; not currently plotted.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1585"/>
                </a:solidFill>
                <a:latin typeface="Arial"/>
              </a:rPr>
              <a:t>If retentate agrees but permeate scatter differs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Conductivity → concentration inversion is the SAME for retentate (Shedlovsky).  Permeate disagreement points to either (a) per-vial ICP-OES being plotted differently, or (b) a model-prediction artifact.  Worth a follow-up.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  <a:latin typeface="Arial"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The conductivity-derived RETENTATE traces should agree numerically on both sides.  That is the strongest test of whether our processing pipeline gives the same numbers.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Lp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the 'σ=1 wall hides B-Lp trade-off' claim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σ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mass argmins at interior σ ≈ 0.32 — interesting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296" y="1417320"/>
            <a:ext cx="23511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6CF7-E578-70A1-D439-24E23C0CFAED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357CA-A9F0-F1FF-15D8-AAE6125F457D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1F07A-AF82-BB6C-7B97-D93D25E6DD1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0424"/>
            <a:ext cx="12263718" cy="3050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9561D7-5FAB-9E0D-1CA2-01C158A785A4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9C70D-0C53-2602-0ADD-6EB45C2EEF7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3BE66-3939-C108-DB93-3F94E3F05F7A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635"/>
            <a:ext cx="12283845" cy="27790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EE369-48B9-9B50-57C6-344465E3704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398AE-1042-455B-AE79-E7F36595072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BC4E0-CB71-5B6A-5E77-9ECACF6F1A9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" y="2101122"/>
            <a:ext cx="12226643" cy="270395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52CCC-D82B-927E-874A-43D09CD40D9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7E031-1B24-38AF-068C-F0CAB810D32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8CFD9-6F48-278B-77FF-F8516FE58D50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5501"/>
            <a:ext cx="12257741" cy="280431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DDA8C-331F-9437-111A-1F5F43AB98B4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CB497-FC5A-397F-F70E-E21A8AFF479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FD5A5-0B7B-32D9-6B39-602A0D05313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3953"/>
            <a:ext cx="12250470" cy="23666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560E7-9DF6-15E4-A342-E75DF09ED10E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84A3D-A9F1-485D-0E3B-CC88F5DBEEAF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E13F5-5F53-2D67-E798-76429612FFD2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814" y="2115672"/>
            <a:ext cx="12370008" cy="276710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9D0F2-A85B-C0E2-A5B0-CCA27445C39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40E13-04A5-C7EC-2227-09551CB302E0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ADDB5-A2BF-D24C-E29A-D3DE2909AD5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682" y="1757082"/>
            <a:ext cx="12351124" cy="28256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90517-F264-EE8F-5064-1C4DCE677C45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20EEB-3DA0-C5DD-F56B-E4900A577D6A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25F3B-378D-9C3B-5173-B86C6588E131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4847"/>
            <a:ext cx="12310255" cy="27850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5AA09-047B-48E9-6DFC-37E5E556838C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16679-7B77-32AC-2E8D-186E5FBEB0D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D51C9-8097-061C-0281-A717A7A7408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9035"/>
            <a:ext cx="12234972" cy="27680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20A1EE-529B-AE51-BE2C-6C4B67ABED6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22D18-8ED2-8F1D-5107-4037CDFD6413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E4CEC-D10B-EB51-1CBC-89C15CD6D5D1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7623"/>
            <a:ext cx="12253290" cy="27487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95" y="1417320"/>
            <a:ext cx="234950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0B57D-947D-5A23-AEC0-D07E5CBA13F2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36AB1-7C6B-8636-FD10-8DAD37C064D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56454-D99F-03B6-1B60-03BFFEE8A0D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0447"/>
            <a:ext cx="12216954" cy="307190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FA285-75ED-C4CC-D6F1-9EE213CF9416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0A29B-4D02-36B1-F9A7-BEEEFF658BE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F55BA-A7CE-A279-D23E-7673F76BDD1C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6141"/>
            <a:ext cx="12260640" cy="271331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FB595A-824F-1BA0-151C-7BA113E86C96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691FF-C8A2-035E-CDBB-B1DFD5125D1F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0EE50-0BFD-C47E-4BB0-F3F1DC9F508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588" y="2073836"/>
            <a:ext cx="12269004" cy="271517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77ACA8-0B72-8530-DADB-6076715FC69B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AB905-E763-EE26-444E-F64900FDA57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772F5-A095-B6AF-6089-D9D758038D3B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6447"/>
            <a:ext cx="12272709" cy="265355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3208FD-744A-D33F-23C6-A2F142C2A17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8ADB0-12AE-C78B-89A9-638603AB0FE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EE1C-0136-2D3A-E9B3-160783AA597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788"/>
            <a:ext cx="12228098" cy="27372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880BCD-0506-DCF2-C327-9F1E6B7BD17F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B21F4-8C36-85C4-808F-9658B911A8A4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DBAA4-039B-7D65-1004-4D1E38B6FBB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788"/>
            <a:ext cx="12287663" cy="27192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2F88F3-3605-F6F7-BD90-6D27737F18C9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90B43-49EE-6C86-C8C0-3001041C1D1A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BE2BC-B6FD-471F-88EC-2BDB8B45E5F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904" y="1778995"/>
            <a:ext cx="12263718" cy="274519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B5B89-1C65-8767-2ADF-B6BB39A1FBFA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D05D3-7665-8AC9-14EB-964A75B4D887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05BE4-B579-856D-C1E8-90BC6BDBF9FE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904" y="1930401"/>
            <a:ext cx="12287639" cy="271929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9D19B8-58A1-D0E1-F968-CA74D7653629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7E914-5030-F7A4-0529-C4D1CCEEC5E3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51B09-742A-262B-E58B-48F444E6D76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41" y="1839205"/>
            <a:ext cx="12261704" cy="27447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842CB-7B0D-7B71-3F83-3DB9FE6ED9C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1202F-ED27-9D24-B380-B133D020FEA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EC432-CBBA-6C1D-0EAA-4C281C0CAFB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832" y="2081903"/>
            <a:ext cx="12280070" cy="26941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
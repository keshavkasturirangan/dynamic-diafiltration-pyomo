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7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249"/>
    <p:restoredTop sz="94691"/>
  </p:normalViewPr>
  <p:slideViewPr>
    <p:cSldViewPr snapToGrid="0" snapToObjects="1">
      <p:cViewPr varScale="1">
        <p:scale>
          <a:sx n="213" d="100"/>
          <a:sy n="213" d="100"/>
        </p:scale>
        <p:origin x="458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3.png"/><Relationship Id="rId9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otre_dam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422136"/>
            <a:ext cx="1280160" cy="29870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280160"/>
            <a:ext cx="11247120" cy="9144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4400" b="1" i="0">
                <a:solidFill>
                  <a:srgbClr val="1A1A1A"/>
                </a:solidFill>
                <a:latin typeface="Calibri"/>
              </a:rPr>
              <a:t>DATA3 — Contour 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23160"/>
            <a:ext cx="11247120" cy="4572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800" b="0" i="1">
                <a:solidFill>
                  <a:srgbClr val="555555"/>
                </a:solidFill>
                <a:latin typeface="Calibri"/>
              </a:rPr>
              <a:t>Three stages of parameter identifiability across all 11 NF270 single-salt sheets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3337560"/>
            <a:ext cx="3840480" cy="1828800"/>
          </a:xfrm>
          <a:prstGeom prst="roundRect">
            <a:avLst/>
          </a:prstGeom>
          <a:solidFill>
            <a:srgbClr val="E6F4EA"/>
          </a:solidFill>
          <a:ln w="12700">
            <a:solidFill>
              <a:srgbClr val="1E7C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3456432"/>
            <a:ext cx="3840480" cy="3200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100" b="1" i="0">
                <a:solidFill>
                  <a:srgbClr val="1E7C3F"/>
                </a:solidFill>
                <a:latin typeface="Calibri"/>
              </a:rPr>
              <a:t>STAGE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794760"/>
            <a:ext cx="384048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500" b="1" i="0">
                <a:solidFill>
                  <a:srgbClr val="1A1A1A"/>
                </a:solidFill>
                <a:latin typeface="Calibri"/>
              </a:rPr>
              <a:t>Well-identified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160520"/>
            <a:ext cx="3840480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000" b="0" i="1">
                <a:solidFill>
                  <a:srgbClr val="555555"/>
                </a:solidFill>
                <a:latin typeface="Calibri"/>
              </a:rPr>
              <a:t>2 sheets · NaCl:  MC3 SNaCl + MC5 S2NaCl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453128"/>
            <a:ext cx="3840480" cy="6858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>Lp identified two ways:</a:t>
            </a:r>
          </a:p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>(a) interior σ via concentrating run,</a:t>
            </a:r>
          </a:p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>(b) σ-harmless via diluting run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3337560"/>
            <a:ext cx="3840480" cy="1828800"/>
          </a:xfrm>
          <a:prstGeom prst="roundRect">
            <a:avLst/>
          </a:prstGeom>
          <a:solidFill>
            <a:srgbClr val="FDF3D7"/>
          </a:solidFill>
          <a:ln w="12700">
            <a:solidFill>
              <a:srgbClr val="A87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15968" y="3456432"/>
            <a:ext cx="3840480" cy="3200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100" b="1" i="0">
                <a:solidFill>
                  <a:srgbClr val="A87000"/>
                </a:solidFill>
                <a:latin typeface="Calibri"/>
              </a:rPr>
              <a:t>STAGE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15968" y="3794760"/>
            <a:ext cx="384048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500" b="1" i="0">
                <a:solidFill>
                  <a:srgbClr val="1A1A1A"/>
                </a:solidFill>
                <a:latin typeface="Calibri"/>
              </a:rPr>
              <a:t>Inconsistent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15968" y="4160520"/>
            <a:ext cx="3840480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000" b="0" i="1">
                <a:solidFill>
                  <a:srgbClr val="555555"/>
                </a:solidFill>
                <a:latin typeface="Calibri"/>
              </a:rPr>
              <a:t>7 sheets:  4 NaCl + 3 CaCl₂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15968" y="4453128"/>
            <a:ext cx="3840480" cy="6858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>Channels each find a minimum,</a:t>
            </a:r>
          </a:p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>but at different (σ, Lp) walls.</a:t>
            </a:r>
          </a:p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>Lp tight, σ rail-pinned.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66176" y="3337560"/>
            <a:ext cx="3840480" cy="1828800"/>
          </a:xfrm>
          <a:prstGeom prst="roundRect">
            <a:avLst/>
          </a:prstGeom>
          <a:solidFill>
            <a:srgbClr val="FCE3E3"/>
          </a:solidFill>
          <a:ln w="12700">
            <a:solidFill>
              <a:srgbClr val="B0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66176" y="3456432"/>
            <a:ext cx="3840480" cy="3200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100" b="1" i="0">
                <a:solidFill>
                  <a:srgbClr val="B02121"/>
                </a:solidFill>
                <a:latin typeface="Calibri"/>
              </a:rPr>
              <a:t>STAGE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3794760"/>
            <a:ext cx="384048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500" b="1" i="0">
                <a:solidFill>
                  <a:srgbClr val="1A1A1A"/>
                </a:solidFill>
                <a:latin typeface="Calibri"/>
              </a:rPr>
              <a:t>Not estimable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66176" y="4160520"/>
            <a:ext cx="3840480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000" b="0" i="1">
                <a:solidFill>
                  <a:srgbClr val="555555"/>
                </a:solidFill>
                <a:latin typeface="Calibri"/>
              </a:rPr>
              <a:t>2 sheets:  MC2 + MC4 LaCl₃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6" y="4453128"/>
            <a:ext cx="3840480" cy="6858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>Same wrong-model bias on both:</a:t>
            </a:r>
          </a:p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>the constant-(σ,B) Spiegler-Kedem</a:t>
            </a:r>
          </a:p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>cannot represent La³⁺ ion-pairing.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669280"/>
            <a:ext cx="11247120" cy="41148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100" b="0" i="1">
                <a:solidFill>
                  <a:srgbClr val="C0392B"/>
                </a:solidFill>
                <a:latin typeface="Calibri"/>
              </a:rPr>
              <a:t>What we trust most → what we trust least.   Agreement across the 5 measurement channels = trust.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263640"/>
            <a:ext cx="11247120" cy="3200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200" b="0" i="1">
                <a:solidFill>
                  <a:srgbClr val="8A8A8A"/>
                </a:solidFill>
                <a:latin typeface="Calibri"/>
              </a:rPr>
              <a:t>Discussion · 2026-06-04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otre_dam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422136"/>
            <a:ext cx="1280160" cy="29870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274320"/>
            <a:ext cx="77724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400" b="1" i="0">
                <a:solidFill>
                  <a:srgbClr val="8A8A8A"/>
                </a:solidFill>
                <a:latin typeface="Calibri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274320"/>
            <a:ext cx="1051560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CONTEXT — parameter bounds in play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822960"/>
            <a:ext cx="105156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L_p ∈ [0.5, 50] and σ ∈ [0, 1] inherited from DATA1/DATA2 KCl; per-salt B bound is the only new knob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417320"/>
            <a:ext cx="11338560" cy="685800"/>
          </a:xfrm>
          <a:prstGeom prst="roundRect">
            <a:avLst/>
          </a:prstGeom>
          <a:solidFill>
            <a:srgbClr val="F6F8F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l"/>
            <a:r>
              <a:rPr sz="1200" b="1">
                <a:solidFill>
                  <a:srgbClr val="1A1A1A"/>
                </a:solidFill>
              </a:rPr>
              <a:t>KCl baseline (inherited from DATA1/DATA2):  </a:t>
            </a:r>
            <a:r>
              <a:rPr sz="1200" b="0">
                <a:solidFill>
                  <a:srgbClr val="1A1A1A"/>
                </a:solidFill>
              </a:rPr>
              <a:t>L_p ∈ [0.5, 50] L/(m²·hr·bar),    B ∈ [0, 30] µm/s,    σ ∈ [0, 1]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331720"/>
            <a:ext cx="11338560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  <a:latin typeface="Calibri"/>
              </a:rPr>
              <a:t>Per-salt B upper bound — halve per +1 of cation charge: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11480" y="2651760"/>
          <a:ext cx="1133856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23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1A1A1A"/>
                          </a:solidFill>
                          <a:latin typeface="Calibri"/>
                        </a:rPr>
                        <a:t>Salt</a:t>
                      </a:r>
                    </a:p>
                  </a:txBody>
                  <a:tcPr marL="50000" marR="50000" marT="30000" marB="30000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1A1A1A"/>
                          </a:solidFill>
                          <a:latin typeface="Calibri"/>
                        </a:rPr>
                        <a:t>B bound [µm/s]</a:t>
                      </a:r>
                    </a:p>
                  </a:txBody>
                  <a:tcPr marL="50000" marR="50000" marT="30000" marB="30000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1A1A1A"/>
                          </a:solidFill>
                          <a:latin typeface="Calibri"/>
                        </a:rPr>
                        <a:t>Basis</a:t>
                      </a:r>
                    </a:p>
                  </a:txBody>
                  <a:tcPr marL="50000" marR="50000" marT="30000" marB="30000" anchor="ctr"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1A1A1A"/>
                          </a:solidFill>
                          <a:latin typeface="Calibri"/>
                        </a:rPr>
                        <a:t>NaCl</a:t>
                      </a:r>
                    </a:p>
                  </a:txBody>
                  <a:tcPr marL="50000" marR="50000" marT="30000" marB="30000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1A1A1A"/>
                          </a:solidFill>
                          <a:latin typeface="Calibri"/>
                        </a:rPr>
                        <a:t>[0, 30]</a:t>
                      </a:r>
                    </a:p>
                  </a:txBody>
                  <a:tcPr marL="50000" marR="50000" marT="30000" marB="30000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A1A1A"/>
                          </a:solidFill>
                          <a:latin typeface="Calibri"/>
                        </a:rPr>
                        <a:t>monovalent — same as KCl</a:t>
                      </a:r>
                    </a:p>
                  </a:txBody>
                  <a:tcPr marL="50000" marR="50000" marT="30000" marB="30000" anchor="ctr"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1A1A1A"/>
                          </a:solidFill>
                          <a:latin typeface="Calibri"/>
                        </a:rPr>
                        <a:t>CaCl₂</a:t>
                      </a:r>
                    </a:p>
                  </a:txBody>
                  <a:tcPr marL="50000" marR="50000" marT="30000" marB="30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1A1A1A"/>
                          </a:solidFill>
                          <a:latin typeface="Calibri"/>
                        </a:rPr>
                        <a:t>[0, 15]</a:t>
                      </a:r>
                    </a:p>
                  </a:txBody>
                  <a:tcPr marL="50000" marR="50000" marT="30000" marB="300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A1A1A"/>
                          </a:solidFill>
                          <a:latin typeface="Calibri"/>
                        </a:rPr>
                        <a:t>divalent — halved</a:t>
                      </a:r>
                    </a:p>
                  </a:txBody>
                  <a:tcPr marL="50000" marR="50000" marT="30000" marB="30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1A1A1A"/>
                          </a:solidFill>
                          <a:latin typeface="Calibri"/>
                        </a:rPr>
                        <a:t>LaCl₃</a:t>
                      </a:r>
                    </a:p>
                  </a:txBody>
                  <a:tcPr marL="50000" marR="50000" marT="30000" marB="30000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1A1A1A"/>
                          </a:solidFill>
                          <a:latin typeface="Calibri"/>
                        </a:rPr>
                        <a:t>[0, 10]</a:t>
                      </a:r>
                    </a:p>
                  </a:txBody>
                  <a:tcPr marL="50000" marR="50000" marT="30000" marB="30000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A1A1A"/>
                          </a:solidFill>
                          <a:latin typeface="Calibri"/>
                        </a:rPr>
                        <a:t>trivalent — third</a:t>
                      </a:r>
                    </a:p>
                  </a:txBody>
                  <a:tcPr marL="50000" marR="50000" marT="30000" marB="30000" anchor="ctr"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11480" y="4846320"/>
            <a:ext cx="11338560" cy="1645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How the contour panels are built:  at every (σ, Lp) grid point we forward-simulate the full Spiegler-Kedem DAE (B fixed at warm-start, S0/S also at warm-start), then evaluate the weighted sum-of-squared-residuals per channel.  5 channels per panel:  mass, permeate concentration, retentate concentration, permeate conductivity, retentate conductivity.  No fitting — pure forward-simulation diagnostics.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otre_dam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422136"/>
            <a:ext cx="1280160" cy="29870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274320"/>
            <a:ext cx="77724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400" b="1" i="0">
                <a:solidFill>
                  <a:srgbClr val="8A8A8A"/>
                </a:solidFill>
                <a:latin typeface="Calibri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274320"/>
            <a:ext cx="1051560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ALL 11 SHEETS — warm-start θ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822960"/>
            <a:ext cx="105156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where the optimizer landed on every sheet — color-coded by stage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417320"/>
            <a:ext cx="11338560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  <a:latin typeface="Calibri"/>
              </a:rPr>
              <a:t>Warm-start fits across the campaign (sorted by salt, then by sheet ID):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755648"/>
          <a:ext cx="11338560" cy="4590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1A1A1A"/>
                          </a:solidFill>
                          <a:latin typeface="Calibri"/>
                        </a:rPr>
                        <a:t>Sheet</a:t>
                      </a:r>
                    </a:p>
                  </a:txBody>
                  <a:tcPr marL="50000" marR="50000" marT="30000" marB="30000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1A1A1A"/>
                          </a:solidFill>
                          <a:latin typeface="Calibri"/>
                        </a:rPr>
                        <a:t>Salt</a:t>
                      </a:r>
                    </a:p>
                  </a:txBody>
                  <a:tcPr marL="50000" marR="50000" marT="30000" marB="30000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1A1A1A"/>
                          </a:solidFill>
                          <a:latin typeface="Calibri"/>
                        </a:rPr>
                        <a:t>L_p</a:t>
                      </a:r>
                    </a:p>
                  </a:txBody>
                  <a:tcPr marL="50000" marR="50000" marT="30000" marB="30000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1A1A1A"/>
                          </a:solidFill>
                          <a:latin typeface="Calibri"/>
                        </a:rPr>
                        <a:t>B [µm/s]</a:t>
                      </a:r>
                    </a:p>
                  </a:txBody>
                  <a:tcPr marL="50000" marR="50000" marT="30000" marB="30000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1A1A1A"/>
                          </a:solidFill>
                          <a:latin typeface="Calibri"/>
                        </a:rPr>
                        <a:t>σ</a:t>
                      </a:r>
                    </a:p>
                  </a:txBody>
                  <a:tcPr marL="50000" marR="50000" marT="30000" marB="30000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1A1A1A"/>
                          </a:solidFill>
                          <a:latin typeface="Calibri"/>
                        </a:rPr>
                        <a:t>WSSE</a:t>
                      </a:r>
                    </a:p>
                  </a:txBody>
                  <a:tcPr marL="50000" marR="50000" marT="30000" marB="30000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1A1A1A"/>
                          </a:solidFill>
                          <a:latin typeface="Calibri"/>
                        </a:rPr>
                        <a:t>Stage assignment</a:t>
                      </a:r>
                    </a:p>
                  </a:txBody>
                  <a:tcPr marL="50000" marR="50000" marT="30000" marB="30000" anchor="ctr"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A87000"/>
                          </a:solidFill>
                          <a:latin typeface="Calibri"/>
                        </a:rPr>
                        <a:t>MC2.05.07.24_NaCl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555555"/>
                          </a:solidFill>
                          <a:latin typeface="Calibri"/>
                        </a:rPr>
                        <a:t>NaCl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9.95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9.73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C0392B"/>
                          </a:solidFill>
                          <a:latin typeface="Calibri"/>
                        </a:rPr>
                        <a:t>1.00 ↑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4357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A87000"/>
                          </a:solidFill>
                          <a:latin typeface="Calibri"/>
                        </a:rPr>
                        <a:t>Stage 2 · σ wall, concentrating regime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E7C3F"/>
                          </a:solidFill>
                          <a:latin typeface="Calibri"/>
                        </a:rPr>
                        <a:t>MC3.07.22.24_SNaCl</a:t>
                      </a:r>
                    </a:p>
                  </a:txBody>
                  <a:tcPr marL="50000" marR="50000" marT="30000" marB="30000"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555555"/>
                          </a:solidFill>
                          <a:latin typeface="Calibri"/>
                        </a:rPr>
                        <a:t>NaCl</a:t>
                      </a:r>
                    </a:p>
                  </a:txBody>
                  <a:tcPr marL="50000" marR="50000" marT="30000" marB="30000"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8.22</a:t>
                      </a:r>
                    </a:p>
                  </a:txBody>
                  <a:tcPr marL="50000" marR="50000" marT="30000" marB="30000"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14.68</a:t>
                      </a:r>
                    </a:p>
                  </a:txBody>
                  <a:tcPr marL="50000" marR="50000" marT="30000" marB="30000"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0.45</a:t>
                      </a:r>
                    </a:p>
                  </a:txBody>
                  <a:tcPr marL="50000" marR="50000" marT="30000" marB="30000"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556</a:t>
                      </a:r>
                    </a:p>
                  </a:txBody>
                  <a:tcPr marL="50000" marR="50000" marT="30000" marB="30000"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E7C3F"/>
                          </a:solidFill>
                          <a:latin typeface="Calibri"/>
                        </a:rPr>
                        <a:t>Stage 1 · interior σ — concentrating run probed σ-sensitive regime (gold)</a:t>
                      </a:r>
                    </a:p>
                  </a:txBody>
                  <a:tcPr marL="50000" marR="50000" marT="30000" marB="30000" anchor="ctr">
                    <a:solidFill>
                      <a:srgbClr val="E6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A87000"/>
                          </a:solidFill>
                          <a:latin typeface="Calibri"/>
                        </a:rPr>
                        <a:t>MC4.07.11.24_SNaCl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555555"/>
                          </a:solidFill>
                          <a:latin typeface="Calibri"/>
                        </a:rPr>
                        <a:t>NaCl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7.79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2.02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C0392B"/>
                          </a:solidFill>
                          <a:latin typeface="Calibri"/>
                        </a:rPr>
                        <a:t>0.00 ↓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9536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A87000"/>
                          </a:solidFill>
                          <a:latin typeface="Calibri"/>
                        </a:rPr>
                        <a:t>Stage 2 · σ=0, diluting regime BUT poor WSSE — data-quality issue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A87000"/>
                          </a:solidFill>
                          <a:latin typeface="Calibri"/>
                        </a:rPr>
                        <a:t>MC5.07.23.24_NaCl</a:t>
                      </a:r>
                    </a:p>
                  </a:txBody>
                  <a:tcPr marL="50000" marR="50000" marT="30000" marB="30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555555"/>
                          </a:solidFill>
                          <a:latin typeface="Calibri"/>
                        </a:rPr>
                        <a:t>NaCl</a:t>
                      </a:r>
                    </a:p>
                  </a:txBody>
                  <a:tcPr marL="50000" marR="50000" marT="30000" marB="30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10.02</a:t>
                      </a:r>
                    </a:p>
                  </a:txBody>
                  <a:tcPr marL="50000" marR="50000" marT="30000" marB="30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3.70</a:t>
                      </a:r>
                    </a:p>
                  </a:txBody>
                  <a:tcPr marL="50000" marR="50000" marT="30000" marB="30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C0392B"/>
                          </a:solidFill>
                          <a:latin typeface="Calibri"/>
                        </a:rPr>
                        <a:t>1.00 ↑</a:t>
                      </a:r>
                    </a:p>
                  </a:txBody>
                  <a:tcPr marL="50000" marR="50000" marT="30000" marB="30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5794</a:t>
                      </a:r>
                    </a:p>
                  </a:txBody>
                  <a:tcPr marL="50000" marR="50000" marT="30000" marB="300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A87000"/>
                          </a:solidFill>
                          <a:latin typeface="Calibri"/>
                        </a:rPr>
                        <a:t>Stage 2 · σ wall, concentrating regime</a:t>
                      </a:r>
                    </a:p>
                  </a:txBody>
                  <a:tcPr marL="50000" marR="50000" marT="30000" marB="300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A87000"/>
                          </a:solidFill>
                          <a:latin typeface="Calibri"/>
                        </a:rPr>
                        <a:t>MC5.07.23.24_SNaCl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555555"/>
                          </a:solidFill>
                          <a:latin typeface="Calibri"/>
                        </a:rPr>
                        <a:t>NaCl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9.45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3.07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C0392B"/>
                          </a:solidFill>
                          <a:latin typeface="Calibri"/>
                        </a:rPr>
                        <a:t>1.00 ↑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4764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A87000"/>
                          </a:solidFill>
                          <a:latin typeface="Calibri"/>
                        </a:rPr>
                        <a:t>Stage 2 · σ wall, concentrating regime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E7C3F"/>
                          </a:solidFill>
                          <a:latin typeface="Calibri"/>
                        </a:rPr>
                        <a:t>MC5.07.23.24_S2NaCl</a:t>
                      </a:r>
                    </a:p>
                  </a:txBody>
                  <a:tcPr marL="50000" marR="50000" marT="30000" marB="30000"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 dirty="0">
                          <a:solidFill>
                            <a:srgbClr val="555555"/>
                          </a:solidFill>
                          <a:latin typeface="Calibri"/>
                        </a:rPr>
                        <a:t>NaCl</a:t>
                      </a:r>
                    </a:p>
                  </a:txBody>
                  <a:tcPr marL="50000" marR="50000" marT="30000" marB="30000"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7.38</a:t>
                      </a:r>
                    </a:p>
                  </a:txBody>
                  <a:tcPr marL="50000" marR="50000" marT="30000" marB="30000"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10.14</a:t>
                      </a:r>
                    </a:p>
                  </a:txBody>
                  <a:tcPr marL="50000" marR="50000" marT="30000" marB="30000"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C0392B"/>
                          </a:solidFill>
                          <a:latin typeface="Calibri"/>
                        </a:rPr>
                        <a:t>0.00 ↓</a:t>
                      </a:r>
                    </a:p>
                  </a:txBody>
                  <a:tcPr marL="50000" marR="50000" marT="30000" marB="30000"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830</a:t>
                      </a:r>
                    </a:p>
                  </a:txBody>
                  <a:tcPr marL="50000" marR="50000" marT="30000" marB="30000"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E7C3F"/>
                          </a:solidFill>
                          <a:latin typeface="Calibri"/>
                        </a:rPr>
                        <a:t>Stage 1 · σ=0 harmless — diluting run, Lp identified by mass (2nd best WSSE)</a:t>
                      </a:r>
                    </a:p>
                  </a:txBody>
                  <a:tcPr marL="50000" marR="50000" marT="30000" marB="30000" anchor="ctr">
                    <a:solidFill>
                      <a:srgbClr val="E6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A87000"/>
                          </a:solidFill>
                          <a:latin typeface="Calibri"/>
                        </a:rPr>
                        <a:t>MC2.05.07.24_CaCl2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555555"/>
                          </a:solidFill>
                          <a:latin typeface="Calibri"/>
                        </a:rPr>
                        <a:t>CaCl₂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4.00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0.51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C0392B"/>
                          </a:solidFill>
                          <a:latin typeface="Calibri"/>
                        </a:rPr>
                        <a:t>1.00 ↑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6717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A87000"/>
                          </a:solidFill>
                          <a:latin typeface="Calibri"/>
                        </a:rPr>
                        <a:t>Stage 2 · channels split by side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A87000"/>
                          </a:solidFill>
                          <a:latin typeface="Calibri"/>
                        </a:rPr>
                        <a:t>MC3.07.11.24_SCaCl2</a:t>
                      </a:r>
                    </a:p>
                  </a:txBody>
                  <a:tcPr marL="50000" marR="50000" marT="30000" marB="30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555555"/>
                          </a:solidFill>
                          <a:latin typeface="Calibri"/>
                        </a:rPr>
                        <a:t>CaCl₂</a:t>
                      </a:r>
                    </a:p>
                  </a:txBody>
                  <a:tcPr marL="50000" marR="50000" marT="30000" marB="30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5.53</a:t>
                      </a:r>
                    </a:p>
                  </a:txBody>
                  <a:tcPr marL="50000" marR="50000" marT="30000" marB="30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9.11</a:t>
                      </a:r>
                    </a:p>
                  </a:txBody>
                  <a:tcPr marL="50000" marR="50000" marT="30000" marB="30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C0392B"/>
                          </a:solidFill>
                          <a:latin typeface="Calibri"/>
                        </a:rPr>
                        <a:t>1.00 ↑</a:t>
                      </a:r>
                    </a:p>
                  </a:txBody>
                  <a:tcPr marL="50000" marR="50000" marT="30000" marB="30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4080</a:t>
                      </a:r>
                    </a:p>
                  </a:txBody>
                  <a:tcPr marL="50000" marR="50000" marT="30000" marB="300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A87000"/>
                          </a:solidFill>
                          <a:latin typeface="Calibri"/>
                        </a:rPr>
                        <a:t>Stage 2 · σ at wall</a:t>
                      </a:r>
                    </a:p>
                  </a:txBody>
                  <a:tcPr marL="50000" marR="50000" marT="30000" marB="3000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A87000"/>
                          </a:solidFill>
                          <a:latin typeface="Calibri"/>
                        </a:rPr>
                        <a:t>MC3.07.12.24_S2CaCl2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555555"/>
                          </a:solidFill>
                          <a:latin typeface="Calibri"/>
                        </a:rPr>
                        <a:t>CaCl₂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4.63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30.00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C0392B"/>
                          </a:solidFill>
                          <a:latin typeface="Calibri"/>
                        </a:rPr>
                        <a:t>1.00 ↑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9252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A87000"/>
                          </a:solidFill>
                          <a:latin typeface="Calibri"/>
                        </a:rPr>
                        <a:t>Stage 2 · σ AND B at walls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B02121"/>
                          </a:solidFill>
                          <a:latin typeface="Calibri"/>
                        </a:rPr>
                        <a:t>MC2.05.21.24_LaCl3</a:t>
                      </a:r>
                    </a:p>
                  </a:txBody>
                  <a:tcPr marL="50000" marR="50000" marT="30000" marB="30000" anchor="ctr">
                    <a:solidFill>
                      <a:srgbClr val="FCE3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555555"/>
                          </a:solidFill>
                          <a:latin typeface="Calibri"/>
                        </a:rPr>
                        <a:t>LaCl₃</a:t>
                      </a:r>
                    </a:p>
                  </a:txBody>
                  <a:tcPr marL="50000" marR="50000" marT="30000" marB="30000" anchor="ctr">
                    <a:solidFill>
                      <a:srgbClr val="FCE3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2.49</a:t>
                      </a:r>
                    </a:p>
                  </a:txBody>
                  <a:tcPr marL="50000" marR="50000" marT="30000" marB="30000" anchor="ctr">
                    <a:solidFill>
                      <a:srgbClr val="FCE3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0.31</a:t>
                      </a:r>
                    </a:p>
                  </a:txBody>
                  <a:tcPr marL="50000" marR="50000" marT="30000" marB="30000" anchor="ctr">
                    <a:solidFill>
                      <a:srgbClr val="FCE3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C0392B"/>
                          </a:solidFill>
                          <a:latin typeface="Calibri"/>
                        </a:rPr>
                        <a:t>1.00 ↑</a:t>
                      </a:r>
                    </a:p>
                  </a:txBody>
                  <a:tcPr marL="50000" marR="50000" marT="30000" marB="30000" anchor="ctr">
                    <a:solidFill>
                      <a:srgbClr val="FCE3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17711</a:t>
                      </a:r>
                    </a:p>
                  </a:txBody>
                  <a:tcPr marL="50000" marR="50000" marT="30000" marB="30000" anchor="ctr">
                    <a:solidFill>
                      <a:srgbClr val="FCE3E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B02121"/>
                          </a:solidFill>
                          <a:latin typeface="Calibri"/>
                        </a:rPr>
                        <a:t>Stage 3 · wrong model — every channel disagrees</a:t>
                      </a:r>
                    </a:p>
                  </a:txBody>
                  <a:tcPr marL="50000" marR="50000" marT="30000" marB="30000" anchor="ctr">
                    <a:solidFill>
                      <a:srgbClr val="FCE3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B02121"/>
                          </a:solidFill>
                          <a:latin typeface="Calibri"/>
                        </a:rPr>
                        <a:t>MC4.07.11.24_SLaCl3</a:t>
                      </a:r>
                    </a:p>
                  </a:txBody>
                  <a:tcPr marL="50000" marR="50000" marT="30000" marB="30000" anchor="ctr">
                    <a:solidFill>
                      <a:srgbClr val="FCE3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555555"/>
                          </a:solidFill>
                          <a:latin typeface="Calibri"/>
                        </a:rPr>
                        <a:t>LaCl₃</a:t>
                      </a:r>
                    </a:p>
                  </a:txBody>
                  <a:tcPr marL="50000" marR="50000" marT="30000" marB="30000" anchor="ctr">
                    <a:solidFill>
                      <a:srgbClr val="FCE3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2.78</a:t>
                      </a:r>
                    </a:p>
                  </a:txBody>
                  <a:tcPr marL="50000" marR="50000" marT="30000" marB="30000" anchor="ctr">
                    <a:solidFill>
                      <a:srgbClr val="FCE3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0.17</a:t>
                      </a:r>
                    </a:p>
                  </a:txBody>
                  <a:tcPr marL="50000" marR="50000" marT="30000" marB="30000" anchor="ctr">
                    <a:solidFill>
                      <a:srgbClr val="FCE3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C0392B"/>
                          </a:solidFill>
                          <a:latin typeface="Calibri"/>
                        </a:rPr>
                        <a:t>1.00 ↑</a:t>
                      </a:r>
                    </a:p>
                  </a:txBody>
                  <a:tcPr marL="50000" marR="50000" marT="30000" marB="30000" anchor="ctr">
                    <a:solidFill>
                      <a:srgbClr val="FCE3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21345</a:t>
                      </a:r>
                    </a:p>
                  </a:txBody>
                  <a:tcPr marL="50000" marR="50000" marT="30000" marB="30000" anchor="ctr">
                    <a:solidFill>
                      <a:srgbClr val="FCE3E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dirty="0">
                          <a:solidFill>
                            <a:srgbClr val="B02121"/>
                          </a:solidFill>
                          <a:latin typeface="Calibri"/>
                        </a:rPr>
                        <a:t>Stage 3 · wrong model — replicate of MC2</a:t>
                      </a:r>
                    </a:p>
                  </a:txBody>
                  <a:tcPr marL="50000" marR="50000" marT="30000" marB="30000" anchor="ctr">
                    <a:solidFill>
                      <a:srgbClr val="FCE3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669312" y="6492240"/>
            <a:ext cx="10080728" cy="1902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00" b="0" i="1" dirty="0">
                <a:solidFill>
                  <a:srgbClr val="555555"/>
                </a:solidFill>
                <a:latin typeface="Calibri"/>
              </a:rPr>
              <a:t>↑ / ↓ marks parameters pinned at a bound.  Only MC3.07.22.24_SNaCl landed at an interior </a:t>
            </a:r>
            <a:r>
              <a:rPr sz="1000" b="0" i="1" dirty="0" err="1">
                <a:solidFill>
                  <a:srgbClr val="555555"/>
                </a:solidFill>
                <a:latin typeface="Calibri"/>
              </a:rPr>
              <a:t>σ</a:t>
            </a:r>
            <a:r>
              <a:rPr sz="1000" b="0" i="1" dirty="0">
                <a:solidFill>
                  <a:srgbClr val="555555"/>
                </a:solidFill>
                <a:latin typeface="Calibri"/>
              </a:rPr>
              <a:t> — that's our reference case for 'well-identified'.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otre_dam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422136"/>
            <a:ext cx="1280160" cy="29870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274320"/>
            <a:ext cx="77724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400" b="1" i="0">
                <a:solidFill>
                  <a:srgbClr val="8A8A8A"/>
                </a:solidFill>
                <a:latin typeface="Calibri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274320"/>
            <a:ext cx="1051560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TWO PATHS TO WELL-IDENTIFIED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822960"/>
            <a:ext cx="105156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the same Lp can be pinned by the data two completely different ways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15600" y="274320"/>
            <a:ext cx="1417320" cy="457200"/>
          </a:xfrm>
          <a:prstGeom prst="roundRect">
            <a:avLst/>
          </a:prstGeom>
          <a:solidFill>
            <a:srgbClr val="E6F4EA"/>
          </a:solidFill>
          <a:ln w="12700">
            <a:solidFill>
              <a:srgbClr val="1E7C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sz="1000" b="1">
                <a:solidFill>
                  <a:srgbClr val="1E7C3F"/>
                </a:solidFill>
              </a:rPr>
              <a:t>STAGE 1 · Well-identified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417320"/>
            <a:ext cx="11338560" cy="109728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There are two physically distinct ways the data can pin (Lp, σ, B):  either we run conditions that PROBE σ directly so the contour shows an interior σ minimum, OR we run conditions where σ doesn't matter so we don't need to probe it.  Both give us a usable Lp.  The campaign has one sheet in each category.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2219009"/>
            <a:ext cx="5577840" cy="3017520"/>
          </a:xfrm>
          <a:prstGeom prst="roundRect">
            <a:avLst/>
          </a:prstGeom>
          <a:solidFill>
            <a:srgbClr val="E6F4EA"/>
          </a:solidFill>
          <a:ln w="12700">
            <a:solidFill>
              <a:srgbClr val="1E7C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2356169"/>
            <a:ext cx="5212080" cy="3200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200" b="1" i="0">
                <a:solidFill>
                  <a:srgbClr val="1E7C3F"/>
                </a:solidFill>
                <a:latin typeface="Calibri"/>
              </a:rPr>
              <a:t>PATH A · probe σ directly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676209"/>
            <a:ext cx="521208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Calibri"/>
              </a:rPr>
              <a:t>MC3.07.22.24_SNaCl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087689"/>
            <a:ext cx="5212080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50" b="0" i="1">
                <a:solidFill>
                  <a:srgbClr val="1A1A1A"/>
                </a:solidFill>
                <a:latin typeface="Calibri"/>
              </a:rPr>
              <a:t>Lp = 8.22    B = 14.68    σ = 0.45    WSSE = 556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453449"/>
            <a:ext cx="5212080" cy="16916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50" b="0" i="0" dirty="0">
                <a:solidFill>
                  <a:srgbClr val="1A1A1A"/>
                </a:solidFill>
                <a:latin typeface="Calibri"/>
              </a:rPr>
              <a:t>Concentrating regime, but the run conditions excited </a:t>
            </a:r>
            <a:r>
              <a:rPr sz="1050" b="0" i="0" dirty="0" err="1">
                <a:solidFill>
                  <a:srgbClr val="1A1A1A"/>
                </a:solidFill>
                <a:latin typeface="Calibri"/>
              </a:rPr>
              <a:t>σ</a:t>
            </a:r>
            <a:r>
              <a:rPr sz="1050" b="0" i="0" dirty="0">
                <a:solidFill>
                  <a:srgbClr val="1A1A1A"/>
                </a:solidFill>
                <a:latin typeface="Calibri"/>
              </a:rPr>
              <a:t> — probably a wider pressure-driving-force sweep, lower feed, or a pressure step.  </a:t>
            </a:r>
            <a:r>
              <a:rPr sz="1050" b="0" i="0" dirty="0" err="1">
                <a:solidFill>
                  <a:srgbClr val="1A1A1A"/>
                </a:solidFill>
                <a:latin typeface="Calibri"/>
              </a:rPr>
              <a:t>σ</a:t>
            </a:r>
            <a:r>
              <a:rPr sz="1050" b="0" i="0" dirty="0">
                <a:solidFill>
                  <a:srgbClr val="1A1A1A"/>
                </a:solidFill>
                <a:latin typeface="Calibri"/>
              </a:rPr>
              <a:t> leaves a fingerprint in the data, so the optimizer finds an interior minimum at </a:t>
            </a:r>
            <a:r>
              <a:rPr sz="1050" b="0" i="0" dirty="0" err="1">
                <a:solidFill>
                  <a:srgbClr val="1A1A1A"/>
                </a:solidFill>
                <a:latin typeface="Calibri"/>
              </a:rPr>
              <a:t>σ</a:t>
            </a:r>
            <a:r>
              <a:rPr sz="1050" b="0" i="0" dirty="0">
                <a:solidFill>
                  <a:srgbClr val="1A1A1A"/>
                </a:solidFill>
                <a:latin typeface="Calibri"/>
              </a:rPr>
              <a:t> = 0.45.  All 5 channels converge.  This is the textbook well-identified case.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2219009"/>
            <a:ext cx="5577840" cy="3017520"/>
          </a:xfrm>
          <a:prstGeom prst="roundRect">
            <a:avLst/>
          </a:prstGeom>
          <a:solidFill>
            <a:srgbClr val="E6F4EA"/>
          </a:solidFill>
          <a:ln w="12700">
            <a:solidFill>
              <a:srgbClr val="1E7C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55080" y="2356169"/>
            <a:ext cx="5212080" cy="3200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200" b="1" i="0">
                <a:solidFill>
                  <a:srgbClr val="1E7C3F"/>
                </a:solidFill>
                <a:latin typeface="Calibri"/>
              </a:rPr>
              <a:t>PATH B · bypass σ (diluting regime)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676209"/>
            <a:ext cx="521208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Calibri"/>
              </a:rPr>
              <a:t>MC5.07.23.24_S2NaCl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3087689"/>
            <a:ext cx="5212080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50" b="0" i="1">
                <a:solidFill>
                  <a:srgbClr val="1A1A1A"/>
                </a:solidFill>
                <a:latin typeface="Calibri"/>
              </a:rPr>
              <a:t>Lp = 7.38    B = 10.14    σ = 0.00 ↓    WSSE = 830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3453449"/>
            <a:ext cx="5212080" cy="16916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Calibri"/>
              </a:rPr>
              <a:t>Diluting regime — cF shrinks over the run, so σ · Δπ → 0 by the end no matter what σ is.  σ literally cannot leave a fingerprint here.  Optimizer drifts to σ = 0 because the gradient is flat, not because data says σ = 0.  Lp is still pinned tightly by the mass channel.  WSSE = 830 — 2nd best in the campaign.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5419409"/>
            <a:ext cx="11338560" cy="68580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1E7C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t"/>
          <a:lstStyle/>
          <a:p>
            <a:pPr algn="l"/>
            <a:r>
              <a:rPr sz="1100" b="1">
                <a:solidFill>
                  <a:srgbClr val="1E7C3F"/>
                </a:solidFill>
              </a:rPr>
              <a:t>Takeaway:  </a:t>
            </a:r>
            <a:r>
              <a:rPr sz="1100" b="0">
                <a:solidFill>
                  <a:srgbClr val="1A1A1A"/>
                </a:solidFill>
              </a:rPr>
              <a:t>Same destination, two different roads.  Path A needs careful experimental design; Path B comes free if you happen to run a diluting experiment.  Either way Lp is trustworthy.  Knowing which path each sheet is on tells us where the σ value can be trusted (Path A) and where σ is unconstrained but irrelevant (Path B).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otre_dam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422136"/>
            <a:ext cx="1280160" cy="29870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274320"/>
            <a:ext cx="77724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400" b="1" i="0">
                <a:solidFill>
                  <a:srgbClr val="8A8A8A"/>
                </a:solidFill>
                <a:latin typeface="Calibri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274320"/>
            <a:ext cx="1051560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200" b="1" i="0" dirty="0">
                <a:solidFill>
                  <a:srgbClr val="1A1A1A"/>
                </a:solidFill>
                <a:latin typeface="Calibri"/>
              </a:rPr>
              <a:t>STAGE 1 (path A) — MC3.07.22.24_SNaCl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822960"/>
            <a:ext cx="105156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interior σ via concentrating run — the gold standard fit (WSSE = 556)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15600" y="274320"/>
            <a:ext cx="1417320" cy="457200"/>
          </a:xfrm>
          <a:prstGeom prst="roundRect">
            <a:avLst/>
          </a:prstGeom>
          <a:solidFill>
            <a:srgbClr val="E6F4EA"/>
          </a:solidFill>
          <a:ln w="12700">
            <a:solidFill>
              <a:srgbClr val="1E7C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sz="1000" b="1">
                <a:solidFill>
                  <a:srgbClr val="1E7C3F"/>
                </a:solidFill>
              </a:rPr>
              <a:t>STAGE 1 · Well-identified</a:t>
            </a:r>
          </a:p>
        </p:txBody>
      </p:sp>
      <p:pic>
        <p:nvPicPr>
          <p:cNvPr id="7" name="Picture 6" descr="objcontour-x_sigma-y_L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127" y="1417320"/>
            <a:ext cx="11521440" cy="296084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11480" y="5248227"/>
            <a:ext cx="11338560" cy="100584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1E7C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t"/>
          <a:lstStyle/>
          <a:p>
            <a:pPr algn="l"/>
            <a:r>
              <a:rPr sz="1100" b="1">
                <a:solidFill>
                  <a:srgbClr val="1E7C3F"/>
                </a:solidFill>
              </a:rPr>
              <a:t>Takeaway:  </a:t>
            </a:r>
            <a:r>
              <a:rPr sz="1100" b="0">
                <a:solidFill>
                  <a:srgbClr val="1A1A1A"/>
                </a:solidFill>
              </a:rPr>
              <a:t>Look at the mass and permeate-concentration panels — both argmin at interior σ (0.86 and 0.64) near Lp ≈ 8.6.  Retentate channels still pin at σ=0 (the 0.3 % cF over-weighting effect), but the joint WSSE is dominated by mass + perm-conc, so the warm-start θ landed interior at σ = 0.45.  This is the only NaCl sheet where σ leaves a real fingerprint.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otre_dam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422136"/>
            <a:ext cx="1280160" cy="29870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274320"/>
            <a:ext cx="77724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400" b="1" i="0">
                <a:solidFill>
                  <a:srgbClr val="8A8A8A"/>
                </a:solidFill>
                <a:latin typeface="Calibri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274320"/>
            <a:ext cx="1051560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STAGE 1 (path B) — MC5.07.23.24_S2NaCl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822960"/>
            <a:ext cx="105156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diluting run — σ harmless, Lp pinned anyway (WSSE = 830)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15600" y="274320"/>
            <a:ext cx="1417320" cy="457200"/>
          </a:xfrm>
          <a:prstGeom prst="roundRect">
            <a:avLst/>
          </a:prstGeom>
          <a:solidFill>
            <a:srgbClr val="E6F4EA"/>
          </a:solidFill>
          <a:ln w="12700">
            <a:solidFill>
              <a:srgbClr val="1E7C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sz="1000" b="1">
                <a:solidFill>
                  <a:srgbClr val="1E7C3F"/>
                </a:solidFill>
              </a:rPr>
              <a:t>STAGE 1 · Well-identified</a:t>
            </a:r>
          </a:p>
        </p:txBody>
      </p:sp>
      <p:pic>
        <p:nvPicPr>
          <p:cNvPr id="7" name="Picture 6" descr="objcontour-x_sigma-y_L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127" y="1417320"/>
            <a:ext cx="11521440" cy="296084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11480" y="5577840"/>
            <a:ext cx="11338560" cy="100584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1E7C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t"/>
          <a:lstStyle/>
          <a:p>
            <a:pPr algn="l"/>
            <a:r>
              <a:rPr sz="1100" b="1">
                <a:solidFill>
                  <a:srgbClr val="1E7C3F"/>
                </a:solidFill>
              </a:rPr>
              <a:t>Takeaway:  </a:t>
            </a:r>
            <a:r>
              <a:rPr sz="1100" b="0">
                <a:solidFill>
                  <a:srgbClr val="1A1A1A"/>
                </a:solidFill>
              </a:rPr>
              <a:t>Four channels argmin at Lp ≈ 7.7 — tight cluster.  σ slides to ~0 because the gradient is flat in the diluting regime (σ·Δπ → 0 at end of run), but Lp is well-identified by the mass channel.  WSSE = 830 — 2nd best in the entire campaign.  Diluting experiments are 'free' identifiability for Lp.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otre_dam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422136"/>
            <a:ext cx="1280160" cy="29870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274320"/>
            <a:ext cx="77724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400" b="1" i="0">
                <a:solidFill>
                  <a:srgbClr val="8A8A8A"/>
                </a:solidFill>
                <a:latin typeface="Calibri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274320"/>
            <a:ext cx="1051560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STAGE 2 — NaCl (the 4 concentrating-regime sheets at the σ=1 wall)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822960"/>
            <a:ext cx="105156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Lp tight (8.6 ± 1.1) but σ pinned — these sheets ran concentrating without probing σ-sensitive conditions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15600" y="274320"/>
            <a:ext cx="1417320" cy="457200"/>
          </a:xfrm>
          <a:prstGeom prst="roundRect">
            <a:avLst/>
          </a:prstGeom>
          <a:solidFill>
            <a:srgbClr val="FDF3D7"/>
          </a:solidFill>
          <a:ln w="12700">
            <a:solidFill>
              <a:srgbClr val="A87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sz="1000" b="1">
                <a:solidFill>
                  <a:srgbClr val="A87000"/>
                </a:solidFill>
              </a:rPr>
              <a:t>STAGE 2 · Inconsistent</a:t>
            </a:r>
          </a:p>
        </p:txBody>
      </p:sp>
      <p:pic>
        <p:nvPicPr>
          <p:cNvPr id="7" name="Picture 6" descr="objcontour-x_sigma-y_L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127" y="1417320"/>
            <a:ext cx="11521440" cy="295209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11480" y="5577840"/>
            <a:ext cx="11338560" cy="100584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A87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t"/>
          <a:lstStyle/>
          <a:p>
            <a:pPr algn="l"/>
            <a:r>
              <a:rPr sz="1100" b="1">
                <a:solidFill>
                  <a:srgbClr val="A87000"/>
                </a:solidFill>
              </a:rPr>
              <a:t>Takeaway:  </a:t>
            </a:r>
            <a:r>
              <a:rPr sz="1100" b="0">
                <a:solidFill>
                  <a:srgbClr val="1A1A1A"/>
                </a:solidFill>
              </a:rPr>
              <a:t>MC2 NaCl shown here — same story on MC5 NaCl, MC5 SNaCl, and the concentrating part of MC4 SNaCl.  4 of 5 channels converge on Lp ≈ 9.95 (Lp well-identified), but σ pins at the σ=1 wall and the wall is hiding a B-vs-Lp trade-off.  Concentrating regime + no σ-probing conditions = inconsistent across channels.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otre_dam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422136"/>
            <a:ext cx="1280160" cy="29870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274320"/>
            <a:ext cx="77724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400" b="1" i="0">
                <a:solidFill>
                  <a:srgbClr val="8A8A8A"/>
                </a:solidFill>
                <a:latin typeface="Calibri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274320"/>
            <a:ext cx="1051560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STAGE 2 — CaCl₂ (all 3 sheets)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822960"/>
            <a:ext cx="105156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every sheet pins σ at σ=1 wall in the warm-start fit;  contour shows channels split by membrane side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15600" y="274320"/>
            <a:ext cx="1417320" cy="457200"/>
          </a:xfrm>
          <a:prstGeom prst="roundRect">
            <a:avLst/>
          </a:prstGeom>
          <a:solidFill>
            <a:srgbClr val="FDF3D7"/>
          </a:solidFill>
          <a:ln w="12700">
            <a:solidFill>
              <a:srgbClr val="A87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sz="1000" b="1">
                <a:solidFill>
                  <a:srgbClr val="A87000"/>
                </a:solidFill>
              </a:rPr>
              <a:t>STAGE 2 · Inconsistent</a:t>
            </a:r>
          </a:p>
        </p:txBody>
      </p:sp>
      <p:pic>
        <p:nvPicPr>
          <p:cNvPr id="7" name="Picture 6" descr="objcontour-x_sigma-y_L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127" y="1417320"/>
            <a:ext cx="11521440" cy="296586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11480" y="5577840"/>
            <a:ext cx="11338560" cy="100584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A87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t"/>
          <a:lstStyle/>
          <a:p>
            <a:pPr algn="l"/>
            <a:r>
              <a:rPr sz="1100" b="1">
                <a:solidFill>
                  <a:srgbClr val="A87000"/>
                </a:solidFill>
              </a:rPr>
              <a:t>Takeaway:  </a:t>
            </a:r>
            <a:r>
              <a:rPr sz="1100" b="0">
                <a:solidFill>
                  <a:srgbClr val="1A1A1A"/>
                </a:solidFill>
              </a:rPr>
              <a:t>All 3 CaCl₂ sheets pin σ at σ=1 (and one pins B at the upper bound too).  Physics expects interior σ (divalent counter-ion → weaker Donnan exclusion → lower σ on NF270) — pinning at σ=1 is a weighting problem, not a model-form problem.  Both permeate channels want σ=0; both retentate channels want σ=1.  Split by membrane side, not by physics.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otre_dam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422136"/>
            <a:ext cx="1280160" cy="29870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274320"/>
            <a:ext cx="77724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400" b="1" i="0">
                <a:solidFill>
                  <a:srgbClr val="8A8A8A"/>
                </a:solidFill>
                <a:latin typeface="Calibri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274320"/>
            <a:ext cx="1051560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200" b="1" i="0" dirty="0">
                <a:solidFill>
                  <a:srgbClr val="1A1A1A"/>
                </a:solidFill>
                <a:latin typeface="Calibri"/>
              </a:rPr>
              <a:t>STAGE 3 — </a:t>
            </a:r>
            <a:r>
              <a:rPr sz="2200" b="1" i="0" dirty="0" err="1">
                <a:solidFill>
                  <a:srgbClr val="1A1A1A"/>
                </a:solidFill>
                <a:latin typeface="Calibri"/>
              </a:rPr>
              <a:t>LaCl</a:t>
            </a:r>
            <a:r>
              <a:rPr sz="2200" b="1" i="0" dirty="0">
                <a:solidFill>
                  <a:srgbClr val="1A1A1A"/>
                </a:solidFill>
                <a:latin typeface="Calibri"/>
              </a:rPr>
              <a:t>₃ (both sheets)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822960"/>
            <a:ext cx="105156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warm-start θ nearly identical between sheets, but WSSE ~20× worse than NaCl gold standard → shared wrong-model bias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15600" y="274320"/>
            <a:ext cx="1417320" cy="457200"/>
          </a:xfrm>
          <a:prstGeom prst="roundRect">
            <a:avLst/>
          </a:prstGeom>
          <a:solidFill>
            <a:srgbClr val="FCE3E3"/>
          </a:solidFill>
          <a:ln w="12700">
            <a:solidFill>
              <a:srgbClr val="B0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sz="1000" b="1">
                <a:solidFill>
                  <a:srgbClr val="B02121"/>
                </a:solidFill>
              </a:rPr>
              <a:t>STAGE 3 · Not estimable</a:t>
            </a:r>
          </a:p>
        </p:txBody>
      </p:sp>
      <p:pic>
        <p:nvPicPr>
          <p:cNvPr id="7" name="Picture 6" descr="objcontour-x_sigma-y_L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127" y="1417320"/>
            <a:ext cx="11521440" cy="296586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11480" y="5577840"/>
            <a:ext cx="11338560" cy="109728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B0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t"/>
          <a:lstStyle/>
          <a:p>
            <a:pPr algn="l"/>
            <a:r>
              <a:rPr sz="1100" b="1">
                <a:solidFill>
                  <a:srgbClr val="B02121"/>
                </a:solidFill>
              </a:rPr>
              <a:t>Takeaway:  </a:t>
            </a:r>
            <a:r>
              <a:rPr sz="1100" b="0">
                <a:solidFill>
                  <a:srgbClr val="1A1A1A"/>
                </a:solidFill>
              </a:rPr>
              <a:t>Both LaCl₃ sheets warm-start to nearly identical θ — but fit the data ~20× worse than NaCl MC3 SNaCl.  Same wrong-model bias both times, not measurement noise.  The constant-(σ, B) Spiegler-Kedem model is structurally wrong for trivalent ions — probably because of LaCl²⁺ / LaCl⁺ ion-pairing the model can't see.  AND we only have 2 sheets:  that's an anecdote, not a sample size.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otre_dam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422136"/>
            <a:ext cx="1280160" cy="29870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274320"/>
            <a:ext cx="77724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400" b="1" i="0">
                <a:solidFill>
                  <a:srgbClr val="8A8A8A"/>
                </a:solidFill>
                <a:latin typeface="Calibri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274320"/>
            <a:ext cx="1051560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WHAT DATA SHOULD WE COLLECT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822960"/>
            <a:ext cx="105156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what would unblock the campaign — prioritized by leverage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417320"/>
            <a:ext cx="11338560" cy="1508760"/>
          </a:xfrm>
          <a:prstGeom prst="roundRect">
            <a:avLst/>
          </a:prstGeom>
          <a:solidFill>
            <a:srgbClr val="E6F4EA"/>
          </a:solidFill>
          <a:ln w="12700">
            <a:solidFill>
              <a:srgbClr val="1E7C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508760"/>
            <a:ext cx="1463040" cy="3200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100" b="1" i="0">
                <a:solidFill>
                  <a:srgbClr val="1E7C3F"/>
                </a:solidFill>
                <a:latin typeface="Calibri"/>
              </a:rPr>
              <a:t>PRIORITY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1508760"/>
            <a:ext cx="9555480" cy="3200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"/>
              </a:rPr>
              <a:t>Pure-water L_p before and after every run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74519"/>
            <a:ext cx="11064240" cy="9601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Calibri"/>
              </a:rPr>
              <a:t>Single highest-leverage experiment.  Pins L_p independently of the salt-transport data so σ and B don't have to compensate for it.  Also doubles as a fouling check — if pre-run and post-run L_p drift, we know the membrane changed during the experiment and the constant-parameter fit was never going to work.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3108960"/>
            <a:ext cx="11338560" cy="1508760"/>
          </a:xfrm>
          <a:prstGeom prst="roundRect">
            <a:avLst/>
          </a:prstGeom>
          <a:solidFill>
            <a:srgbClr val="FDF3D7"/>
          </a:solidFill>
          <a:ln w="12700">
            <a:solidFill>
              <a:srgbClr val="A87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3200400"/>
            <a:ext cx="1463040" cy="3200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100" b="1" i="0">
                <a:solidFill>
                  <a:srgbClr val="A87000"/>
                </a:solidFill>
                <a:latin typeface="Calibri"/>
              </a:rPr>
              <a:t>PRIORITY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3200400"/>
            <a:ext cx="9555480" cy="3200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"/>
              </a:rPr>
              <a:t>Multi-pressure sweeps within a single run  +  dilute concentration runs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566160"/>
            <a:ext cx="11064240" cy="9601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Calibri"/>
              </a:rPr>
              <a:t>Pinning σ for CaCl₂ and LaCl₃ requires breaking the σ-B correlation.  σ couples to Δπ, B doesn't — so stepping ΔP across a wide range during one run changes the relative leverage of σ vs B.  Dilute runs (1-5 mM NaCl, sub-mM LaCl₃) push into the diffusion-limited regime where σ identifies.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4800600"/>
            <a:ext cx="11338560" cy="1508760"/>
          </a:xfrm>
          <a:prstGeom prst="roundRect">
            <a:avLst/>
          </a:prstGeom>
          <a:solidFill>
            <a:srgbClr val="FCE3E3"/>
          </a:solidFill>
          <a:ln w="12700">
            <a:solidFill>
              <a:srgbClr val="B0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4892040"/>
            <a:ext cx="1463040" cy="3200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100" b="1" i="0">
                <a:solidFill>
                  <a:srgbClr val="B02121"/>
                </a:solidFill>
                <a:latin typeface="Calibri"/>
              </a:rPr>
              <a:t>PRIORITY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4892040"/>
            <a:ext cx="9555480" cy="3200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"/>
              </a:rPr>
              <a:t>3-5 more LaCl₃ sheets + retentate-side conductivity probe + UV-Vis / ICP speciation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257800"/>
            <a:ext cx="11064240" cy="9601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Calibri"/>
              </a:rPr>
              <a:t>n = 2 LaCl₃ sheets is not statistics — we need at least 5 before any 'not estimable' claim carries weight.  Adding high-frequency conductivity on the retentate (we only have it on permeate) eliminates the CaCl₂ side-split weighting problem.  Speciation directly tests the LaCl²⁺ / LaCl⁺ ion-pairing hypothesis rather than inferring it from model failure.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otre_dam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422136"/>
            <a:ext cx="1280160" cy="29870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274320"/>
            <a:ext cx="77724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400" b="1" i="0">
                <a:solidFill>
                  <a:srgbClr val="8A8A8A"/>
                </a:solidFill>
                <a:latin typeface="Calibri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274320"/>
            <a:ext cx="1051560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QUESTIONS FOR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822960"/>
            <a:ext cx="105156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what I'd like your read on before the campaign re-run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371600"/>
            <a:ext cx="457200" cy="3200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Calibri"/>
              </a:rPr>
              <a:t>1.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71600"/>
            <a:ext cx="10972800" cy="3200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250" b="1" i="0">
                <a:solidFill>
                  <a:srgbClr val="1A1A1A"/>
                </a:solidFill>
                <a:latin typeface="Calibri"/>
              </a:rPr>
              <a:t>Does the 3-stage diagnosis match what you'd intuit physically?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64208"/>
            <a:ext cx="10972800" cy="6858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Anionic NF270 + chloride co-ion + increasing cation valence → identifiability should degrade with valence.  That's what we see.  But is the σ=1 wall on the NaCl/CaCl₂ sheets really a regime problem, or is it the 0.3 % cF scaling forcing the optimizer there?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377440"/>
            <a:ext cx="457200" cy="3200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Calibri"/>
              </a:rPr>
              <a:t>2.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77440"/>
            <a:ext cx="10972800" cy="3200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250" b="1" i="0">
                <a:solidFill>
                  <a:srgbClr val="1A1A1A"/>
                </a:solidFill>
                <a:latin typeface="Calibri"/>
              </a:rPr>
              <a:t>MC3 SNaCl and MC5 S2NaCl — two different paths to well-identified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670048"/>
            <a:ext cx="10972800" cy="6858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MC3 SNaCl probed σ-sensitive conditions and got interior σ = 0.45.  MC5 S2NaCl ran diluting so σ was irrelevant — same Lp identifiability for free.  What do the run-sheet metadata show that's different from the other 4 NaCl sheets?  Pressure span, feed concentration, run duration?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3383280"/>
            <a:ext cx="457200" cy="3200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Calibri"/>
              </a:rPr>
              <a:t>2b.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383280"/>
            <a:ext cx="10972800" cy="3200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250" b="1" i="0">
                <a:solidFill>
                  <a:srgbClr val="1A1A1A"/>
                </a:solidFill>
                <a:latin typeface="Calibri"/>
              </a:rPr>
              <a:t>MC4 SNaCl — diluting but poor fit (WSSE = 9536)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675888"/>
            <a:ext cx="10972800" cy="6858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MC4 SNaCl looks like a diluting-regime run (σ = 0 wall), but its WSSE is ~10× worse than MC5 S2NaCl.  Same regime, same salt, same membrane — different fit quality.  Likely a data-quality issue (fouling, leak, calibration drift) rather than a model issue.  Worth a closer look.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4389120"/>
            <a:ext cx="457200" cy="3200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Calibri"/>
              </a:rPr>
              <a:t>3.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389120"/>
            <a:ext cx="10972800" cy="3200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250" b="1" i="0">
                <a:solidFill>
                  <a:srgbClr val="1A1A1A"/>
                </a:solidFill>
                <a:latin typeface="Calibri"/>
              </a:rPr>
              <a:t>LaCl₃ ion-pairing fix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681728"/>
            <a:ext cx="10972800" cy="6858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Stage 3 confirms the v10-deck slide 12 'physics gap' diagnosis.  Should we (a) parameterize σ(cF) explicitly, (b) add an ion-pairing equilibrium block with LaCl²⁺ / LaCl⁺ partition, or (c) fit only the diluting-regime portion?  Need at least 3-5 more LaCl₃ sheets either way.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5394960"/>
            <a:ext cx="457200" cy="3200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Calibri"/>
              </a:rPr>
              <a:t>4.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394960"/>
            <a:ext cx="10972800" cy="3200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250" b="1" i="0">
                <a:solidFill>
                  <a:srgbClr val="1A1A1A"/>
                </a:solidFill>
                <a:latin typeface="Calibri"/>
              </a:rPr>
              <a:t>Priority 1 data — pure-water L_p calibration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687568"/>
            <a:ext cx="10972800" cy="6858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I think this is the single highest-leverage experiment.  Is it feasible to add to every NF270 run going forward?  Roughly:  10 minutes of DI water at the operating ΔP before and after the salt run.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6400800"/>
            <a:ext cx="457200" cy="3200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Calibri"/>
              </a:rPr>
              <a:t>5.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6400800"/>
            <a:ext cx="10972800" cy="3200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250" b="1" i="0">
                <a:solidFill>
                  <a:srgbClr val="1A1A1A"/>
                </a:solidFill>
                <a:latin typeface="Calibri"/>
              </a:rPr>
              <a:t>Per-salt B bounds in the optimizer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6693408"/>
            <a:ext cx="10972800" cy="6858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We've landed NaCl [0, 30], CaCl₂ [0, 15], LaCl₃ [0, 10] in the library (Architecture.md §17).  Anything you'd revise before re-running the full campaign?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otre_dam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422136"/>
            <a:ext cx="1280160" cy="29870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274320"/>
            <a:ext cx="77724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400" b="1" i="0">
                <a:solidFill>
                  <a:srgbClr val="8A8A8A"/>
                </a:solidFill>
                <a:latin typeface="Calibri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274320"/>
            <a:ext cx="1051560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ALL 11 SHEETS — σ × Lp small-multiples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649225"/>
            <a:ext cx="105156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0" i="1" dirty="0">
                <a:solidFill>
                  <a:srgbClr val="555555"/>
                </a:solidFill>
                <a:latin typeface="Calibri"/>
              </a:rPr>
              <a:t>every sheet's contour, color-tabbed by stage — visual evidence for the categorization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03970"/>
            <a:ext cx="2889504" cy="1892807"/>
          </a:xfrm>
          <a:prstGeom prst="rect">
            <a:avLst/>
          </a:prstGeom>
          <a:solidFill>
            <a:srgbClr val="FFFFFF"/>
          </a:solidFill>
          <a:ln w="19050">
            <a:solidFill>
              <a:srgbClr val="1E7C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objcontour-x_sigma-y_L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931402"/>
            <a:ext cx="2834640" cy="1600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" y="2549890"/>
            <a:ext cx="2834640" cy="2286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000" b="1" i="0">
                <a:solidFill>
                  <a:srgbClr val="1E7C3F"/>
                </a:solidFill>
                <a:latin typeface="Calibri"/>
              </a:rPr>
              <a:t>MC3 SNaCl</a:t>
            </a:r>
          </a:p>
        </p:txBody>
      </p:sp>
      <p:sp>
        <p:nvSpPr>
          <p:cNvPr id="9" name="Rectangle 8"/>
          <p:cNvSpPr/>
          <p:nvPr/>
        </p:nvSpPr>
        <p:spPr>
          <a:xfrm>
            <a:off x="3264408" y="903970"/>
            <a:ext cx="2889504" cy="1892807"/>
          </a:xfrm>
          <a:prstGeom prst="rect">
            <a:avLst/>
          </a:prstGeom>
          <a:solidFill>
            <a:srgbClr val="FFFFFF"/>
          </a:solidFill>
          <a:ln w="19050">
            <a:solidFill>
              <a:srgbClr val="1E7C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objcontour-x_sigma-y_L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0" y="931402"/>
            <a:ext cx="2834640" cy="1600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291840" y="2549890"/>
            <a:ext cx="2834640" cy="2286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000" b="1" i="0">
                <a:solidFill>
                  <a:srgbClr val="1E7C3F"/>
                </a:solidFill>
                <a:latin typeface="Calibri"/>
              </a:rPr>
              <a:t>MC5 S2NaCl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44768" y="903970"/>
            <a:ext cx="2889504" cy="1892807"/>
          </a:xfrm>
          <a:prstGeom prst="rect">
            <a:avLst/>
          </a:prstGeom>
          <a:solidFill>
            <a:srgbClr val="FFFFFF"/>
          </a:solidFill>
          <a:ln w="19050">
            <a:solidFill>
              <a:srgbClr val="A87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objcontour-x_sigma-y_L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931402"/>
            <a:ext cx="2834640" cy="16002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172200" y="2549890"/>
            <a:ext cx="2834640" cy="2286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000" b="1" i="0">
                <a:solidFill>
                  <a:srgbClr val="A87000"/>
                </a:solidFill>
                <a:latin typeface="Calibri"/>
              </a:rPr>
              <a:t>MC2 NaCl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25128" y="903970"/>
            <a:ext cx="2889504" cy="1892807"/>
          </a:xfrm>
          <a:prstGeom prst="rect">
            <a:avLst/>
          </a:prstGeom>
          <a:solidFill>
            <a:srgbClr val="FFFFFF"/>
          </a:solidFill>
          <a:ln w="19050">
            <a:solidFill>
              <a:srgbClr val="A87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objcontour-x_sigma-y_L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52559" y="931402"/>
            <a:ext cx="2834640" cy="16002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052559" y="2549890"/>
            <a:ext cx="2834640" cy="2286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000" b="1" i="0">
                <a:solidFill>
                  <a:srgbClr val="A87000"/>
                </a:solidFill>
                <a:latin typeface="Calibri"/>
              </a:rPr>
              <a:t>MC4 SNaCl ⚠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4048" y="2824210"/>
            <a:ext cx="2889504" cy="1892807"/>
          </a:xfrm>
          <a:prstGeom prst="rect">
            <a:avLst/>
          </a:prstGeom>
          <a:solidFill>
            <a:srgbClr val="FFFFFF"/>
          </a:solidFill>
          <a:ln w="19050">
            <a:solidFill>
              <a:srgbClr val="A87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objcontour-x_sigma-y_L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480" y="2851642"/>
            <a:ext cx="2834640" cy="16002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11480" y="4470130"/>
            <a:ext cx="2834640" cy="2286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000" b="1" i="0">
                <a:solidFill>
                  <a:srgbClr val="A87000"/>
                </a:solidFill>
                <a:latin typeface="Calibri"/>
              </a:rPr>
              <a:t>MC5 NaCl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64408" y="2824210"/>
            <a:ext cx="2889504" cy="1892807"/>
          </a:xfrm>
          <a:prstGeom prst="rect">
            <a:avLst/>
          </a:prstGeom>
          <a:solidFill>
            <a:srgbClr val="FFFFFF"/>
          </a:solidFill>
          <a:ln w="19050">
            <a:solidFill>
              <a:srgbClr val="A87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objcontour-x_sigma-y_L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91840" y="2851642"/>
            <a:ext cx="2834640" cy="16002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3291840" y="4470130"/>
            <a:ext cx="2834640" cy="2286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000" b="1" i="0">
                <a:solidFill>
                  <a:srgbClr val="A87000"/>
                </a:solidFill>
                <a:latin typeface="Calibri"/>
              </a:rPr>
              <a:t>MC5 SNaCl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44768" y="2824210"/>
            <a:ext cx="2889504" cy="1892807"/>
          </a:xfrm>
          <a:prstGeom prst="rect">
            <a:avLst/>
          </a:prstGeom>
          <a:solidFill>
            <a:srgbClr val="FFFFFF"/>
          </a:solidFill>
          <a:ln w="19050">
            <a:solidFill>
              <a:srgbClr val="A87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objcontour-x_sigma-y_Lp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72200" y="2851642"/>
            <a:ext cx="2834640" cy="16002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172200" y="4470130"/>
            <a:ext cx="2834640" cy="2286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000" b="1" i="0">
                <a:solidFill>
                  <a:srgbClr val="A87000"/>
                </a:solidFill>
                <a:latin typeface="Calibri"/>
              </a:rPr>
              <a:t>MC2 CaCl₂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25128" y="2824210"/>
            <a:ext cx="2889504" cy="1892807"/>
          </a:xfrm>
          <a:prstGeom prst="rect">
            <a:avLst/>
          </a:prstGeom>
          <a:solidFill>
            <a:srgbClr val="FFFFFF"/>
          </a:solidFill>
          <a:ln w="19050">
            <a:solidFill>
              <a:srgbClr val="A87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objcontour-x_sigma-y_Lp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52559" y="2851642"/>
            <a:ext cx="2834640" cy="16002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9052559" y="4470130"/>
            <a:ext cx="2834640" cy="2286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000" b="1" i="0">
                <a:solidFill>
                  <a:srgbClr val="A87000"/>
                </a:solidFill>
                <a:latin typeface="Calibri"/>
              </a:rPr>
              <a:t>MC3 SCaCl₂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4048" y="4744450"/>
            <a:ext cx="2889504" cy="1892807"/>
          </a:xfrm>
          <a:prstGeom prst="rect">
            <a:avLst/>
          </a:prstGeom>
          <a:solidFill>
            <a:srgbClr val="FFFFFF"/>
          </a:solidFill>
          <a:ln w="19050">
            <a:solidFill>
              <a:srgbClr val="A87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30" descr="objcontour-x_sigma-y_Lp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1480" y="4771882"/>
            <a:ext cx="2834640" cy="16002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11480" y="6390370"/>
            <a:ext cx="2834640" cy="2286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000" b="1" i="0">
                <a:solidFill>
                  <a:srgbClr val="A87000"/>
                </a:solidFill>
                <a:latin typeface="Calibri"/>
              </a:rPr>
              <a:t>MC3 S2CaCl₂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64408" y="4744450"/>
            <a:ext cx="2889504" cy="1892807"/>
          </a:xfrm>
          <a:prstGeom prst="rect">
            <a:avLst/>
          </a:prstGeom>
          <a:solidFill>
            <a:srgbClr val="FFFFFF"/>
          </a:solidFill>
          <a:ln w="19050">
            <a:solidFill>
              <a:srgbClr val="B021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Picture 33" descr="objcontour-x_sigma-y_Lp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291840" y="4771882"/>
            <a:ext cx="2834640" cy="16002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3291840" y="6390370"/>
            <a:ext cx="2834640" cy="2286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000" b="1" i="0">
                <a:solidFill>
                  <a:srgbClr val="B02121"/>
                </a:solidFill>
                <a:latin typeface="Calibri"/>
              </a:rPr>
              <a:t>MC2 LaCl₃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44768" y="4744450"/>
            <a:ext cx="2889504" cy="1892807"/>
          </a:xfrm>
          <a:prstGeom prst="rect">
            <a:avLst/>
          </a:prstGeom>
          <a:solidFill>
            <a:srgbClr val="FFFFFF"/>
          </a:solidFill>
          <a:ln w="19050">
            <a:solidFill>
              <a:srgbClr val="B021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7" name="Picture 36" descr="objcontour-x_sigma-y_Lp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172200" y="4771882"/>
            <a:ext cx="2834640" cy="16002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6172200" y="6390370"/>
            <a:ext cx="2834640" cy="2286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000" b="1" i="0">
                <a:solidFill>
                  <a:srgbClr val="B02121"/>
                </a:solidFill>
                <a:latin typeface="Calibri"/>
              </a:rPr>
              <a:t>MC4 SLaCl₃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otre_dam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422136"/>
            <a:ext cx="1280160" cy="29870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274320"/>
            <a:ext cx="77724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400" b="1" i="0">
                <a:solidFill>
                  <a:srgbClr val="8A8A8A"/>
                </a:solidFill>
                <a:latin typeface="Calibri"/>
              </a:rPr>
              <a:t>A1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274320"/>
            <a:ext cx="1051560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APPENDIX — MC2 NaCl B × Lp contour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822960"/>
            <a:ext cx="105156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σ fixed at warm-start (σ=1) · B × Lp swept · supports the 'σ=1 wall hides B-Lp trade-off' claim</a:t>
            </a:r>
          </a:p>
        </p:txBody>
      </p:sp>
      <p:pic>
        <p:nvPicPr>
          <p:cNvPr id="6" name="Picture 5" descr="objcontour-x_B-y_L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127" y="1417320"/>
            <a:ext cx="11521440" cy="295084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otre_dam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422136"/>
            <a:ext cx="1280160" cy="29870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274320"/>
            <a:ext cx="77724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400" b="1" i="0">
                <a:solidFill>
                  <a:srgbClr val="8A8A8A"/>
                </a:solidFill>
                <a:latin typeface="Calibri"/>
              </a:rPr>
              <a:t>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274320"/>
            <a:ext cx="1051560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APPENDIX — MC2 NaCl B × σ contour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822960"/>
            <a:ext cx="105156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Lp fixed at warm-start (Lp=9.95) · B × σ swept · mass argmins at interior σ ≈ 0.32 — interesting</a:t>
            </a:r>
          </a:p>
        </p:txBody>
      </p:sp>
      <p:pic>
        <p:nvPicPr>
          <p:cNvPr id="6" name="Picture 5" descr="objcontour-x_B-y_sig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127" y="1417320"/>
            <a:ext cx="11521440" cy="295646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otre_dam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422136"/>
            <a:ext cx="1280160" cy="29870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274320"/>
            <a:ext cx="77724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400" b="1" i="0">
                <a:solidFill>
                  <a:srgbClr val="8A8A8A"/>
                </a:solidFill>
                <a:latin typeface="Calibri"/>
              </a:rPr>
              <a:t>A3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274320"/>
            <a:ext cx="1051560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APPENDIX — 3D L_p × B × σ slice composite, NaCl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822960"/>
            <a:ext cx="105156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10 σ-slices × 3 channels.  Confirms the σ × Lp basin structure.</a:t>
            </a:r>
          </a:p>
        </p:txBody>
      </p:sp>
      <p:pic>
        <p:nvPicPr>
          <p:cNvPr id="6" name="Picture 5" descr="MC2.05.07.24_NaCl_grid3d_slic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0296" y="1417320"/>
            <a:ext cx="2351101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A1FE13-FD76-5D67-66E2-130D56820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otre_dame_logo.png">
            <a:extLst>
              <a:ext uri="{FF2B5EF4-FFF2-40B4-BE49-F238E27FC236}">
                <a16:creationId xmlns:a16="http://schemas.microsoft.com/office/drawing/2014/main" id="{3B55A06C-44D2-E5EB-11CC-0E73F7AF68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422136"/>
            <a:ext cx="1280160" cy="29870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37C6CF7-E578-70A1-D439-24E23C0CFAED}"/>
              </a:ext>
            </a:extLst>
          </p:cNvPr>
          <p:cNvSpPr txBox="1"/>
          <p:nvPr/>
        </p:nvSpPr>
        <p:spPr>
          <a:xfrm>
            <a:off x="411480" y="274320"/>
            <a:ext cx="77724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400" b="1" i="0">
                <a:solidFill>
                  <a:srgbClr val="8A8A8A"/>
                </a:solidFill>
                <a:latin typeface="Calibri"/>
              </a:rPr>
              <a:t>A3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0357CA-A9F0-F1FF-15D8-AAE6125F457D}"/>
              </a:ext>
            </a:extLst>
          </p:cNvPr>
          <p:cNvSpPr txBox="1"/>
          <p:nvPr/>
        </p:nvSpPr>
        <p:spPr>
          <a:xfrm>
            <a:off x="1234440" y="274320"/>
            <a:ext cx="1051560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APPENDIX — 3D L_p × B × σ slice composite, NaCl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61F07A-AF82-BB6C-7B97-D93D25E6DD19}"/>
              </a:ext>
            </a:extLst>
          </p:cNvPr>
          <p:cNvSpPr txBox="1"/>
          <p:nvPr/>
        </p:nvSpPr>
        <p:spPr>
          <a:xfrm>
            <a:off x="1234440" y="822960"/>
            <a:ext cx="105156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10 σ-slices × 3 channels.  Confirms the σ × Lp basin structure.</a:t>
            </a:r>
          </a:p>
        </p:txBody>
      </p:sp>
      <p:pic>
        <p:nvPicPr>
          <p:cNvPr id="6" name="Picture 5" descr="MC2.05.07.24_NaCl_grid3d_slices.png">
            <a:extLst>
              <a:ext uri="{FF2B5EF4-FFF2-40B4-BE49-F238E27FC236}">
                <a16:creationId xmlns:a16="http://schemas.microsoft.com/office/drawing/2014/main" id="{FF7FD08F-4BD0-55F2-5604-64F70766049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88780"/>
          <a:stretch>
            <a:fillRect/>
          </a:stretch>
        </p:blipFill>
        <p:spPr>
          <a:xfrm>
            <a:off x="0" y="1820424"/>
            <a:ext cx="12263718" cy="305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3374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A6E025-781B-2784-A338-F8D8D531A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otre_dame_logo.png">
            <a:extLst>
              <a:ext uri="{FF2B5EF4-FFF2-40B4-BE49-F238E27FC236}">
                <a16:creationId xmlns:a16="http://schemas.microsoft.com/office/drawing/2014/main" id="{B2E7CDA8-3DAA-F887-816B-DF00463379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422136"/>
            <a:ext cx="1280160" cy="29870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C9561D7-5FAB-9E0D-1CA2-01C158A785A4}"/>
              </a:ext>
            </a:extLst>
          </p:cNvPr>
          <p:cNvSpPr txBox="1"/>
          <p:nvPr/>
        </p:nvSpPr>
        <p:spPr>
          <a:xfrm>
            <a:off x="411480" y="274320"/>
            <a:ext cx="77724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400" b="1" i="0">
                <a:solidFill>
                  <a:srgbClr val="8A8A8A"/>
                </a:solidFill>
                <a:latin typeface="Calibri"/>
              </a:rPr>
              <a:t>A3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29C70D-0C53-2602-0ADD-6EB45C2EEF7C}"/>
              </a:ext>
            </a:extLst>
          </p:cNvPr>
          <p:cNvSpPr txBox="1"/>
          <p:nvPr/>
        </p:nvSpPr>
        <p:spPr>
          <a:xfrm>
            <a:off x="1234440" y="274320"/>
            <a:ext cx="1051560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APPENDIX — 3D L_p × B × σ slice composite, NaCl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63BE66-3939-C108-DB93-3F94E3F05F7A}"/>
              </a:ext>
            </a:extLst>
          </p:cNvPr>
          <p:cNvSpPr txBox="1"/>
          <p:nvPr/>
        </p:nvSpPr>
        <p:spPr>
          <a:xfrm>
            <a:off x="1234440" y="822960"/>
            <a:ext cx="105156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10 σ-slices × 3 channels.  Confirms the σ × Lp basin structure.</a:t>
            </a:r>
          </a:p>
        </p:txBody>
      </p:sp>
      <p:pic>
        <p:nvPicPr>
          <p:cNvPr id="6" name="Picture 5" descr="MC2.05.07.24_NaCl_grid3d_slices.png">
            <a:extLst>
              <a:ext uri="{FF2B5EF4-FFF2-40B4-BE49-F238E27FC236}">
                <a16:creationId xmlns:a16="http://schemas.microsoft.com/office/drawing/2014/main" id="{1D1576F5-905F-9FDD-6E67-3EB6FB150D9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991" b="78804"/>
          <a:stretch>
            <a:fillRect/>
          </a:stretch>
        </p:blipFill>
        <p:spPr>
          <a:xfrm>
            <a:off x="0" y="1870635"/>
            <a:ext cx="12283845" cy="2779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3331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504996-722F-E804-D236-401A557DB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otre_dame_logo.png">
            <a:extLst>
              <a:ext uri="{FF2B5EF4-FFF2-40B4-BE49-F238E27FC236}">
                <a16:creationId xmlns:a16="http://schemas.microsoft.com/office/drawing/2014/main" id="{B273DD22-B074-6D64-3C26-75C976787A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422136"/>
            <a:ext cx="1280160" cy="29870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5BEE369-48B9-9B50-57C6-344465E37043}"/>
              </a:ext>
            </a:extLst>
          </p:cNvPr>
          <p:cNvSpPr txBox="1"/>
          <p:nvPr/>
        </p:nvSpPr>
        <p:spPr>
          <a:xfrm>
            <a:off x="411480" y="274320"/>
            <a:ext cx="77724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400" b="1" i="0">
                <a:solidFill>
                  <a:srgbClr val="8A8A8A"/>
                </a:solidFill>
                <a:latin typeface="Calibri"/>
              </a:rPr>
              <a:t>A3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7398AE-1042-455B-AE79-E7F365950725}"/>
              </a:ext>
            </a:extLst>
          </p:cNvPr>
          <p:cNvSpPr txBox="1"/>
          <p:nvPr/>
        </p:nvSpPr>
        <p:spPr>
          <a:xfrm>
            <a:off x="1234440" y="274320"/>
            <a:ext cx="1051560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APPENDIX — 3D L_p × B × σ slice composite, NaCl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4BC4E0-CB71-5B6A-5E77-9ECACF6F1A96}"/>
              </a:ext>
            </a:extLst>
          </p:cNvPr>
          <p:cNvSpPr txBox="1"/>
          <p:nvPr/>
        </p:nvSpPr>
        <p:spPr>
          <a:xfrm>
            <a:off x="1234440" y="822960"/>
            <a:ext cx="105156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10 σ-slices × 3 channels.  Confirms the σ × Lp basin structure.</a:t>
            </a:r>
          </a:p>
        </p:txBody>
      </p:sp>
      <p:pic>
        <p:nvPicPr>
          <p:cNvPr id="6" name="Picture 5" descr="MC2.05.07.24_NaCl_grid3d_slices.png">
            <a:extLst>
              <a:ext uri="{FF2B5EF4-FFF2-40B4-BE49-F238E27FC236}">
                <a16:creationId xmlns:a16="http://schemas.microsoft.com/office/drawing/2014/main" id="{1C6C8F19-F7A1-C8A3-1514-7C2D7B53224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0852" b="69172"/>
          <a:stretch>
            <a:fillRect/>
          </a:stretch>
        </p:blipFill>
        <p:spPr>
          <a:xfrm>
            <a:off x="13169" y="2101122"/>
            <a:ext cx="12226643" cy="2703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12781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0BF3BA-0620-DF47-744A-6AB961686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otre_dame_logo.png">
            <a:extLst>
              <a:ext uri="{FF2B5EF4-FFF2-40B4-BE49-F238E27FC236}">
                <a16:creationId xmlns:a16="http://schemas.microsoft.com/office/drawing/2014/main" id="{54BA47AD-B7CE-A3A9-FAFF-BB30C10838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422136"/>
            <a:ext cx="1280160" cy="29870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B852CCC-D82B-927E-874A-43D09CD40D90}"/>
              </a:ext>
            </a:extLst>
          </p:cNvPr>
          <p:cNvSpPr txBox="1"/>
          <p:nvPr/>
        </p:nvSpPr>
        <p:spPr>
          <a:xfrm>
            <a:off x="411480" y="274320"/>
            <a:ext cx="77724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400" b="1" i="0">
                <a:solidFill>
                  <a:srgbClr val="8A8A8A"/>
                </a:solidFill>
                <a:latin typeface="Calibri"/>
              </a:rPr>
              <a:t>A3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B7E031-1B24-38AF-068C-F0CAB810D322}"/>
              </a:ext>
            </a:extLst>
          </p:cNvPr>
          <p:cNvSpPr txBox="1"/>
          <p:nvPr/>
        </p:nvSpPr>
        <p:spPr>
          <a:xfrm>
            <a:off x="1234440" y="274320"/>
            <a:ext cx="1051560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APPENDIX — 3D L_p × B × σ slice composite, NaCl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48CFD9-6F48-278B-77FF-F8516FE58D50}"/>
              </a:ext>
            </a:extLst>
          </p:cNvPr>
          <p:cNvSpPr txBox="1"/>
          <p:nvPr/>
        </p:nvSpPr>
        <p:spPr>
          <a:xfrm>
            <a:off x="1234440" y="822960"/>
            <a:ext cx="105156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10 σ-slices × 3 channels.  Confirms the σ × Lp basin structure.</a:t>
            </a:r>
          </a:p>
        </p:txBody>
      </p:sp>
      <p:pic>
        <p:nvPicPr>
          <p:cNvPr id="6" name="Picture 5" descr="MC2.05.07.24_NaCl_grid3d_slices.png">
            <a:extLst>
              <a:ext uri="{FF2B5EF4-FFF2-40B4-BE49-F238E27FC236}">
                <a16:creationId xmlns:a16="http://schemas.microsoft.com/office/drawing/2014/main" id="{FB37C49C-4664-5576-0875-AB6D1841526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0713" b="58967"/>
          <a:stretch>
            <a:fillRect/>
          </a:stretch>
        </p:blipFill>
        <p:spPr>
          <a:xfrm>
            <a:off x="0" y="1815501"/>
            <a:ext cx="12257741" cy="2804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1005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5C38D9-8939-3C16-7B31-1F4CF192F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otre_dame_logo.png">
            <a:extLst>
              <a:ext uri="{FF2B5EF4-FFF2-40B4-BE49-F238E27FC236}">
                <a16:creationId xmlns:a16="http://schemas.microsoft.com/office/drawing/2014/main" id="{FC645B60-BAE9-E765-9CA8-B83B547FFD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422136"/>
            <a:ext cx="1280160" cy="29870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F6DDA8C-331F-9437-111A-1F5F43AB98B4}"/>
              </a:ext>
            </a:extLst>
          </p:cNvPr>
          <p:cNvSpPr txBox="1"/>
          <p:nvPr/>
        </p:nvSpPr>
        <p:spPr>
          <a:xfrm>
            <a:off x="411480" y="274320"/>
            <a:ext cx="77724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400" b="1" i="0">
                <a:solidFill>
                  <a:srgbClr val="8A8A8A"/>
                </a:solidFill>
                <a:latin typeface="Calibri"/>
              </a:rPr>
              <a:t>A3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BCB497-FC5A-397F-F70E-E21A8AFF4792}"/>
              </a:ext>
            </a:extLst>
          </p:cNvPr>
          <p:cNvSpPr txBox="1"/>
          <p:nvPr/>
        </p:nvSpPr>
        <p:spPr>
          <a:xfrm>
            <a:off x="1234440" y="274320"/>
            <a:ext cx="1051560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APPENDIX — 3D L_p × B × σ slice composite, NaCl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7FD5A5-0B7B-32D9-6B39-602A0D053139}"/>
              </a:ext>
            </a:extLst>
          </p:cNvPr>
          <p:cNvSpPr txBox="1"/>
          <p:nvPr/>
        </p:nvSpPr>
        <p:spPr>
          <a:xfrm>
            <a:off x="1234440" y="822960"/>
            <a:ext cx="105156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10 σ-slices × 3 channels.  Confirms the σ × Lp basin structure.</a:t>
            </a:r>
          </a:p>
        </p:txBody>
      </p:sp>
      <p:pic>
        <p:nvPicPr>
          <p:cNvPr id="6" name="Picture 5" descr="MC2.05.07.24_NaCl_grid3d_slices.png">
            <a:extLst>
              <a:ext uri="{FF2B5EF4-FFF2-40B4-BE49-F238E27FC236}">
                <a16:creationId xmlns:a16="http://schemas.microsoft.com/office/drawing/2014/main" id="{F06D43F8-09DA-E92C-67DF-DCCBE3C2D81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0804" b="50482"/>
          <a:stretch>
            <a:fillRect/>
          </a:stretch>
        </p:blipFill>
        <p:spPr>
          <a:xfrm>
            <a:off x="0" y="2043953"/>
            <a:ext cx="12250470" cy="2366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58771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DA705-688D-4AE2-0CE3-1AFA11753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otre_dame_logo.png">
            <a:extLst>
              <a:ext uri="{FF2B5EF4-FFF2-40B4-BE49-F238E27FC236}">
                <a16:creationId xmlns:a16="http://schemas.microsoft.com/office/drawing/2014/main" id="{7336D27A-B14F-2AF3-A6E1-2C9346059B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422136"/>
            <a:ext cx="1280160" cy="29870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6A560E7-9DF6-15E4-A342-E75DF09ED10E}"/>
              </a:ext>
            </a:extLst>
          </p:cNvPr>
          <p:cNvSpPr txBox="1"/>
          <p:nvPr/>
        </p:nvSpPr>
        <p:spPr>
          <a:xfrm>
            <a:off x="411480" y="274320"/>
            <a:ext cx="77724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400" b="1" i="0">
                <a:solidFill>
                  <a:srgbClr val="8A8A8A"/>
                </a:solidFill>
                <a:latin typeface="Calibri"/>
              </a:rPr>
              <a:t>A3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E84A3D-A9F1-485D-0E3B-CC88F5DBEEAF}"/>
              </a:ext>
            </a:extLst>
          </p:cNvPr>
          <p:cNvSpPr txBox="1"/>
          <p:nvPr/>
        </p:nvSpPr>
        <p:spPr>
          <a:xfrm>
            <a:off x="1234440" y="274320"/>
            <a:ext cx="1051560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APPENDIX — 3D L_p × B × σ slice composite, NaCl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BE13F5-5F53-2D67-E798-76429612FFD2}"/>
              </a:ext>
            </a:extLst>
          </p:cNvPr>
          <p:cNvSpPr txBox="1"/>
          <p:nvPr/>
        </p:nvSpPr>
        <p:spPr>
          <a:xfrm>
            <a:off x="1234440" y="822960"/>
            <a:ext cx="105156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10 σ-slices × 3 channels.  Confirms the σ × Lp basin structure.</a:t>
            </a:r>
          </a:p>
        </p:txBody>
      </p:sp>
      <p:pic>
        <p:nvPicPr>
          <p:cNvPr id="6" name="Picture 5" descr="MC2.05.07.24_NaCl_grid3d_slices.png">
            <a:extLst>
              <a:ext uri="{FF2B5EF4-FFF2-40B4-BE49-F238E27FC236}">
                <a16:creationId xmlns:a16="http://schemas.microsoft.com/office/drawing/2014/main" id="{FDD72701-0DAD-77C6-D797-D2FC0068AC2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0665" b="39244"/>
          <a:stretch>
            <a:fillRect/>
          </a:stretch>
        </p:blipFill>
        <p:spPr>
          <a:xfrm>
            <a:off x="-43814" y="2115672"/>
            <a:ext cx="12370008" cy="2767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38787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B68CAE-AF24-8A5C-2271-DE40D1F5F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otre_dame_logo.png">
            <a:extLst>
              <a:ext uri="{FF2B5EF4-FFF2-40B4-BE49-F238E27FC236}">
                <a16:creationId xmlns:a16="http://schemas.microsoft.com/office/drawing/2014/main" id="{87E4AE5C-C716-E9E3-37F7-A18D875796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422136"/>
            <a:ext cx="1280160" cy="29870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9B9D0F2-A85B-C0E2-A5B0-CCA27445C393}"/>
              </a:ext>
            </a:extLst>
          </p:cNvPr>
          <p:cNvSpPr txBox="1"/>
          <p:nvPr/>
        </p:nvSpPr>
        <p:spPr>
          <a:xfrm>
            <a:off x="411480" y="274320"/>
            <a:ext cx="77724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400" b="1" i="0">
                <a:solidFill>
                  <a:srgbClr val="8A8A8A"/>
                </a:solidFill>
                <a:latin typeface="Calibri"/>
              </a:rPr>
              <a:t>A3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240E13-04A5-C7EC-2227-09551CB302E0}"/>
              </a:ext>
            </a:extLst>
          </p:cNvPr>
          <p:cNvSpPr txBox="1"/>
          <p:nvPr/>
        </p:nvSpPr>
        <p:spPr>
          <a:xfrm>
            <a:off x="1234440" y="274320"/>
            <a:ext cx="1051560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APPENDIX — 3D L_p × B × σ slice composite, NaCl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CADDB5-A2BF-D24C-E29A-D3DE2909AD59}"/>
              </a:ext>
            </a:extLst>
          </p:cNvPr>
          <p:cNvSpPr txBox="1"/>
          <p:nvPr/>
        </p:nvSpPr>
        <p:spPr>
          <a:xfrm>
            <a:off x="1234440" y="822960"/>
            <a:ext cx="105156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10 σ-slices × 3 channels.  Confirms the σ × Lp basin structure.</a:t>
            </a:r>
          </a:p>
        </p:txBody>
      </p:sp>
      <p:pic>
        <p:nvPicPr>
          <p:cNvPr id="6" name="Picture 5" descr="MC2.05.07.24_NaCl_grid3d_slices.png">
            <a:extLst>
              <a:ext uri="{FF2B5EF4-FFF2-40B4-BE49-F238E27FC236}">
                <a16:creationId xmlns:a16="http://schemas.microsoft.com/office/drawing/2014/main" id="{0FA04CF6-5BD9-0AD2-7C79-66984BF2D9A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0297" b="29383"/>
          <a:stretch>
            <a:fillRect/>
          </a:stretch>
        </p:blipFill>
        <p:spPr>
          <a:xfrm>
            <a:off x="-49682" y="1757082"/>
            <a:ext cx="12351124" cy="2825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97580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41B5E3-9733-2F83-A25A-BCC94D2C86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otre_dame_logo.png">
            <a:extLst>
              <a:ext uri="{FF2B5EF4-FFF2-40B4-BE49-F238E27FC236}">
                <a16:creationId xmlns:a16="http://schemas.microsoft.com/office/drawing/2014/main" id="{3C33EE50-6BE2-9C1A-EF59-4F8B36A500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422136"/>
            <a:ext cx="1280160" cy="29870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DE90517-F264-EE8F-5064-1C4DCE677C45}"/>
              </a:ext>
            </a:extLst>
          </p:cNvPr>
          <p:cNvSpPr txBox="1"/>
          <p:nvPr/>
        </p:nvSpPr>
        <p:spPr>
          <a:xfrm>
            <a:off x="411480" y="274320"/>
            <a:ext cx="77724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400" b="1" i="0">
                <a:solidFill>
                  <a:srgbClr val="8A8A8A"/>
                </a:solidFill>
                <a:latin typeface="Calibri"/>
              </a:rPr>
              <a:t>A3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820EEB-3DA0-C5DD-F56B-E4900A577D6A}"/>
              </a:ext>
            </a:extLst>
          </p:cNvPr>
          <p:cNvSpPr txBox="1"/>
          <p:nvPr/>
        </p:nvSpPr>
        <p:spPr>
          <a:xfrm>
            <a:off x="1234440" y="274320"/>
            <a:ext cx="1051560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APPENDIX — 3D L_p × B × σ slice composite, NaCl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325F3B-378D-9C3B-5173-B86C6588E131}"/>
              </a:ext>
            </a:extLst>
          </p:cNvPr>
          <p:cNvSpPr txBox="1"/>
          <p:nvPr/>
        </p:nvSpPr>
        <p:spPr>
          <a:xfrm>
            <a:off x="1234440" y="822960"/>
            <a:ext cx="105156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10 σ-slices × 3 channels.  Confirms the σ × Lp basin structure.</a:t>
            </a:r>
          </a:p>
        </p:txBody>
      </p:sp>
      <p:pic>
        <p:nvPicPr>
          <p:cNvPr id="6" name="Picture 5" descr="MC2.05.07.24_NaCl_grid3d_slices.png">
            <a:extLst>
              <a:ext uri="{FF2B5EF4-FFF2-40B4-BE49-F238E27FC236}">
                <a16:creationId xmlns:a16="http://schemas.microsoft.com/office/drawing/2014/main" id="{29EF5C42-571F-F08A-788E-827362CF8A4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0388" b="19407"/>
          <a:stretch>
            <a:fillRect/>
          </a:stretch>
        </p:blipFill>
        <p:spPr>
          <a:xfrm>
            <a:off x="0" y="2324847"/>
            <a:ext cx="12310255" cy="2785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6275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949C7C-5D57-1AA9-2FD6-401567165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otre_dame_logo.png">
            <a:extLst>
              <a:ext uri="{FF2B5EF4-FFF2-40B4-BE49-F238E27FC236}">
                <a16:creationId xmlns:a16="http://schemas.microsoft.com/office/drawing/2014/main" id="{46B6D8C3-F74F-96C5-85BC-F1740E7433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422136"/>
            <a:ext cx="1280160" cy="29870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E05AA09-047B-48E9-6DFC-37E5E556838C}"/>
              </a:ext>
            </a:extLst>
          </p:cNvPr>
          <p:cNvSpPr txBox="1"/>
          <p:nvPr/>
        </p:nvSpPr>
        <p:spPr>
          <a:xfrm>
            <a:off x="411480" y="274320"/>
            <a:ext cx="77724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400" b="1" i="0">
                <a:solidFill>
                  <a:srgbClr val="8A8A8A"/>
                </a:solidFill>
                <a:latin typeface="Calibri"/>
              </a:rPr>
              <a:t>A3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D16679-7B77-32AC-2E8D-186E5FBEB0D5}"/>
              </a:ext>
            </a:extLst>
          </p:cNvPr>
          <p:cNvSpPr txBox="1"/>
          <p:nvPr/>
        </p:nvSpPr>
        <p:spPr>
          <a:xfrm>
            <a:off x="1234440" y="274320"/>
            <a:ext cx="1051560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APPENDIX — 3D L_p × B × σ slice composite, NaCl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ED51C9-8097-061C-0281-A717A7A74086}"/>
              </a:ext>
            </a:extLst>
          </p:cNvPr>
          <p:cNvSpPr txBox="1"/>
          <p:nvPr/>
        </p:nvSpPr>
        <p:spPr>
          <a:xfrm>
            <a:off x="1234440" y="822960"/>
            <a:ext cx="105156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10 σ-slices × 3 channels.  Confirms the σ × Lp basin structure.</a:t>
            </a:r>
          </a:p>
        </p:txBody>
      </p:sp>
      <p:pic>
        <p:nvPicPr>
          <p:cNvPr id="6" name="Picture 5" descr="MC2.05.07.24_NaCl_grid3d_slices.png">
            <a:extLst>
              <a:ext uri="{FF2B5EF4-FFF2-40B4-BE49-F238E27FC236}">
                <a16:creationId xmlns:a16="http://schemas.microsoft.com/office/drawing/2014/main" id="{1952AABE-3F77-8DC2-13EB-5A32441B444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0134" b="9661"/>
          <a:stretch>
            <a:fillRect/>
          </a:stretch>
        </p:blipFill>
        <p:spPr>
          <a:xfrm>
            <a:off x="0" y="1769035"/>
            <a:ext cx="12234972" cy="2768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0013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A89F84-8954-8280-25DB-A9103F1CE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otre_dame_logo.png">
            <a:extLst>
              <a:ext uri="{FF2B5EF4-FFF2-40B4-BE49-F238E27FC236}">
                <a16:creationId xmlns:a16="http://schemas.microsoft.com/office/drawing/2014/main" id="{508DDF59-8E4D-93E4-1CAA-387C8145D5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422136"/>
            <a:ext cx="1280160" cy="29870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220A1EE-529B-AE51-BE2C-6C4B67ABED63}"/>
              </a:ext>
            </a:extLst>
          </p:cNvPr>
          <p:cNvSpPr txBox="1"/>
          <p:nvPr/>
        </p:nvSpPr>
        <p:spPr>
          <a:xfrm>
            <a:off x="411480" y="274320"/>
            <a:ext cx="77724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400" b="1" i="0">
                <a:solidFill>
                  <a:srgbClr val="8A8A8A"/>
                </a:solidFill>
                <a:latin typeface="Calibri"/>
              </a:rPr>
              <a:t>A3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F22D18-8ED2-8F1D-5107-4037CDFD6413}"/>
              </a:ext>
            </a:extLst>
          </p:cNvPr>
          <p:cNvSpPr txBox="1"/>
          <p:nvPr/>
        </p:nvSpPr>
        <p:spPr>
          <a:xfrm>
            <a:off x="1234440" y="274320"/>
            <a:ext cx="1051560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APPENDIX — 3D L_p × B × σ slice composite, NaCl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FE4CEC-D10B-EB51-1CBC-89C15CD6D5D1}"/>
              </a:ext>
            </a:extLst>
          </p:cNvPr>
          <p:cNvSpPr txBox="1"/>
          <p:nvPr/>
        </p:nvSpPr>
        <p:spPr>
          <a:xfrm>
            <a:off x="1234440" y="822960"/>
            <a:ext cx="105156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10 σ-slices × 3 channels.  Confirms the σ × Lp basin structure.</a:t>
            </a:r>
          </a:p>
        </p:txBody>
      </p:sp>
      <p:pic>
        <p:nvPicPr>
          <p:cNvPr id="6" name="Picture 5" descr="MC2.05.07.24_NaCl_grid3d_slices.png">
            <a:extLst>
              <a:ext uri="{FF2B5EF4-FFF2-40B4-BE49-F238E27FC236}">
                <a16:creationId xmlns:a16="http://schemas.microsoft.com/office/drawing/2014/main" id="{73099952-CD9A-599D-5BB1-DA671F23B4E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9881"/>
          <a:stretch>
            <a:fillRect/>
          </a:stretch>
        </p:blipFill>
        <p:spPr>
          <a:xfrm>
            <a:off x="0" y="2127623"/>
            <a:ext cx="12253290" cy="2748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7990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otre_dam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422136"/>
            <a:ext cx="1280160" cy="29870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274320"/>
            <a:ext cx="77724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400" b="1" i="0">
                <a:solidFill>
                  <a:srgbClr val="8A8A8A"/>
                </a:solidFill>
                <a:latin typeface="Calibri"/>
              </a:rPr>
              <a:t>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274320"/>
            <a:ext cx="1051560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APPENDIX — 3D L_p × B × σ slice composite, CaCl₂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822960"/>
            <a:ext cx="105156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Basin shape morphs between σ=0 and σ=1 — the side-split on slide 05 made visible across σ.</a:t>
            </a:r>
          </a:p>
        </p:txBody>
      </p:sp>
      <p:pic>
        <p:nvPicPr>
          <p:cNvPr id="6" name="Picture 5" descr="MC2.05.07.24_CaCl2_grid3d_slic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1095" y="1417320"/>
            <a:ext cx="2349505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A93164-81D8-329E-C5AE-588110EDA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otre_dame_logo.png">
            <a:extLst>
              <a:ext uri="{FF2B5EF4-FFF2-40B4-BE49-F238E27FC236}">
                <a16:creationId xmlns:a16="http://schemas.microsoft.com/office/drawing/2014/main" id="{ABE9DC1B-64EF-0069-4502-E07C9465A2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422136"/>
            <a:ext cx="1280160" cy="29870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830B57D-947D-5A23-AEC0-D07E5CBA13F2}"/>
              </a:ext>
            </a:extLst>
          </p:cNvPr>
          <p:cNvSpPr txBox="1"/>
          <p:nvPr/>
        </p:nvSpPr>
        <p:spPr>
          <a:xfrm>
            <a:off x="411480" y="274320"/>
            <a:ext cx="77724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400" b="1" i="0">
                <a:solidFill>
                  <a:srgbClr val="8A8A8A"/>
                </a:solidFill>
                <a:latin typeface="Calibri"/>
              </a:rPr>
              <a:t>A4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336AB1-7C6B-8636-FD10-8DAD37C064DC}"/>
              </a:ext>
            </a:extLst>
          </p:cNvPr>
          <p:cNvSpPr txBox="1"/>
          <p:nvPr/>
        </p:nvSpPr>
        <p:spPr>
          <a:xfrm>
            <a:off x="1234440" y="274320"/>
            <a:ext cx="1051560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APPENDIX — 3D L_p × B × σ slice composite, CaCl₂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A56454-D99F-03B6-1B60-03BFFEE8A0D6}"/>
              </a:ext>
            </a:extLst>
          </p:cNvPr>
          <p:cNvSpPr txBox="1"/>
          <p:nvPr/>
        </p:nvSpPr>
        <p:spPr>
          <a:xfrm>
            <a:off x="1234440" y="822960"/>
            <a:ext cx="105156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Basin shape morphs between σ=0 and σ=1 — the side-split on slide 05 made visible across σ.</a:t>
            </a:r>
          </a:p>
        </p:txBody>
      </p:sp>
      <p:pic>
        <p:nvPicPr>
          <p:cNvPr id="6" name="Picture 5" descr="MC2.05.07.24_CaCl2_grid3d_slices.png">
            <a:extLst>
              <a:ext uri="{FF2B5EF4-FFF2-40B4-BE49-F238E27FC236}">
                <a16:creationId xmlns:a16="http://schemas.microsoft.com/office/drawing/2014/main" id="{36995D6A-D6C2-45E8-AB9A-408D42652AB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88665"/>
          <a:stretch>
            <a:fillRect/>
          </a:stretch>
        </p:blipFill>
        <p:spPr>
          <a:xfrm>
            <a:off x="0" y="1410447"/>
            <a:ext cx="12216954" cy="3071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9212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226895-5A6B-FFFB-5C79-90D0D89E86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otre_dame_logo.png">
            <a:extLst>
              <a:ext uri="{FF2B5EF4-FFF2-40B4-BE49-F238E27FC236}">
                <a16:creationId xmlns:a16="http://schemas.microsoft.com/office/drawing/2014/main" id="{25FDB324-B1BD-5B7C-F735-2A94BC27CD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422136"/>
            <a:ext cx="1280160" cy="29870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B8FA285-75ED-C4CC-D6F1-9EE213CF9416}"/>
              </a:ext>
            </a:extLst>
          </p:cNvPr>
          <p:cNvSpPr txBox="1"/>
          <p:nvPr/>
        </p:nvSpPr>
        <p:spPr>
          <a:xfrm>
            <a:off x="411480" y="274320"/>
            <a:ext cx="77724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400" b="1" i="0">
                <a:solidFill>
                  <a:srgbClr val="8A8A8A"/>
                </a:solidFill>
                <a:latin typeface="Calibri"/>
              </a:rPr>
              <a:t>A4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F0A29B-4D02-36B1-F9A7-BEEEFF658BE5}"/>
              </a:ext>
            </a:extLst>
          </p:cNvPr>
          <p:cNvSpPr txBox="1"/>
          <p:nvPr/>
        </p:nvSpPr>
        <p:spPr>
          <a:xfrm>
            <a:off x="1234440" y="274320"/>
            <a:ext cx="1051560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APPENDIX — 3D L_p × B × σ slice composite, CaCl₂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9F55BA-A7CE-A279-D23E-7673F76BDD1C}"/>
              </a:ext>
            </a:extLst>
          </p:cNvPr>
          <p:cNvSpPr txBox="1"/>
          <p:nvPr/>
        </p:nvSpPr>
        <p:spPr>
          <a:xfrm>
            <a:off x="1234440" y="822960"/>
            <a:ext cx="105156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Basin shape morphs between σ=0 and σ=1 — the side-split on slide 05 made visible across σ.</a:t>
            </a:r>
          </a:p>
        </p:txBody>
      </p:sp>
      <p:pic>
        <p:nvPicPr>
          <p:cNvPr id="6" name="Picture 5" descr="MC2.05.07.24_CaCl2_grid3d_slices.png">
            <a:extLst>
              <a:ext uri="{FF2B5EF4-FFF2-40B4-BE49-F238E27FC236}">
                <a16:creationId xmlns:a16="http://schemas.microsoft.com/office/drawing/2014/main" id="{EB2909D1-F748-88D9-3D4B-FABF7CE9B2E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220" b="78804"/>
          <a:stretch>
            <a:fillRect/>
          </a:stretch>
        </p:blipFill>
        <p:spPr>
          <a:xfrm>
            <a:off x="0" y="1996141"/>
            <a:ext cx="12260640" cy="2713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60543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BA8058-2A57-CC7C-DDB4-3C86E60CD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otre_dame_logo.png">
            <a:extLst>
              <a:ext uri="{FF2B5EF4-FFF2-40B4-BE49-F238E27FC236}">
                <a16:creationId xmlns:a16="http://schemas.microsoft.com/office/drawing/2014/main" id="{238555B1-FB5B-24BE-EFF3-BAC94718E8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422136"/>
            <a:ext cx="1280160" cy="29870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9FB595A-824F-1BA0-151C-7BA113E86C96}"/>
              </a:ext>
            </a:extLst>
          </p:cNvPr>
          <p:cNvSpPr txBox="1"/>
          <p:nvPr/>
        </p:nvSpPr>
        <p:spPr>
          <a:xfrm>
            <a:off x="411480" y="274320"/>
            <a:ext cx="77724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400" b="1" i="0">
                <a:solidFill>
                  <a:srgbClr val="8A8A8A"/>
                </a:solidFill>
                <a:latin typeface="Calibri"/>
              </a:rPr>
              <a:t>A4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6691FF-C8A2-035E-CDBB-B1DFD5125D1F}"/>
              </a:ext>
            </a:extLst>
          </p:cNvPr>
          <p:cNvSpPr txBox="1"/>
          <p:nvPr/>
        </p:nvSpPr>
        <p:spPr>
          <a:xfrm>
            <a:off x="1234440" y="274320"/>
            <a:ext cx="1051560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APPENDIX — 3D L_p × B × σ slice composite, CaCl₂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E0EE50-0BFD-C47E-4BB0-F3F1DC9F5088}"/>
              </a:ext>
            </a:extLst>
          </p:cNvPr>
          <p:cNvSpPr txBox="1"/>
          <p:nvPr/>
        </p:nvSpPr>
        <p:spPr>
          <a:xfrm>
            <a:off x="1234440" y="822960"/>
            <a:ext cx="105156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Basin shape morphs between σ=0 and σ=1 — the side-split on slide 05 made visible across σ.</a:t>
            </a:r>
          </a:p>
        </p:txBody>
      </p:sp>
      <p:pic>
        <p:nvPicPr>
          <p:cNvPr id="6" name="Picture 5" descr="MC2.05.07.24_CaCl2_grid3d_slices.png">
            <a:extLst>
              <a:ext uri="{FF2B5EF4-FFF2-40B4-BE49-F238E27FC236}">
                <a16:creationId xmlns:a16="http://schemas.microsoft.com/office/drawing/2014/main" id="{B7789535-7FA5-822C-835B-C25508B0344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1081" b="68943"/>
          <a:stretch>
            <a:fillRect/>
          </a:stretch>
        </p:blipFill>
        <p:spPr>
          <a:xfrm>
            <a:off x="-47588" y="2073836"/>
            <a:ext cx="12269004" cy="2715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51984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DDFC52-31DC-E1AD-1573-C1AC8957B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otre_dame_logo.png">
            <a:extLst>
              <a:ext uri="{FF2B5EF4-FFF2-40B4-BE49-F238E27FC236}">
                <a16:creationId xmlns:a16="http://schemas.microsoft.com/office/drawing/2014/main" id="{E158E983-0BBD-38AA-8A83-EF37E479CD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422136"/>
            <a:ext cx="1280160" cy="29870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A77ACA8-0B72-8530-DADB-6076715FC69B}"/>
              </a:ext>
            </a:extLst>
          </p:cNvPr>
          <p:cNvSpPr txBox="1"/>
          <p:nvPr/>
        </p:nvSpPr>
        <p:spPr>
          <a:xfrm>
            <a:off x="411480" y="274320"/>
            <a:ext cx="77724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400" b="1" i="0">
                <a:solidFill>
                  <a:srgbClr val="8A8A8A"/>
                </a:solidFill>
                <a:latin typeface="Calibri"/>
              </a:rPr>
              <a:t>A4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EAB905-E763-EE26-444E-F64900FDA572}"/>
              </a:ext>
            </a:extLst>
          </p:cNvPr>
          <p:cNvSpPr txBox="1"/>
          <p:nvPr/>
        </p:nvSpPr>
        <p:spPr>
          <a:xfrm>
            <a:off x="1234440" y="274320"/>
            <a:ext cx="1051560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APPENDIX — 3D L_p × B × σ slice composite, CaCl₂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7772F5-A095-B6AF-6089-D9D758038D3B}"/>
              </a:ext>
            </a:extLst>
          </p:cNvPr>
          <p:cNvSpPr txBox="1"/>
          <p:nvPr/>
        </p:nvSpPr>
        <p:spPr>
          <a:xfrm>
            <a:off x="1234440" y="822960"/>
            <a:ext cx="105156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Basin shape morphs between σ=0 and σ=1 — the side-split on slide 05 made visible across σ.</a:t>
            </a:r>
          </a:p>
        </p:txBody>
      </p:sp>
      <p:pic>
        <p:nvPicPr>
          <p:cNvPr id="6" name="Picture 5" descr="MC2.05.07.24_CaCl2_grid3d_slices.png">
            <a:extLst>
              <a:ext uri="{FF2B5EF4-FFF2-40B4-BE49-F238E27FC236}">
                <a16:creationId xmlns:a16="http://schemas.microsoft.com/office/drawing/2014/main" id="{A0F310BC-045C-DC14-71D6-0572AA57944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1057" b="59196"/>
          <a:stretch>
            <a:fillRect/>
          </a:stretch>
        </p:blipFill>
        <p:spPr>
          <a:xfrm>
            <a:off x="0" y="2426447"/>
            <a:ext cx="12272709" cy="2653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730035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72AEF-3004-5588-30AF-2D4FFA297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otre_dame_logo.png">
            <a:extLst>
              <a:ext uri="{FF2B5EF4-FFF2-40B4-BE49-F238E27FC236}">
                <a16:creationId xmlns:a16="http://schemas.microsoft.com/office/drawing/2014/main" id="{7B173710-0097-EA35-C8E7-B4FF5434BE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422136"/>
            <a:ext cx="1280160" cy="29870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D3208FD-744A-D33F-23C6-A2F142C2A170}"/>
              </a:ext>
            </a:extLst>
          </p:cNvPr>
          <p:cNvSpPr txBox="1"/>
          <p:nvPr/>
        </p:nvSpPr>
        <p:spPr>
          <a:xfrm>
            <a:off x="411480" y="274320"/>
            <a:ext cx="77724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400" b="1" i="0">
                <a:solidFill>
                  <a:srgbClr val="8A8A8A"/>
                </a:solidFill>
                <a:latin typeface="Calibri"/>
              </a:rPr>
              <a:t>A4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D8ADB0-12AE-C78B-89A9-638603AB0FEC}"/>
              </a:ext>
            </a:extLst>
          </p:cNvPr>
          <p:cNvSpPr txBox="1"/>
          <p:nvPr/>
        </p:nvSpPr>
        <p:spPr>
          <a:xfrm>
            <a:off x="1234440" y="274320"/>
            <a:ext cx="1051560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APPENDIX — 3D L_p × B × σ slice composite, CaCl₂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CCEE1C-0136-2D3A-E9B3-160783AA5978}"/>
              </a:ext>
            </a:extLst>
          </p:cNvPr>
          <p:cNvSpPr txBox="1"/>
          <p:nvPr/>
        </p:nvSpPr>
        <p:spPr>
          <a:xfrm>
            <a:off x="1234440" y="822960"/>
            <a:ext cx="105156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Basin shape morphs between σ=0 and σ=1 — the side-split on slide 05 made visible across σ.</a:t>
            </a:r>
          </a:p>
        </p:txBody>
      </p:sp>
      <p:pic>
        <p:nvPicPr>
          <p:cNvPr id="6" name="Picture 5" descr="MC2.05.07.24_CaCl2_grid3d_slices.png">
            <a:extLst>
              <a:ext uri="{FF2B5EF4-FFF2-40B4-BE49-F238E27FC236}">
                <a16:creationId xmlns:a16="http://schemas.microsoft.com/office/drawing/2014/main" id="{C9930ED5-7787-7D16-1942-1C52BFB132D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0689" b="49221"/>
          <a:stretch>
            <a:fillRect/>
          </a:stretch>
        </p:blipFill>
        <p:spPr>
          <a:xfrm>
            <a:off x="0" y="2085788"/>
            <a:ext cx="12228098" cy="2737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581560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F9F84-5FCD-4494-8000-7DC89BF2F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otre_dame_logo.png">
            <a:extLst>
              <a:ext uri="{FF2B5EF4-FFF2-40B4-BE49-F238E27FC236}">
                <a16:creationId xmlns:a16="http://schemas.microsoft.com/office/drawing/2014/main" id="{AD2C581E-2B54-E73C-6731-9011C703F2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422136"/>
            <a:ext cx="1280160" cy="29870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6880BCD-0506-DCF2-C327-9F1E6B7BD17F}"/>
              </a:ext>
            </a:extLst>
          </p:cNvPr>
          <p:cNvSpPr txBox="1"/>
          <p:nvPr/>
        </p:nvSpPr>
        <p:spPr>
          <a:xfrm>
            <a:off x="411480" y="274320"/>
            <a:ext cx="77724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400" b="1" i="0">
                <a:solidFill>
                  <a:srgbClr val="8A8A8A"/>
                </a:solidFill>
                <a:latin typeface="Calibri"/>
              </a:rPr>
              <a:t>A4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7B21F4-8C36-85C4-808F-9658B911A8A4}"/>
              </a:ext>
            </a:extLst>
          </p:cNvPr>
          <p:cNvSpPr txBox="1"/>
          <p:nvPr/>
        </p:nvSpPr>
        <p:spPr>
          <a:xfrm>
            <a:off x="1234440" y="274320"/>
            <a:ext cx="1051560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APPENDIX — 3D L_p × B × σ slice composite, CaCl₂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8DBAA4-039B-7D65-1004-4D1E38B6FBBF}"/>
              </a:ext>
            </a:extLst>
          </p:cNvPr>
          <p:cNvSpPr txBox="1"/>
          <p:nvPr/>
        </p:nvSpPr>
        <p:spPr>
          <a:xfrm>
            <a:off x="1234440" y="822960"/>
            <a:ext cx="105156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Basin shape morphs between σ=0 and σ=1 — the side-split on slide 05 made visible across σ.</a:t>
            </a:r>
          </a:p>
        </p:txBody>
      </p:sp>
      <p:pic>
        <p:nvPicPr>
          <p:cNvPr id="6" name="Picture 5" descr="MC2.05.07.24_CaCl2_grid3d_slices.png">
            <a:extLst>
              <a:ext uri="{FF2B5EF4-FFF2-40B4-BE49-F238E27FC236}">
                <a16:creationId xmlns:a16="http://schemas.microsoft.com/office/drawing/2014/main" id="{7E064696-2A11-226B-5221-208025E2D1A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0665" b="39359"/>
          <a:stretch>
            <a:fillRect/>
          </a:stretch>
        </p:blipFill>
        <p:spPr>
          <a:xfrm>
            <a:off x="0" y="2085788"/>
            <a:ext cx="12287663" cy="2719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69720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4F6BE8-03AD-644F-16B6-A49DD3A18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otre_dame_logo.png">
            <a:extLst>
              <a:ext uri="{FF2B5EF4-FFF2-40B4-BE49-F238E27FC236}">
                <a16:creationId xmlns:a16="http://schemas.microsoft.com/office/drawing/2014/main" id="{2E3B58C9-62FE-0DE1-92A5-52B95C0470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422136"/>
            <a:ext cx="1280160" cy="29870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52F88F3-3605-F6F7-BD90-6D27737F18C9}"/>
              </a:ext>
            </a:extLst>
          </p:cNvPr>
          <p:cNvSpPr txBox="1"/>
          <p:nvPr/>
        </p:nvSpPr>
        <p:spPr>
          <a:xfrm>
            <a:off x="411480" y="274320"/>
            <a:ext cx="77724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400" b="1" i="0">
                <a:solidFill>
                  <a:srgbClr val="8A8A8A"/>
                </a:solidFill>
                <a:latin typeface="Calibri"/>
              </a:rPr>
              <a:t>A4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E90B43-49EE-6C86-C8C0-3001041C1D1A}"/>
              </a:ext>
            </a:extLst>
          </p:cNvPr>
          <p:cNvSpPr txBox="1"/>
          <p:nvPr/>
        </p:nvSpPr>
        <p:spPr>
          <a:xfrm>
            <a:off x="1234440" y="274320"/>
            <a:ext cx="1051560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APPENDIX — 3D L_p × B × σ slice composite, CaCl₂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DBE2BC-B6FD-471F-88EC-2BDB8B45E5FF}"/>
              </a:ext>
            </a:extLst>
          </p:cNvPr>
          <p:cNvSpPr txBox="1"/>
          <p:nvPr/>
        </p:nvSpPr>
        <p:spPr>
          <a:xfrm>
            <a:off x="1234440" y="822960"/>
            <a:ext cx="105156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Basin shape morphs between σ=0 and σ=1 — the side-split on slide 05 made visible across σ.</a:t>
            </a:r>
          </a:p>
        </p:txBody>
      </p:sp>
      <p:pic>
        <p:nvPicPr>
          <p:cNvPr id="6" name="Picture 5" descr="MC2.05.07.24_CaCl2_grid3d_slices.png">
            <a:extLst>
              <a:ext uri="{FF2B5EF4-FFF2-40B4-BE49-F238E27FC236}">
                <a16:creationId xmlns:a16="http://schemas.microsoft.com/office/drawing/2014/main" id="{E3FAB786-E28E-115B-2957-497351D4755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0411" b="29498"/>
          <a:stretch>
            <a:fillRect/>
          </a:stretch>
        </p:blipFill>
        <p:spPr>
          <a:xfrm>
            <a:off x="-23904" y="1778995"/>
            <a:ext cx="12263718" cy="2745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195137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5F86EF-BC0D-BBE3-CD6F-6B1A465A2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otre_dame_logo.png">
            <a:extLst>
              <a:ext uri="{FF2B5EF4-FFF2-40B4-BE49-F238E27FC236}">
                <a16:creationId xmlns:a16="http://schemas.microsoft.com/office/drawing/2014/main" id="{D1F5B82F-78E1-0611-A597-1F9D209DA9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422136"/>
            <a:ext cx="1280160" cy="29870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F9B5B89-1C65-8767-2ADF-B6BB39A1FBFA}"/>
              </a:ext>
            </a:extLst>
          </p:cNvPr>
          <p:cNvSpPr txBox="1"/>
          <p:nvPr/>
        </p:nvSpPr>
        <p:spPr>
          <a:xfrm>
            <a:off x="411480" y="274320"/>
            <a:ext cx="77724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400" b="1" i="0">
                <a:solidFill>
                  <a:srgbClr val="8A8A8A"/>
                </a:solidFill>
                <a:latin typeface="Calibri"/>
              </a:rPr>
              <a:t>A4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AD05D3-7665-8AC9-14EB-964A75B4D887}"/>
              </a:ext>
            </a:extLst>
          </p:cNvPr>
          <p:cNvSpPr txBox="1"/>
          <p:nvPr/>
        </p:nvSpPr>
        <p:spPr>
          <a:xfrm>
            <a:off x="1234440" y="274320"/>
            <a:ext cx="1051560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APPENDIX — 3D L_p × B × σ slice composite, CaCl₂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205BE4-B579-856D-C1E8-90BC6BDBF9FE}"/>
              </a:ext>
            </a:extLst>
          </p:cNvPr>
          <p:cNvSpPr txBox="1"/>
          <p:nvPr/>
        </p:nvSpPr>
        <p:spPr>
          <a:xfrm>
            <a:off x="1234440" y="822960"/>
            <a:ext cx="105156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Basin shape morphs between σ=0 and σ=1 — the side-split on slide 05 made visible across σ.</a:t>
            </a:r>
          </a:p>
        </p:txBody>
      </p:sp>
      <p:pic>
        <p:nvPicPr>
          <p:cNvPr id="6" name="Picture 5" descr="MC2.05.07.24_CaCl2_grid3d_slices.png">
            <a:extLst>
              <a:ext uri="{FF2B5EF4-FFF2-40B4-BE49-F238E27FC236}">
                <a16:creationId xmlns:a16="http://schemas.microsoft.com/office/drawing/2014/main" id="{BD1EDD4C-396E-A7B5-1553-39D73C23099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0388" b="19636"/>
          <a:stretch>
            <a:fillRect/>
          </a:stretch>
        </p:blipFill>
        <p:spPr>
          <a:xfrm>
            <a:off x="-23904" y="1930401"/>
            <a:ext cx="12287639" cy="2719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714461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91EC43-8C30-817A-ED73-BA4D78091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otre_dame_logo.png">
            <a:extLst>
              <a:ext uri="{FF2B5EF4-FFF2-40B4-BE49-F238E27FC236}">
                <a16:creationId xmlns:a16="http://schemas.microsoft.com/office/drawing/2014/main" id="{D9E42CE6-40E3-6C89-3E79-BE5BED8F55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422136"/>
            <a:ext cx="1280160" cy="29870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59D19B8-58A1-D0E1-F968-CA74D7653629}"/>
              </a:ext>
            </a:extLst>
          </p:cNvPr>
          <p:cNvSpPr txBox="1"/>
          <p:nvPr/>
        </p:nvSpPr>
        <p:spPr>
          <a:xfrm>
            <a:off x="411480" y="274320"/>
            <a:ext cx="77724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400" b="1" i="0">
                <a:solidFill>
                  <a:srgbClr val="8A8A8A"/>
                </a:solidFill>
                <a:latin typeface="Calibri"/>
              </a:rPr>
              <a:t>A4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A7E914-5030-F7A4-0529-C4D1CCEEC5E3}"/>
              </a:ext>
            </a:extLst>
          </p:cNvPr>
          <p:cNvSpPr txBox="1"/>
          <p:nvPr/>
        </p:nvSpPr>
        <p:spPr>
          <a:xfrm>
            <a:off x="1234440" y="274320"/>
            <a:ext cx="1051560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APPENDIX — 3D L_p × B × σ slice composite, CaCl₂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351B09-742A-262B-E58B-48F444E6D76F}"/>
              </a:ext>
            </a:extLst>
          </p:cNvPr>
          <p:cNvSpPr txBox="1"/>
          <p:nvPr/>
        </p:nvSpPr>
        <p:spPr>
          <a:xfrm>
            <a:off x="1234440" y="822960"/>
            <a:ext cx="105156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Basin shape morphs between σ=0 and σ=1 — the side-split on slide 05 made visible across σ.</a:t>
            </a:r>
          </a:p>
        </p:txBody>
      </p:sp>
      <p:pic>
        <p:nvPicPr>
          <p:cNvPr id="6" name="Picture 5" descr="MC2.05.07.24_CaCl2_grid3d_slices.png">
            <a:extLst>
              <a:ext uri="{FF2B5EF4-FFF2-40B4-BE49-F238E27FC236}">
                <a16:creationId xmlns:a16="http://schemas.microsoft.com/office/drawing/2014/main" id="{40C1E465-B25A-F38C-3482-718A2D20C7A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0134" b="9776"/>
          <a:stretch>
            <a:fillRect/>
          </a:stretch>
        </p:blipFill>
        <p:spPr>
          <a:xfrm>
            <a:off x="-33841" y="1839205"/>
            <a:ext cx="12261704" cy="2744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061138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426E80-C0F7-F7BC-EF11-38D07B5A8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otre_dame_logo.png">
            <a:extLst>
              <a:ext uri="{FF2B5EF4-FFF2-40B4-BE49-F238E27FC236}">
                <a16:creationId xmlns:a16="http://schemas.microsoft.com/office/drawing/2014/main" id="{14AA9DF1-DEB1-E4E7-9F72-1A4E904613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422136"/>
            <a:ext cx="1280160" cy="29870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2B842CB-7B0D-7B71-3F83-3DB9FE6ED9C0}"/>
              </a:ext>
            </a:extLst>
          </p:cNvPr>
          <p:cNvSpPr txBox="1"/>
          <p:nvPr/>
        </p:nvSpPr>
        <p:spPr>
          <a:xfrm>
            <a:off x="411480" y="274320"/>
            <a:ext cx="77724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400" b="1" i="0">
                <a:solidFill>
                  <a:srgbClr val="8A8A8A"/>
                </a:solidFill>
                <a:latin typeface="Calibri"/>
              </a:rPr>
              <a:t>A4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B1202F-ED27-9D24-B380-B133D020FEAC}"/>
              </a:ext>
            </a:extLst>
          </p:cNvPr>
          <p:cNvSpPr txBox="1"/>
          <p:nvPr/>
        </p:nvSpPr>
        <p:spPr>
          <a:xfrm>
            <a:off x="1234440" y="274320"/>
            <a:ext cx="10515600" cy="5029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APPENDIX — 3D L_p × B × σ slice composite, CaCl₂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FEC432-CBBA-6C1D-0EAA-4C281C0CAFB8}"/>
              </a:ext>
            </a:extLst>
          </p:cNvPr>
          <p:cNvSpPr txBox="1"/>
          <p:nvPr/>
        </p:nvSpPr>
        <p:spPr>
          <a:xfrm>
            <a:off x="1234440" y="822960"/>
            <a:ext cx="105156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Basin shape morphs between σ=0 and σ=1 — the side-split on slide 05 made visible across σ.</a:t>
            </a:r>
          </a:p>
        </p:txBody>
      </p:sp>
      <p:pic>
        <p:nvPicPr>
          <p:cNvPr id="6" name="Picture 5" descr="MC2.05.07.24_CaCl2_grid3d_slices.png">
            <a:extLst>
              <a:ext uri="{FF2B5EF4-FFF2-40B4-BE49-F238E27FC236}">
                <a16:creationId xmlns:a16="http://schemas.microsoft.com/office/drawing/2014/main" id="{44644A07-E7E3-601D-1999-5F6E772D89D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0110"/>
          <a:stretch>
            <a:fillRect/>
          </a:stretch>
        </p:blipFill>
        <p:spPr>
          <a:xfrm>
            <a:off x="-41832" y="2081903"/>
            <a:ext cx="12280070" cy="2694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30196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1691</TotalTime>
  <Words>2981</Words>
  <Application>Microsoft Macintosh PowerPoint</Application>
  <PresentationFormat>Widescreen</PresentationFormat>
  <Paragraphs>287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Keshav Kasturi Rangan</cp:lastModifiedBy>
  <cp:revision>2</cp:revision>
  <dcterms:created xsi:type="dcterms:W3CDTF">2013-01-27T09:14:16Z</dcterms:created>
  <dcterms:modified xsi:type="dcterms:W3CDTF">2026-06-09T20:33:22Z</dcterms:modified>
  <cp:category/>
</cp:coreProperties>
</file>
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37"/>
    <p:restoredTop sz="94704"/>
  </p:normalViewPr>
  <p:slideViewPr>
    <p:cSldViewPr snapToGrid="0" snapToObjects="1">
      <p:cViewPr varScale="1">
        <p:scale>
          <a:sx n="135" d="100"/>
          <a:sy n="135" d="100"/>
        </p:scale>
        <p:origin x="408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4000" b="1" i="0">
                <a:solidFill>
                  <a:srgbClr val="0C2340"/>
                </a:solidFill>
                <a:latin typeface="Cambria"/>
              </a:rPr>
              <a:t>DATA3: Single-Salt NF270 Diafiltration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B88A00"/>
                </a:solidFill>
                <a:latin typeface="Calibri"/>
              </a:rPr>
              <a:t>Concentration-dependent solute permeability &amp; the Donnan–dielectric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54880"/>
            <a:ext cx="100584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600" b="1" i="0">
                <a:solidFill>
                  <a:srgbClr val="0C2340"/>
                </a:solidFill>
                <a:latin typeface="Calibri"/>
              </a:rPr>
              <a:t>Collaborator update  ·  June 24, 2026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6"/>
                </a:solidFill>
                <a:latin typeface="Calibri"/>
              </a:rPr>
              <a:t>Keshav Kasturi Rangan  ·  University of Notre Dame</a:t>
            </a:r>
          </a:p>
        </p:txBody>
      </p:sp>
      <p:pic>
        <p:nvPicPr>
          <p:cNvPr id="5" name="Picture 4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769620"/>
            <a:ext cx="182880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26130"/>
            <a:ext cx="11274552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600" b="1" i="0" dirty="0">
                <a:solidFill>
                  <a:srgbClr val="0C2340"/>
                </a:solidFill>
                <a:latin typeface="Cambria"/>
              </a:rPr>
              <a:t>Feedback from </a:t>
            </a:r>
            <a:r>
              <a:rPr lang="en-US" sz="2600" b="1" i="0" dirty="0">
                <a:solidFill>
                  <a:srgbClr val="0C2340"/>
                </a:solidFill>
                <a:latin typeface="Cambria"/>
              </a:rPr>
              <a:t>Dowling Lab group meeting on 06/19/2026</a:t>
            </a:r>
            <a:r>
              <a:rPr sz="2600" b="1" i="0" dirty="0">
                <a:solidFill>
                  <a:srgbClr val="0C2340"/>
                </a:solidFill>
                <a:latin typeface="Cambria"/>
              </a:rPr>
              <a:t> — </a:t>
            </a:r>
            <a:r>
              <a:rPr lang="en-US" sz="2600" b="1" dirty="0">
                <a:solidFill>
                  <a:srgbClr val="0C2340"/>
                </a:solidFill>
                <a:latin typeface="Cambria"/>
              </a:rPr>
              <a:t>I</a:t>
            </a:r>
            <a:r>
              <a:rPr lang="en-US" sz="2600" b="1" i="0" dirty="0">
                <a:solidFill>
                  <a:srgbClr val="0C2340"/>
                </a:solidFill>
                <a:latin typeface="Cambria"/>
              </a:rPr>
              <a:t>n Progress</a:t>
            </a:r>
            <a:endParaRPr sz="2600" b="1" i="0" dirty="0">
              <a:solidFill>
                <a:srgbClr val="0C2340"/>
              </a:solidFill>
              <a:latin typeface="Cambri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40080" y="1371600"/>
                <a:ext cx="10972800" cy="3453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marL="228600" indent="-228600">
                  <a:spcAft>
                    <a:spcPts val="1200"/>
                  </a:spcAft>
                  <a:buFont typeface="Arial"/>
                  <a:buChar char="•"/>
                </a:pPr>
                <a:r>
                  <a:rPr sz="1800" b="1" i="0" dirty="0">
                    <a:solidFill>
                      <a:srgbClr val="0C2340"/>
                    </a:solidFill>
                    <a:latin typeface="Calibri"/>
                  </a:rPr>
                  <a:t>Time-series correction</a:t>
                </a:r>
                <a:r>
                  <a:rPr lang="en-US" sz="1800" b="1" i="0" dirty="0">
                    <a:solidFill>
                      <a:srgbClr val="0C2340"/>
                    </a:solidFill>
                    <a:latin typeface="Calibri"/>
                  </a:rPr>
                  <a:t> that matches DATA2 conventions</a:t>
                </a:r>
                <a:r>
                  <a:rPr sz="1800" b="1" i="0" dirty="0">
                    <a:solidFill>
                      <a:srgbClr val="0C2340"/>
                    </a:solidFill>
                    <a:latin typeface="Calibri"/>
                  </a:rPr>
                  <a:t>:</a:t>
                </a:r>
                <a:br>
                  <a:rPr lang="en-US" sz="1800" b="0" i="0" dirty="0">
                    <a:solidFill>
                      <a:srgbClr val="202020"/>
                    </a:solidFill>
                    <a:latin typeface="Calibri"/>
                  </a:rPr>
                </a:br>
                <a:r>
                  <a:rPr lang="en-US" dirty="0">
                    <a:solidFill>
                      <a:srgbClr val="202020"/>
                    </a:solidFill>
                    <a:latin typeface="Calibri"/>
                  </a:rPr>
                  <a:t>M</a:t>
                </a:r>
                <a:r>
                  <a:rPr sz="1800" b="0" i="0" dirty="0">
                    <a:solidFill>
                      <a:srgbClr val="202020"/>
                    </a:solidFill>
                    <a:latin typeface="Calibri"/>
                  </a:rPr>
                  <a:t>ass, retentate, and permeate share one time axis</a:t>
                </a:r>
              </a:p>
              <a:p>
                <a:pPr marL="228600" indent="-228600">
                  <a:spcAft>
                    <a:spcPts val="1200"/>
                  </a:spcAft>
                  <a:buFont typeface="Arial"/>
                  <a:buChar char="•"/>
                </a:pPr>
                <a:r>
                  <a:rPr sz="1800" b="1" i="0" dirty="0">
                    <a:solidFill>
                      <a:srgbClr val="0C2340"/>
                    </a:solidFill>
                    <a:latin typeface="Calibri"/>
                  </a:rPr>
                  <a:t>Identifiability contours</a:t>
                </a:r>
                <a:r>
                  <a:rPr lang="en-US" sz="1800" b="1" i="0" dirty="0">
                    <a:solidFill>
                      <a:srgbClr val="0C2340"/>
                    </a:solidFill>
                    <a:latin typeface="Calibri"/>
                  </a:rPr>
                  <a:t> in parameter space</a:t>
                </a:r>
                <a:r>
                  <a:rPr sz="1800" b="1" i="0" dirty="0">
                    <a:solidFill>
                      <a:srgbClr val="0C2340"/>
                    </a:solidFill>
                    <a:latin typeface="Calibri"/>
                  </a:rPr>
                  <a:t>:</a:t>
                </a:r>
                <a:r>
                  <a:rPr sz="1800" b="0" i="0" dirty="0">
                    <a:solidFill>
                      <a:srgbClr val="202020"/>
                    </a:solidFill>
                    <a:latin typeface="Calibri"/>
                  </a:rPr>
                  <a:t> </a:t>
                </a:r>
                <a:br>
                  <a:rPr lang="en-US" sz="1800" b="0" i="0" dirty="0">
                    <a:solidFill>
                      <a:srgbClr val="202020"/>
                    </a:solidFill>
                    <a:latin typeface="Calibri"/>
                  </a:rPr>
                </a:br>
                <a:r>
                  <a:rPr sz="1800" b="0" i="0" dirty="0" err="1">
                    <a:solidFill>
                      <a:srgbClr val="202020"/>
                    </a:solidFill>
                    <a:latin typeface="Calibri"/>
                  </a:rPr>
                  <a:t>σ</a:t>
                </a:r>
                <a:r>
                  <a:rPr lang="en-US" dirty="0">
                    <a:solidFill>
                      <a:srgbClr val="202020"/>
                    </a:solidFill>
                    <a:latin typeface="Calibri"/>
                  </a:rPr>
                  <a:t> </a:t>
                </a:r>
                <a:r>
                  <a:rPr lang="en-US" dirty="0" err="1">
                    <a:solidFill>
                      <a:srgbClr val="202020"/>
                    </a:solidFill>
                    <a:latin typeface="Calibri"/>
                  </a:rPr>
                  <a:t>vs.</a:t>
                </a:r>
                <a:r>
                  <a:rPr sz="1800" b="0" i="0" dirty="0" err="1">
                    <a:solidFill>
                      <a:srgbClr val="202020"/>
                    </a:solidFill>
                    <a:latin typeface="Calibri"/>
                  </a:rPr>
                  <a:t>B</a:t>
                </a:r>
                <a:r>
                  <a:rPr sz="1800" b="0" i="0" dirty="0">
                    <a:solidFill>
                      <a:srgbClr val="202020"/>
                    </a:solidFill>
                    <a:latin typeface="Calibri"/>
                  </a:rPr>
                  <a:t> log-WSSE </a:t>
                </a:r>
                <a:r>
                  <a:rPr lang="en-US" sz="1800" b="0" i="0" dirty="0">
                    <a:solidFill>
                      <a:srgbClr val="202020"/>
                    </a:solidFill>
                    <a:latin typeface="Calibri"/>
                  </a:rPr>
                  <a:t>contour </a:t>
                </a:r>
                <a:r>
                  <a:rPr sz="1800" b="0" i="0" dirty="0">
                    <a:solidFill>
                      <a:srgbClr val="202020"/>
                    </a:solidFill>
                    <a:latin typeface="Calibri"/>
                  </a:rPr>
                  <a:t>surface</a:t>
                </a:r>
                <a:r>
                  <a:rPr lang="en-US" sz="1800" b="0" i="0" dirty="0">
                    <a:solidFill>
                      <a:srgbClr val="202020"/>
                    </a:solidFill>
                    <a:latin typeface="Calibri"/>
                  </a:rPr>
                  <a:t> plots</a:t>
                </a:r>
                <a:r>
                  <a:rPr sz="1800" b="0" i="0" dirty="0">
                    <a:solidFill>
                      <a:srgbClr val="202020"/>
                    </a:solidFill>
                    <a:latin typeface="Calibri"/>
                  </a:rPr>
                  <a:t> generated per </a:t>
                </a:r>
                <a:r>
                  <a:rPr lang="en-US" dirty="0">
                    <a:solidFill>
                      <a:srgbClr val="202020"/>
                    </a:solidFill>
                    <a:latin typeface="Calibri"/>
                  </a:rPr>
                  <a:t>experimental run - new plots being generated for DATA3 - </a:t>
                </a:r>
                <a:r>
                  <a:rPr sz="1800" b="0" i="0" dirty="0">
                    <a:solidFill>
                      <a:srgbClr val="202020"/>
                    </a:solidFill>
                    <a:latin typeface="Calibri"/>
                  </a:rPr>
                  <a:t> </a:t>
                </a:r>
                <a:endParaRPr lang="en-US" sz="1800" b="0" i="0" dirty="0">
                  <a:solidFill>
                    <a:srgbClr val="202020"/>
                  </a:solidFill>
                  <a:latin typeface="Calibri"/>
                </a:endParaRPr>
              </a:p>
              <a:p>
                <a:pPr marL="685800" lvl="1" indent="-228600">
                  <a:spcAft>
                    <a:spcPts val="1200"/>
                  </a:spcAft>
                  <a:buFont typeface="Arial"/>
                  <a:buChar char="•"/>
                </a:pPr>
                <a:r>
                  <a:rPr lang="en-US" dirty="0">
                    <a:solidFill>
                      <a:srgbClr val="202020"/>
                    </a:solidFill>
                    <a:latin typeface="Calibri"/>
                  </a:rPr>
                  <a:t>M</a:t>
                </a:r>
                <a:r>
                  <a:rPr b="0" i="0" dirty="0">
                    <a:solidFill>
                      <a:srgbClr val="202020"/>
                    </a:solidFill>
                    <a:latin typeface="Calibri"/>
                  </a:rPr>
                  <a:t>ass</a:t>
                </a:r>
                <a:r>
                  <a:rPr lang="en-US" b="0" i="0" dirty="0">
                    <a:solidFill>
                      <a:srgbClr val="202020"/>
                    </a:solidFill>
                    <a:latin typeface="Calibri"/>
                  </a:rPr>
                  <a:t>, </a:t>
                </a:r>
              </a:p>
              <a:p>
                <a:pPr marL="685800" lvl="1" indent="-228600">
                  <a:spcAft>
                    <a:spcPts val="1200"/>
                  </a:spcAft>
                  <a:buFont typeface="Arial"/>
                  <a:buChar char="•"/>
                </a:pPr>
                <a:r>
                  <a:rPr lang="en-US" b="0" i="0" dirty="0">
                    <a:solidFill>
                      <a:srgbClr val="202020"/>
                    </a:solidFill>
                    <a:latin typeface="Calibri"/>
                  </a:rPr>
                  <a:t>ICP-based</a:t>
                </a:r>
                <a:r>
                  <a:rPr b="0" i="0" dirty="0">
                    <a:solidFill>
                      <a:srgbClr val="202020"/>
                    </a:solidFill>
                    <a:latin typeface="Calibri"/>
                  </a:rPr>
                  <a:t> permeate </a:t>
                </a:r>
                <a:r>
                  <a:rPr lang="en-US" b="0" i="0" dirty="0">
                    <a:solidFill>
                      <a:srgbClr val="202020"/>
                    </a:solidFill>
                    <a:latin typeface="Calibri"/>
                  </a:rPr>
                  <a:t>+</a:t>
                </a:r>
                <a:r>
                  <a:rPr b="0" i="0" dirty="0">
                    <a:solidFill>
                      <a:srgbClr val="202020"/>
                    </a:solidFill>
                    <a:latin typeface="Calibri"/>
                  </a:rPr>
                  <a:t> retentate</a:t>
                </a:r>
                <a:r>
                  <a:rPr lang="en-US" dirty="0">
                    <a:solidFill>
                      <a:srgbClr val="202020"/>
                    </a:solidFill>
                  </a:rPr>
                  <a:t> concentration, </a:t>
                </a:r>
              </a:p>
              <a:p>
                <a:pPr marL="685800" lvl="1" indent="-228600">
                  <a:spcAft>
                    <a:spcPts val="1200"/>
                  </a:spcAft>
                  <a:buFont typeface="Arial"/>
                  <a:buChar char="•"/>
                </a:pPr>
                <a:r>
                  <a:rPr lang="en-US" dirty="0">
                    <a:solidFill>
                      <a:srgbClr val="202020"/>
                    </a:solidFill>
                  </a:rPr>
                  <a:t>Conductivity probe-based permeate + retentate data, and </a:t>
                </a:r>
              </a:p>
              <a:p>
                <a:pPr marL="685800" lvl="1" indent="-228600">
                  <a:spcAft>
                    <a:spcPts val="1200"/>
                  </a:spcAft>
                  <a:buFont typeface="Arial"/>
                  <a:buChar char="•"/>
                </a:pPr>
                <a:r>
                  <a:rPr lang="en-US" dirty="0">
                    <a:solidFill>
                      <a:srgbClr val="202020"/>
                    </a:solidFill>
                  </a:rPr>
                  <a:t>Conductivity probe-based permeate + retentate concentration</a:t>
                </a:r>
                <a:r>
                  <a:rPr b="0" i="0" dirty="0">
                    <a:solidFill>
                      <a:srgbClr val="202020"/>
                    </a:solidFill>
                    <a:latin typeface="Calibri"/>
                  </a:rPr>
                  <a:t>) at the identified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baseline="-25000" dirty="0" err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b="0" i="0" dirty="0">
                  <a:solidFill>
                    <a:srgbClr val="202020"/>
                  </a:solidFill>
                  <a:latin typeface="Calibri"/>
                </a:endParaRPr>
              </a:p>
              <a:p>
                <a:pPr marL="228600" indent="-228600">
                  <a:spcAft>
                    <a:spcPts val="1200"/>
                  </a:spcAft>
                  <a:buFont typeface="Arial"/>
                  <a:buChar char="•"/>
                </a:pPr>
                <a:r>
                  <a:rPr sz="1800" b="1" i="0" dirty="0">
                    <a:solidFill>
                      <a:srgbClr val="0C2340"/>
                    </a:solidFill>
                    <a:latin typeface="Calibri"/>
                  </a:rPr>
                  <a:t>Color coding:</a:t>
                </a:r>
                <a:r>
                  <a:rPr sz="1800" b="0" i="0" dirty="0">
                    <a:solidFill>
                      <a:srgbClr val="202020"/>
                    </a:solidFill>
                    <a:latin typeface="Calibri"/>
                  </a:rPr>
                  <a:t> fit/data plots follow the DATA2 convention (retentate vs permeate vs model)</a:t>
                </a:r>
                <a:r>
                  <a:rPr lang="en-US" sz="1800" b="0" i="0" dirty="0">
                    <a:solidFill>
                      <a:srgbClr val="202020"/>
                    </a:solidFill>
                    <a:latin typeface="Calibri"/>
                  </a:rPr>
                  <a:t> across all the plots</a:t>
                </a:r>
                <a:endParaRPr sz="1800" b="0" i="0" dirty="0">
                  <a:solidFill>
                    <a:srgbClr val="20202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371600"/>
                <a:ext cx="10972800" cy="3453253"/>
              </a:xfrm>
              <a:prstGeom prst="rect">
                <a:avLst/>
              </a:prstGeom>
              <a:blipFill>
                <a:blip r:embed="rId2"/>
                <a:stretch>
                  <a:fillRect l="-809" t="-1838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960293" y="6464808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900" b="0" i="0" dirty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2</a:t>
            </a:r>
          </a:p>
        </p:txBody>
      </p:sp>
      <p:pic>
        <p:nvPicPr>
          <p:cNvPr id="7" name="Picture 6" descr="notre_dame_logo.png">
            <a:extLst>
              <a:ext uri="{FF2B5EF4-FFF2-40B4-BE49-F238E27FC236}">
                <a16:creationId xmlns:a16="http://schemas.microsoft.com/office/drawing/2014/main" id="{DE3EB3F4-41AB-5AEE-7891-5106AC832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73" y="6500930"/>
            <a:ext cx="944413" cy="2203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426130"/>
            <a:ext cx="11274552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600" b="1" i="0" dirty="0">
                <a:solidFill>
                  <a:srgbClr val="0C2340"/>
                </a:solidFill>
                <a:latin typeface="Cambria"/>
              </a:rPr>
              <a:t>Topics I need help with</a:t>
            </a:r>
            <a:r>
              <a:rPr lang="en-US" sz="2600" b="1" i="0" dirty="0">
                <a:solidFill>
                  <a:srgbClr val="0C2340"/>
                </a:solidFill>
                <a:latin typeface="Cambria"/>
              </a:rPr>
              <a:t> – Overview points with plots to follow</a:t>
            </a:r>
            <a:endParaRPr sz="2600" b="1" i="0" dirty="0">
              <a:solidFill>
                <a:srgbClr val="0C2340"/>
              </a:solidFill>
              <a:latin typeface="Cambri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40080" y="1325880"/>
                <a:ext cx="10972800" cy="3184398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sz="1700" b="1" i="0" dirty="0">
                    <a:solidFill>
                      <a:srgbClr val="0C2340"/>
                    </a:solidFill>
                    <a:latin typeface="Calibri"/>
                  </a:rPr>
                  <a:t>Prioritization</a:t>
                </a:r>
                <a:r>
                  <a:rPr lang="en-US" sz="1700" b="1" i="0" dirty="0">
                    <a:solidFill>
                      <a:srgbClr val="0C2340"/>
                    </a:solidFill>
                    <a:latin typeface="Calibri"/>
                  </a:rPr>
                  <a:t> based on impact</a:t>
                </a:r>
                <a:r>
                  <a:rPr lang="en-US" sz="1700" b="1" dirty="0">
                    <a:solidFill>
                      <a:srgbClr val="0C2340"/>
                    </a:solidFill>
                    <a:latin typeface="Calibri"/>
                  </a:rPr>
                  <a:t>:</a:t>
                </a:r>
                <a:endParaRPr sz="1700" b="0" i="0" dirty="0">
                  <a:solidFill>
                    <a:srgbClr val="202020"/>
                  </a:solidFill>
                  <a:latin typeface="Calibri"/>
                </a:endParaRPr>
              </a:p>
              <a:p>
                <a:pPr marL="800100" lvl="1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1700" b="1" i="0" dirty="0">
                    <a:solidFill>
                      <a:srgbClr val="0C2340"/>
                    </a:solidFill>
                    <a:latin typeface="Calibri"/>
                  </a:rPr>
                  <a:t>Accuracy of process model</a:t>
                </a:r>
                <a:r>
                  <a:rPr sz="1700" b="1" i="0" dirty="0">
                    <a:solidFill>
                      <a:srgbClr val="0C2340"/>
                    </a:solidFill>
                    <a:latin typeface="Calibri"/>
                  </a:rPr>
                  <a:t>:</a:t>
                </a:r>
                <a:r>
                  <a:rPr lang="en-US" sz="1700" b="1" i="0" dirty="0">
                    <a:solidFill>
                      <a:srgbClr val="0C2340"/>
                    </a:solidFill>
                    <a:latin typeface="Calibri"/>
                  </a:rPr>
                  <a:t> Extended Nernst-Planck Equation</a:t>
                </a:r>
                <a:br>
                  <a:rPr lang="en-US" sz="1700" dirty="0">
                    <a:solidFill>
                      <a:srgbClr val="202020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7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7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7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d>
                          <m:dPr>
                            <m:ctrlPr>
                              <a:rPr lang="en-US" sz="1700" i="1" dirty="0">
                                <a:solidFill>
                                  <a:srgbClr val="20202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 i="1" dirty="0">
                                <a:solidFill>
                                  <a:srgbClr val="20202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700" i="1" dirty="0">
                                <a:solidFill>
                                  <a:srgbClr val="20202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i="1" dirty="0">
                                <a:solidFill>
                                  <a:srgbClr val="20202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sub>
                    </m:sSub>
                    <m:r>
                      <a:rPr lang="en-US" sz="17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7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7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7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lit/>
                      </m:rPr>
                      <a:rPr lang="en-US" sz="1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𝑅𝑇</m:t>
                    </m:r>
                    <m:r>
                      <a:rPr lang="en-US" sz="1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a:rPr lang="el-GR" sz="1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1700" dirty="0">
                  <a:solidFill>
                    <a:srgbClr val="FF0000"/>
                  </a:solidFill>
                </a:endParaRPr>
              </a:p>
              <a:p>
                <a:pPr marL="800100" lvl="1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sz="1700" b="1" i="0" dirty="0">
                    <a:solidFill>
                      <a:srgbClr val="0C2340"/>
                    </a:solidFill>
                    <a:latin typeface="Calibri"/>
                  </a:rPr>
                  <a:t>Interfacial concentration:</a:t>
                </a:r>
                <a:r>
                  <a:rPr sz="1700" b="0" i="0" dirty="0">
                    <a:solidFill>
                      <a:srgbClr val="202020"/>
                    </a:solidFill>
                    <a:latin typeface="Calibri"/>
                  </a:rPr>
                  <a:t> what range of membrane-interface concentration do the experiments actually probe?</a:t>
                </a:r>
                <a:r>
                  <a:rPr lang="en-US" sz="1700" b="0" i="0" dirty="0">
                    <a:solidFill>
                      <a:srgbClr val="202020"/>
                    </a:solidFill>
                    <a:latin typeface="Calibri"/>
                  </a:rPr>
                  <a:t> How does this impact our correlation B with the interfacial concentration?</a:t>
                </a:r>
                <a:br>
                  <a:rPr lang="en-US" sz="1700" b="0" i="0" dirty="0">
                    <a:solidFill>
                      <a:srgbClr val="202020"/>
                    </a:solidFill>
                    <a:latin typeface="Calibri"/>
                  </a:rPr>
                </a:br>
                <a:endParaRPr sz="1700" b="0" i="0" dirty="0">
                  <a:solidFill>
                    <a:srgbClr val="202020"/>
                  </a:solidFill>
                  <a:latin typeface="Calibri"/>
                </a:endParaRPr>
              </a:p>
              <a:p>
                <a:pPr marL="800100" lvl="1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sz="1700" b="1" i="0" dirty="0">
                    <a:solidFill>
                      <a:srgbClr val="0C2340"/>
                    </a:solidFill>
                    <a:latin typeface="Calibri"/>
                  </a:rPr>
                  <a:t>P</a:t>
                </a:r>
                <a:r>
                  <a:rPr lang="en-US" sz="1700" b="1" i="0" dirty="0">
                    <a:solidFill>
                      <a:srgbClr val="0C2340"/>
                    </a:solidFill>
                    <a:latin typeface="Calibri"/>
                  </a:rPr>
                  <a:t>e</a:t>
                </a:r>
                <a:r>
                  <a:rPr sz="1700" b="1" i="0" dirty="0">
                    <a:solidFill>
                      <a:srgbClr val="0C2340"/>
                    </a:solidFill>
                    <a:latin typeface="Calibri"/>
                  </a:rPr>
                  <a:t>clet framing:</a:t>
                </a:r>
                <a:r>
                  <a:rPr sz="1700" b="0" i="0" dirty="0">
                    <a:solidFill>
                      <a:srgbClr val="202020"/>
                    </a:solidFill>
                    <a:latin typeface="Calibri"/>
                  </a:rPr>
                  <a:t> the P</a:t>
                </a:r>
                <a:r>
                  <a:rPr lang="en-US" sz="1700" b="0" i="0" dirty="0">
                    <a:solidFill>
                      <a:srgbClr val="202020"/>
                    </a:solidFill>
                    <a:latin typeface="Calibri"/>
                  </a:rPr>
                  <a:t>e</a:t>
                </a:r>
                <a:r>
                  <a:rPr sz="1700" b="0" i="0" dirty="0">
                    <a:solidFill>
                      <a:srgbClr val="202020"/>
                    </a:solidFill>
                    <a:latin typeface="Calibri"/>
                  </a:rPr>
                  <a:t>clet number and the rejection law R(</a:t>
                </a:r>
                <a:r>
                  <a:rPr sz="1700" b="0" i="0" dirty="0" err="1">
                    <a:solidFill>
                      <a:srgbClr val="202020"/>
                    </a:solidFill>
                    <a:latin typeface="Calibri"/>
                  </a:rPr>
                  <a:t>σ</a:t>
                </a:r>
                <a:r>
                  <a:rPr sz="1700" b="0" i="0" dirty="0">
                    <a:solidFill>
                      <a:srgbClr val="202020"/>
                    </a:solidFill>
                    <a:latin typeface="Calibri"/>
                  </a:rPr>
                  <a:t>, Pe) </a:t>
                </a:r>
                <a:r>
                  <a:rPr lang="en-US" sz="1700" dirty="0">
                    <a:solidFill>
                      <a:srgbClr val="202020"/>
                    </a:solidFill>
                    <a:latin typeface="Calibri"/>
                  </a:rPr>
                  <a:t>- I</a:t>
                </a:r>
                <a:r>
                  <a:rPr sz="1700" b="0" i="0" dirty="0">
                    <a:solidFill>
                      <a:srgbClr val="202020"/>
                    </a:solidFill>
                    <a:latin typeface="Calibri"/>
                  </a:rPr>
                  <a:t>s this the right </a:t>
                </a:r>
                <a:r>
                  <a:rPr lang="en-US" sz="1700" dirty="0">
                    <a:solidFill>
                      <a:srgbClr val="202020"/>
                    </a:solidFill>
                    <a:latin typeface="Calibri"/>
                  </a:rPr>
                  <a:t>perspective</a:t>
                </a:r>
                <a:r>
                  <a:rPr sz="1700" b="0" i="0" dirty="0">
                    <a:solidFill>
                      <a:srgbClr val="202020"/>
                    </a:solidFill>
                    <a:latin typeface="Calibri"/>
                  </a:rPr>
                  <a:t>?</a:t>
                </a:r>
                <a:br>
                  <a:rPr lang="en-US" sz="1700" b="0" i="0" dirty="0">
                    <a:solidFill>
                      <a:srgbClr val="202020"/>
                    </a:solidFill>
                    <a:latin typeface="Calibri"/>
                  </a:rPr>
                </a:br>
                <a:endParaRPr sz="1700" b="0" i="0" dirty="0">
                  <a:solidFill>
                    <a:srgbClr val="202020"/>
                  </a:solidFill>
                  <a:latin typeface="Calibri"/>
                </a:endParaRPr>
              </a:p>
              <a:p>
                <a:pPr marL="800100" lvl="1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sz="1700" b="1" i="0" dirty="0">
                    <a:solidFill>
                      <a:srgbClr val="0C2340"/>
                    </a:solidFill>
                    <a:latin typeface="Calibri"/>
                  </a:rPr>
                  <a:t>Transport components:</a:t>
                </a:r>
                <a:r>
                  <a:rPr sz="1700" b="0" i="0" dirty="0">
                    <a:solidFill>
                      <a:srgbClr val="202020"/>
                    </a:solidFill>
                    <a:latin typeface="Calibri"/>
                  </a:rPr>
                  <a:t> dielectric exclusion, cross-coefficients </a:t>
                </a:r>
                <a:r>
                  <a:rPr sz="1700" b="0" i="0" dirty="0" err="1">
                    <a:solidFill>
                      <a:srgbClr val="202020"/>
                    </a:solidFill>
                    <a:latin typeface="Calibri"/>
                  </a:rPr>
                  <a:t>D</a:t>
                </a:r>
                <a:r>
                  <a:rPr sz="1700" b="0" i="0" baseline="-25000" dirty="0" err="1">
                    <a:solidFill>
                      <a:srgbClr val="202020"/>
                    </a:solidFill>
                    <a:latin typeface="Calibri"/>
                  </a:rPr>
                  <a:t>ij</a:t>
                </a:r>
                <a:r>
                  <a:rPr sz="1700" b="0" i="0" dirty="0">
                    <a:solidFill>
                      <a:srgbClr val="202020"/>
                    </a:solidFill>
                    <a:latin typeface="Calibri"/>
                  </a:rPr>
                  <a:t>, B(c), and activity coefficients — which to include?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325880"/>
                <a:ext cx="10972800" cy="3184398"/>
              </a:xfrm>
              <a:prstGeom prst="rect">
                <a:avLst/>
              </a:prstGeom>
              <a:blipFill>
                <a:blip r:embed="rId2"/>
                <a:stretch>
                  <a:fillRect l="-809" t="-1587" b="-1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960293" y="6464808"/>
            <a:ext cx="6974378" cy="17543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900" b="0" i="0" dirty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3</a:t>
            </a:r>
          </a:p>
        </p:txBody>
      </p:sp>
      <p:pic>
        <p:nvPicPr>
          <p:cNvPr id="7" name="Picture 6" descr="notre_dame_logo.png">
            <a:extLst>
              <a:ext uri="{FF2B5EF4-FFF2-40B4-BE49-F238E27FC236}">
                <a16:creationId xmlns:a16="http://schemas.microsoft.com/office/drawing/2014/main" id="{C493517F-5563-E86A-7669-9F9E94E03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73" y="6500930"/>
            <a:ext cx="944413" cy="2203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825C6C-5C1A-7342-E7B3-E1A93178BC95}"/>
              </a:ext>
            </a:extLst>
          </p:cNvPr>
          <p:cNvSpPr txBox="1"/>
          <p:nvPr/>
        </p:nvSpPr>
        <p:spPr>
          <a:xfrm>
            <a:off x="12611100" y="3714750"/>
            <a:ext cx="5191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Identifiability:</a:t>
            </a:r>
            <a:r>
              <a:rPr lang="en-US" dirty="0">
                <a:solidFill>
                  <a:schemeClr val="bg2"/>
                </a:solidFill>
              </a:rPr>
              <a:t> given </a:t>
            </a:r>
            <a:r>
              <a:rPr lang="el-GR" dirty="0">
                <a:solidFill>
                  <a:schemeClr val="bg2"/>
                </a:solidFill>
              </a:rPr>
              <a:t>σ </a:t>
            </a:r>
            <a:r>
              <a:rPr lang="en-US" dirty="0">
                <a:solidFill>
                  <a:schemeClr val="bg2"/>
                </a:solidFill>
              </a:rPr>
              <a:t>is unidentified in most single-salt experiments, how far can B(c) claims go?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Single experiments determine B, not σ</a:t>
            </a:r>
          </a:p>
        </p:txBody>
      </p:sp>
      <p:pic>
        <p:nvPicPr>
          <p:cNvPr id="4" name="Picture 3" descr="all_slide1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48888"/>
            <a:ext cx="11612880" cy="37829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51326"/>
            <a:ext cx="11091672" cy="124947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Each response’s log-WSSE has a narrow valley in B but is nearly flat in σ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(representative concentrating CaCl</a:t>
            </a:r>
            <a:r>
              <a:rPr sz="1400" b="0" i="0" baseline="-25000">
                <a:solidFill>
                  <a:srgbClr val="202020"/>
                </a:solidFill>
                <a:latin typeface="Calibri"/>
              </a:rPr>
              <a:t>2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; L</a:t>
            </a:r>
            <a:r>
              <a:rPr sz="1400" b="0" i="0" baseline="-25000">
                <a:solidFill>
                  <a:srgbClr val="202020"/>
                </a:solidFill>
                <a:latin typeface="Calibri"/>
              </a:rPr>
              <a:t>p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fixed at its identified optimum).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σ rails to its bound while B stays well-determined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— the two are correlated, so one experiment cannot recover σ.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Consequence: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“is B concentration-dependent?” must be posed carefully — we lean on mechanism, not fit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0293" y="6464808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900" b="0" i="0" dirty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4</a:t>
            </a:r>
          </a:p>
        </p:txBody>
      </p:sp>
      <p:pic>
        <p:nvPicPr>
          <p:cNvPr id="8" name="Picture 7" descr="notre_dame_logo.png">
            <a:extLst>
              <a:ext uri="{FF2B5EF4-FFF2-40B4-BE49-F238E27FC236}">
                <a16:creationId xmlns:a16="http://schemas.microsoft.com/office/drawing/2014/main" id="{2C9F878C-3D27-EB8E-B821-66572C728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73" y="6500930"/>
            <a:ext cx="944413" cy="2203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26130"/>
            <a:ext cx="11274552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600" b="1" dirty="0">
                <a:solidFill>
                  <a:srgbClr val="0C2340"/>
                </a:solidFill>
                <a:latin typeface="Cambria"/>
              </a:rPr>
              <a:t>M</a:t>
            </a:r>
            <a:r>
              <a:rPr sz="2600" b="1" i="0" dirty="0">
                <a:solidFill>
                  <a:srgbClr val="0C2340"/>
                </a:solidFill>
                <a:latin typeface="Cambria"/>
              </a:rPr>
              <a:t>embrane spans diffusion- and convection-limited regimes</a:t>
            </a:r>
          </a:p>
        </p:txBody>
      </p:sp>
      <p:pic>
        <p:nvPicPr>
          <p:cNvPr id="4" name="Picture 3" descr="slide13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048" y="960120"/>
            <a:ext cx="9398000" cy="33832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8640" y="4396985"/>
                <a:ext cx="11091672" cy="50292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>
                  <a:defRPr sz="1800">
                    <a:solidFill>
                      <a:srgbClr val="0C234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Pe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/>
                            <m:t>convection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/>
                            <m:t>diffusion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4396985"/>
                <a:ext cx="11091672" cy="502920"/>
              </a:xfrm>
              <a:prstGeom prst="rect">
                <a:avLst/>
              </a:prstGeom>
              <a:blipFill>
                <a:blip r:embed="rId3"/>
                <a:stretch>
                  <a:fillRect t="-75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8640" y="4965192"/>
                <a:ext cx="11091672" cy="50292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>
                  <a:defRPr sz="1800">
                    <a:solidFill>
                      <a:srgbClr val="0C234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 panose="02040503050406030204" pitchFamily="18" charset="0"/>
                                    </a:rPr>
                                    <m:t>Pe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 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Pe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4965192"/>
                <a:ext cx="11091672" cy="502920"/>
              </a:xfrm>
              <a:prstGeom prst="rect">
                <a:avLst/>
              </a:prstGeom>
              <a:blipFill>
                <a:blip r:embed="rId4"/>
                <a:stretch>
                  <a:fillRect b="-4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48640" y="5550407"/>
            <a:ext cx="11091672" cy="8503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Diluting NaCl is diffusion-limited (Pe* ≈ 10</a:t>
            </a:r>
            <a:r>
              <a:rPr sz="1400" b="1" i="0" baseline="30000">
                <a:solidFill>
                  <a:srgbClr val="0C2340"/>
                </a:solidFill>
                <a:latin typeface="Calibri"/>
              </a:rPr>
              <a:t>-3</a:t>
            </a:r>
            <a:r>
              <a:rPr sz="1400" b="1" i="0">
                <a:solidFill>
                  <a:srgbClr val="0C2340"/>
                </a:solidFill>
                <a:latin typeface="Calibri"/>
              </a:rPr>
              <a:t>); concentrating NaCl / CaCl</a:t>
            </a:r>
            <a:r>
              <a:rPr sz="1400" b="1" i="0" baseline="-25000">
                <a:solidFill>
                  <a:srgbClr val="0C2340"/>
                </a:solidFill>
                <a:latin typeface="Calibri"/>
              </a:rPr>
              <a:t>2</a:t>
            </a:r>
            <a:r>
              <a:rPr sz="1400" b="1" i="0">
                <a:solidFill>
                  <a:srgbClr val="0C2340"/>
                </a:solidFill>
                <a:latin typeface="Calibri"/>
              </a:rPr>
              <a:t> / LaCl</a:t>
            </a:r>
            <a:r>
              <a:rPr sz="1400" b="1" i="0" baseline="-25000">
                <a:solidFill>
                  <a:srgbClr val="0C2340"/>
                </a:solidFill>
                <a:latin typeface="Calibri"/>
              </a:rPr>
              <a:t>3</a:t>
            </a:r>
            <a:r>
              <a:rPr sz="1400" b="1" i="0">
                <a:solidFill>
                  <a:srgbClr val="0C2340"/>
                </a:solidFill>
                <a:latin typeface="Calibri"/>
              </a:rPr>
              <a:t> are convection-dominated (Pe* ≈ 77 / 36 / 36).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Mechanistic inference, not a direct demonstration: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Pe and B come from the same fitted model — this motivates B(c), it does not prove it.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To tabulate for review: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water flux Jw, membrane length-scale L, and diffusivity D</a:t>
            </a:r>
            <a:r>
              <a:rPr sz="1400" b="0" i="0" baseline="-25000">
                <a:solidFill>
                  <a:srgbClr val="202020"/>
                </a:solidFill>
                <a:latin typeface="Calibri"/>
              </a:rPr>
              <a:t>m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per salt.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0293" y="6464808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900" b="0" i="0" dirty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5</a:t>
            </a:r>
          </a:p>
        </p:txBody>
      </p:sp>
      <p:pic>
        <p:nvPicPr>
          <p:cNvPr id="10" name="Picture 9" descr="notre_dame_logo.png">
            <a:extLst>
              <a:ext uri="{FF2B5EF4-FFF2-40B4-BE49-F238E27FC236}">
                <a16:creationId xmlns:a16="http://schemas.microsoft.com/office/drawing/2014/main" id="{ED522A5C-EF7E-0DB5-86CF-FF0896CA6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73" y="6500930"/>
            <a:ext cx="944413" cy="2203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All single-salt windows sit on the Donnan plateau</a:t>
            </a:r>
          </a:p>
        </p:txBody>
      </p:sp>
      <p:pic>
        <p:nvPicPr>
          <p:cNvPr id="4" name="Picture 3" descr="slide14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115" y="960120"/>
            <a:ext cx="6891866" cy="33832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8640" y="4471416"/>
                <a:ext cx="11091672" cy="50292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>
                  <a:defRPr sz="1800">
                    <a:solidFill>
                      <a:srgbClr val="0C234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+4</m:t>
                                  </m:r>
                                  <m:sSup>
                                    <m:sSup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4471416"/>
                <a:ext cx="11091672" cy="502920"/>
              </a:xfrm>
              <a:prstGeom prst="rect">
                <a:avLst/>
              </a:prstGeom>
              <a:blipFill>
                <a:blip r:embed="rId3"/>
                <a:stretch>
                  <a:fillRect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8640" y="5101218"/>
                <a:ext cx="11091672" cy="50292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>
                  <a:defRPr sz="1800">
                    <a:solidFill>
                      <a:srgbClr val="0C234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plateau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, 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knee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, 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/>
                                <m:t>knee</m:t>
                              </m:r>
                            </m:sub>
                          </m:sSub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𝑘𝑐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5101218"/>
                <a:ext cx="11091672" cy="502920"/>
              </a:xfrm>
              <a:prstGeom prst="rect">
                <a:avLst/>
              </a:prstGeom>
              <a:blipFill>
                <a:blip r:embed="rId4"/>
                <a:stretch>
                  <a:fillRect b="-39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48640" y="5686433"/>
            <a:ext cx="11091672" cy="8503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B(c) collapses onto one master curve; every measured window is at u ≈ 10</a:t>
            </a:r>
            <a:r>
              <a:rPr sz="1400" b="1" i="0" baseline="30000">
                <a:solidFill>
                  <a:srgbClr val="0C2340"/>
                </a:solidFill>
                <a:latin typeface="Calibri"/>
              </a:rPr>
              <a:t>3</a:t>
            </a:r>
            <a:r>
              <a:rPr sz="1400" b="1" i="0">
                <a:solidFill>
                  <a:srgbClr val="0C2340"/>
                </a:solidFill>
                <a:latin typeface="Calibri"/>
              </a:rPr>
              <a:t>–10</a:t>
            </a:r>
            <a:r>
              <a:rPr sz="1400" b="1" i="0" baseline="30000">
                <a:solidFill>
                  <a:srgbClr val="0C2340"/>
                </a:solidFill>
                <a:latin typeface="Calibri"/>
              </a:rPr>
              <a:t>5</a:t>
            </a:r>
            <a:r>
              <a:rPr sz="1400" b="1" i="0">
                <a:solidFill>
                  <a:srgbClr val="0C2340"/>
                </a:solidFill>
                <a:latin typeface="Calibri"/>
              </a:rPr>
              <a:t> (screened plateau)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→ B is ≈ constant in-window (the screened-plateau value).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The knee c_knee = X / 2k rails 10</a:t>
            </a:r>
            <a:r>
              <a:rPr sz="1400" b="1" i="0" baseline="30000">
                <a:solidFill>
                  <a:srgbClr val="0C2340"/>
                </a:solidFill>
                <a:latin typeface="Calibri"/>
              </a:rPr>
              <a:t>3</a:t>
            </a:r>
            <a:r>
              <a:rPr sz="1400" b="1" i="0">
                <a:solidFill>
                  <a:srgbClr val="0C2340"/>
                </a:solidFill>
                <a:latin typeface="Calibri"/>
              </a:rPr>
              <a:t>–10</a:t>
            </a:r>
            <a:r>
              <a:rPr sz="1400" b="1" i="0" baseline="30000">
                <a:solidFill>
                  <a:srgbClr val="0C2340"/>
                </a:solidFill>
                <a:latin typeface="Calibri"/>
              </a:rPr>
              <a:t>5</a:t>
            </a:r>
            <a:r>
              <a:rPr sz="1400" b="1" i="0">
                <a:solidFill>
                  <a:srgbClr val="0C2340"/>
                </a:solidFill>
                <a:latin typeface="Calibri"/>
              </a:rPr>
              <a:t>× below the data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→ the fixed-charge scale X is not identified from one salt.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0293" y="6464808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900" b="0" i="0" dirty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6</a:t>
            </a:r>
          </a:p>
        </p:txBody>
      </p:sp>
      <p:pic>
        <p:nvPicPr>
          <p:cNvPr id="10" name="Picture 9" descr="notre_dame_logo.png">
            <a:extLst>
              <a:ext uri="{FF2B5EF4-FFF2-40B4-BE49-F238E27FC236}">
                <a16:creationId xmlns:a16="http://schemas.microsoft.com/office/drawing/2014/main" id="{3E2A8C4F-0AAC-52C5-06A3-473CC9371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73" y="6500930"/>
            <a:ext cx="944413" cy="2203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B(c): in-window agreement, out-of-window divergence — LaCl</a:t>
            </a:r>
            <a:r>
              <a:rPr sz="2600" b="1" i="0" baseline="-25000">
                <a:solidFill>
                  <a:srgbClr val="0C2340"/>
                </a:solidFill>
                <a:latin typeface="Cambria"/>
              </a:rPr>
              <a:t>3</a:t>
            </a:r>
          </a:p>
        </p:txBody>
      </p:sp>
      <p:pic>
        <p:nvPicPr>
          <p:cNvPr id="4" name="Picture 3" descr="slide15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227" y="960120"/>
            <a:ext cx="10197641" cy="33832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8640" y="4471416"/>
                <a:ext cx="11091672" cy="50292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>
                  <a:defRPr sz="1800">
                    <a:solidFill>
                      <a:srgbClr val="0C234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4471416"/>
                <a:ext cx="11091672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8640" y="4965192"/>
                <a:ext cx="11091672" cy="50292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>
                  <a:defRPr sz="1800">
                    <a:solidFill>
                      <a:srgbClr val="0C234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4965192"/>
                <a:ext cx="11091672" cy="502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48640" y="5550407"/>
            <a:ext cx="11091672" cy="8503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Within the measured window, constant / linear / quadratic / cubic / saturating-exp all agree (B ≈ 0.3 µm·s</a:t>
            </a:r>
            <a:r>
              <a:rPr sz="1400" b="1" i="0" baseline="30000">
                <a:solidFill>
                  <a:srgbClr val="0C2340"/>
                </a:solidFill>
                <a:latin typeface="Calibri"/>
              </a:rPr>
              <a:t>-1</a:t>
            </a:r>
            <a:r>
              <a:rPr sz="1400" b="1" i="0">
                <a:solidFill>
                  <a:srgbClr val="0C2340"/>
                </a:solidFill>
                <a:latin typeface="Calibri"/>
              </a:rPr>
              <a:t>).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Extrapolated, the polynomials diverge unphysically (cubic → negative); Donnan and saturating-exp stay bounded.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The Donnan–dielectric is the mechanistically-grounded, physically-bounded form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— the data do not discriminate it from a constant in-window.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0293" y="6464808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900" b="0" i="0" dirty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7</a:t>
            </a:r>
          </a:p>
        </p:txBody>
      </p:sp>
      <p:pic>
        <p:nvPicPr>
          <p:cNvPr id="10" name="Picture 9" descr="notre_dame_logo.png">
            <a:extLst>
              <a:ext uri="{FF2B5EF4-FFF2-40B4-BE49-F238E27FC236}">
                <a16:creationId xmlns:a16="http://schemas.microsoft.com/office/drawing/2014/main" id="{69D7D0E3-9234-D819-9AB0-17D99247B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73" y="6500930"/>
            <a:ext cx="944413" cy="2203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Same behavior for CaCl</a:t>
            </a:r>
            <a:r>
              <a:rPr sz="2600" b="1" i="0" baseline="-25000">
                <a:solidFill>
                  <a:srgbClr val="0C2340"/>
                </a:solidFill>
                <a:latin typeface="Cambria"/>
              </a:rPr>
              <a:t>2</a:t>
            </a:r>
          </a:p>
        </p:txBody>
      </p:sp>
      <p:pic>
        <p:nvPicPr>
          <p:cNvPr id="4" name="Picture 3" descr="slide16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13973"/>
            <a:ext cx="11612880" cy="38528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86242"/>
            <a:ext cx="11091672" cy="121455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Identical picture: in-window agreement, out-of-window polynomial divergence, Donnan bounded.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On parsimony (AIC) a constant fits as well in-window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— prefer Donnan for mechanism and physical extrapolation, not in-window fit.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Next step to pin X: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a joint multi-salt fit (re-parameterized by ionic strength) reaches lower u and probes the knee.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0293" y="6464808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900" b="0" i="0" dirty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8</a:t>
            </a:r>
          </a:p>
        </p:txBody>
      </p:sp>
      <p:pic>
        <p:nvPicPr>
          <p:cNvPr id="8" name="Picture 7" descr="notre_dame_logo.png">
            <a:extLst>
              <a:ext uri="{FF2B5EF4-FFF2-40B4-BE49-F238E27FC236}">
                <a16:creationId xmlns:a16="http://schemas.microsoft.com/office/drawing/2014/main" id="{68FA4AAE-1920-EC13-AD09-DA2B7CD09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73" y="6500930"/>
            <a:ext cx="944413" cy="2203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771</Words>
  <Application>Microsoft Macintosh PowerPoint</Application>
  <PresentationFormat>Widescreen</PresentationFormat>
  <Paragraphs>58</Paragraphs>
  <Slides>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Keshav Kasturi Rangan</cp:lastModifiedBy>
  <cp:revision>2</cp:revision>
  <dcterms:created xsi:type="dcterms:W3CDTF">2013-01-27T09:14:16Z</dcterms:created>
  <dcterms:modified xsi:type="dcterms:W3CDTF">2026-06-24T11:35:50Z</dcterms:modified>
  <cp:category/>
</cp:coreProperties>
</file>
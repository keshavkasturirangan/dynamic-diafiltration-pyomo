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r>
              <a:rPr sz="3800" b="1" i="0">
                <a:solidFill>
                  <a:srgbClr val="0C2340"/>
                </a:solidFill>
                <a:latin typeface="Cambria"/>
              </a:rPr>
              <a:t>Rejection vs Péclet — the σ-family diagnostic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B88A00"/>
                </a:solidFill>
                <a:latin typeface="Calibri"/>
              </a:rPr>
              <a:t>DATA3 single-salt NF270 · which reflection coefficient σ does each experiment support?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54880"/>
            <a:ext cx="10058400" cy="100584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r>
              <a:rPr sz="1500" b="1" i="0">
                <a:solidFill>
                  <a:srgbClr val="0C2340"/>
                </a:solidFill>
                <a:latin typeface="Calibri"/>
              </a:rPr>
              <a:t>Results update · July 30, 2026</a:t>
            </a:r>
          </a:p>
          <a:p>
            <a:r>
              <a:rPr sz="1300" b="0" i="0">
                <a:solidFill>
                  <a:srgbClr val="666666"/>
                </a:solidFill>
                <a:latin typeface="Calibri"/>
              </a:rPr>
              <a:t>Keshav Kasturi Rangan · University of Notre Dame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The diagnostic: Spiegler–Kedem rejection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ctr"/>
            <a:r>
              <a:rPr sz="2200" b="1" i="0">
                <a:solidFill>
                  <a:srgbClr val="0C2340"/>
                </a:solidFill>
                <a:latin typeface="Cambria"/>
              </a:rPr>
              <a:t>R = σ(1 − e⁻ᴾᵉ) / (1 − σ·e⁻ᴾᵉ)      with      Pe = Jw·L / Dₘ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881360" cy="402336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indent="-228600" marL="228600">
              <a:spcAft>
                <a:spcPts val="1100"/>
              </a:spcAft>
              <a:buFont typeface="Arial"/>
              <a:buChar char="•"/>
            </a:pPr>
            <a:r>
              <a:rPr sz="1700" b="1" i="0">
                <a:solidFill>
                  <a:srgbClr val="0C2340"/>
                </a:solidFill>
                <a:latin typeface="Calibri"/>
              </a:rPr>
              <a:t>One curve per σ.</a:t>
            </a:r>
            <a:r>
              <a:rPr sz="1700" b="0" i="0">
                <a:solidFill>
                  <a:srgbClr val="202020"/>
                </a:solidFill>
                <a:latin typeface="Calibri"/>
              </a:rPr>
              <a:t> Each σ traces a rejection curve: R → 0 as Pe → 0 (diffusion), rising to a plateau R → σ as Pe ≫ 1 (convection).</a:t>
            </a:r>
          </a:p>
          <a:p>
            <a:pPr indent="-228600" marL="228600">
              <a:spcAft>
                <a:spcPts val="1100"/>
              </a:spcAft>
              <a:buFont typeface="Arial"/>
              <a:buChar char="•"/>
            </a:pPr>
            <a:r>
              <a:rPr sz="1700" b="1" i="0">
                <a:solidFill>
                  <a:srgbClr val="0C2340"/>
                </a:solidFill>
                <a:latin typeface="Calibri"/>
              </a:rPr>
              <a:t>Place each experiment at its fitted Pe*</a:t>
            </a:r>
            <a:r>
              <a:rPr sz="1700" b="0" i="0">
                <a:solidFill>
                  <a:srgbClr val="202020"/>
                </a:solidFill>
                <a:latin typeface="Calibri"/>
              </a:rPr>
              <a:t> (the regression-optimal Péclet from the MSE-vs-Pe analysis) and its observed rejection R = 1 − cH/cIn.</a:t>
            </a:r>
          </a:p>
          <a:p>
            <a:pPr indent="-228600" marL="228600">
              <a:spcAft>
                <a:spcPts val="1100"/>
              </a:spcAft>
              <a:buFont typeface="Arial"/>
              <a:buChar char="•"/>
            </a:pPr>
            <a:r>
              <a:rPr sz="1700" b="1" i="0">
                <a:solidFill>
                  <a:srgbClr val="0C2340"/>
                </a:solidFill>
                <a:latin typeface="Calibri"/>
              </a:rPr>
              <a:t>Read-off idea:</a:t>
            </a:r>
            <a:r>
              <a:rPr sz="1700" b="0" i="0">
                <a:solidFill>
                  <a:srgbClr val="202020"/>
                </a:solidFill>
                <a:latin typeface="Calibri"/>
              </a:rPr>
              <a:t> the σ-curve passing through an experiment's (Pe*, R) point is the σ that experiment 'looks like'.</a:t>
            </a:r>
          </a:p>
          <a:p>
            <a:pPr indent="-228600" marL="228600">
              <a:spcAft>
                <a:spcPts val="1100"/>
              </a:spcAft>
              <a:buFont typeface="Arial"/>
              <a:buChar char="•"/>
            </a:pPr>
            <a:r>
              <a:rPr sz="1700" b="1" i="0">
                <a:solidFill>
                  <a:srgbClr val="0C2340"/>
                </a:solidFill>
                <a:latin typeface="Calibri"/>
              </a:rPr>
              <a:t>Why it matters:</a:t>
            </a:r>
            <a:r>
              <a:rPr sz="1700" b="0" i="0">
                <a:solidFill>
                  <a:srgbClr val="202020"/>
                </a:solidFill>
                <a:latin typeface="Calibri"/>
              </a:rPr>
              <a:t> a quick, per-experiment way to see what σ the data imply — and how tightly σ is (or isn't) pinned.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· Rejection σ-family (Task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651760" cy="292608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2026-07-30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DATA3 single-salt operating points on the σ-family</a:t>
            </a:r>
          </a:p>
        </p:txBody>
      </p:sp>
      <p:pic>
        <p:nvPicPr>
          <p:cNvPr id="4" name="Picture 3" descr="rejection_sigma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931" y="1051560"/>
            <a:ext cx="832165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· Rejection σ-family (Task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51760" cy="292608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2026-07-30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What each experiment lands 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017520"/>
                <a:gridCol w="2194560"/>
                <a:gridCol w="3017520"/>
              </a:tblGrid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 marL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Regime (Pe*)</a:t>
                      </a:r>
                    </a:p>
                  </a:txBody>
                  <a:tcPr marL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Observed R</a:t>
                      </a:r>
                    </a:p>
                  </a:txBody>
                  <a:tcPr marL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σ it looks like</a:t>
                      </a:r>
                    </a:p>
                  </a:txBody>
                  <a:tcPr marL="91440" marT="36576" marB="36576">
                    <a:solidFill>
                      <a:srgbClr val="0C23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Calibri"/>
                        </a:rPr>
                        <a:t>diluting NaCl</a:t>
                      </a:r>
                    </a:p>
                  </a:txBody>
                  <a:tcPr marL="91440" marT="36576" marB="36576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Calibri"/>
                        </a:rPr>
                        <a:t>diffusion (Pe*≈10⁻³)</a:t>
                      </a:r>
                    </a:p>
                  </a:txBody>
                  <a:tcPr marL="91440" marT="36576" marB="36576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91440" marT="36576" marB="36576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Calibri"/>
                        </a:rPr>
                        <a:t>— (off-regime; see note)</a:t>
                      </a:r>
                    </a:p>
                  </a:txBody>
                  <a:tcPr marL="91440" marT="36576" marB="36576">
                    <a:solidFill>
                      <a:srgbClr val="EF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Calibri"/>
                        </a:rPr>
                        <a:t>conc NaCl</a:t>
                      </a:r>
                    </a:p>
                  </a:txBody>
                  <a:tcPr marL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Calibri"/>
                        </a:rPr>
                        <a:t>convection (Pe*≈77)</a:t>
                      </a:r>
                    </a:p>
                  </a:txBody>
                  <a:tcPr marL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Calibri"/>
                        </a:rPr>
                        <a:t>≈ 0.5</a:t>
                      </a:r>
                    </a:p>
                  </a:txBody>
                  <a:tcPr marL="91440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Calibri"/>
                        </a:rPr>
                        <a:t>conc CaCl₂</a:t>
                      </a:r>
                    </a:p>
                  </a:txBody>
                  <a:tcPr marL="91440" marT="36576" marB="36576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Calibri"/>
                        </a:rPr>
                        <a:t>convection (Pe*≈36)</a:t>
                      </a:r>
                    </a:p>
                  </a:txBody>
                  <a:tcPr marL="91440" marT="36576" marB="36576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 marL="91440" marT="36576" marB="36576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Calibri"/>
                        </a:rPr>
                        <a:t>≈ 0.36</a:t>
                      </a:r>
                    </a:p>
                  </a:txBody>
                  <a:tcPr marL="91440" marT="36576" marB="36576">
                    <a:solidFill>
                      <a:srgbClr val="EF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02020"/>
                          </a:solidFill>
                          <a:latin typeface="Calibri"/>
                        </a:rPr>
                        <a:t>conc LaCl₃</a:t>
                      </a:r>
                    </a:p>
                  </a:txBody>
                  <a:tcPr marL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Calibri"/>
                        </a:rPr>
                        <a:t>convection (Pe*≈36)</a:t>
                      </a:r>
                    </a:p>
                  </a:txBody>
                  <a:tcPr marL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020"/>
                          </a:solidFill>
                          <a:latin typeface="Calibri"/>
                        </a:rPr>
                        <a:t>≈ 0.93</a:t>
                      </a:r>
                    </a:p>
                  </a:txBody>
                  <a:tcPr marL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06240"/>
            <a:ext cx="10881360" cy="173736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r>
              <a:rPr sz="1350" b="0" i="1">
                <a:solidFill>
                  <a:srgbClr val="666666"/>
                </a:solidFill>
                <a:latin typeface="Calibri"/>
              </a:rPr>
              <a:t>Note — diluting NaCl is diffusion-limited (Pe*→0): at that regime every σ-curve is ≈0, so its measured rejection (0.42) sits ABOVE the family. Its rejection is set by diffusion / B, not σ — this diagnostic's σ read-off only applies in the convection regime (Pe ≫ 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· Rejection σ-family (Task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651760" cy="292608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2026-07-30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 anchor="ctr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What it tells us — and the honest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0" cy="4937760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indent="-228600" marL="228600">
              <a:spcAft>
                <a:spcPts val="900"/>
              </a:spcAft>
              <a:buFont typeface="Arial"/>
              <a:buChar char="•"/>
            </a:pPr>
            <a:r>
              <a:rPr sz="1550" b="1" i="0">
                <a:solidFill>
                  <a:srgbClr val="0C2340"/>
                </a:solidFill>
                <a:latin typeface="Calibri"/>
              </a:rPr>
              <a:t>At high Pe, R → an effective σ.</a:t>
            </a:r>
            <a:r>
              <a:rPr sz="1550" b="0" i="0">
                <a:solidFill>
                  <a:srgbClr val="202020"/>
                </a:solidFill>
                <a:latin typeface="Calibri"/>
              </a:rPr>
              <a:t> The three concentrating salts land on well-separated plateaus (≈0.5, 0.36, 0.93) — so the rejection IS well-measured per experiment.</a:t>
            </a:r>
          </a:p>
          <a:p>
            <a:pPr indent="-228600" marL="228600">
              <a:spcAft>
                <a:spcPts val="900"/>
              </a:spcAft>
              <a:buFont typeface="Arial"/>
              <a:buChar char="•"/>
            </a:pPr>
            <a:r>
              <a:rPr sz="1550" b="1" i="0">
                <a:solidFill>
                  <a:srgbClr val="0C2340"/>
                </a:solidFill>
                <a:latin typeface="Calibri"/>
              </a:rPr>
              <a:t>But that 'σ' is confounded with B.</a:t>
            </a:r>
            <a:r>
              <a:rPr sz="1550" b="0" i="0">
                <a:solidFill>
                  <a:srgbClr val="202020"/>
                </a:solidFill>
                <a:latin typeface="Calibri"/>
              </a:rPr>
              <a:t> Rejection is produced jointly by the reflection coefficient σ AND the diffusive permeability B; the fit trades one for the other along the σ–B trough (fitted σ actually railed to 1/1/1/0).</a:t>
            </a:r>
          </a:p>
          <a:p>
            <a:pPr indent="-228600" marL="228600">
              <a:spcAft>
                <a:spcPts val="900"/>
              </a:spcAft>
              <a:buFont typeface="Arial"/>
              <a:buChar char="•"/>
            </a:pPr>
            <a:r>
              <a:rPr sz="1550" b="1" i="0">
                <a:solidFill>
                  <a:srgbClr val="0C2340"/>
                </a:solidFill>
                <a:latin typeface="Calibri"/>
              </a:rPr>
              <a:t>So this diagnostic pins the rejection, not the true σ.</a:t>
            </a:r>
            <a:r>
              <a:rPr sz="1550" b="0" i="0">
                <a:solidFill>
                  <a:srgbClr val="202020"/>
                </a:solidFill>
                <a:latin typeface="Calibri"/>
              </a:rPr>
              <a:t> Reading σ off the family assumes B contributes nothing — it does. The single-experiment σ therefore stays unidentified, consistent with the σ×B contour finding.</a:t>
            </a:r>
          </a:p>
          <a:p>
            <a:pPr indent="-228600" marL="228600">
              <a:spcAft>
                <a:spcPts val="900"/>
              </a:spcAft>
              <a:buFont typeface="Arial"/>
              <a:buChar char="•"/>
            </a:pPr>
            <a:r>
              <a:rPr sz="1550" b="1" i="0">
                <a:solidFill>
                  <a:srgbClr val="0C2340"/>
                </a:solidFill>
                <a:latin typeface="Calibri"/>
              </a:rPr>
              <a:t>Diffusion-limited runs are off-regime.</a:t>
            </a:r>
            <a:r>
              <a:rPr sz="1550" b="0" i="0">
                <a:solidFill>
                  <a:srgbClr val="202020"/>
                </a:solidFill>
                <a:latin typeface="Calibri"/>
              </a:rPr>
              <a:t> Diluting NaCl (Pe*→0) can't be placed on the σ-family at all.</a:t>
            </a:r>
          </a:p>
          <a:p>
            <a:pPr indent="-228600" marL="228600">
              <a:spcAft>
                <a:spcPts val="900"/>
              </a:spcAft>
              <a:buFont typeface="Arial"/>
              <a:buChar char="•"/>
            </a:pPr>
            <a:r>
              <a:rPr sz="1550" b="1" i="0">
                <a:solidFill>
                  <a:srgbClr val="0C2340"/>
                </a:solidFill>
                <a:latin typeface="Calibri"/>
              </a:rPr>
              <a:t>The lever is pooling.</a:t>
            </a:r>
            <a:r>
              <a:rPr sz="1550" b="0" i="0">
                <a:solidFill>
                  <a:srgbClr val="202020"/>
                </a:solidFill>
                <a:latin typeface="Calibri"/>
              </a:rPr>
              <a:t> Separating σ from B needs data across conditions — stacking same-salt/regime experiments (summed Fisher information) to sharpen 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· Rejection σ-family (Task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51760" cy="292608"/>
          </a:xfrm>
          <a:prstGeom prst="rect">
            <a:avLst/>
          </a:prstGeom>
          <a:noFill/>
        </p:spPr>
        <p:txBody>
          <a:bodyPr wrap="square" anchor="t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2026-07-30 ·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
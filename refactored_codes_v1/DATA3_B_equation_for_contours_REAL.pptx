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7C86"/>
                </a:solidFill>
                <a:latin typeface="Calibri"/>
              </a:rPr>
              <a:t>DATA3 · NF270 SINGLE-SALT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162A4D"/>
                </a:solidFill>
                <a:latin typeface="Calibri"/>
              </a:rPr>
              <a:t>Choosing the B(c) correlation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162A4D"/>
                </a:solidFill>
                <a:latin typeface="Calibri"/>
              </a:rPr>
              <a:t>for identifiable fits and contour seeding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F2E"/>
                </a:solidFill>
                <a:latin typeface="Calibri"/>
              </a:rPr>
              <a:t>Why B and σ hit the walls — and the solute-permeability equation that fixes the contours, the seeds, and the fits.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029200"/>
            <a:ext cx="2926080" cy="15240"/>
          </a:xfrm>
          <a:prstGeom prst="rect">
            <a:avLst/>
          </a:prstGeom>
          <a:solidFill>
            <a:srgbClr val="D7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A1F2E"/>
                </a:solidFill>
                <a:latin typeface="Calibri"/>
              </a:rPr>
              <a:t>Keshav Kasturi Rangan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778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A7182"/>
                </a:solidFill>
                <a:latin typeface="Calibri"/>
              </a:rPr>
              <a:t>Follow-up to the June 11 collaborator meeting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2331720" cy="2331720"/>
          </a:xfrm>
          <a:prstGeom prst="round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233172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162A4D"/>
                </a:solidFill>
                <a:latin typeface="Calibr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3520440" y="2286000"/>
            <a:ext cx="91440" cy="1874519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2331720"/>
            <a:ext cx="7772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62A4D"/>
                </a:solidFill>
                <a:latin typeface="Calibri"/>
              </a:rPr>
              <a:t>Where we left 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70332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6A7182"/>
                </a:solidFill>
                <a:latin typeface="Calibri"/>
              </a:rPr>
              <a:t>The June 11 result — and the problem it left open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DATA3 single-salt · choosing B(c) for identifiable fits ·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620256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75488"/>
            <a:ext cx="164592" cy="1645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7C86"/>
                </a:solidFill>
                <a:latin typeface="Calibri"/>
              </a:rPr>
              <a:t>01 ·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62A4D"/>
                </a:solidFill>
                <a:latin typeface="Calibri"/>
              </a:rPr>
              <a:t>Identifiability degraded with cation valence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6A7182"/>
                </a:solidFill>
                <a:latin typeface="Calibri"/>
              </a:rPr>
              <a:t>Forward-simulated WSSE contours over θ = (Lₚ, B, σ) sorted 11 single-salt sheets into three stages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02536"/>
            <a:ext cx="3584448" cy="384048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02536"/>
            <a:ext cx="3584448" cy="1097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95144"/>
            <a:ext cx="31272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Calibri"/>
              </a:rPr>
              <a:t>STAGE 1 · WELL-IDENTIFIED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26664"/>
            <a:ext cx="3127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A1F2E"/>
                </a:solidFill>
                <a:latin typeface="Calibri"/>
              </a:rPr>
              <a:t>2 sheets · NaCl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65576"/>
            <a:ext cx="312724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F2E"/>
                </a:solidFill>
                <a:latin typeface="Calibri"/>
              </a:rPr>
              <a:t>Sharp interior minimum. Lₚ pinned; σ leaves a real fingerprint. Trustworthy fit.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294376"/>
            <a:ext cx="914400" cy="310896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fit: GOOD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2002536"/>
            <a:ext cx="3584448" cy="384048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9976" y="2002536"/>
            <a:ext cx="3584448" cy="109728"/>
          </a:xfrm>
          <a:prstGeom prst="rect">
            <a:avLst/>
          </a:prstGeom>
          <a:solidFill>
            <a:srgbClr val="B97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576" y="2295144"/>
            <a:ext cx="31272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97309"/>
                </a:solidFill>
                <a:latin typeface="Calibri"/>
              </a:rPr>
              <a:t>STAGE 2 · INCONSISTENT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3026664"/>
            <a:ext cx="3127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A1F2E"/>
                </a:solidFill>
                <a:latin typeface="Calibri"/>
              </a:rPr>
              <a:t>7 sheets · NaCl + CaCl₂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3465576"/>
            <a:ext cx="312724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F2E"/>
                </a:solidFill>
                <a:latin typeface="Calibri"/>
              </a:rPr>
              <a:t>Lₚ tight, but σ (often B) pinned at a wall — channels minimise at different walls.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08576" y="5294376"/>
            <a:ext cx="914400" cy="310896"/>
          </a:xfrm>
          <a:prstGeom prst="roundRect">
            <a:avLst/>
          </a:prstGeom>
          <a:solidFill>
            <a:srgbClr val="B97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8576" y="532180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fit: OKAY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11312" y="2002536"/>
            <a:ext cx="3584448" cy="384048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11312" y="2002536"/>
            <a:ext cx="3584448" cy="109728"/>
          </a:xfrm>
          <a:prstGeom prst="rect">
            <a:avLst/>
          </a:prstGeom>
          <a:solidFill>
            <a:srgbClr val="B02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9912" y="2295144"/>
            <a:ext cx="31272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02A1F"/>
                </a:solidFill>
                <a:latin typeface="Calibri"/>
              </a:rPr>
              <a:t>STAGE 3 · NOT ESTIMABLE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3026664"/>
            <a:ext cx="3127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A1F2E"/>
                </a:solidFill>
                <a:latin typeface="Calibri"/>
              </a:rPr>
              <a:t>2 sheets · LaCl₃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9912" y="3465576"/>
            <a:ext cx="312724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F2E"/>
                </a:solidFill>
                <a:latin typeface="Calibri"/>
              </a:rPr>
              <a:t>No coherent basin; WSSE ~20× the NaCl reference. Constant-(σ,B) model cannot fit.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39912" y="5294376"/>
            <a:ext cx="914400" cy="310896"/>
          </a:xfrm>
          <a:prstGeom prst="roundRect">
            <a:avLst/>
          </a:prstGeom>
          <a:solidFill>
            <a:srgbClr val="B02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9912" y="532180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fit: POOR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952744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2A4D"/>
                </a:solidFill>
                <a:latin typeface="Calibri"/>
              </a:rPr>
              <a:t>Monotonic trend: </a:t>
            </a:r>
            <a:r>
              <a:rPr sz="1250" b="0" i="0">
                <a:solidFill>
                  <a:srgbClr val="1A1F2E"/>
                </a:solidFill>
                <a:latin typeface="Calibri"/>
              </a:rPr>
              <a:t>each added cation charge pushed the fit from a clean interior optimum toward the bounds.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620256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DATA3 single-salt · choosing B(c) for identifiable fits · June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620256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75488"/>
            <a:ext cx="164592" cy="1645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7C86"/>
                </a:solidFill>
                <a:latin typeface="Calibri"/>
              </a:rPr>
              <a:t>01 · THE OPEN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62A4D"/>
                </a:solidFill>
                <a:latin typeface="Calibri"/>
              </a:rPr>
              <a:t>B and σ were unidentifiable or pinned at the bounds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6A7182"/>
                </a:solidFill>
                <a:latin typeface="Calibri"/>
              </a:rPr>
              <a:t>Across most single-salt sheets the optimizer landed on a wall, not an interior optimum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66544"/>
            <a:ext cx="118872" cy="11887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02536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62A4D"/>
                </a:solidFill>
                <a:latin typeface="Calibri"/>
              </a:rPr>
              <a:t>σ → 1 wall — </a:t>
            </a:r>
            <a:r>
              <a:rPr sz="1350" b="0" i="0">
                <a:solidFill>
                  <a:srgbClr val="1A1F2E"/>
                </a:solidFill>
                <a:latin typeface="Calibri"/>
              </a:rPr>
              <a:t>On most NaCl / CaCl₂ sheets σ railed to its upper bound.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118872" cy="11887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7919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62A4D"/>
                </a:solidFill>
                <a:latin typeface="Calibri"/>
              </a:rPr>
              <a:t>B → bound — </a:t>
            </a:r>
            <a:r>
              <a:rPr sz="1350" b="0" i="0">
                <a:solidFill>
                  <a:srgbClr val="1A1F2E"/>
                </a:solidFill>
                <a:latin typeface="Calibri"/>
              </a:rPr>
              <a:t>B floated to 0 or to its per-salt ceiling (e.g. 30 µm/s).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19856"/>
            <a:ext cx="118872" cy="11887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35584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62A4D"/>
                </a:solidFill>
                <a:latin typeface="Calibri"/>
              </a:rPr>
              <a:t>Valley, not a point — </a:t>
            </a:r>
            <a:r>
              <a:rPr sz="1350" b="0" i="0">
                <a:solidFill>
                  <a:srgbClr val="1A1F2E"/>
                </a:solidFill>
                <a:latin typeface="Calibri"/>
              </a:rPr>
              <a:t>Channels each found a minimum — at different (σ, Lₚ) walls.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96512"/>
            <a:ext cx="118872" cy="11887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32504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62A4D"/>
                </a:solidFill>
                <a:latin typeface="Calibri"/>
              </a:rPr>
              <a:t>Worse with valence — </a:t>
            </a:r>
            <a:r>
              <a:rPr sz="1350" b="0" i="0">
                <a:solidFill>
                  <a:srgbClr val="1A1F2E"/>
                </a:solidFill>
                <a:latin typeface="Calibri"/>
              </a:rPr>
              <a:t>LaCl₃: no stationary basin under either parameter sweep.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54880"/>
            <a:ext cx="5486400" cy="1051560"/>
          </a:xfrm>
          <a:prstGeom prst="round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A4D"/>
                </a:solidFill>
                <a:latin typeface="Calibri"/>
              </a:rPr>
              <a:t>The question this raised: </a:t>
            </a:r>
            <a:r>
              <a:rPr sz="1300" b="0" i="1">
                <a:solidFill>
                  <a:srgbClr val="1A1F2E"/>
                </a:solidFill>
                <a:latin typeface="Calibri"/>
              </a:rPr>
              <a:t>is this a data-geometry problem, or are we fitting the wrong B?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500200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A7182"/>
                </a:solidFill>
                <a:latin typeface="Calibri"/>
              </a:rPr>
              <a:t>σ × Lₚ WSSE contour — interior optimum (left) vs pinned at the σ = 1 wall (right)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620256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DATA3 single-salt · choosing B(c) for identifiable fits · June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620256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4 / 24</a:t>
            </a:r>
          </a:p>
        </p:txBody>
      </p:sp>
      <p:pic>
        <p:nvPicPr>
          <p:cNvPr id="23" name="Picture 22" descr="objcontour-x_sigma-y_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797823"/>
            <a:ext cx="5349240" cy="21584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2331720" cy="2331720"/>
          </a:xfrm>
          <a:prstGeom prst="round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233172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162A4D"/>
                </a:solidFill>
                <a:latin typeface="Calibr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3520440" y="2286000"/>
            <a:ext cx="91440" cy="1874519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2331720"/>
            <a:ext cx="7772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62A4D"/>
                </a:solidFill>
                <a:latin typeface="Calibri"/>
              </a:rPr>
              <a:t>Why — data geometry, or model form?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70332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6A7182"/>
                </a:solidFill>
                <a:latin typeface="Calibri"/>
              </a:rPr>
              <a:t>Reading the walls as a symptom of a mis-specified B(c)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DATA3 single-salt · choosing B(c) for identifiable fits ·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620256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75488"/>
            <a:ext cx="164592" cy="1645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7C86"/>
                </a:solidFill>
                <a:latin typeface="Calibri"/>
              </a:rPr>
              <a:t>02 ·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62A4D"/>
                </a:solidFill>
                <a:latin typeface="Calibri"/>
              </a:rPr>
              <a:t>A wall is what a mis-specified B(c) looks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6A7182"/>
                </a:solidFill>
                <a:latin typeface="Calibri"/>
              </a:rPr>
              <a:t>If B truly varies across a run but the model holds it constant/linear, σ and B absorb the mismatch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56816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F2E"/>
                </a:solidFill>
                <a:latin typeface="Calibri"/>
              </a:rPr>
              <a:t>Within one diafiltration run the feed-side concentration sweeps over a wide range, so the true B changes during the run. A constant or single-slope B cannot follow it — the optimizer compensates by driving σ to 1 and B to a bound. The fix is not more freedom in σ; it is the right functional form for </a:t>
            </a:r>
            <a:r>
              <a:rPr sz="1400" b="1" i="0">
                <a:solidFill>
                  <a:srgbClr val="162A4D"/>
                </a:solidFill>
                <a:latin typeface="Calibri"/>
              </a:rPr>
              <a:t>B(c)</a:t>
            </a:r>
            <a:r>
              <a:rPr sz="1400" b="0" i="0">
                <a:solidFill>
                  <a:srgbClr val="1A1F2E"/>
                </a:solidFill>
                <a:latin typeface="Calibr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08376"/>
            <a:ext cx="3584448" cy="246888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008376"/>
            <a:ext cx="109728" cy="2468880"/>
          </a:xfrm>
          <a:prstGeom prst="rect">
            <a:avLst/>
          </a:prstGeom>
          <a:solidFill>
            <a:srgbClr val="6A71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09544"/>
            <a:ext cx="3127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6A7182"/>
                </a:solidFill>
                <a:latin typeface="Calibri"/>
              </a:rPr>
              <a:t>Symptom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21608"/>
            <a:ext cx="308152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F2E"/>
                </a:solidFill>
                <a:latin typeface="Calibri"/>
              </a:rPr>
              <a:t>•  σ pinned at 1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F2E"/>
                </a:solidFill>
                <a:latin typeface="Calibri"/>
              </a:rPr>
              <a:t>•  B at 0 or ceiling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F2E"/>
                </a:solidFill>
                <a:latin typeface="Calibri"/>
              </a:rPr>
              <a:t>•  channels disagree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3008376"/>
            <a:ext cx="3584448" cy="246888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9976" y="3008376"/>
            <a:ext cx="109728" cy="2468880"/>
          </a:xfrm>
          <a:prstGeom prst="rect">
            <a:avLst/>
          </a:prstGeom>
          <a:solidFill>
            <a:srgbClr val="B97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4296" y="3209544"/>
            <a:ext cx="3127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97309"/>
                </a:solidFill>
                <a:latin typeface="Calibri"/>
              </a:rPr>
              <a:t>Usual reading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3721608"/>
            <a:ext cx="308152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F2E"/>
                </a:solidFill>
                <a:latin typeface="Calibri"/>
              </a:rPr>
              <a:t>•  “σ, B unidentifiable”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F2E"/>
                </a:solidFill>
                <a:latin typeface="Calibri"/>
              </a:rPr>
              <a:t>•  add data / constraints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F2E"/>
                </a:solidFill>
                <a:latin typeface="Calibri"/>
              </a:rPr>
              <a:t>•  re-weight channels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3008376"/>
            <a:ext cx="3584448" cy="246888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11312" y="3008376"/>
            <a:ext cx="109728" cy="24688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3209544"/>
            <a:ext cx="3127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7C86"/>
                </a:solidFill>
                <a:latin typeface="Calibri"/>
              </a:rPr>
              <a:t>This work’s reading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3721608"/>
            <a:ext cx="308152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F2E"/>
                </a:solidFill>
                <a:latin typeface="Calibri"/>
              </a:rPr>
              <a:t>•  B(c) form is wrong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F2E"/>
                </a:solidFill>
                <a:latin typeface="Calibri"/>
              </a:rPr>
              <a:t>•  tie B to concentration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F2E"/>
                </a:solidFill>
                <a:latin typeface="Calibri"/>
              </a:rPr>
              <a:t>•  walls relax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620256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DATA3 single-salt · choosing B(c) for identifiable fits · 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620256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75488"/>
            <a:ext cx="164592" cy="1645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7C86"/>
                </a:solidFill>
                <a:latin typeface="Calibri"/>
              </a:rPr>
              <a:t>02 · WHAT B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62A4D"/>
                </a:solidFill>
                <a:latin typeface="Calibri"/>
              </a:rPr>
              <a:t>The same B across all three papers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6A7182"/>
                </a:solidFill>
                <a:latin typeface="Calibri"/>
              </a:rPr>
              <a:t>Solute permeability = membrane diffusion × partition, per unit thickness — a definition, not a new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02536"/>
            <a:ext cx="5394960" cy="105156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39112"/>
            <a:ext cx="5394960" cy="978408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ctr">
              <a:defRPr sz="2400"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>
                      <m:r>
                        <m:t>B</m:t>
                      </m:r>
                      <m: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D</m:t>
                              </m:r>
                            </m:e>
                            <m:sub>
                              <m:r>
                                <m:t>m</m:t>
                              </m:r>
                            </m:sub>
                          </m:sSub>
                          <m:r>
                            <m:t> </m:t>
                          </m:r>
                          <m:r>
                            <m:t>H</m:t>
                          </m:r>
                        </m:num>
                        <m:den>
                          <m:r>
                            <m:t>ℓ</m:t>
                          </m:r>
                        </m:den>
                      </m:f>
                      <m:r>
                        <m:t>=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t> </m:t>
                      </m:r>
                      <m:r>
                        <m:t>K</m:t>
                      </m:r>
                    </m:oMath>
                  </m:oMathPara>
                </a14:m>
              </mc:Choice>
              <mc:Fallback>
                <a:r>
                  <a:rPr sz="2400">
                    <a:solidFill>
                      <a:srgbClr val="1A1F2E"/>
                    </a:solidFill>
                    <a:latin typeface="Calibri"/>
                  </a:rPr>
                  <a:t>B = Dm·H/ℓ = P0·K</a:t>
                </a:r>
              </mc:Fallback>
            </mc:AlternateContent>
          </a:p>
        </p:txBody>
      </p:sp>
      <p:sp>
        <p:nvSpPr>
          <p:cNvPr id="10" name="Rounded Rectangle 9"/>
          <p:cNvSpPr/>
          <p:nvPr/>
        </p:nvSpPr>
        <p:spPr>
          <a:xfrm>
            <a:off x="6172200" y="2002536"/>
            <a:ext cx="5440680" cy="105156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039112"/>
            <a:ext cx="5440680" cy="978408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ctr">
              <a:defRPr sz="2400"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>
                      <m:sSub>
                        <m:e>
                          <m:r>
                            <m:t>J</m:t>
                          </m:r>
                        </m:e>
                        <m:sub>
                          <m:r>
                            <m:t>s</m:t>
                          </m:r>
                        </m:sub>
                      </m:sSub>
                      <m:r>
                        <m:t>=</m:t>
                      </m:r>
                      <m:r>
                        <m:t>B</m:t>
                      </m:r>
                      <m:r>
                        <m:t> </m:t>
                      </m:r>
                      <m:r>
                        <m:t>(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i</m:t>
                          </m:r>
                          <m:r>
                            <m:t>n</m:t>
                          </m:r>
                        </m:sub>
                      </m:sSub>
                      <m:r>
                        <m:t>−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H</m:t>
                          </m:r>
                        </m:sub>
                      </m:sSub>
                      <m:r>
                        <m:t>)</m:t>
                      </m:r>
                    </m:oMath>
                  </m:oMathPara>
                </a14:m>
              </mc:Choice>
              <mc:Fallback>
                <a:r>
                  <a:rPr sz="2400">
                    <a:solidFill>
                      <a:srgbClr val="1A1F2E"/>
                    </a:solidFill>
                    <a:latin typeface="Calibri"/>
                  </a:rPr>
                  <a:t>Js = B (c_in − c_H)</a:t>
                </a:r>
              </mc:Fallback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548640" y="323697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1A1F2E"/>
                </a:solidFill>
                <a:latin typeface="Calibri"/>
              </a:rPr>
              <a:t>D</a:t>
            </a:r>
            <a:r>
              <a:rPr sz="1300" b="0" i="0">
                <a:solidFill>
                  <a:srgbClr val="1A1F2E"/>
                </a:solidFill>
                <a:latin typeface="Calibri"/>
              </a:rPr>
              <a:t>ₘ</a:t>
            </a:r>
            <a:r>
              <a:rPr sz="1300" b="0" i="0">
                <a:solidFill>
                  <a:srgbClr val="6A7182"/>
                </a:solidFill>
                <a:latin typeface="Calibri"/>
              </a:rPr>
              <a:t> membrane diffusivity   ·   H partition coefficient   ·   ℓ active-layer thickness   ·   P₀ = Dₘ/ℓ   ·   K = salt partition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31335"/>
            <a:ext cx="3584448" cy="1371600"/>
          </a:xfrm>
          <a:prstGeom prst="round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032503"/>
            <a:ext cx="3127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Calibri"/>
              </a:rPr>
              <a:t>DATA1 / DATA2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89703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62A4D"/>
                </a:solidFill>
                <a:latin typeface="Calibri"/>
              </a:rPr>
              <a:t>B = Dₘ H / 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3831335"/>
            <a:ext cx="3584448" cy="1371600"/>
          </a:xfrm>
          <a:prstGeom prst="round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576" y="4032503"/>
            <a:ext cx="3127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Calibri"/>
              </a:rPr>
              <a:t>Transport SI (collaborators)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4489703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62A4D"/>
                </a:solidFill>
                <a:latin typeface="Calibri"/>
              </a:rPr>
              <a:t>Bᵢᵢ = Dᵢ Hᵢ / 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11312" y="3831335"/>
            <a:ext cx="3584448" cy="1371600"/>
          </a:xfrm>
          <a:prstGeom prst="round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9912" y="4032503"/>
            <a:ext cx="3127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Calibri"/>
              </a:rPr>
              <a:t>This work (global)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2" y="4489703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62A4D"/>
                </a:solidFill>
                <a:latin typeface="Calibri"/>
              </a:rPr>
              <a:t>B = P₀ · K, K from partition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40095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1A1F2E"/>
                </a:solidFill>
                <a:latin typeface="Calibri"/>
              </a:rPr>
              <a:t>Same symbol, three notations. All the concentration dependence lives in the partition 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620256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DATA3 single-salt · choosing B(c) for identifiable fits · June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620256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2331720" cy="2331720"/>
          </a:xfrm>
          <a:prstGeom prst="round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233172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162A4D"/>
                </a:solidFill>
                <a:latin typeface="Calibr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3520440" y="2286000"/>
            <a:ext cx="91440" cy="1874519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2331720"/>
            <a:ext cx="7772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62A4D"/>
                </a:solidFill>
                <a:latin typeface="Calibri"/>
              </a:rPr>
              <a:t>The right equation for B(c)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70332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6A7182"/>
                </a:solidFill>
                <a:latin typeface="Calibri"/>
              </a:rPr>
              <a:t>From the shape of the partition to the form you fit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DATA3 single-salt · choosing B(c) for identifiable fits ·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620256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75488"/>
            <a:ext cx="164592" cy="1645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7C86"/>
                </a:solidFill>
                <a:latin typeface="Calibri"/>
              </a:rPr>
              <a:t>03 · THE SHAPE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62A4D"/>
                </a:solidFill>
                <a:latin typeface="Calibri"/>
              </a:rPr>
              <a:t>B(c) is a saturating partition — Donnan + dielectric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6A7182"/>
                </a:solidFill>
                <a:latin typeface="Calibri"/>
              </a:rPr>
              <a:t>Near-zero at infinite dilution, steep through the middle, plateau once the fixed charge is screened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02536"/>
            <a:ext cx="5486400" cy="109728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39112"/>
            <a:ext cx="5486400" cy="1024128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ctr">
              <a:defRPr sz="2200"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>
                      <m:r>
                        <m:t>B</m:t>
                      </m:r>
                      <m:r>
                        <m:t>(</m:t>
                      </m:r>
                      <m:r>
                        <m:t>c</m:t>
                      </m:r>
                      <m:r>
                        <m:t>)</m:t>
                      </m:r>
                      <m:r>
                        <m:t>=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t> </m:t>
                      </m:r>
                      <m:f>
                        <m:fPr>
                          <m:type m:val="bar"/>
                        </m:fPr>
                        <m:num>
                          <m:r>
                            <m:t>−</m:t>
                          </m:r>
                          <m:r>
                            <m:t>X</m:t>
                          </m:r>
                          <m:r>
                            <m:t>+</m:t>
                          </m:r>
                          <m:rad>
                            <m:radPr>
                              <m:degHide m:val="1"/>
                            </m:radPr>
                            <m:deg/>
                            <m:e>
                              <m:sSup>
                                <m:e>
                                  <m:r>
                                    <m:t>X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  <m:r>
                                <m:t>+</m:t>
                              </m:r>
                              <m:r>
                                <m:t>4</m:t>
                              </m:r>
                              <m:sSup>
                                <m:e>
                                  <m:r>
                                    <m:t>k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  <m:sSup>
                                <m:e>
                                  <m:r>
                                    <m:t>c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e>
                          </m:rad>
                        </m:num>
                        <m:den>
                          <m:r>
                            <m:t>2</m:t>
                          </m:r>
                          <m:r>
                            <m:t>c</m:t>
                          </m:r>
                        </m:den>
                      </m:f>
                    </m:oMath>
                  </m:oMathPara>
                </a14:m>
              </mc:Choice>
              <mc:Fallback>
                <a:r>
                  <a:rPr sz="2200">
                    <a:solidFill>
                      <a:srgbClr val="1A1F2E"/>
                    </a:solidFill>
                    <a:latin typeface="Calibri"/>
                  </a:rPr>
                  <a:t>B(c) = P0 [−X + √(X² + 4k²c²)] / (2c)</a:t>
                </a:r>
              </mc:Fallback>
            </mc:AlternateContent>
          </a:p>
        </p:txBody>
      </p:sp>
      <p:sp>
        <p:nvSpPr>
          <p:cNvPr id="10" name="Rounded Rectangle 9"/>
          <p:cNvSpPr/>
          <p:nvPr/>
        </p:nvSpPr>
        <p:spPr>
          <a:xfrm>
            <a:off x="548640" y="3236976"/>
            <a:ext cx="5486400" cy="91440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73552"/>
            <a:ext cx="5486400" cy="841248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ctr">
              <a:defRPr sz="1700"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>
                      <m:r>
                        <m:t>c</m:t>
                      </m:r>
                      <m:r>
                        <m:t>​</m:t>
                      </m:r>
                      <m:r>
                        <m:t>→</m:t>
                      </m:r>
                      <m:r>
                        <m:t>​</m:t>
                      </m:r>
                      <m:r>
                        <m:t>0</m:t>
                      </m:r>
                      <m:r>
                        <m:t>:</m:t>
                      </m:r>
                      <m:r>
                        <m:t> </m:t>
                      </m:r>
                      <m:r>
                        <m:t>B</m:t>
                      </m:r>
                      <m:r>
                        <m:t>≈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P</m:t>
                              </m:r>
                            </m:e>
                            <m:sub>
                              <m:r>
                                <m:t>0</m:t>
                              </m:r>
                            </m:sub>
                          </m:sSub>
                          <m:sSup>
                            <m:e>
                              <m:r>
                                <m:t>k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t>X</m:t>
                          </m:r>
                        </m:den>
                      </m:f>
                      <m:r>
                        <m:t> </m:t>
                      </m:r>
                      <m:r>
                        <m:t>c</m:t>
                      </m:r>
                      <m:r>
                        <m:t>  </m:t>
                      </m:r>
                      <m:r>
                        <m:t>c</m:t>
                      </m:r>
                      <m:r>
                        <m:t>​</m:t>
                      </m:r>
                      <m:r>
                        <m:t>→</m:t>
                      </m:r>
                      <m:r>
                        <m:t>​</m:t>
                      </m:r>
                      <m:r>
                        <m:t>∞</m:t>
                      </m:r>
                      <m:r>
                        <m:t>:</m:t>
                      </m:r>
                      <m:r>
                        <m:t> </m:t>
                      </m:r>
                      <m:r>
                        <m:t>B</m:t>
                      </m:r>
                      <m:r>
                        <m:t>→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t>k</m:t>
                      </m:r>
                    </m:oMath>
                  </m:oMathPara>
                </a14:m>
              </mc:Choice>
              <mc:Fallback>
                <a:r>
                  <a:rPr sz="1700">
                    <a:solidFill>
                      <a:srgbClr val="1A1F2E"/>
                    </a:solidFill>
                    <a:latin typeface="Calibri"/>
                  </a:rPr>
                  <a:t>c→0: B ≈ (P0k²/X)c    c→∞: B → P0k</a:t>
                </a:r>
              </mc:Fallback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548640" y="4288536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62A4D"/>
                </a:solidFill>
                <a:latin typeface="Calibri"/>
              </a:rPr>
              <a:t>Two physical knobs: </a:t>
            </a:r>
            <a:r>
              <a:rPr sz="1300" b="0" i="0">
                <a:solidFill>
                  <a:srgbClr val="1A1F2E"/>
                </a:solidFill>
                <a:latin typeface="Calibri"/>
              </a:rPr>
              <a:t>P₀·k sets the high-salt plateau, X sets the concentration of the knee where Donnan exclusion gives way.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1">
                <a:solidFill>
                  <a:srgbClr val="1A1F2E"/>
                </a:solidFill>
                <a:latin typeface="Calibri"/>
              </a:rPr>
              <a:t>Monotonic and concave — the opposite curvature of a growth exponential.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028468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A7182"/>
                </a:solidFill>
                <a:latin typeface="Calibri"/>
              </a:rPr>
              <a:t>Mechanistic B(c): saturating, not exponential, not an unbounded polynomial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620256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DATA3 single-salt · choosing B(c) for identifiable fits ·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620256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9 / 24</a:t>
            </a:r>
          </a:p>
        </p:txBody>
      </p:sp>
      <p:pic>
        <p:nvPicPr>
          <p:cNvPr id="18" name="Picture 17" descr="pervial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954244"/>
            <a:ext cx="5394960" cy="20285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75488"/>
            <a:ext cx="164592" cy="1645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7C86"/>
                </a:solidFill>
                <a:latin typeface="Calibri"/>
              </a:rPr>
              <a:t>03 · WHICH FORM TO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62A4D"/>
                </a:solidFill>
                <a:latin typeface="Calibri"/>
              </a:rPr>
              <a:t>Inside the window: a low-order Taylor. Across it: saturating.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6A7182"/>
                </a:solidFill>
                <a:latin typeface="Calibri"/>
              </a:rPr>
              <a:t>Campaign DAE fits across the single-salt sheets — in-window from per-sheet WSSE, extrapolation from the fitted partition curves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02536"/>
            <a:ext cx="5577840" cy="475488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226771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103120"/>
            <a:ext cx="7589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in-window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103120"/>
            <a:ext cx="130759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extrapolation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103120"/>
            <a:ext cx="80467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78608"/>
            <a:ext cx="226771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A1F2E"/>
                </a:solidFill>
                <a:latin typeface="Calibri"/>
              </a:rPr>
              <a:t>Linear (order 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578608"/>
            <a:ext cx="7589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1F2E"/>
                </a:solidFill>
                <a:latin typeface="Calibri"/>
              </a:rPr>
              <a:t>good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578608"/>
            <a:ext cx="130759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1F2E"/>
                </a:solidFill>
                <a:latin typeface="Calibri"/>
              </a:rPr>
              <a:t>unbounded 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578608"/>
            <a:ext cx="80467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1F2E"/>
                </a:solidFill>
                <a:latin typeface="Calibri"/>
              </a:rPr>
              <a:t>interp.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53512"/>
            <a:ext cx="5577840" cy="475488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054096"/>
            <a:ext cx="226771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A1F2E"/>
                </a:solidFill>
                <a:latin typeface="Calibri"/>
              </a:rPr>
              <a:t>Quadratic (order 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054096"/>
            <a:ext cx="7589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1F2E"/>
                </a:solidFill>
                <a:latin typeface="Calibri"/>
              </a:rPr>
              <a:t>better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054096"/>
            <a:ext cx="130759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1F2E"/>
                </a:solidFill>
                <a:latin typeface="Calibri"/>
              </a:rPr>
              <a:t>B &lt; 0 (unphys.)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054096"/>
            <a:ext cx="80467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E7D32"/>
                </a:solidFill>
                <a:latin typeface="Calibri"/>
              </a:rPr>
              <a:t>interp.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529584"/>
            <a:ext cx="226771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A1F2E"/>
                </a:solidFill>
                <a:latin typeface="Calibri"/>
              </a:rPr>
              <a:t>Cubic (order 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529584"/>
            <a:ext cx="7589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1F2E"/>
                </a:solidFill>
                <a:latin typeface="Calibri"/>
              </a:rPr>
              <a:t>best in-win.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3529584"/>
            <a:ext cx="130759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1F2E"/>
                </a:solidFill>
                <a:latin typeface="Calibri"/>
              </a:rPr>
              <a:t>diverges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529584"/>
            <a:ext cx="80467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B02A1F"/>
                </a:solidFill>
                <a:latin typeface="Calibri"/>
              </a:rPr>
              <a:t>interp.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04488"/>
            <a:ext cx="5577840" cy="475488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005072"/>
            <a:ext cx="226771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A1F2E"/>
                </a:solidFill>
                <a:latin typeface="Calibri"/>
              </a:rPr>
              <a:t>Saturating exp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005072"/>
            <a:ext cx="7589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1F2E"/>
                </a:solidFill>
                <a:latin typeface="Calibri"/>
              </a:rPr>
              <a:t>near-best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4005072"/>
            <a:ext cx="130759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1F2E"/>
                </a:solidFill>
                <a:latin typeface="Calibri"/>
              </a:rPr>
              <a:t>bounded 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4005072"/>
            <a:ext cx="80467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E7D32"/>
                </a:solidFill>
                <a:latin typeface="Calibri"/>
              </a:rPr>
              <a:t>robust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480560"/>
            <a:ext cx="226771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A1F2E"/>
                </a:solidFill>
                <a:latin typeface="Calibri"/>
              </a:rPr>
              <a:t>Mechanistic Donnan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4480560"/>
            <a:ext cx="7589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1F2E"/>
                </a:solidFill>
                <a:latin typeface="Calibri"/>
              </a:rPr>
              <a:t>near-best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4480560"/>
            <a:ext cx="130759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1F2E"/>
                </a:solidFill>
                <a:latin typeface="Calibri"/>
              </a:rPr>
              <a:t>bounded 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4480560"/>
            <a:ext cx="80467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7C86"/>
                </a:solidFill>
                <a:latin typeface="Calibri"/>
              </a:rPr>
              <a:t>mechanistic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2093976"/>
            <a:ext cx="5212080" cy="86868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2130552"/>
            <a:ext cx="5212080" cy="795528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ctr">
              <a:defRPr sz="1700"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>
                      <m:r>
                        <m:t>B</m:t>
                      </m:r>
                      <m:r>
                        <m:t>=</m:t>
                      </m:r>
                      <m:sSub>
                        <m:e>
                          <m:r>
                            <m:t>J</m:t>
                          </m:r>
                        </m:e>
                        <m:sub>
                          <m:r>
                            <m:t>w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subHide m:val="0"/>
                          <m:supHide m:val="1"/>
                        </m:naryPr>
                        <m:sub>
                          <m:r>
                            <m:t>i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m:t>β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nary>
                      <m:r>
                        <m:t> </m:t>
                      </m:r>
                      <m:sSubSup>
                        <m:e>
                          <m:r>
                            <m:t>c</m:t>
                          </m:r>
                        </m:e>
                        <m:sub>
                          <m:r>
                            <m:t>i</m:t>
                          </m:r>
                          <m:r>
                            <m:t>n</m:t>
                          </m:r>
                        </m:sub>
                        <m:sup>
                          <m:r>
                            <m:t> </m:t>
                          </m:r>
                          <m:r>
                            <m:t>i</m:t>
                          </m:r>
                        </m:sup>
                      </m:sSubSup>
                    </m:oMath>
                  </m:oMathPara>
                </a14:m>
              </mc:Choice>
              <mc:Fallback>
                <a:r>
                  <a:rPr sz="1700">
                    <a:solidFill>
                      <a:srgbClr val="1A1F2E"/>
                    </a:solidFill>
                    <a:latin typeface="Calibri"/>
                  </a:rPr>
                  <a:t>B = Jw · Σ βi c_in^i</a:t>
                </a:r>
              </mc:Fallback>
            </mc:AlternateContent>
          </a:p>
        </p:txBody>
      </p:sp>
      <p:sp>
        <p:nvSpPr>
          <p:cNvPr id="37" name="Rounded Rectangle 36"/>
          <p:cNvSpPr/>
          <p:nvPr/>
        </p:nvSpPr>
        <p:spPr>
          <a:xfrm>
            <a:off x="6400800" y="3099816"/>
            <a:ext cx="5212080" cy="86868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136392"/>
            <a:ext cx="5212080" cy="795528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ctr">
              <a:defRPr sz="1700"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>
                      <m:r>
                        <m:t>B</m:t>
                      </m:r>
                      <m:r>
                        <m:t>=</m:t>
                      </m:r>
                      <m:sSub>
                        <m:e>
                          <m:r>
                            <m:t>B</m:t>
                          </m:r>
                        </m:e>
                        <m:sub>
                          <m:r>
                            <m:t>∞</m:t>
                          </m:r>
                        </m:sub>
                      </m:sSub>
                      <m:r>
                        <m:t> </m:t>
                      </m:r>
                      <m:r>
                        <m:t>(</m:t>
                      </m:r>
                      <m:r>
                        <m:t>1</m:t>
                      </m:r>
                      <m:r>
                        <m:t>−</m:t>
                      </m:r>
                      <m:sSup>
                        <m:e>
                          <m:r>
                            <m:t>e</m:t>
                          </m:r>
                        </m:e>
                        <m:sup>
                          <m:r>
                            <m:t>−</m:t>
                          </m:r>
                          <m:r>
                            <m:t>c</m:t>
                          </m:r>
                          <m:r>
                            <m:t>/</m:t>
                          </m:r>
                          <m:sSup>
                            <m:e>
                              <m:r>
                                <m:t>c</m:t>
                              </m:r>
                            </m:e>
                            <m:sup>
                              <m:r>
                                <m:t>*</m:t>
                              </m:r>
                            </m:sup>
                          </m:sSup>
                        </m:sup>
                      </m:sSup>
                      <m:r>
                        <m:t>)</m:t>
                      </m:r>
                    </m:oMath>
                  </m:oMathPara>
                </a14:m>
              </mc:Choice>
              <mc:Fallback>
                <a:r>
                  <a:rPr sz="1700">
                    <a:solidFill>
                      <a:srgbClr val="1A1F2E"/>
                    </a:solidFill>
                    <a:latin typeface="Calibri"/>
                  </a:rPr>
                  <a:t>B = B∞ (1 − e^(−c/c*))</a:t>
                </a:r>
              </mc:Fallback>
            </mc:AlternateContent>
          </a:p>
        </p:txBody>
      </p:sp>
      <p:sp>
        <p:nvSpPr>
          <p:cNvPr id="39" name="TextBox 38"/>
          <p:cNvSpPr txBox="1"/>
          <p:nvPr/>
        </p:nvSpPr>
        <p:spPr>
          <a:xfrm>
            <a:off x="6400800" y="4197096"/>
            <a:ext cx="5212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1A1F2E"/>
                </a:solidFill>
                <a:latin typeface="Calibri"/>
              </a:rPr>
              <a:t>On DATA3 (per-sheet WSSE): B(c) matters most for CaCl₂ — quadratic / cubic / saturating all cut the error ≈ 33 % vs constant B (220 → 146). Higher-order Taylor edges the in-window fit but extrapolates to unphysical B (the quadratic bends to B &lt; 0); saturating matches it and stays bounded — the practical form. NaCl is fine with ~constant B; LaCl₃ stays poor under every B(c), pointing past B(c) alone.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B02A1F"/>
                </a:solidFill>
                <a:latin typeface="Calibri"/>
              </a:rPr>
              <a:t>Don't extrapolate it — a negative c² term bends B downward, which is unphysical.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1A1F2E"/>
                </a:solidFill>
                <a:latin typeface="Calibri"/>
              </a:rPr>
              <a:t>For transfer across the campaign — fit the saturating / mechanistic form.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620256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DATA3 single-salt · choosing B(c) for identifiable fits · June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6620256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75488"/>
            <a:ext cx="164592" cy="1645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7C86"/>
                </a:solidFill>
                <a:latin typeface="Calibri"/>
              </a:rPr>
              <a:t>03 · RECONCILED WITH DATA2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62A4D"/>
                </a:solidFill>
                <a:latin typeface="Calibri"/>
              </a:rPr>
              <a:t>The DATA2 linear B is the first-order Taylor of this curve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6A7182"/>
                </a:solidFill>
                <a:latin typeface="Calibri"/>
              </a:rPr>
              <a:t>Their clean correlation and the saturating partition are the same object — local vs global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8256"/>
            <a:ext cx="5440680" cy="91440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84832"/>
            <a:ext cx="5440680" cy="841248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ctr">
              <a:defRPr sz="2000"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>
                      <m:r>
                        <m:t>B</m:t>
                      </m:r>
                      <m:r>
                        <m:t>≈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t>c</m:t>
                      </m:r>
                      <m:r>
                        <m:t>,</m:t>
                      </m:r>
                      <m:r>
                        <m:t>  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d</m:t>
                          </m:r>
                          <m:r>
                            <m:t>B</m:t>
                          </m:r>
                        </m:num>
                        <m:den>
                          <m:r>
                            <m:t>d</m:t>
                          </m:r>
                          <m:r>
                            <m:t>c</m:t>
                          </m:r>
                        </m:den>
                      </m:f>
                    </m:oMath>
                  </m:oMathPara>
                </a14:m>
              </mc:Choice>
              <mc:Fallback>
                <a:r>
                  <a:rPr sz="2000">
                    <a:solidFill>
                      <a:srgbClr val="1A1F2E"/>
                    </a:solidFill>
                    <a:latin typeface="Calibri"/>
                  </a:rPr>
                  <a:t>B ≈ β0 + β1 c ,  β1 = dB/dc</a:t>
                </a:r>
              </mc:Fallback>
            </mc:AlternateContent>
          </a:p>
        </p:txBody>
      </p:sp>
      <p:sp>
        <p:nvSpPr>
          <p:cNvPr id="10" name="TextBox 9"/>
          <p:cNvSpPr txBox="1"/>
          <p:nvPr/>
        </p:nvSpPr>
        <p:spPr>
          <a:xfrm>
            <a:off x="548640" y="3145536"/>
            <a:ext cx="5440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A1F2E"/>
                </a:solidFill>
                <a:latin typeface="Calibri"/>
              </a:rPr>
              <a:t>DATA2 fits B = Jw·Σβᵢcⁱ — a truncated Taylor series of the partition H(c).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A1F2E"/>
                </a:solidFill>
                <a:latin typeface="Calibri"/>
              </a:rPr>
              <a:t>Matched to their 15–120 mM window, the fitted slope β₁ = 0.248 equals the curve's derivative dB/dc = 0.250.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A1F2E"/>
                </a:solidFill>
                <a:latin typeface="Calibri"/>
              </a:rPr>
              <a:t>Their AIC pick (linear) is reproduced: with realistic noise, linear wins 82% / quadratic 12%.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62A4D"/>
                </a:solidFill>
                <a:latin typeface="Calibri"/>
              </a:rPr>
              <a:t>Local polynomial and global mechanistic are two faces of one B(c).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5555936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A7182"/>
                </a:solidFill>
                <a:latin typeface="Calibri"/>
              </a:rPr>
              <a:t>Linear fit hugs the curve in-window, peels off outside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620256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DATA3 single-salt · choosing B(c) for identifiable fits · June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620256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11 / 24</a:t>
            </a:r>
          </a:p>
        </p:txBody>
      </p:sp>
      <p:pic>
        <p:nvPicPr>
          <p:cNvPr id="16" name="Picture 15" descr="fitted_B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426775"/>
            <a:ext cx="5303520" cy="30834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75488"/>
            <a:ext cx="164592" cy="1645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7C86"/>
                </a:solidFill>
                <a:latin typeface="Calibri"/>
              </a:rPr>
              <a:t>03 · WHY VALENCE DEGRADES THE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62A4D"/>
                </a:solidFill>
                <a:latin typeface="Calibri"/>
              </a:rPr>
              <a:t>Higher valence sharpens the knee and lowers the plateau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6A7182"/>
                </a:solidFill>
                <a:latin typeface="Calibri"/>
              </a:rPr>
              <a:t>Exactly the LaCl₃ Stage-3 result — a model-form limit, not just thin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02536"/>
            <a:ext cx="5486400" cy="91440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39112"/>
            <a:ext cx="5486400" cy="841248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ctr">
              <a:defRPr sz="1750"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>
                      <m:r>
                        <m:t>B</m:t>
                      </m:r>
                      <m:r>
                        <m:t>∝</m:t>
                      </m:r>
                      <m:sSup>
                        <m:e>
                          <m:r>
                            <m:t>c</m:t>
                          </m:r>
                        </m:e>
                        <m:sup>
                          <m:r>
                            <m:t> </m:t>
                          </m:r>
                          <m:r>
                            <m:t>1</m:t>
                          </m:r>
                          <m:r>
                            <m:t>/</m:t>
                          </m:r>
                          <m:r>
                            <m:t>z</m:t>
                          </m:r>
                        </m:sup>
                      </m:sSup>
                      <m:r>
                        <m:t> </m:t>
                      </m:r>
                      <m:r>
                        <m:t>(</m:t>
                      </m:r>
                      <m:r>
                        <m:t>1</m:t>
                      </m:r>
                      <m:r>
                        <m:t>:</m:t>
                      </m:r>
                      <m:r>
                        <m:t>1</m:t>
                      </m:r>
                      <m:r>
                        <m:t>→</m:t>
                      </m:r>
                      <m:r>
                        <m:t>c</m:t>
                      </m:r>
                      <m:r>
                        <m:t>,</m:t>
                      </m:r>
                      <m:r>
                        <m:t> </m:t>
                      </m:r>
                      <m:r>
                        <m:t>2</m:t>
                      </m:r>
                      <m:r>
                        <m:t>:</m:t>
                      </m:r>
                      <m:r>
                        <m:t>1</m:t>
                      </m:r>
                      <m:r>
                        <m:t>→</m:t>
                      </m:r>
                      <m:rad>
                        <m:radPr>
                          <m:degHide m:val="1"/>
                        </m:radPr>
                        <m:deg/>
                        <m:e>
                          <m:r>
                            <m:t>c</m:t>
                          </m:r>
                        </m:e>
                      </m:rad>
                      <m:r>
                        <m:t>,</m:t>
                      </m:r>
                      <m:r>
                        <m:t> </m:t>
                      </m:r>
                      <m:r>
                        <m:t>3</m:t>
                      </m:r>
                      <m:r>
                        <m:t>:</m:t>
                      </m:r>
                      <m:r>
                        <m:t>1</m:t>
                      </m:r>
                      <m:r>
                        <m:t>→</m:t>
                      </m:r>
                      <m:rad>
                        <m:deg>
                          <m:r>
                            <m:t>3</m:t>
                          </m:r>
                        </m:deg>
                        <m:e>
                          <m:r>
                            <m:t>c</m:t>
                          </m:r>
                        </m:e>
                      </m:rad>
                      <m:r>
                        <m:t>)</m:t>
                      </m:r>
                    </m:oMath>
                  </m:oMathPara>
                </a14:m>
              </mc:Choice>
              <mc:Fallback>
                <a:r>
                  <a:rPr sz="1750">
                    <a:solidFill>
                      <a:srgbClr val="1A1F2E"/>
                    </a:solidFill>
                    <a:latin typeface="Calibri"/>
                  </a:rPr>
                  <a:t>B ∝ c^(1/z):  c (1:1),  √c (2:1),  ∛c (3:1)</a:t>
                </a:r>
              </mc:Fallback>
            </mc:AlternateContent>
          </a:p>
        </p:txBody>
      </p:sp>
      <p:sp>
        <p:nvSpPr>
          <p:cNvPr id="10" name="TextBox 9"/>
          <p:cNvSpPr txBox="1"/>
          <p:nvPr/>
        </p:nvSpPr>
        <p:spPr>
          <a:xfrm>
            <a:off x="548640" y="3054096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A1F2E"/>
                </a:solidFill>
                <a:latin typeface="Calibri"/>
              </a:rPr>
              <a:t>The low-c rise steepens from c (1:1) to √c (2:1) to ∛c (3:1) — a near-vertical knee.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A1F2E"/>
                </a:solidFill>
                <a:latin typeface="Calibri"/>
              </a:rPr>
              <a:t>A constant or linear B cannot represent that knee, so CaCl₂ rails σ and LaCl₃ shows no basin.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A1F2E"/>
                </a:solidFill>
                <a:latin typeface="Calibri"/>
              </a:rPr>
              <a:t>Dielectric (Born) exclusion also lowers the plateau as charge rises — your fitted β₀ ordering NaCl ≫ CaCl₂ ≫ LaCl₃ (∝ e^(−0.32 z²)).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B02A1F"/>
                </a:solidFill>
                <a:latin typeface="Calibri"/>
              </a:rPr>
              <a:t>So Stage 3 is the model talking, not the data failing.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5011277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A7182"/>
                </a:solidFill>
                <a:latin typeface="Calibri"/>
              </a:rPr>
              <a:t>Knee sharpens with z; a single curvature can't fit all three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620256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DATA3 single-salt · choosing B(c) for identifiable fits · June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620256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12 / 24</a:t>
            </a:r>
          </a:p>
        </p:txBody>
      </p:sp>
      <p:pic>
        <p:nvPicPr>
          <p:cNvPr id="16" name="Picture 15" descr="pervial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971434"/>
            <a:ext cx="5303520" cy="19941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75488"/>
            <a:ext cx="164592" cy="1645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7C86"/>
                </a:solidFill>
                <a:latin typeface="Calibri"/>
              </a:rPr>
              <a:t>03 · CONCENTRATION vs IONIC STRENGTH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62A4D"/>
                </a:solidFill>
                <a:latin typeface="Calibri"/>
              </a:rPr>
              <a:t>Single-salt: a relabel. Multisalt: the only common axis.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6A7182"/>
                </a:solidFill>
                <a:latin typeface="Calibri"/>
              </a:rPr>
              <a:t>Ionic strength is what sets Donnan screening — keep it ready for the mixtures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02536"/>
            <a:ext cx="5486400" cy="91440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39112"/>
            <a:ext cx="5486400" cy="841248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ctr">
              <a:defRPr sz="1700"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>
                      <m:r>
                        <m:t>I</m:t>
                      </m:r>
                      <m: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0"/>
                          <m:supHide m:val="1"/>
                        </m:naryPr>
                        <m:sub>
                          <m:r>
                            <m:t>i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nary>
                      <m:sSubSup>
                        <m:e>
                          <m:r>
                            <m:t>z</m:t>
                          </m:r>
                        </m:e>
                        <m:sub>
                          <m:r>
                            <m:t>i</m:t>
                          </m:r>
                        </m:sub>
                        <m:sup>
                          <m:r>
                            <m:t>2</m:t>
                          </m:r>
                        </m:sup>
                      </m:sSubSup>
                      <m:r>
                        <m:t>=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N</m:t>
                          </m:r>
                          <m:r>
                            <m:rPr>
                              <m:sty m:val="p"/>
                            </m:rPr>
                            <m:t>a</m:t>
                          </m:r>
                        </m:sub>
                      </m:sSub>
                      <m:r>
                        <m:t>+</m:t>
                      </m:r>
                      <m:r>
                        <m:t>3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C</m:t>
                          </m:r>
                          <m:r>
                            <m:rPr>
                              <m:sty m:val="p"/>
                            </m:rPr>
                            <m:t>a</m:t>
                          </m:r>
                        </m:sub>
                      </m:sSub>
                      <m:r>
                        <m:t>+</m:t>
                      </m:r>
                      <m:r>
                        <m:t>6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L</m:t>
                          </m:r>
                          <m:r>
                            <m:rPr>
                              <m:sty m:val="p"/>
                            </m:rPr>
                            <m:t>a</m:t>
                          </m:r>
                        </m:sub>
                      </m:sSub>
                    </m:oMath>
                  </m:oMathPara>
                </a14:m>
              </mc:Choice>
              <mc:Fallback>
                <a:r>
                  <a:rPr sz="1700">
                    <a:solidFill>
                      <a:srgbClr val="1A1F2E"/>
                    </a:solidFill>
                    <a:latin typeface="Calibri"/>
                  </a:rPr>
                  <a:t>I = ½ Σ ci zi² = c_Na + 3 c_Ca + 6 c_La</a:t>
                </a:r>
              </mc:Fallback>
            </mc:AlternateContent>
          </a:p>
        </p:txBody>
      </p:sp>
      <p:sp>
        <p:nvSpPr>
          <p:cNvPr id="10" name="TextBox 9"/>
          <p:cNvSpPr txBox="1"/>
          <p:nvPr/>
        </p:nvSpPr>
        <p:spPr>
          <a:xfrm>
            <a:off x="548640" y="3054096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A1F2E"/>
                </a:solidFill>
                <a:latin typeface="Calibri"/>
              </a:rPr>
              <a:t>For one salt I ∝ c, so B-vs-I is B-vs-c relabeled — no change to a single-salt fit.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A1F2E"/>
                </a:solidFill>
                <a:latin typeface="Calibri"/>
              </a:rPr>
              <a:t>Switching the axis to I pulls the salts ~3× closer together (partial collapse).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62A4D"/>
                </a:solidFill>
                <a:latin typeface="Calibri"/>
              </a:rPr>
              <a:t>For a mixture there is no single c — I is the only well-defined abscissa.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1">
                <a:solidFill>
                  <a:srgbClr val="6A7182"/>
                </a:solidFill>
                <a:latin typeface="Calibri"/>
              </a:rPr>
              <a:t>Single-salt focus now; this is the bridge to the multisalt phase.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5011277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A7182"/>
                </a:solidFill>
                <a:latin typeface="Calibri"/>
              </a:rPr>
              <a:t>Same curves on a c-axis (left) vs an I-axis (right): tighter on 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620256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DATA3 single-salt · choosing B(c) for identifiable fits · June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620256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13 / 24</a:t>
            </a:r>
          </a:p>
        </p:txBody>
      </p:sp>
      <p:pic>
        <p:nvPicPr>
          <p:cNvPr id="16" name="Picture 15" descr="Bc_vs_ionic_streng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971434"/>
            <a:ext cx="5303520" cy="199412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2331720" cy="2331720"/>
          </a:xfrm>
          <a:prstGeom prst="round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233172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162A4D"/>
                </a:solidFill>
                <a:latin typeface="Calibr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3520440" y="2286000"/>
            <a:ext cx="91440" cy="1874519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2331720"/>
            <a:ext cx="7772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62A4D"/>
                </a:solidFill>
                <a:latin typeface="Calibri"/>
              </a:rPr>
              <a:t>Using B(c) in the contours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70332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6A7182"/>
                </a:solidFill>
                <a:latin typeface="Calibri"/>
              </a:rPr>
              <a:t>How the right form fixes seeding and identifiability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DATA3 single-salt · choosing B(c) for identifiable fits ·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620256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75488"/>
            <a:ext cx="164592" cy="1645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7C86"/>
                </a:solidFill>
                <a:latin typeface="Calibri"/>
              </a:rPr>
              <a:t>04 · WHY THIS FIXES THE CONTOURS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62A4D"/>
                </a:solidFill>
                <a:latin typeface="Calibri"/>
              </a:rPr>
              <a:t>Tie B to concentration and it stops floating to a wall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6A7182"/>
                </a:solidFill>
                <a:latin typeface="Calibri"/>
              </a:rPr>
              <a:t>One physical function replaces a free B per range or per vial — fewer parameters, sharper basins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02536"/>
            <a:ext cx="5486400" cy="118872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02536"/>
            <a:ext cx="109728" cy="1188720"/>
          </a:xfrm>
          <a:prstGeom prst="rect">
            <a:avLst/>
          </a:prstGeom>
          <a:solidFill>
            <a:srgbClr val="B02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6712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B02A1F"/>
                </a:solidFill>
                <a:latin typeface="Calibri"/>
              </a:rPr>
              <a:t>Before — free constant/linear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9464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F2E"/>
                </a:solidFill>
                <a:latin typeface="Calibri"/>
              </a:rPr>
              <a:t>B is unconstrained across the run, so it slides to a bound and drags σ with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28416"/>
            <a:ext cx="5486400" cy="118872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328416"/>
            <a:ext cx="109728" cy="1188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9300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E7D32"/>
                </a:solidFill>
                <a:latin typeface="Calibri"/>
              </a:rPr>
              <a:t>After — B = P₀·K(c)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95344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F2E"/>
                </a:solidFill>
                <a:latin typeface="Calibri"/>
              </a:rPr>
              <a:t>B is fixed by concentration through one physical curve; only P₀, X (k) and σ remain free.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54296"/>
            <a:ext cx="5486400" cy="118872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654296"/>
            <a:ext cx="109728" cy="1188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1888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7C86"/>
                </a:solidFill>
                <a:latin typeface="Calibri"/>
              </a:rPr>
              <a:t>Initial guesses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21224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F2E"/>
                </a:solidFill>
                <a:latin typeface="Calibri"/>
              </a:rPr>
              <a:t>The “group by range / by vial” question becomes one B(c) — basins from different ranges line up.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843016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A7182"/>
                </a:solidFill>
                <a:latin typeface="Calibri"/>
              </a:rPr>
              <a:t>Local (linear) vs global (saturating) B(c) for one salt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620256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DATA3 single-salt · choosing B(c) for identifiable fits · June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620256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15 / 24</a:t>
            </a:r>
          </a:p>
        </p:txBody>
      </p:sp>
      <p:pic>
        <p:nvPicPr>
          <p:cNvPr id="25" name="Picture 24" descr="fitted_B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139696"/>
            <a:ext cx="5029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75488"/>
            <a:ext cx="164592" cy="1645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7C86"/>
                </a:solidFill>
                <a:latin typeface="Calibri"/>
              </a:rPr>
              <a:t>04 · THE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62A4D"/>
                </a:solidFill>
                <a:latin typeface="Calibri"/>
              </a:rPr>
              <a:t>Read the seed off the contour, then 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6A7182"/>
                </a:solidFill>
                <a:latin typeface="Calibri"/>
              </a:rPr>
              <a:t>WSSE contour (forward-sim, no fitting) → joint argmin → seed θ → optimize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02536"/>
            <a:ext cx="2670048" cy="137160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30552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7C86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79192"/>
            <a:ext cx="2304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A4D"/>
                </a:solidFill>
                <a:latin typeface="Calibri"/>
              </a:rPr>
              <a:t>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90088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1F2E"/>
                </a:solidFill>
                <a:latin typeface="Calibri"/>
              </a:rPr>
              <a:t>Sweep the grid; score WSSE per 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459736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6A7182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002536"/>
            <a:ext cx="2670048" cy="137160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130552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7C86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679192"/>
            <a:ext cx="2304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A4D"/>
                </a:solidFill>
                <a:latin typeface="Calibri"/>
              </a:rPr>
              <a:t>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990088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1F2E"/>
                </a:solidFill>
                <a:latin typeface="Calibri"/>
              </a:rPr>
              <a:t>Joint 2-D minimum where channels agree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459736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6A7182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002536"/>
            <a:ext cx="2670048" cy="137160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130552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7C86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79192"/>
            <a:ext cx="2304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A4D"/>
                </a:solidFill>
                <a:latin typeface="Calibri"/>
              </a:rPr>
              <a:t>Seed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990088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1F2E"/>
                </a:solidFill>
                <a:latin typeface="Calibri"/>
              </a:rPr>
              <a:t>Use that θ as the initial guess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459736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6A7182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2002536"/>
            <a:ext cx="2670048" cy="137160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2130552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7C86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679192"/>
            <a:ext cx="2304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A4D"/>
                </a:solidFill>
                <a:latin typeface="Calibri"/>
              </a:rPr>
              <a:t>Fit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990088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1F2E"/>
                </a:solidFill>
                <a:latin typeface="Calibri"/>
              </a:rPr>
              <a:t>Optimize with B = B(c) fixed by the curve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575304"/>
            <a:ext cx="5212080" cy="86868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11880"/>
            <a:ext cx="5212080" cy="795528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ctr">
              <a:defRPr sz="1500"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m:t>W</m:t>
                      </m:r>
                      <m:r>
                        <m:rPr>
                          <m:sty m:val="p"/>
                        </m:rPr>
                        <m:t>S</m:t>
                      </m:r>
                      <m:r>
                        <m:rPr>
                          <m:sty m:val="p"/>
                        </m:rPr>
                        <m:t>S</m:t>
                      </m:r>
                      <m:r>
                        <m:rPr>
                          <m:sty m:val="p"/>
                        </m:rPr>
                        <m:t>E</m:t>
                      </m:r>
                      <m:r>
                        <m:t>=</m:t>
                      </m:r>
                      <m:nary>
                        <m:naryPr>
                          <m:chr m:val="∑"/>
                          <m:limLoc m:val="undOvr"/>
                          <m:subHide m:val="0"/>
                          <m:supHide m:val="1"/>
                        </m:naryPr>
                        <m:sub>
                          <m:r>
                            <m:t>c</m:t>
                          </m:r>
                          <m:r>
                            <m:t>h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subHide m:val="0"/>
                              <m:supHide m:val="1"/>
                            </m:naryPr>
                            <m:sub>
                              <m:r>
                                <m:t>t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sSub>
                                <m:e>
                                  <m:r>
                                    <m:t>w</m:t>
                                  </m:r>
                                </m:e>
                                <m:sub>
                                  <m:r>
                                    <m:t>c</m:t>
                                  </m:r>
                                  <m:r>
                                    <m:t>h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m:t>(</m:t>
                      </m:r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c</m:t>
                          </m:r>
                          <m:r>
                            <m:t>h</m:t>
                          </m:r>
                          <m:r>
                            <m:t>,</m:t>
                          </m:r>
                          <m:r>
                            <m:t>t</m:t>
                          </m:r>
                        </m:sub>
                      </m:sSub>
                      <m:r>
                        <m:t>−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</m:e>
                        <m:sub>
                          <m:r>
                            <m:t>c</m:t>
                          </m:r>
                          <m:r>
                            <m:t>h</m:t>
                          </m:r>
                          <m:r>
                            <m:t>,</m:t>
                          </m:r>
                          <m:r>
                            <m:t>t</m:t>
                          </m:r>
                        </m:sub>
                      </m:sSub>
                      <m:sSup>
                        <m:e>
                          <m:r>
                            <m:t>)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</m:oMath>
                  </m:oMathPara>
                </a14:m>
              </mc:Choice>
              <mc:Fallback>
                <a:r>
                  <a:rPr sz="1500">
                    <a:solidFill>
                      <a:srgbClr val="1A1F2E"/>
                    </a:solidFill>
                    <a:latin typeface="Calibri"/>
                  </a:rPr>
                  <a:t>WSSE = Σ_ch Σ_t w (y − ŷ)²</a:t>
                </a:r>
              </mc:Fallback>
            </mc:AlternateContent>
          </a:p>
        </p:txBody>
      </p:sp>
      <p:sp>
        <p:nvSpPr>
          <p:cNvPr id="29" name="TextBox 28"/>
          <p:cNvSpPr txBox="1"/>
          <p:nvPr/>
        </p:nvSpPr>
        <p:spPr>
          <a:xfrm>
            <a:off x="548640" y="4617720"/>
            <a:ext cx="5212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F2E"/>
                </a:solidFill>
                <a:latin typeface="Calibri"/>
              </a:rPr>
              <a:t>Forward simulation, no fitting. Where the channels agree on an interior minimum, θ is identified — and that point seeds the optimizer.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8284" y="6263640"/>
            <a:ext cx="36883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A7182"/>
                </a:solidFill>
                <a:latin typeface="Calibri"/>
              </a:rPr>
              <a:t>Read the joint minimum straight off the contour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620256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DATA3 single-salt · choosing B(c) for identifiable fits · June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6620256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16 / 24</a:t>
            </a:r>
          </a:p>
        </p:txBody>
      </p:sp>
      <p:pic>
        <p:nvPicPr>
          <p:cNvPr id="35" name="Picture 34" descr="objcontour-x_sigma-y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284" y="3520440"/>
            <a:ext cx="3688391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75488"/>
            <a:ext cx="164592" cy="1645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7C86"/>
                </a:solidFill>
                <a:latin typeface="Calibri"/>
              </a:rPr>
              <a:t>04 · INITIAL-GUESS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62A4D"/>
                </a:solidFill>
                <a:latin typeface="Calibri"/>
              </a:rPr>
              <a:t>From “guess per range / per vial” to one B(c)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6A7182"/>
                </a:solidFill>
                <a:latin typeface="Calibri"/>
              </a:rPr>
              <a:t>The grouping question answers itself once B is tied to a physical variable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8256"/>
            <a:ext cx="11064240" cy="96012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48256"/>
            <a:ext cx="109728" cy="960120"/>
          </a:xfrm>
          <a:prstGeom prst="rect">
            <a:avLst/>
          </a:prstGeom>
          <a:solidFill>
            <a:srgbClr val="B02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31136"/>
            <a:ext cx="3383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B02A1F"/>
                </a:solidFill>
                <a:latin typeface="Calibri"/>
              </a:rPr>
              <a:t>Per-vial free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231136"/>
            <a:ext cx="6949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1F2E"/>
                </a:solidFill>
                <a:latin typeface="Calibri"/>
              </a:rPr>
              <a:t>many parameters, overfits, no transfer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45536"/>
            <a:ext cx="11064240" cy="96012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145536"/>
            <a:ext cx="109728" cy="960120"/>
          </a:xfrm>
          <a:prstGeom prst="rect">
            <a:avLst/>
          </a:prstGeom>
          <a:solidFill>
            <a:srgbClr val="B97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28416"/>
            <a:ext cx="3383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B97309"/>
                </a:solidFill>
                <a:latin typeface="Calibri"/>
              </a:rPr>
              <a:t>Grouped by 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328416"/>
            <a:ext cx="6949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1F2E"/>
                </a:solidFill>
                <a:latin typeface="Calibri"/>
              </a:rPr>
              <a:t>linearizes a curve the polynomial should already capture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42816"/>
            <a:ext cx="11064240" cy="96012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242816"/>
            <a:ext cx="109728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25696"/>
            <a:ext cx="3383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E7D32"/>
                </a:solidFill>
                <a:latin typeface="Calibri"/>
              </a:rPr>
              <a:t>B(c) — one function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425696"/>
            <a:ext cx="6949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1F2E"/>
                </a:solidFill>
                <a:latin typeface="Calibri"/>
              </a:rPr>
              <a:t>ties every vial's B to its concentration; multistart seeds from the curve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85816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1A1F2E"/>
                </a:solidFill>
                <a:latin typeface="Calibri"/>
              </a:rPr>
              <a:t>Keep LHS multistart — but seed it from the contour argmin and the B(c) curve, not a blind start.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620256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DATA3 single-salt · choosing B(c) for identifiable fits · 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620256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75488"/>
            <a:ext cx="164592" cy="1645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7C86"/>
                </a:solidFill>
                <a:latin typeface="Calibri"/>
              </a:rPr>
              <a:t>04 · WHY NOT A MAP PER 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62A4D"/>
                </a:solidFill>
                <a:latin typeface="Calibri"/>
              </a:rPr>
              <a:t>Why we don't map each β against Lₚ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6A7182"/>
                </a:solidFill>
                <a:latin typeface="Calibri"/>
              </a:rPr>
              <a:t>The β's are coupled pieces of one curve — not independent dials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118872" cy="11887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02536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A4D"/>
                </a:solidFill>
                <a:latin typeface="Calibri"/>
              </a:rPr>
              <a:t>One curve, not three knobs — </a:t>
            </a:r>
            <a:r>
              <a:rPr sz="1300" b="0" i="0">
                <a:solidFill>
                  <a:srgbClr val="1A1F2E"/>
                </a:solidFill>
                <a:latin typeface="Calibri"/>
              </a:rPr>
              <a:t>B(c) = Jw(β₀ + β₁c + β₂c²) is a single curve; the β's are its pieces.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80360"/>
            <a:ext cx="118872" cy="11887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25496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A4D"/>
                </a:solidFill>
                <a:latin typeface="Calibri"/>
              </a:rPr>
              <a:t>They lean on each other — </a:t>
            </a:r>
            <a:r>
              <a:rPr sz="1300" b="0" i="0">
                <a:solidFill>
                  <a:srgbClr val="1A1F2E"/>
                </a:solidFill>
                <a:latin typeface="Calibri"/>
              </a:rPr>
              <a:t>Raise β₁ and the fit pushes β₀ and β₂ back to keep the curve through the data — so the β's are correlated.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03320"/>
            <a:ext cx="118872" cy="11887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48456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A4D"/>
                </a:solidFill>
                <a:latin typeface="Calibri"/>
              </a:rPr>
              <a:t>So the slice is an artifact — </a:t>
            </a:r>
            <a:r>
              <a:rPr sz="1300" b="0" i="0">
                <a:solidFill>
                  <a:srgbClr val="1A1F2E"/>
                </a:solidFill>
                <a:latin typeface="Calibri"/>
              </a:rPr>
              <a:t>An Lₚ × β₁ map must freeze β₀ and β₂. What you see depends on where you froze them — not on β₁.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26280"/>
            <a:ext cx="118872" cy="11887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471416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A4D"/>
                </a:solidFill>
                <a:latin typeface="Calibri"/>
              </a:rPr>
              <a:t>Lₚ is the clean one — </a:t>
            </a:r>
            <a:r>
              <a:rPr sz="1300" b="0" i="0">
                <a:solidFill>
                  <a:srgbClr val="1A1F2E"/>
                </a:solidFill>
                <a:latin typeface="Calibri"/>
              </a:rPr>
              <a:t>Lₚ is set by the water flux and barely moves with the β's — so every Lₚ × β looks the same: Lₚ pinned.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12664"/>
            <a:ext cx="5486400" cy="868680"/>
          </a:xfrm>
          <a:prstGeom prst="round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44068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2A4D"/>
                </a:solidFill>
                <a:latin typeface="Calibri"/>
              </a:rPr>
              <a:t>Analogy:  </a:t>
            </a:r>
            <a:r>
              <a:rPr sz="1250" b="0" i="1">
                <a:solidFill>
                  <a:srgbClr val="1A1F2E"/>
                </a:solidFill>
                <a:latin typeface="Calibri"/>
              </a:rPr>
              <a:t>judging one singer with the rest of the choir muted — you mostly hear your choice of who to mute.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4984" y="5477256"/>
            <a:ext cx="43579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A7182"/>
                </a:solidFill>
                <a:latin typeface="Calibri"/>
              </a:rPr>
              <a:t>β₁ × β₂ : a long valley, no single point — that's the correlation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620256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DATA3 single-salt · choosing B(c) for identifiable fits · June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620256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18 / 24</a:t>
            </a:r>
          </a:p>
        </p:txBody>
      </p:sp>
      <p:pic>
        <p:nvPicPr>
          <p:cNvPr id="23" name="Picture 22" descr="fitted_B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984" y="2231136"/>
            <a:ext cx="4357991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75488"/>
            <a:ext cx="164592" cy="1645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7C86"/>
                </a:solidFill>
                <a:latin typeface="Calibri"/>
              </a:rPr>
              <a:t>04 · THE RIGHT β DIAGNOSTICS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62A4D"/>
                </a:solidFill>
                <a:latin typeface="Calibri"/>
              </a:rPr>
              <a:t>What to plot for the β's instead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6A7182"/>
                </a:solidFill>
                <a:latin typeface="Calibri"/>
              </a:rPr>
              <a:t>Two views carry all the β information — no per-β maps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2199" y="5084064"/>
            <a:ext cx="41992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A7182"/>
                </a:solidFill>
                <a:latin typeface="Calibri"/>
              </a:rPr>
              <a:t>The B(c) curve + per-vial apparent B that constrains it  (illustrative)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53916" y="5084064"/>
            <a:ext cx="3414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A7182"/>
                </a:solidFill>
                <a:latin typeface="Calibri"/>
              </a:rPr>
              <a:t>FIM correlation matrix — identifiability &amp; β coupling, exact  (illustrative)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66944"/>
            <a:ext cx="11064240" cy="841248"/>
          </a:xfrm>
          <a:prstGeom prst="round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39496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Calibri"/>
              </a:rPr>
              <a:t>Full set:  </a:t>
            </a:r>
            <a:r>
              <a:rPr sz="1250" b="0" i="0">
                <a:solidFill>
                  <a:srgbClr val="1A1F2E"/>
                </a:solidFill>
                <a:latin typeface="Calibri"/>
              </a:rPr>
              <a:t>keep σ×Lₚ, B×Lₚ, B×σ for Lₚ and σ; these two cover the B-function. The β's live on the curve and in the matrix — never in one-β-at-a-time slices.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620256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DATA3 single-salt · choosing B(c) for identifiable fits · June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620256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19 / 24</a:t>
            </a:r>
          </a:p>
        </p:txBody>
      </p:sp>
      <p:pic>
        <p:nvPicPr>
          <p:cNvPr id="17" name="Picture 16" descr="fitted_Bc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2199" y="2066544"/>
            <a:ext cx="4199282" cy="2971800"/>
          </a:xfrm>
          <a:prstGeom prst="rect">
            <a:avLst/>
          </a:prstGeom>
        </p:spPr>
      </p:pic>
      <p:pic>
        <p:nvPicPr>
          <p:cNvPr id="18" name="Picture 17" descr="objcontour-x_sigma-y_L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3916" y="2066544"/>
            <a:ext cx="3414408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2331720" cy="2331720"/>
          </a:xfrm>
          <a:prstGeom prst="round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233172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162A4D"/>
                </a:solidFill>
                <a:latin typeface="Calibr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3520440" y="2286000"/>
            <a:ext cx="91440" cy="1874519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2331720"/>
            <a:ext cx="7772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62A4D"/>
                </a:solidFill>
                <a:latin typeface="Calibri"/>
              </a:rPr>
              <a:t>Predictions vs measured states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70332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6A7182"/>
                </a:solidFill>
                <a:latin typeface="Calibri"/>
              </a:rPr>
              <a:t>Mass and concentration, model against experiment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DATA3 single-salt · choosing B(c) for identifiable fits ·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620256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75488"/>
            <a:ext cx="164592" cy="16459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7D32"/>
                </a:solidFill>
                <a:latin typeface="Calibri"/>
              </a:rPr>
              <a:t>05 · NaCl — WELL-IDENTIFIED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62A4D"/>
                </a:solidFill>
                <a:latin typeface="Calibri"/>
              </a:rPr>
              <a:t>NaCl: model tracks mass and both concentrations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6A7182"/>
                </a:solidFill>
                <a:latin typeface="Calibri"/>
              </a:rPr>
              <a:t>MC3 · 07.22.24 · SNaCl — constant-B fit (B_form = single)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09934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A7182"/>
                </a:solidFill>
                <a:latin typeface="Calibri"/>
              </a:rPr>
              <a:t>● experiment   —— model · mass (left) and retentate/permeate concentration (right)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2048256"/>
            <a:ext cx="3108960" cy="2286000"/>
          </a:xfrm>
          <a:prstGeom prst="round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20" y="2231136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A4D"/>
                </a:solidFill>
                <a:latin typeface="Calibri"/>
              </a:rPr>
              <a:t>θ (contour seed)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670048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A7182"/>
                </a:solidFill>
                <a:latin typeface="Calibri"/>
              </a:rPr>
              <a:t>Lₚ   8.98</a:t>
            </a:r>
            <a:r>
              <a:rPr sz="1300" b="1" i="0">
                <a:solidFill>
                  <a:srgbClr val="1A1F2E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3054096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A7182"/>
                </a:solidFill>
                <a:latin typeface="Calibri"/>
              </a:rPr>
              <a:t>B   13.88 µm/s</a:t>
            </a:r>
            <a:r>
              <a:rPr sz="1300" b="1" i="0">
                <a:solidFill>
                  <a:srgbClr val="1A1F2E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3438144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A7182"/>
                </a:solidFill>
                <a:latin typeface="Calibri"/>
              </a:rPr>
              <a:t>σ   1.00</a:t>
            </a:r>
            <a:r>
              <a:rPr sz="1300" b="1" i="0">
                <a:solidFill>
                  <a:srgbClr val="1A1F2E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3822192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A7182"/>
                </a:solidFill>
                <a:latin typeface="Calibri"/>
              </a:rPr>
              <a:t>WSSE₃ch   42</a:t>
            </a:r>
            <a:r>
              <a:rPr sz="1300" b="1" i="0">
                <a:solidFill>
                  <a:srgbClr val="1A1F2E"/>
                </a:solidFill>
                <a:latin typeface="Calibr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4471416"/>
            <a:ext cx="914400" cy="310896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449884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GOOD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5065776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1A1F2E"/>
                </a:solidFill>
                <a:latin typeface="Calibri"/>
              </a:rPr>
              <a:t>B is ~constant for NaCl over this range — the constant-B fit already tracks mass and both concentrations (the per-vial B is flat, slide 9).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620256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DATA3 single-salt · choosing B(c) for identifiable fits · June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620256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21 / 24</a:t>
            </a:r>
          </a:p>
        </p:txBody>
      </p:sp>
      <p:pic>
        <p:nvPicPr>
          <p:cNvPr id="22" name="Picture 21" descr="concentration-JAO_072224_NF270_MC3_SNaCl_NaCl_07.22.24_S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64217"/>
            <a:ext cx="7680960" cy="269999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97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75488"/>
            <a:ext cx="164592" cy="164592"/>
          </a:xfrm>
          <a:prstGeom prst="rect">
            <a:avLst/>
          </a:prstGeom>
          <a:solidFill>
            <a:srgbClr val="B97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309"/>
                </a:solidFill>
                <a:latin typeface="Calibri"/>
              </a:rPr>
              <a:t>05 · CaCl₂ &amp; LaCl₃ — WHERE FORM STILL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62A4D"/>
                </a:solidFill>
                <a:latin typeface="Calibri"/>
              </a:rPr>
              <a:t>Divalent fits with σ railed; trivalent the model can't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6A7182"/>
                </a:solidFill>
                <a:latin typeface="Calibri"/>
              </a:rPr>
              <a:t>The case for B(c): the constant-(σ,B) form runs out as valence rises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048256"/>
            <a:ext cx="4023360" cy="2011680"/>
          </a:xfrm>
          <a:prstGeom prst="round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2048256"/>
            <a:ext cx="91440" cy="2011680"/>
          </a:xfrm>
          <a:prstGeom prst="rect">
            <a:avLst/>
          </a:prstGeom>
          <a:solidFill>
            <a:srgbClr val="B97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212848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A4D"/>
                </a:solidFill>
                <a:latin typeface="Calibri"/>
              </a:rPr>
              <a:t>CaCl₂ · MC2 · 05.07.24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61518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A7182"/>
                </a:solidFill>
                <a:latin typeface="Calibri"/>
              </a:rPr>
              <a:t>Lₚ     7.54</a:t>
            </a:r>
            <a:r>
              <a:rPr sz="1200" b="1" i="0">
                <a:solidFill>
                  <a:srgbClr val="1A1F2E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8950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A7182"/>
                </a:solidFill>
                <a:latin typeface="Calibri"/>
              </a:rPr>
              <a:t>B     5.71 µm/s</a:t>
            </a:r>
            <a:r>
              <a:rPr sz="1200" b="1" i="0">
                <a:solidFill>
                  <a:srgbClr val="1A1F2E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16382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A7182"/>
                </a:solidFill>
                <a:latin typeface="Calibri"/>
              </a:rPr>
              <a:t>σ     1.00 ↑</a:t>
            </a:r>
            <a:r>
              <a:rPr sz="1200" b="1" i="0">
                <a:solidFill>
                  <a:srgbClr val="1A1F2E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438143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A7182"/>
                </a:solidFill>
                <a:latin typeface="Calibri"/>
              </a:rPr>
              <a:t>WSSE₃ch     220</a:t>
            </a:r>
            <a:r>
              <a:rPr sz="1200" b="1" i="0">
                <a:solidFill>
                  <a:srgbClr val="1A1F2E"/>
                </a:solidFill>
                <a:latin typeface="Calibr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3648456"/>
            <a:ext cx="914400" cy="310896"/>
          </a:xfrm>
          <a:prstGeom prst="roundRect">
            <a:avLst/>
          </a:prstGeom>
          <a:solidFill>
            <a:srgbClr val="B97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367588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OKAY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3675888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1A1F2E"/>
                </a:solidFill>
                <a:latin typeface="Calibri"/>
              </a:rPr>
              <a:t>σ railed at 1; the saturating B(c) cuts WSSE 220 → 146 (slide 10).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4361688"/>
            <a:ext cx="4023360" cy="2011680"/>
          </a:xfrm>
          <a:prstGeom prst="round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20" y="4361688"/>
            <a:ext cx="91440" cy="2011680"/>
          </a:xfrm>
          <a:prstGeom prst="rect">
            <a:avLst/>
          </a:prstGeom>
          <a:solidFill>
            <a:srgbClr val="B02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A4D"/>
                </a:solidFill>
                <a:latin typeface="Calibri"/>
              </a:rPr>
              <a:t>LaCl₃ · MC2 · 05.21.24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928616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A7182"/>
                </a:solidFill>
                <a:latin typeface="Calibri"/>
              </a:rPr>
              <a:t>Lₚ     3.54</a:t>
            </a:r>
            <a:r>
              <a:rPr sz="1200" b="1" i="0">
                <a:solidFill>
                  <a:srgbClr val="1A1F2E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202936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A7182"/>
                </a:solidFill>
                <a:latin typeface="Calibri"/>
              </a:rPr>
              <a:t>B     0.32 µm/s</a:t>
            </a:r>
            <a:r>
              <a:rPr sz="1200" b="1" i="0">
                <a:solidFill>
                  <a:srgbClr val="1A1F2E"/>
                </a:solidFill>
                <a:latin typeface="Calibr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477256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A7182"/>
                </a:solidFill>
                <a:latin typeface="Calibri"/>
              </a:rPr>
              <a:t>σ     0.00 ↓</a:t>
            </a:r>
            <a:r>
              <a:rPr sz="1200" b="1" i="0">
                <a:solidFill>
                  <a:srgbClr val="1A1F2E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75157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A7182"/>
                </a:solidFill>
                <a:latin typeface="Calibri"/>
              </a:rPr>
              <a:t>WSSE₃ch     1244</a:t>
            </a:r>
            <a:r>
              <a:rPr sz="1200" b="1" i="0">
                <a:solidFill>
                  <a:srgbClr val="1A1F2E"/>
                </a:solidFill>
                <a:latin typeface="Calibri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5961888"/>
            <a:ext cx="914400" cy="310896"/>
          </a:xfrm>
          <a:prstGeom prst="roundRect">
            <a:avLst/>
          </a:prstGeom>
          <a:solidFill>
            <a:srgbClr val="B02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5989320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POOR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98932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1A1F2E"/>
                </a:solidFill>
                <a:latin typeface="Calibri"/>
              </a:rPr>
              <a:t>Model-limited — every B(c) form stays ~1240; B(c) alone can't rescue it.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620256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DATA3 single-salt · choosing B(c) for identifiable fits · June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620256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22 / 24</a:t>
            </a:r>
          </a:p>
        </p:txBody>
      </p:sp>
      <p:pic>
        <p:nvPicPr>
          <p:cNvPr id="33" name="Picture 32" descr="concentration-JAO_050724_NF270_MC2_CaCl2_CaCl2_05.07.24_CaC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629" y="1956816"/>
            <a:ext cx="6246302" cy="2194560"/>
          </a:xfrm>
          <a:prstGeom prst="rect">
            <a:avLst/>
          </a:prstGeom>
        </p:spPr>
      </p:pic>
      <p:pic>
        <p:nvPicPr>
          <p:cNvPr id="34" name="Picture 33" descr="concentration-JAO_052124_NF270_MC2_LaCl3_LaCl3_05.21.24_LaCl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022" y="4270248"/>
            <a:ext cx="6249515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2331720" cy="2331720"/>
          </a:xfrm>
          <a:prstGeom prst="round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233172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162A4D"/>
                </a:solidFill>
                <a:latin typeface="Calibri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3520440" y="2286000"/>
            <a:ext cx="91440" cy="1874519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2331720"/>
            <a:ext cx="7772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62A4D"/>
                </a:solidFill>
                <a:latin typeface="Calibri"/>
              </a:rPr>
              <a:t>Takeaways &amp; 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70332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6A7182"/>
                </a:solidFill>
                <a:latin typeface="Calibri"/>
              </a:rPr>
              <a:t>What to change before the re-run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DATA3 single-salt · choosing B(c) for identifiable fits ·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620256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75488"/>
            <a:ext cx="164592" cy="1645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411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7C86"/>
                </a:solidFill>
                <a:latin typeface="Calibri"/>
              </a:rPr>
              <a:t>06 ·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62A4D"/>
                </a:solidFill>
                <a:latin typeface="Calibri"/>
              </a:rPr>
              <a:t>The B(c) form is the lever for identifiable fits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9344"/>
            <a:ext cx="5486400" cy="137160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9344"/>
            <a:ext cx="109728" cy="13716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1051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E7C86"/>
                </a:solidFill>
                <a:latin typeface="Calibri"/>
              </a:rPr>
              <a:t>B is a saturating partition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67712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F2E"/>
                </a:solidFill>
                <a:latin typeface="Calibri"/>
              </a:rPr>
              <a:t>B = DₘH/ℓ; H rises then plateaus (Donnan + dielectric).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609344"/>
            <a:ext cx="5486400" cy="137160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81928" y="1609344"/>
            <a:ext cx="109728" cy="13716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81051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E7D32"/>
                </a:solidFill>
                <a:latin typeface="Calibri"/>
              </a:rPr>
              <a:t>Pick by 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267712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F2E"/>
                </a:solidFill>
                <a:latin typeface="Calibri"/>
              </a:rPr>
              <a:t>In-window: Taylor B_form (1–2). Across the campaign: saturating / mechanistic.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82112"/>
            <a:ext cx="5486400" cy="137160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182112"/>
            <a:ext cx="109728" cy="1371600"/>
          </a:xfrm>
          <a:prstGeom prst="rect">
            <a:avLst/>
          </a:prstGeom>
          <a:solidFill>
            <a:srgbClr val="B97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3832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B97309"/>
                </a:solidFill>
                <a:latin typeface="Calibri"/>
              </a:rPr>
              <a:t>Valence = model 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F2E"/>
                </a:solidFill>
                <a:latin typeface="Calibri"/>
              </a:rPr>
              <a:t>Sharper knee + lower plateau with z explains CaCl₂ walls and LaCl₃.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3182112"/>
            <a:ext cx="5486400" cy="137160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1928" y="3182112"/>
            <a:ext cx="109728" cy="13716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33832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62A4D"/>
                </a:solidFill>
                <a:latin typeface="Calibri"/>
              </a:rPr>
              <a:t>Seed from B(c)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3840480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F2E"/>
                </a:solidFill>
                <a:latin typeface="Calibri"/>
              </a:rPr>
              <a:t>Tie B to concentration → walls relax, contours sharpen, seeds transfer.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09744"/>
            <a:ext cx="11064240" cy="1051560"/>
          </a:xfrm>
          <a:prstGeom prst="round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9560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7C86"/>
                </a:solidFill>
                <a:latin typeface="Calibri"/>
              </a:rPr>
              <a:t>NEXT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3035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2A4D"/>
                </a:solidFill>
                <a:latin typeface="Calibri"/>
              </a:rPr>
              <a:t>Now (single-salt): </a:t>
            </a:r>
            <a:r>
              <a:rPr sz="1250" b="0" i="0">
                <a:solidFill>
                  <a:srgbClr val="1A1F2E"/>
                </a:solidFill>
                <a:latin typeface="Calibri"/>
              </a:rPr>
              <a:t>re-fit with the chosen B_form seeded from the contours.    </a:t>
            </a:r>
            <a:r>
              <a:rPr sz="1250" b="1" i="0">
                <a:solidFill>
                  <a:srgbClr val="162A4D"/>
                </a:solidFill>
                <a:latin typeface="Calibri"/>
              </a:rPr>
              <a:t>Soon (multisalt): </a:t>
            </a:r>
            <a:r>
              <a:rPr sz="1250" b="0" i="0">
                <a:solidFill>
                  <a:srgbClr val="1A1F2E"/>
                </a:solidFill>
                <a:latin typeface="Calibri"/>
              </a:rPr>
              <a:t>move to B(I) on the shared ionic-strength axis.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620256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DATA3 single-salt · choosing B(c) for identifiable fits · June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620256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A7182"/>
                </a:solidFill>
                <a:latin typeface="Calibri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
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71" r:id="rId4"/>
    <p:sldId id="258" r:id="rId5"/>
    <p:sldId id="259" r:id="rId6"/>
    <p:sldId id="260" r:id="rId7"/>
    <p:sldId id="261" r:id="rId8"/>
    <p:sldId id="262" r:id="rId9"/>
    <p:sldId id="263" r:id="rId10"/>
    <p:sldId id="2147472429" r:id="rId11"/>
    <p:sldId id="2147472421" r:id="rId12"/>
    <p:sldId id="2147472422" r:id="rId13"/>
    <p:sldId id="2147472423" r:id="rId14"/>
    <p:sldId id="2147472424" r:id="rId15"/>
    <p:sldId id="2147472425" r:id="rId16"/>
    <p:sldId id="2147472426" r:id="rId17"/>
    <p:sldId id="2147472427" r:id="rId18"/>
    <p:sldId id="2147472428" r:id="rId19"/>
    <p:sldId id="264" r:id="rId20"/>
    <p:sldId id="26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C4E96B-C55B-5645-A268-11CB010EFB2C}" type="datetimeFigureOut">
              <a:rPr lang="en-US" smtClean="0"/>
              <a:t>6/24/26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EB8ADF-552A-6F48-8739-3E35AEADD051}" type="slidenum">
              <a:rPr lang="en-US" smtClean="0"/>
              <a:t>‹#›</a:t>
            </a:fld>
            <a:endParaRPr lang="en-US"/>
          </a:p>
        </p:txBody>
      </p:sp>
    </p:spTree>
    <p:extLst>
      <p:ext uri="{BB962C8B-B14F-4D97-AF65-F5344CB8AC3E}">
        <p14:creationId xmlns:p14="http://schemas.microsoft.com/office/powerpoint/2010/main" val="1919035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feed-side </a:t>
            </a:r>
            <a:r>
              <a:rPr lang="en-US" b="1" dirty="0"/>
              <a:t>interfacial concentration </a:t>
            </a:r>
            <a:r>
              <a:rPr lang="en-US" b="1" dirty="0" err="1"/>
              <a:t>c_in,f</a:t>
            </a:r>
            <a:r>
              <a:rPr lang="en-US" b="1" dirty="0"/>
              <a:t> starts at the initial feed concentration</a:t>
            </a:r>
            <a:r>
              <a:rPr lang="en-US" dirty="0"/>
              <a:t> (tens of mM) and is pushed </a:t>
            </a:r>
            <a:r>
              <a:rPr lang="en-US" i="1" dirty="0"/>
              <a:t>higher</a:t>
            </a:r>
            <a:r>
              <a:rPr lang="en-US" dirty="0"/>
              <a:t> still by concentration polarization: </a:t>
            </a:r>
            <a:r>
              <a:rPr lang="en-US" dirty="0" err="1"/>
              <a:t>c_in,f</a:t>
            </a:r>
            <a:r>
              <a:rPr lang="en-US" dirty="0"/>
              <a:t> = (</a:t>
            </a:r>
            <a:r>
              <a:rPr lang="en-US" dirty="0" err="1"/>
              <a:t>c_F</a:t>
            </a:r>
            <a:r>
              <a:rPr lang="en-US" dirty="0"/>
              <a:t> − </a:t>
            </a:r>
            <a:r>
              <a:rPr lang="en-US" dirty="0" err="1"/>
              <a:t>c_h</a:t>
            </a:r>
            <a:r>
              <a:rPr lang="en-US" dirty="0"/>
              <a:t>)·e^(</a:t>
            </a:r>
            <a:r>
              <a:rPr lang="en-US" dirty="0" err="1"/>
              <a:t>J_w</a:t>
            </a:r>
            <a:r>
              <a:rPr lang="en-US" dirty="0"/>
              <a:t>/k) + </a:t>
            </a:r>
            <a:r>
              <a:rPr lang="en-US" dirty="0" err="1"/>
              <a:t>c_h</a:t>
            </a:r>
            <a:r>
              <a:rPr lang="en-US" dirty="0"/>
              <a:t> ≥ </a:t>
            </a:r>
            <a:r>
              <a:rPr lang="en-US" dirty="0" err="1"/>
              <a:t>c_h</a:t>
            </a:r>
            <a:r>
              <a:rPr lang="en-US" dirty="0"/>
              <a:t>. At t = 0 the stirred cell already sits at feed concentration, so </a:t>
            </a:r>
            <a:r>
              <a:rPr lang="en-US" dirty="0" err="1"/>
              <a:t>c_in,f</a:t>
            </a:r>
            <a:r>
              <a:rPr lang="en-US" dirty="0"/>
              <a:t> is nonzero from the first instant (and for a </a:t>
            </a:r>
            <a:r>
              <a:rPr lang="en-US" i="1" dirty="0"/>
              <a:t>diluting</a:t>
            </a:r>
            <a:r>
              <a:rPr lang="en-US" dirty="0"/>
              <a:t> run it starts high and falls).</a:t>
            </a:r>
          </a:p>
        </p:txBody>
      </p:sp>
      <p:sp>
        <p:nvSpPr>
          <p:cNvPr id="4" name="Slide Number Placeholder 3"/>
          <p:cNvSpPr>
            <a:spLocks noGrp="1"/>
          </p:cNvSpPr>
          <p:nvPr>
            <p:ph type="sldNum" sz="quarter" idx="5"/>
          </p:nvPr>
        </p:nvSpPr>
        <p:spPr/>
        <p:txBody>
          <a:bodyPr/>
          <a:lstStyle/>
          <a:p>
            <a:fld id="{77EB8ADF-552A-6F48-8739-3E35AEADD051}" type="slidenum">
              <a:rPr lang="en-US" smtClean="0"/>
              <a:t>7</a:t>
            </a:fld>
            <a:endParaRPr lang="en-US"/>
          </a:p>
        </p:txBody>
      </p:sp>
    </p:spTree>
    <p:extLst>
      <p:ext uri="{BB962C8B-B14F-4D97-AF65-F5344CB8AC3E}">
        <p14:creationId xmlns:p14="http://schemas.microsoft.com/office/powerpoint/2010/main" val="396873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a:extLst>
            <a:ext uri="{FF2B5EF4-FFF2-40B4-BE49-F238E27FC236}">
              <a16:creationId xmlns:a16="http://schemas.microsoft.com/office/drawing/2014/main" id="{2E5E0D12-3A92-716B-905A-45AD32D02F07}"/>
            </a:ext>
          </a:extLst>
        </p:cNvPr>
        <p:cNvGrpSpPr/>
        <p:nvPr/>
      </p:nvGrpSpPr>
      <p:grpSpPr>
        <a:xfrm>
          <a:off x="0" y="0"/>
          <a:ext cx="0" cy="0"/>
          <a:chOff x="0" y="0"/>
          <a:chExt cx="0" cy="0"/>
        </a:xfrm>
      </p:grpSpPr>
      <p:sp>
        <p:nvSpPr>
          <p:cNvPr id="890" name="Google Shape;890;p33:notes">
            <a:extLst>
              <a:ext uri="{FF2B5EF4-FFF2-40B4-BE49-F238E27FC236}">
                <a16:creationId xmlns:a16="http://schemas.microsoft.com/office/drawing/2014/main" id="{A974AD4D-0583-BAF5-53CD-CEAB44196F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891" name="Google Shape;891;p33:notes">
            <a:extLst>
              <a:ext uri="{FF2B5EF4-FFF2-40B4-BE49-F238E27FC236}">
                <a16:creationId xmlns:a16="http://schemas.microsoft.com/office/drawing/2014/main" id="{E7579D79-778B-9118-283C-7AA2DE714E5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Say:</a:t>
            </a:r>
          </a:p>
          <a:p>
            <a:r>
              <a:rPr lang="en-US" sz="1200" b="1" i="0" u="none" strike="noStrike" cap="none" dirty="0">
                <a:solidFill>
                  <a:schemeClr val="dk1"/>
                </a:solidFill>
                <a:effectLst/>
                <a:latin typeface="Calibri"/>
                <a:ea typeface="Calibri"/>
                <a:cs typeface="Calibri"/>
                <a:sym typeface="Calibri"/>
              </a:rPr>
              <a:t> “To connect the data to parameters, we use a physics-based lumped parameter model.”</a:t>
            </a:r>
          </a:p>
          <a:p>
            <a:endParaRPr lang="en-US" sz="1200" b="1"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 Left side (forward model)</a:t>
            </a:r>
          </a:p>
          <a:p>
            <a:r>
              <a:rPr lang="en-US" sz="1200" b="1" i="0" u="none" strike="noStrike" cap="none" dirty="0">
                <a:solidFill>
                  <a:schemeClr val="dk1"/>
                </a:solidFill>
                <a:effectLst/>
                <a:latin typeface="Calibri"/>
                <a:ea typeface="Calibri"/>
                <a:cs typeface="Calibri"/>
                <a:sym typeface="Calibri"/>
              </a:rPr>
              <a:t>Say:</a:t>
            </a:r>
          </a:p>
          <a:p>
            <a:r>
              <a:rPr lang="en-US" sz="1200" b="1" i="0" u="none" strike="noStrike" cap="none" dirty="0">
                <a:solidFill>
                  <a:schemeClr val="dk1"/>
                </a:solidFill>
                <a:effectLst/>
                <a:latin typeface="Calibri"/>
                <a:ea typeface="Calibri"/>
                <a:cs typeface="Calibri"/>
                <a:sym typeface="Calibri"/>
              </a:rPr>
              <a:t> “We describe the system dynamics using a state-space model, where the outputs depend on unknown transport parameters.”</a:t>
            </a:r>
          </a:p>
          <a:p>
            <a:endParaRPr lang="en-US" sz="1200" b="1"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 Parameter vector (IMPORTANT)</a:t>
            </a:r>
          </a:p>
          <a:p>
            <a:r>
              <a:rPr lang="el-GR" sz="1200" b="1" i="0" u="none" strike="noStrike" cap="none" dirty="0">
                <a:solidFill>
                  <a:schemeClr val="dk1"/>
                </a:solidFill>
                <a:effectLst/>
                <a:latin typeface="Calibri"/>
                <a:ea typeface="Calibri"/>
                <a:cs typeface="Calibri"/>
                <a:sym typeface="Calibri"/>
              </a:rPr>
              <a:t>θ=[</a:t>
            </a:r>
            <a:r>
              <a:rPr lang="en-US" sz="1200" b="1" i="0" u="none" strike="noStrike" cap="none" dirty="0" err="1">
                <a:solidFill>
                  <a:schemeClr val="dk1"/>
                </a:solidFill>
                <a:effectLst/>
                <a:latin typeface="Calibri"/>
                <a:ea typeface="Calibri"/>
                <a:cs typeface="Calibri"/>
                <a:sym typeface="Calibri"/>
              </a:rPr>
              <a:t>Lp</a:t>
            </a:r>
            <a:r>
              <a:rPr lang="en-US" sz="1200" b="1" i="0" u="none" strike="noStrike" cap="none" dirty="0">
                <a:solidFill>
                  <a:schemeClr val="dk1"/>
                </a:solidFill>
                <a:effectLst/>
                <a:latin typeface="Calibri"/>
                <a:ea typeface="Calibri"/>
                <a:cs typeface="Calibri"/>
                <a:sym typeface="Calibri"/>
              </a:rPr>
              <a:t>, B, </a:t>
            </a:r>
            <a:r>
              <a:rPr lang="el-GR" sz="1200" b="1" i="0" u="none" strike="noStrike" cap="none" dirty="0">
                <a:solidFill>
                  <a:schemeClr val="dk1"/>
                </a:solidFill>
                <a:effectLst/>
                <a:latin typeface="Calibri"/>
                <a:ea typeface="Calibri"/>
                <a:cs typeface="Calibri"/>
                <a:sym typeface="Calibri"/>
              </a:rPr>
              <a:t>σ] </a:t>
            </a:r>
            <a:endParaRPr lang="en-US" sz="1200" b="1"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Say:</a:t>
            </a:r>
          </a:p>
          <a:p>
            <a:r>
              <a:rPr lang="en-US" sz="1200" b="1" i="0" u="none" strike="noStrike" cap="none" dirty="0">
                <a:solidFill>
                  <a:schemeClr val="dk1"/>
                </a:solidFill>
                <a:effectLst/>
                <a:latin typeface="Calibri"/>
                <a:ea typeface="Calibri"/>
                <a:cs typeface="Calibri"/>
                <a:sym typeface="Calibri"/>
              </a:rPr>
              <a:t> “The key parameters we estimate are:</a:t>
            </a:r>
          </a:p>
          <a:p>
            <a:r>
              <a:rPr lang="en-US" sz="1200" b="1" i="0" u="none" strike="noStrike" cap="none" dirty="0">
                <a:solidFill>
                  <a:schemeClr val="dk1"/>
                </a:solidFill>
                <a:effectLst/>
                <a:latin typeface="Calibri"/>
                <a:ea typeface="Calibri"/>
                <a:cs typeface="Calibri"/>
                <a:sym typeface="Calibri"/>
              </a:rPr>
              <a:t>hydraulic permeability </a:t>
            </a:r>
            <a:r>
              <a:rPr lang="en-US" sz="1200" b="1" i="0" u="none" strike="noStrike" cap="none" dirty="0" err="1">
                <a:solidFill>
                  <a:schemeClr val="dk1"/>
                </a:solidFill>
                <a:effectLst/>
                <a:latin typeface="Calibri"/>
                <a:ea typeface="Calibri"/>
                <a:cs typeface="Calibri"/>
                <a:sym typeface="Calibri"/>
              </a:rPr>
              <a:t>Lp</a:t>
            </a:r>
            <a:endParaRPr lang="en-US" sz="1200" b="1"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solute permeability B</a:t>
            </a:r>
          </a:p>
          <a:p>
            <a:r>
              <a:rPr lang="en-US" sz="1200" b="1" i="0" u="none" strike="noStrike" cap="none" dirty="0">
                <a:solidFill>
                  <a:schemeClr val="dk1"/>
                </a:solidFill>
                <a:effectLst/>
                <a:latin typeface="Calibri"/>
                <a:ea typeface="Calibri"/>
                <a:cs typeface="Calibri"/>
                <a:sym typeface="Calibri"/>
              </a:rPr>
              <a:t>reflection coefficient </a:t>
            </a:r>
            <a:r>
              <a:rPr lang="el-GR" sz="1200" b="1" i="0" u="none" strike="noStrike" cap="none" dirty="0">
                <a:solidFill>
                  <a:schemeClr val="dk1"/>
                </a:solidFill>
                <a:effectLst/>
                <a:latin typeface="Calibri"/>
                <a:ea typeface="Calibri"/>
                <a:cs typeface="Calibri"/>
                <a:sym typeface="Calibri"/>
              </a:rPr>
              <a:t>σ”</a:t>
            </a:r>
          </a:p>
          <a:p>
            <a:endParaRPr lang="en-US" sz="1200" b="1"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 Center (transport physics)</a:t>
            </a:r>
          </a:p>
          <a:p>
            <a:r>
              <a:rPr lang="en-US" sz="1200" b="1" i="0" u="none" strike="noStrike" cap="none" dirty="0">
                <a:solidFill>
                  <a:schemeClr val="dk1"/>
                </a:solidFill>
                <a:effectLst/>
                <a:latin typeface="Calibri"/>
                <a:ea typeface="Calibri"/>
                <a:cs typeface="Calibri"/>
                <a:sym typeface="Calibri"/>
              </a:rPr>
              <a:t>:</a:t>
            </a:r>
            <a:r>
              <a:rPr lang="en-US" sz="1200" b="1" i="0" u="none" strike="noStrike" cap="none" dirty="0" err="1">
                <a:solidFill>
                  <a:schemeClr val="dk1"/>
                </a:solidFill>
                <a:effectLst/>
                <a:latin typeface="Calibri"/>
                <a:ea typeface="Calibri"/>
                <a:cs typeface="Calibri"/>
                <a:sym typeface="Calibri"/>
              </a:rPr>
              <a:t>point_right</a:t>
            </a:r>
            <a:r>
              <a:rPr lang="en-US" sz="1200" b="1" i="0" u="none" strike="noStrike" cap="none" dirty="0">
                <a:solidFill>
                  <a:schemeClr val="dk1"/>
                </a:solidFill>
                <a:effectLst/>
                <a:latin typeface="Calibri"/>
                <a:ea typeface="Calibri"/>
                <a:cs typeface="Calibri"/>
                <a:sym typeface="Calibri"/>
              </a:rPr>
              <a:t>: Point to flux equations:</a:t>
            </a:r>
          </a:p>
          <a:p>
            <a:r>
              <a:rPr lang="en-US" sz="1200" b="1" i="0" u="none" strike="noStrike" cap="none" dirty="0">
                <a:solidFill>
                  <a:schemeClr val="dk1"/>
                </a:solidFill>
                <a:effectLst/>
                <a:latin typeface="Calibri"/>
                <a:ea typeface="Calibri"/>
                <a:cs typeface="Calibri"/>
                <a:sym typeface="Calibri"/>
              </a:rPr>
              <a:t>Say:</a:t>
            </a:r>
          </a:p>
          <a:p>
            <a:r>
              <a:rPr lang="en-US" sz="1200" b="1" i="0" u="none" strike="noStrike" cap="none" dirty="0">
                <a:solidFill>
                  <a:schemeClr val="dk1"/>
                </a:solidFill>
                <a:effectLst/>
                <a:latin typeface="Calibri"/>
                <a:ea typeface="Calibri"/>
                <a:cs typeface="Calibri"/>
                <a:sym typeface="Calibri"/>
              </a:rPr>
              <a:t> “These parameters enter through standard transport relations for water flux and solute flux across the membrane.”</a:t>
            </a:r>
          </a:p>
          <a:p>
            <a:endParaRPr lang="en-US" sz="1200" b="1"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 Right side (balances)</a:t>
            </a:r>
          </a:p>
          <a:p>
            <a:r>
              <a:rPr lang="en-US" sz="1200" b="1" i="0" u="none" strike="noStrike" cap="none" dirty="0">
                <a:solidFill>
                  <a:schemeClr val="dk1"/>
                </a:solidFill>
                <a:effectLst/>
                <a:latin typeface="Calibri"/>
                <a:ea typeface="Calibri"/>
                <a:cs typeface="Calibri"/>
                <a:sym typeface="Calibri"/>
              </a:rPr>
              <a:t>:</a:t>
            </a:r>
            <a:r>
              <a:rPr lang="en-US" sz="1200" b="1" i="0" u="none" strike="noStrike" cap="none" dirty="0" err="1">
                <a:solidFill>
                  <a:schemeClr val="dk1"/>
                </a:solidFill>
                <a:effectLst/>
                <a:latin typeface="Calibri"/>
                <a:ea typeface="Calibri"/>
                <a:cs typeface="Calibri"/>
                <a:sym typeface="Calibri"/>
              </a:rPr>
              <a:t>point_right</a:t>
            </a:r>
            <a:r>
              <a:rPr lang="en-US" sz="1200" b="1" i="0" u="none" strike="noStrike" cap="none" dirty="0">
                <a:solidFill>
                  <a:schemeClr val="dk1"/>
                </a:solidFill>
                <a:effectLst/>
                <a:latin typeface="Calibri"/>
                <a:ea typeface="Calibri"/>
                <a:cs typeface="Calibri"/>
                <a:sym typeface="Calibri"/>
              </a:rPr>
              <a:t>: Gesture broadly to right column (DO NOT trace equations)</a:t>
            </a:r>
          </a:p>
          <a:p>
            <a:r>
              <a:rPr lang="en-US" sz="1200" b="1" i="0" u="none" strike="noStrike" cap="none" dirty="0">
                <a:solidFill>
                  <a:schemeClr val="dk1"/>
                </a:solidFill>
                <a:effectLst/>
                <a:latin typeface="Calibri"/>
                <a:ea typeface="Calibri"/>
                <a:cs typeface="Calibri"/>
                <a:sym typeface="Calibri"/>
              </a:rPr>
              <a:t>Say:</a:t>
            </a:r>
          </a:p>
          <a:p>
            <a:r>
              <a:rPr lang="en-US" sz="1200" b="1" i="0" u="none" strike="noStrike" cap="none" dirty="0">
                <a:solidFill>
                  <a:schemeClr val="dk1"/>
                </a:solidFill>
                <a:effectLst/>
                <a:latin typeface="Calibri"/>
                <a:ea typeface="Calibri"/>
                <a:cs typeface="Calibri"/>
                <a:sym typeface="Calibri"/>
              </a:rPr>
              <a:t> “These fluxes are coupled with dynamic mass balances to describe the full system behavior.”</a:t>
            </a:r>
          </a:p>
          <a:p>
            <a:endParaRPr lang="en-US" sz="1200" b="1"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Final transition (look at audience)</a:t>
            </a:r>
          </a:p>
          <a:p>
            <a:r>
              <a:rPr lang="en-US" sz="1200" b="1" i="0" u="none" strike="noStrike" cap="none" dirty="0">
                <a:solidFill>
                  <a:schemeClr val="dk1"/>
                </a:solidFill>
                <a:effectLst/>
                <a:latin typeface="Calibri"/>
                <a:ea typeface="Calibri"/>
                <a:cs typeface="Calibri"/>
                <a:sym typeface="Calibri"/>
              </a:rPr>
              <a:t>Say:</a:t>
            </a:r>
          </a:p>
          <a:p>
            <a:r>
              <a:rPr lang="en-US" sz="1200" b="1" i="0" u="none" strike="noStrike" cap="none" dirty="0">
                <a:solidFill>
                  <a:schemeClr val="dk1"/>
                </a:solidFill>
                <a:effectLst/>
                <a:latin typeface="Calibri"/>
                <a:ea typeface="Calibri"/>
                <a:cs typeface="Calibri"/>
                <a:sym typeface="Calibri"/>
              </a:rPr>
              <a:t> “So this model maps experimental trajectories to parameters.”</a:t>
            </a:r>
          </a:p>
          <a:p>
            <a:r>
              <a:rPr lang="en-US" sz="1200" b="1" i="0" u="none" strike="noStrike" cap="none" dirty="0">
                <a:solidFill>
                  <a:schemeClr val="dk1"/>
                </a:solidFill>
                <a:effectLst/>
                <a:latin typeface="Calibri"/>
                <a:ea typeface="Calibri"/>
                <a:cs typeface="Calibri"/>
                <a:sym typeface="Calibri"/>
              </a:rPr>
              <a:t>“The question is: how well can we estimate these parameters from different experiments?”</a:t>
            </a:r>
            <a:endParaRPr lang="en-US" sz="1200" b="0" i="0" u="none" strike="noStrike" cap="none" dirty="0">
              <a:solidFill>
                <a:schemeClr val="dk1"/>
              </a:solidFill>
              <a:effectLst/>
              <a:latin typeface="Calibri"/>
              <a:ea typeface="Calibri"/>
              <a:cs typeface="Calibri"/>
              <a:sym typeface="Calibri"/>
            </a:endParaRPr>
          </a:p>
        </p:txBody>
      </p:sp>
      <p:sp>
        <p:nvSpPr>
          <p:cNvPr id="892" name="Google Shape;892;p33:notes">
            <a:extLst>
              <a:ext uri="{FF2B5EF4-FFF2-40B4-BE49-F238E27FC236}">
                <a16:creationId xmlns:a16="http://schemas.microsoft.com/office/drawing/2014/main" id="{D7E06249-F635-CA47-08F1-EABCA23FBA4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4086222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FIT CHECK — diluting NaCl. Does the model reproduce the experiment?</a:t>
            </a:r>
          </a:p>
          <a:p>
            <a:endParaRPr/>
          </a:p>
          <a:p>
            <a:r>
              <a:t>What it shows: lines = model, symbols = measurements. LEFT = retentate mass vs time; RIGHT = concentration vs time (TEAL = retentate, RED = permeate; teal diamonds = retentate ICP at start &amp; end).</a:t>
            </a:r>
          </a:p>
          <a:p>
            <a:endParaRPr/>
          </a:p>
          <a:p>
            <a:r>
              <a:t>Simple steps: (1) choose Lp, σ, B; (2) march the equations forward in time; (3) overlay on the data. The inset box reports the best-fit values.</a:t>
            </a:r>
          </a:p>
          <a:p>
            <a:endParaRPr/>
          </a:p>
          <a:p>
            <a:r>
              <a:t>Coffee-filter example: as water is pushed out, the cup (retentate) gets saltier and lighter while the drips (permeate) carry a little salt.</a:t>
            </a:r>
          </a:p>
          <a:p>
            <a:endParaRPr/>
          </a:p>
          <a:p>
            <a:r>
              <a:t>Core model (3 fitted parameters Lp, σ, B):</a:t>
            </a:r>
          </a:p>
          <a:p>
            <a:r>
              <a:t>  Water flux   Jw = Lp·(ΔP − σ·Δπ)          [net push = applied − osmotic back-push]</a:t>
            </a:r>
          </a:p>
          <a:p>
            <a:r>
              <a:t>  Osmotic      Δπ = i·R·T·(cF − cP)         [i = ions/molecule: NaCl 2, CaCl₂ 3, LaCl₃ 4]</a:t>
            </a:r>
          </a:p>
          <a:p>
            <a:r>
              <a:t>  Salt flux    Js = B·(cF − cP) + (1−σ)·Jw·c̄  [diffusion term + convection term]</a:t>
            </a:r>
          </a:p>
          <a:p>
            <a:r>
              <a:t>  Mass balance dM/dt = −ρ·A·Jw              [retentate lightens as permeate leaves]</a:t>
            </a:r>
          </a:p>
          <a:p>
            <a:endParaRPr/>
          </a:p>
          <a:p>
            <a:r>
              <a:t>This run: Lp = 8.98, B = 13.88 µm/s, σ = 1 (σ forced to its upper bound). </a:t>
            </a:r>
          </a:p>
          <a:p>
            <a:endParaRPr/>
          </a:p>
          <a:p>
            <a:r>
              <a:t>Running picture — squeezing salty water through a coffee filter:</a:t>
            </a:r>
          </a:p>
          <a:p>
            <a:r>
              <a:t>  • Lp = how EASILY water passes (bigger Lp → more water per push)</a:t>
            </a:r>
          </a:p>
          <a:p>
            <a:r>
              <a:t>  • σ  = how well the filter BLOCKS salt by osmosis (σ=1 blocks all, σ=0 lets salt ride along)</a:t>
            </a:r>
          </a:p>
          <a:p>
            <a:r>
              <a:t>  • B  = how much salt LEAKS through by diffusion</a:t>
            </a:r>
          </a:p>
          <a:p>
            <a:r>
              <a:t>  • ΔP = how hard you push;  Δπ = the osmotic 'back-push' from the salt difference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FIT CHECK — concentrating NaCl. Does the model reproduce the experiment?</a:t>
            </a:r>
          </a:p>
          <a:p>
            <a:endParaRPr/>
          </a:p>
          <a:p>
            <a:r>
              <a:t>What it shows: lines = model, symbols = measurements. LEFT = retentate mass vs time; RIGHT = concentration vs time (TEAL = retentate, RED = permeate; teal diamonds = retentate ICP at start &amp; end).</a:t>
            </a:r>
          </a:p>
          <a:p>
            <a:endParaRPr/>
          </a:p>
          <a:p>
            <a:r>
              <a:t>Simple steps: (1) choose Lp, σ, B; (2) march the equations forward in time; (3) overlay on the data. The inset box reports the best-fit values.</a:t>
            </a:r>
          </a:p>
          <a:p>
            <a:endParaRPr/>
          </a:p>
          <a:p>
            <a:r>
              <a:t>Coffee-filter example: as water is pushed out, the cup (retentate) gets saltier and lighter while the drips (permeate) carry a little salt.</a:t>
            </a:r>
          </a:p>
          <a:p>
            <a:endParaRPr/>
          </a:p>
          <a:p>
            <a:r>
              <a:t>Core model (3 fitted parameters Lp, σ, B):</a:t>
            </a:r>
          </a:p>
          <a:p>
            <a:r>
              <a:t>  Water flux   Jw = Lp·(ΔP − σ·Δπ)          [net push = applied − osmotic back-push]</a:t>
            </a:r>
          </a:p>
          <a:p>
            <a:r>
              <a:t>  Osmotic      Δπ = i·R·T·(cF − cP)         [i = ions/molecule: NaCl 2, CaCl₂ 3, LaCl₃ 4]</a:t>
            </a:r>
          </a:p>
          <a:p>
            <a:r>
              <a:t>  Salt flux    Js = B·(cF − cP) + (1−σ)·Jw·c̄  [diffusion term + convection term]</a:t>
            </a:r>
          </a:p>
          <a:p>
            <a:r>
              <a:t>  Mass balance dM/dt = −ρ·A·Jw              [retentate lightens as permeate leaves]</a:t>
            </a:r>
          </a:p>
          <a:p>
            <a:endParaRPr/>
          </a:p>
          <a:p>
            <a:r>
              <a:t>This run: Lp = 9.91, B = 10.00 µm/s, σ = 1 (σ forced to its upper bound). </a:t>
            </a:r>
          </a:p>
          <a:p>
            <a:endParaRPr/>
          </a:p>
          <a:p>
            <a:r>
              <a:t>Running picture — squeezing salty water through a coffee filter:</a:t>
            </a:r>
          </a:p>
          <a:p>
            <a:r>
              <a:t>  • Lp = how EASILY water passes (bigger Lp → more water per push)</a:t>
            </a:r>
          </a:p>
          <a:p>
            <a:r>
              <a:t>  • σ  = how well the filter BLOCKS salt by osmosis (σ=1 blocks all, σ=0 lets salt ride along)</a:t>
            </a:r>
          </a:p>
          <a:p>
            <a:r>
              <a:t>  • B  = how much salt LEAKS through by diffusion</a:t>
            </a:r>
          </a:p>
          <a:p>
            <a:r>
              <a:t>  • ΔP = how hard you push;  Δπ = the osmotic 'back-push' from the salt difference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FIT CHECK — concentrating CaCl₂. Does the model reproduce the experiment?</a:t>
            </a:r>
          </a:p>
          <a:p>
            <a:endParaRPr/>
          </a:p>
          <a:p>
            <a:r>
              <a:t>What it shows: lines = model, symbols = measurements. LEFT = retentate mass vs time; RIGHT = concentration vs time (TEAL = retentate, RED = permeate; teal diamonds = retentate ICP at start &amp; end).</a:t>
            </a:r>
          </a:p>
          <a:p>
            <a:endParaRPr/>
          </a:p>
          <a:p>
            <a:r>
              <a:t>Simple steps: (1) choose Lp, σ, B; (2) march the equations forward in time; (3) overlay on the data. The inset box reports the best-fit values.</a:t>
            </a:r>
          </a:p>
          <a:p>
            <a:endParaRPr/>
          </a:p>
          <a:p>
            <a:r>
              <a:t>Coffee-filter example: as water is pushed out, the cup (retentate) gets saltier and lighter while the drips (permeate) carry a little salt.</a:t>
            </a:r>
          </a:p>
          <a:p>
            <a:endParaRPr/>
          </a:p>
          <a:p>
            <a:r>
              <a:t>Core model (3 fitted parameters Lp, σ, B):</a:t>
            </a:r>
          </a:p>
          <a:p>
            <a:r>
              <a:t>  Water flux   Jw = Lp·(ΔP − σ·Δπ)          [net push = applied − osmotic back-push]</a:t>
            </a:r>
          </a:p>
          <a:p>
            <a:r>
              <a:t>  Osmotic      Δπ = i·R·T·(cF − cP)         [i = ions/molecule: NaCl 2, CaCl₂ 3, LaCl₃ 4]</a:t>
            </a:r>
          </a:p>
          <a:p>
            <a:r>
              <a:t>  Salt flux    Js = B·(cF − cP) + (1−σ)·Jw·c̄  [diffusion term + convection term]</a:t>
            </a:r>
          </a:p>
          <a:p>
            <a:r>
              <a:t>  Mass balance dM/dt = −ρ·A·Jw              [retentate lightens as permeate leaves]</a:t>
            </a:r>
          </a:p>
          <a:p>
            <a:endParaRPr/>
          </a:p>
          <a:p>
            <a:r>
              <a:t>This run: Lp = 7.54, B = 5.71 µm/s, σ = 1 (σ forced to its upper bound). </a:t>
            </a:r>
          </a:p>
          <a:p>
            <a:endParaRPr/>
          </a:p>
          <a:p>
            <a:r>
              <a:t>Running picture — squeezing salty water through a coffee filter:</a:t>
            </a:r>
          </a:p>
          <a:p>
            <a:r>
              <a:t>  • Lp = how EASILY water passes (bigger Lp → more water per push)</a:t>
            </a:r>
          </a:p>
          <a:p>
            <a:r>
              <a:t>  • σ  = how well the filter BLOCKS salt by osmosis (σ=1 blocks all, σ=0 lets salt ride along)</a:t>
            </a:r>
          </a:p>
          <a:p>
            <a:r>
              <a:t>  • B  = how much salt LEAKS through by diffusion</a:t>
            </a:r>
          </a:p>
          <a:p>
            <a:r>
              <a:t>  • ΔP = how hard you push;  Δπ = the osmotic 'back-push' from the salt difference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FIT CHECK — concentrating LaCl₃. Does the model reproduce the experiment?</a:t>
            </a:r>
          </a:p>
          <a:p>
            <a:endParaRPr/>
          </a:p>
          <a:p>
            <a:r>
              <a:t>What it shows: lines = model, symbols = measurements. LEFT = retentate mass vs time; RIGHT = concentration vs time (TEAL = retentate, RED = permeate; teal diamonds = retentate ICP at start &amp; end).</a:t>
            </a:r>
          </a:p>
          <a:p>
            <a:endParaRPr/>
          </a:p>
          <a:p>
            <a:r>
              <a:t>Simple steps: (1) choose Lp, σ, B; (2) march the equations forward in time; (3) overlay on the data. The inset box reports the best-fit values.</a:t>
            </a:r>
          </a:p>
          <a:p>
            <a:endParaRPr/>
          </a:p>
          <a:p>
            <a:r>
              <a:t>Coffee-filter example: as water is pushed out, the cup (retentate) gets saltier and lighter while the drips (permeate) carry a little salt.</a:t>
            </a:r>
          </a:p>
          <a:p>
            <a:endParaRPr/>
          </a:p>
          <a:p>
            <a:r>
              <a:t>Core model (3 fitted parameters Lp, σ, B):</a:t>
            </a:r>
          </a:p>
          <a:p>
            <a:r>
              <a:t>  Water flux   Jw = Lp·(ΔP − σ·Δπ)          [net push = applied − osmotic back-push]</a:t>
            </a:r>
          </a:p>
          <a:p>
            <a:r>
              <a:t>  Osmotic      Δπ = i·R·T·(cF − cP)         [i = ions/molecule: NaCl 2, CaCl₂ 3, LaCl₃ 4]</a:t>
            </a:r>
          </a:p>
          <a:p>
            <a:r>
              <a:t>  Salt flux    Js = B·(cF − cP) + (1−σ)·Jw·c̄  [diffusion term + convection term]</a:t>
            </a:r>
          </a:p>
          <a:p>
            <a:r>
              <a:t>  Mass balance dM/dt = −ρ·A·Jw              [retentate lightens as permeate leaves]</a:t>
            </a:r>
          </a:p>
          <a:p>
            <a:endParaRPr/>
          </a:p>
          <a:p>
            <a:r>
              <a:t>This run: Lp = 3.54, B = 0.32 µm/s, σ = 0 (σ forced to its lower bound). This trivalent salt is the hardest case — largest residuals of the four.</a:t>
            </a:r>
          </a:p>
          <a:p>
            <a:endParaRPr/>
          </a:p>
          <a:p>
            <a:r>
              <a:t>Running picture — squeezing salty water through a coffee filter:</a:t>
            </a:r>
          </a:p>
          <a:p>
            <a:r>
              <a:t>  • Lp = how EASILY water passes (bigger Lp → more water per push)</a:t>
            </a:r>
          </a:p>
          <a:p>
            <a:r>
              <a:t>  • σ  = how well the filter BLOCKS salt by osmosis (σ=1 blocks all, σ=0 lets salt ride along)</a:t>
            </a:r>
          </a:p>
          <a:p>
            <a:r>
              <a:t>  • B  = how much salt LEAKS through by diffusion</a:t>
            </a:r>
          </a:p>
          <a:p>
            <a:r>
              <a:t>  • ΔP = how hard you push;  Δπ = the osmotic 'back-push' from the salt difference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WE CAN FIX Lp. This 3×3 map proves the water permeability Lp is pinned down.</a:t>
            </a:r>
          </a:p>
          <a:p>
            <a:endParaRPr/>
          </a:p>
          <a:p>
            <a:r>
              <a:t>What it shows: 9 error maps. COLUMNS = the 3 measured responses (mass, permeate, retentate). ROWS = parameter pairs (σ–Lp, B–Lp, σ–B). Color = log of fit error; red triangle = best.</a:t>
            </a:r>
          </a:p>
          <a:p>
            <a:endParaRPr/>
          </a:p>
          <a:p>
            <a:r>
              <a:t>Simple steps: (1) sweep two parameters on a grid, hold the third at its best value; (2) simulate &amp; score the error at each grid point; (3) plot the surface.</a:t>
            </a:r>
          </a:p>
          <a:p>
            <a:endParaRPr/>
          </a:p>
          <a:p>
            <a:r>
              <a:t>How to read it: a tight HORIZONTAL band in the top two rows means Lp lands at the same value no matter what σ and B do → Lp is identifiable. The bottom row (σ–B) is a long diagonal VALLEY → σ and B trade off and can't be separated.</a:t>
            </a:r>
          </a:p>
          <a:p>
            <a:endParaRPr/>
          </a:p>
          <a:p>
            <a:r>
              <a:t>Coffee-filter example: if many different filter settings give the same drip pattern, you can't tell them apart — that flat valley is exactly that.</a:t>
            </a:r>
          </a:p>
          <a:p>
            <a:endParaRPr/>
          </a:p>
          <a:p>
            <a:r>
              <a:t>Why it matters: because Lp is well pinned, we are ALLOWED to fix it and just study σ-vs-B in the next four slides.</a:t>
            </a:r>
          </a:p>
          <a:p>
            <a:endParaRPr/>
          </a:p>
          <a:p>
            <a:r>
              <a:t>Math: error = WSSE = Σ[(model − data)/noise]²; we plot log₁₀(WSSE).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IDENTIFIABILITY MAP — diluting NaCl. Can the data tell σ and B apart?</a:t>
            </a:r>
          </a:p>
          <a:p>
            <a:endParaRPr/>
          </a:p>
          <a:p>
            <a:r>
              <a:t>What it shows: with Lp FIXED at its identified value (Lp = 8.98), we map the fit error over σ (x-axis) and B (y-axis). Three panels = the three things we measure (mass, permeate, retentate). Red triangle = best fit.</a:t>
            </a:r>
          </a:p>
          <a:p>
            <a:endParaRPr/>
          </a:p>
          <a:p>
            <a:r>
              <a:t>Simple steps: (1) fix Lp; (2) try every (σ, B) on a grid; (3) simulate, score the error, color the map (blue = good fit, red = bad). Titles say mass/permeate/retentate; the color is log₁₀ of the weighted error (WSSE).</a:t>
            </a:r>
          </a:p>
          <a:p>
            <a:endParaRPr/>
          </a:p>
          <a:p>
            <a:r>
              <a:t>How to read it: the contours run nearly FLAT along the σ direction → moving σ barely changes the error → σ is NOT identifiable and is forced to its upper bound (σ = 1). The error DOES change with B → B is well determined.</a:t>
            </a:r>
          </a:p>
          <a:p>
            <a:endParaRPr/>
          </a:p>
          <a:p>
            <a:r>
              <a:t>Coffee-filter example: the filter blocks salt so completely that you can't measure exactly how well — σ just pegs at 'fully blocking.'</a:t>
            </a:r>
          </a:p>
          <a:p>
            <a:endParaRPr/>
          </a:p>
          <a:p>
            <a:r>
              <a:t>Math: WSSE = Σ[(model − data)/noise]², plotted as log₁₀. A long flat valley = many equally-good answers = not identifiable; a tight bowl = identifiable.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IDENTIFIABILITY MAP — concentrating NaCl. Can the data tell σ and B apart?</a:t>
            </a:r>
          </a:p>
          <a:p>
            <a:endParaRPr/>
          </a:p>
          <a:p>
            <a:r>
              <a:t>What it shows: with Lp FIXED at its identified value (Lp = 9.91), we map the fit error over σ (x-axis) and B (y-axis). Three panels = the three things we measure (mass, permeate, retentate). Red triangle = best fit.</a:t>
            </a:r>
          </a:p>
          <a:p>
            <a:endParaRPr/>
          </a:p>
          <a:p>
            <a:r>
              <a:t>Simple steps: (1) fix Lp; (2) try every (σ, B) on a grid; (3) simulate, score the error, color the map (blue = good fit, red = bad). Titles say mass/permeate/retentate; the color is log₁₀ of the weighted error (WSSE).</a:t>
            </a:r>
          </a:p>
          <a:p>
            <a:endParaRPr/>
          </a:p>
          <a:p>
            <a:r>
              <a:t>How to read it: the contours run nearly FLAT along the σ direction → moving σ barely changes the error → σ is NOT identifiable and is forced to its upper bound (σ = 1). The error DOES change with B → B is well determined.</a:t>
            </a:r>
          </a:p>
          <a:p>
            <a:endParaRPr/>
          </a:p>
          <a:p>
            <a:r>
              <a:t>Coffee-filter example: the filter blocks salt so completely that you can't measure exactly how well — σ just pegs at 'fully blocking.'</a:t>
            </a:r>
          </a:p>
          <a:p>
            <a:endParaRPr/>
          </a:p>
          <a:p>
            <a:r>
              <a:t>Math: WSSE = Σ[(model − data)/noise]², plotted as log₁₀. A long flat valley = many equally-good answers = not identifiable; a tight bowl = identifiable.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IDENTIFIABILITY MAP — concentrating CaCl₂. Can the data tell σ and B apart?</a:t>
            </a:r>
          </a:p>
          <a:p>
            <a:endParaRPr/>
          </a:p>
          <a:p>
            <a:r>
              <a:t>What it shows: with Lp FIXED at its identified value (Lp = 7.54), we map the fit error over σ (x-axis) and B (y-axis). Three panels = the three things we measure (mass, permeate, retentate). Red triangle = best fit.</a:t>
            </a:r>
          </a:p>
          <a:p>
            <a:endParaRPr/>
          </a:p>
          <a:p>
            <a:r>
              <a:t>Simple steps: (1) fix Lp; (2) try every (σ, B) on a grid; (3) simulate, score the error, color the map (blue = good fit, red = bad). Titles say mass/permeate/retentate; the color is log₁₀ of the weighted error (WSSE).</a:t>
            </a:r>
          </a:p>
          <a:p>
            <a:endParaRPr/>
          </a:p>
          <a:p>
            <a:r>
              <a:t>How to read it: the contours run nearly FLAT along the σ direction → moving σ barely changes the error → σ is NOT identifiable and is forced to its upper bound (σ = 1). The error DOES change with B → B is well determined.</a:t>
            </a:r>
          </a:p>
          <a:p>
            <a:endParaRPr/>
          </a:p>
          <a:p>
            <a:r>
              <a:t>Coffee-filter example: the filter blocks salt so completely that you can't measure exactly how well — σ just pegs at 'fully blocking.'</a:t>
            </a:r>
          </a:p>
          <a:p>
            <a:endParaRPr/>
          </a:p>
          <a:p>
            <a:r>
              <a:t>Math: WSSE = Σ[(model − data)/noise]², plotted as log₁₀. A long flat valley = many equally-good answers = not identifiable; a tight bowl = identifiable.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IDENTIFIABILITY MAP — concentrating LaCl₃. Can the data tell σ and B apart?</a:t>
            </a:r>
          </a:p>
          <a:p>
            <a:endParaRPr/>
          </a:p>
          <a:p>
            <a:r>
              <a:t>What it shows: with Lp FIXED at its identified value (Lp = 3.54), we map the fit error over σ (x-axis) and B (y-axis). Three panels = the three things we measure (mass, permeate, retentate). Red triangle = best fit.</a:t>
            </a:r>
          </a:p>
          <a:p>
            <a:endParaRPr/>
          </a:p>
          <a:p>
            <a:r>
              <a:t>Simple steps: (1) fix Lp; (2) try every (σ, B) on a grid; (3) simulate, score the error, color the map (blue = good fit, red = bad). Titles say mass/permeate/retentate; the color is log₁₀ of the weighted error (WSSE).</a:t>
            </a:r>
          </a:p>
          <a:p>
            <a:endParaRPr/>
          </a:p>
          <a:p>
            <a:r>
              <a:t>How to read it: the contours run nearly FLAT along the σ direction → moving σ barely changes the error → σ is NOT identifiable and is forced to its lower bound (σ = 0). The error DOES change with B → B is well determined.</a:t>
            </a:r>
          </a:p>
          <a:p>
            <a:endParaRPr/>
          </a:p>
          <a:p>
            <a:r>
              <a:t>Coffee-filter example: the filter blocks salt so completely that you can't measure exactly how well — σ just pegs at 'fully blocking.'</a:t>
            </a:r>
          </a:p>
          <a:p>
            <a:endParaRPr/>
          </a:p>
          <a:p>
            <a:r>
              <a:t>Math: WSSE = Σ[(model − data)/noise]², plotted as log₁₀. A long flat valley = many equally-good answers = not identifiable; a tight bowl = identifiable.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8.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9621" y="1828800"/>
            <a:ext cx="11180189" cy="652486"/>
          </a:xfrm>
          <a:prstGeom prst="rect">
            <a:avLst/>
          </a:prstGeom>
          <a:noFill/>
        </p:spPr>
        <p:txBody>
          <a:bodyPr wrap="square" lIns="45720" tIns="18288" rIns="45720" bIns="18288" anchor="t">
            <a:spAutoFit/>
          </a:bodyPr>
          <a:lstStyle/>
          <a:p>
            <a:r>
              <a:rPr sz="4000" b="1" i="0" dirty="0">
                <a:solidFill>
                  <a:srgbClr val="0C2340"/>
                </a:solidFill>
                <a:latin typeface="Cambria"/>
              </a:rPr>
              <a:t>DATA3: Single-Salt NF270 Diafiltration</a:t>
            </a:r>
            <a:r>
              <a:rPr lang="en-US" sz="4000" b="1" i="0" dirty="0">
                <a:solidFill>
                  <a:srgbClr val="0C2340"/>
                </a:solidFill>
                <a:latin typeface="Cambria"/>
              </a:rPr>
              <a:t> Analysis</a:t>
            </a:r>
            <a:endParaRPr sz="4000" b="1" i="0" dirty="0">
              <a:solidFill>
                <a:srgbClr val="0C2340"/>
              </a:solidFill>
              <a:latin typeface="Cambria"/>
            </a:endParaRPr>
          </a:p>
        </p:txBody>
      </p:sp>
      <p:sp>
        <p:nvSpPr>
          <p:cNvPr id="4" name="TextBox 3"/>
          <p:cNvSpPr txBox="1"/>
          <p:nvPr/>
        </p:nvSpPr>
        <p:spPr>
          <a:xfrm>
            <a:off x="868680" y="4754880"/>
            <a:ext cx="10058400" cy="1097280"/>
          </a:xfrm>
          <a:prstGeom prst="rect">
            <a:avLst/>
          </a:prstGeom>
          <a:noFill/>
        </p:spPr>
        <p:txBody>
          <a:bodyPr wrap="square" lIns="45720" tIns="18288" rIns="45720" bIns="18288" anchor="t">
            <a:spAutoFit/>
          </a:bodyPr>
          <a:lstStyle/>
          <a:p>
            <a:r>
              <a:rPr sz="1600" b="1" i="0">
                <a:solidFill>
                  <a:srgbClr val="0C2340"/>
                </a:solidFill>
                <a:latin typeface="Calibri"/>
              </a:rPr>
              <a:t>Collaborator update  ·  June 24, 2026</a:t>
            </a:r>
          </a:p>
          <a:p>
            <a:pPr>
              <a:spcBef>
                <a:spcPts val="400"/>
              </a:spcBef>
            </a:pPr>
            <a:r>
              <a:rPr sz="1400" b="0" i="0">
                <a:solidFill>
                  <a:srgbClr val="666666"/>
                </a:solidFill>
                <a:latin typeface="Calibri"/>
              </a:rPr>
              <a:t>Keshav Kasturi Rangan  ·  University of Notre Dame</a:t>
            </a:r>
          </a:p>
        </p:txBody>
      </p:sp>
      <p:pic>
        <p:nvPicPr>
          <p:cNvPr id="5" name="Picture 4" descr="notre_dame_logo.png"/>
          <p:cNvPicPr>
            <a:picLocks noChangeAspect="1"/>
          </p:cNvPicPr>
          <p:nvPr/>
        </p:nvPicPr>
        <p:blipFill>
          <a:blip r:embed="rId2"/>
          <a:stretch>
            <a:fillRect/>
          </a:stretch>
        </p:blipFill>
        <p:spPr>
          <a:xfrm>
            <a:off x="9966960" y="769620"/>
            <a:ext cx="1828800" cy="426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1274552" cy="777240"/>
          </a:xfrm>
          <a:prstGeom prst="rect">
            <a:avLst/>
          </a:prstGeom>
          <a:noFill/>
        </p:spPr>
        <p:txBody>
          <a:bodyPr wrap="square" lIns="45720" tIns="18288" rIns="45720" bIns="18288" anchor="ctr">
            <a:spAutoFit/>
          </a:bodyPr>
          <a:lstStyle/>
          <a:p>
            <a:r>
              <a:rPr sz="2600" b="1" i="0">
                <a:solidFill>
                  <a:srgbClr val="0C2340"/>
                </a:solidFill>
                <a:latin typeface="Cambria"/>
              </a:rPr>
              <a:t>Feedback from Friday — addressed</a:t>
            </a:r>
          </a:p>
        </p:txBody>
      </p:sp>
      <mc:AlternateContent xmlns:mc="http://schemas.openxmlformats.org/markup-compatibility/2006" xmlns:a14="http://schemas.microsoft.com/office/drawing/2010/main">
        <mc:Choice Requires="a14">
          <p:sp>
            <p:nvSpPr>
              <p:cNvPr id="4" name="TextBox 3"/>
              <p:cNvSpPr txBox="1"/>
              <p:nvPr/>
            </p:nvSpPr>
            <p:spPr>
              <a:xfrm>
                <a:off x="640080" y="1371600"/>
                <a:ext cx="10972800" cy="3453253"/>
              </a:xfrm>
              <a:prstGeom prst="rect">
                <a:avLst/>
              </a:prstGeom>
              <a:noFill/>
            </p:spPr>
            <p:txBody>
              <a:bodyPr wrap="square" lIns="45720" tIns="18288" rIns="45720" bIns="18288" anchor="t">
                <a:spAutoFit/>
              </a:bodyPr>
              <a:lstStyle/>
              <a:p>
                <a:pPr marL="228600" indent="-228600">
                  <a:spcAft>
                    <a:spcPts val="1200"/>
                  </a:spcAft>
                  <a:buFont typeface="Arial"/>
                  <a:buChar char="•"/>
                </a:pPr>
                <a:r>
                  <a:rPr lang="en-US" b="1" dirty="0">
                    <a:solidFill>
                      <a:srgbClr val="0C2340"/>
                    </a:solidFill>
                  </a:rPr>
                  <a:t>Time-series correction that matches DATA2 conventions:</a:t>
                </a:r>
                <a:br>
                  <a:rPr lang="en-US" dirty="0">
                    <a:solidFill>
                      <a:srgbClr val="202020"/>
                    </a:solidFill>
                  </a:rPr>
                </a:br>
                <a:r>
                  <a:rPr lang="en-US" dirty="0">
                    <a:solidFill>
                      <a:srgbClr val="202020"/>
                    </a:solidFill>
                  </a:rPr>
                  <a:t>Mass, retentate, and permeate share one time axis</a:t>
                </a:r>
              </a:p>
              <a:p>
                <a:pPr marL="228600" indent="-228600">
                  <a:spcAft>
                    <a:spcPts val="1200"/>
                  </a:spcAft>
                  <a:buFont typeface="Arial"/>
                  <a:buChar char="•"/>
                </a:pPr>
                <a:r>
                  <a:rPr lang="en-US" b="1" dirty="0">
                    <a:solidFill>
                      <a:srgbClr val="0C2340"/>
                    </a:solidFill>
                  </a:rPr>
                  <a:t>Identifiability contours in parameter space:</a:t>
                </a:r>
                <a:r>
                  <a:rPr lang="en-US" dirty="0">
                    <a:solidFill>
                      <a:srgbClr val="202020"/>
                    </a:solidFill>
                  </a:rPr>
                  <a:t> </a:t>
                </a:r>
                <a:br>
                  <a:rPr lang="en-US" dirty="0">
                    <a:solidFill>
                      <a:srgbClr val="202020"/>
                    </a:solidFill>
                  </a:rPr>
                </a:br>
                <a:r>
                  <a:rPr lang="el-GR" dirty="0" err="1">
                    <a:solidFill>
                      <a:srgbClr val="202020"/>
                    </a:solidFill>
                  </a:rPr>
                  <a:t>σ</a:t>
                </a:r>
                <a:r>
                  <a:rPr lang="el-GR" dirty="0">
                    <a:solidFill>
                      <a:srgbClr val="202020"/>
                    </a:solidFill>
                  </a:rPr>
                  <a:t> </a:t>
                </a:r>
                <a:r>
                  <a:rPr lang="en-US" dirty="0" err="1">
                    <a:solidFill>
                      <a:srgbClr val="202020"/>
                    </a:solidFill>
                  </a:rPr>
                  <a:t>vs.B</a:t>
                </a:r>
                <a:r>
                  <a:rPr lang="en-US" dirty="0">
                    <a:solidFill>
                      <a:srgbClr val="202020"/>
                    </a:solidFill>
                  </a:rPr>
                  <a:t> log-WSSE contour surface plots generated per experimental run - new plots being generated for DATA3 -  </a:t>
                </a:r>
              </a:p>
              <a:p>
                <a:pPr marL="685800" lvl="1" indent="-228600">
                  <a:spcAft>
                    <a:spcPts val="1200"/>
                  </a:spcAft>
                  <a:buFont typeface="Arial"/>
                  <a:buChar char="•"/>
                </a:pPr>
                <a:r>
                  <a:rPr lang="en-US" dirty="0">
                    <a:solidFill>
                      <a:srgbClr val="202020"/>
                    </a:solidFill>
                  </a:rPr>
                  <a:t>Mass, </a:t>
                </a:r>
              </a:p>
              <a:p>
                <a:pPr marL="685800" lvl="1" indent="-228600">
                  <a:spcAft>
                    <a:spcPts val="1200"/>
                  </a:spcAft>
                  <a:buFont typeface="Arial"/>
                  <a:buChar char="•"/>
                </a:pPr>
                <a:r>
                  <a:rPr lang="en-US" dirty="0">
                    <a:solidFill>
                      <a:srgbClr val="202020"/>
                    </a:solidFill>
                  </a:rPr>
                  <a:t>ICP-based permeate + retentate concentration, </a:t>
                </a:r>
              </a:p>
              <a:p>
                <a:pPr marL="685800" lvl="1" indent="-228600">
                  <a:spcAft>
                    <a:spcPts val="1200"/>
                  </a:spcAft>
                  <a:buFont typeface="Arial"/>
                  <a:buChar char="•"/>
                </a:pPr>
                <a:r>
                  <a:rPr lang="en-US" dirty="0">
                    <a:solidFill>
                      <a:srgbClr val="202020"/>
                    </a:solidFill>
                  </a:rPr>
                  <a:t>Conductivity probe-based permeate + retentate data, and </a:t>
                </a:r>
              </a:p>
              <a:p>
                <a:pPr marL="685800" lvl="1" indent="-228600">
                  <a:spcAft>
                    <a:spcPts val="1200"/>
                  </a:spcAft>
                  <a:buFont typeface="Arial"/>
                  <a:buChar char="•"/>
                </a:pPr>
                <a:r>
                  <a:rPr lang="en-US" dirty="0">
                    <a:solidFill>
                      <a:srgbClr val="202020"/>
                    </a:solidFill>
                  </a:rPr>
                  <a:t>Conductivity probe-based permeate + retentate concentration) at the identified </a:t>
                </a:r>
                <a14:m>
                  <m:oMath xmlns:m="http://schemas.openxmlformats.org/officeDocument/2006/math">
                    <m:r>
                      <a:rPr lang="en-US" i="1" dirty="0">
                        <a:solidFill>
                          <a:srgbClr val="202020"/>
                        </a:solidFill>
                        <a:latin typeface="Cambria Math" panose="02040503050406030204" pitchFamily="18" charset="0"/>
                      </a:rPr>
                      <m:t>𝐿</m:t>
                    </m:r>
                    <m:r>
                      <a:rPr lang="en-US" i="1" baseline="-25000" dirty="0" err="1">
                        <a:solidFill>
                          <a:srgbClr val="202020"/>
                        </a:solidFill>
                        <a:latin typeface="Cambria Math" panose="02040503050406030204" pitchFamily="18" charset="0"/>
                      </a:rPr>
                      <m:t>𝑝</m:t>
                    </m:r>
                  </m:oMath>
                </a14:m>
                <a:endParaRPr lang="en-US" dirty="0">
                  <a:solidFill>
                    <a:srgbClr val="202020"/>
                  </a:solidFill>
                </a:endParaRPr>
              </a:p>
              <a:p>
                <a:pPr marL="228600" indent="-228600">
                  <a:spcAft>
                    <a:spcPts val="1200"/>
                  </a:spcAft>
                  <a:buFont typeface="Arial"/>
                  <a:buChar char="•"/>
                </a:pPr>
                <a:r>
                  <a:rPr lang="en-US" b="1" dirty="0">
                    <a:solidFill>
                      <a:srgbClr val="0C2340"/>
                    </a:solidFill>
                  </a:rPr>
                  <a:t>Color coding:</a:t>
                </a:r>
                <a:r>
                  <a:rPr lang="en-US" dirty="0">
                    <a:solidFill>
                      <a:srgbClr val="202020"/>
                    </a:solidFill>
                  </a:rPr>
                  <a:t> fit/data plots follow the DATA2 convention (retentate vs permeate vs model) across all the plots</a:t>
                </a:r>
              </a:p>
            </p:txBody>
          </p:sp>
        </mc:Choice>
        <mc:Fallback xmlns="">
          <p:sp>
            <p:nvSpPr>
              <p:cNvPr id="4" name="TextBox 3"/>
              <p:cNvSpPr txBox="1">
                <a:spLocks noRot="1" noChangeAspect="1" noMove="1" noResize="1" noEditPoints="1" noAdjustHandles="1" noChangeArrowheads="1" noChangeShapeType="1" noTextEdit="1"/>
              </p:cNvSpPr>
              <p:nvPr/>
            </p:nvSpPr>
            <p:spPr>
              <a:xfrm>
                <a:off x="640080" y="1371600"/>
                <a:ext cx="10972800" cy="3453253"/>
              </a:xfrm>
              <a:prstGeom prst="rect">
                <a:avLst/>
              </a:prstGeom>
              <a:blipFill>
                <a:blip r:embed="rId2"/>
                <a:stretch>
                  <a:fillRect l="-809" t="-1838" b="-2941"/>
                </a:stretch>
              </a:blipFill>
            </p:spPr>
            <p:txBody>
              <a:bodyPr/>
              <a:lstStyle/>
              <a:p>
                <a:r>
                  <a:rPr lang="en-US">
                    <a:noFill/>
                  </a:rPr>
                  <a:t> </a:t>
                </a:r>
              </a:p>
            </p:txBody>
          </p:sp>
        </mc:Fallback>
      </mc:AlternateContent>
      <p:sp>
        <p:nvSpPr>
          <p:cNvPr id="6" name="TextBox 5"/>
          <p:cNvSpPr txBox="1"/>
          <p:nvPr/>
        </p:nvSpPr>
        <p:spPr>
          <a:xfrm>
            <a:off x="9144000" y="6464808"/>
            <a:ext cx="2679192" cy="292608"/>
          </a:xfrm>
          <a:prstGeom prst="rect">
            <a:avLst/>
          </a:prstGeom>
          <a:noFill/>
        </p:spPr>
        <p:txBody>
          <a:bodyPr wrap="square" lIns="45720" tIns="18288" rIns="45720" bIns="18288" anchor="t">
            <a:spAutoFit/>
          </a:bodyPr>
          <a:lstStyle/>
          <a:p>
            <a:pPr algn="r"/>
            <a:r>
              <a:rPr sz="900" b="0" i="0">
                <a:solidFill>
                  <a:srgbClr val="666666"/>
                </a:solidFill>
                <a:latin typeface="Calibri"/>
              </a:rPr>
              <a:t>2026-06-24  ·  2</a:t>
            </a:r>
          </a:p>
        </p:txBody>
      </p:sp>
      <p:sp>
        <p:nvSpPr>
          <p:cNvPr id="9" name="TextBox 8">
            <a:extLst>
              <a:ext uri="{FF2B5EF4-FFF2-40B4-BE49-F238E27FC236}">
                <a16:creationId xmlns:a16="http://schemas.microsoft.com/office/drawing/2014/main" id="{7E348406-441B-AE63-21C1-B4DA6DAE88E9}"/>
              </a:ext>
            </a:extLst>
          </p:cNvPr>
          <p:cNvSpPr txBox="1"/>
          <p:nvPr/>
        </p:nvSpPr>
        <p:spPr>
          <a:xfrm>
            <a:off x="1960293" y="6464808"/>
            <a:ext cx="6974378" cy="175433"/>
          </a:xfrm>
          <a:prstGeom prst="rect">
            <a:avLst/>
          </a:prstGeom>
          <a:noFill/>
        </p:spPr>
        <p:txBody>
          <a:bodyPr wrap="square" lIns="45720" tIns="18288" rIns="45720" bIns="18288" anchor="t">
            <a:spAutoFit/>
          </a:bodyPr>
          <a:lstStyle/>
          <a:p>
            <a:r>
              <a:rPr sz="900" b="0" i="0" dirty="0">
                <a:solidFill>
                  <a:srgbClr val="666666"/>
                </a:solidFill>
                <a:latin typeface="Calibri"/>
              </a:rPr>
              <a:t>DATA3 single-salt NF270 diafiltration  ·  collaborator update</a:t>
            </a:r>
          </a:p>
        </p:txBody>
      </p:sp>
      <p:pic>
        <p:nvPicPr>
          <p:cNvPr id="10" name="Picture 9" descr="notre_dame_logo.png">
            <a:extLst>
              <a:ext uri="{FF2B5EF4-FFF2-40B4-BE49-F238E27FC236}">
                <a16:creationId xmlns:a16="http://schemas.microsoft.com/office/drawing/2014/main" id="{9923AA66-8638-DEB5-69B2-6AD5B5CAABE0}"/>
              </a:ext>
            </a:extLst>
          </p:cNvPr>
          <p:cNvPicPr>
            <a:picLocks noChangeAspect="1"/>
          </p:cNvPicPr>
          <p:nvPr/>
        </p:nvPicPr>
        <p:blipFill>
          <a:blip r:embed="rId3"/>
          <a:stretch>
            <a:fillRect/>
          </a:stretch>
        </p:blipFill>
        <p:spPr>
          <a:xfrm>
            <a:off x="167873" y="6500930"/>
            <a:ext cx="944413" cy="22036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530352"/>
            <a:ext cx="10058400" cy="640080"/>
          </a:xfrm>
          <a:prstGeom prst="rect">
            <a:avLst/>
          </a:prstGeom>
          <a:noFill/>
        </p:spPr>
        <p:txBody>
          <a:bodyPr wrap="square" lIns="36576" tIns="36576" rIns="36576" bIns="36576" anchor="t">
            <a:spAutoFit/>
          </a:bodyPr>
          <a:lstStyle/>
          <a:p>
            <a:pPr algn="l">
              <a:spcBef>
                <a:spcPts val="0"/>
              </a:spcBef>
              <a:spcAft>
                <a:spcPts val="200"/>
              </a:spcAft>
            </a:pPr>
            <a:r>
              <a:rPr sz="2600" b="1" i="0">
                <a:solidFill>
                  <a:srgbClr val="0C2340"/>
                </a:solidFill>
                <a:latin typeface="Calibri"/>
              </a:rPr>
              <a:t>Where the optimizer landed on every sheet</a:t>
            </a:r>
          </a:p>
        </p:txBody>
      </p:sp>
      <p:sp>
        <p:nvSpPr>
          <p:cNvPr id="4" name="TextBox 3"/>
          <p:cNvSpPr txBox="1"/>
          <p:nvPr/>
        </p:nvSpPr>
        <p:spPr>
          <a:xfrm>
            <a:off x="502920" y="1078992"/>
            <a:ext cx="11155680" cy="281616"/>
          </a:xfrm>
          <a:prstGeom prst="rect">
            <a:avLst/>
          </a:prstGeom>
          <a:noFill/>
        </p:spPr>
        <p:txBody>
          <a:bodyPr wrap="square" lIns="36576" tIns="36576" rIns="36576" bIns="36576" anchor="t">
            <a:spAutoFit/>
          </a:bodyPr>
          <a:lstStyle/>
          <a:p>
            <a:pPr algn="l">
              <a:spcBef>
                <a:spcPts val="0"/>
              </a:spcBef>
              <a:spcAft>
                <a:spcPts val="200"/>
              </a:spcAft>
            </a:pPr>
            <a:r>
              <a:rPr sz="1350" b="0" i="1" dirty="0">
                <a:solidFill>
                  <a:srgbClr val="5B6670"/>
                </a:solidFill>
                <a:latin typeface="Calibri"/>
              </a:rPr>
              <a:t>↑/↓ = parameter pinned at a bound.</a:t>
            </a:r>
          </a:p>
        </p:txBody>
      </p:sp>
      <p:sp>
        <p:nvSpPr>
          <p:cNvPr id="5" name="Rectangle 4"/>
          <p:cNvSpPr/>
          <p:nvPr/>
        </p:nvSpPr>
        <p:spPr>
          <a:xfrm>
            <a:off x="502920" y="1783080"/>
            <a:ext cx="11155680" cy="384048"/>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37943"/>
            <a:ext cx="2743200" cy="292608"/>
          </a:xfrm>
          <a:prstGeom prst="rect">
            <a:avLst/>
          </a:prstGeom>
          <a:noFill/>
        </p:spPr>
        <p:txBody>
          <a:bodyPr wrap="square" lIns="36576" tIns="36576" rIns="36576" bIns="36576" anchor="t">
            <a:spAutoFit/>
          </a:bodyPr>
          <a:lstStyle/>
          <a:p>
            <a:pPr algn="l">
              <a:spcBef>
                <a:spcPts val="0"/>
              </a:spcBef>
              <a:spcAft>
                <a:spcPts val="200"/>
              </a:spcAft>
            </a:pPr>
            <a:r>
              <a:rPr sz="1250" b="1" i="0">
                <a:solidFill>
                  <a:srgbClr val="FFFFFF"/>
                </a:solidFill>
                <a:latin typeface="Calibri"/>
              </a:rPr>
              <a:t>Sheet</a:t>
            </a:r>
          </a:p>
        </p:txBody>
      </p:sp>
      <p:sp>
        <p:nvSpPr>
          <p:cNvPr id="7" name="TextBox 6"/>
          <p:cNvSpPr txBox="1"/>
          <p:nvPr/>
        </p:nvSpPr>
        <p:spPr>
          <a:xfrm>
            <a:off x="3291840" y="1837943"/>
            <a:ext cx="868680" cy="292608"/>
          </a:xfrm>
          <a:prstGeom prst="rect">
            <a:avLst/>
          </a:prstGeom>
          <a:noFill/>
        </p:spPr>
        <p:txBody>
          <a:bodyPr wrap="square" lIns="36576" tIns="36576" rIns="36576" bIns="36576" anchor="t">
            <a:spAutoFit/>
          </a:bodyPr>
          <a:lstStyle/>
          <a:p>
            <a:pPr algn="ctr">
              <a:spcBef>
                <a:spcPts val="0"/>
              </a:spcBef>
              <a:spcAft>
                <a:spcPts val="200"/>
              </a:spcAft>
            </a:pPr>
            <a:r>
              <a:rPr sz="1250" b="1" i="0">
                <a:solidFill>
                  <a:srgbClr val="FFFFFF"/>
                </a:solidFill>
                <a:latin typeface="Calibri"/>
              </a:rPr>
              <a:t>Lₚ</a:t>
            </a:r>
          </a:p>
        </p:txBody>
      </p:sp>
      <p:sp>
        <p:nvSpPr>
          <p:cNvPr id="8" name="TextBox 7"/>
          <p:cNvSpPr txBox="1"/>
          <p:nvPr/>
        </p:nvSpPr>
        <p:spPr>
          <a:xfrm>
            <a:off x="4160520" y="1837943"/>
            <a:ext cx="1051560" cy="292608"/>
          </a:xfrm>
          <a:prstGeom prst="rect">
            <a:avLst/>
          </a:prstGeom>
          <a:noFill/>
        </p:spPr>
        <p:txBody>
          <a:bodyPr wrap="square" lIns="36576" tIns="36576" rIns="36576" bIns="36576" anchor="t">
            <a:spAutoFit/>
          </a:bodyPr>
          <a:lstStyle/>
          <a:p>
            <a:pPr algn="ctr">
              <a:spcBef>
                <a:spcPts val="0"/>
              </a:spcBef>
              <a:spcAft>
                <a:spcPts val="200"/>
              </a:spcAft>
            </a:pPr>
            <a:r>
              <a:rPr sz="1250" b="1" i="0">
                <a:solidFill>
                  <a:srgbClr val="FFFFFF"/>
                </a:solidFill>
                <a:latin typeface="Calibri"/>
              </a:rPr>
              <a:t>B [µm/s]</a:t>
            </a:r>
          </a:p>
        </p:txBody>
      </p:sp>
      <p:sp>
        <p:nvSpPr>
          <p:cNvPr id="9" name="TextBox 8"/>
          <p:cNvSpPr txBox="1"/>
          <p:nvPr/>
        </p:nvSpPr>
        <p:spPr>
          <a:xfrm>
            <a:off x="5212080" y="1837943"/>
            <a:ext cx="960120" cy="292608"/>
          </a:xfrm>
          <a:prstGeom prst="rect">
            <a:avLst/>
          </a:prstGeom>
          <a:noFill/>
        </p:spPr>
        <p:txBody>
          <a:bodyPr wrap="square" lIns="36576" tIns="36576" rIns="36576" bIns="36576" anchor="t">
            <a:spAutoFit/>
          </a:bodyPr>
          <a:lstStyle/>
          <a:p>
            <a:pPr algn="ctr">
              <a:spcBef>
                <a:spcPts val="0"/>
              </a:spcBef>
              <a:spcAft>
                <a:spcPts val="200"/>
              </a:spcAft>
            </a:pPr>
            <a:r>
              <a:rPr sz="1250" b="1" i="0">
                <a:solidFill>
                  <a:srgbClr val="FFFFFF"/>
                </a:solidFill>
                <a:latin typeface="Calibri"/>
              </a:rPr>
              <a:t>σ</a:t>
            </a:r>
          </a:p>
        </p:txBody>
      </p:sp>
      <p:sp>
        <p:nvSpPr>
          <p:cNvPr id="10" name="TextBox 9"/>
          <p:cNvSpPr txBox="1"/>
          <p:nvPr/>
        </p:nvSpPr>
        <p:spPr>
          <a:xfrm>
            <a:off x="6172200" y="1837943"/>
            <a:ext cx="1143000" cy="292608"/>
          </a:xfrm>
          <a:prstGeom prst="rect">
            <a:avLst/>
          </a:prstGeom>
          <a:noFill/>
        </p:spPr>
        <p:txBody>
          <a:bodyPr wrap="square" lIns="36576" tIns="36576" rIns="36576" bIns="36576" anchor="t">
            <a:spAutoFit/>
          </a:bodyPr>
          <a:lstStyle/>
          <a:p>
            <a:pPr algn="ctr">
              <a:spcBef>
                <a:spcPts val="0"/>
              </a:spcBef>
              <a:spcAft>
                <a:spcPts val="200"/>
              </a:spcAft>
            </a:pPr>
            <a:r>
              <a:rPr sz="1250" b="1" i="0">
                <a:solidFill>
                  <a:srgbClr val="FFFFFF"/>
                </a:solidFill>
                <a:latin typeface="Calibri"/>
              </a:rPr>
              <a:t>WSSE₃ch</a:t>
            </a:r>
          </a:p>
        </p:txBody>
      </p:sp>
      <p:sp>
        <p:nvSpPr>
          <p:cNvPr id="11" name="TextBox 10"/>
          <p:cNvSpPr txBox="1"/>
          <p:nvPr/>
        </p:nvSpPr>
        <p:spPr>
          <a:xfrm>
            <a:off x="7315200" y="1837943"/>
            <a:ext cx="4343400" cy="292608"/>
          </a:xfrm>
          <a:prstGeom prst="rect">
            <a:avLst/>
          </a:prstGeom>
          <a:noFill/>
        </p:spPr>
        <p:txBody>
          <a:bodyPr wrap="square" lIns="36576" tIns="36576" rIns="36576" bIns="36576" anchor="t">
            <a:spAutoFit/>
          </a:bodyPr>
          <a:lstStyle/>
          <a:p>
            <a:pPr algn="l">
              <a:spcBef>
                <a:spcPts val="0"/>
              </a:spcBef>
              <a:spcAft>
                <a:spcPts val="200"/>
              </a:spcAft>
            </a:pPr>
            <a:r>
              <a:rPr sz="1250" b="1" i="0">
                <a:solidFill>
                  <a:srgbClr val="FFFFFF"/>
                </a:solidFill>
                <a:latin typeface="Calibri"/>
              </a:rPr>
              <a:t>Stage assignment</a:t>
            </a:r>
          </a:p>
        </p:txBody>
      </p:sp>
      <p:sp>
        <p:nvSpPr>
          <p:cNvPr id="12" name="Rectangle 11"/>
          <p:cNvSpPr/>
          <p:nvPr/>
        </p:nvSpPr>
        <p:spPr>
          <a:xfrm>
            <a:off x="502920" y="2203704"/>
            <a:ext cx="82296" cy="37033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2249424"/>
            <a:ext cx="2743200" cy="292608"/>
          </a:xfrm>
          <a:prstGeom prst="rect">
            <a:avLst/>
          </a:prstGeom>
          <a:noFill/>
        </p:spPr>
        <p:txBody>
          <a:bodyPr wrap="square" lIns="36576" tIns="36576" rIns="36576" bIns="36576" anchor="t">
            <a:spAutoFit/>
          </a:bodyPr>
          <a:lstStyle/>
          <a:p>
            <a:pPr algn="l">
              <a:spcBef>
                <a:spcPts val="0"/>
              </a:spcBef>
              <a:spcAft>
                <a:spcPts val="200"/>
              </a:spcAft>
            </a:pPr>
            <a:r>
              <a:rPr sz="1150" b="1" i="0">
                <a:solidFill>
                  <a:srgbClr val="1B1B1B"/>
                </a:solidFill>
                <a:latin typeface="Calibri"/>
              </a:rPr>
              <a:t>MC3 · 07.22.24 · SNaCl</a:t>
            </a:r>
          </a:p>
        </p:txBody>
      </p:sp>
      <p:sp>
        <p:nvSpPr>
          <p:cNvPr id="14" name="TextBox 13"/>
          <p:cNvSpPr txBox="1"/>
          <p:nvPr/>
        </p:nvSpPr>
        <p:spPr>
          <a:xfrm>
            <a:off x="3291840" y="2249424"/>
            <a:ext cx="86868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8.63</a:t>
            </a:r>
          </a:p>
        </p:txBody>
      </p:sp>
      <p:sp>
        <p:nvSpPr>
          <p:cNvPr id="15" name="TextBox 14"/>
          <p:cNvSpPr txBox="1"/>
          <p:nvPr/>
        </p:nvSpPr>
        <p:spPr>
          <a:xfrm>
            <a:off x="4160520" y="2249424"/>
            <a:ext cx="105156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14.68</a:t>
            </a:r>
          </a:p>
        </p:txBody>
      </p:sp>
      <p:sp>
        <p:nvSpPr>
          <p:cNvPr id="16" name="TextBox 15"/>
          <p:cNvSpPr txBox="1"/>
          <p:nvPr/>
        </p:nvSpPr>
        <p:spPr>
          <a:xfrm>
            <a:off x="5212080" y="2249424"/>
            <a:ext cx="96012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0.79</a:t>
            </a:r>
          </a:p>
        </p:txBody>
      </p:sp>
      <p:sp>
        <p:nvSpPr>
          <p:cNvPr id="17" name="TextBox 16"/>
          <p:cNvSpPr txBox="1"/>
          <p:nvPr/>
        </p:nvSpPr>
        <p:spPr>
          <a:xfrm>
            <a:off x="6172200" y="2249424"/>
            <a:ext cx="114300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560</a:t>
            </a:r>
          </a:p>
        </p:txBody>
      </p:sp>
      <p:sp>
        <p:nvSpPr>
          <p:cNvPr id="18" name="TextBox 17"/>
          <p:cNvSpPr txBox="1"/>
          <p:nvPr/>
        </p:nvSpPr>
        <p:spPr>
          <a:xfrm>
            <a:off x="7315200" y="2249424"/>
            <a:ext cx="4343400" cy="292608"/>
          </a:xfrm>
          <a:prstGeom prst="rect">
            <a:avLst/>
          </a:prstGeom>
          <a:noFill/>
        </p:spPr>
        <p:txBody>
          <a:bodyPr wrap="square" lIns="36576" tIns="36576" rIns="36576" bIns="36576" anchor="t">
            <a:spAutoFit/>
          </a:bodyPr>
          <a:lstStyle/>
          <a:p>
            <a:pPr algn="l">
              <a:spcBef>
                <a:spcPts val="0"/>
              </a:spcBef>
              <a:spcAft>
                <a:spcPts val="200"/>
              </a:spcAft>
            </a:pPr>
            <a:r>
              <a:rPr sz="1100" b="1" i="0">
                <a:solidFill>
                  <a:srgbClr val="2E7D32"/>
                </a:solidFill>
                <a:latin typeface="Calibri"/>
              </a:rPr>
              <a:t>Stage 1A · interior σ — gold standard</a:t>
            </a:r>
          </a:p>
        </p:txBody>
      </p:sp>
      <p:sp>
        <p:nvSpPr>
          <p:cNvPr id="19" name="Rectangle 18"/>
          <p:cNvSpPr/>
          <p:nvPr/>
        </p:nvSpPr>
        <p:spPr>
          <a:xfrm>
            <a:off x="502920" y="2574036"/>
            <a:ext cx="11155680" cy="3703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02920" y="2574036"/>
            <a:ext cx="82296" cy="37033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2619756"/>
            <a:ext cx="2743200" cy="292608"/>
          </a:xfrm>
          <a:prstGeom prst="rect">
            <a:avLst/>
          </a:prstGeom>
          <a:noFill/>
        </p:spPr>
        <p:txBody>
          <a:bodyPr wrap="square" lIns="36576" tIns="36576" rIns="36576" bIns="36576" anchor="t">
            <a:spAutoFit/>
          </a:bodyPr>
          <a:lstStyle/>
          <a:p>
            <a:pPr algn="l">
              <a:spcBef>
                <a:spcPts val="0"/>
              </a:spcBef>
              <a:spcAft>
                <a:spcPts val="200"/>
              </a:spcAft>
            </a:pPr>
            <a:r>
              <a:rPr sz="1150" b="1" i="0">
                <a:solidFill>
                  <a:srgbClr val="1B1B1B"/>
                </a:solidFill>
                <a:latin typeface="Calibri"/>
              </a:rPr>
              <a:t>MC5 · 07.23.24 · S2NaCl</a:t>
            </a:r>
          </a:p>
        </p:txBody>
      </p:sp>
      <p:sp>
        <p:nvSpPr>
          <p:cNvPr id="22" name="TextBox 21"/>
          <p:cNvSpPr txBox="1"/>
          <p:nvPr/>
        </p:nvSpPr>
        <p:spPr>
          <a:xfrm>
            <a:off x="3291840" y="2619756"/>
            <a:ext cx="86868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7.75</a:t>
            </a:r>
          </a:p>
        </p:txBody>
      </p:sp>
      <p:sp>
        <p:nvSpPr>
          <p:cNvPr id="23" name="TextBox 22"/>
          <p:cNvSpPr txBox="1"/>
          <p:nvPr/>
        </p:nvSpPr>
        <p:spPr>
          <a:xfrm>
            <a:off x="4160520" y="2619756"/>
            <a:ext cx="105156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10.14</a:t>
            </a:r>
          </a:p>
        </p:txBody>
      </p:sp>
      <p:sp>
        <p:nvSpPr>
          <p:cNvPr id="24" name="TextBox 23"/>
          <p:cNvSpPr txBox="1"/>
          <p:nvPr/>
        </p:nvSpPr>
        <p:spPr>
          <a:xfrm>
            <a:off x="5212080" y="2619756"/>
            <a:ext cx="96012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0.29</a:t>
            </a:r>
          </a:p>
        </p:txBody>
      </p:sp>
      <p:sp>
        <p:nvSpPr>
          <p:cNvPr id="25" name="TextBox 24"/>
          <p:cNvSpPr txBox="1"/>
          <p:nvPr/>
        </p:nvSpPr>
        <p:spPr>
          <a:xfrm>
            <a:off x="6172200" y="2619756"/>
            <a:ext cx="114300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888</a:t>
            </a:r>
          </a:p>
        </p:txBody>
      </p:sp>
      <p:sp>
        <p:nvSpPr>
          <p:cNvPr id="26" name="TextBox 25"/>
          <p:cNvSpPr txBox="1"/>
          <p:nvPr/>
        </p:nvSpPr>
        <p:spPr>
          <a:xfrm>
            <a:off x="7315200" y="2619756"/>
            <a:ext cx="4343400" cy="292608"/>
          </a:xfrm>
          <a:prstGeom prst="rect">
            <a:avLst/>
          </a:prstGeom>
          <a:noFill/>
        </p:spPr>
        <p:txBody>
          <a:bodyPr wrap="square" lIns="36576" tIns="36576" rIns="36576" bIns="36576" anchor="t">
            <a:spAutoFit/>
          </a:bodyPr>
          <a:lstStyle/>
          <a:p>
            <a:pPr algn="l">
              <a:spcBef>
                <a:spcPts val="0"/>
              </a:spcBef>
              <a:spcAft>
                <a:spcPts val="200"/>
              </a:spcAft>
            </a:pPr>
            <a:r>
              <a:rPr sz="1100" b="1" i="0">
                <a:solidFill>
                  <a:srgbClr val="2E7D32"/>
                </a:solidFill>
                <a:latin typeface="Calibri"/>
              </a:rPr>
              <a:t>Stage 1B · diluting, σ harmless</a:t>
            </a:r>
          </a:p>
        </p:txBody>
      </p:sp>
      <p:sp>
        <p:nvSpPr>
          <p:cNvPr id="27" name="Rectangle 26"/>
          <p:cNvSpPr/>
          <p:nvPr/>
        </p:nvSpPr>
        <p:spPr>
          <a:xfrm>
            <a:off x="502920" y="2944368"/>
            <a:ext cx="82296" cy="370332"/>
          </a:xfrm>
          <a:prstGeom prst="rect">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8640" y="2990088"/>
            <a:ext cx="2743200" cy="292608"/>
          </a:xfrm>
          <a:prstGeom prst="rect">
            <a:avLst/>
          </a:prstGeom>
          <a:noFill/>
        </p:spPr>
        <p:txBody>
          <a:bodyPr wrap="square" lIns="36576" tIns="36576" rIns="36576" bIns="36576" anchor="t">
            <a:spAutoFit/>
          </a:bodyPr>
          <a:lstStyle/>
          <a:p>
            <a:pPr algn="l">
              <a:spcBef>
                <a:spcPts val="0"/>
              </a:spcBef>
              <a:spcAft>
                <a:spcPts val="200"/>
              </a:spcAft>
            </a:pPr>
            <a:r>
              <a:rPr sz="1150" b="1" i="0">
                <a:solidFill>
                  <a:srgbClr val="1B1B1B"/>
                </a:solidFill>
                <a:latin typeface="Calibri"/>
              </a:rPr>
              <a:t>MC4 · 07.11.24 · SNaCl</a:t>
            </a:r>
          </a:p>
        </p:txBody>
      </p:sp>
      <p:sp>
        <p:nvSpPr>
          <p:cNvPr id="29" name="TextBox 28"/>
          <p:cNvSpPr txBox="1"/>
          <p:nvPr/>
        </p:nvSpPr>
        <p:spPr>
          <a:xfrm>
            <a:off x="3291840" y="2990088"/>
            <a:ext cx="86868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11.35</a:t>
            </a:r>
          </a:p>
        </p:txBody>
      </p:sp>
      <p:sp>
        <p:nvSpPr>
          <p:cNvPr id="30" name="TextBox 29"/>
          <p:cNvSpPr txBox="1"/>
          <p:nvPr/>
        </p:nvSpPr>
        <p:spPr>
          <a:xfrm>
            <a:off x="4160520" y="2990088"/>
            <a:ext cx="105156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2.02</a:t>
            </a:r>
          </a:p>
        </p:txBody>
      </p:sp>
      <p:sp>
        <p:nvSpPr>
          <p:cNvPr id="31" name="TextBox 30"/>
          <p:cNvSpPr txBox="1"/>
          <p:nvPr/>
        </p:nvSpPr>
        <p:spPr>
          <a:xfrm>
            <a:off x="5212080" y="2990088"/>
            <a:ext cx="96012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0.50</a:t>
            </a:r>
          </a:p>
        </p:txBody>
      </p:sp>
      <p:sp>
        <p:nvSpPr>
          <p:cNvPr id="32" name="TextBox 31"/>
          <p:cNvSpPr txBox="1"/>
          <p:nvPr/>
        </p:nvSpPr>
        <p:spPr>
          <a:xfrm>
            <a:off x="6172200" y="2990088"/>
            <a:ext cx="114300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19,508</a:t>
            </a:r>
          </a:p>
        </p:txBody>
      </p:sp>
      <p:sp>
        <p:nvSpPr>
          <p:cNvPr id="33" name="TextBox 32"/>
          <p:cNvSpPr txBox="1"/>
          <p:nvPr/>
        </p:nvSpPr>
        <p:spPr>
          <a:xfrm>
            <a:off x="7315200" y="2990088"/>
            <a:ext cx="4343400" cy="292608"/>
          </a:xfrm>
          <a:prstGeom prst="rect">
            <a:avLst/>
          </a:prstGeom>
          <a:noFill/>
        </p:spPr>
        <p:txBody>
          <a:bodyPr wrap="square" lIns="36576" tIns="36576" rIns="36576" bIns="36576" anchor="t">
            <a:spAutoFit/>
          </a:bodyPr>
          <a:lstStyle/>
          <a:p>
            <a:pPr algn="l">
              <a:spcBef>
                <a:spcPts val="0"/>
              </a:spcBef>
              <a:spcAft>
                <a:spcPts val="200"/>
              </a:spcAft>
            </a:pPr>
            <a:r>
              <a:rPr sz="1100" b="1" i="0">
                <a:solidFill>
                  <a:srgbClr val="D98A00"/>
                </a:solidFill>
                <a:latin typeface="Calibri"/>
              </a:rPr>
              <a:t>Stage 1B-ish · diluting BUT poor WSSE ⚠</a:t>
            </a:r>
          </a:p>
        </p:txBody>
      </p:sp>
      <p:sp>
        <p:nvSpPr>
          <p:cNvPr id="34" name="Rectangle 33"/>
          <p:cNvSpPr/>
          <p:nvPr/>
        </p:nvSpPr>
        <p:spPr>
          <a:xfrm>
            <a:off x="502920" y="3314700"/>
            <a:ext cx="11155680" cy="3703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02920" y="3314700"/>
            <a:ext cx="82296" cy="370332"/>
          </a:xfrm>
          <a:prstGeom prst="rect">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8640" y="3360420"/>
            <a:ext cx="2743200" cy="292608"/>
          </a:xfrm>
          <a:prstGeom prst="rect">
            <a:avLst/>
          </a:prstGeom>
          <a:noFill/>
        </p:spPr>
        <p:txBody>
          <a:bodyPr wrap="square" lIns="36576" tIns="36576" rIns="36576" bIns="36576" anchor="t">
            <a:spAutoFit/>
          </a:bodyPr>
          <a:lstStyle/>
          <a:p>
            <a:pPr algn="l">
              <a:spcBef>
                <a:spcPts val="0"/>
              </a:spcBef>
              <a:spcAft>
                <a:spcPts val="200"/>
              </a:spcAft>
            </a:pPr>
            <a:r>
              <a:rPr sz="1150" b="1" i="0">
                <a:solidFill>
                  <a:srgbClr val="1B1B1B"/>
                </a:solidFill>
                <a:latin typeface="Calibri"/>
              </a:rPr>
              <a:t>MC2 · 05.07.24 · NaCl</a:t>
            </a:r>
          </a:p>
        </p:txBody>
      </p:sp>
      <p:sp>
        <p:nvSpPr>
          <p:cNvPr id="37" name="TextBox 36"/>
          <p:cNvSpPr txBox="1"/>
          <p:nvPr/>
        </p:nvSpPr>
        <p:spPr>
          <a:xfrm>
            <a:off x="3291840" y="3360420"/>
            <a:ext cx="86868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10.45</a:t>
            </a:r>
          </a:p>
        </p:txBody>
      </p:sp>
      <p:sp>
        <p:nvSpPr>
          <p:cNvPr id="38" name="TextBox 37"/>
          <p:cNvSpPr txBox="1"/>
          <p:nvPr/>
        </p:nvSpPr>
        <p:spPr>
          <a:xfrm>
            <a:off x="4160520" y="3360420"/>
            <a:ext cx="105156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9.73</a:t>
            </a:r>
          </a:p>
        </p:txBody>
      </p:sp>
      <p:sp>
        <p:nvSpPr>
          <p:cNvPr id="39" name="TextBox 38"/>
          <p:cNvSpPr txBox="1"/>
          <p:nvPr/>
        </p:nvSpPr>
        <p:spPr>
          <a:xfrm>
            <a:off x="5212080" y="3360420"/>
            <a:ext cx="960120" cy="292608"/>
          </a:xfrm>
          <a:prstGeom prst="rect">
            <a:avLst/>
          </a:prstGeom>
          <a:noFill/>
        </p:spPr>
        <p:txBody>
          <a:bodyPr wrap="square" lIns="36576" tIns="36576" rIns="36576" bIns="36576" anchor="t">
            <a:spAutoFit/>
          </a:bodyPr>
          <a:lstStyle/>
          <a:p>
            <a:pPr algn="ctr">
              <a:spcBef>
                <a:spcPts val="0"/>
              </a:spcBef>
              <a:spcAft>
                <a:spcPts val="200"/>
              </a:spcAft>
            </a:pPr>
            <a:r>
              <a:rPr sz="1150" b="1" i="0">
                <a:solidFill>
                  <a:srgbClr val="1B1B1B"/>
                </a:solidFill>
                <a:latin typeface="Calibri"/>
              </a:rPr>
              <a:t>1.00 ↑</a:t>
            </a:r>
          </a:p>
        </p:txBody>
      </p:sp>
      <p:sp>
        <p:nvSpPr>
          <p:cNvPr id="40" name="TextBox 39"/>
          <p:cNvSpPr txBox="1"/>
          <p:nvPr/>
        </p:nvSpPr>
        <p:spPr>
          <a:xfrm>
            <a:off x="6172200" y="3360420"/>
            <a:ext cx="114300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4,528</a:t>
            </a:r>
          </a:p>
        </p:txBody>
      </p:sp>
      <p:sp>
        <p:nvSpPr>
          <p:cNvPr id="41" name="TextBox 40"/>
          <p:cNvSpPr txBox="1"/>
          <p:nvPr/>
        </p:nvSpPr>
        <p:spPr>
          <a:xfrm>
            <a:off x="7315200" y="3360420"/>
            <a:ext cx="4343400" cy="292608"/>
          </a:xfrm>
          <a:prstGeom prst="rect">
            <a:avLst/>
          </a:prstGeom>
          <a:noFill/>
        </p:spPr>
        <p:txBody>
          <a:bodyPr wrap="square" lIns="36576" tIns="36576" rIns="36576" bIns="36576" anchor="t">
            <a:spAutoFit/>
          </a:bodyPr>
          <a:lstStyle/>
          <a:p>
            <a:pPr algn="l">
              <a:spcBef>
                <a:spcPts val="0"/>
              </a:spcBef>
              <a:spcAft>
                <a:spcPts val="200"/>
              </a:spcAft>
            </a:pPr>
            <a:r>
              <a:rPr sz="1100" b="1" i="0">
                <a:solidFill>
                  <a:srgbClr val="D98A00"/>
                </a:solidFill>
                <a:latin typeface="Calibri"/>
              </a:rPr>
              <a:t>Stage 2 · σ wall, concentrating</a:t>
            </a:r>
          </a:p>
        </p:txBody>
      </p:sp>
      <p:sp>
        <p:nvSpPr>
          <p:cNvPr id="42" name="Rectangle 41"/>
          <p:cNvSpPr/>
          <p:nvPr/>
        </p:nvSpPr>
        <p:spPr>
          <a:xfrm>
            <a:off x="502920" y="3685032"/>
            <a:ext cx="82296" cy="370332"/>
          </a:xfrm>
          <a:prstGeom prst="rect">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48640" y="3730752"/>
            <a:ext cx="2743200" cy="292608"/>
          </a:xfrm>
          <a:prstGeom prst="rect">
            <a:avLst/>
          </a:prstGeom>
          <a:noFill/>
        </p:spPr>
        <p:txBody>
          <a:bodyPr wrap="square" lIns="36576" tIns="36576" rIns="36576" bIns="36576" anchor="t">
            <a:spAutoFit/>
          </a:bodyPr>
          <a:lstStyle/>
          <a:p>
            <a:pPr algn="l">
              <a:spcBef>
                <a:spcPts val="0"/>
              </a:spcBef>
              <a:spcAft>
                <a:spcPts val="200"/>
              </a:spcAft>
            </a:pPr>
            <a:r>
              <a:rPr sz="1150" b="1" i="0">
                <a:solidFill>
                  <a:srgbClr val="1B1B1B"/>
                </a:solidFill>
                <a:latin typeface="Calibri"/>
              </a:rPr>
              <a:t>MC5 · 07.23.24 · NaCl</a:t>
            </a:r>
          </a:p>
        </p:txBody>
      </p:sp>
      <p:sp>
        <p:nvSpPr>
          <p:cNvPr id="44" name="TextBox 43"/>
          <p:cNvSpPr txBox="1"/>
          <p:nvPr/>
        </p:nvSpPr>
        <p:spPr>
          <a:xfrm>
            <a:off x="3291840" y="3730752"/>
            <a:ext cx="86868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10.52</a:t>
            </a:r>
          </a:p>
        </p:txBody>
      </p:sp>
      <p:sp>
        <p:nvSpPr>
          <p:cNvPr id="45" name="TextBox 44"/>
          <p:cNvSpPr txBox="1"/>
          <p:nvPr/>
        </p:nvSpPr>
        <p:spPr>
          <a:xfrm>
            <a:off x="4160520" y="3730752"/>
            <a:ext cx="105156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3.70</a:t>
            </a:r>
          </a:p>
        </p:txBody>
      </p:sp>
      <p:sp>
        <p:nvSpPr>
          <p:cNvPr id="46" name="TextBox 45"/>
          <p:cNvSpPr txBox="1"/>
          <p:nvPr/>
        </p:nvSpPr>
        <p:spPr>
          <a:xfrm>
            <a:off x="5212080" y="3730752"/>
            <a:ext cx="96012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0.79</a:t>
            </a:r>
          </a:p>
        </p:txBody>
      </p:sp>
      <p:sp>
        <p:nvSpPr>
          <p:cNvPr id="47" name="TextBox 46"/>
          <p:cNvSpPr txBox="1"/>
          <p:nvPr/>
        </p:nvSpPr>
        <p:spPr>
          <a:xfrm>
            <a:off x="6172200" y="3730752"/>
            <a:ext cx="114300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7,024</a:t>
            </a:r>
          </a:p>
        </p:txBody>
      </p:sp>
      <p:sp>
        <p:nvSpPr>
          <p:cNvPr id="48" name="TextBox 47"/>
          <p:cNvSpPr txBox="1"/>
          <p:nvPr/>
        </p:nvSpPr>
        <p:spPr>
          <a:xfrm>
            <a:off x="7315200" y="3730752"/>
            <a:ext cx="4343400" cy="292608"/>
          </a:xfrm>
          <a:prstGeom prst="rect">
            <a:avLst/>
          </a:prstGeom>
          <a:noFill/>
        </p:spPr>
        <p:txBody>
          <a:bodyPr wrap="square" lIns="36576" tIns="36576" rIns="36576" bIns="36576" anchor="t">
            <a:spAutoFit/>
          </a:bodyPr>
          <a:lstStyle/>
          <a:p>
            <a:pPr algn="l">
              <a:spcBef>
                <a:spcPts val="0"/>
              </a:spcBef>
              <a:spcAft>
                <a:spcPts val="200"/>
              </a:spcAft>
            </a:pPr>
            <a:r>
              <a:rPr sz="1100" b="1" i="0">
                <a:solidFill>
                  <a:srgbClr val="D98A00"/>
                </a:solidFill>
                <a:latin typeface="Calibri"/>
              </a:rPr>
              <a:t>Stage 2 · σ wall, concentrating</a:t>
            </a:r>
          </a:p>
        </p:txBody>
      </p:sp>
      <p:sp>
        <p:nvSpPr>
          <p:cNvPr id="49" name="Rectangle 48"/>
          <p:cNvSpPr/>
          <p:nvPr/>
        </p:nvSpPr>
        <p:spPr>
          <a:xfrm>
            <a:off x="502920" y="4055364"/>
            <a:ext cx="11155680" cy="3703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502920" y="4055364"/>
            <a:ext cx="82296" cy="370332"/>
          </a:xfrm>
          <a:prstGeom prst="rect">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48640" y="4101084"/>
            <a:ext cx="2743200" cy="292608"/>
          </a:xfrm>
          <a:prstGeom prst="rect">
            <a:avLst/>
          </a:prstGeom>
          <a:noFill/>
        </p:spPr>
        <p:txBody>
          <a:bodyPr wrap="square" lIns="36576" tIns="36576" rIns="36576" bIns="36576" anchor="t">
            <a:spAutoFit/>
          </a:bodyPr>
          <a:lstStyle/>
          <a:p>
            <a:pPr algn="l">
              <a:spcBef>
                <a:spcPts val="0"/>
              </a:spcBef>
              <a:spcAft>
                <a:spcPts val="200"/>
              </a:spcAft>
            </a:pPr>
            <a:r>
              <a:rPr sz="1150" b="1" i="0">
                <a:solidFill>
                  <a:srgbClr val="1B1B1B"/>
                </a:solidFill>
                <a:latin typeface="Calibri"/>
              </a:rPr>
              <a:t>MC5 · 07.23.24 · SNaCl</a:t>
            </a:r>
          </a:p>
        </p:txBody>
      </p:sp>
      <p:sp>
        <p:nvSpPr>
          <p:cNvPr id="52" name="TextBox 51"/>
          <p:cNvSpPr txBox="1"/>
          <p:nvPr/>
        </p:nvSpPr>
        <p:spPr>
          <a:xfrm>
            <a:off x="3291840" y="4101084"/>
            <a:ext cx="86868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8.64</a:t>
            </a:r>
          </a:p>
        </p:txBody>
      </p:sp>
      <p:sp>
        <p:nvSpPr>
          <p:cNvPr id="53" name="TextBox 52"/>
          <p:cNvSpPr txBox="1"/>
          <p:nvPr/>
        </p:nvSpPr>
        <p:spPr>
          <a:xfrm>
            <a:off x="4160520" y="4101084"/>
            <a:ext cx="105156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3.07</a:t>
            </a:r>
          </a:p>
        </p:txBody>
      </p:sp>
      <p:sp>
        <p:nvSpPr>
          <p:cNvPr id="54" name="TextBox 53"/>
          <p:cNvSpPr txBox="1"/>
          <p:nvPr/>
        </p:nvSpPr>
        <p:spPr>
          <a:xfrm>
            <a:off x="5212080" y="4101084"/>
            <a:ext cx="96012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0.57</a:t>
            </a:r>
          </a:p>
        </p:txBody>
      </p:sp>
      <p:sp>
        <p:nvSpPr>
          <p:cNvPr id="55" name="TextBox 54"/>
          <p:cNvSpPr txBox="1"/>
          <p:nvPr/>
        </p:nvSpPr>
        <p:spPr>
          <a:xfrm>
            <a:off x="6172200" y="4101084"/>
            <a:ext cx="114300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5,870</a:t>
            </a:r>
          </a:p>
        </p:txBody>
      </p:sp>
      <p:sp>
        <p:nvSpPr>
          <p:cNvPr id="56" name="TextBox 55"/>
          <p:cNvSpPr txBox="1"/>
          <p:nvPr/>
        </p:nvSpPr>
        <p:spPr>
          <a:xfrm>
            <a:off x="7315200" y="4101084"/>
            <a:ext cx="4343400" cy="292608"/>
          </a:xfrm>
          <a:prstGeom prst="rect">
            <a:avLst/>
          </a:prstGeom>
          <a:noFill/>
        </p:spPr>
        <p:txBody>
          <a:bodyPr wrap="square" lIns="36576" tIns="36576" rIns="36576" bIns="36576" anchor="t">
            <a:spAutoFit/>
          </a:bodyPr>
          <a:lstStyle/>
          <a:p>
            <a:pPr algn="l">
              <a:spcBef>
                <a:spcPts val="0"/>
              </a:spcBef>
              <a:spcAft>
                <a:spcPts val="200"/>
              </a:spcAft>
            </a:pPr>
            <a:r>
              <a:rPr sz="1100" b="1" i="0">
                <a:solidFill>
                  <a:srgbClr val="D98A00"/>
                </a:solidFill>
                <a:latin typeface="Calibri"/>
              </a:rPr>
              <a:t>Stage 2 · σ wall, concentrating</a:t>
            </a:r>
          </a:p>
        </p:txBody>
      </p:sp>
      <p:sp>
        <p:nvSpPr>
          <p:cNvPr id="57" name="Rectangle 56"/>
          <p:cNvSpPr/>
          <p:nvPr/>
        </p:nvSpPr>
        <p:spPr>
          <a:xfrm>
            <a:off x="502920" y="4425696"/>
            <a:ext cx="82296" cy="370332"/>
          </a:xfrm>
          <a:prstGeom prst="rect">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48640" y="4471416"/>
            <a:ext cx="2743200" cy="292608"/>
          </a:xfrm>
          <a:prstGeom prst="rect">
            <a:avLst/>
          </a:prstGeom>
          <a:noFill/>
        </p:spPr>
        <p:txBody>
          <a:bodyPr wrap="square" lIns="36576" tIns="36576" rIns="36576" bIns="36576" anchor="t">
            <a:spAutoFit/>
          </a:bodyPr>
          <a:lstStyle/>
          <a:p>
            <a:pPr algn="l">
              <a:spcBef>
                <a:spcPts val="0"/>
              </a:spcBef>
              <a:spcAft>
                <a:spcPts val="200"/>
              </a:spcAft>
            </a:pPr>
            <a:r>
              <a:rPr sz="1150" b="1" i="0">
                <a:solidFill>
                  <a:srgbClr val="1B1B1B"/>
                </a:solidFill>
                <a:latin typeface="Calibri"/>
              </a:rPr>
              <a:t>MC2 · 05.07.24 · CaCl₂</a:t>
            </a:r>
          </a:p>
        </p:txBody>
      </p:sp>
      <p:sp>
        <p:nvSpPr>
          <p:cNvPr id="59" name="TextBox 58"/>
          <p:cNvSpPr txBox="1"/>
          <p:nvPr/>
        </p:nvSpPr>
        <p:spPr>
          <a:xfrm>
            <a:off x="3291840" y="4471416"/>
            <a:ext cx="86868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8.00</a:t>
            </a:r>
          </a:p>
        </p:txBody>
      </p:sp>
      <p:sp>
        <p:nvSpPr>
          <p:cNvPr id="60" name="TextBox 59"/>
          <p:cNvSpPr txBox="1"/>
          <p:nvPr/>
        </p:nvSpPr>
        <p:spPr>
          <a:xfrm>
            <a:off x="4160520" y="4471416"/>
            <a:ext cx="105156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0.51</a:t>
            </a:r>
          </a:p>
        </p:txBody>
      </p:sp>
      <p:sp>
        <p:nvSpPr>
          <p:cNvPr id="61" name="TextBox 60"/>
          <p:cNvSpPr txBox="1"/>
          <p:nvPr/>
        </p:nvSpPr>
        <p:spPr>
          <a:xfrm>
            <a:off x="5212080" y="4471416"/>
            <a:ext cx="96012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0.50</a:t>
            </a:r>
          </a:p>
        </p:txBody>
      </p:sp>
      <p:sp>
        <p:nvSpPr>
          <p:cNvPr id="62" name="TextBox 61"/>
          <p:cNvSpPr txBox="1"/>
          <p:nvPr/>
        </p:nvSpPr>
        <p:spPr>
          <a:xfrm>
            <a:off x="6172200" y="4471416"/>
            <a:ext cx="114300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97,213</a:t>
            </a:r>
          </a:p>
        </p:txBody>
      </p:sp>
      <p:sp>
        <p:nvSpPr>
          <p:cNvPr id="63" name="TextBox 62"/>
          <p:cNvSpPr txBox="1"/>
          <p:nvPr/>
        </p:nvSpPr>
        <p:spPr>
          <a:xfrm>
            <a:off x="7315200" y="4471416"/>
            <a:ext cx="4343400" cy="292608"/>
          </a:xfrm>
          <a:prstGeom prst="rect">
            <a:avLst/>
          </a:prstGeom>
          <a:noFill/>
        </p:spPr>
        <p:txBody>
          <a:bodyPr wrap="square" lIns="36576" tIns="36576" rIns="36576" bIns="36576" anchor="t">
            <a:spAutoFit/>
          </a:bodyPr>
          <a:lstStyle/>
          <a:p>
            <a:pPr algn="l">
              <a:spcBef>
                <a:spcPts val="0"/>
              </a:spcBef>
              <a:spcAft>
                <a:spcPts val="200"/>
              </a:spcAft>
            </a:pPr>
            <a:r>
              <a:rPr sz="1100" b="1" i="0">
                <a:solidFill>
                  <a:srgbClr val="D98A00"/>
                </a:solidFill>
                <a:latin typeface="Calibri"/>
              </a:rPr>
              <a:t>Stage 2 · channels split by side</a:t>
            </a:r>
          </a:p>
        </p:txBody>
      </p:sp>
      <p:sp>
        <p:nvSpPr>
          <p:cNvPr id="64" name="Rectangle 63"/>
          <p:cNvSpPr/>
          <p:nvPr/>
        </p:nvSpPr>
        <p:spPr>
          <a:xfrm>
            <a:off x="502920" y="4796028"/>
            <a:ext cx="11155680" cy="3703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2920" y="4796028"/>
            <a:ext cx="82296" cy="370332"/>
          </a:xfrm>
          <a:prstGeom prst="rect">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48640" y="4841748"/>
            <a:ext cx="2743200" cy="292608"/>
          </a:xfrm>
          <a:prstGeom prst="rect">
            <a:avLst/>
          </a:prstGeom>
          <a:noFill/>
        </p:spPr>
        <p:txBody>
          <a:bodyPr wrap="square" lIns="36576" tIns="36576" rIns="36576" bIns="36576" anchor="t">
            <a:spAutoFit/>
          </a:bodyPr>
          <a:lstStyle/>
          <a:p>
            <a:pPr algn="l">
              <a:spcBef>
                <a:spcPts val="0"/>
              </a:spcBef>
              <a:spcAft>
                <a:spcPts val="200"/>
              </a:spcAft>
            </a:pPr>
            <a:r>
              <a:rPr sz="1150" b="1" i="0">
                <a:solidFill>
                  <a:srgbClr val="1B1B1B"/>
                </a:solidFill>
                <a:latin typeface="Calibri"/>
              </a:rPr>
              <a:t>MC3 · 07.11.24 · SCaCl₂</a:t>
            </a:r>
          </a:p>
        </p:txBody>
      </p:sp>
      <p:sp>
        <p:nvSpPr>
          <p:cNvPr id="67" name="TextBox 66"/>
          <p:cNvSpPr txBox="1"/>
          <p:nvPr/>
        </p:nvSpPr>
        <p:spPr>
          <a:xfrm>
            <a:off x="3291840" y="4841748"/>
            <a:ext cx="86868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6.56</a:t>
            </a:r>
          </a:p>
        </p:txBody>
      </p:sp>
      <p:sp>
        <p:nvSpPr>
          <p:cNvPr id="68" name="TextBox 67"/>
          <p:cNvSpPr txBox="1"/>
          <p:nvPr/>
        </p:nvSpPr>
        <p:spPr>
          <a:xfrm>
            <a:off x="4160520" y="4841748"/>
            <a:ext cx="105156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9.11</a:t>
            </a:r>
          </a:p>
        </p:txBody>
      </p:sp>
      <p:sp>
        <p:nvSpPr>
          <p:cNvPr id="69" name="TextBox 68"/>
          <p:cNvSpPr txBox="1"/>
          <p:nvPr/>
        </p:nvSpPr>
        <p:spPr>
          <a:xfrm>
            <a:off x="5212080" y="4841748"/>
            <a:ext cx="960120" cy="292608"/>
          </a:xfrm>
          <a:prstGeom prst="rect">
            <a:avLst/>
          </a:prstGeom>
          <a:noFill/>
        </p:spPr>
        <p:txBody>
          <a:bodyPr wrap="square" lIns="36576" tIns="36576" rIns="36576" bIns="36576" anchor="t">
            <a:spAutoFit/>
          </a:bodyPr>
          <a:lstStyle/>
          <a:p>
            <a:pPr algn="ctr">
              <a:spcBef>
                <a:spcPts val="0"/>
              </a:spcBef>
              <a:spcAft>
                <a:spcPts val="200"/>
              </a:spcAft>
            </a:pPr>
            <a:r>
              <a:rPr sz="1150" b="1" i="0">
                <a:solidFill>
                  <a:srgbClr val="1B1B1B"/>
                </a:solidFill>
                <a:latin typeface="Calibri"/>
              </a:rPr>
              <a:t>1.00 ↑</a:t>
            </a:r>
          </a:p>
        </p:txBody>
      </p:sp>
      <p:sp>
        <p:nvSpPr>
          <p:cNvPr id="70" name="TextBox 69"/>
          <p:cNvSpPr txBox="1"/>
          <p:nvPr/>
        </p:nvSpPr>
        <p:spPr>
          <a:xfrm>
            <a:off x="6172200" y="4841748"/>
            <a:ext cx="114300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6,139</a:t>
            </a:r>
          </a:p>
        </p:txBody>
      </p:sp>
      <p:sp>
        <p:nvSpPr>
          <p:cNvPr id="71" name="TextBox 70"/>
          <p:cNvSpPr txBox="1"/>
          <p:nvPr/>
        </p:nvSpPr>
        <p:spPr>
          <a:xfrm>
            <a:off x="7315200" y="4841748"/>
            <a:ext cx="4343400" cy="292608"/>
          </a:xfrm>
          <a:prstGeom prst="rect">
            <a:avLst/>
          </a:prstGeom>
          <a:noFill/>
        </p:spPr>
        <p:txBody>
          <a:bodyPr wrap="square" lIns="36576" tIns="36576" rIns="36576" bIns="36576" anchor="t">
            <a:spAutoFit/>
          </a:bodyPr>
          <a:lstStyle/>
          <a:p>
            <a:pPr algn="l">
              <a:spcBef>
                <a:spcPts val="0"/>
              </a:spcBef>
              <a:spcAft>
                <a:spcPts val="200"/>
              </a:spcAft>
            </a:pPr>
            <a:r>
              <a:rPr sz="1100" b="1" i="0">
                <a:solidFill>
                  <a:srgbClr val="D98A00"/>
                </a:solidFill>
                <a:latin typeface="Calibri"/>
              </a:rPr>
              <a:t>Stage 2 · σ at wall</a:t>
            </a:r>
          </a:p>
        </p:txBody>
      </p:sp>
      <p:sp>
        <p:nvSpPr>
          <p:cNvPr id="72" name="Rectangle 71"/>
          <p:cNvSpPr/>
          <p:nvPr/>
        </p:nvSpPr>
        <p:spPr>
          <a:xfrm>
            <a:off x="502920" y="5166360"/>
            <a:ext cx="82296" cy="370332"/>
          </a:xfrm>
          <a:prstGeom prst="rect">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48640" y="5212080"/>
            <a:ext cx="2743200" cy="292608"/>
          </a:xfrm>
          <a:prstGeom prst="rect">
            <a:avLst/>
          </a:prstGeom>
          <a:noFill/>
        </p:spPr>
        <p:txBody>
          <a:bodyPr wrap="square" lIns="36576" tIns="36576" rIns="36576" bIns="36576" anchor="t">
            <a:spAutoFit/>
          </a:bodyPr>
          <a:lstStyle/>
          <a:p>
            <a:pPr algn="l">
              <a:spcBef>
                <a:spcPts val="0"/>
              </a:spcBef>
              <a:spcAft>
                <a:spcPts val="200"/>
              </a:spcAft>
            </a:pPr>
            <a:r>
              <a:rPr sz="1150" b="1" i="0">
                <a:solidFill>
                  <a:srgbClr val="1B1B1B"/>
                </a:solidFill>
                <a:latin typeface="Calibri"/>
              </a:rPr>
              <a:t>MC3 · 07.12.24 · S2CaCl₂</a:t>
            </a:r>
          </a:p>
        </p:txBody>
      </p:sp>
      <p:sp>
        <p:nvSpPr>
          <p:cNvPr id="74" name="TextBox 73"/>
          <p:cNvSpPr txBox="1"/>
          <p:nvPr/>
        </p:nvSpPr>
        <p:spPr>
          <a:xfrm>
            <a:off x="3291840" y="5212080"/>
            <a:ext cx="86868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5.49</a:t>
            </a:r>
          </a:p>
        </p:txBody>
      </p:sp>
      <p:sp>
        <p:nvSpPr>
          <p:cNvPr id="75" name="TextBox 74"/>
          <p:cNvSpPr txBox="1"/>
          <p:nvPr/>
        </p:nvSpPr>
        <p:spPr>
          <a:xfrm>
            <a:off x="4160520" y="5212080"/>
            <a:ext cx="105156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30.00 ↑</a:t>
            </a:r>
          </a:p>
        </p:txBody>
      </p:sp>
      <p:sp>
        <p:nvSpPr>
          <p:cNvPr id="76" name="TextBox 75"/>
          <p:cNvSpPr txBox="1"/>
          <p:nvPr/>
        </p:nvSpPr>
        <p:spPr>
          <a:xfrm>
            <a:off x="5212080" y="5212080"/>
            <a:ext cx="960120" cy="292608"/>
          </a:xfrm>
          <a:prstGeom prst="rect">
            <a:avLst/>
          </a:prstGeom>
          <a:noFill/>
        </p:spPr>
        <p:txBody>
          <a:bodyPr wrap="square" lIns="36576" tIns="36576" rIns="36576" bIns="36576" anchor="t">
            <a:spAutoFit/>
          </a:bodyPr>
          <a:lstStyle/>
          <a:p>
            <a:pPr algn="ctr">
              <a:spcBef>
                <a:spcPts val="0"/>
              </a:spcBef>
              <a:spcAft>
                <a:spcPts val="200"/>
              </a:spcAft>
            </a:pPr>
            <a:r>
              <a:rPr sz="1150" b="1" i="0">
                <a:solidFill>
                  <a:srgbClr val="1B1B1B"/>
                </a:solidFill>
                <a:latin typeface="Calibri"/>
              </a:rPr>
              <a:t>1.00 ↑</a:t>
            </a:r>
          </a:p>
        </p:txBody>
      </p:sp>
      <p:sp>
        <p:nvSpPr>
          <p:cNvPr id="77" name="TextBox 76"/>
          <p:cNvSpPr txBox="1"/>
          <p:nvPr/>
        </p:nvSpPr>
        <p:spPr>
          <a:xfrm>
            <a:off x="6172200" y="5212080"/>
            <a:ext cx="114300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9,774</a:t>
            </a:r>
          </a:p>
        </p:txBody>
      </p:sp>
      <p:sp>
        <p:nvSpPr>
          <p:cNvPr id="78" name="TextBox 77"/>
          <p:cNvSpPr txBox="1"/>
          <p:nvPr/>
        </p:nvSpPr>
        <p:spPr>
          <a:xfrm>
            <a:off x="7315200" y="5212080"/>
            <a:ext cx="4343400" cy="292608"/>
          </a:xfrm>
          <a:prstGeom prst="rect">
            <a:avLst/>
          </a:prstGeom>
          <a:noFill/>
        </p:spPr>
        <p:txBody>
          <a:bodyPr wrap="square" lIns="36576" tIns="36576" rIns="36576" bIns="36576" anchor="t">
            <a:spAutoFit/>
          </a:bodyPr>
          <a:lstStyle/>
          <a:p>
            <a:pPr algn="l">
              <a:spcBef>
                <a:spcPts val="0"/>
              </a:spcBef>
              <a:spcAft>
                <a:spcPts val="200"/>
              </a:spcAft>
            </a:pPr>
            <a:r>
              <a:rPr sz="1100" b="1" i="0">
                <a:solidFill>
                  <a:srgbClr val="D98A00"/>
                </a:solidFill>
                <a:latin typeface="Calibri"/>
              </a:rPr>
              <a:t>Stage 2 · σ AND B at walls</a:t>
            </a:r>
          </a:p>
        </p:txBody>
      </p:sp>
      <p:sp>
        <p:nvSpPr>
          <p:cNvPr id="79" name="Rectangle 78"/>
          <p:cNvSpPr/>
          <p:nvPr/>
        </p:nvSpPr>
        <p:spPr>
          <a:xfrm>
            <a:off x="502920" y="5536692"/>
            <a:ext cx="11155680" cy="3703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502920" y="5536692"/>
            <a:ext cx="82296" cy="370332"/>
          </a:xfrm>
          <a:prstGeom prst="rect">
            <a:avLst/>
          </a:prstGeom>
          <a:solidFill>
            <a:srgbClr val="B04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548640" y="5582412"/>
            <a:ext cx="2743200" cy="292608"/>
          </a:xfrm>
          <a:prstGeom prst="rect">
            <a:avLst/>
          </a:prstGeom>
          <a:noFill/>
        </p:spPr>
        <p:txBody>
          <a:bodyPr wrap="square" lIns="36576" tIns="36576" rIns="36576" bIns="36576" anchor="t">
            <a:spAutoFit/>
          </a:bodyPr>
          <a:lstStyle/>
          <a:p>
            <a:pPr algn="l">
              <a:spcBef>
                <a:spcPts val="0"/>
              </a:spcBef>
              <a:spcAft>
                <a:spcPts val="200"/>
              </a:spcAft>
            </a:pPr>
            <a:r>
              <a:rPr sz="1150" b="1" i="0">
                <a:solidFill>
                  <a:srgbClr val="1B1B1B"/>
                </a:solidFill>
                <a:latin typeface="Calibri"/>
              </a:rPr>
              <a:t>MC2 · 05.21.24 · LaCl₃</a:t>
            </a:r>
          </a:p>
        </p:txBody>
      </p:sp>
      <p:sp>
        <p:nvSpPr>
          <p:cNvPr id="82" name="TextBox 81"/>
          <p:cNvSpPr txBox="1"/>
          <p:nvPr/>
        </p:nvSpPr>
        <p:spPr>
          <a:xfrm>
            <a:off x="3291840" y="5582412"/>
            <a:ext cx="86868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2.95</a:t>
            </a:r>
          </a:p>
        </p:txBody>
      </p:sp>
      <p:sp>
        <p:nvSpPr>
          <p:cNvPr id="83" name="TextBox 82"/>
          <p:cNvSpPr txBox="1"/>
          <p:nvPr/>
        </p:nvSpPr>
        <p:spPr>
          <a:xfrm>
            <a:off x="4160520" y="5582412"/>
            <a:ext cx="105156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0.31</a:t>
            </a:r>
          </a:p>
        </p:txBody>
      </p:sp>
      <p:sp>
        <p:nvSpPr>
          <p:cNvPr id="84" name="TextBox 83"/>
          <p:cNvSpPr txBox="1"/>
          <p:nvPr/>
        </p:nvSpPr>
        <p:spPr>
          <a:xfrm>
            <a:off x="5212080" y="5582412"/>
            <a:ext cx="960120" cy="292608"/>
          </a:xfrm>
          <a:prstGeom prst="rect">
            <a:avLst/>
          </a:prstGeom>
          <a:noFill/>
        </p:spPr>
        <p:txBody>
          <a:bodyPr wrap="square" lIns="36576" tIns="36576" rIns="36576" bIns="36576" anchor="t">
            <a:spAutoFit/>
          </a:bodyPr>
          <a:lstStyle/>
          <a:p>
            <a:pPr algn="ctr">
              <a:spcBef>
                <a:spcPts val="0"/>
              </a:spcBef>
              <a:spcAft>
                <a:spcPts val="200"/>
              </a:spcAft>
            </a:pPr>
            <a:r>
              <a:rPr sz="1150" b="1" i="0">
                <a:solidFill>
                  <a:srgbClr val="1B1B1B"/>
                </a:solidFill>
                <a:latin typeface="Calibri"/>
              </a:rPr>
              <a:t>0.00 ↓</a:t>
            </a:r>
          </a:p>
        </p:txBody>
      </p:sp>
      <p:sp>
        <p:nvSpPr>
          <p:cNvPr id="85" name="TextBox 84"/>
          <p:cNvSpPr txBox="1"/>
          <p:nvPr/>
        </p:nvSpPr>
        <p:spPr>
          <a:xfrm>
            <a:off x="6172200" y="5582412"/>
            <a:ext cx="114300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21,500</a:t>
            </a:r>
          </a:p>
        </p:txBody>
      </p:sp>
      <p:sp>
        <p:nvSpPr>
          <p:cNvPr id="86" name="TextBox 85"/>
          <p:cNvSpPr txBox="1"/>
          <p:nvPr/>
        </p:nvSpPr>
        <p:spPr>
          <a:xfrm>
            <a:off x="7315200" y="5582412"/>
            <a:ext cx="4343400" cy="292608"/>
          </a:xfrm>
          <a:prstGeom prst="rect">
            <a:avLst/>
          </a:prstGeom>
          <a:noFill/>
        </p:spPr>
        <p:txBody>
          <a:bodyPr wrap="square" lIns="36576" tIns="36576" rIns="36576" bIns="36576" anchor="t">
            <a:spAutoFit/>
          </a:bodyPr>
          <a:lstStyle/>
          <a:p>
            <a:pPr algn="l">
              <a:spcBef>
                <a:spcPts val="0"/>
              </a:spcBef>
              <a:spcAft>
                <a:spcPts val="200"/>
              </a:spcAft>
            </a:pPr>
            <a:r>
              <a:rPr sz="1100" b="1" i="0">
                <a:solidFill>
                  <a:srgbClr val="B0413E"/>
                </a:solidFill>
                <a:latin typeface="Calibri"/>
              </a:rPr>
              <a:t>Stage 3 · wrong model — all channels disagree</a:t>
            </a:r>
          </a:p>
        </p:txBody>
      </p:sp>
      <p:sp>
        <p:nvSpPr>
          <p:cNvPr id="87" name="Rectangle 86"/>
          <p:cNvSpPr/>
          <p:nvPr/>
        </p:nvSpPr>
        <p:spPr>
          <a:xfrm>
            <a:off x="502920" y="5907024"/>
            <a:ext cx="82296" cy="370332"/>
          </a:xfrm>
          <a:prstGeom prst="rect">
            <a:avLst/>
          </a:prstGeom>
          <a:solidFill>
            <a:srgbClr val="B04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548640" y="5952744"/>
            <a:ext cx="2743200" cy="292608"/>
          </a:xfrm>
          <a:prstGeom prst="rect">
            <a:avLst/>
          </a:prstGeom>
          <a:noFill/>
        </p:spPr>
        <p:txBody>
          <a:bodyPr wrap="square" lIns="36576" tIns="36576" rIns="36576" bIns="36576" anchor="t">
            <a:spAutoFit/>
          </a:bodyPr>
          <a:lstStyle/>
          <a:p>
            <a:pPr algn="l">
              <a:spcBef>
                <a:spcPts val="0"/>
              </a:spcBef>
              <a:spcAft>
                <a:spcPts val="200"/>
              </a:spcAft>
            </a:pPr>
            <a:r>
              <a:rPr sz="1150" b="1" i="0">
                <a:solidFill>
                  <a:srgbClr val="1B1B1B"/>
                </a:solidFill>
                <a:latin typeface="Calibri"/>
              </a:rPr>
              <a:t>MC4 · 07.11.24 · SLaCl₃</a:t>
            </a:r>
          </a:p>
        </p:txBody>
      </p:sp>
      <p:sp>
        <p:nvSpPr>
          <p:cNvPr id="89" name="TextBox 88"/>
          <p:cNvSpPr txBox="1"/>
          <p:nvPr/>
        </p:nvSpPr>
        <p:spPr>
          <a:xfrm>
            <a:off x="3291840" y="5952744"/>
            <a:ext cx="86868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5.55</a:t>
            </a:r>
          </a:p>
        </p:txBody>
      </p:sp>
      <p:sp>
        <p:nvSpPr>
          <p:cNvPr id="90" name="TextBox 89"/>
          <p:cNvSpPr txBox="1"/>
          <p:nvPr/>
        </p:nvSpPr>
        <p:spPr>
          <a:xfrm>
            <a:off x="4160520" y="5952744"/>
            <a:ext cx="105156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0.17</a:t>
            </a:r>
          </a:p>
        </p:txBody>
      </p:sp>
      <p:sp>
        <p:nvSpPr>
          <p:cNvPr id="91" name="TextBox 90"/>
          <p:cNvSpPr txBox="1"/>
          <p:nvPr/>
        </p:nvSpPr>
        <p:spPr>
          <a:xfrm>
            <a:off x="5212080" y="5952744"/>
            <a:ext cx="96012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0.93</a:t>
            </a:r>
          </a:p>
        </p:txBody>
      </p:sp>
      <p:sp>
        <p:nvSpPr>
          <p:cNvPr id="92" name="TextBox 91"/>
          <p:cNvSpPr txBox="1"/>
          <p:nvPr/>
        </p:nvSpPr>
        <p:spPr>
          <a:xfrm>
            <a:off x="6172200" y="5952744"/>
            <a:ext cx="1143000" cy="292608"/>
          </a:xfrm>
          <a:prstGeom prst="rect">
            <a:avLst/>
          </a:prstGeom>
          <a:noFill/>
        </p:spPr>
        <p:txBody>
          <a:bodyPr wrap="square" lIns="36576" tIns="36576" rIns="36576" bIns="36576" anchor="t">
            <a:spAutoFit/>
          </a:bodyPr>
          <a:lstStyle/>
          <a:p>
            <a:pPr algn="ctr">
              <a:spcBef>
                <a:spcPts val="0"/>
              </a:spcBef>
              <a:spcAft>
                <a:spcPts val="200"/>
              </a:spcAft>
            </a:pPr>
            <a:r>
              <a:rPr sz="1150" b="0" i="0">
                <a:solidFill>
                  <a:srgbClr val="1B1B1B"/>
                </a:solidFill>
                <a:latin typeface="Calibri"/>
              </a:rPr>
              <a:t>75,080</a:t>
            </a:r>
          </a:p>
        </p:txBody>
      </p:sp>
      <p:sp>
        <p:nvSpPr>
          <p:cNvPr id="93" name="TextBox 92"/>
          <p:cNvSpPr txBox="1"/>
          <p:nvPr/>
        </p:nvSpPr>
        <p:spPr>
          <a:xfrm>
            <a:off x="7315200" y="5952744"/>
            <a:ext cx="4343400" cy="292608"/>
          </a:xfrm>
          <a:prstGeom prst="rect">
            <a:avLst/>
          </a:prstGeom>
          <a:noFill/>
        </p:spPr>
        <p:txBody>
          <a:bodyPr wrap="square" lIns="36576" tIns="36576" rIns="36576" bIns="36576" anchor="t">
            <a:spAutoFit/>
          </a:bodyPr>
          <a:lstStyle/>
          <a:p>
            <a:pPr algn="l">
              <a:spcBef>
                <a:spcPts val="0"/>
              </a:spcBef>
              <a:spcAft>
                <a:spcPts val="200"/>
              </a:spcAft>
            </a:pPr>
            <a:r>
              <a:rPr sz="1100" b="1" i="0">
                <a:solidFill>
                  <a:srgbClr val="B0413E"/>
                </a:solidFill>
                <a:latin typeface="Calibri"/>
              </a:rPr>
              <a:t>Stage 3 · wrong model — replicate</a:t>
            </a:r>
          </a:p>
        </p:txBody>
      </p:sp>
      <p:sp>
        <p:nvSpPr>
          <p:cNvPr id="96" name="TextBox 95"/>
          <p:cNvSpPr txBox="1"/>
          <p:nvPr/>
        </p:nvSpPr>
        <p:spPr>
          <a:xfrm>
            <a:off x="10424160" y="6510528"/>
            <a:ext cx="1280160" cy="274320"/>
          </a:xfrm>
          <a:prstGeom prst="rect">
            <a:avLst/>
          </a:prstGeom>
          <a:noFill/>
        </p:spPr>
        <p:txBody>
          <a:bodyPr wrap="square" lIns="36576" tIns="36576" rIns="36576" bIns="36576" anchor="t">
            <a:spAutoFit/>
          </a:bodyPr>
          <a:lstStyle/>
          <a:p>
            <a:pPr algn="r">
              <a:spcBef>
                <a:spcPts val="0"/>
              </a:spcBef>
              <a:spcAft>
                <a:spcPts val="200"/>
              </a:spcAft>
            </a:pPr>
            <a:r>
              <a:rPr sz="900" b="0" i="0">
                <a:solidFill>
                  <a:srgbClr val="8A939B"/>
                </a:solidFill>
                <a:latin typeface="Calibri"/>
              </a:rPr>
              <a:t>16 / 42</a:t>
            </a:r>
          </a:p>
        </p:txBody>
      </p:sp>
      <p:sp>
        <p:nvSpPr>
          <p:cNvPr id="97" name="TextBox 96">
            <a:extLst>
              <a:ext uri="{FF2B5EF4-FFF2-40B4-BE49-F238E27FC236}">
                <a16:creationId xmlns:a16="http://schemas.microsoft.com/office/drawing/2014/main" id="{D3BC7775-1EE7-3E98-203D-1690715E5E67}"/>
              </a:ext>
            </a:extLst>
          </p:cNvPr>
          <p:cNvSpPr txBox="1"/>
          <p:nvPr/>
        </p:nvSpPr>
        <p:spPr>
          <a:xfrm>
            <a:off x="1960293" y="6464808"/>
            <a:ext cx="6974378" cy="175433"/>
          </a:xfrm>
          <a:prstGeom prst="rect">
            <a:avLst/>
          </a:prstGeom>
          <a:noFill/>
        </p:spPr>
        <p:txBody>
          <a:bodyPr wrap="square" lIns="45720" tIns="18288" rIns="45720" bIns="18288" anchor="t">
            <a:spAutoFit/>
          </a:bodyPr>
          <a:lstStyle/>
          <a:p>
            <a:r>
              <a:rPr sz="900" b="0" i="0" dirty="0">
                <a:solidFill>
                  <a:srgbClr val="666666"/>
                </a:solidFill>
                <a:latin typeface="Calibri"/>
              </a:rPr>
              <a:t>DATA3 single-salt NF270 diafiltration  ·  collaborator update</a:t>
            </a:r>
          </a:p>
        </p:txBody>
      </p:sp>
      <p:pic>
        <p:nvPicPr>
          <p:cNvPr id="98" name="Picture 97" descr="notre_dame_logo.png">
            <a:extLst>
              <a:ext uri="{FF2B5EF4-FFF2-40B4-BE49-F238E27FC236}">
                <a16:creationId xmlns:a16="http://schemas.microsoft.com/office/drawing/2014/main" id="{7131F835-6A7E-3EED-22CC-9748C62F4138}"/>
              </a:ext>
            </a:extLst>
          </p:cNvPr>
          <p:cNvPicPr>
            <a:picLocks noChangeAspect="1"/>
          </p:cNvPicPr>
          <p:nvPr/>
        </p:nvPicPr>
        <p:blipFill>
          <a:blip r:embed="rId2"/>
          <a:stretch>
            <a:fillRect/>
          </a:stretch>
        </p:blipFill>
        <p:spPr>
          <a:xfrm>
            <a:off x="167873" y="6500930"/>
            <a:ext cx="944413" cy="2203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1274552" cy="777240"/>
          </a:xfrm>
          <a:prstGeom prst="rect">
            <a:avLst/>
          </a:prstGeom>
          <a:noFill/>
        </p:spPr>
        <p:txBody>
          <a:bodyPr wrap="square" lIns="45720" tIns="18288" rIns="45720" bIns="18288" anchor="ctr">
            <a:spAutoFit/>
          </a:bodyPr>
          <a:lstStyle/>
          <a:p>
            <a:r>
              <a:rPr sz="2600" b="1" i="0">
                <a:solidFill>
                  <a:srgbClr val="0C2340"/>
                </a:solidFill>
                <a:latin typeface="Cambria"/>
              </a:rPr>
              <a:t>Topics I need help with</a:t>
            </a:r>
          </a:p>
        </p:txBody>
      </p:sp>
      <mc:AlternateContent xmlns:mc="http://schemas.openxmlformats.org/markup-compatibility/2006" xmlns:a14="http://schemas.microsoft.com/office/drawing/2010/main">
        <mc:Choice Requires="a14">
          <p:sp>
            <p:nvSpPr>
              <p:cNvPr id="4" name="TextBox 3"/>
              <p:cNvSpPr txBox="1"/>
              <p:nvPr/>
            </p:nvSpPr>
            <p:spPr>
              <a:xfrm>
                <a:off x="640080" y="1325880"/>
                <a:ext cx="10972800" cy="4092339"/>
              </a:xfrm>
              <a:prstGeom prst="rect">
                <a:avLst/>
              </a:prstGeom>
              <a:noFill/>
            </p:spPr>
            <p:txBody>
              <a:bodyPr wrap="square" lIns="45720" tIns="18288" rIns="45720" bIns="18288" anchor="t">
                <a:spAutoFit/>
              </a:bodyPr>
              <a:lstStyle/>
              <a:p>
                <a:pPr>
                  <a:spcAft>
                    <a:spcPts val="1000"/>
                  </a:spcAft>
                </a:pPr>
                <a:r>
                  <a:rPr lang="en-US" sz="1700" b="1" dirty="0">
                    <a:solidFill>
                      <a:srgbClr val="0C2340"/>
                    </a:solidFill>
                  </a:rPr>
                  <a:t>Prioritization based on impact:</a:t>
                </a:r>
                <a:endParaRPr lang="en-US" sz="1700" dirty="0">
                  <a:solidFill>
                    <a:srgbClr val="202020"/>
                  </a:solidFill>
                </a:endParaRPr>
              </a:p>
              <a:p>
                <a:pPr marL="800100" lvl="1" indent="-342900">
                  <a:spcAft>
                    <a:spcPts val="1000"/>
                  </a:spcAft>
                  <a:buFont typeface="+mj-lt"/>
                  <a:buAutoNum type="arabicPeriod"/>
                </a:pPr>
                <a:r>
                  <a:rPr lang="en-US" sz="1700" b="1" dirty="0">
                    <a:solidFill>
                      <a:srgbClr val="0C2340"/>
                    </a:solidFill>
                  </a:rPr>
                  <a:t>Accuracy of process model: Extended Nernst-Planck Equation</a:t>
                </a:r>
                <a:br>
                  <a:rPr lang="en-US" sz="1700" dirty="0">
                    <a:solidFill>
                      <a:srgbClr val="202020"/>
                    </a:solidFill>
                  </a:rPr>
                </a:br>
                <a14:m>
                  <m:oMath xmlns:m="http://schemas.openxmlformats.org/officeDocument/2006/math">
                    <m:sSub>
                      <m:sSubPr>
                        <m:ctrlPr>
                          <a:rPr lang="ar-AE" sz="1700" i="1" dirty="0">
                            <a:solidFill>
                              <a:srgbClr val="202020"/>
                            </a:solidFill>
                            <a:latin typeface="Cambria Math" panose="02040503050406030204" pitchFamily="18" charset="0"/>
                          </a:rPr>
                        </m:ctrlPr>
                      </m:sSubPr>
                      <m:e>
                        <m:r>
                          <a:rPr lang="ar-AE" sz="1700" i="1" dirty="0">
                            <a:solidFill>
                              <a:srgbClr val="202020"/>
                            </a:solidFill>
                            <a:latin typeface="Cambria Math" panose="02040503050406030204" pitchFamily="18" charset="0"/>
                          </a:rPr>
                          <m:t>𝐽</m:t>
                        </m:r>
                      </m:e>
                      <m:sub>
                        <m:r>
                          <a:rPr lang="ar-AE" sz="1700" i="1" dirty="0">
                            <a:solidFill>
                              <a:srgbClr val="202020"/>
                            </a:solidFill>
                            <a:latin typeface="Cambria Math" panose="02040503050406030204" pitchFamily="18" charset="0"/>
                          </a:rPr>
                          <m:t>𝑖</m:t>
                        </m:r>
                      </m:sub>
                    </m:sSub>
                    <m:r>
                      <a:rPr lang="ar-AE" sz="1700" i="1" dirty="0">
                        <a:solidFill>
                          <a:srgbClr val="202020"/>
                        </a:solidFill>
                        <a:latin typeface="Cambria Math" panose="02040503050406030204" pitchFamily="18" charset="0"/>
                      </a:rPr>
                      <m:t>=</m:t>
                    </m:r>
                    <m:sSub>
                      <m:sSubPr>
                        <m:ctrlPr>
                          <a:rPr lang="ar-AE" sz="1700" i="1" dirty="0">
                            <a:solidFill>
                              <a:srgbClr val="202020"/>
                            </a:solidFill>
                            <a:latin typeface="Cambria Math" panose="02040503050406030204" pitchFamily="18" charset="0"/>
                          </a:rPr>
                        </m:ctrlPr>
                      </m:sSubPr>
                      <m:e>
                        <m:r>
                          <a:rPr lang="ar-AE" sz="1700" i="1" dirty="0">
                            <a:solidFill>
                              <a:srgbClr val="202020"/>
                            </a:solidFill>
                            <a:latin typeface="Cambria Math" panose="02040503050406030204" pitchFamily="18" charset="0"/>
                          </a:rPr>
                          <m:t>𝑣</m:t>
                        </m:r>
                      </m:e>
                      <m:sub>
                        <m:r>
                          <a:rPr lang="ar-AE" sz="1700" i="1" dirty="0">
                            <a:solidFill>
                              <a:srgbClr val="202020"/>
                            </a:solidFill>
                            <a:latin typeface="Cambria Math" panose="02040503050406030204" pitchFamily="18" charset="0"/>
                          </a:rPr>
                          <m:t>𝑠</m:t>
                        </m:r>
                      </m:sub>
                    </m:sSub>
                    <m:r>
                      <a:rPr lang="ar-AE" sz="1700" i="1" dirty="0">
                        <a:solidFill>
                          <a:srgbClr val="202020"/>
                        </a:solidFill>
                        <a:latin typeface="Cambria Math" panose="02040503050406030204" pitchFamily="18" charset="0"/>
                      </a:rPr>
                      <m:t>⋅</m:t>
                    </m:r>
                    <m:sSub>
                      <m:sSubPr>
                        <m:ctrlPr>
                          <a:rPr lang="ar-AE" sz="1700" i="1" dirty="0">
                            <a:solidFill>
                              <a:srgbClr val="202020"/>
                            </a:solidFill>
                            <a:latin typeface="Cambria Math" panose="02040503050406030204" pitchFamily="18" charset="0"/>
                          </a:rPr>
                        </m:ctrlPr>
                      </m:sSubPr>
                      <m:e>
                        <m:r>
                          <a:rPr lang="ar-AE" sz="1700" i="1" dirty="0">
                            <a:solidFill>
                              <a:srgbClr val="202020"/>
                            </a:solidFill>
                            <a:latin typeface="Cambria Math" panose="02040503050406030204" pitchFamily="18" charset="0"/>
                          </a:rPr>
                          <m:t>𝐶</m:t>
                        </m:r>
                      </m:e>
                      <m:sub>
                        <m:r>
                          <a:rPr lang="ar-AE" sz="1700" i="1" dirty="0">
                            <a:solidFill>
                              <a:srgbClr val="202020"/>
                            </a:solidFill>
                            <a:latin typeface="Cambria Math" panose="02040503050406030204" pitchFamily="18" charset="0"/>
                          </a:rPr>
                          <m:t>𝑖</m:t>
                        </m:r>
                      </m:sub>
                    </m:sSub>
                    <m:r>
                      <a:rPr lang="ar-AE" sz="1700" i="1" dirty="0">
                        <a:solidFill>
                          <a:srgbClr val="202020"/>
                        </a:solidFill>
                        <a:latin typeface="Cambria Math" panose="02040503050406030204" pitchFamily="18" charset="0"/>
                      </a:rPr>
                      <m:t>⋅</m:t>
                    </m:r>
                    <m:sSub>
                      <m:sSubPr>
                        <m:ctrlPr>
                          <a:rPr lang="ar-AE" sz="1700" i="1" dirty="0">
                            <a:solidFill>
                              <a:srgbClr val="202020"/>
                            </a:solidFill>
                            <a:latin typeface="Cambria Math" panose="02040503050406030204" pitchFamily="18" charset="0"/>
                          </a:rPr>
                        </m:ctrlPr>
                      </m:sSubPr>
                      <m:e>
                        <m:r>
                          <a:rPr lang="ar-AE" sz="1700" i="1" dirty="0">
                            <a:solidFill>
                              <a:srgbClr val="202020"/>
                            </a:solidFill>
                            <a:latin typeface="Cambria Math" panose="02040503050406030204" pitchFamily="18" charset="0"/>
                          </a:rPr>
                          <m:t>𝐾</m:t>
                        </m:r>
                      </m:e>
                      <m:sub>
                        <m:d>
                          <m:dPr>
                            <m:ctrlPr>
                              <a:rPr lang="ar-AE" sz="1700" i="1" dirty="0">
                                <a:solidFill>
                                  <a:srgbClr val="202020"/>
                                </a:solidFill>
                                <a:latin typeface="Cambria Math" panose="02040503050406030204" pitchFamily="18" charset="0"/>
                              </a:rPr>
                            </m:ctrlPr>
                          </m:dPr>
                          <m:e>
                            <m:r>
                              <a:rPr lang="ar-AE" sz="1700" i="1" dirty="0">
                                <a:solidFill>
                                  <a:srgbClr val="202020"/>
                                </a:solidFill>
                                <a:latin typeface="Cambria Math" panose="02040503050406030204" pitchFamily="18" charset="0"/>
                              </a:rPr>
                              <m:t>𝑖</m:t>
                            </m:r>
                            <m:r>
                              <a:rPr lang="ar-AE" sz="1700" i="1" dirty="0">
                                <a:solidFill>
                                  <a:srgbClr val="202020"/>
                                </a:solidFill>
                                <a:latin typeface="Cambria Math" panose="02040503050406030204" pitchFamily="18" charset="0"/>
                              </a:rPr>
                              <m:t>,</m:t>
                            </m:r>
                            <m:r>
                              <a:rPr lang="ar-AE" sz="1700" i="1" dirty="0">
                                <a:solidFill>
                                  <a:srgbClr val="202020"/>
                                </a:solidFill>
                                <a:latin typeface="Cambria Math" panose="02040503050406030204" pitchFamily="18" charset="0"/>
                              </a:rPr>
                              <m:t>𝑣</m:t>
                            </m:r>
                          </m:e>
                        </m:d>
                      </m:sub>
                    </m:sSub>
                    <m:r>
                      <a:rPr lang="ar-AE" sz="1700" i="1" dirty="0">
                        <a:solidFill>
                          <a:srgbClr val="202020"/>
                        </a:solidFill>
                        <a:latin typeface="Cambria Math" panose="02040503050406030204" pitchFamily="18" charset="0"/>
                      </a:rPr>
                      <m:t>−</m:t>
                    </m:r>
                    <m:sSub>
                      <m:sSubPr>
                        <m:ctrlPr>
                          <a:rPr lang="ar-AE" sz="1700" i="1" dirty="0">
                            <a:solidFill>
                              <a:srgbClr val="202020"/>
                            </a:solidFill>
                            <a:latin typeface="Cambria Math" panose="02040503050406030204" pitchFamily="18" charset="0"/>
                          </a:rPr>
                        </m:ctrlPr>
                      </m:sSubPr>
                      <m:e>
                        <m:r>
                          <a:rPr lang="ar-AE" sz="1700" i="1" dirty="0">
                            <a:solidFill>
                              <a:srgbClr val="202020"/>
                            </a:solidFill>
                            <a:latin typeface="Cambria Math" panose="02040503050406030204" pitchFamily="18" charset="0"/>
                          </a:rPr>
                          <m:t>𝐷</m:t>
                        </m:r>
                      </m:e>
                      <m:sub>
                        <m:r>
                          <a:rPr lang="ar-AE" sz="1700" i="1" dirty="0">
                            <a:solidFill>
                              <a:srgbClr val="202020"/>
                            </a:solidFill>
                            <a:latin typeface="Cambria Math" panose="02040503050406030204" pitchFamily="18" charset="0"/>
                          </a:rPr>
                          <m:t>𝑖</m:t>
                        </m:r>
                      </m:sub>
                    </m:sSub>
                    <m:r>
                      <a:rPr lang="ar-AE" sz="1700" i="1" dirty="0">
                        <a:solidFill>
                          <a:srgbClr val="202020"/>
                        </a:solidFill>
                        <a:latin typeface="Cambria Math" panose="02040503050406030204" pitchFamily="18" charset="0"/>
                      </a:rPr>
                      <m:t>⋅</m:t>
                    </m:r>
                    <m:r>
                      <a:rPr lang="ar-AE" sz="1700" i="1" dirty="0">
                        <a:solidFill>
                          <a:srgbClr val="202020"/>
                        </a:solidFill>
                        <a:latin typeface="Cambria Math" panose="02040503050406030204" pitchFamily="18" charset="0"/>
                      </a:rPr>
                      <m:t>𝛻</m:t>
                    </m:r>
                    <m:sSub>
                      <m:sSubPr>
                        <m:ctrlPr>
                          <a:rPr lang="ar-AE" sz="1700" i="1" dirty="0">
                            <a:solidFill>
                              <a:srgbClr val="202020"/>
                            </a:solidFill>
                            <a:latin typeface="Cambria Math" panose="02040503050406030204" pitchFamily="18" charset="0"/>
                          </a:rPr>
                        </m:ctrlPr>
                      </m:sSubPr>
                      <m:e>
                        <m:r>
                          <a:rPr lang="ar-AE" sz="1700" i="1" dirty="0">
                            <a:solidFill>
                              <a:srgbClr val="202020"/>
                            </a:solidFill>
                            <a:latin typeface="Cambria Math" panose="02040503050406030204" pitchFamily="18" charset="0"/>
                          </a:rPr>
                          <m:t>𝐶</m:t>
                        </m:r>
                      </m:e>
                      <m:sub>
                        <m:r>
                          <a:rPr lang="ar-AE" sz="1700" i="1" dirty="0">
                            <a:solidFill>
                              <a:srgbClr val="202020"/>
                            </a:solidFill>
                            <a:latin typeface="Cambria Math" panose="02040503050406030204" pitchFamily="18" charset="0"/>
                          </a:rPr>
                          <m:t>𝑖</m:t>
                        </m:r>
                      </m:sub>
                    </m:sSub>
                    <m:r>
                      <a:rPr lang="ar-AE" sz="1700" i="1" dirty="0">
                        <a:solidFill>
                          <a:srgbClr val="FF0000"/>
                        </a:solidFill>
                        <a:latin typeface="Cambria Math" panose="02040503050406030204" pitchFamily="18" charset="0"/>
                      </a:rPr>
                      <m:t>−</m:t>
                    </m:r>
                    <m:sSub>
                      <m:sSubPr>
                        <m:ctrlPr>
                          <a:rPr lang="ar-AE" sz="1700" i="1" dirty="0">
                            <a:solidFill>
                              <a:srgbClr val="FF0000"/>
                            </a:solidFill>
                            <a:latin typeface="Cambria Math" panose="02040503050406030204" pitchFamily="18" charset="0"/>
                          </a:rPr>
                        </m:ctrlPr>
                      </m:sSubPr>
                      <m:e>
                        <m:r>
                          <a:rPr lang="ar-AE" sz="1700" i="1" dirty="0">
                            <a:solidFill>
                              <a:srgbClr val="FF0000"/>
                            </a:solidFill>
                            <a:latin typeface="Cambria Math" panose="02040503050406030204" pitchFamily="18" charset="0"/>
                          </a:rPr>
                          <m:t>𝑧</m:t>
                        </m:r>
                      </m:e>
                      <m:sub>
                        <m:r>
                          <a:rPr lang="ar-AE" sz="1700" i="1" dirty="0">
                            <a:solidFill>
                              <a:srgbClr val="FF0000"/>
                            </a:solidFill>
                            <a:latin typeface="Cambria Math" panose="02040503050406030204" pitchFamily="18" charset="0"/>
                          </a:rPr>
                          <m:t>𝑖</m:t>
                        </m:r>
                      </m:sub>
                    </m:sSub>
                    <m:r>
                      <a:rPr lang="ar-AE" sz="1700" i="1" dirty="0">
                        <a:solidFill>
                          <a:srgbClr val="FF0000"/>
                        </a:solidFill>
                        <a:latin typeface="Cambria Math" panose="02040503050406030204" pitchFamily="18" charset="0"/>
                      </a:rPr>
                      <m:t>⋅</m:t>
                    </m:r>
                    <m:sSub>
                      <m:sSubPr>
                        <m:ctrlPr>
                          <a:rPr lang="ar-AE" sz="1700" i="1" dirty="0">
                            <a:solidFill>
                              <a:srgbClr val="FF0000"/>
                            </a:solidFill>
                            <a:latin typeface="Cambria Math" panose="02040503050406030204" pitchFamily="18" charset="0"/>
                          </a:rPr>
                        </m:ctrlPr>
                      </m:sSubPr>
                      <m:e>
                        <m:r>
                          <a:rPr lang="ar-AE" sz="1700" i="1" dirty="0">
                            <a:solidFill>
                              <a:srgbClr val="FF0000"/>
                            </a:solidFill>
                            <a:latin typeface="Cambria Math" panose="02040503050406030204" pitchFamily="18" charset="0"/>
                          </a:rPr>
                          <m:t>𝐶</m:t>
                        </m:r>
                      </m:e>
                      <m:sub>
                        <m:r>
                          <a:rPr lang="ar-AE" sz="1700" i="1" dirty="0">
                            <a:solidFill>
                              <a:srgbClr val="FF0000"/>
                            </a:solidFill>
                            <a:latin typeface="Cambria Math" panose="02040503050406030204" pitchFamily="18" charset="0"/>
                          </a:rPr>
                          <m:t>𝑖</m:t>
                        </m:r>
                      </m:sub>
                    </m:sSub>
                    <m:r>
                      <a:rPr lang="ar-AE" sz="1700" i="1" dirty="0">
                        <a:solidFill>
                          <a:srgbClr val="FF0000"/>
                        </a:solidFill>
                        <a:latin typeface="Cambria Math" panose="02040503050406030204" pitchFamily="18" charset="0"/>
                      </a:rPr>
                      <m:t>⋅</m:t>
                    </m:r>
                    <m:sSub>
                      <m:sSubPr>
                        <m:ctrlPr>
                          <a:rPr lang="ar-AE" sz="1700" i="1" dirty="0">
                            <a:solidFill>
                              <a:srgbClr val="FF0000"/>
                            </a:solidFill>
                            <a:latin typeface="Cambria Math" panose="02040503050406030204" pitchFamily="18" charset="0"/>
                          </a:rPr>
                        </m:ctrlPr>
                      </m:sSubPr>
                      <m:e>
                        <m:r>
                          <a:rPr lang="ar-AE" sz="1700" i="1" dirty="0">
                            <a:solidFill>
                              <a:srgbClr val="FF0000"/>
                            </a:solidFill>
                            <a:latin typeface="Cambria Math" panose="02040503050406030204" pitchFamily="18" charset="0"/>
                          </a:rPr>
                          <m:t>𝐷</m:t>
                        </m:r>
                      </m:e>
                      <m:sub>
                        <m:r>
                          <a:rPr lang="ar-AE" sz="1700" i="1" dirty="0">
                            <a:solidFill>
                              <a:srgbClr val="FF0000"/>
                            </a:solidFill>
                            <a:latin typeface="Cambria Math" panose="02040503050406030204" pitchFamily="18" charset="0"/>
                          </a:rPr>
                          <m:t>𝑖</m:t>
                        </m:r>
                      </m:sub>
                    </m:sSub>
                    <m:r>
                      <a:rPr lang="ar-AE" sz="1700" i="1" dirty="0">
                        <a:solidFill>
                          <a:srgbClr val="FF0000"/>
                        </a:solidFill>
                        <a:latin typeface="Cambria Math" panose="02040503050406030204" pitchFamily="18" charset="0"/>
                      </a:rPr>
                      <m:t>⋅</m:t>
                    </m:r>
                    <m:r>
                      <a:rPr lang="ar-AE" sz="1700" i="1" dirty="0">
                        <a:solidFill>
                          <a:srgbClr val="FF0000"/>
                        </a:solidFill>
                        <a:latin typeface="Cambria Math" panose="02040503050406030204" pitchFamily="18" charset="0"/>
                      </a:rPr>
                      <m:t>𝐹</m:t>
                    </m:r>
                    <m:r>
                      <m:rPr>
                        <m:lit/>
                      </m:rPr>
                      <a:rPr lang="ar-AE" sz="1700" i="1" dirty="0">
                        <a:solidFill>
                          <a:srgbClr val="FF0000"/>
                        </a:solidFill>
                        <a:latin typeface="Cambria Math" panose="02040503050406030204" pitchFamily="18" charset="0"/>
                      </a:rPr>
                      <m:t>/</m:t>
                    </m:r>
                    <m:r>
                      <a:rPr lang="ar-AE" sz="1700" i="1" dirty="0">
                        <a:solidFill>
                          <a:srgbClr val="FF0000"/>
                        </a:solidFill>
                        <a:latin typeface="Cambria Math" panose="02040503050406030204" pitchFamily="18" charset="0"/>
                      </a:rPr>
                      <m:t>𝑅𝑇</m:t>
                    </m:r>
                    <m:r>
                      <a:rPr lang="ar-AE" sz="1700" i="1" dirty="0">
                        <a:solidFill>
                          <a:srgbClr val="FF0000"/>
                        </a:solidFill>
                        <a:latin typeface="Cambria Math" panose="02040503050406030204" pitchFamily="18" charset="0"/>
                      </a:rPr>
                      <m:t>⋅</m:t>
                    </m:r>
                    <m:r>
                      <a:rPr lang="ar-AE" sz="1700" i="1" dirty="0">
                        <a:solidFill>
                          <a:srgbClr val="FF0000"/>
                        </a:solidFill>
                        <a:latin typeface="Cambria Math" panose="02040503050406030204" pitchFamily="18" charset="0"/>
                      </a:rPr>
                      <m:t>𝛻𝜓</m:t>
                    </m:r>
                  </m:oMath>
                </a14:m>
                <a:endParaRPr lang="ar-AE" sz="1700" dirty="0">
                  <a:solidFill>
                    <a:srgbClr val="FF0000"/>
                  </a:solidFill>
                </a:endParaRPr>
              </a:p>
              <a:p>
                <a:pPr marL="800100" lvl="1" indent="-342900">
                  <a:spcAft>
                    <a:spcPts val="1000"/>
                  </a:spcAft>
                  <a:buFont typeface="+mj-lt"/>
                  <a:buAutoNum type="arabicPeriod"/>
                </a:pPr>
                <a:r>
                  <a:rPr lang="en-US" sz="1700" b="1" dirty="0">
                    <a:solidFill>
                      <a:srgbClr val="0C2340"/>
                    </a:solidFill>
                  </a:rPr>
                  <a:t>Interfacial concentration (supported by plots):</a:t>
                </a:r>
                <a:r>
                  <a:rPr lang="en-US" sz="1700" dirty="0">
                    <a:solidFill>
                      <a:srgbClr val="202020"/>
                    </a:solidFill>
                  </a:rPr>
                  <a:t> What range of membrane-interface concentration do the experiments actually probe? How does this impact our correlation B with the interfacial concentration?</a:t>
                </a:r>
              </a:p>
              <a:p>
                <a:pPr marL="800100" lvl="1" indent="-342900">
                  <a:spcAft>
                    <a:spcPts val="1000"/>
                  </a:spcAft>
                  <a:buFont typeface="+mj-lt"/>
                  <a:buAutoNum type="arabicPeriod"/>
                </a:pPr>
                <a:r>
                  <a:rPr lang="en-US" sz="1700" b="1" dirty="0">
                    <a:solidFill>
                      <a:srgbClr val="0C2340"/>
                    </a:solidFill>
                  </a:rPr>
                  <a:t>Peclet framing (supported by plots):</a:t>
                </a:r>
                <a:r>
                  <a:rPr lang="en-US" sz="1700" dirty="0">
                    <a:solidFill>
                      <a:srgbClr val="202020"/>
                    </a:solidFill>
                  </a:rPr>
                  <a:t> The Peclet number and the rejection law R(</a:t>
                </a:r>
                <a:r>
                  <a:rPr lang="el-GR" sz="1700" dirty="0" err="1">
                    <a:solidFill>
                      <a:srgbClr val="202020"/>
                    </a:solidFill>
                  </a:rPr>
                  <a:t>σ</a:t>
                </a:r>
                <a:r>
                  <a:rPr lang="el-GR" sz="1700" dirty="0">
                    <a:solidFill>
                      <a:srgbClr val="202020"/>
                    </a:solidFill>
                  </a:rPr>
                  <a:t>, </a:t>
                </a:r>
                <a:r>
                  <a:rPr lang="en-US" sz="1700" dirty="0">
                    <a:solidFill>
                      <a:srgbClr val="202020"/>
                    </a:solidFill>
                  </a:rPr>
                  <a:t>Pe) - Is this the right perspective?</a:t>
                </a:r>
                <a:br>
                  <a:rPr lang="en-US" sz="1700" dirty="0">
                    <a:solidFill>
                      <a:srgbClr val="202020"/>
                    </a:solidFill>
                  </a:rPr>
                </a:br>
                <a:endParaRPr lang="en-US" sz="1700" dirty="0">
                  <a:solidFill>
                    <a:srgbClr val="202020"/>
                  </a:solidFill>
                </a:endParaRPr>
              </a:p>
              <a:p>
                <a:pPr marL="800100" lvl="1" indent="-342900">
                  <a:spcAft>
                    <a:spcPts val="1000"/>
                  </a:spcAft>
                  <a:buFont typeface="+mj-lt"/>
                  <a:buAutoNum type="arabicPeriod"/>
                </a:pPr>
                <a:r>
                  <a:rPr lang="en-US" sz="1700" b="1" dirty="0">
                    <a:solidFill>
                      <a:srgbClr val="0C2340"/>
                    </a:solidFill>
                  </a:rPr>
                  <a:t>Transport components yet to be modeled:</a:t>
                </a:r>
                <a:r>
                  <a:rPr lang="en-US" sz="1700" dirty="0">
                    <a:solidFill>
                      <a:srgbClr val="202020"/>
                    </a:solidFill>
                  </a:rPr>
                  <a:t> cross-coefficients </a:t>
                </a:r>
                <a:r>
                  <a:rPr lang="en-US" sz="1700" dirty="0" err="1">
                    <a:solidFill>
                      <a:srgbClr val="202020"/>
                    </a:solidFill>
                  </a:rPr>
                  <a:t>D</a:t>
                </a:r>
                <a:r>
                  <a:rPr lang="en-US" sz="1700" baseline="-25000" dirty="0" err="1">
                    <a:solidFill>
                      <a:srgbClr val="202020"/>
                    </a:solidFill>
                  </a:rPr>
                  <a:t>ij</a:t>
                </a:r>
                <a:r>
                  <a:rPr lang="en-US" sz="1700" dirty="0">
                    <a:solidFill>
                      <a:srgbClr val="202020"/>
                    </a:solidFill>
                  </a:rPr>
                  <a:t>, B(c), and activity coefficients — which to include?</a:t>
                </a:r>
              </a:p>
              <a:p>
                <a:pPr marL="228600" indent="-228600">
                  <a:spcAft>
                    <a:spcPts val="1000"/>
                  </a:spcAft>
                  <a:buFont typeface="Arial"/>
                  <a:buChar char="•"/>
                </a:pPr>
                <a:r>
                  <a:rPr sz="1700" b="1" i="0" dirty="0" err="1">
                    <a:solidFill>
                      <a:srgbClr val="0C2340"/>
                    </a:solidFill>
                    <a:latin typeface="Calibri"/>
                  </a:rPr>
                  <a:t>Péclet</a:t>
                </a:r>
                <a:r>
                  <a:rPr sz="1700" b="1" i="0" dirty="0">
                    <a:solidFill>
                      <a:srgbClr val="0C2340"/>
                    </a:solidFill>
                    <a:latin typeface="Calibri"/>
                  </a:rPr>
                  <a:t> framing:</a:t>
                </a:r>
                <a:r>
                  <a:rPr sz="1700" b="0" i="0" dirty="0">
                    <a:solidFill>
                      <a:srgbClr val="202020"/>
                    </a:solidFill>
                    <a:latin typeface="Calibri"/>
                  </a:rPr>
                  <a:t> the </a:t>
                </a:r>
                <a:r>
                  <a:rPr sz="1700" b="0" i="0" dirty="0" err="1">
                    <a:solidFill>
                      <a:srgbClr val="202020"/>
                    </a:solidFill>
                    <a:latin typeface="Calibri"/>
                  </a:rPr>
                  <a:t>Péclet</a:t>
                </a:r>
                <a:r>
                  <a:rPr sz="1700" b="0" i="0" dirty="0">
                    <a:solidFill>
                      <a:srgbClr val="202020"/>
                    </a:solidFill>
                    <a:latin typeface="Calibri"/>
                  </a:rPr>
                  <a:t> number and the rejection law R(</a:t>
                </a:r>
                <a:r>
                  <a:rPr sz="1700" b="0" i="0" dirty="0" err="1">
                    <a:solidFill>
                      <a:srgbClr val="202020"/>
                    </a:solidFill>
                    <a:latin typeface="Calibri"/>
                  </a:rPr>
                  <a:t>σ</a:t>
                </a:r>
                <a:r>
                  <a:rPr sz="1700" b="0" i="0" dirty="0">
                    <a:solidFill>
                      <a:srgbClr val="202020"/>
                    </a:solidFill>
                    <a:latin typeface="Calibri"/>
                  </a:rPr>
                  <a:t>, Pe) — is this the right lens?</a:t>
                </a:r>
              </a:p>
              <a:p>
                <a:pPr marL="228600" indent="-228600">
                  <a:spcAft>
                    <a:spcPts val="1000"/>
                  </a:spcAft>
                  <a:buFont typeface="Arial"/>
                  <a:buChar char="•"/>
                </a:pPr>
                <a:r>
                  <a:rPr sz="1700" b="1" i="0" dirty="0">
                    <a:solidFill>
                      <a:srgbClr val="0C2340"/>
                    </a:solidFill>
                    <a:latin typeface="Calibri"/>
                  </a:rPr>
                  <a:t>Transport components:</a:t>
                </a:r>
                <a:r>
                  <a:rPr sz="1700" b="0" i="0" dirty="0">
                    <a:solidFill>
                      <a:srgbClr val="202020"/>
                    </a:solidFill>
                    <a:latin typeface="Calibri"/>
                  </a:rPr>
                  <a:t> dielectric exclusion, cross-coefficients </a:t>
                </a:r>
                <a:r>
                  <a:rPr sz="1700" b="0" i="0" dirty="0" err="1">
                    <a:solidFill>
                      <a:srgbClr val="202020"/>
                    </a:solidFill>
                    <a:latin typeface="Calibri"/>
                  </a:rPr>
                  <a:t>D</a:t>
                </a:r>
                <a:r>
                  <a:rPr sz="1700" b="0" i="0" baseline="-25000" dirty="0" err="1">
                    <a:solidFill>
                      <a:srgbClr val="202020"/>
                    </a:solidFill>
                    <a:latin typeface="Calibri"/>
                  </a:rPr>
                  <a:t>ij</a:t>
                </a:r>
                <a:r>
                  <a:rPr sz="1700" b="0" i="0" dirty="0">
                    <a:solidFill>
                      <a:srgbClr val="202020"/>
                    </a:solidFill>
                    <a:latin typeface="Calibri"/>
                  </a:rPr>
                  <a:t>, B(c), and activity coefficients — which to include?</a:t>
                </a:r>
              </a:p>
              <a:p>
                <a:pPr marL="228600" indent="-228600">
                  <a:spcAft>
                    <a:spcPts val="1000"/>
                  </a:spcAft>
                  <a:buFont typeface="Arial"/>
                  <a:buChar char="•"/>
                </a:pPr>
                <a:r>
                  <a:rPr sz="1700" b="1" i="0" dirty="0">
                    <a:solidFill>
                      <a:srgbClr val="0C2340"/>
                    </a:solidFill>
                    <a:latin typeface="Calibri"/>
                  </a:rPr>
                  <a:t>Identifiability:</a:t>
                </a:r>
                <a:r>
                  <a:rPr sz="1700" b="0" i="0" dirty="0">
                    <a:solidFill>
                      <a:srgbClr val="202020"/>
                    </a:solidFill>
                    <a:latin typeface="Calibri"/>
                  </a:rPr>
                  <a:t> given </a:t>
                </a:r>
                <a:r>
                  <a:rPr sz="1700" b="0" i="0" dirty="0" err="1">
                    <a:solidFill>
                      <a:srgbClr val="202020"/>
                    </a:solidFill>
                    <a:latin typeface="Calibri"/>
                  </a:rPr>
                  <a:t>σ</a:t>
                </a:r>
                <a:r>
                  <a:rPr sz="1700" b="0" i="0" dirty="0">
                    <a:solidFill>
                      <a:srgbClr val="202020"/>
                    </a:solidFill>
                    <a:latin typeface="Calibri"/>
                  </a:rPr>
                  <a:t> is unidentified single-experiment, how far can B(c) claims go?</a:t>
                </a:r>
              </a:p>
            </p:txBody>
          </p:sp>
        </mc:Choice>
        <mc:Fallback xmlns="">
          <p:sp>
            <p:nvSpPr>
              <p:cNvPr id="4" name="TextBox 3"/>
              <p:cNvSpPr txBox="1">
                <a:spLocks noRot="1" noChangeAspect="1" noMove="1" noResize="1" noEditPoints="1" noAdjustHandles="1" noChangeArrowheads="1" noChangeShapeType="1" noTextEdit="1"/>
              </p:cNvSpPr>
              <p:nvPr/>
            </p:nvSpPr>
            <p:spPr>
              <a:xfrm>
                <a:off x="640080" y="1325880"/>
                <a:ext cx="10972800" cy="4092339"/>
              </a:xfrm>
              <a:prstGeom prst="rect">
                <a:avLst/>
              </a:prstGeom>
              <a:blipFill>
                <a:blip r:embed="rId2"/>
                <a:stretch>
                  <a:fillRect l="-809" t="-1238" r="-347" b="-1858"/>
                </a:stretch>
              </a:blipFill>
            </p:spPr>
            <p:txBody>
              <a:bodyPr/>
              <a:lstStyle/>
              <a:p>
                <a:r>
                  <a:rPr lang="en-US">
                    <a:noFill/>
                  </a:rPr>
                  <a:t> </a:t>
                </a:r>
              </a:p>
            </p:txBody>
          </p:sp>
        </mc:Fallback>
      </mc:AlternateContent>
      <p:sp>
        <p:nvSpPr>
          <p:cNvPr id="6" name="TextBox 5"/>
          <p:cNvSpPr txBox="1"/>
          <p:nvPr/>
        </p:nvSpPr>
        <p:spPr>
          <a:xfrm>
            <a:off x="9144000" y="6464808"/>
            <a:ext cx="2679192" cy="292608"/>
          </a:xfrm>
          <a:prstGeom prst="rect">
            <a:avLst/>
          </a:prstGeom>
          <a:noFill/>
        </p:spPr>
        <p:txBody>
          <a:bodyPr wrap="square" lIns="45720" tIns="18288" rIns="45720" bIns="18288" anchor="t">
            <a:spAutoFit/>
          </a:bodyPr>
          <a:lstStyle/>
          <a:p>
            <a:pPr algn="r"/>
            <a:r>
              <a:rPr sz="900" b="0" i="0">
                <a:solidFill>
                  <a:srgbClr val="666666"/>
                </a:solidFill>
                <a:latin typeface="Calibri"/>
              </a:rPr>
              <a:t>2026-06-24  ·  3</a:t>
            </a:r>
          </a:p>
        </p:txBody>
      </p:sp>
      <p:sp>
        <p:nvSpPr>
          <p:cNvPr id="7" name="TextBox 6">
            <a:extLst>
              <a:ext uri="{FF2B5EF4-FFF2-40B4-BE49-F238E27FC236}">
                <a16:creationId xmlns:a16="http://schemas.microsoft.com/office/drawing/2014/main" id="{26447120-9889-EB98-C690-5FDF6177B793}"/>
              </a:ext>
            </a:extLst>
          </p:cNvPr>
          <p:cNvSpPr txBox="1"/>
          <p:nvPr/>
        </p:nvSpPr>
        <p:spPr>
          <a:xfrm>
            <a:off x="1960293" y="6464808"/>
            <a:ext cx="6974378" cy="175433"/>
          </a:xfrm>
          <a:prstGeom prst="rect">
            <a:avLst/>
          </a:prstGeom>
          <a:noFill/>
        </p:spPr>
        <p:txBody>
          <a:bodyPr wrap="square" lIns="45720" tIns="18288" rIns="45720" bIns="18288" anchor="t">
            <a:spAutoFit/>
          </a:bodyPr>
          <a:lstStyle/>
          <a:p>
            <a:r>
              <a:rPr sz="900" b="0" i="0" dirty="0">
                <a:solidFill>
                  <a:srgbClr val="666666"/>
                </a:solidFill>
                <a:latin typeface="Calibri"/>
              </a:rPr>
              <a:t>DATA3 single-salt NF270 diafiltration  ·  collaborator update</a:t>
            </a:r>
          </a:p>
        </p:txBody>
      </p:sp>
      <p:pic>
        <p:nvPicPr>
          <p:cNvPr id="8" name="Picture 7" descr="notre_dame_logo.png">
            <a:extLst>
              <a:ext uri="{FF2B5EF4-FFF2-40B4-BE49-F238E27FC236}">
                <a16:creationId xmlns:a16="http://schemas.microsoft.com/office/drawing/2014/main" id="{60E2980A-360D-6994-1DF0-8C766B82A125}"/>
              </a:ext>
            </a:extLst>
          </p:cNvPr>
          <p:cNvPicPr>
            <a:picLocks noChangeAspect="1"/>
          </p:cNvPicPr>
          <p:nvPr/>
        </p:nvPicPr>
        <p:blipFill>
          <a:blip r:embed="rId3"/>
          <a:stretch>
            <a:fillRect/>
          </a:stretch>
        </p:blipFill>
        <p:spPr>
          <a:xfrm>
            <a:off x="167873" y="6500930"/>
            <a:ext cx="944413" cy="2203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1274552" cy="777240"/>
          </a:xfrm>
          <a:prstGeom prst="rect">
            <a:avLst/>
          </a:prstGeom>
          <a:noFill/>
        </p:spPr>
        <p:txBody>
          <a:bodyPr wrap="square" lIns="45720" tIns="18288" rIns="45720" bIns="18288" anchor="ctr">
            <a:spAutoFit/>
          </a:bodyPr>
          <a:lstStyle/>
          <a:p>
            <a:r>
              <a:rPr sz="2600" b="1" i="0">
                <a:solidFill>
                  <a:srgbClr val="0C2340"/>
                </a:solidFill>
                <a:latin typeface="Cambria"/>
              </a:rPr>
              <a:t>Single experiments determine B, not σ</a:t>
            </a:r>
          </a:p>
        </p:txBody>
      </p:sp>
      <p:pic>
        <p:nvPicPr>
          <p:cNvPr id="4" name="Picture 3" descr="all_slide10_img0.png"/>
          <p:cNvPicPr>
            <a:picLocks noChangeAspect="1"/>
          </p:cNvPicPr>
          <p:nvPr/>
        </p:nvPicPr>
        <p:blipFill>
          <a:blip r:embed="rId2"/>
          <a:stretch>
            <a:fillRect/>
          </a:stretch>
        </p:blipFill>
        <p:spPr>
          <a:xfrm>
            <a:off x="292608" y="1148888"/>
            <a:ext cx="11612880" cy="3782983"/>
          </a:xfrm>
          <a:prstGeom prst="rect">
            <a:avLst/>
          </a:prstGeom>
        </p:spPr>
      </p:pic>
      <p:sp>
        <p:nvSpPr>
          <p:cNvPr id="5" name="TextBox 4"/>
          <p:cNvSpPr txBox="1"/>
          <p:nvPr/>
        </p:nvSpPr>
        <p:spPr>
          <a:xfrm>
            <a:off x="548640" y="5096463"/>
            <a:ext cx="11091672" cy="1304337"/>
          </a:xfrm>
          <a:prstGeom prst="rect">
            <a:avLst/>
          </a:prstGeom>
          <a:noFill/>
        </p:spPr>
        <p:txBody>
          <a:bodyPr wrap="square" lIns="45720" tIns="18288" rIns="45720" bIns="18288" anchor="t">
            <a:spAutoFit/>
          </a:bodyPr>
          <a:lstStyle/>
          <a:p>
            <a:pPr marL="228600" indent="-228600">
              <a:spcAft>
                <a:spcPts val="500"/>
              </a:spcAft>
              <a:buFont typeface="Arial"/>
              <a:buChar char="•"/>
            </a:pPr>
            <a:r>
              <a:rPr sz="1400" b="1" i="0">
                <a:solidFill>
                  <a:srgbClr val="0C2340"/>
                </a:solidFill>
                <a:latin typeface="Calibri"/>
              </a:rPr>
              <a:t>Each response’s log-WSSE has a narrow valley in B but is nearly flat in σ</a:t>
            </a:r>
            <a:r>
              <a:rPr sz="1400" b="0" i="0">
                <a:solidFill>
                  <a:srgbClr val="202020"/>
                </a:solidFill>
                <a:latin typeface="Calibri"/>
              </a:rPr>
              <a:t> (representative concentrating CaCl</a:t>
            </a:r>
            <a:r>
              <a:rPr sz="1400" b="0" i="0" baseline="-25000">
                <a:solidFill>
                  <a:srgbClr val="202020"/>
                </a:solidFill>
                <a:latin typeface="Calibri"/>
              </a:rPr>
              <a:t>2</a:t>
            </a:r>
            <a:r>
              <a:rPr sz="1400" b="0" i="0">
                <a:solidFill>
                  <a:srgbClr val="202020"/>
                </a:solidFill>
                <a:latin typeface="Calibri"/>
              </a:rPr>
              <a:t>; L</a:t>
            </a:r>
            <a:r>
              <a:rPr sz="1400" b="0" i="0" baseline="-25000">
                <a:solidFill>
                  <a:srgbClr val="202020"/>
                </a:solidFill>
                <a:latin typeface="Calibri"/>
              </a:rPr>
              <a:t>p</a:t>
            </a:r>
            <a:r>
              <a:rPr sz="1400" b="0" i="0">
                <a:solidFill>
                  <a:srgbClr val="202020"/>
                </a:solidFill>
                <a:latin typeface="Calibri"/>
              </a:rPr>
              <a:t> fixed at its identified optimum).</a:t>
            </a:r>
          </a:p>
          <a:p>
            <a:pPr marL="228600" indent="-228600">
              <a:spcAft>
                <a:spcPts val="500"/>
              </a:spcAft>
              <a:buFont typeface="Arial"/>
              <a:buChar char="•"/>
            </a:pPr>
            <a:r>
              <a:rPr sz="1400" b="1" i="0">
                <a:solidFill>
                  <a:srgbClr val="0C2340"/>
                </a:solidFill>
                <a:latin typeface="Calibri"/>
              </a:rPr>
              <a:t>σ rails to its bound while B stays well-determined</a:t>
            </a:r>
            <a:r>
              <a:rPr sz="1400" b="0" i="0">
                <a:solidFill>
                  <a:srgbClr val="202020"/>
                </a:solidFill>
                <a:latin typeface="Calibri"/>
              </a:rPr>
              <a:t> — the two are correlated, so one experiment cannot recover σ.</a:t>
            </a:r>
          </a:p>
          <a:p>
            <a:pPr marL="228600" indent="-228600">
              <a:spcAft>
                <a:spcPts val="500"/>
              </a:spcAft>
              <a:buFont typeface="Arial"/>
              <a:buChar char="•"/>
            </a:pPr>
            <a:r>
              <a:rPr sz="1400" b="1" i="0">
                <a:solidFill>
                  <a:srgbClr val="0C2340"/>
                </a:solidFill>
                <a:latin typeface="Calibri"/>
              </a:rPr>
              <a:t>Consequence:</a:t>
            </a:r>
            <a:r>
              <a:rPr sz="1400" b="0" i="0">
                <a:solidFill>
                  <a:srgbClr val="202020"/>
                </a:solidFill>
                <a:latin typeface="Calibri"/>
              </a:rPr>
              <a:t> “is B concentration-dependent?” must be posed carefully — we lean on mechanism, not fit alone.</a:t>
            </a:r>
          </a:p>
        </p:txBody>
      </p:sp>
      <p:sp>
        <p:nvSpPr>
          <p:cNvPr id="7" name="TextBox 6"/>
          <p:cNvSpPr txBox="1"/>
          <p:nvPr/>
        </p:nvSpPr>
        <p:spPr>
          <a:xfrm>
            <a:off x="9144000" y="6464808"/>
            <a:ext cx="2679192" cy="292608"/>
          </a:xfrm>
          <a:prstGeom prst="rect">
            <a:avLst/>
          </a:prstGeom>
          <a:noFill/>
        </p:spPr>
        <p:txBody>
          <a:bodyPr wrap="square" lIns="45720" tIns="18288" rIns="45720" bIns="18288" anchor="t">
            <a:spAutoFit/>
          </a:bodyPr>
          <a:lstStyle/>
          <a:p>
            <a:pPr algn="r"/>
            <a:r>
              <a:rPr sz="900" b="0" i="0">
                <a:solidFill>
                  <a:srgbClr val="666666"/>
                </a:solidFill>
                <a:latin typeface="Calibri"/>
              </a:rPr>
              <a:t>2026-06-24  ·  4</a:t>
            </a:r>
          </a:p>
        </p:txBody>
      </p:sp>
      <p:sp>
        <p:nvSpPr>
          <p:cNvPr id="8" name="TextBox 7">
            <a:extLst>
              <a:ext uri="{FF2B5EF4-FFF2-40B4-BE49-F238E27FC236}">
                <a16:creationId xmlns:a16="http://schemas.microsoft.com/office/drawing/2014/main" id="{F4D79E37-8F1A-EC0A-CECF-4CAE6161DB91}"/>
              </a:ext>
            </a:extLst>
          </p:cNvPr>
          <p:cNvSpPr txBox="1"/>
          <p:nvPr/>
        </p:nvSpPr>
        <p:spPr>
          <a:xfrm>
            <a:off x="1960293" y="6464808"/>
            <a:ext cx="6974378" cy="175433"/>
          </a:xfrm>
          <a:prstGeom prst="rect">
            <a:avLst/>
          </a:prstGeom>
          <a:noFill/>
        </p:spPr>
        <p:txBody>
          <a:bodyPr wrap="square" lIns="45720" tIns="18288" rIns="45720" bIns="18288" anchor="t">
            <a:spAutoFit/>
          </a:bodyPr>
          <a:lstStyle/>
          <a:p>
            <a:r>
              <a:rPr sz="900" b="0" i="0" dirty="0">
                <a:solidFill>
                  <a:srgbClr val="666666"/>
                </a:solidFill>
                <a:latin typeface="Calibri"/>
              </a:rPr>
              <a:t>DATA3 single-salt NF270 diafiltration  ·  collaborator update</a:t>
            </a:r>
          </a:p>
        </p:txBody>
      </p:sp>
      <p:pic>
        <p:nvPicPr>
          <p:cNvPr id="9" name="Picture 8" descr="notre_dame_logo.png">
            <a:extLst>
              <a:ext uri="{FF2B5EF4-FFF2-40B4-BE49-F238E27FC236}">
                <a16:creationId xmlns:a16="http://schemas.microsoft.com/office/drawing/2014/main" id="{D9450033-B81A-625E-69AA-CE6931FE15FB}"/>
              </a:ext>
            </a:extLst>
          </p:cNvPr>
          <p:cNvPicPr>
            <a:picLocks noChangeAspect="1"/>
          </p:cNvPicPr>
          <p:nvPr/>
        </p:nvPicPr>
        <p:blipFill>
          <a:blip r:embed="rId3"/>
          <a:stretch>
            <a:fillRect/>
          </a:stretch>
        </p:blipFill>
        <p:spPr>
          <a:xfrm>
            <a:off x="167873" y="6500930"/>
            <a:ext cx="944413" cy="2203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1274552" cy="777240"/>
          </a:xfrm>
          <a:prstGeom prst="rect">
            <a:avLst/>
          </a:prstGeom>
          <a:noFill/>
        </p:spPr>
        <p:txBody>
          <a:bodyPr wrap="square" lIns="45720" tIns="18288" rIns="45720" bIns="18288" anchor="ctr">
            <a:spAutoFit/>
          </a:bodyPr>
          <a:lstStyle/>
          <a:p>
            <a:r>
              <a:rPr sz="2600" b="1" i="0">
                <a:solidFill>
                  <a:srgbClr val="0C2340"/>
                </a:solidFill>
                <a:latin typeface="Cambria"/>
              </a:rPr>
              <a:t>The same membrane spans diffusion- and convection-limited regimes</a:t>
            </a:r>
          </a:p>
        </p:txBody>
      </p:sp>
      <p:pic>
        <p:nvPicPr>
          <p:cNvPr id="4" name="Picture 3" descr="slide13_img0.png"/>
          <p:cNvPicPr>
            <a:picLocks noChangeAspect="1"/>
          </p:cNvPicPr>
          <p:nvPr/>
        </p:nvPicPr>
        <p:blipFill>
          <a:blip r:embed="rId2"/>
          <a:stretch>
            <a:fillRect/>
          </a:stretch>
        </p:blipFill>
        <p:spPr>
          <a:xfrm>
            <a:off x="2479548" y="960120"/>
            <a:ext cx="7239000" cy="2606040"/>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548640" y="3520595"/>
                <a:ext cx="11091672" cy="502920"/>
              </a:xfrm>
              <a:prstGeom prst="rect">
                <a:avLst/>
              </a:prstGeom>
              <a:noFill/>
            </p:spPr>
            <p:txBody>
              <a:bodyPr wrap="square" lIns="45720" tIns="18288" rIns="45720" bIns="18288" anchor="t">
                <a:spAutoFit/>
              </a:bodyPr>
              <a:lstStyle/>
              <a:p>
                <a:pPr algn="ctr">
                  <a:defRPr sz="1800">
                    <a:solidFill>
                      <a:srgbClr val="0C2340"/>
                    </a:solidFill>
                  </a:defRPr>
                </a:pPr>
                <a14:m>
                  <m:oMathPara xmlns:m="http://schemas.openxmlformats.org/officeDocument/2006/math">
                    <m:oMathParaPr>
                      <m:jc m:val="centerGroup"/>
                    </m:oMathParaPr>
                    <m:oMath xmlns:m="http://schemas.openxmlformats.org/officeDocument/2006/math">
                      <m:r>
                        <m:rPr>
                          <m:sty m:val="p"/>
                        </m:rPr>
                        <a:rPr>
                          <a:latin typeface="Cambria Math" panose="02040503050406030204" pitchFamily="18" charset="0"/>
                        </a:rPr>
                        <m:t>Pe</m:t>
                      </m:r>
                      <m:r>
                        <a:rPr>
                          <a:latin typeface="Cambria Math" panose="02040503050406030204" pitchFamily="18" charset="0"/>
                        </a:rPr>
                        <m:t>=</m:t>
                      </m:r>
                      <m:f>
                        <m:fPr>
                          <m:ctrlPr>
                            <a:rPr i="1">
                              <a:latin typeface="Cambria Math" panose="02040503050406030204" pitchFamily="18" charset="0"/>
                            </a:rPr>
                          </m:ctrlPr>
                        </m:fPr>
                        <m:num>
                          <m:r>
                            <m:rPr>
                              <m:nor/>
                            </m:rPr>
                            <a:rPr/>
                            <m:t>convection</m:t>
                          </m:r>
                        </m:num>
                        <m:den>
                          <m:r>
                            <m:rPr>
                              <m:nor/>
                            </m:rPr>
                            <a:rPr/>
                            <m:t>diffusion</m:t>
                          </m:r>
                        </m:den>
                      </m:f>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𝐽</m:t>
                              </m:r>
                            </m:e>
                            <m:sub>
                              <m:r>
                                <a:rPr>
                                  <a:latin typeface="Cambria Math" panose="02040503050406030204" pitchFamily="18" charset="0"/>
                                </a:rPr>
                                <m:t>𝑤</m:t>
                              </m:r>
                            </m:sub>
                          </m:sSub>
                          <m:r>
                            <a:rPr>
                              <a:latin typeface="Cambria Math" panose="02040503050406030204" pitchFamily="18" charset="0"/>
                            </a:rPr>
                            <m:t> </m:t>
                          </m:r>
                          <m:r>
                            <a:rPr>
                              <a:latin typeface="Cambria Math" panose="02040503050406030204" pitchFamily="18" charset="0"/>
                            </a:rPr>
                            <m:t>𝐿</m:t>
                          </m:r>
                        </m:num>
                        <m:den>
                          <m:sSub>
                            <m:sSubPr>
                              <m:ctrlPr>
                                <a:rPr i="1">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𝑚</m:t>
                              </m:r>
                            </m:sub>
                          </m:sSub>
                        </m:den>
                      </m:f>
                    </m:oMath>
                  </m:oMathPara>
                </a14:m>
                <a:endParaRPr dirty="0"/>
              </a:p>
            </p:txBody>
          </p:sp>
        </mc:Choice>
        <mc:Fallback xmlns="">
          <p:sp>
            <p:nvSpPr>
              <p:cNvPr id="5" name="TextBox 4"/>
              <p:cNvSpPr txBox="1">
                <a:spLocks noRot="1" noChangeAspect="1" noMove="1" noResize="1" noEditPoints="1" noAdjustHandles="1" noChangeArrowheads="1" noChangeShapeType="1" noTextEdit="1"/>
              </p:cNvSpPr>
              <p:nvPr/>
            </p:nvSpPr>
            <p:spPr>
              <a:xfrm>
                <a:off x="548640" y="3520595"/>
                <a:ext cx="11091672" cy="502920"/>
              </a:xfrm>
              <a:prstGeom prst="rect">
                <a:avLst/>
              </a:prstGeom>
              <a:blipFill>
                <a:blip r:embed="rId3"/>
                <a:stretch>
                  <a:fillRect t="-7500"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48640" y="4087445"/>
                <a:ext cx="11091672" cy="502920"/>
              </a:xfrm>
              <a:prstGeom prst="rect">
                <a:avLst/>
              </a:prstGeom>
              <a:noFill/>
            </p:spPr>
            <p:txBody>
              <a:bodyPr wrap="square" lIns="45720" tIns="18288" rIns="45720" bIns="18288" anchor="t">
                <a:spAutoFit/>
              </a:bodyPr>
              <a:lstStyle/>
              <a:p>
                <a:pPr algn="ctr">
                  <a:defRPr sz="1800">
                    <a:solidFill>
                      <a:srgbClr val="0C2340"/>
                    </a:solidFill>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𝑅</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𝜎</m:t>
                          </m:r>
                          <m:d>
                            <m:dPr>
                              <m:ctrlPr>
                                <a:rPr i="1">
                                  <a:latin typeface="Cambria Math" panose="02040503050406030204" pitchFamily="18" charset="0"/>
                                </a:rPr>
                              </m:ctrlPr>
                            </m:dPr>
                            <m:e>
                              <m:r>
                                <a:rPr>
                                  <a:latin typeface="Cambria Math" panose="02040503050406030204" pitchFamily="18" charset="0"/>
                                </a:rPr>
                                <m:t>1−</m:t>
                              </m:r>
                              <m:sSup>
                                <m:sSupPr>
                                  <m:ctrlPr>
                                    <a:rPr i="1">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m:rPr>
                                      <m:sty m:val="p"/>
                                    </m:rPr>
                                    <a:rPr>
                                      <a:latin typeface="Cambria Math" panose="02040503050406030204" pitchFamily="18" charset="0"/>
                                    </a:rPr>
                                    <m:t>Pe</m:t>
                                  </m:r>
                                </m:sup>
                              </m:sSup>
                            </m:e>
                          </m:d>
                        </m:num>
                        <m:den>
                          <m:r>
                            <a:rPr>
                              <a:latin typeface="Cambria Math" panose="02040503050406030204" pitchFamily="18" charset="0"/>
                            </a:rPr>
                            <m:t>1−</m:t>
                          </m:r>
                          <m:r>
                            <a:rPr>
                              <a:latin typeface="Cambria Math" panose="02040503050406030204" pitchFamily="18" charset="0"/>
                            </a:rPr>
                            <m:t>𝜎</m:t>
                          </m:r>
                          <m:r>
                            <a:rPr>
                              <a:latin typeface="Cambria Math" panose="02040503050406030204" pitchFamily="18" charset="0"/>
                            </a:rPr>
                            <m:t> </m:t>
                          </m:r>
                          <m:sSup>
                            <m:sSupPr>
                              <m:ctrlPr>
                                <a:rPr i="1">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m:rPr>
                                  <m:sty m:val="p"/>
                                </m:rPr>
                                <a:rPr>
                                  <a:latin typeface="Cambria Math" panose="02040503050406030204" pitchFamily="18" charset="0"/>
                                </a:rPr>
                                <m:t>Pe</m:t>
                              </m:r>
                            </m:sup>
                          </m:sSup>
                        </m:den>
                      </m:f>
                    </m:oMath>
                  </m:oMathPara>
                </a14:m>
                <a:endParaRPr dirty="0"/>
              </a:p>
            </p:txBody>
          </p:sp>
        </mc:Choice>
        <mc:Fallback xmlns="">
          <p:sp>
            <p:nvSpPr>
              <p:cNvPr id="6" name="TextBox 5"/>
              <p:cNvSpPr txBox="1">
                <a:spLocks noRot="1" noChangeAspect="1" noMove="1" noResize="1" noEditPoints="1" noAdjustHandles="1" noChangeArrowheads="1" noChangeShapeType="1" noTextEdit="1"/>
              </p:cNvSpPr>
              <p:nvPr/>
            </p:nvSpPr>
            <p:spPr>
              <a:xfrm>
                <a:off x="548640" y="4087445"/>
                <a:ext cx="11091672" cy="502920"/>
              </a:xfrm>
              <a:prstGeom prst="rect">
                <a:avLst/>
              </a:prstGeom>
              <a:blipFill>
                <a:blip r:embed="rId4"/>
                <a:stretch>
                  <a:fillRect b="-47500"/>
                </a:stretch>
              </a:blipFill>
            </p:spPr>
            <p:txBody>
              <a:bodyPr/>
              <a:lstStyle/>
              <a:p>
                <a:r>
                  <a:rPr lang="en-US">
                    <a:noFill/>
                  </a:rPr>
                  <a:t> </a:t>
                </a:r>
              </a:p>
            </p:txBody>
          </p:sp>
        </mc:Fallback>
      </mc:AlternateContent>
      <p:sp>
        <p:nvSpPr>
          <p:cNvPr id="7" name="TextBox 6"/>
          <p:cNvSpPr txBox="1"/>
          <p:nvPr/>
        </p:nvSpPr>
        <p:spPr>
          <a:xfrm>
            <a:off x="640080" y="4727292"/>
            <a:ext cx="10908792" cy="360099"/>
          </a:xfrm>
          <a:prstGeom prst="rect">
            <a:avLst/>
          </a:prstGeom>
          <a:noFill/>
        </p:spPr>
        <p:txBody>
          <a:bodyPr wrap="square" lIns="45720" tIns="18288" rIns="45720" bIns="18288" anchor="t">
            <a:spAutoFit/>
          </a:bodyPr>
          <a:lstStyle/>
          <a:p>
            <a:r>
              <a:rPr sz="1050" b="1" i="0" dirty="0">
                <a:solidFill>
                  <a:srgbClr val="0C2340"/>
                </a:solidFill>
                <a:latin typeface="Calibri"/>
              </a:rPr>
              <a:t>Plotted Pe* </a:t>
            </a:r>
            <a:r>
              <a:rPr sz="1050" b="0" i="0" dirty="0">
                <a:solidFill>
                  <a:srgbClr val="202020"/>
                </a:solidFill>
                <a:latin typeface="Calibri"/>
              </a:rPr>
              <a:t>= the regression-optimal </a:t>
            </a:r>
            <a:r>
              <a:rPr sz="1050" b="0" i="0" dirty="0" err="1">
                <a:solidFill>
                  <a:srgbClr val="202020"/>
                </a:solidFill>
                <a:latin typeface="Calibri"/>
              </a:rPr>
              <a:t>Péclet</a:t>
            </a:r>
            <a:r>
              <a:rPr sz="1050" b="0" i="0" dirty="0">
                <a:solidFill>
                  <a:srgbClr val="202020"/>
                </a:solidFill>
                <a:latin typeface="Calibri"/>
              </a:rPr>
              <a:t> per experiment (</a:t>
            </a:r>
            <a:r>
              <a:rPr sz="1050" b="0" i="0" dirty="0" err="1">
                <a:solidFill>
                  <a:srgbClr val="202020"/>
                </a:solidFill>
                <a:latin typeface="Calibri"/>
              </a:rPr>
              <a:t>argmin</a:t>
            </a:r>
            <a:r>
              <a:rPr sz="1050" b="0" i="0" dirty="0">
                <a:solidFill>
                  <a:srgbClr val="202020"/>
                </a:solidFill>
                <a:latin typeface="Calibri"/>
              </a:rPr>
              <a:t> over Pe of the convection–diffusion partition-fit MSE) </a:t>
            </a:r>
            <a:r>
              <a:rPr lang="en-US" sz="1050" dirty="0">
                <a:solidFill>
                  <a:srgbClr val="202020"/>
                </a:solidFill>
                <a:latin typeface="Calibri"/>
              </a:rPr>
              <a:t>-</a:t>
            </a:r>
            <a:r>
              <a:rPr sz="1050" b="0" i="0" dirty="0">
                <a:solidFill>
                  <a:srgbClr val="202020"/>
                </a:solidFill>
                <a:latin typeface="Calibri"/>
              </a:rPr>
              <a:t> NOT </a:t>
            </a:r>
            <a:r>
              <a:rPr sz="1050" b="0" i="0" dirty="0" err="1">
                <a:solidFill>
                  <a:srgbClr val="202020"/>
                </a:solidFill>
                <a:latin typeface="Calibri"/>
              </a:rPr>
              <a:t>Jw·L</a:t>
            </a:r>
            <a:r>
              <a:rPr sz="1050" b="0" i="0" dirty="0">
                <a:solidFill>
                  <a:srgbClr val="202020"/>
                </a:solidFill>
                <a:latin typeface="Calibri"/>
              </a:rPr>
              <a:t>/Dm evaluated directly.   </a:t>
            </a:r>
            <a:r>
              <a:rPr sz="1050" b="1" i="1" dirty="0">
                <a:solidFill>
                  <a:srgbClr val="0C2340"/>
                </a:solidFill>
                <a:latin typeface="Calibri"/>
              </a:rPr>
              <a:t>where  </a:t>
            </a:r>
            <a:r>
              <a:rPr sz="1050" b="0" i="0" dirty="0">
                <a:solidFill>
                  <a:srgbClr val="202020"/>
                </a:solidFill>
                <a:latin typeface="Calibri"/>
              </a:rPr>
              <a:t>Pe — </a:t>
            </a:r>
            <a:r>
              <a:rPr sz="1050" b="0" i="0" dirty="0" err="1">
                <a:solidFill>
                  <a:srgbClr val="202020"/>
                </a:solidFill>
                <a:latin typeface="Calibri"/>
              </a:rPr>
              <a:t>Péclet</a:t>
            </a:r>
            <a:r>
              <a:rPr sz="1050" b="0" i="0" dirty="0">
                <a:solidFill>
                  <a:srgbClr val="202020"/>
                </a:solidFill>
                <a:latin typeface="Calibri"/>
              </a:rPr>
              <a:t> number;  </a:t>
            </a:r>
            <a:r>
              <a:rPr sz="1050" b="0" i="0" dirty="0" err="1">
                <a:solidFill>
                  <a:srgbClr val="202020"/>
                </a:solidFill>
                <a:latin typeface="Calibri"/>
              </a:rPr>
              <a:t>Jw</a:t>
            </a:r>
            <a:r>
              <a:rPr sz="1050" b="0" i="0" dirty="0">
                <a:solidFill>
                  <a:srgbClr val="202020"/>
                </a:solidFill>
                <a:latin typeface="Calibri"/>
              </a:rPr>
              <a:t> — water flux;  L — membrane thickness;  Dm — solute diffusivity;  R — salt rejection;  </a:t>
            </a:r>
            <a:r>
              <a:rPr sz="1050" b="0" i="0" dirty="0" err="1">
                <a:solidFill>
                  <a:srgbClr val="202020"/>
                </a:solidFill>
                <a:latin typeface="Calibri"/>
              </a:rPr>
              <a:t>σ</a:t>
            </a:r>
            <a:r>
              <a:rPr sz="1050" b="0" i="0" dirty="0">
                <a:solidFill>
                  <a:srgbClr val="202020"/>
                </a:solidFill>
                <a:latin typeface="Calibri"/>
              </a:rPr>
              <a:t> — reflection coefficient (0–1).</a:t>
            </a:r>
          </a:p>
        </p:txBody>
      </p:sp>
      <p:sp>
        <p:nvSpPr>
          <p:cNvPr id="8" name="TextBox 7"/>
          <p:cNvSpPr txBox="1"/>
          <p:nvPr/>
        </p:nvSpPr>
        <p:spPr>
          <a:xfrm>
            <a:off x="548640" y="5321807"/>
            <a:ext cx="11091672" cy="694944"/>
          </a:xfrm>
          <a:prstGeom prst="rect">
            <a:avLst/>
          </a:prstGeom>
          <a:noFill/>
        </p:spPr>
        <p:txBody>
          <a:bodyPr wrap="square" lIns="45720" tIns="18288" rIns="45720" bIns="18288" anchor="t">
            <a:spAutoFit/>
          </a:bodyPr>
          <a:lstStyle/>
          <a:p>
            <a:pPr marL="228600" indent="-228600">
              <a:spcAft>
                <a:spcPts val="400"/>
              </a:spcAft>
              <a:buFont typeface="Arial"/>
              <a:buChar char="•"/>
            </a:pPr>
            <a:r>
              <a:rPr sz="1300" b="1" i="0">
                <a:solidFill>
                  <a:srgbClr val="0C2340"/>
                </a:solidFill>
                <a:latin typeface="Calibri"/>
              </a:rPr>
              <a:t>Diluting NaCl is diffusion-limited (Pe* ≈ 10</a:t>
            </a:r>
            <a:r>
              <a:rPr sz="1300" b="1" i="0" baseline="30000">
                <a:solidFill>
                  <a:srgbClr val="0C2340"/>
                </a:solidFill>
                <a:latin typeface="Calibri"/>
              </a:rPr>
              <a:t>-3</a:t>
            </a:r>
            <a:r>
              <a:rPr sz="1300" b="1" i="0">
                <a:solidFill>
                  <a:srgbClr val="0C2340"/>
                </a:solidFill>
                <a:latin typeface="Calibri"/>
              </a:rPr>
              <a:t>); concentrating NaCl / CaCl</a:t>
            </a:r>
            <a:r>
              <a:rPr sz="1300" b="1" i="0" baseline="-25000">
                <a:solidFill>
                  <a:srgbClr val="0C2340"/>
                </a:solidFill>
                <a:latin typeface="Calibri"/>
              </a:rPr>
              <a:t>2</a:t>
            </a:r>
            <a:r>
              <a:rPr sz="1300" b="1" i="0">
                <a:solidFill>
                  <a:srgbClr val="0C2340"/>
                </a:solidFill>
                <a:latin typeface="Calibri"/>
              </a:rPr>
              <a:t> / LaCl</a:t>
            </a:r>
            <a:r>
              <a:rPr sz="1300" b="1" i="0" baseline="-25000">
                <a:solidFill>
                  <a:srgbClr val="0C2340"/>
                </a:solidFill>
                <a:latin typeface="Calibri"/>
              </a:rPr>
              <a:t>3</a:t>
            </a:r>
            <a:r>
              <a:rPr sz="1300" b="1" i="0">
                <a:solidFill>
                  <a:srgbClr val="0C2340"/>
                </a:solidFill>
                <a:latin typeface="Calibri"/>
              </a:rPr>
              <a:t> are convection-dominated (Pe* ≈ 77 / 36 / 36).</a:t>
            </a:r>
          </a:p>
          <a:p>
            <a:pPr marL="228600" indent="-228600">
              <a:spcAft>
                <a:spcPts val="400"/>
              </a:spcAft>
              <a:buFont typeface="Arial"/>
              <a:buChar char="•"/>
            </a:pPr>
            <a:r>
              <a:rPr sz="1300" b="1" i="0">
                <a:solidFill>
                  <a:srgbClr val="0C2340"/>
                </a:solidFill>
                <a:latin typeface="Calibri"/>
              </a:rPr>
              <a:t>Mechanistic inference, not a direct demonstration:</a:t>
            </a:r>
            <a:r>
              <a:rPr sz="1300" b="0" i="0">
                <a:solidFill>
                  <a:srgbClr val="202020"/>
                </a:solidFill>
                <a:latin typeface="Calibri"/>
              </a:rPr>
              <a:t> Pe and B come from the same fitted model — this motivates B(c), it does not prove it.</a:t>
            </a:r>
          </a:p>
          <a:p>
            <a:pPr marL="228600" indent="-228600">
              <a:spcAft>
                <a:spcPts val="400"/>
              </a:spcAft>
              <a:buFont typeface="Arial"/>
              <a:buChar char="•"/>
            </a:pPr>
            <a:r>
              <a:rPr sz="1300" b="1" i="0">
                <a:solidFill>
                  <a:srgbClr val="0C2340"/>
                </a:solidFill>
                <a:latin typeface="Calibri"/>
              </a:rPr>
              <a:t>To tabulate for review:</a:t>
            </a:r>
            <a:r>
              <a:rPr sz="1300" b="0" i="0">
                <a:solidFill>
                  <a:srgbClr val="202020"/>
                </a:solidFill>
                <a:latin typeface="Calibri"/>
              </a:rPr>
              <a:t> water flux Jw, membrane length-scale L, and diffusivity D</a:t>
            </a:r>
            <a:r>
              <a:rPr sz="1300" b="0" i="0" baseline="-25000">
                <a:solidFill>
                  <a:srgbClr val="202020"/>
                </a:solidFill>
                <a:latin typeface="Calibri"/>
              </a:rPr>
              <a:t>m</a:t>
            </a:r>
            <a:r>
              <a:rPr sz="1300" b="0" i="0">
                <a:solidFill>
                  <a:srgbClr val="202020"/>
                </a:solidFill>
                <a:latin typeface="Calibri"/>
              </a:rPr>
              <a:t> per salt.</a:t>
            </a:r>
          </a:p>
        </p:txBody>
      </p:sp>
      <p:sp>
        <p:nvSpPr>
          <p:cNvPr id="9" name="TextBox 8"/>
          <p:cNvSpPr txBox="1"/>
          <p:nvPr/>
        </p:nvSpPr>
        <p:spPr>
          <a:xfrm>
            <a:off x="365760" y="6163056"/>
            <a:ext cx="11475720" cy="160044"/>
          </a:xfrm>
          <a:prstGeom prst="rect">
            <a:avLst/>
          </a:prstGeom>
          <a:noFill/>
        </p:spPr>
        <p:txBody>
          <a:bodyPr wrap="square" lIns="45720" tIns="18288" rIns="45720" bIns="18288" anchor="t">
            <a:spAutoFit/>
          </a:bodyPr>
          <a:lstStyle/>
          <a:p>
            <a:r>
              <a:rPr sz="800" b="0" i="1" dirty="0">
                <a:solidFill>
                  <a:srgbClr val="666666"/>
                </a:solidFill>
                <a:latin typeface="Calibri"/>
              </a:rPr>
              <a:t>Refs — Pe = </a:t>
            </a:r>
            <a:r>
              <a:rPr sz="800" b="0" i="1" dirty="0" err="1">
                <a:solidFill>
                  <a:srgbClr val="666666"/>
                </a:solidFill>
                <a:latin typeface="Calibri"/>
              </a:rPr>
              <a:t>JwL</a:t>
            </a:r>
            <a:r>
              <a:rPr sz="800" b="0" i="1" dirty="0">
                <a:solidFill>
                  <a:srgbClr val="666666"/>
                </a:solidFill>
                <a:latin typeface="Calibri"/>
              </a:rPr>
              <a:t>/Dm: DATA2, Liu et al., Ind. Eng. Chem. Res. 64 (2025) 12111 (eq 25); </a:t>
            </a:r>
            <a:r>
              <a:rPr lang="en-US" sz="800" b="0" i="1" dirty="0">
                <a:solidFill>
                  <a:srgbClr val="666666"/>
                </a:solidFill>
                <a:latin typeface="Calibri"/>
              </a:rPr>
              <a:t>	</a:t>
            </a:r>
            <a:r>
              <a:rPr sz="800" b="0" i="1" dirty="0">
                <a:solidFill>
                  <a:srgbClr val="666666"/>
                </a:solidFill>
                <a:latin typeface="Calibri"/>
              </a:rPr>
              <a:t>Spiegler–Kedem rejection: Spiegler &amp; Kedem, Desalination 1 (1966) 311; </a:t>
            </a:r>
            <a:r>
              <a:rPr lang="en-US" sz="800" i="1" dirty="0">
                <a:solidFill>
                  <a:srgbClr val="666666"/>
                </a:solidFill>
                <a:latin typeface="Calibri"/>
              </a:rPr>
              <a:t>	</a:t>
            </a:r>
            <a:r>
              <a:rPr sz="800" b="0" i="1" dirty="0">
                <a:solidFill>
                  <a:srgbClr val="666666"/>
                </a:solidFill>
                <a:latin typeface="Calibri"/>
              </a:rPr>
              <a:t>solution-diffusion (</a:t>
            </a:r>
            <a:r>
              <a:rPr sz="800" b="0" i="1" dirty="0" err="1">
                <a:solidFill>
                  <a:srgbClr val="666666"/>
                </a:solidFill>
                <a:latin typeface="Calibri"/>
              </a:rPr>
              <a:t>Lp</a:t>
            </a:r>
            <a:r>
              <a:rPr sz="800" b="0" i="1" dirty="0">
                <a:solidFill>
                  <a:srgbClr val="666666"/>
                </a:solidFill>
                <a:latin typeface="Calibri"/>
              </a:rPr>
              <a:t>, B, </a:t>
            </a:r>
            <a:r>
              <a:rPr sz="800" b="0" i="1" dirty="0" err="1">
                <a:solidFill>
                  <a:srgbClr val="666666"/>
                </a:solidFill>
                <a:latin typeface="Calibri"/>
              </a:rPr>
              <a:t>σ</a:t>
            </a:r>
            <a:r>
              <a:rPr sz="800" b="0" i="1" dirty="0">
                <a:solidFill>
                  <a:srgbClr val="666666"/>
                </a:solidFill>
                <a:latin typeface="Calibri"/>
              </a:rPr>
              <a:t>): Kedem &amp; </a:t>
            </a:r>
            <a:r>
              <a:rPr sz="800" b="0" i="1" dirty="0" err="1">
                <a:solidFill>
                  <a:srgbClr val="666666"/>
                </a:solidFill>
                <a:latin typeface="Calibri"/>
              </a:rPr>
              <a:t>Katchalsky</a:t>
            </a:r>
            <a:r>
              <a:rPr sz="800" b="0" i="1" dirty="0">
                <a:solidFill>
                  <a:srgbClr val="666666"/>
                </a:solidFill>
                <a:latin typeface="Calibri"/>
              </a:rPr>
              <a:t>, </a:t>
            </a:r>
            <a:r>
              <a:rPr sz="800" b="0" i="1" dirty="0" err="1">
                <a:solidFill>
                  <a:srgbClr val="666666"/>
                </a:solidFill>
                <a:latin typeface="Calibri"/>
              </a:rPr>
              <a:t>Biochim</a:t>
            </a:r>
            <a:r>
              <a:rPr sz="800" b="0" i="1" dirty="0">
                <a:solidFill>
                  <a:srgbClr val="666666"/>
                </a:solidFill>
                <a:latin typeface="Calibri"/>
              </a:rPr>
              <a:t>. </a:t>
            </a:r>
            <a:r>
              <a:rPr sz="800" b="0" i="1" dirty="0" err="1">
                <a:solidFill>
                  <a:srgbClr val="666666"/>
                </a:solidFill>
                <a:latin typeface="Calibri"/>
              </a:rPr>
              <a:t>Biophys</a:t>
            </a:r>
            <a:r>
              <a:rPr sz="800" b="0" i="1" dirty="0">
                <a:solidFill>
                  <a:srgbClr val="666666"/>
                </a:solidFill>
                <a:latin typeface="Calibri"/>
              </a:rPr>
              <a:t>. Acta 27 (1958) 229</a:t>
            </a:r>
          </a:p>
        </p:txBody>
      </p:sp>
      <p:sp>
        <p:nvSpPr>
          <p:cNvPr id="11" name="TextBox 10"/>
          <p:cNvSpPr txBox="1"/>
          <p:nvPr/>
        </p:nvSpPr>
        <p:spPr>
          <a:xfrm>
            <a:off x="9144000" y="6464808"/>
            <a:ext cx="2679192" cy="292608"/>
          </a:xfrm>
          <a:prstGeom prst="rect">
            <a:avLst/>
          </a:prstGeom>
          <a:noFill/>
        </p:spPr>
        <p:txBody>
          <a:bodyPr wrap="square" lIns="45720" tIns="18288" rIns="45720" bIns="18288" anchor="t">
            <a:spAutoFit/>
          </a:bodyPr>
          <a:lstStyle/>
          <a:p>
            <a:pPr algn="r"/>
            <a:r>
              <a:rPr sz="900" b="0" i="0">
                <a:solidFill>
                  <a:srgbClr val="666666"/>
                </a:solidFill>
                <a:latin typeface="Calibri"/>
              </a:rPr>
              <a:t>2026-06-24  ·  5</a:t>
            </a:r>
          </a:p>
        </p:txBody>
      </p:sp>
      <p:sp>
        <p:nvSpPr>
          <p:cNvPr id="12" name="TextBox 11">
            <a:extLst>
              <a:ext uri="{FF2B5EF4-FFF2-40B4-BE49-F238E27FC236}">
                <a16:creationId xmlns:a16="http://schemas.microsoft.com/office/drawing/2014/main" id="{0E935F44-6378-E1C3-C19A-58C1613A5449}"/>
              </a:ext>
            </a:extLst>
          </p:cNvPr>
          <p:cNvSpPr txBox="1"/>
          <p:nvPr/>
        </p:nvSpPr>
        <p:spPr>
          <a:xfrm>
            <a:off x="1960293" y="6540222"/>
            <a:ext cx="6974378" cy="175433"/>
          </a:xfrm>
          <a:prstGeom prst="rect">
            <a:avLst/>
          </a:prstGeom>
          <a:noFill/>
        </p:spPr>
        <p:txBody>
          <a:bodyPr wrap="square" lIns="45720" tIns="18288" rIns="45720" bIns="18288" anchor="t">
            <a:spAutoFit/>
          </a:bodyPr>
          <a:lstStyle/>
          <a:p>
            <a:r>
              <a:rPr sz="900" b="0" i="0" dirty="0">
                <a:solidFill>
                  <a:srgbClr val="666666"/>
                </a:solidFill>
                <a:latin typeface="Calibri"/>
              </a:rPr>
              <a:t>DATA3 single-salt NF270 diafiltration  ·  collaborator update</a:t>
            </a:r>
          </a:p>
        </p:txBody>
      </p:sp>
      <p:pic>
        <p:nvPicPr>
          <p:cNvPr id="13" name="Picture 12" descr="notre_dame_logo.png">
            <a:extLst>
              <a:ext uri="{FF2B5EF4-FFF2-40B4-BE49-F238E27FC236}">
                <a16:creationId xmlns:a16="http://schemas.microsoft.com/office/drawing/2014/main" id="{ABD58E8C-041A-9180-6209-02B831A5C499}"/>
              </a:ext>
            </a:extLst>
          </p:cNvPr>
          <p:cNvPicPr>
            <a:picLocks noChangeAspect="1"/>
          </p:cNvPicPr>
          <p:nvPr/>
        </p:nvPicPr>
        <p:blipFill>
          <a:blip r:embed="rId5"/>
          <a:stretch>
            <a:fillRect/>
          </a:stretch>
        </p:blipFill>
        <p:spPr>
          <a:xfrm>
            <a:off x="167873" y="6519782"/>
            <a:ext cx="944413" cy="2203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1274552" cy="777240"/>
          </a:xfrm>
          <a:prstGeom prst="rect">
            <a:avLst/>
          </a:prstGeom>
          <a:noFill/>
        </p:spPr>
        <p:txBody>
          <a:bodyPr wrap="square" lIns="45720" tIns="18288" rIns="45720" bIns="18288" anchor="ctr">
            <a:spAutoFit/>
          </a:bodyPr>
          <a:lstStyle/>
          <a:p>
            <a:r>
              <a:rPr sz="2600" b="1" i="0">
                <a:solidFill>
                  <a:srgbClr val="0C2340"/>
                </a:solidFill>
                <a:latin typeface="Cambria"/>
              </a:rPr>
              <a:t>All single-salt windows sit on the Donnan plateau</a:t>
            </a:r>
          </a:p>
        </p:txBody>
      </p:sp>
      <p:pic>
        <p:nvPicPr>
          <p:cNvPr id="4" name="Picture 3" descr="slide14_img0.png"/>
          <p:cNvPicPr>
            <a:picLocks noChangeAspect="1"/>
          </p:cNvPicPr>
          <p:nvPr/>
        </p:nvPicPr>
        <p:blipFill>
          <a:blip r:embed="rId3"/>
          <a:stretch>
            <a:fillRect/>
          </a:stretch>
        </p:blipFill>
        <p:spPr>
          <a:xfrm>
            <a:off x="3444748" y="960120"/>
            <a:ext cx="5308600" cy="2606040"/>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548640" y="3675887"/>
                <a:ext cx="11091672" cy="502920"/>
              </a:xfrm>
              <a:prstGeom prst="rect">
                <a:avLst/>
              </a:prstGeom>
              <a:noFill/>
            </p:spPr>
            <p:txBody>
              <a:bodyPr wrap="square" lIns="45720" tIns="18288" rIns="45720" bIns="18288" anchor="t">
                <a:spAutoFit/>
              </a:bodyPr>
              <a:lstStyle/>
              <a:p>
                <a:pPr algn="ctr">
                  <a:defRPr sz="1800">
                    <a:solidFill>
                      <a:srgbClr val="0C2340"/>
                    </a:solidFill>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𝐵</m:t>
                      </m:r>
                      <m:r>
                        <a:rPr>
                          <a:latin typeface="Cambria Math" panose="02040503050406030204" pitchFamily="18" charset="0"/>
                        </a:rPr>
                        <m:t>(</m:t>
                      </m:r>
                      <m:r>
                        <a:rPr>
                          <a:latin typeface="Cambria Math" panose="02040503050406030204" pitchFamily="18" charset="0"/>
                        </a:rPr>
                        <m:t>𝑐</m:t>
                      </m:r>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𝐽</m:t>
                              </m:r>
                            </m:e>
                            <m:sub>
                              <m:r>
                                <a:rPr>
                                  <a:latin typeface="Cambria Math" panose="02040503050406030204" pitchFamily="18" charset="0"/>
                                </a:rPr>
                                <m:t>𝑤</m:t>
                              </m:r>
                            </m:sub>
                          </m:sSub>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0</m:t>
                              </m:r>
                            </m:sub>
                          </m:sSub>
                          <m:d>
                            <m:dPr>
                              <m:ctrlPr>
                                <a:rPr i="1">
                                  <a:latin typeface="Cambria Math" panose="02040503050406030204" pitchFamily="18" charset="0"/>
                                </a:rPr>
                              </m:ctrlPr>
                            </m:dPr>
                            <m:e>
                              <m:r>
                                <a:rPr>
                                  <a:latin typeface="Cambria Math" panose="02040503050406030204" pitchFamily="18" charset="0"/>
                                </a:rPr>
                                <m:t>−</m:t>
                              </m:r>
                              <m:r>
                                <a:rPr>
                                  <a:latin typeface="Cambria Math" panose="02040503050406030204" pitchFamily="18" charset="0"/>
                                </a:rPr>
                                <m:t>𝑋</m:t>
                              </m:r>
                              <m:r>
                                <a:rPr>
                                  <a:latin typeface="Cambria Math" panose="02040503050406030204" pitchFamily="18" charset="0"/>
                                </a:rPr>
                                <m:t>+</m:t>
                              </m:r>
                              <m:rad>
                                <m:radPr>
                                  <m:degHide m:val="on"/>
                                  <m:ctrlPr>
                                    <a:rPr i="1">
                                      <a:latin typeface="Cambria Math" panose="02040503050406030204" pitchFamily="18" charset="0"/>
                                    </a:rPr>
                                  </m:ctrlPr>
                                </m:radPr>
                                <m:deg/>
                                <m:e>
                                  <m:sSup>
                                    <m:sSupPr>
                                      <m:ctrlPr>
                                        <a:rPr i="1">
                                          <a:latin typeface="Cambria Math" panose="02040503050406030204" pitchFamily="18" charset="0"/>
                                        </a:rPr>
                                      </m:ctrlPr>
                                    </m:sSupPr>
                                    <m:e>
                                      <m:r>
                                        <a:rPr>
                                          <a:latin typeface="Cambria Math" panose="02040503050406030204" pitchFamily="18" charset="0"/>
                                        </a:rPr>
                                        <m:t>𝑋</m:t>
                                      </m:r>
                                    </m:e>
                                    <m:sup>
                                      <m:r>
                                        <a:rPr>
                                          <a:latin typeface="Cambria Math" panose="02040503050406030204" pitchFamily="18" charset="0"/>
                                        </a:rPr>
                                        <m:t>2</m:t>
                                      </m:r>
                                    </m:sup>
                                  </m:sSup>
                                  <m:r>
                                    <a:rPr>
                                      <a:latin typeface="Cambria Math" panose="02040503050406030204" pitchFamily="18" charset="0"/>
                                    </a:rPr>
                                    <m:t>+4</m:t>
                                  </m:r>
                                  <m:sSup>
                                    <m:sSupPr>
                                      <m:ctrlPr>
                                        <a:rPr i="1">
                                          <a:latin typeface="Cambria Math" panose="02040503050406030204" pitchFamily="18" charset="0"/>
                                        </a:rPr>
                                      </m:ctrlPr>
                                    </m:sSupPr>
                                    <m:e>
                                      <m:r>
                                        <a:rPr>
                                          <a:latin typeface="Cambria Math" panose="02040503050406030204" pitchFamily="18" charset="0"/>
                                        </a:rPr>
                                        <m:t>𝑘</m:t>
                                      </m:r>
                                    </m:e>
                                    <m:sup>
                                      <m:r>
                                        <a:rPr>
                                          <a:latin typeface="Cambria Math" panose="02040503050406030204" pitchFamily="18" charset="0"/>
                                        </a:rPr>
                                        <m:t>2</m:t>
                                      </m:r>
                                    </m:sup>
                                  </m:sSup>
                                  <m:sSup>
                                    <m:sSupPr>
                                      <m:ctrlPr>
                                        <a:rPr i="1">
                                          <a:latin typeface="Cambria Math" panose="02040503050406030204" pitchFamily="18" charset="0"/>
                                        </a:rPr>
                                      </m:ctrlPr>
                                    </m:sSupPr>
                                    <m:e>
                                      <m:r>
                                        <a:rPr>
                                          <a:latin typeface="Cambria Math" panose="02040503050406030204" pitchFamily="18" charset="0"/>
                                        </a:rPr>
                                        <m:t>𝑐</m:t>
                                      </m:r>
                                    </m:e>
                                    <m:sup>
                                      <m:r>
                                        <a:rPr>
                                          <a:latin typeface="Cambria Math" panose="02040503050406030204" pitchFamily="18" charset="0"/>
                                        </a:rPr>
                                        <m:t>2</m:t>
                                      </m:r>
                                    </m:sup>
                                  </m:sSup>
                                </m:e>
                              </m:rad>
                            </m:e>
                          </m:d>
                        </m:num>
                        <m:den>
                          <m:r>
                            <a:rPr>
                              <a:latin typeface="Cambria Math" panose="02040503050406030204" pitchFamily="18" charset="0"/>
                            </a:rPr>
                            <m:t>2</m:t>
                          </m:r>
                          <m:r>
                            <a:rPr>
                              <a:latin typeface="Cambria Math" panose="02040503050406030204" pitchFamily="18" charset="0"/>
                            </a:rPr>
                            <m:t>𝑐</m:t>
                          </m:r>
                        </m:den>
                      </m:f>
                    </m:oMath>
                  </m:oMathPara>
                </a14:m>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548640" y="3675887"/>
                <a:ext cx="11091672" cy="502920"/>
              </a:xfrm>
              <a:prstGeom prst="rect">
                <a:avLst/>
              </a:prstGeom>
              <a:blipFill>
                <a:blip r:embed="rId4"/>
                <a:stretch>
                  <a:fillRect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48640" y="4321061"/>
                <a:ext cx="11091672" cy="502920"/>
              </a:xfrm>
              <a:prstGeom prst="rect">
                <a:avLst/>
              </a:prstGeom>
              <a:noFill/>
            </p:spPr>
            <p:txBody>
              <a:bodyPr wrap="square" lIns="45720" tIns="18288" rIns="45720" bIns="18288" anchor="t">
                <a:spAutoFit/>
              </a:bodyPr>
              <a:lstStyle/>
              <a:p>
                <a:pPr algn="ctr">
                  <a:defRPr sz="1800">
                    <a:solidFill>
                      <a:srgbClr val="0C2340"/>
                    </a:solidFill>
                  </a:defRPr>
                </a:pPr>
                <a14:m>
                  <m:oMathPara xmlns:m="http://schemas.openxmlformats.org/officeDocument/2006/math">
                    <m:oMathParaPr>
                      <m:jc m:val="centerGroup"/>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𝐵</m:t>
                          </m:r>
                        </m:e>
                        <m:sub>
                          <m:r>
                            <m:rPr>
                              <m:nor/>
                            </m:rPr>
                            <a:rPr/>
                            <m:t>plateau</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𝐽</m:t>
                          </m:r>
                        </m:e>
                        <m:sub>
                          <m:r>
                            <a:rPr>
                              <a:latin typeface="Cambria Math" panose="02040503050406030204" pitchFamily="18" charset="0"/>
                            </a:rPr>
                            <m:t>𝑤</m:t>
                          </m:r>
                        </m:sub>
                      </m:sSub>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0</m:t>
                          </m:r>
                        </m:sub>
                      </m:sSub>
                      <m:r>
                        <a:rPr>
                          <a:latin typeface="Cambria Math" panose="02040503050406030204" pitchFamily="18" charset="0"/>
                        </a:rPr>
                        <m:t>𝑘</m:t>
                      </m:r>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𝑐</m:t>
                          </m:r>
                        </m:e>
                        <m:sub>
                          <m:r>
                            <m:rPr>
                              <m:nor/>
                            </m:rPr>
                            <a:rPr/>
                            <m:t>knee</m:t>
                          </m:r>
                        </m:sub>
                      </m:sSub>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𝑋</m:t>
                          </m:r>
                        </m:num>
                        <m:den>
                          <m:r>
                            <a:rPr>
                              <a:latin typeface="Cambria Math" panose="02040503050406030204" pitchFamily="18" charset="0"/>
                            </a:rPr>
                            <m:t>2</m:t>
                          </m:r>
                          <m:r>
                            <a:rPr>
                              <a:latin typeface="Cambria Math" panose="02040503050406030204" pitchFamily="18" charset="0"/>
                            </a:rPr>
                            <m:t>𝑘</m:t>
                          </m:r>
                        </m:den>
                      </m:f>
                      <m:r>
                        <a:rPr>
                          <a:latin typeface="Cambria Math" panose="02040503050406030204" pitchFamily="18" charset="0"/>
                        </a:rPr>
                        <m:t>, </m:t>
                      </m:r>
                      <m:r>
                        <a:rPr>
                          <a:latin typeface="Cambria Math" panose="02040503050406030204" pitchFamily="18" charset="0"/>
                        </a:rPr>
                        <m:t>𝑢</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𝑐</m:t>
                          </m:r>
                        </m:num>
                        <m:den>
                          <m:sSub>
                            <m:sSubPr>
                              <m:ctrlPr>
                                <a:rPr i="1">
                                  <a:latin typeface="Cambria Math" panose="02040503050406030204" pitchFamily="18" charset="0"/>
                                </a:rPr>
                              </m:ctrlPr>
                            </m:sSubPr>
                            <m:e>
                              <m:r>
                                <a:rPr>
                                  <a:latin typeface="Cambria Math" panose="02040503050406030204" pitchFamily="18" charset="0"/>
                                </a:rPr>
                                <m:t>𝑐</m:t>
                              </m:r>
                            </m:e>
                            <m:sub>
                              <m:r>
                                <m:rPr>
                                  <m:nor/>
                                </m:rPr>
                                <a:rPr/>
                                <m:t>knee</m:t>
                              </m:r>
                            </m:sub>
                          </m:sSub>
                        </m:den>
                      </m:f>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2</m:t>
                          </m:r>
                          <m:r>
                            <a:rPr>
                              <a:latin typeface="Cambria Math" panose="02040503050406030204" pitchFamily="18" charset="0"/>
                            </a:rPr>
                            <m:t>𝑘𝑐</m:t>
                          </m:r>
                        </m:num>
                        <m:den>
                          <m:r>
                            <a:rPr>
                              <a:latin typeface="Cambria Math" panose="02040503050406030204" pitchFamily="18" charset="0"/>
                            </a:rPr>
                            <m:t>𝑋</m:t>
                          </m:r>
                        </m:den>
                      </m:f>
                    </m:oMath>
                  </m:oMathPara>
                </a14:m>
                <a:endParaRPr dirty="0"/>
              </a:p>
            </p:txBody>
          </p:sp>
        </mc:Choice>
        <mc:Fallback xmlns="">
          <p:sp>
            <p:nvSpPr>
              <p:cNvPr id="6" name="TextBox 5"/>
              <p:cNvSpPr txBox="1">
                <a:spLocks noRot="1" noChangeAspect="1" noMove="1" noResize="1" noEditPoints="1" noAdjustHandles="1" noChangeArrowheads="1" noChangeShapeType="1" noTextEdit="1"/>
              </p:cNvSpPr>
              <p:nvPr/>
            </p:nvSpPr>
            <p:spPr>
              <a:xfrm>
                <a:off x="548640" y="4321061"/>
                <a:ext cx="11091672" cy="502920"/>
              </a:xfrm>
              <a:prstGeom prst="rect">
                <a:avLst/>
              </a:prstGeom>
              <a:blipFill>
                <a:blip r:embed="rId5"/>
                <a:stretch>
                  <a:fillRect b="-40000"/>
                </a:stretch>
              </a:blipFill>
            </p:spPr>
            <p:txBody>
              <a:bodyPr/>
              <a:lstStyle/>
              <a:p>
                <a:r>
                  <a:rPr lang="en-US">
                    <a:noFill/>
                  </a:rPr>
                  <a:t> </a:t>
                </a:r>
              </a:p>
            </p:txBody>
          </p:sp>
        </mc:Fallback>
      </mc:AlternateContent>
      <p:sp>
        <p:nvSpPr>
          <p:cNvPr id="7" name="TextBox 6"/>
          <p:cNvSpPr txBox="1"/>
          <p:nvPr/>
        </p:nvSpPr>
        <p:spPr>
          <a:xfrm>
            <a:off x="640080" y="4946532"/>
            <a:ext cx="10908792" cy="585216"/>
          </a:xfrm>
          <a:prstGeom prst="rect">
            <a:avLst/>
          </a:prstGeom>
          <a:noFill/>
        </p:spPr>
        <p:txBody>
          <a:bodyPr wrap="square" lIns="45720" tIns="18288" rIns="45720" bIns="18288" anchor="t">
            <a:spAutoFit/>
          </a:bodyPr>
          <a:lstStyle/>
          <a:p>
            <a:r>
              <a:rPr sz="1100" b="1" i="1" dirty="0">
                <a:solidFill>
                  <a:srgbClr val="0C2340"/>
                </a:solidFill>
                <a:latin typeface="Calibri"/>
              </a:rPr>
              <a:t>where  </a:t>
            </a:r>
            <a:r>
              <a:rPr sz="1100" b="0" i="0" dirty="0">
                <a:solidFill>
                  <a:srgbClr val="202020"/>
                </a:solidFill>
                <a:latin typeface="Calibri"/>
              </a:rPr>
              <a:t>B(c) — solute permeability at interfacial concentration c;  c — membrane-interface salt concentration;  </a:t>
            </a:r>
            <a:r>
              <a:rPr sz="1100" b="0" i="0" dirty="0" err="1">
                <a:solidFill>
                  <a:srgbClr val="202020"/>
                </a:solidFill>
                <a:latin typeface="Calibri"/>
              </a:rPr>
              <a:t>Jw</a:t>
            </a:r>
            <a:r>
              <a:rPr sz="1100" b="0" i="0" dirty="0">
                <a:solidFill>
                  <a:srgbClr val="202020"/>
                </a:solidFill>
                <a:latin typeface="Calibri"/>
              </a:rPr>
              <a:t> — water flux;  P</a:t>
            </a:r>
            <a:r>
              <a:rPr sz="1100" b="0" i="0" baseline="-25000" dirty="0">
                <a:solidFill>
                  <a:srgbClr val="202020"/>
                </a:solidFill>
                <a:latin typeface="Calibri"/>
              </a:rPr>
              <a:t>0</a:t>
            </a:r>
            <a:r>
              <a:rPr sz="1100" b="0" i="0" dirty="0">
                <a:solidFill>
                  <a:srgbClr val="202020"/>
                </a:solidFill>
                <a:latin typeface="Calibri"/>
              </a:rPr>
              <a:t> — intrinsic permeability </a:t>
            </a:r>
            <a:r>
              <a:rPr sz="1100" b="0" i="0" dirty="0" err="1">
                <a:solidFill>
                  <a:srgbClr val="202020"/>
                </a:solidFill>
                <a:latin typeface="Calibri"/>
              </a:rPr>
              <a:t>prefactor</a:t>
            </a:r>
            <a:r>
              <a:rPr sz="1100" b="0" i="0" dirty="0">
                <a:solidFill>
                  <a:srgbClr val="202020"/>
                </a:solidFill>
                <a:latin typeface="Calibri"/>
              </a:rPr>
              <a:t>;  X — effective membrane fixed-charge density;  k — lumped Donnan–dielectric partition factor;  B_plateau — high-c plateau value;  </a:t>
            </a:r>
            <a:r>
              <a:rPr sz="1100" b="0" i="0" dirty="0" err="1">
                <a:solidFill>
                  <a:srgbClr val="202020"/>
                </a:solidFill>
                <a:latin typeface="Calibri"/>
              </a:rPr>
              <a:t>c_knee</a:t>
            </a:r>
            <a:r>
              <a:rPr sz="1100" b="0" i="0" dirty="0">
                <a:solidFill>
                  <a:srgbClr val="202020"/>
                </a:solidFill>
                <a:latin typeface="Calibri"/>
              </a:rPr>
              <a:t> = X/2k — regime knee;  u = c/</a:t>
            </a:r>
            <a:r>
              <a:rPr sz="1100" b="0" i="0" dirty="0" err="1">
                <a:solidFill>
                  <a:srgbClr val="202020"/>
                </a:solidFill>
                <a:latin typeface="Calibri"/>
              </a:rPr>
              <a:t>c_knee</a:t>
            </a:r>
            <a:r>
              <a:rPr sz="1100" b="0" i="0" dirty="0">
                <a:solidFill>
                  <a:srgbClr val="202020"/>
                </a:solidFill>
                <a:latin typeface="Calibri"/>
              </a:rPr>
              <a:t> — screening parameter.</a:t>
            </a:r>
          </a:p>
        </p:txBody>
      </p:sp>
      <p:sp>
        <p:nvSpPr>
          <p:cNvPr id="8" name="TextBox 7"/>
          <p:cNvSpPr txBox="1"/>
          <p:nvPr/>
        </p:nvSpPr>
        <p:spPr>
          <a:xfrm>
            <a:off x="548640" y="5491493"/>
            <a:ext cx="11091672" cy="694944"/>
          </a:xfrm>
          <a:prstGeom prst="rect">
            <a:avLst/>
          </a:prstGeom>
          <a:noFill/>
        </p:spPr>
        <p:txBody>
          <a:bodyPr wrap="square" lIns="45720" tIns="18288" rIns="45720" bIns="18288" anchor="t">
            <a:spAutoFit/>
          </a:bodyPr>
          <a:lstStyle/>
          <a:p>
            <a:pPr marL="228600" indent="-228600">
              <a:spcAft>
                <a:spcPts val="400"/>
              </a:spcAft>
              <a:buFont typeface="Arial"/>
              <a:buChar char="•"/>
            </a:pPr>
            <a:r>
              <a:rPr sz="1300" b="1" i="0">
                <a:solidFill>
                  <a:srgbClr val="0C2340"/>
                </a:solidFill>
                <a:latin typeface="Calibri"/>
              </a:rPr>
              <a:t>B(c) collapses onto one master curve; every measured window is at u ≈ 10</a:t>
            </a:r>
            <a:r>
              <a:rPr sz="1300" b="1" i="0" baseline="30000">
                <a:solidFill>
                  <a:srgbClr val="0C2340"/>
                </a:solidFill>
                <a:latin typeface="Calibri"/>
              </a:rPr>
              <a:t>3</a:t>
            </a:r>
            <a:r>
              <a:rPr sz="1300" b="1" i="0">
                <a:solidFill>
                  <a:srgbClr val="0C2340"/>
                </a:solidFill>
                <a:latin typeface="Calibri"/>
              </a:rPr>
              <a:t>–10</a:t>
            </a:r>
            <a:r>
              <a:rPr sz="1300" b="1" i="0" baseline="30000">
                <a:solidFill>
                  <a:srgbClr val="0C2340"/>
                </a:solidFill>
                <a:latin typeface="Calibri"/>
              </a:rPr>
              <a:t>5</a:t>
            </a:r>
            <a:r>
              <a:rPr sz="1300" b="1" i="0">
                <a:solidFill>
                  <a:srgbClr val="0C2340"/>
                </a:solidFill>
                <a:latin typeface="Calibri"/>
              </a:rPr>
              <a:t> (screened plateau)</a:t>
            </a:r>
            <a:r>
              <a:rPr sz="1300" b="0" i="0">
                <a:solidFill>
                  <a:srgbClr val="202020"/>
                </a:solidFill>
                <a:latin typeface="Calibri"/>
              </a:rPr>
              <a:t> → B is ≈ constant in-window (the screened-plateau value).</a:t>
            </a:r>
          </a:p>
          <a:p>
            <a:pPr marL="228600" indent="-228600">
              <a:spcAft>
                <a:spcPts val="400"/>
              </a:spcAft>
              <a:buFont typeface="Arial"/>
              <a:buChar char="•"/>
            </a:pPr>
            <a:r>
              <a:rPr sz="1300" b="1" i="0">
                <a:solidFill>
                  <a:srgbClr val="0C2340"/>
                </a:solidFill>
                <a:latin typeface="Calibri"/>
              </a:rPr>
              <a:t>The knee c_knee = X / 2k rails 10</a:t>
            </a:r>
            <a:r>
              <a:rPr sz="1300" b="1" i="0" baseline="30000">
                <a:solidFill>
                  <a:srgbClr val="0C2340"/>
                </a:solidFill>
                <a:latin typeface="Calibri"/>
              </a:rPr>
              <a:t>3</a:t>
            </a:r>
            <a:r>
              <a:rPr sz="1300" b="1" i="0">
                <a:solidFill>
                  <a:srgbClr val="0C2340"/>
                </a:solidFill>
                <a:latin typeface="Calibri"/>
              </a:rPr>
              <a:t>–10</a:t>
            </a:r>
            <a:r>
              <a:rPr sz="1300" b="1" i="0" baseline="30000">
                <a:solidFill>
                  <a:srgbClr val="0C2340"/>
                </a:solidFill>
                <a:latin typeface="Calibri"/>
              </a:rPr>
              <a:t>5</a:t>
            </a:r>
            <a:r>
              <a:rPr sz="1300" b="1" i="0">
                <a:solidFill>
                  <a:srgbClr val="0C2340"/>
                </a:solidFill>
                <a:latin typeface="Calibri"/>
              </a:rPr>
              <a:t>× below the data</a:t>
            </a:r>
            <a:r>
              <a:rPr sz="1300" b="0" i="0">
                <a:solidFill>
                  <a:srgbClr val="202020"/>
                </a:solidFill>
                <a:latin typeface="Calibri"/>
              </a:rPr>
              <a:t> → the fixed-charge scale X is not identified from one salt.</a:t>
            </a:r>
          </a:p>
        </p:txBody>
      </p:sp>
      <p:sp>
        <p:nvSpPr>
          <p:cNvPr id="9" name="TextBox 8"/>
          <p:cNvSpPr txBox="1"/>
          <p:nvPr/>
        </p:nvSpPr>
        <p:spPr>
          <a:xfrm>
            <a:off x="365760" y="6163056"/>
            <a:ext cx="11475720" cy="160044"/>
          </a:xfrm>
          <a:prstGeom prst="rect">
            <a:avLst/>
          </a:prstGeom>
          <a:noFill/>
        </p:spPr>
        <p:txBody>
          <a:bodyPr wrap="square" lIns="45720" tIns="18288" rIns="45720" bIns="18288" anchor="t">
            <a:spAutoFit/>
          </a:bodyPr>
          <a:lstStyle/>
          <a:p>
            <a:r>
              <a:rPr sz="800" b="0" i="1" dirty="0">
                <a:solidFill>
                  <a:srgbClr val="666666"/>
                </a:solidFill>
                <a:latin typeface="Calibri"/>
              </a:rPr>
              <a:t>Refs — Donnan–dielectric B(c): </a:t>
            </a:r>
            <a:r>
              <a:rPr sz="800" b="0" i="1" dirty="0" err="1">
                <a:solidFill>
                  <a:srgbClr val="666666"/>
                </a:solidFill>
                <a:latin typeface="Calibri"/>
              </a:rPr>
              <a:t>Yaroshchuk</a:t>
            </a:r>
            <a:r>
              <a:rPr sz="800" b="0" i="1" dirty="0">
                <a:solidFill>
                  <a:srgbClr val="666666"/>
                </a:solidFill>
                <a:latin typeface="Calibri"/>
              </a:rPr>
              <a:t>, Adv. Colloid Interface Sci. 85 (2000) 193; </a:t>
            </a:r>
            <a:r>
              <a:rPr lang="en-US" sz="800" b="0" i="1" dirty="0">
                <a:solidFill>
                  <a:srgbClr val="666666"/>
                </a:solidFill>
                <a:latin typeface="Calibri"/>
              </a:rPr>
              <a:t>	</a:t>
            </a:r>
            <a:r>
              <a:rPr sz="800" b="0" i="1" dirty="0">
                <a:solidFill>
                  <a:srgbClr val="666666"/>
                </a:solidFill>
                <a:latin typeface="Calibri"/>
              </a:rPr>
              <a:t>Bandini &amp; Vezzani, Chem. Eng. Sci. 58 (2003) 3303 (DSPM-DE); </a:t>
            </a:r>
            <a:r>
              <a:rPr lang="en-US" sz="800" b="0" i="1" dirty="0">
                <a:solidFill>
                  <a:srgbClr val="666666"/>
                </a:solidFill>
                <a:latin typeface="Calibri"/>
              </a:rPr>
              <a:t>	</a:t>
            </a:r>
            <a:r>
              <a:rPr sz="800" b="0" i="1" dirty="0">
                <a:solidFill>
                  <a:srgbClr val="666666"/>
                </a:solidFill>
                <a:latin typeface="Calibri"/>
              </a:rPr>
              <a:t>Donnan-equilibrium partition cf. Bolt, J. Colloid Sci. 10 (1955) 206 (as in DATA2).</a:t>
            </a:r>
          </a:p>
        </p:txBody>
      </p:sp>
      <p:sp>
        <p:nvSpPr>
          <p:cNvPr id="11" name="TextBox 10"/>
          <p:cNvSpPr txBox="1"/>
          <p:nvPr/>
        </p:nvSpPr>
        <p:spPr>
          <a:xfrm>
            <a:off x="9144000" y="6464808"/>
            <a:ext cx="2679192" cy="292608"/>
          </a:xfrm>
          <a:prstGeom prst="rect">
            <a:avLst/>
          </a:prstGeom>
          <a:noFill/>
        </p:spPr>
        <p:txBody>
          <a:bodyPr wrap="square" lIns="45720" tIns="18288" rIns="45720" bIns="18288" anchor="t">
            <a:spAutoFit/>
          </a:bodyPr>
          <a:lstStyle/>
          <a:p>
            <a:pPr algn="r"/>
            <a:r>
              <a:rPr sz="900" b="0" i="0">
                <a:solidFill>
                  <a:srgbClr val="666666"/>
                </a:solidFill>
                <a:latin typeface="Calibri"/>
              </a:rPr>
              <a:t>2026-06-24  ·  6</a:t>
            </a:r>
          </a:p>
        </p:txBody>
      </p:sp>
      <p:sp>
        <p:nvSpPr>
          <p:cNvPr id="12" name="TextBox 11">
            <a:extLst>
              <a:ext uri="{FF2B5EF4-FFF2-40B4-BE49-F238E27FC236}">
                <a16:creationId xmlns:a16="http://schemas.microsoft.com/office/drawing/2014/main" id="{72BD432C-CDF0-908E-28E1-143C86871381}"/>
              </a:ext>
            </a:extLst>
          </p:cNvPr>
          <p:cNvSpPr txBox="1"/>
          <p:nvPr/>
        </p:nvSpPr>
        <p:spPr>
          <a:xfrm>
            <a:off x="1960293" y="6464808"/>
            <a:ext cx="6974378" cy="175433"/>
          </a:xfrm>
          <a:prstGeom prst="rect">
            <a:avLst/>
          </a:prstGeom>
          <a:noFill/>
        </p:spPr>
        <p:txBody>
          <a:bodyPr wrap="square" lIns="45720" tIns="18288" rIns="45720" bIns="18288" anchor="t">
            <a:spAutoFit/>
          </a:bodyPr>
          <a:lstStyle/>
          <a:p>
            <a:r>
              <a:rPr sz="900" b="0" i="0" dirty="0">
                <a:solidFill>
                  <a:srgbClr val="666666"/>
                </a:solidFill>
                <a:latin typeface="Calibri"/>
              </a:rPr>
              <a:t>DATA3 single-salt NF270 diafiltration  ·  collaborator update</a:t>
            </a:r>
          </a:p>
        </p:txBody>
      </p:sp>
      <p:pic>
        <p:nvPicPr>
          <p:cNvPr id="13" name="Picture 12" descr="notre_dame_logo.png">
            <a:extLst>
              <a:ext uri="{FF2B5EF4-FFF2-40B4-BE49-F238E27FC236}">
                <a16:creationId xmlns:a16="http://schemas.microsoft.com/office/drawing/2014/main" id="{75D95A88-852A-45C5-DD52-2912BEC84973}"/>
              </a:ext>
            </a:extLst>
          </p:cNvPr>
          <p:cNvPicPr>
            <a:picLocks noChangeAspect="1"/>
          </p:cNvPicPr>
          <p:nvPr/>
        </p:nvPicPr>
        <p:blipFill>
          <a:blip r:embed="rId6"/>
          <a:stretch>
            <a:fillRect/>
          </a:stretch>
        </p:blipFill>
        <p:spPr>
          <a:xfrm>
            <a:off x="167873" y="6500930"/>
            <a:ext cx="944413" cy="2203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1274552" cy="777240"/>
          </a:xfrm>
          <a:prstGeom prst="rect">
            <a:avLst/>
          </a:prstGeom>
          <a:noFill/>
        </p:spPr>
        <p:txBody>
          <a:bodyPr wrap="square" lIns="45720" tIns="18288" rIns="45720" bIns="18288" anchor="ctr">
            <a:spAutoFit/>
          </a:bodyPr>
          <a:lstStyle/>
          <a:p>
            <a:r>
              <a:rPr sz="2600" b="1" i="0">
                <a:solidFill>
                  <a:srgbClr val="0C2340"/>
                </a:solidFill>
                <a:latin typeface="Cambria"/>
              </a:rPr>
              <a:t>B(c): in-window agreement, out-of-window divergence — LaCl</a:t>
            </a:r>
            <a:r>
              <a:rPr sz="2600" b="1" i="0" baseline="-25000">
                <a:solidFill>
                  <a:srgbClr val="0C2340"/>
                </a:solidFill>
                <a:latin typeface="Cambria"/>
              </a:rPr>
              <a:t>3</a:t>
            </a:r>
          </a:p>
        </p:txBody>
      </p:sp>
      <mc:AlternateContent xmlns:mc="http://schemas.openxmlformats.org/markup-compatibility/2006" xmlns:a14="http://schemas.microsoft.com/office/drawing/2010/main">
        <mc:Choice Requires="a14">
          <p:sp>
            <p:nvSpPr>
              <p:cNvPr id="5" name="TextBox 4"/>
              <p:cNvSpPr txBox="1"/>
              <p:nvPr/>
            </p:nvSpPr>
            <p:spPr>
              <a:xfrm>
                <a:off x="548640" y="3675887"/>
                <a:ext cx="11091672" cy="502920"/>
              </a:xfrm>
              <a:prstGeom prst="rect">
                <a:avLst/>
              </a:prstGeom>
              <a:noFill/>
            </p:spPr>
            <p:txBody>
              <a:bodyPr wrap="square" lIns="45720" tIns="18288" rIns="45720" bIns="18288" anchor="t">
                <a:spAutoFit/>
              </a:bodyPr>
              <a:lstStyle/>
              <a:p>
                <a:pPr algn="ctr">
                  <a:defRPr sz="1800">
                    <a:solidFill>
                      <a:srgbClr val="0C2340"/>
                    </a:solidFill>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𝐵</m:t>
                      </m:r>
                      <m:r>
                        <a:rPr>
                          <a:latin typeface="Cambria Math" panose="02040503050406030204" pitchFamily="18" charset="0"/>
                        </a:rPr>
                        <m:t>(</m:t>
                      </m:r>
                      <m:r>
                        <a:rPr>
                          <a:latin typeface="Cambria Math" panose="02040503050406030204" pitchFamily="18" charset="0"/>
                        </a:rPr>
                        <m:t>𝑐</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0</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1</m:t>
                          </m:r>
                        </m:sub>
                      </m:sSub>
                      <m:r>
                        <a:rPr>
                          <a:latin typeface="Cambria Math" panose="02040503050406030204" pitchFamily="18" charset="0"/>
                        </a:rPr>
                        <m:t>𝑐</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2</m:t>
                          </m:r>
                        </m:sub>
                      </m:sSub>
                      <m:sSup>
                        <m:sSupPr>
                          <m:ctrlPr>
                            <a:rPr i="1">
                              <a:latin typeface="Cambria Math" panose="02040503050406030204" pitchFamily="18" charset="0"/>
                            </a:rPr>
                          </m:ctrlPr>
                        </m:sSupPr>
                        <m:e>
                          <m:r>
                            <a:rPr>
                              <a:latin typeface="Cambria Math" panose="02040503050406030204" pitchFamily="18" charset="0"/>
                            </a:rPr>
                            <m:t>𝑐</m:t>
                          </m:r>
                        </m:e>
                        <m:sup>
                          <m:r>
                            <a:rPr>
                              <a:latin typeface="Cambria Math" panose="02040503050406030204" pitchFamily="18" charset="0"/>
                            </a:rPr>
                            <m:t>2</m:t>
                          </m:r>
                        </m:sup>
                      </m:sSup>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3</m:t>
                          </m:r>
                        </m:sub>
                      </m:sSub>
                      <m:sSup>
                        <m:sSupPr>
                          <m:ctrlPr>
                            <a:rPr i="1">
                              <a:latin typeface="Cambria Math" panose="02040503050406030204" pitchFamily="18" charset="0"/>
                            </a:rPr>
                          </m:ctrlPr>
                        </m:sSupPr>
                        <m:e>
                          <m:r>
                            <a:rPr>
                              <a:latin typeface="Cambria Math" panose="02040503050406030204" pitchFamily="18" charset="0"/>
                            </a:rPr>
                            <m:t>𝑐</m:t>
                          </m:r>
                        </m:e>
                        <m:sup>
                          <m:r>
                            <a:rPr>
                              <a:latin typeface="Cambria Math" panose="02040503050406030204" pitchFamily="18" charset="0"/>
                            </a:rPr>
                            <m:t>3</m:t>
                          </m:r>
                        </m:sup>
                      </m:sSup>
                    </m:oMath>
                  </m:oMathPara>
                </a14:m>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548640" y="3675887"/>
                <a:ext cx="11091672" cy="5029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48640" y="4151375"/>
                <a:ext cx="11091672" cy="502920"/>
              </a:xfrm>
              <a:prstGeom prst="rect">
                <a:avLst/>
              </a:prstGeom>
              <a:noFill/>
            </p:spPr>
            <p:txBody>
              <a:bodyPr wrap="square" lIns="45720" tIns="18288" rIns="45720" bIns="18288" anchor="t">
                <a:spAutoFit/>
              </a:bodyPr>
              <a:lstStyle/>
              <a:p>
                <a:pPr algn="ctr">
                  <a:defRPr sz="1800">
                    <a:solidFill>
                      <a:srgbClr val="0C2340"/>
                    </a:solidFill>
                  </a:defRPr>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𝐵</m:t>
                      </m:r>
                      <m:r>
                        <a:rPr>
                          <a:latin typeface="Cambria Math" panose="02040503050406030204" pitchFamily="18" charset="0"/>
                        </a:rPr>
                        <m:t>(</m:t>
                      </m:r>
                      <m:r>
                        <a:rPr>
                          <a:latin typeface="Cambria Math" panose="02040503050406030204" pitchFamily="18" charset="0"/>
                        </a:rPr>
                        <m:t>𝑐</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m:t>
                          </m:r>
                        </m:sub>
                      </m:sSub>
                      <m:d>
                        <m:dPr>
                          <m:ctrlPr>
                            <a:rPr i="1">
                              <a:latin typeface="Cambria Math" panose="02040503050406030204" pitchFamily="18" charset="0"/>
                            </a:rPr>
                          </m:ctrlPr>
                        </m:dPr>
                        <m:e>
                          <m:r>
                            <a:rPr>
                              <a:latin typeface="Cambria Math" panose="02040503050406030204" pitchFamily="18" charset="0"/>
                            </a:rPr>
                            <m:t>1−</m:t>
                          </m:r>
                          <m:sSup>
                            <m:sSupPr>
                              <m:ctrlPr>
                                <a:rPr i="1">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𝑐</m:t>
                              </m:r>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𝑐</m:t>
                                  </m:r>
                                </m:e>
                                <m:sup>
                                  <m:r>
                                    <a:rPr>
                                      <a:latin typeface="Cambria Math" panose="02040503050406030204" pitchFamily="18" charset="0"/>
                                    </a:rPr>
                                    <m:t>∗</m:t>
                                  </m:r>
                                </m:sup>
                              </m:sSup>
                            </m:sup>
                          </m:sSup>
                        </m:e>
                      </m:d>
                    </m:oMath>
                  </m:oMathPara>
                </a14:m>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548640" y="4151375"/>
                <a:ext cx="11091672" cy="502920"/>
              </a:xfrm>
              <a:prstGeom prst="rect">
                <a:avLst/>
              </a:prstGeom>
              <a:blipFill>
                <a:blip r:embed="rId4"/>
                <a:stretch>
                  <a:fillRect/>
                </a:stretch>
              </a:blipFill>
            </p:spPr>
            <p:txBody>
              <a:bodyPr/>
              <a:lstStyle/>
              <a:p>
                <a:r>
                  <a:rPr lang="en-US">
                    <a:noFill/>
                  </a:rPr>
                  <a:t> </a:t>
                </a:r>
              </a:p>
            </p:txBody>
          </p:sp>
        </mc:Fallback>
      </mc:AlternateContent>
      <p:sp>
        <p:nvSpPr>
          <p:cNvPr id="7" name="TextBox 6"/>
          <p:cNvSpPr txBox="1"/>
          <p:nvPr/>
        </p:nvSpPr>
        <p:spPr>
          <a:xfrm>
            <a:off x="640080" y="4654295"/>
            <a:ext cx="10908792" cy="585216"/>
          </a:xfrm>
          <a:prstGeom prst="rect">
            <a:avLst/>
          </a:prstGeom>
          <a:noFill/>
        </p:spPr>
        <p:txBody>
          <a:bodyPr wrap="square" lIns="45720" tIns="18288" rIns="45720" bIns="18288" anchor="t">
            <a:spAutoFit/>
          </a:bodyPr>
          <a:lstStyle/>
          <a:p>
            <a:r>
              <a:rPr sz="1100" b="1" i="1">
                <a:solidFill>
                  <a:srgbClr val="0C2340"/>
                </a:solidFill>
                <a:latin typeface="Calibri"/>
              </a:rPr>
              <a:t>where  </a:t>
            </a:r>
            <a:r>
              <a:rPr sz="1100" b="0" i="0">
                <a:solidFill>
                  <a:srgbClr val="202020"/>
                </a:solidFill>
                <a:latin typeface="Calibri"/>
              </a:rPr>
              <a:t>B(c) — solute permeability;  c — interfacial concentration;  β</a:t>
            </a:r>
            <a:r>
              <a:rPr sz="1100" b="0" i="0" baseline="-25000">
                <a:solidFill>
                  <a:srgbClr val="202020"/>
                </a:solidFill>
                <a:latin typeface="Calibri"/>
              </a:rPr>
              <a:t>0</a:t>
            </a:r>
            <a:r>
              <a:rPr sz="1100" b="0" i="0">
                <a:solidFill>
                  <a:srgbClr val="202020"/>
                </a:solidFill>
                <a:latin typeface="Calibri"/>
              </a:rPr>
              <a:t>–β</a:t>
            </a:r>
            <a:r>
              <a:rPr sz="1100" b="0" i="0" baseline="-25000">
                <a:solidFill>
                  <a:srgbClr val="202020"/>
                </a:solidFill>
                <a:latin typeface="Calibri"/>
              </a:rPr>
              <a:t>3</a:t>
            </a:r>
            <a:r>
              <a:rPr sz="1100" b="0" i="0">
                <a:solidFill>
                  <a:srgbClr val="202020"/>
                </a:solidFill>
                <a:latin typeface="Calibri"/>
              </a:rPr>
              <a:t> — polynomial (Taylor) expansion coefficients;  B∞ — saturating permeability as c → ∞;  c* — characteristic saturation concentration.</a:t>
            </a:r>
          </a:p>
        </p:txBody>
      </p:sp>
      <p:sp>
        <p:nvSpPr>
          <p:cNvPr id="8" name="TextBox 7"/>
          <p:cNvSpPr txBox="1"/>
          <p:nvPr/>
        </p:nvSpPr>
        <p:spPr>
          <a:xfrm>
            <a:off x="548640" y="5321807"/>
            <a:ext cx="11091672" cy="694944"/>
          </a:xfrm>
          <a:prstGeom prst="rect">
            <a:avLst/>
          </a:prstGeom>
          <a:noFill/>
        </p:spPr>
        <p:txBody>
          <a:bodyPr wrap="square" lIns="45720" tIns="18288" rIns="45720" bIns="18288" anchor="t">
            <a:spAutoFit/>
          </a:bodyPr>
          <a:lstStyle/>
          <a:p>
            <a:pPr marL="228600" indent="-228600">
              <a:spcAft>
                <a:spcPts val="400"/>
              </a:spcAft>
              <a:buFont typeface="Arial"/>
              <a:buChar char="•"/>
            </a:pPr>
            <a:r>
              <a:rPr sz="1300" b="1" i="0">
                <a:solidFill>
                  <a:srgbClr val="0C2340"/>
                </a:solidFill>
                <a:latin typeface="Calibri"/>
              </a:rPr>
              <a:t>Within the measured window, constant / linear / quadratic / cubic / saturating-exp all agree (B ≈ 0.3 µm·s</a:t>
            </a:r>
            <a:r>
              <a:rPr sz="1300" b="1" i="0" baseline="30000">
                <a:solidFill>
                  <a:srgbClr val="0C2340"/>
                </a:solidFill>
                <a:latin typeface="Calibri"/>
              </a:rPr>
              <a:t>-1</a:t>
            </a:r>
            <a:r>
              <a:rPr sz="1300" b="1" i="0">
                <a:solidFill>
                  <a:srgbClr val="0C2340"/>
                </a:solidFill>
                <a:latin typeface="Calibri"/>
              </a:rPr>
              <a:t>).</a:t>
            </a:r>
          </a:p>
          <a:p>
            <a:pPr marL="228600" indent="-228600">
              <a:spcAft>
                <a:spcPts val="400"/>
              </a:spcAft>
              <a:buFont typeface="Arial"/>
              <a:buChar char="•"/>
            </a:pPr>
            <a:r>
              <a:rPr sz="1300" b="1" i="0">
                <a:solidFill>
                  <a:srgbClr val="0C2340"/>
                </a:solidFill>
                <a:latin typeface="Calibri"/>
              </a:rPr>
              <a:t>Extrapolated, the polynomials diverge unphysically (cubic → negative); Donnan and saturating-exp stay bounded.</a:t>
            </a:r>
          </a:p>
          <a:p>
            <a:pPr marL="228600" indent="-228600">
              <a:spcAft>
                <a:spcPts val="400"/>
              </a:spcAft>
              <a:buFont typeface="Arial"/>
              <a:buChar char="•"/>
            </a:pPr>
            <a:r>
              <a:rPr sz="1300" b="1" i="0">
                <a:solidFill>
                  <a:srgbClr val="0C2340"/>
                </a:solidFill>
                <a:latin typeface="Calibri"/>
              </a:rPr>
              <a:t>The Donnan–dielectric is the mechanistically-grounded, physically-bounded form</a:t>
            </a:r>
            <a:r>
              <a:rPr sz="1300" b="0" i="0">
                <a:solidFill>
                  <a:srgbClr val="202020"/>
                </a:solidFill>
                <a:latin typeface="Calibri"/>
              </a:rPr>
              <a:t> — the data do not discriminate it from a constant in-window.</a:t>
            </a:r>
          </a:p>
        </p:txBody>
      </p:sp>
      <p:sp>
        <p:nvSpPr>
          <p:cNvPr id="9" name="TextBox 8"/>
          <p:cNvSpPr txBox="1"/>
          <p:nvPr/>
        </p:nvSpPr>
        <p:spPr>
          <a:xfrm>
            <a:off x="365760" y="6163056"/>
            <a:ext cx="11475720" cy="160044"/>
          </a:xfrm>
          <a:prstGeom prst="rect">
            <a:avLst/>
          </a:prstGeom>
          <a:noFill/>
        </p:spPr>
        <p:txBody>
          <a:bodyPr wrap="square" lIns="45720" tIns="18288" rIns="45720" bIns="18288" anchor="t">
            <a:spAutoFit/>
          </a:bodyPr>
          <a:lstStyle/>
          <a:p>
            <a:r>
              <a:rPr sz="800" b="0" i="1" dirty="0">
                <a:solidFill>
                  <a:srgbClr val="666666"/>
                </a:solidFill>
                <a:latin typeface="Calibri"/>
              </a:rPr>
              <a:t>Refs — empirical B(c): polynomial (multiplicative) form per DATA2, Liu et al., Ind. Eng. Chem. Res. 64 (2025) 12111 (eq 31); </a:t>
            </a:r>
            <a:r>
              <a:rPr lang="en-US" sz="800" b="0" i="1" dirty="0">
                <a:solidFill>
                  <a:srgbClr val="666666"/>
                </a:solidFill>
                <a:latin typeface="Calibri"/>
              </a:rPr>
              <a:t>	</a:t>
            </a:r>
            <a:r>
              <a:rPr sz="800" b="0" i="1" dirty="0">
                <a:solidFill>
                  <a:srgbClr val="666666"/>
                </a:solidFill>
                <a:latin typeface="Calibri"/>
              </a:rPr>
              <a:t>saturating-exp &amp; Donnan-bounded forms: this work (DATA3).</a:t>
            </a:r>
          </a:p>
        </p:txBody>
      </p:sp>
      <p:sp>
        <p:nvSpPr>
          <p:cNvPr id="11" name="TextBox 10"/>
          <p:cNvSpPr txBox="1"/>
          <p:nvPr/>
        </p:nvSpPr>
        <p:spPr>
          <a:xfrm>
            <a:off x="9144000" y="6464808"/>
            <a:ext cx="2679192" cy="292608"/>
          </a:xfrm>
          <a:prstGeom prst="rect">
            <a:avLst/>
          </a:prstGeom>
          <a:noFill/>
        </p:spPr>
        <p:txBody>
          <a:bodyPr wrap="square" lIns="45720" tIns="18288" rIns="45720" bIns="18288" anchor="t">
            <a:spAutoFit/>
          </a:bodyPr>
          <a:lstStyle/>
          <a:p>
            <a:pPr algn="r"/>
            <a:r>
              <a:rPr sz="900" b="0" i="0">
                <a:solidFill>
                  <a:srgbClr val="666666"/>
                </a:solidFill>
                <a:latin typeface="Calibri"/>
              </a:rPr>
              <a:t>2026-06-24  ·  7</a:t>
            </a:r>
          </a:p>
        </p:txBody>
      </p:sp>
      <p:sp>
        <p:nvSpPr>
          <p:cNvPr id="12" name="TextBox 11">
            <a:extLst>
              <a:ext uri="{FF2B5EF4-FFF2-40B4-BE49-F238E27FC236}">
                <a16:creationId xmlns:a16="http://schemas.microsoft.com/office/drawing/2014/main" id="{E4EC016B-E1C1-E5AA-02AC-5DB7F1943F0F}"/>
              </a:ext>
            </a:extLst>
          </p:cNvPr>
          <p:cNvSpPr txBox="1"/>
          <p:nvPr/>
        </p:nvSpPr>
        <p:spPr>
          <a:xfrm>
            <a:off x="1960293" y="6464808"/>
            <a:ext cx="6974378" cy="175433"/>
          </a:xfrm>
          <a:prstGeom prst="rect">
            <a:avLst/>
          </a:prstGeom>
          <a:noFill/>
        </p:spPr>
        <p:txBody>
          <a:bodyPr wrap="square" lIns="45720" tIns="18288" rIns="45720" bIns="18288" anchor="t">
            <a:spAutoFit/>
          </a:bodyPr>
          <a:lstStyle/>
          <a:p>
            <a:r>
              <a:rPr sz="900" b="0" i="0" dirty="0">
                <a:solidFill>
                  <a:srgbClr val="666666"/>
                </a:solidFill>
                <a:latin typeface="Calibri"/>
              </a:rPr>
              <a:t>DATA3 single-salt NF270 diafiltration  ·  collaborator update</a:t>
            </a:r>
          </a:p>
        </p:txBody>
      </p:sp>
      <p:pic>
        <p:nvPicPr>
          <p:cNvPr id="13" name="Picture 12" descr="notre_dame_logo.png">
            <a:extLst>
              <a:ext uri="{FF2B5EF4-FFF2-40B4-BE49-F238E27FC236}">
                <a16:creationId xmlns:a16="http://schemas.microsoft.com/office/drawing/2014/main" id="{13420566-368C-21FE-892C-D11DFBE6D66A}"/>
              </a:ext>
            </a:extLst>
          </p:cNvPr>
          <p:cNvPicPr>
            <a:picLocks noChangeAspect="1"/>
          </p:cNvPicPr>
          <p:nvPr/>
        </p:nvPicPr>
        <p:blipFill>
          <a:blip r:embed="rId5"/>
          <a:stretch>
            <a:fillRect/>
          </a:stretch>
        </p:blipFill>
        <p:spPr>
          <a:xfrm>
            <a:off x="167873" y="6500930"/>
            <a:ext cx="944413" cy="220363"/>
          </a:xfrm>
          <a:prstGeom prst="rect">
            <a:avLst/>
          </a:prstGeom>
        </p:spPr>
      </p:pic>
      <p:pic>
        <p:nvPicPr>
          <p:cNvPr id="14" name="Picture 13" descr="slide15_crop.png"/>
          <p:cNvPicPr>
            <a:picLocks noChangeAspect="1"/>
          </p:cNvPicPr>
          <p:nvPr/>
        </p:nvPicPr>
        <p:blipFill>
          <a:blip r:embed="rId6"/>
          <a:stretch>
            <a:fillRect/>
          </a:stretch>
        </p:blipFill>
        <p:spPr>
          <a:xfrm>
            <a:off x="2699865" y="960120"/>
            <a:ext cx="6798365" cy="2606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1274552" cy="777240"/>
          </a:xfrm>
          <a:prstGeom prst="rect">
            <a:avLst/>
          </a:prstGeom>
          <a:noFill/>
        </p:spPr>
        <p:txBody>
          <a:bodyPr wrap="square" lIns="45720" tIns="18288" rIns="45720" bIns="18288" anchor="ctr">
            <a:spAutoFit/>
          </a:bodyPr>
          <a:lstStyle/>
          <a:p>
            <a:r>
              <a:rPr sz="2600" b="1" i="0">
                <a:solidFill>
                  <a:srgbClr val="0C2340"/>
                </a:solidFill>
                <a:latin typeface="Cambria"/>
              </a:rPr>
              <a:t>Same behavior for CaCl</a:t>
            </a:r>
            <a:r>
              <a:rPr sz="2600" b="1" i="0" baseline="-25000">
                <a:solidFill>
                  <a:srgbClr val="0C2340"/>
                </a:solidFill>
                <a:latin typeface="Cambria"/>
              </a:rPr>
              <a:t>2</a:t>
            </a:r>
          </a:p>
        </p:txBody>
      </p:sp>
      <p:pic>
        <p:nvPicPr>
          <p:cNvPr id="4" name="Picture 3" descr="slide16_crop.png"/>
          <p:cNvPicPr>
            <a:picLocks noChangeAspect="1"/>
          </p:cNvPicPr>
          <p:nvPr/>
        </p:nvPicPr>
        <p:blipFill>
          <a:blip r:embed="rId2"/>
          <a:stretch>
            <a:fillRect/>
          </a:stretch>
        </p:blipFill>
        <p:spPr>
          <a:xfrm>
            <a:off x="292608" y="1113973"/>
            <a:ext cx="11612880" cy="3852814"/>
          </a:xfrm>
          <a:prstGeom prst="rect">
            <a:avLst/>
          </a:prstGeom>
        </p:spPr>
      </p:pic>
      <p:sp>
        <p:nvSpPr>
          <p:cNvPr id="5" name="TextBox 4"/>
          <p:cNvSpPr txBox="1"/>
          <p:nvPr/>
        </p:nvSpPr>
        <p:spPr>
          <a:xfrm>
            <a:off x="548640" y="5131379"/>
            <a:ext cx="11091672" cy="1269421"/>
          </a:xfrm>
          <a:prstGeom prst="rect">
            <a:avLst/>
          </a:prstGeom>
          <a:noFill/>
        </p:spPr>
        <p:txBody>
          <a:bodyPr wrap="square" lIns="45720" tIns="18288" rIns="45720" bIns="18288" anchor="t">
            <a:spAutoFit/>
          </a:bodyPr>
          <a:lstStyle/>
          <a:p>
            <a:pPr marL="228600" indent="-228600">
              <a:spcAft>
                <a:spcPts val="500"/>
              </a:spcAft>
              <a:buFont typeface="Arial"/>
              <a:buChar char="•"/>
            </a:pPr>
            <a:r>
              <a:rPr sz="1400" b="1" i="0">
                <a:solidFill>
                  <a:srgbClr val="0C2340"/>
                </a:solidFill>
                <a:latin typeface="Calibri"/>
              </a:rPr>
              <a:t>Identical picture: in-window agreement, out-of-window polynomial divergence, Donnan bounded.</a:t>
            </a:r>
          </a:p>
          <a:p>
            <a:pPr marL="228600" indent="-228600">
              <a:spcAft>
                <a:spcPts val="500"/>
              </a:spcAft>
              <a:buFont typeface="Arial"/>
              <a:buChar char="•"/>
            </a:pPr>
            <a:r>
              <a:rPr sz="1400" b="1" i="0">
                <a:solidFill>
                  <a:srgbClr val="0C2340"/>
                </a:solidFill>
                <a:latin typeface="Calibri"/>
              </a:rPr>
              <a:t>On parsimony (AIC) a constant fits as well in-window</a:t>
            </a:r>
            <a:r>
              <a:rPr sz="1400" b="0" i="0">
                <a:solidFill>
                  <a:srgbClr val="202020"/>
                </a:solidFill>
                <a:latin typeface="Calibri"/>
              </a:rPr>
              <a:t> — prefer Donnan for mechanism and physical extrapolation, not in-window fit.</a:t>
            </a:r>
          </a:p>
          <a:p>
            <a:pPr marL="228600" indent="-228600">
              <a:spcAft>
                <a:spcPts val="500"/>
              </a:spcAft>
              <a:buFont typeface="Arial"/>
              <a:buChar char="•"/>
            </a:pPr>
            <a:r>
              <a:rPr sz="1400" b="1" i="0">
                <a:solidFill>
                  <a:srgbClr val="0C2340"/>
                </a:solidFill>
                <a:latin typeface="Calibri"/>
              </a:rPr>
              <a:t>Next step to pin X:</a:t>
            </a:r>
            <a:r>
              <a:rPr sz="1400" b="0" i="0">
                <a:solidFill>
                  <a:srgbClr val="202020"/>
                </a:solidFill>
                <a:latin typeface="Calibri"/>
              </a:rPr>
              <a:t> a joint multi-salt fit (re-parameterized by ionic strength) reaches lower u and probes the knee.</a:t>
            </a:r>
          </a:p>
        </p:txBody>
      </p:sp>
      <p:sp>
        <p:nvSpPr>
          <p:cNvPr id="7" name="TextBox 6"/>
          <p:cNvSpPr txBox="1"/>
          <p:nvPr/>
        </p:nvSpPr>
        <p:spPr>
          <a:xfrm>
            <a:off x="9144000" y="6464808"/>
            <a:ext cx="2679192" cy="292608"/>
          </a:xfrm>
          <a:prstGeom prst="rect">
            <a:avLst/>
          </a:prstGeom>
          <a:noFill/>
        </p:spPr>
        <p:txBody>
          <a:bodyPr wrap="square" lIns="45720" tIns="18288" rIns="45720" bIns="18288" anchor="t">
            <a:spAutoFit/>
          </a:bodyPr>
          <a:lstStyle/>
          <a:p>
            <a:pPr algn="r"/>
            <a:r>
              <a:rPr sz="900" b="0" i="0">
                <a:solidFill>
                  <a:srgbClr val="666666"/>
                </a:solidFill>
                <a:latin typeface="Calibri"/>
              </a:rPr>
              <a:t>2026-06-24  ·  8</a:t>
            </a:r>
          </a:p>
        </p:txBody>
      </p:sp>
      <p:sp>
        <p:nvSpPr>
          <p:cNvPr id="8" name="TextBox 7">
            <a:extLst>
              <a:ext uri="{FF2B5EF4-FFF2-40B4-BE49-F238E27FC236}">
                <a16:creationId xmlns:a16="http://schemas.microsoft.com/office/drawing/2014/main" id="{41698356-6115-A36D-86DF-D2EAFEF56666}"/>
              </a:ext>
            </a:extLst>
          </p:cNvPr>
          <p:cNvSpPr txBox="1"/>
          <p:nvPr/>
        </p:nvSpPr>
        <p:spPr>
          <a:xfrm>
            <a:off x="1960293" y="6464808"/>
            <a:ext cx="6974378" cy="175433"/>
          </a:xfrm>
          <a:prstGeom prst="rect">
            <a:avLst/>
          </a:prstGeom>
          <a:noFill/>
        </p:spPr>
        <p:txBody>
          <a:bodyPr wrap="square" lIns="45720" tIns="18288" rIns="45720" bIns="18288" anchor="t">
            <a:spAutoFit/>
          </a:bodyPr>
          <a:lstStyle/>
          <a:p>
            <a:r>
              <a:rPr sz="900" b="0" i="0" dirty="0">
                <a:solidFill>
                  <a:srgbClr val="666666"/>
                </a:solidFill>
                <a:latin typeface="Calibri"/>
              </a:rPr>
              <a:t>DATA3 single-salt NF270 diafiltration  ·  collaborator update</a:t>
            </a:r>
          </a:p>
        </p:txBody>
      </p:sp>
      <p:pic>
        <p:nvPicPr>
          <p:cNvPr id="9" name="Picture 8" descr="notre_dame_logo.png">
            <a:extLst>
              <a:ext uri="{FF2B5EF4-FFF2-40B4-BE49-F238E27FC236}">
                <a16:creationId xmlns:a16="http://schemas.microsoft.com/office/drawing/2014/main" id="{5E52E299-62C2-D31E-CA89-89AA479AA9F3}"/>
              </a:ext>
            </a:extLst>
          </p:cNvPr>
          <p:cNvPicPr>
            <a:picLocks noChangeAspect="1"/>
          </p:cNvPicPr>
          <p:nvPr/>
        </p:nvPicPr>
        <p:blipFill>
          <a:blip r:embed="rId3"/>
          <a:stretch>
            <a:fillRect/>
          </a:stretch>
        </p:blipFill>
        <p:spPr>
          <a:xfrm>
            <a:off x="167873" y="6500930"/>
            <a:ext cx="944413" cy="2203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557BD-A469-F3EC-A0F4-63774E934EC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EFFAE4-ED45-2313-DA6D-5CA6430E35D4}"/>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CD7CF26-797A-E524-4094-AE3A6A686599}"/>
              </a:ext>
            </a:extLst>
          </p:cNvPr>
          <p:cNvSpPr txBox="1"/>
          <p:nvPr/>
        </p:nvSpPr>
        <p:spPr>
          <a:xfrm>
            <a:off x="822960" y="3102757"/>
            <a:ext cx="10515600" cy="652486"/>
          </a:xfrm>
          <a:prstGeom prst="rect">
            <a:avLst/>
          </a:prstGeom>
          <a:noFill/>
        </p:spPr>
        <p:txBody>
          <a:bodyPr wrap="square" lIns="45720" tIns="18288" rIns="45720" bIns="18288" anchor="t">
            <a:spAutoFit/>
          </a:bodyPr>
          <a:lstStyle/>
          <a:p>
            <a:pPr algn="ctr"/>
            <a:r>
              <a:rPr lang="en-US" sz="4000" b="1" i="0" dirty="0">
                <a:solidFill>
                  <a:srgbClr val="0C2340"/>
                </a:solidFill>
                <a:latin typeface="Cambria"/>
              </a:rPr>
              <a:t>Backup Slides</a:t>
            </a:r>
            <a:endParaRPr sz="2000" b="0" i="0" dirty="0">
              <a:solidFill>
                <a:srgbClr val="B88A00"/>
              </a:solidFill>
              <a:latin typeface="Calibri"/>
            </a:endParaRPr>
          </a:p>
        </p:txBody>
      </p:sp>
      <p:pic>
        <p:nvPicPr>
          <p:cNvPr id="5" name="Picture 4" descr="notre_dame_logo.png">
            <a:extLst>
              <a:ext uri="{FF2B5EF4-FFF2-40B4-BE49-F238E27FC236}">
                <a16:creationId xmlns:a16="http://schemas.microsoft.com/office/drawing/2014/main" id="{27AFF156-9D58-DC39-A73D-C47137A51AA0}"/>
              </a:ext>
            </a:extLst>
          </p:cNvPr>
          <p:cNvPicPr>
            <a:picLocks noChangeAspect="1"/>
          </p:cNvPicPr>
          <p:nvPr/>
        </p:nvPicPr>
        <p:blipFill>
          <a:blip r:embed="rId2"/>
          <a:stretch>
            <a:fillRect/>
          </a:stretch>
        </p:blipFill>
        <p:spPr>
          <a:xfrm>
            <a:off x="9966960" y="769620"/>
            <a:ext cx="1828800" cy="426720"/>
          </a:xfrm>
          <a:prstGeom prst="rect">
            <a:avLst/>
          </a:prstGeom>
        </p:spPr>
      </p:pic>
    </p:spTree>
    <p:extLst>
      <p:ext uri="{BB962C8B-B14F-4D97-AF65-F5344CB8AC3E}">
        <p14:creationId xmlns:p14="http://schemas.microsoft.com/office/powerpoint/2010/main" val="3030826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86406C9A-957D-B953-4211-5F6E01AFE29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AB5DB10-D10D-107F-1A4C-BF4F27CB9884}"/>
                  </a:ext>
                </a:extLst>
              </p:cNvPr>
              <p:cNvSpPr txBox="1"/>
              <p:nvPr/>
            </p:nvSpPr>
            <p:spPr>
              <a:xfrm>
                <a:off x="4113667" y="3328463"/>
                <a:ext cx="3185487" cy="2975623"/>
              </a:xfrm>
              <a:prstGeom prst="rect">
                <a:avLst/>
              </a:prstGeom>
              <a:noFill/>
            </p:spPr>
            <p:txBody>
              <a:bodyPr wrap="none" rtlCol="0">
                <a:spAutoFit/>
              </a:bodyPr>
              <a:lstStyle/>
              <a:p>
                <a:r>
                  <a:rPr lang="en-US" sz="1600" dirty="0">
                    <a:ea typeface="Cambria Math" panose="02040503050406030204" pitchFamily="18" charset="0"/>
                  </a:rPr>
                  <a:t>Water flux across the membrane</a:t>
                </a:r>
              </a:p>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𝐽</m:t>
                          </m:r>
                        </m:e>
                        <m:sub>
                          <m:r>
                            <a:rPr lang="en-US" sz="1600" b="0" i="1" smtClean="0">
                              <a:latin typeface="Cambria Math" panose="02040503050406030204" pitchFamily="18" charset="0"/>
                              <a:ea typeface="Cambria Math" panose="02040503050406030204" pitchFamily="18" charset="0"/>
                            </a:rPr>
                            <m:t>𝑤</m:t>
                          </m:r>
                        </m:sub>
                      </m:sSub>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𝐿</m:t>
                          </m:r>
                        </m:e>
                        <m:sub>
                          <m:r>
                            <a:rPr lang="en-US" sz="1600" b="0" i="1" smtClean="0">
                              <a:latin typeface="Cambria Math" panose="02040503050406030204" pitchFamily="18" charset="0"/>
                              <a:ea typeface="Cambria Math" panose="02040503050406030204" pitchFamily="18" charset="0"/>
                            </a:rPr>
                            <m:t>𝑝</m:t>
                          </m:r>
                        </m:sub>
                      </m:sSub>
                      <m:r>
                        <a:rPr lang="en-US" sz="1600" b="0" i="1" smtClean="0">
                          <a:latin typeface="Cambria Math" panose="02040503050406030204" pitchFamily="18" charset="0"/>
                          <a:ea typeface="Cambria Math" panose="02040503050406030204" pitchFamily="18" charset="0"/>
                        </a:rPr>
                        <m:t>(</m:t>
                      </m:r>
                      <m:r>
                        <m:rPr>
                          <m:sty m:val="p"/>
                        </m:rPr>
                        <a:rPr lang="en-US" sz="1600" b="0" i="0" smtClean="0">
                          <a:latin typeface="Cambria Math" panose="02040503050406030204" pitchFamily="18" charset="0"/>
                          <a:ea typeface="Cambria Math" panose="02040503050406030204" pitchFamily="18" charset="0"/>
                        </a:rPr>
                        <m:t>Δ</m:t>
                      </m:r>
                      <m:r>
                        <a:rPr lang="en-US" sz="1600" b="0" i="1" smtClean="0">
                          <a:latin typeface="Cambria Math" panose="02040503050406030204" pitchFamily="18" charset="0"/>
                          <a:ea typeface="Cambria Math" panose="02040503050406030204" pitchFamily="18" charset="0"/>
                        </a:rPr>
                        <m:t>𝑃</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𝜎</m:t>
                      </m:r>
                      <m:r>
                        <m:rPr>
                          <m:sty m:val="p"/>
                        </m:rPr>
                        <a:rPr lang="en-US" sz="1600" b="0" i="0" smtClean="0">
                          <a:latin typeface="Cambria Math" panose="02040503050406030204" pitchFamily="18" charset="0"/>
                          <a:ea typeface="Cambria Math" panose="02040503050406030204" pitchFamily="18" charset="0"/>
                        </a:rPr>
                        <m:t>Δ</m:t>
                      </m:r>
                      <m:r>
                        <a:rPr lang="en-US" sz="1600" b="0" i="1" smtClean="0">
                          <a:latin typeface="Cambria Math" panose="02040503050406030204" pitchFamily="18" charset="0"/>
                          <a:ea typeface="Cambria Math" panose="02040503050406030204" pitchFamily="18" charset="0"/>
                        </a:rPr>
                        <m:t>𝜋</m:t>
                      </m:r>
                      <m:r>
                        <a:rPr lang="en-US" sz="1600" b="0" i="1" smtClean="0">
                          <a:latin typeface="Cambria Math" panose="02040503050406030204" pitchFamily="18" charset="0"/>
                          <a:ea typeface="Cambria Math" panose="02040503050406030204" pitchFamily="18" charset="0"/>
                        </a:rPr>
                        <m:t>)</m:t>
                      </m:r>
                    </m:oMath>
                  </m:oMathPara>
                </a14:m>
                <a:endParaRPr lang="en-US" sz="16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en-US" sz="1600">
                          <a:latin typeface="Cambria Math" panose="02040503050406030204" pitchFamily="18" charset="0"/>
                          <a:ea typeface="Cambria Math" panose="02040503050406030204" pitchFamily="18" charset="0"/>
                        </a:rPr>
                        <m:t>Δ</m:t>
                      </m:r>
                      <m:r>
                        <a:rPr lang="en-US" sz="1600" i="1">
                          <a:latin typeface="Cambria Math" panose="02040503050406030204" pitchFamily="18" charset="0"/>
                          <a:ea typeface="Cambria Math" panose="02040503050406030204" pitchFamily="18" charset="0"/>
                        </a:rPr>
                        <m:t>𝜋</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𝑛𝑅𝑇</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𝑖𝑛</m:t>
                          </m:r>
                        </m:sub>
                      </m:sSub>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h</m:t>
                          </m:r>
                        </m:sub>
                      </m:sSub>
                      <m:r>
                        <a:rPr lang="en-US" sz="1600" b="0" i="1" smtClean="0">
                          <a:latin typeface="Cambria Math" panose="02040503050406030204" pitchFamily="18" charset="0"/>
                          <a:ea typeface="Cambria Math" panose="02040503050406030204" pitchFamily="18" charset="0"/>
                        </a:rPr>
                        <m:t>)</m:t>
                      </m:r>
                    </m:oMath>
                  </m:oMathPara>
                </a14:m>
                <a:endParaRPr lang="ar-AE" sz="1600" i="1" dirty="0">
                  <a:latin typeface="Cambria Math" panose="02040503050406030204" pitchFamily="18" charset="0"/>
                  <a:ea typeface="Cambria Math" panose="02040503050406030204" pitchFamily="18" charset="0"/>
                </a:endParaRPr>
              </a:p>
              <a:p>
                <a:r>
                  <a:rPr lang="en-US" sz="1600" dirty="0">
                    <a:ea typeface="Cambria Math" panose="02040503050406030204" pitchFamily="18" charset="0"/>
                  </a:rPr>
                  <a:t>Solute flux across the membrane</a:t>
                </a:r>
              </a:p>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𝐽</m:t>
                          </m:r>
                        </m:e>
                        <m:sub>
                          <m:r>
                            <a:rPr lang="en-US" sz="1600" b="0" i="1" smtClean="0">
                              <a:latin typeface="Cambria Math" panose="02040503050406030204" pitchFamily="18" charset="0"/>
                              <a:ea typeface="Cambria Math" panose="02040503050406030204" pitchFamily="18" charset="0"/>
                            </a:rPr>
                            <m:t>𝑠</m:t>
                          </m:r>
                        </m:sub>
                      </m:sSub>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𝐵</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𝑖𝑛</m:t>
                          </m:r>
                        </m:sub>
                      </m:sSub>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h</m:t>
                          </m:r>
                        </m:sub>
                      </m:sSub>
                      <m:r>
                        <a:rPr lang="en-US" sz="1600" b="0" i="1" smtClean="0">
                          <a:latin typeface="Cambria Math" panose="02040503050406030204" pitchFamily="18" charset="0"/>
                          <a:ea typeface="Cambria Math" panose="02040503050406030204" pitchFamily="18" charset="0"/>
                        </a:rPr>
                        <m:t>)</m:t>
                      </m:r>
                    </m:oMath>
                  </m:oMathPara>
                </a14:m>
                <a:endParaRPr lang="en-US" sz="1600" dirty="0"/>
              </a:p>
              <a:p>
                <a:endParaRPr lang="en-US" sz="1600" dirty="0"/>
              </a:p>
              <a:p>
                <a:r>
                  <a:rPr lang="en-US" sz="1600" dirty="0"/>
                  <a:t>Concentration polarization</a:t>
                </a:r>
              </a:p>
              <a:p>
                <a:pPr/>
                <a14:m>
                  <m:oMathPara xmlns:m="http://schemas.openxmlformats.org/officeDocument/2006/math">
                    <m:oMathParaPr>
                      <m:jc m:val="centerGroup"/>
                    </m:oMathParaPr>
                    <m:oMath xmlns:m="http://schemas.openxmlformats.org/officeDocument/2006/math">
                      <m:f>
                        <m:fPr>
                          <m:ctrlPr>
                            <a:rPr lang="ar-AE" sz="1600" i="1" smtClean="0">
                              <a:latin typeface="Cambria Math" panose="02040503050406030204" pitchFamily="18" charset="0"/>
                              <a:ea typeface="Cambria Math" panose="02040503050406030204" pitchFamily="18" charset="0"/>
                            </a:rPr>
                          </m:ctrlPr>
                        </m:fPr>
                        <m:num>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𝑖𝑛</m:t>
                              </m:r>
                            </m:sub>
                          </m:sSub>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h</m:t>
                              </m:r>
                            </m:sub>
                          </m:sSub>
                        </m:num>
                        <m:den>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𝑓</m:t>
                              </m:r>
                            </m:sub>
                          </m:sSub>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b="0" i="1" smtClean="0">
                                  <a:latin typeface="Cambria Math" panose="02040503050406030204" pitchFamily="18" charset="0"/>
                                  <a:ea typeface="Cambria Math" panose="02040503050406030204" pitchFamily="18" charset="0"/>
                                </a:rPr>
                                <m:t>h</m:t>
                              </m:r>
                            </m:sub>
                          </m:sSub>
                        </m:den>
                      </m:f>
                      <m:r>
                        <a:rPr lang="ar-AE" sz="1600">
                          <a:latin typeface="Cambria Math" panose="02040503050406030204" pitchFamily="18" charset="0"/>
                          <a:ea typeface="Cambria Math" panose="02040503050406030204" pitchFamily="18" charset="0"/>
                        </a:rPr>
                        <m:t>=</m:t>
                      </m:r>
                      <m:r>
                        <a:rPr lang="en-US" sz="1600" b="0" i="0" smtClean="0">
                          <a:latin typeface="Cambria Math" panose="02040503050406030204" pitchFamily="18" charset="0"/>
                          <a:ea typeface="Cambria Math" panose="02040503050406030204" pitchFamily="18" charset="0"/>
                        </a:rPr>
                        <m:t>𝑒𝑥𝑝</m:t>
                      </m:r>
                      <m:d>
                        <m:dPr>
                          <m:ctrlPr>
                            <a:rPr lang="en-US" sz="1600" b="0" i="1" smtClean="0">
                              <a:latin typeface="Cambria Math" panose="02040503050406030204" pitchFamily="18" charset="0"/>
                              <a:ea typeface="Cambria Math" panose="02040503050406030204" pitchFamily="18" charset="0"/>
                            </a:rPr>
                          </m:ctrlPr>
                        </m:dPr>
                        <m:e>
                          <m:f>
                            <m:fPr>
                              <m:ctrlPr>
                                <a:rPr lang="en-US" sz="1600" i="1">
                                  <a:latin typeface="Cambria Math" panose="02040503050406030204" pitchFamily="18" charset="0"/>
                                  <a:ea typeface="Cambria Math" panose="02040503050406030204" pitchFamily="18" charset="0"/>
                                </a:rPr>
                              </m:ctrlPr>
                            </m:fPr>
                            <m:num>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𝐽</m:t>
                                  </m:r>
                                </m:e>
                                <m:sub>
                                  <m:r>
                                    <a:rPr lang="en-US" sz="1600" i="1">
                                      <a:latin typeface="Cambria Math" panose="02040503050406030204" pitchFamily="18" charset="0"/>
                                      <a:ea typeface="Cambria Math" panose="02040503050406030204" pitchFamily="18" charset="0"/>
                                    </a:rPr>
                                    <m:t>𝑤</m:t>
                                  </m:r>
                                </m:sub>
                              </m:sSub>
                            </m:num>
                            <m:den>
                              <m:r>
                                <a:rPr lang="en-US" sz="1600" i="1">
                                  <a:latin typeface="Cambria Math" panose="02040503050406030204" pitchFamily="18" charset="0"/>
                                  <a:ea typeface="Cambria Math" panose="02040503050406030204" pitchFamily="18" charset="0"/>
                                </a:rPr>
                                <m:t>𝑘</m:t>
                              </m:r>
                            </m:den>
                          </m:f>
                        </m:e>
                      </m:d>
                    </m:oMath>
                  </m:oMathPara>
                </a14:m>
                <a:endParaRPr lang="en-US" sz="160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US" sz="1600" i="1">
                              <a:latin typeface="Cambria Math" panose="02040503050406030204" pitchFamily="18" charset="0"/>
                              <a:ea typeface="Cambria Math" panose="02040503050406030204" pitchFamily="18" charset="0"/>
                            </a:rPr>
                          </m:ctrlPr>
                        </m:fPr>
                        <m:num>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𝑘</m:t>
                              </m:r>
                            </m:e>
                            <m:sub>
                              <m:r>
                                <a:rPr lang="en-US" sz="1600" i="1">
                                  <a:latin typeface="Cambria Math" panose="02040503050406030204" pitchFamily="18" charset="0"/>
                                  <a:ea typeface="Cambria Math" panose="02040503050406030204" pitchFamily="18" charset="0"/>
                                </a:rPr>
                                <m:t>𝑏</m:t>
                              </m:r>
                            </m:sub>
                          </m:sSub>
                        </m:num>
                        <m:den>
                          <m:r>
                            <a:rPr lang="en-US" sz="1600" i="1">
                              <a:latin typeface="Cambria Math" panose="02040503050406030204" pitchFamily="18" charset="0"/>
                              <a:ea typeface="Cambria Math" panose="02040503050406030204" pitchFamily="18" charset="0"/>
                            </a:rPr>
                            <m:t>𝐷</m:t>
                          </m:r>
                        </m:den>
                      </m:f>
                      <m:r>
                        <a:rPr lang="en-US" sz="1600" i="1">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ea typeface="Cambria Math" panose="02040503050406030204" pitchFamily="18" charset="0"/>
                            </a:rPr>
                          </m:ctrlPr>
                        </m:sSupPr>
                        <m:e>
                          <m:d>
                            <m:dPr>
                              <m:ctrlPr>
                                <a:rPr lang="en-US" sz="1600" i="1">
                                  <a:latin typeface="Cambria Math" panose="02040503050406030204" pitchFamily="18" charset="0"/>
                                  <a:ea typeface="Cambria Math" panose="02040503050406030204" pitchFamily="18" charset="0"/>
                                </a:rPr>
                              </m:ctrlPr>
                            </m:dPr>
                            <m:e>
                              <m:f>
                                <m:fPr>
                                  <m:ctrlPr>
                                    <a:rPr lang="en-US"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𝑏</m:t>
                                  </m:r>
                                  <m:sSup>
                                    <m:sSupPr>
                                      <m:ctrlPr>
                                        <a:rPr lang="en-US" sz="1600" i="1">
                                          <a:latin typeface="Cambria Math" panose="02040503050406030204" pitchFamily="18" charset="0"/>
                                          <a:ea typeface="Cambria Math" panose="02040503050406030204" pitchFamily="18" charset="0"/>
                                        </a:rPr>
                                      </m:ctrlPr>
                                    </m:sSupPr>
                                    <m:e>
                                      <m:r>
                                        <a:rPr lang="en-US" sz="1600" i="1">
                                          <a:latin typeface="Cambria Math" panose="02040503050406030204" pitchFamily="18" charset="0"/>
                                          <a:ea typeface="Cambria Math" panose="02040503050406030204" pitchFamily="18" charset="0"/>
                                        </a:rPr>
                                        <m:t>𝜈</m:t>
                                      </m:r>
                                    </m:e>
                                    <m:sup>
                                      <m:r>
                                        <a:rPr lang="en-US" sz="1600" i="1">
                                          <a:latin typeface="Cambria Math" panose="02040503050406030204" pitchFamily="18" charset="0"/>
                                          <a:ea typeface="Cambria Math" panose="02040503050406030204" pitchFamily="18" charset="0"/>
                                        </a:rPr>
                                        <m:t>0</m:t>
                                      </m:r>
                                    </m:sup>
                                  </m:sSup>
                                  <m:r>
                                    <a:rPr lang="en-US" sz="1600" i="1">
                                      <a:latin typeface="Cambria Math" panose="02040503050406030204" pitchFamily="18" charset="0"/>
                                      <a:ea typeface="Cambria Math" panose="02040503050406030204" pitchFamily="18" charset="0"/>
                                    </a:rPr>
                                    <m:t> </m:t>
                                  </m:r>
                                </m:num>
                                <m:den>
                                  <m:r>
                                    <a:rPr lang="en-US" sz="1600" i="1">
                                      <a:latin typeface="Cambria Math" panose="02040503050406030204" pitchFamily="18" charset="0"/>
                                      <a:ea typeface="Cambria Math" panose="02040503050406030204" pitchFamily="18" charset="0"/>
                                    </a:rPr>
                                    <m:t>𝜈</m:t>
                                  </m:r>
                                </m:den>
                              </m:f>
                            </m:e>
                          </m:d>
                        </m:e>
                        <m:sup>
                          <m:r>
                            <a:rPr lang="en-US" sz="1600" i="1">
                              <a:latin typeface="Cambria Math" panose="02040503050406030204" pitchFamily="18" charset="0"/>
                              <a:ea typeface="Cambria Math" panose="02040503050406030204" pitchFamily="18" charset="0"/>
                            </a:rPr>
                            <m:t>0.57</m:t>
                          </m:r>
                        </m:sup>
                      </m:sSup>
                      <m:sSup>
                        <m:sSupPr>
                          <m:ctrlPr>
                            <a:rPr lang="en-US" sz="1600" i="1">
                              <a:latin typeface="Cambria Math" panose="02040503050406030204" pitchFamily="18" charset="0"/>
                              <a:ea typeface="Cambria Math" panose="02040503050406030204" pitchFamily="18" charset="0"/>
                            </a:rPr>
                          </m:ctrlPr>
                        </m:sSupPr>
                        <m:e>
                          <m:d>
                            <m:dPr>
                              <m:ctrlPr>
                                <a:rPr lang="en-US" sz="1600" i="1">
                                  <a:latin typeface="Cambria Math" panose="02040503050406030204" pitchFamily="18" charset="0"/>
                                  <a:ea typeface="Cambria Math" panose="02040503050406030204" pitchFamily="18" charset="0"/>
                                </a:rPr>
                              </m:ctrlPr>
                            </m:dPr>
                            <m:e>
                              <m:f>
                                <m:fPr>
                                  <m:ctrlPr>
                                    <a:rPr lang="en-US"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𝜈</m:t>
                                  </m:r>
                                </m:num>
                                <m:den>
                                  <m:r>
                                    <a:rPr lang="en-US" sz="1600" i="1">
                                      <a:latin typeface="Cambria Math" panose="02040503050406030204" pitchFamily="18" charset="0"/>
                                      <a:ea typeface="Cambria Math" panose="02040503050406030204" pitchFamily="18" charset="0"/>
                                    </a:rPr>
                                    <m:t>𝐷</m:t>
                                  </m:r>
                                </m:den>
                              </m:f>
                            </m:e>
                          </m:d>
                        </m:e>
                        <m:sup>
                          <m:r>
                            <a:rPr lang="en-US" sz="1600" i="1">
                              <a:latin typeface="Cambria Math" panose="02040503050406030204" pitchFamily="18" charset="0"/>
                              <a:ea typeface="Cambria Math" panose="02040503050406030204" pitchFamily="18" charset="0"/>
                            </a:rPr>
                            <m:t>0.33</m:t>
                          </m:r>
                        </m:sup>
                      </m:sSup>
                    </m:oMath>
                  </m:oMathPara>
                </a14:m>
                <a:endParaRPr lang="ar-AE" sz="1600" i="1" dirty="0">
                  <a:latin typeface="Cambria Math" panose="02040503050406030204" pitchFamily="18" charset="0"/>
                  <a:ea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FAB5DB10-D10D-107F-1A4C-BF4F27CB9884}"/>
                  </a:ext>
                </a:extLst>
              </p:cNvPr>
              <p:cNvSpPr txBox="1">
                <a:spLocks noRot="1" noChangeAspect="1" noMove="1" noResize="1" noEditPoints="1" noAdjustHandles="1" noChangeArrowheads="1" noChangeShapeType="1" noTextEdit="1"/>
              </p:cNvSpPr>
              <p:nvPr/>
            </p:nvSpPr>
            <p:spPr>
              <a:xfrm>
                <a:off x="4113667" y="3328463"/>
                <a:ext cx="3185487" cy="2975623"/>
              </a:xfrm>
              <a:prstGeom prst="rect">
                <a:avLst/>
              </a:prstGeom>
              <a:blipFill>
                <a:blip r:embed="rId3"/>
                <a:stretch>
                  <a:fillRect l="-1195" t="-851" r="-398"/>
                </a:stretch>
              </a:blipFill>
            </p:spPr>
            <p:txBody>
              <a:bodyPr/>
              <a:lstStyle/>
              <a:p>
                <a:r>
                  <a:rPr lang="en-US">
                    <a:noFill/>
                  </a:rPr>
                  <a:t> </a:t>
                </a:r>
              </a:p>
            </p:txBody>
          </p:sp>
        </mc:Fallback>
      </mc:AlternateContent>
      <p:sp>
        <p:nvSpPr>
          <p:cNvPr id="894" name="Google Shape;894;p33">
            <a:extLst>
              <a:ext uri="{FF2B5EF4-FFF2-40B4-BE49-F238E27FC236}">
                <a16:creationId xmlns:a16="http://schemas.microsoft.com/office/drawing/2014/main" id="{D0F6B50B-01C7-E215-87E1-84A559225CB1}"/>
              </a:ext>
            </a:extLst>
          </p:cNvPr>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200"/>
              <a:buFont typeface="Arial"/>
              <a:buNone/>
            </a:pPr>
            <a:r>
              <a:rPr lang="it-IT" dirty="0"/>
              <a:t>Physics-Based Model Links Data to </a:t>
            </a:r>
            <a:r>
              <a:rPr lang="it-IT" dirty="0" err="1"/>
              <a:t>Transport</a:t>
            </a:r>
            <a:r>
              <a:rPr lang="it-IT" dirty="0"/>
              <a:t> </a:t>
            </a:r>
            <a:r>
              <a:rPr lang="it-IT" dirty="0" err="1"/>
              <a:t>Parameters</a:t>
            </a:r>
            <a:endParaRPr dirty="0"/>
          </a:p>
        </p:txBody>
      </p:sp>
      <p:sp>
        <p:nvSpPr>
          <p:cNvPr id="895" name="Google Shape;895;p33">
            <a:extLst>
              <a:ext uri="{FF2B5EF4-FFF2-40B4-BE49-F238E27FC236}">
                <a16:creationId xmlns:a16="http://schemas.microsoft.com/office/drawing/2014/main" id="{F2E7C0C0-5A04-809B-2EC8-E466DF789063}"/>
              </a:ext>
            </a:extLst>
          </p:cNvPr>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pic>
        <p:nvPicPr>
          <p:cNvPr id="12" name="Picture 11" descr="Diagram, engineering drawing&#10;&#10;Description automatically generated">
            <a:extLst>
              <a:ext uri="{FF2B5EF4-FFF2-40B4-BE49-F238E27FC236}">
                <a16:creationId xmlns:a16="http://schemas.microsoft.com/office/drawing/2014/main" id="{A6EF61DE-E6C0-63EB-B5B3-80EC393F325E}"/>
              </a:ext>
            </a:extLst>
          </p:cNvPr>
          <p:cNvPicPr>
            <a:picLocks noChangeAspect="1"/>
          </p:cNvPicPr>
          <p:nvPr/>
        </p:nvPicPr>
        <p:blipFill>
          <a:blip r:embed="rId4"/>
          <a:stretch>
            <a:fillRect/>
          </a:stretch>
        </p:blipFill>
        <p:spPr>
          <a:xfrm>
            <a:off x="3153796" y="766603"/>
            <a:ext cx="4347188" cy="2377517"/>
          </a:xfrm>
          <a:prstGeom prst="rect">
            <a:avLst/>
          </a:prstGeom>
        </p:spPr>
      </p:pic>
      <p:sp>
        <p:nvSpPr>
          <p:cNvPr id="15" name="Google Shape;816;p27">
            <a:extLst>
              <a:ext uri="{FF2B5EF4-FFF2-40B4-BE49-F238E27FC236}">
                <a16:creationId xmlns:a16="http://schemas.microsoft.com/office/drawing/2014/main" id="{B5F4EADA-F6C9-E705-2BA0-62D3AE16F8CC}"/>
              </a:ext>
            </a:extLst>
          </p:cNvPr>
          <p:cNvSpPr txBox="1"/>
          <p:nvPr/>
        </p:nvSpPr>
        <p:spPr>
          <a:xfrm>
            <a:off x="1426730" y="6492875"/>
            <a:ext cx="9800070" cy="365125"/>
          </a:xfrm>
          <a:prstGeom prst="rect">
            <a:avLst/>
          </a:prstGeom>
          <a:noFill/>
          <a:ln>
            <a:noFill/>
          </a:ln>
        </p:spPr>
        <p:txBody>
          <a:bodyPr spcFirstLastPara="1" wrap="square" lIns="91425" tIns="45700" rIns="91425" bIns="45700" anchor="ctr" anchorCtr="0">
            <a:noAutofit/>
          </a:bodyPr>
          <a:lstStyle/>
          <a:p>
            <a:pPr lvl="0"/>
            <a:r>
              <a:rPr lang="en-US" sz="1200" dirty="0">
                <a:solidFill>
                  <a:srgbClr val="7F7F7F"/>
                </a:solidFill>
                <a:latin typeface="Arial"/>
                <a:ea typeface="Arial"/>
                <a:cs typeface="Arial"/>
                <a:sym typeface="Arial"/>
              </a:rPr>
              <a:t>[</a:t>
            </a:r>
            <a:r>
              <a:rPr lang="en-US" sz="1200" dirty="0">
                <a:solidFill>
                  <a:srgbClr val="7F7F7F"/>
                </a:solidFill>
              </a:rPr>
              <a:t>Fig.] Ouimet, J. A. et. al., (2022). Journal of Membrane Science, 641, 119743. </a:t>
            </a:r>
            <a:endParaRPr sz="1200" dirty="0">
              <a:solidFill>
                <a:srgbClr val="7F7F7F"/>
              </a:solidFill>
              <a:latin typeface="Arial"/>
              <a:ea typeface="Arial"/>
              <a:cs typeface="Arial"/>
              <a:sym typeface="Arial"/>
            </a:endParaRPr>
          </a:p>
        </p:txBody>
      </p:sp>
      <p:sp>
        <p:nvSpPr>
          <p:cNvPr id="6" name="Rectangle 5">
            <a:extLst>
              <a:ext uri="{FF2B5EF4-FFF2-40B4-BE49-F238E27FC236}">
                <a16:creationId xmlns:a16="http://schemas.microsoft.com/office/drawing/2014/main" id="{80E4BDD2-AC0F-6B4C-23DB-2782D06A21FD}"/>
              </a:ext>
            </a:extLst>
          </p:cNvPr>
          <p:cNvSpPr/>
          <p:nvPr/>
        </p:nvSpPr>
        <p:spPr>
          <a:xfrm>
            <a:off x="5252009" y="3618209"/>
            <a:ext cx="288179" cy="2817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19" name="TextBox 918">
                <a:extLst>
                  <a:ext uri="{FF2B5EF4-FFF2-40B4-BE49-F238E27FC236}">
                    <a16:creationId xmlns:a16="http://schemas.microsoft.com/office/drawing/2014/main" id="{52CF18C3-190B-E245-C5FC-74AB4646068C}"/>
                  </a:ext>
                </a:extLst>
              </p:cNvPr>
              <p:cNvSpPr txBox="1"/>
              <p:nvPr/>
            </p:nvSpPr>
            <p:spPr>
              <a:xfrm>
                <a:off x="181028" y="891858"/>
                <a:ext cx="4189989" cy="1824282"/>
              </a:xfrm>
              <a:prstGeom prst="rect">
                <a:avLst/>
              </a:prstGeom>
              <a:noFill/>
            </p:spPr>
            <p:txBody>
              <a:bodyPr wrap="square" rtlCol="0">
                <a:spAutoFit/>
              </a:bodyPr>
              <a:lstStyle/>
              <a:p>
                <a:r>
                  <a:rPr lang="en-US" sz="1600" b="1" dirty="0"/>
                  <a:t>Forward Model</a:t>
                </a:r>
                <a:endParaRPr lang="en-US" sz="1600" i="1" dirty="0"/>
              </a:p>
              <a:p>
                <a:pPr/>
                <a14:m>
                  <m:oMathPara xmlns:m="http://schemas.openxmlformats.org/officeDocument/2006/math">
                    <m:oMathParaPr>
                      <m:jc m:val="left"/>
                    </m:oMathParaPr>
                    <m:oMath xmlns:m="http://schemas.openxmlformats.org/officeDocument/2006/math">
                      <m:f>
                        <m:fPr>
                          <m:ctrlPr>
                            <a:rPr lang="en-US" sz="1600" i="1">
                              <a:latin typeface="Cambria Math" panose="02040503050406030204" pitchFamily="18" charset="0"/>
                            </a:rPr>
                          </m:ctrlPr>
                        </m:fPr>
                        <m:num>
                          <m:r>
                            <a:rPr lang="en-US" sz="1600" i="1">
                              <a:latin typeface="Cambria Math" panose="02040503050406030204" pitchFamily="18" charset="0"/>
                            </a:rPr>
                            <m:t>𝑑</m:t>
                          </m:r>
                          <m:r>
                            <a:rPr lang="en-US" sz="1600" b="1" i="1">
                              <a:latin typeface="Cambria Math" panose="02040503050406030204" pitchFamily="18" charset="0"/>
                            </a:rPr>
                            <m:t>𝒙</m:t>
                          </m:r>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m:t>
                          </m:r>
                        </m:num>
                        <m:den>
                          <m:r>
                            <a:rPr lang="en-US" sz="1600" i="1">
                              <a:latin typeface="Cambria Math" panose="02040503050406030204" pitchFamily="18" charset="0"/>
                            </a:rPr>
                            <m:t>𝑑𝑡</m:t>
                          </m:r>
                        </m:den>
                      </m:f>
                      <m:r>
                        <a:rPr lang="en-US" sz="1600" i="1">
                          <a:latin typeface="Cambria Math" panose="02040503050406030204" pitchFamily="18" charset="0"/>
                        </a:rPr>
                        <m:t>=</m:t>
                      </m:r>
                      <m:r>
                        <a:rPr lang="en-US" sz="1600" b="1" i="1">
                          <a:latin typeface="Cambria Math" panose="02040503050406030204" pitchFamily="18" charset="0"/>
                        </a:rPr>
                        <m:t>𝒈</m:t>
                      </m:r>
                      <m:r>
                        <a:rPr lang="en-US" sz="1600" i="1">
                          <a:latin typeface="Cambria Math" panose="02040503050406030204" pitchFamily="18" charset="0"/>
                        </a:rPr>
                        <m:t>(</m:t>
                      </m:r>
                      <m:r>
                        <a:rPr lang="en-US" sz="1600" b="1" i="1">
                          <a:latin typeface="Cambria Math" panose="02040503050406030204" pitchFamily="18" charset="0"/>
                        </a:rPr>
                        <m:t>𝒙</m:t>
                      </m:r>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m:t>
                      </m:r>
                      <m:r>
                        <a:rPr lang="en-US" sz="1600" b="1" i="1">
                          <a:latin typeface="Cambria Math" panose="02040503050406030204" pitchFamily="18" charset="0"/>
                        </a:rPr>
                        <m:t>𝒖</m:t>
                      </m:r>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m:t>
                      </m:r>
                      <m:r>
                        <a:rPr lang="en-US" sz="1600" b="1" i="1">
                          <a:latin typeface="Cambria Math" panose="02040503050406030204" pitchFamily="18" charset="0"/>
                        </a:rPr>
                        <m:t>𝜽</m:t>
                      </m:r>
                      <m:r>
                        <a:rPr lang="en-US" sz="1600" i="1">
                          <a:latin typeface="Cambria Math" panose="02040503050406030204" pitchFamily="18" charset="0"/>
                        </a:rPr>
                        <m:t>)</m:t>
                      </m:r>
                    </m:oMath>
                    <m:oMath xmlns:m="http://schemas.openxmlformats.org/officeDocument/2006/math">
                      <m:acc>
                        <m:accPr>
                          <m:chr m:val="̂"/>
                          <m:ctrlPr>
                            <a:rPr lang="en-US" sz="1600" b="1" i="1">
                              <a:latin typeface="Cambria Math" panose="02040503050406030204" pitchFamily="18" charset="0"/>
                            </a:rPr>
                          </m:ctrlPr>
                        </m:accPr>
                        <m:e>
                          <m:r>
                            <a:rPr lang="en-US" sz="1600" b="1" i="1">
                              <a:latin typeface="Cambria Math" panose="02040503050406030204" pitchFamily="18" charset="0"/>
                            </a:rPr>
                            <m:t>𝒚</m:t>
                          </m:r>
                        </m:e>
                      </m:acc>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i="1">
                          <a:latin typeface="Cambria Math" panose="02040503050406030204" pitchFamily="18" charset="0"/>
                        </a:rPr>
                        <m:t>=</m:t>
                      </m:r>
                      <m:r>
                        <a:rPr lang="en-US" sz="1600" b="1" i="1">
                          <a:latin typeface="Cambria Math" panose="02040503050406030204" pitchFamily="18" charset="0"/>
                        </a:rPr>
                        <m:t>𝒇</m:t>
                      </m:r>
                      <m:d>
                        <m:dPr>
                          <m:ctrlPr>
                            <a:rPr lang="en-US" sz="1600" b="1" i="1">
                              <a:latin typeface="Cambria Math" panose="02040503050406030204" pitchFamily="18" charset="0"/>
                            </a:rPr>
                          </m:ctrlPr>
                        </m:dPr>
                        <m:e>
                          <m:r>
                            <a:rPr lang="en-US" sz="1600" b="1" i="1">
                              <a:latin typeface="Cambria Math" panose="02040503050406030204" pitchFamily="18" charset="0"/>
                            </a:rPr>
                            <m:t>𝒙</m:t>
                          </m:r>
                          <m:d>
                            <m:dPr>
                              <m:ctrlPr>
                                <a:rPr lang="en-US" sz="1600" b="1" i="1">
                                  <a:latin typeface="Cambria Math" panose="02040503050406030204" pitchFamily="18" charset="0"/>
                                </a:rPr>
                              </m:ctrlPr>
                            </m:dPr>
                            <m:e>
                              <m:r>
                                <a:rPr lang="en-US" sz="1600" b="1" i="1">
                                  <a:latin typeface="Cambria Math" panose="02040503050406030204" pitchFamily="18" charset="0"/>
                                </a:rPr>
                                <m:t>𝒕</m:t>
                              </m:r>
                            </m:e>
                          </m:d>
                          <m:r>
                            <a:rPr lang="en-US" sz="1600" b="1" i="1">
                              <a:latin typeface="Cambria Math" panose="02040503050406030204" pitchFamily="18" charset="0"/>
                            </a:rPr>
                            <m:t>,</m:t>
                          </m:r>
                          <m:acc>
                            <m:accPr>
                              <m:chr m:val="̂"/>
                              <m:ctrlPr>
                                <a:rPr lang="en-US" sz="1600" b="1" i="1">
                                  <a:latin typeface="Cambria Math" panose="02040503050406030204" pitchFamily="18" charset="0"/>
                                </a:rPr>
                              </m:ctrlPr>
                            </m:accPr>
                            <m:e>
                              <m:r>
                                <a:rPr lang="en-US" sz="1600" b="1" i="1">
                                  <a:latin typeface="Cambria Math" panose="02040503050406030204" pitchFamily="18" charset="0"/>
                                </a:rPr>
                                <m:t>𝜽</m:t>
                              </m:r>
                            </m:e>
                          </m:acc>
                        </m:e>
                      </m:d>
                    </m:oMath>
                  </m:oMathPara>
                </a14:m>
                <a:br>
                  <a:rPr lang="en-US" sz="1600" b="1" i="1" dirty="0">
                    <a:latin typeface="Cambria Math" panose="02040503050406030204" pitchFamily="18" charset="0"/>
                  </a:rPr>
                </a:br>
                <a14:m>
                  <m:oMath xmlns:m="http://schemas.openxmlformats.org/officeDocument/2006/math">
                    <m:r>
                      <a:rPr lang="en-US" sz="1600" b="1" i="1">
                        <a:latin typeface="Cambria Math" panose="02040503050406030204" pitchFamily="18" charset="0"/>
                      </a:rPr>
                      <m:t>𝒚</m:t>
                    </m:r>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i="1">
                        <a:latin typeface="Cambria Math" panose="02040503050406030204" pitchFamily="18" charset="0"/>
                      </a:rPr>
                      <m:t>=</m:t>
                    </m:r>
                    <m:acc>
                      <m:accPr>
                        <m:chr m:val="̂"/>
                        <m:ctrlPr>
                          <a:rPr lang="en-US" sz="1600" b="1" i="1">
                            <a:latin typeface="Cambria Math" panose="02040503050406030204" pitchFamily="18" charset="0"/>
                          </a:rPr>
                        </m:ctrlPr>
                      </m:accPr>
                      <m:e>
                        <m:r>
                          <a:rPr lang="en-US" sz="1600" b="1" i="1">
                            <a:latin typeface="Cambria Math" panose="02040503050406030204" pitchFamily="18" charset="0"/>
                          </a:rPr>
                          <m:t>𝒚</m:t>
                        </m:r>
                      </m:e>
                    </m:acc>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i="1">
                        <a:latin typeface="Cambria Math" panose="02040503050406030204" pitchFamily="18" charset="0"/>
                      </a:rPr>
                      <m:t>+</m:t>
                    </m:r>
                    <m:r>
                      <a:rPr lang="en-US" sz="1600" b="1" i="1">
                        <a:latin typeface="Cambria Math" panose="02040503050406030204" pitchFamily="18" charset="0"/>
                      </a:rPr>
                      <m:t>𝝐</m:t>
                    </m:r>
                    <m:d>
                      <m:dPr>
                        <m:ctrlPr>
                          <a:rPr lang="en-US" sz="1600" i="1">
                            <a:latin typeface="Cambria Math" panose="02040503050406030204" pitchFamily="18" charset="0"/>
                          </a:rPr>
                        </m:ctrlPr>
                      </m:dPr>
                      <m:e>
                        <m:r>
                          <a:rPr lang="en-US" sz="1600" i="1">
                            <a:latin typeface="Cambria Math" panose="02040503050406030204" pitchFamily="18" charset="0"/>
                          </a:rPr>
                          <m:t>𝑡</m:t>
                        </m:r>
                      </m:e>
                    </m:d>
                  </m:oMath>
                </a14:m>
                <a:r>
                  <a:rPr lang="en-US" sz="1600" dirty="0">
                    <a:latin typeface="Cambria Math" panose="02040503050406030204" pitchFamily="18" charset="0"/>
                  </a:rPr>
                  <a:t> </a:t>
                </a:r>
                <a:br>
                  <a:rPr lang="en-US" sz="1600" dirty="0">
                    <a:latin typeface="Cambria Math" panose="02040503050406030204" pitchFamily="18" charset="0"/>
                  </a:rPr>
                </a:br>
                <a14:m>
                  <m:oMathPara xmlns:m="http://schemas.openxmlformats.org/officeDocument/2006/math">
                    <m:oMathParaPr>
                      <m:jc m:val="left"/>
                    </m:oMathParaPr>
                    <m:oMath xmlns:m="http://schemas.openxmlformats.org/officeDocument/2006/math">
                      <m:r>
                        <a:rPr lang="en-US" sz="1600" b="1" i="1">
                          <a:latin typeface="Cambria Math" panose="02040503050406030204" pitchFamily="18" charset="0"/>
                        </a:rPr>
                        <m:t>𝒙</m:t>
                      </m:r>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a:latin typeface="Cambria Math" panose="02040503050406030204" pitchFamily="18" charset="0"/>
                            </a:rPr>
                            <m:t>ℝ</m:t>
                          </m:r>
                        </m:e>
                        <m:sup>
                          <m:r>
                            <a:rPr lang="en-US" sz="1600" i="1">
                              <a:latin typeface="Cambria Math" panose="02040503050406030204" pitchFamily="18" charset="0"/>
                            </a:rPr>
                            <m:t>𝑛</m:t>
                          </m:r>
                        </m:sup>
                      </m:sSup>
                      <m:r>
                        <a:rPr lang="en-US" sz="1600" i="1">
                          <a:latin typeface="Cambria Math" panose="02040503050406030204" pitchFamily="18" charset="0"/>
                        </a:rPr>
                        <m:t>;    </m:t>
                      </m:r>
                      <m:r>
                        <a:rPr lang="en-US" sz="1600" b="1" i="1">
                          <a:latin typeface="Cambria Math" panose="02040503050406030204" pitchFamily="18" charset="0"/>
                        </a:rPr>
                        <m:t>𝒖</m:t>
                      </m:r>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a:latin typeface="Cambria Math" panose="02040503050406030204" pitchFamily="18" charset="0"/>
                            </a:rPr>
                            <m:t>ℝ</m:t>
                          </m:r>
                        </m:e>
                        <m:sup>
                          <m:r>
                            <a:rPr lang="en-US" sz="1600" i="1">
                              <a:latin typeface="Cambria Math" panose="02040503050406030204" pitchFamily="18" charset="0"/>
                            </a:rPr>
                            <m:t>𝑚</m:t>
                          </m:r>
                        </m:sup>
                      </m:sSup>
                      <m:r>
                        <a:rPr lang="en-US" sz="1600" i="1">
                          <a:latin typeface="Cambria Math" panose="02040503050406030204" pitchFamily="18" charset="0"/>
                        </a:rPr>
                        <m:t>;    </m:t>
                      </m:r>
                      <m:r>
                        <a:rPr lang="en-US" sz="1600" b="1" i="1">
                          <a:latin typeface="Cambria Math" panose="02040503050406030204" pitchFamily="18" charset="0"/>
                        </a:rPr>
                        <m:t>𝜽</m:t>
                      </m:r>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a:latin typeface="Cambria Math" panose="02040503050406030204" pitchFamily="18" charset="0"/>
                            </a:rPr>
                            <m:t>ℝ</m:t>
                          </m:r>
                        </m:e>
                        <m:sup>
                          <m:r>
                            <a:rPr lang="en-US" sz="1600" i="1">
                              <a:latin typeface="Cambria Math" panose="02040503050406030204" pitchFamily="18" charset="0"/>
                            </a:rPr>
                            <m:t>𝑝</m:t>
                          </m:r>
                        </m:sup>
                      </m:sSup>
                      <m:r>
                        <a:rPr lang="en-US" sz="1600" i="1">
                          <a:latin typeface="Cambria Math" panose="02040503050406030204" pitchFamily="18" charset="0"/>
                        </a:rPr>
                        <m:t> </m:t>
                      </m:r>
                    </m:oMath>
                    <m:oMath xmlns:m="http://schemas.openxmlformats.org/officeDocument/2006/math">
                      <m:r>
                        <m:rPr>
                          <m:nor/>
                        </m:rPr>
                        <a:rPr lang="en-US" sz="1600" dirty="0"/>
                        <m:t> </m:t>
                      </m:r>
                      <m:r>
                        <a:rPr lang="en-US" sz="1600" b="1" i="1">
                          <a:latin typeface="Cambria Math" panose="02040503050406030204" pitchFamily="18" charset="0"/>
                        </a:rPr>
                        <m:t>𝝐</m:t>
                      </m:r>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i="1">
                          <a:latin typeface="Cambria Math" panose="02040503050406030204" pitchFamily="18" charset="0"/>
                        </a:rPr>
                        <m:t>∼</m:t>
                      </m:r>
                      <m:r>
                        <a:rPr lang="en-US" sz="1600" i="1">
                          <a:latin typeface="Cambria Math" panose="02040503050406030204" pitchFamily="18" charset="0"/>
                        </a:rPr>
                        <m:t>𝒩</m:t>
                      </m:r>
                      <m:d>
                        <m:dPr>
                          <m:ctrlPr>
                            <a:rPr lang="en-US" sz="1600" i="1">
                              <a:latin typeface="Cambria Math" panose="02040503050406030204" pitchFamily="18" charset="0"/>
                            </a:rPr>
                          </m:ctrlPr>
                        </m:dPr>
                        <m:e>
                          <m:r>
                            <a:rPr lang="en-US" sz="1600" i="1">
                              <a:latin typeface="Cambria Math" panose="02040503050406030204" pitchFamily="18" charset="0"/>
                            </a:rPr>
                            <m:t>0,</m:t>
                          </m:r>
                          <m:r>
                            <m:rPr>
                              <m:sty m:val="p"/>
                            </m:rPr>
                            <a:rPr lang="en-US" sz="1600">
                              <a:latin typeface="Cambria Math" panose="02040503050406030204" pitchFamily="18" charset="0"/>
                            </a:rPr>
                            <m:t>s</m:t>
                          </m:r>
                        </m:e>
                      </m:d>
                      <m:r>
                        <a:rPr lang="en-US" sz="1600" i="1">
                          <a:latin typeface="Cambria Math" panose="02040503050406030204" pitchFamily="18" charset="0"/>
                        </a:rPr>
                        <m:t> </m:t>
                      </m:r>
                    </m:oMath>
                  </m:oMathPara>
                </a14:m>
                <a:br>
                  <a:rPr lang="en-US" sz="1600" i="1" dirty="0">
                    <a:latin typeface="Cambria Math" panose="02040503050406030204" pitchFamily="18" charset="0"/>
                  </a:rPr>
                </a:br>
                <a:endParaRPr lang="en-US" sz="1600" dirty="0"/>
              </a:p>
            </p:txBody>
          </p:sp>
        </mc:Choice>
        <mc:Fallback xmlns="">
          <p:sp>
            <p:nvSpPr>
              <p:cNvPr id="919" name="TextBox 918">
                <a:extLst>
                  <a:ext uri="{FF2B5EF4-FFF2-40B4-BE49-F238E27FC236}">
                    <a16:creationId xmlns:a16="http://schemas.microsoft.com/office/drawing/2014/main" id="{52CF18C3-190B-E245-C5FC-74AB4646068C}"/>
                  </a:ext>
                </a:extLst>
              </p:cNvPr>
              <p:cNvSpPr txBox="1">
                <a:spLocks noRot="1" noChangeAspect="1" noMove="1" noResize="1" noEditPoints="1" noAdjustHandles="1" noChangeArrowheads="1" noChangeShapeType="1" noTextEdit="1"/>
              </p:cNvSpPr>
              <p:nvPr/>
            </p:nvSpPr>
            <p:spPr>
              <a:xfrm>
                <a:off x="181028" y="891858"/>
                <a:ext cx="4189989" cy="1824282"/>
              </a:xfrm>
              <a:prstGeom prst="rect">
                <a:avLst/>
              </a:prstGeom>
              <a:blipFill>
                <a:blip r:embed="rId5"/>
                <a:stretch>
                  <a:fillRect l="-906" t="-1379" b="-20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22F4A5E-C2EE-5DD9-4D10-06E0FBC693D6}"/>
                  </a:ext>
                </a:extLst>
              </p:cNvPr>
              <p:cNvSpPr txBox="1"/>
              <p:nvPr/>
            </p:nvSpPr>
            <p:spPr>
              <a:xfrm>
                <a:off x="7690096" y="765558"/>
                <a:ext cx="4232249" cy="5876160"/>
              </a:xfrm>
              <a:prstGeom prst="rect">
                <a:avLst/>
              </a:prstGeom>
              <a:noFill/>
            </p:spPr>
            <p:txBody>
              <a:bodyPr wrap="none" rtlCol="0">
                <a:spAutoFit/>
              </a:bodyPr>
              <a:lstStyle/>
              <a:p>
                <a:r>
                  <a:rPr lang="en-US" sz="1600" dirty="0">
                    <a:latin typeface="+mn-lt"/>
                    <a:ea typeface="Cambria Math" panose="02040503050406030204" pitchFamily="18" charset="0"/>
                  </a:rPr>
                  <a:t>Mass balance in dialysate reservoir</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𝑑</m:t>
                              </m:r>
                            </m:sub>
                          </m:sSub>
                        </m:num>
                        <m:den>
                          <m:r>
                            <a:rPr lang="ar-AE" sz="1600" i="1">
                              <a:latin typeface="Cambria Math" panose="02040503050406030204" pitchFamily="18" charset="0"/>
                              <a:ea typeface="Cambria Math" panose="02040503050406030204" pitchFamily="18" charset="0"/>
                            </a:rPr>
                            <m:t>𝑑𝑡</m:t>
                          </m:r>
                        </m:den>
                      </m:f>
                      <m:r>
                        <a:rPr lang="ar-AE" sz="1600" i="1">
                          <a:latin typeface="Cambria Math" panose="02040503050406030204" pitchFamily="18" charset="0"/>
                          <a:ea typeface="Cambria Math" panose="02040503050406030204" pitchFamily="18" charset="0"/>
                        </a:rPr>
                        <m:t>=−</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𝐴</m:t>
                          </m:r>
                        </m:e>
                        <m:sub>
                          <m:r>
                            <a:rPr lang="ar-AE" sz="1600" i="1">
                              <a:latin typeface="Cambria Math" panose="02040503050406030204" pitchFamily="18" charset="0"/>
                              <a:ea typeface="Cambria Math" panose="02040503050406030204" pitchFamily="18" charset="0"/>
                            </a:rPr>
                            <m:t>𝑚</m:t>
                          </m:r>
                        </m:sub>
                      </m:sSub>
                      <m:r>
                        <a:rPr lang="ar-AE" sz="1600" i="1">
                          <a:latin typeface="Cambria Math" panose="02040503050406030204" pitchFamily="18" charset="0"/>
                          <a:ea typeface="Cambria Math" panose="02040503050406030204" pitchFamily="18" charset="0"/>
                        </a:rPr>
                        <m:t>𝜌</m:t>
                      </m:r>
                      <m:sSub>
                        <m:sSubPr>
                          <m:ctrlPr>
                            <a:rPr lang="ar-AE" sz="1600" i="1">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𝐽</m:t>
                          </m:r>
                        </m:e>
                        <m:sub>
                          <m:r>
                            <a:rPr lang="ar-AE" sz="1600" i="1">
                              <a:latin typeface="Cambria Math" panose="02040503050406030204" pitchFamily="18" charset="0"/>
                              <a:ea typeface="Cambria Math" panose="02040503050406030204" pitchFamily="18" charset="0"/>
                            </a:rPr>
                            <m:t>𝑤</m:t>
                          </m:r>
                        </m:sub>
                      </m:sSub>
                    </m:oMath>
                  </m:oMathPara>
                </a14:m>
                <a:endParaRPr lang="ar-AE" sz="1600" i="1" dirty="0">
                  <a:latin typeface="Cambria Math" panose="02040503050406030204" pitchFamily="18" charset="0"/>
                  <a:ea typeface="Cambria Math" panose="02040503050406030204" pitchFamily="18" charset="0"/>
                </a:endParaRPr>
              </a:p>
              <a:p>
                <a:r>
                  <a:rPr lang="en-US" sz="1600" dirty="0">
                    <a:latin typeface="+mn-lt"/>
                    <a:ea typeface="Cambria Math" panose="02040503050406030204" pitchFamily="18" charset="0"/>
                  </a:rPr>
                  <a:t>Constant concentration in dialysate reservoir</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𝑑</m:t>
                              </m:r>
                            </m:sub>
                          </m:sSub>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=0</m:t>
                      </m:r>
                    </m:oMath>
                  </m:oMathPara>
                </a14:m>
                <a:endParaRPr lang="ar-AE" sz="1600" dirty="0">
                  <a:latin typeface="Cambria Math" panose="02040503050406030204" pitchFamily="18" charset="0"/>
                  <a:ea typeface="Cambria Math" panose="02040503050406030204" pitchFamily="18" charset="0"/>
                </a:endParaRPr>
              </a:p>
              <a:p>
                <a:r>
                  <a:rPr lang="en-US" sz="1600" dirty="0">
                    <a:latin typeface="+mn-lt"/>
                    <a:ea typeface="Cambria Math" panose="02040503050406030204" pitchFamily="18" charset="0"/>
                  </a:rPr>
                  <a:t>Constant mass in feed cell</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𝑓</m:t>
                              </m:r>
                            </m:sub>
                          </m:sSub>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=0</m:t>
                      </m:r>
                    </m:oMath>
                  </m:oMathPara>
                </a14:m>
                <a:endParaRPr lang="ar-AE" sz="1600" dirty="0">
                  <a:latin typeface="Cambria Math" panose="02040503050406030204" pitchFamily="18" charset="0"/>
                  <a:ea typeface="Cambria Math" panose="02040503050406030204" pitchFamily="18" charset="0"/>
                </a:endParaRPr>
              </a:p>
              <a:p>
                <a:r>
                  <a:rPr lang="en-US" sz="1600" dirty="0">
                    <a:latin typeface="+mn-lt"/>
                    <a:ea typeface="Cambria Math" panose="02040503050406030204" pitchFamily="18" charset="0"/>
                  </a:rPr>
                  <a:t>Solute balance in feed cell</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d>
                            <m:dPr>
                              <m:ctrlPr>
                                <a:rPr lang="ar-AE" sz="1600" i="1">
                                  <a:latin typeface="Cambria Math" panose="02040503050406030204" pitchFamily="18" charset="0"/>
                                  <a:ea typeface="Cambria Math" panose="02040503050406030204" pitchFamily="18" charset="0"/>
                                </a:rPr>
                              </m:ctrlPr>
                            </m:dPr>
                            <m:e>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𝑓</m:t>
                                  </m:r>
                                </m:sub>
                              </m:sSub>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𝑓</m:t>
                                  </m:r>
                                </m:sub>
                              </m:sSub>
                            </m:e>
                          </m:d>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𝐴</m:t>
                          </m:r>
                        </m:e>
                        <m:sub>
                          <m:r>
                            <a:rPr lang="ar-AE" sz="1600" i="1">
                              <a:latin typeface="Cambria Math" panose="02040503050406030204" pitchFamily="18" charset="0"/>
                              <a:ea typeface="Cambria Math" panose="02040503050406030204" pitchFamily="18" charset="0"/>
                            </a:rPr>
                            <m:t>𝑚</m:t>
                          </m:r>
                        </m:sub>
                      </m:sSub>
                      <m:r>
                        <a:rPr lang="ar-AE" sz="1600" i="1">
                          <a:latin typeface="Cambria Math" panose="02040503050406030204" pitchFamily="18" charset="0"/>
                          <a:ea typeface="Cambria Math" panose="02040503050406030204" pitchFamily="18" charset="0"/>
                        </a:rPr>
                        <m:t>𝜌</m:t>
                      </m:r>
                      <m:d>
                        <m:dPr>
                          <m:ctrlPr>
                            <a:rPr lang="ar-AE" sz="1600" i="1">
                              <a:latin typeface="Cambria Math" panose="02040503050406030204" pitchFamily="18" charset="0"/>
                              <a:ea typeface="Cambria Math" panose="02040503050406030204" pitchFamily="18" charset="0"/>
                            </a:rPr>
                          </m:ctrlPr>
                        </m:dPr>
                        <m:e>
                          <m:sSub>
                            <m:sSubPr>
                              <m:ctrlPr>
                                <a:rPr lang="ar-AE" sz="1600" i="1">
                                  <a:latin typeface="Cambria Math" panose="02040503050406030204" pitchFamily="18" charset="0"/>
                                  <a:ea typeface="Cambria Math" panose="02040503050406030204" pitchFamily="18" charset="0"/>
                                </a:rPr>
                              </m:ctrlPr>
                            </m:sSubPr>
                            <m:e>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𝐽</m:t>
                                  </m:r>
                                </m:e>
                                <m:sub>
                                  <m:r>
                                    <a:rPr lang="en-US" sz="1600" b="0" i="1" smtClean="0">
                                      <a:latin typeface="Cambria Math" panose="02040503050406030204" pitchFamily="18" charset="0"/>
                                      <a:ea typeface="Cambria Math" panose="02040503050406030204" pitchFamily="18" charset="0"/>
                                    </a:rPr>
                                    <m:t>𝑤</m:t>
                                  </m:r>
                                </m:sub>
                              </m:sSub>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𝑑</m:t>
                              </m:r>
                            </m:sub>
                          </m:sSub>
                          <m:r>
                            <a:rPr lang="ar-AE" sz="1600">
                              <a:latin typeface="Cambria Math" panose="02040503050406030204" pitchFamily="18" charset="0"/>
                              <a:ea typeface="Cambria Math" panose="02040503050406030204" pitchFamily="18" charset="0"/>
                            </a:rPr>
                            <m:t>−</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𝐽</m:t>
                              </m:r>
                            </m:e>
                            <m:sub>
                              <m:r>
                                <a:rPr lang="ar-AE" sz="1600" i="1">
                                  <a:latin typeface="Cambria Math" panose="02040503050406030204" pitchFamily="18" charset="0"/>
                                  <a:ea typeface="Cambria Math" panose="02040503050406030204" pitchFamily="18" charset="0"/>
                                </a:rPr>
                                <m:t>𝑠</m:t>
                              </m:r>
                            </m:sub>
                          </m:sSub>
                        </m:e>
                      </m:d>
                    </m:oMath>
                  </m:oMathPara>
                </a14:m>
                <a:endParaRPr lang="ar-AE" sz="1600" dirty="0">
                  <a:latin typeface="Cambria Math" panose="02040503050406030204" pitchFamily="18" charset="0"/>
                  <a:ea typeface="Cambria Math" panose="02040503050406030204" pitchFamily="18" charset="0"/>
                </a:endParaRPr>
              </a:p>
              <a:p>
                <a:r>
                  <a:rPr lang="en-US" sz="1600" dirty="0">
                    <a:latin typeface="+mn-lt"/>
                    <a:ea typeface="Cambria Math" panose="02040503050406030204" pitchFamily="18" charset="0"/>
                  </a:rPr>
                  <a:t>Constant mass in holdup</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h</m:t>
                              </m:r>
                            </m:sub>
                          </m:sSub>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=0</m:t>
                      </m:r>
                    </m:oMath>
                  </m:oMathPara>
                </a14:m>
                <a:endParaRPr lang="ar-AE" sz="1600" dirty="0">
                  <a:latin typeface="Cambria Math" panose="02040503050406030204" pitchFamily="18" charset="0"/>
                  <a:ea typeface="Cambria Math" panose="02040503050406030204" pitchFamily="18" charset="0"/>
                </a:endParaRPr>
              </a:p>
              <a:p>
                <a:r>
                  <a:rPr lang="en-US" sz="1600" dirty="0">
                    <a:latin typeface="+mn-lt"/>
                    <a:ea typeface="Cambria Math" panose="02040503050406030204" pitchFamily="18" charset="0"/>
                  </a:rPr>
                  <a:t>Solute balance in holdup</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d>
                            <m:dPr>
                              <m:ctrlPr>
                                <a:rPr lang="ar-AE" sz="1600" i="1">
                                  <a:latin typeface="Cambria Math" panose="02040503050406030204" pitchFamily="18" charset="0"/>
                                  <a:ea typeface="Cambria Math" panose="02040503050406030204" pitchFamily="18" charset="0"/>
                                </a:rPr>
                              </m:ctrlPr>
                            </m:dPr>
                            <m:e>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h</m:t>
                                  </m:r>
                                </m:sub>
                              </m:sSub>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h</m:t>
                                  </m:r>
                                </m:sub>
                              </m:sSub>
                            </m:e>
                          </m:d>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𝐴</m:t>
                          </m:r>
                        </m:e>
                        <m:sub>
                          <m:r>
                            <a:rPr lang="ar-AE" sz="1600" i="1">
                              <a:latin typeface="Cambria Math" panose="02040503050406030204" pitchFamily="18" charset="0"/>
                              <a:ea typeface="Cambria Math" panose="02040503050406030204" pitchFamily="18" charset="0"/>
                            </a:rPr>
                            <m:t>𝑚</m:t>
                          </m:r>
                        </m:sub>
                      </m:sSub>
                      <m:r>
                        <a:rPr lang="ar-AE" sz="1600" i="1">
                          <a:latin typeface="Cambria Math" panose="02040503050406030204" pitchFamily="18" charset="0"/>
                          <a:ea typeface="Cambria Math" panose="02040503050406030204" pitchFamily="18" charset="0"/>
                        </a:rPr>
                        <m:t>𝜌</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𝐽</m:t>
                          </m:r>
                        </m:e>
                        <m:sub>
                          <m:r>
                            <a:rPr lang="ar-AE" sz="1600" i="1">
                              <a:latin typeface="Cambria Math" panose="02040503050406030204" pitchFamily="18" charset="0"/>
                              <a:ea typeface="Cambria Math" panose="02040503050406030204" pitchFamily="18" charset="0"/>
                            </a:rPr>
                            <m:t>𝑠</m:t>
                          </m:r>
                        </m:sub>
                      </m:sSub>
                      <m:r>
                        <a:rPr lang="ar-AE" sz="1600">
                          <a:latin typeface="Cambria Math" panose="02040503050406030204" pitchFamily="18" charset="0"/>
                          <a:ea typeface="Cambria Math" panose="02040503050406030204" pitchFamily="18" charset="0"/>
                        </a:rPr>
                        <m:t>+</m:t>
                      </m:r>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𝑑</m:t>
                              </m:r>
                            </m:sub>
                          </m:sSub>
                        </m:num>
                        <m:den>
                          <m:r>
                            <a:rPr lang="ar-AE" sz="1600" i="1">
                              <a:latin typeface="Cambria Math" panose="02040503050406030204" pitchFamily="18" charset="0"/>
                              <a:ea typeface="Cambria Math" panose="02040503050406030204" pitchFamily="18" charset="0"/>
                            </a:rPr>
                            <m:t>𝑑𝑡</m:t>
                          </m:r>
                        </m:den>
                      </m:f>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h</m:t>
                          </m:r>
                        </m:sub>
                      </m:sSub>
                    </m:oMath>
                  </m:oMathPara>
                </a14:m>
                <a:endParaRPr lang="ar-AE" sz="1600" dirty="0">
                  <a:latin typeface="Cambria Math" panose="02040503050406030204" pitchFamily="18" charset="0"/>
                  <a:ea typeface="Cambria Math" panose="02040503050406030204" pitchFamily="18" charset="0"/>
                </a:endParaRPr>
              </a:p>
              <a:p>
                <a:r>
                  <a:rPr lang="en-US" sz="1600" dirty="0">
                    <a:latin typeface="+mn-lt"/>
                    <a:ea typeface="Cambria Math" panose="02040503050406030204" pitchFamily="18" charset="0"/>
                  </a:rPr>
                  <a:t>Mass balance in collecting vial</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𝑣</m:t>
                              </m:r>
                            </m:sub>
                          </m:sSub>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m:t>
                      </m:r>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𝑑</m:t>
                              </m:r>
                            </m:sub>
                          </m:sSub>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𝐴</m:t>
                          </m:r>
                        </m:e>
                        <m:sub>
                          <m:r>
                            <a:rPr lang="ar-AE" sz="1600" i="1">
                              <a:latin typeface="Cambria Math" panose="02040503050406030204" pitchFamily="18" charset="0"/>
                              <a:ea typeface="Cambria Math" panose="02040503050406030204" pitchFamily="18" charset="0"/>
                            </a:rPr>
                            <m:t>𝑚</m:t>
                          </m:r>
                        </m:sub>
                      </m:sSub>
                      <m:r>
                        <a:rPr lang="ar-AE" sz="1600" i="1">
                          <a:latin typeface="Cambria Math" panose="02040503050406030204" pitchFamily="18" charset="0"/>
                          <a:ea typeface="Cambria Math" panose="02040503050406030204" pitchFamily="18" charset="0"/>
                        </a:rPr>
                        <m:t>𝜌</m:t>
                      </m:r>
                      <m:sSub>
                        <m:sSubPr>
                          <m:ctrlPr>
                            <a:rPr lang="ar-AE" sz="1600" i="1">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𝐽</m:t>
                          </m:r>
                        </m:e>
                        <m:sub>
                          <m:r>
                            <a:rPr lang="ar-AE" sz="1600" i="1">
                              <a:latin typeface="Cambria Math" panose="02040503050406030204" pitchFamily="18" charset="0"/>
                              <a:ea typeface="Cambria Math" panose="02040503050406030204" pitchFamily="18" charset="0"/>
                            </a:rPr>
                            <m:t>𝑤</m:t>
                          </m:r>
                        </m:sub>
                      </m:sSub>
                    </m:oMath>
                  </m:oMathPara>
                </a14:m>
                <a:endParaRPr lang="ar-AE" sz="1600" dirty="0">
                  <a:latin typeface="Cambria Math" panose="02040503050406030204" pitchFamily="18" charset="0"/>
                  <a:ea typeface="Cambria Math" panose="02040503050406030204" pitchFamily="18" charset="0"/>
                </a:endParaRPr>
              </a:p>
              <a:p>
                <a:r>
                  <a:rPr lang="en-US" sz="1600" dirty="0">
                    <a:latin typeface="+mn-lt"/>
                    <a:ea typeface="Cambria Math" panose="02040503050406030204" pitchFamily="18" charset="0"/>
                  </a:rPr>
                  <a:t>Solute balance in collecting vial</a:t>
                </a:r>
              </a:p>
              <a:p>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d>
                            <m:dPr>
                              <m:ctrlPr>
                                <a:rPr lang="ar-AE" sz="1600" i="1">
                                  <a:latin typeface="Cambria Math" panose="02040503050406030204" pitchFamily="18" charset="0"/>
                                  <a:ea typeface="Cambria Math" panose="02040503050406030204" pitchFamily="18" charset="0"/>
                                </a:rPr>
                              </m:ctrlPr>
                            </m:dPr>
                            <m:e>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𝑣</m:t>
                                  </m:r>
                                </m:sub>
                              </m:sSub>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𝑣</m:t>
                                  </m:r>
                                </m:sub>
                              </m:sSub>
                            </m:e>
                          </m:d>
                        </m:num>
                        <m:den>
                          <m:r>
                            <a:rPr lang="ar-AE" sz="1600" i="1">
                              <a:latin typeface="Cambria Math" panose="02040503050406030204" pitchFamily="18" charset="0"/>
                              <a:ea typeface="Cambria Math" panose="02040503050406030204" pitchFamily="18" charset="0"/>
                            </a:rPr>
                            <m:t>𝑑𝑡</m:t>
                          </m:r>
                        </m:den>
                      </m:f>
                      <m:r>
                        <a:rPr lang="ar-AE" sz="1600">
                          <a:latin typeface="Cambria Math" panose="02040503050406030204" pitchFamily="18" charset="0"/>
                          <a:ea typeface="Cambria Math" panose="02040503050406030204" pitchFamily="18" charset="0"/>
                        </a:rPr>
                        <m:t>=−</m:t>
                      </m:r>
                      <m:f>
                        <m:fPr>
                          <m:ctrlPr>
                            <a:rPr lang="ar-AE" sz="1600" i="1">
                              <a:latin typeface="Cambria Math" panose="02040503050406030204" pitchFamily="18" charset="0"/>
                              <a:ea typeface="Cambria Math" panose="02040503050406030204" pitchFamily="18" charset="0"/>
                            </a:rPr>
                          </m:ctrlPr>
                        </m:fPr>
                        <m:num>
                          <m:r>
                            <a:rPr lang="ar-AE" sz="1600" i="1">
                              <a:latin typeface="Cambria Math" panose="02040503050406030204" pitchFamily="18" charset="0"/>
                              <a:ea typeface="Cambria Math" panose="02040503050406030204" pitchFamily="18" charset="0"/>
                            </a:rPr>
                            <m:t>𝑑</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𝑚</m:t>
                              </m:r>
                            </m:e>
                            <m:sub>
                              <m:r>
                                <a:rPr lang="ar-AE" sz="1600" i="1">
                                  <a:latin typeface="Cambria Math" panose="02040503050406030204" pitchFamily="18" charset="0"/>
                                  <a:ea typeface="Cambria Math" panose="02040503050406030204" pitchFamily="18" charset="0"/>
                                </a:rPr>
                                <m:t>𝑑</m:t>
                              </m:r>
                            </m:sub>
                          </m:sSub>
                        </m:num>
                        <m:den>
                          <m:r>
                            <a:rPr lang="ar-AE" sz="1600" i="1">
                              <a:latin typeface="Cambria Math" panose="02040503050406030204" pitchFamily="18" charset="0"/>
                              <a:ea typeface="Cambria Math" panose="02040503050406030204" pitchFamily="18" charset="0"/>
                            </a:rPr>
                            <m:t>𝑑𝑡</m:t>
                          </m:r>
                        </m:den>
                      </m:f>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h</m:t>
                          </m:r>
                        </m:sub>
                      </m:sSub>
                      <m:r>
                        <a:rPr lang="ar-AE" sz="1600">
                          <a:latin typeface="Cambria Math" panose="02040503050406030204" pitchFamily="18" charset="0"/>
                          <a:ea typeface="Cambria Math" panose="02040503050406030204" pitchFamily="18" charset="0"/>
                        </a:rPr>
                        <m:t>=</m:t>
                      </m:r>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𝐴</m:t>
                          </m:r>
                        </m:e>
                        <m:sub>
                          <m:r>
                            <a:rPr lang="ar-AE" sz="1600" i="1">
                              <a:latin typeface="Cambria Math" panose="02040503050406030204" pitchFamily="18" charset="0"/>
                              <a:ea typeface="Cambria Math" panose="02040503050406030204" pitchFamily="18" charset="0"/>
                            </a:rPr>
                            <m:t>𝑚</m:t>
                          </m:r>
                        </m:sub>
                      </m:sSub>
                      <m:r>
                        <a:rPr lang="ar-AE" sz="1600" i="1">
                          <a:latin typeface="Cambria Math" panose="02040503050406030204" pitchFamily="18" charset="0"/>
                          <a:ea typeface="Cambria Math" panose="02040503050406030204" pitchFamily="18" charset="0"/>
                        </a:rPr>
                        <m:t>𝜌</m:t>
                      </m:r>
                      <m:sSub>
                        <m:sSubPr>
                          <m:ctrlPr>
                            <a:rPr lang="ar-AE" sz="1600" i="1">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𝐽</m:t>
                          </m:r>
                        </m:e>
                        <m:sub>
                          <m:r>
                            <a:rPr lang="ar-AE" sz="1600" i="1">
                              <a:latin typeface="Cambria Math" panose="02040503050406030204" pitchFamily="18" charset="0"/>
                              <a:ea typeface="Cambria Math" panose="02040503050406030204" pitchFamily="18" charset="0"/>
                            </a:rPr>
                            <m:t>𝑤</m:t>
                          </m:r>
                        </m:sub>
                      </m:sSub>
                      <m:sSub>
                        <m:sSubPr>
                          <m:ctrlPr>
                            <a:rPr lang="ar-AE" sz="1600" i="1">
                              <a:latin typeface="Cambria Math" panose="02040503050406030204" pitchFamily="18" charset="0"/>
                              <a:ea typeface="Cambria Math" panose="02040503050406030204" pitchFamily="18" charset="0"/>
                            </a:rPr>
                          </m:ctrlPr>
                        </m:sSubPr>
                        <m:e>
                          <m:r>
                            <a:rPr lang="ar-AE" sz="1600" i="1">
                              <a:latin typeface="Cambria Math" panose="02040503050406030204" pitchFamily="18" charset="0"/>
                              <a:ea typeface="Cambria Math" panose="02040503050406030204" pitchFamily="18" charset="0"/>
                            </a:rPr>
                            <m:t>𝑐</m:t>
                          </m:r>
                        </m:e>
                        <m:sub>
                          <m:r>
                            <a:rPr lang="ar-AE" sz="1600" i="1">
                              <a:latin typeface="Cambria Math" panose="02040503050406030204" pitchFamily="18" charset="0"/>
                              <a:ea typeface="Cambria Math" panose="02040503050406030204" pitchFamily="18" charset="0"/>
                            </a:rPr>
                            <m:t>h</m:t>
                          </m:r>
                        </m:sub>
                      </m:sSub>
                    </m:oMath>
                  </m:oMathPara>
                </a14:m>
                <a:endParaRPr lang="ar-AE" sz="1600" dirty="0">
                  <a:latin typeface="Cambria Math" panose="02040503050406030204" pitchFamily="18" charset="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622F4A5E-C2EE-5DD9-4D10-06E0FBC693D6}"/>
                  </a:ext>
                </a:extLst>
              </p:cNvPr>
              <p:cNvSpPr txBox="1">
                <a:spLocks noRot="1" noChangeAspect="1" noMove="1" noResize="1" noEditPoints="1" noAdjustHandles="1" noChangeArrowheads="1" noChangeShapeType="1" noTextEdit="1"/>
              </p:cNvSpPr>
              <p:nvPr/>
            </p:nvSpPr>
            <p:spPr>
              <a:xfrm>
                <a:off x="7690096" y="765558"/>
                <a:ext cx="4232249" cy="5876160"/>
              </a:xfrm>
              <a:prstGeom prst="rect">
                <a:avLst/>
              </a:prstGeom>
              <a:blipFill>
                <a:blip r:embed="rId6"/>
                <a:stretch>
                  <a:fillRect l="-898" t="-216"/>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29792A25-7711-745C-44D4-CEF83B941039}"/>
              </a:ext>
            </a:extLst>
          </p:cNvPr>
          <p:cNvGrpSpPr/>
          <p:nvPr/>
        </p:nvGrpSpPr>
        <p:grpSpPr>
          <a:xfrm>
            <a:off x="269655" y="3325726"/>
            <a:ext cx="3185486" cy="1775392"/>
            <a:chOff x="592701" y="3309865"/>
            <a:chExt cx="2648354" cy="1775392"/>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54DF554-9435-87AC-DDBB-16CD8AD9B1AA}"/>
                    </a:ext>
                  </a:extLst>
                </p:cNvPr>
                <p:cNvSpPr txBox="1"/>
                <p:nvPr/>
              </p:nvSpPr>
              <p:spPr>
                <a:xfrm>
                  <a:off x="592701" y="3309865"/>
                  <a:ext cx="2648354" cy="1384995"/>
                </a:xfrm>
                <a:prstGeom prst="rect">
                  <a:avLst/>
                </a:prstGeom>
                <a:noFill/>
              </p:spPr>
              <p:txBody>
                <a:bodyPr wrap="none" rtlCol="0">
                  <a:spAutoFit/>
                </a:bodyPr>
                <a:lstStyle/>
                <a:p>
                  <a14:m>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𝑃</m:t>
                      </m:r>
                    </m:oMath>
                  </a14:m>
                  <a:r>
                    <a:rPr lang="en-US" dirty="0"/>
                    <a:t>: applied pressure drop</a:t>
                  </a:r>
                </a:p>
                <a:p>
                  <a14:m>
                    <m:oMath xmlns:m="http://schemas.openxmlformats.org/officeDocument/2006/math">
                      <m:r>
                        <a:rPr lang="en-US" b="0" i="1" smtClean="0">
                          <a:latin typeface="Cambria Math" panose="02040503050406030204" pitchFamily="18" charset="0"/>
                        </a:rPr>
                        <m:t>𝑛</m:t>
                      </m:r>
                    </m:oMath>
                  </a14:m>
                  <a:r>
                    <a:rPr lang="en-US" dirty="0"/>
                    <a:t>: number of dissolved species</a:t>
                  </a:r>
                </a:p>
                <a:p>
                  <a14:m>
                    <m:oMath xmlns:m="http://schemas.openxmlformats.org/officeDocument/2006/math">
                      <m:r>
                        <a:rPr lang="en-US" b="0" i="1" smtClean="0">
                          <a:latin typeface="Cambria Math" panose="02040503050406030204" pitchFamily="18" charset="0"/>
                        </a:rPr>
                        <m:t>𝑅</m:t>
                      </m:r>
                    </m:oMath>
                  </a14:m>
                  <a:r>
                    <a:rPr lang="en-US" dirty="0"/>
                    <a:t>: gas constant</a:t>
                  </a:r>
                </a:p>
                <a:p>
                  <a14:m>
                    <m:oMath xmlns:m="http://schemas.openxmlformats.org/officeDocument/2006/math">
                      <m:r>
                        <a:rPr lang="en-US" b="0" i="1" smtClean="0">
                          <a:latin typeface="Cambria Math" panose="02040503050406030204" pitchFamily="18" charset="0"/>
                        </a:rPr>
                        <m:t>𝑇</m:t>
                      </m:r>
                    </m:oMath>
                  </a14:m>
                  <a:r>
                    <a:rPr lang="en-US" dirty="0"/>
                    <a:t>: temperature</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𝑚</m:t>
                          </m:r>
                        </m:sub>
                      </m:sSub>
                    </m:oMath>
                  </a14:m>
                  <a:r>
                    <a:rPr lang="en-US" dirty="0"/>
                    <a:t>: area of the membrane</a:t>
                  </a:r>
                </a:p>
                <a:p>
                  <a14:m>
                    <m:oMath xmlns:m="http://schemas.openxmlformats.org/officeDocument/2006/math">
                      <m:r>
                        <a:rPr lang="en-US" b="0" i="1" smtClean="0">
                          <a:latin typeface="Cambria Math" panose="02040503050406030204" pitchFamily="18" charset="0"/>
                        </a:rPr>
                        <m:t>𝜌</m:t>
                      </m:r>
                    </m:oMath>
                  </a14:m>
                  <a:r>
                    <a:rPr lang="en-US" dirty="0"/>
                    <a:t>: density of solution</a:t>
                  </a:r>
                </a:p>
              </p:txBody>
            </p:sp>
          </mc:Choice>
          <mc:Fallback xmlns="">
            <p:sp>
              <p:nvSpPr>
                <p:cNvPr id="10" name="TextBox 9">
                  <a:extLst>
                    <a:ext uri="{FF2B5EF4-FFF2-40B4-BE49-F238E27FC236}">
                      <a16:creationId xmlns:a16="http://schemas.microsoft.com/office/drawing/2014/main" id="{354DF554-9435-87AC-DDBB-16CD8AD9B1AA}"/>
                    </a:ext>
                  </a:extLst>
                </p:cNvPr>
                <p:cNvSpPr txBox="1">
                  <a:spLocks noRot="1" noChangeAspect="1" noMove="1" noResize="1" noEditPoints="1" noAdjustHandles="1" noChangeArrowheads="1" noChangeShapeType="1" noTextEdit="1"/>
                </p:cNvSpPr>
                <p:nvPr/>
              </p:nvSpPr>
              <p:spPr>
                <a:xfrm>
                  <a:off x="592701" y="3309865"/>
                  <a:ext cx="2648354" cy="1384995"/>
                </a:xfrm>
                <a:prstGeom prst="rect">
                  <a:avLst/>
                </a:prstGeom>
                <a:blipFill>
                  <a:blip r:embed="rId7"/>
                  <a:stretch>
                    <a:fillRect t="-2727" b="-31818"/>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8833B5F9-C5FA-DA02-229E-4023A42A8315}"/>
                </a:ext>
              </a:extLst>
            </p:cNvPr>
            <p:cNvSpPr/>
            <p:nvPr/>
          </p:nvSpPr>
          <p:spPr>
            <a:xfrm>
              <a:off x="605301" y="3364341"/>
              <a:ext cx="2605239" cy="1720916"/>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67E9E941-6576-EB02-2F96-A50641836DB8}"/>
              </a:ext>
            </a:extLst>
          </p:cNvPr>
          <p:cNvGrpSpPr/>
          <p:nvPr/>
        </p:nvGrpSpPr>
        <p:grpSpPr>
          <a:xfrm>
            <a:off x="249162" y="5129846"/>
            <a:ext cx="4232249" cy="1477328"/>
            <a:chOff x="568232" y="3627291"/>
            <a:chExt cx="4829849" cy="1140708"/>
          </a:xfrm>
        </p:grpSpPr>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D17906E-4875-8225-729C-620163D1E2B3}"/>
                    </a:ext>
                  </a:extLst>
                </p:cNvPr>
                <p:cNvSpPr txBox="1"/>
                <p:nvPr/>
              </p:nvSpPr>
              <p:spPr>
                <a:xfrm>
                  <a:off x="568232" y="3627291"/>
                  <a:ext cx="4829849" cy="1140708"/>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𝑘</m:t>
                      </m:r>
                    </m:oMath>
                  </a14:m>
                  <a:r>
                    <a:rPr lang="en-US" dirty="0"/>
                    <a:t>: Mass transfer coefficient of interest</a:t>
                  </a:r>
                </a:p>
                <a:p>
                  <a14:m>
                    <m:oMath xmlns:m="http://schemas.openxmlformats.org/officeDocument/2006/math">
                      <m:r>
                        <a:rPr lang="en-US" b="0" i="1" smtClean="0">
                          <a:latin typeface="Cambria Math" panose="02040503050406030204" pitchFamily="18" charset="0"/>
                        </a:rPr>
                        <m:t>𝑏</m:t>
                      </m:r>
                    </m:oMath>
                  </a14:m>
                  <a:r>
                    <a:rPr lang="en-US" dirty="0"/>
                    <a:t>: Diameter of the stirred cell</a:t>
                  </a:r>
                </a:p>
                <a:p>
                  <a14:m>
                    <m:oMath xmlns:m="http://schemas.openxmlformats.org/officeDocument/2006/math">
                      <m:r>
                        <a:rPr lang="en-US" b="0" i="1" smtClean="0">
                          <a:latin typeface="Cambria Math" panose="02040503050406030204" pitchFamily="18" charset="0"/>
                        </a:rPr>
                        <m:t>𝐷</m:t>
                      </m:r>
                    </m:oMath>
                  </a14:m>
                  <a:r>
                    <a:rPr lang="en-US" dirty="0"/>
                    <a:t>: Diffusion coefficient of solute in solvent</a:t>
                  </a:r>
                </a:p>
                <a:p>
                  <a14:m>
                    <m:oMath xmlns:m="http://schemas.openxmlformats.org/officeDocument/2006/math">
                      <m:r>
                        <a:rPr lang="en-US" b="0" i="1" smtClean="0">
                          <a:latin typeface="Cambria Math" panose="02040503050406030204" pitchFamily="18" charset="0"/>
                        </a:rPr>
                        <m:t>𝜈</m:t>
                      </m:r>
                    </m:oMath>
                  </a14:m>
                  <a:r>
                    <a:rPr lang="en-US" dirty="0"/>
                    <a:t>: Kinematic viscosity of the solvent</a:t>
                  </a:r>
                </a:p>
                <a:p>
                  <a14:m>
                    <m:oMath xmlns:m="http://schemas.openxmlformats.org/officeDocument/2006/math">
                      <m:sSup>
                        <m:sSupPr>
                          <m:ctrlPr>
                            <a:rPr lang="en-US" b="0" i="1" smtClean="0">
                              <a:latin typeface="Cambria Math" panose="02040503050406030204" pitchFamily="18" charset="0"/>
                            </a:rPr>
                          </m:ctrlPr>
                        </m:sSupPr>
                        <m:e>
                          <m:r>
                            <a:rPr lang="en-US" i="1">
                              <a:latin typeface="Cambria Math" panose="02040503050406030204" pitchFamily="18" charset="0"/>
                            </a:rPr>
                            <m:t>𝜈</m:t>
                          </m:r>
                        </m:e>
                        <m:sup>
                          <m:r>
                            <a:rPr lang="en-US" b="0" i="1" smtClean="0">
                              <a:latin typeface="Cambria Math" panose="02040503050406030204" pitchFamily="18" charset="0"/>
                            </a:rPr>
                            <m:t>0</m:t>
                          </m:r>
                        </m:sup>
                      </m:sSup>
                    </m:oMath>
                  </a14:m>
                  <a:r>
                    <a:rPr lang="en-US" dirty="0"/>
                    <a:t>: Average velocity within the system</a:t>
                  </a:r>
                </a:p>
              </p:txBody>
            </p:sp>
          </mc:Choice>
          <mc:Fallback xmlns="">
            <p:sp>
              <p:nvSpPr>
                <p:cNvPr id="21" name="TextBox 20">
                  <a:extLst>
                    <a:ext uri="{FF2B5EF4-FFF2-40B4-BE49-F238E27FC236}">
                      <a16:creationId xmlns:a16="http://schemas.microsoft.com/office/drawing/2014/main" id="{0D17906E-4875-8225-729C-620163D1E2B3}"/>
                    </a:ext>
                  </a:extLst>
                </p:cNvPr>
                <p:cNvSpPr txBox="1">
                  <a:spLocks noRot="1" noChangeAspect="1" noMove="1" noResize="1" noEditPoints="1" noAdjustHandles="1" noChangeArrowheads="1" noChangeShapeType="1" noTextEdit="1"/>
                </p:cNvSpPr>
                <p:nvPr/>
              </p:nvSpPr>
              <p:spPr>
                <a:xfrm>
                  <a:off x="568232" y="3627291"/>
                  <a:ext cx="4829849" cy="1140708"/>
                </a:xfrm>
                <a:prstGeom prst="rect">
                  <a:avLst/>
                </a:prstGeom>
                <a:blipFill>
                  <a:blip r:embed="rId8"/>
                  <a:stretch>
                    <a:fillRect t="-2564" b="-5128"/>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1ABCC7BC-BC7C-BF8D-1025-B900E6D30AEA}"/>
                </a:ext>
              </a:extLst>
            </p:cNvPr>
            <p:cNvSpPr/>
            <p:nvPr/>
          </p:nvSpPr>
          <p:spPr>
            <a:xfrm>
              <a:off x="611347" y="3651483"/>
              <a:ext cx="4660753" cy="1065105"/>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0BA0FD0-0428-F44E-617A-8658562F147A}"/>
                  </a:ext>
                </a:extLst>
              </p:cNvPr>
              <p:cNvSpPr txBox="1"/>
              <p:nvPr/>
            </p:nvSpPr>
            <p:spPr>
              <a:xfrm>
                <a:off x="249162" y="2693598"/>
                <a:ext cx="2639417" cy="68852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1400" b="1" i="1" smtClean="0">
                          <a:latin typeface="Cambria Math" panose="02040503050406030204" pitchFamily="18" charset="0"/>
                        </a:rPr>
                        <m:t>𝜽</m:t>
                      </m:r>
                      <m:r>
                        <a:rPr lang="en-US" sz="1400" i="1" smtClean="0">
                          <a:latin typeface="Cambria Math" panose="02040503050406030204" pitchFamily="18" charset="0"/>
                        </a:rPr>
                        <m:t>=</m:t>
                      </m:r>
                      <m:d>
                        <m:dPr>
                          <m:begChr m:val="["/>
                          <m:endChr m:val="]"/>
                          <m:ctrlPr>
                            <a:rPr lang="en-US" sz="1400" i="1">
                              <a:latin typeface="Cambria Math" panose="02040503050406030204" pitchFamily="18" charset="0"/>
                            </a:rPr>
                          </m:ctrlPr>
                        </m:dPr>
                        <m:e>
                          <m:eqArr>
                            <m:eqArrPr>
                              <m:ctrlPr>
                                <a:rPr lang="en-US" sz="1400" i="1">
                                  <a:latin typeface="Cambria Math" panose="02040503050406030204" pitchFamily="18" charset="0"/>
                                </a:rPr>
                              </m:ctrlPr>
                            </m:eqArrPr>
                            <m:e>
                              <m:sSub>
                                <m:sSubPr>
                                  <m:ctrlPr>
                                    <a:rPr lang="en-US" sz="1400" i="1">
                                      <a:latin typeface="Cambria Math" panose="02040503050406030204" pitchFamily="18" charset="0"/>
                                    </a:rPr>
                                  </m:ctrlPr>
                                </m:sSubPr>
                                <m:e>
                                  <m:r>
                                    <a:rPr lang="en-US" sz="1400" i="1">
                                      <a:latin typeface="Cambria Math" panose="02040503050406030204" pitchFamily="18" charset="0"/>
                                    </a:rPr>
                                    <m:t>𝐿</m:t>
                                  </m:r>
                                </m:e>
                                <m:sub>
                                  <m:r>
                                    <a:rPr lang="en-US" sz="1400" i="1">
                                      <a:latin typeface="Cambria Math" panose="02040503050406030204" pitchFamily="18" charset="0"/>
                                    </a:rPr>
                                    <m:t>𝑝</m:t>
                                  </m:r>
                                </m:sub>
                              </m:sSub>
                            </m:e>
                            <m:e>
                              <m:r>
                                <a:rPr lang="en-US" sz="1400" i="1">
                                  <a:latin typeface="Cambria Math" panose="02040503050406030204" pitchFamily="18" charset="0"/>
                                </a:rPr>
                                <m:t>𝐵</m:t>
                              </m:r>
                            </m:e>
                            <m:e>
                              <m:r>
                                <a:rPr lang="en-US" sz="1400" i="1">
                                  <a:latin typeface="Cambria Math" panose="02040503050406030204" pitchFamily="18" charset="0"/>
                                </a:rPr>
                                <m:t>𝜎</m:t>
                              </m:r>
                            </m:e>
                          </m:eqArr>
                        </m:e>
                      </m:d>
                      <m:r>
                        <a:rPr lang="en-US" sz="1400" b="0" i="1" smtClean="0">
                          <a:latin typeface="Cambria Math" panose="02040503050406030204" pitchFamily="18" charset="0"/>
                        </a:rPr>
                        <m:t>;    </m:t>
                      </m:r>
                      <m:r>
                        <a:rPr lang="en-US" sz="1400" b="1" i="1" smtClean="0">
                          <a:latin typeface="Cambria Math" panose="02040503050406030204" pitchFamily="18" charset="0"/>
                        </a:rPr>
                        <m:t>𝒚</m:t>
                      </m:r>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d>
                        <m:dPr>
                          <m:begChr m:val="["/>
                          <m:endChr m:val="]"/>
                          <m:ctrlPr>
                            <a:rPr lang="en-US" sz="1400" i="1">
                              <a:latin typeface="Cambria Math" panose="02040503050406030204" pitchFamily="18" charset="0"/>
                            </a:rPr>
                          </m:ctrlPr>
                        </m:dPr>
                        <m:e>
                          <m:eqArr>
                            <m:eqArrPr>
                              <m:ctrlPr>
                                <a:rPr lang="en-US" sz="1400" i="1">
                                  <a:latin typeface="Cambria Math" panose="02040503050406030204" pitchFamily="18" charset="0"/>
                                </a:rPr>
                              </m:ctrlPr>
                            </m:eqArr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𝑚</m:t>
                                  </m:r>
                                </m:e>
                                <m:sub>
                                  <m:r>
                                    <a:rPr lang="en-US" sz="1400" b="0" i="1" smtClean="0">
                                      <a:latin typeface="Cambria Math" panose="02040503050406030204" pitchFamily="18" charset="0"/>
                                    </a:rPr>
                                    <m:t>𝑣</m:t>
                                  </m:r>
                                </m:sub>
                              </m:sSub>
                            </m:e>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𝑐</m:t>
                                  </m:r>
                                </m:e>
                                <m:sub>
                                  <m:r>
                                    <a:rPr lang="en-US" sz="1400" b="0" i="1" smtClean="0">
                                      <a:latin typeface="Cambria Math" panose="02040503050406030204" pitchFamily="18" charset="0"/>
                                    </a:rPr>
                                    <m:t>𝑣</m:t>
                                  </m:r>
                                </m:sub>
                              </m:sSub>
                            </m:e>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𝑐</m:t>
                                  </m:r>
                                </m:e>
                                <m:sub>
                                  <m:r>
                                    <a:rPr lang="en-US" sz="1400" b="0" i="1" smtClean="0">
                                      <a:latin typeface="Cambria Math" panose="02040503050406030204" pitchFamily="18" charset="0"/>
                                    </a:rPr>
                                    <m:t>𝑓</m:t>
                                  </m:r>
                                </m:sub>
                              </m:sSub>
                            </m:e>
                          </m:eqArr>
                        </m:e>
                      </m:d>
                    </m:oMath>
                  </m:oMathPara>
                </a14:m>
                <a:endParaRPr lang="en-US" sz="1400" dirty="0"/>
              </a:p>
            </p:txBody>
          </p:sp>
        </mc:Choice>
        <mc:Fallback xmlns="">
          <p:sp>
            <p:nvSpPr>
              <p:cNvPr id="24" name="TextBox 23">
                <a:extLst>
                  <a:ext uri="{FF2B5EF4-FFF2-40B4-BE49-F238E27FC236}">
                    <a16:creationId xmlns:a16="http://schemas.microsoft.com/office/drawing/2014/main" id="{60BA0FD0-0428-F44E-617A-8658562F147A}"/>
                  </a:ext>
                </a:extLst>
              </p:cNvPr>
              <p:cNvSpPr txBox="1">
                <a:spLocks noRot="1" noChangeAspect="1" noMove="1" noResize="1" noEditPoints="1" noAdjustHandles="1" noChangeArrowheads="1" noChangeShapeType="1" noTextEdit="1"/>
              </p:cNvSpPr>
              <p:nvPr/>
            </p:nvSpPr>
            <p:spPr>
              <a:xfrm>
                <a:off x="249162" y="2693598"/>
                <a:ext cx="2639417" cy="688522"/>
              </a:xfrm>
              <a:prstGeom prst="rect">
                <a:avLst/>
              </a:prstGeom>
              <a:blipFill>
                <a:blip r:embed="rId9"/>
                <a:stretch>
                  <a:fillRect/>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2CD485F8-522D-F34F-3B7D-72B68AB710DC}"/>
              </a:ext>
            </a:extLst>
          </p:cNvPr>
          <p:cNvSpPr/>
          <p:nvPr/>
        </p:nvSpPr>
        <p:spPr>
          <a:xfrm>
            <a:off x="6072926" y="3618209"/>
            <a:ext cx="166510" cy="2817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C24B862-33F6-AC9F-3B68-90F5720F6A21}"/>
              </a:ext>
            </a:extLst>
          </p:cNvPr>
          <p:cNvSpPr/>
          <p:nvPr/>
        </p:nvSpPr>
        <p:spPr>
          <a:xfrm>
            <a:off x="5396098" y="4355531"/>
            <a:ext cx="166510" cy="2817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5738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8" grpId="0" animBg="1"/>
      <p:bldP spid="2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ss-JAO_072224_NF270_MC3_SNaCl_NaCl_07.22.24_SNaCl.png"/>
          <p:cNvPicPr>
            <a:picLocks noChangeAspect="1"/>
          </p:cNvPicPr>
          <p:nvPr/>
        </p:nvPicPr>
        <p:blipFill>
          <a:blip r:embed="rId3"/>
          <a:stretch>
            <a:fillRect/>
          </a:stretch>
        </p:blipFill>
        <p:spPr>
          <a:xfrm>
            <a:off x="778203" y="365760"/>
            <a:ext cx="4661513" cy="4480560"/>
          </a:xfrm>
          <a:prstGeom prst="rect">
            <a:avLst/>
          </a:prstGeom>
        </p:spPr>
      </p:pic>
      <p:pic>
        <p:nvPicPr>
          <p:cNvPr id="3" name="Picture 2" descr="concentration-JAO_072224_NF270_MC3_SNaCl_NaCl_07.22.24_SNaCl.png"/>
          <p:cNvPicPr>
            <a:picLocks noChangeAspect="1"/>
          </p:cNvPicPr>
          <p:nvPr/>
        </p:nvPicPr>
        <p:blipFill>
          <a:blip r:embed="rId4"/>
          <a:stretch>
            <a:fillRect/>
          </a:stretch>
        </p:blipFill>
        <p:spPr>
          <a:xfrm>
            <a:off x="6153912" y="1222725"/>
            <a:ext cx="5669280" cy="2766628"/>
          </a:xfrm>
          <a:prstGeom prst="rect">
            <a:avLst/>
          </a:prstGeom>
        </p:spPr>
      </p:pic>
      <p:sp>
        <p:nvSpPr>
          <p:cNvPr id="4" name="TextBox 3"/>
          <p:cNvSpPr txBox="1"/>
          <p:nvPr/>
        </p:nvSpPr>
        <p:spPr>
          <a:xfrm>
            <a:off x="457200" y="5074920"/>
            <a:ext cx="11277295" cy="1691640"/>
          </a:xfrm>
          <a:prstGeom prst="rect">
            <a:avLst/>
          </a:prstGeom>
          <a:noFill/>
        </p:spPr>
        <p:txBody>
          <a:bodyPr wrap="square">
            <a:spAutoFit/>
          </a:bodyPr>
          <a:lstStyle/>
          <a:p>
            <a:r>
              <a:rPr sz="1300" b="1">
                <a:solidFill>
                  <a:srgbClr val="0C2340"/>
                </a:solidFill>
              </a:rPr>
              <a:t>Figure 1. </a:t>
            </a:r>
            <a:r>
              <a:rPr sz="1300">
                <a:solidFill>
                  <a:srgbClr val="111111"/>
                </a:solidFill>
              </a:rPr>
              <a:t>Measured and model-predicted time profiles for a representative diluting NaCl diafiltration experiment. (Left) total retentate mass and (right) solute concentration in the retentate and permeate streams versus time; symbols are measurements — the retentate inductively-coupled-plasma (ICP) reference points and the time-resolved permeate vial samples — and the curves are the lumped-parameter model evaluated at the fitted parameters reported in the inset (Lₚ = 8.98 L m⁻² h⁻¹ bar⁻¹, B = 13.88 µm s⁻¹, σ = 1). A single concentration-independent solute permeability reproduces the mass decline and both concentration histories, with the retentate and permeate plotted in distinct colors; the reflection coefficient is forced to its upper bound (σ =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ss-JAO_050724_NF270_MC2_NaCl_NaCl_05.07.24_NaCl.png"/>
          <p:cNvPicPr>
            <a:picLocks noChangeAspect="1"/>
          </p:cNvPicPr>
          <p:nvPr/>
        </p:nvPicPr>
        <p:blipFill>
          <a:blip r:embed="rId3"/>
          <a:stretch>
            <a:fillRect/>
          </a:stretch>
        </p:blipFill>
        <p:spPr>
          <a:xfrm>
            <a:off x="778203" y="365760"/>
            <a:ext cx="4661513" cy="4480560"/>
          </a:xfrm>
          <a:prstGeom prst="rect">
            <a:avLst/>
          </a:prstGeom>
        </p:spPr>
      </p:pic>
      <p:pic>
        <p:nvPicPr>
          <p:cNvPr id="3" name="Picture 2" descr="concentration-JAO_050724_NF270_MC2_NaCl_NaCl_05.07.24_NaCl.png"/>
          <p:cNvPicPr>
            <a:picLocks noChangeAspect="1"/>
          </p:cNvPicPr>
          <p:nvPr/>
        </p:nvPicPr>
        <p:blipFill>
          <a:blip r:embed="rId4"/>
          <a:stretch>
            <a:fillRect/>
          </a:stretch>
        </p:blipFill>
        <p:spPr>
          <a:xfrm>
            <a:off x="6153912" y="1198605"/>
            <a:ext cx="5669280" cy="2814869"/>
          </a:xfrm>
          <a:prstGeom prst="rect">
            <a:avLst/>
          </a:prstGeom>
        </p:spPr>
      </p:pic>
      <p:sp>
        <p:nvSpPr>
          <p:cNvPr id="4" name="TextBox 3"/>
          <p:cNvSpPr txBox="1"/>
          <p:nvPr/>
        </p:nvSpPr>
        <p:spPr>
          <a:xfrm>
            <a:off x="457200" y="5074920"/>
            <a:ext cx="11277295" cy="1691640"/>
          </a:xfrm>
          <a:prstGeom prst="rect">
            <a:avLst/>
          </a:prstGeom>
          <a:noFill/>
        </p:spPr>
        <p:txBody>
          <a:bodyPr wrap="square">
            <a:spAutoFit/>
          </a:bodyPr>
          <a:lstStyle/>
          <a:p>
            <a:r>
              <a:rPr sz="1300" b="1">
                <a:solidFill>
                  <a:srgbClr val="0C2340"/>
                </a:solidFill>
              </a:rPr>
              <a:t>Figure 2. </a:t>
            </a:r>
            <a:r>
              <a:rPr sz="1300">
                <a:solidFill>
                  <a:srgbClr val="111111"/>
                </a:solidFill>
              </a:rPr>
              <a:t>Measured and model-predicted time profiles for a representative concentrating NaCl diafiltration experiment. (Left) total retentate mass and (right) solute concentration in the retentate and permeate streams versus time; symbols are measurements — the retentate inductively-coupled-plasma (ICP) reference points and the time-resolved permeate vial samples — and the curves are the lumped-parameter model evaluated at the fitted parameters reported in the inset (Lₚ = 9.91 L m⁻² h⁻¹ bar⁻¹, B = 10.00 µm s⁻¹, σ = 1). A single concentration-independent solute permeability reproduces the mass decline and both concentration histories, with the retentate and permeate plotted in distinct colors; the reflection coefficient is forced to its upper bound (σ =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ss-JAO_050724_NF270_MC2_CaCl2_CaCl2_05.07.24_CaCl2.png"/>
          <p:cNvPicPr>
            <a:picLocks noChangeAspect="1"/>
          </p:cNvPicPr>
          <p:nvPr/>
        </p:nvPicPr>
        <p:blipFill>
          <a:blip r:embed="rId3"/>
          <a:stretch>
            <a:fillRect/>
          </a:stretch>
        </p:blipFill>
        <p:spPr>
          <a:xfrm>
            <a:off x="778203" y="365760"/>
            <a:ext cx="4661513" cy="4480560"/>
          </a:xfrm>
          <a:prstGeom prst="rect">
            <a:avLst/>
          </a:prstGeom>
        </p:spPr>
      </p:pic>
      <p:pic>
        <p:nvPicPr>
          <p:cNvPr id="3" name="Picture 2" descr="concentration-JAO_050724_NF270_MC2_CaCl2_CaCl2_05.07.24_CaCl2.png"/>
          <p:cNvPicPr>
            <a:picLocks noChangeAspect="1"/>
          </p:cNvPicPr>
          <p:nvPr/>
        </p:nvPicPr>
        <p:blipFill>
          <a:blip r:embed="rId4"/>
          <a:stretch>
            <a:fillRect/>
          </a:stretch>
        </p:blipFill>
        <p:spPr>
          <a:xfrm>
            <a:off x="6153912" y="1198605"/>
            <a:ext cx="5669280" cy="2814869"/>
          </a:xfrm>
          <a:prstGeom prst="rect">
            <a:avLst/>
          </a:prstGeom>
        </p:spPr>
      </p:pic>
      <p:sp>
        <p:nvSpPr>
          <p:cNvPr id="4" name="TextBox 3"/>
          <p:cNvSpPr txBox="1"/>
          <p:nvPr/>
        </p:nvSpPr>
        <p:spPr>
          <a:xfrm>
            <a:off x="457200" y="5074920"/>
            <a:ext cx="11277295" cy="1691640"/>
          </a:xfrm>
          <a:prstGeom prst="rect">
            <a:avLst/>
          </a:prstGeom>
          <a:noFill/>
        </p:spPr>
        <p:txBody>
          <a:bodyPr wrap="square">
            <a:spAutoFit/>
          </a:bodyPr>
          <a:lstStyle/>
          <a:p>
            <a:r>
              <a:rPr sz="1300" b="1">
                <a:solidFill>
                  <a:srgbClr val="0C2340"/>
                </a:solidFill>
              </a:rPr>
              <a:t>Figure 3. </a:t>
            </a:r>
            <a:r>
              <a:rPr sz="1300">
                <a:solidFill>
                  <a:srgbClr val="111111"/>
                </a:solidFill>
              </a:rPr>
              <a:t>Measured and model-predicted time profiles for a representative concentrating CaCl₂ diafiltration experiment. (Left) total retentate mass and (right) solute concentration in the retentate and permeate streams versus time; symbols are measurements — the retentate inductively-coupled-plasma (ICP) reference points and the time-resolved permeate vial samples — and the curves are the lumped-parameter model evaluated at the fitted parameters reported in the inset (Lₚ = 7.54 L m⁻² h⁻¹ bar⁻¹, B = 5.71 µm s⁻¹, σ = 1). A single concentration-independent solute permeability reproduces the mass decline and both concentration histories, with the retentate and permeate plotted in distinct colors; the reflection coefficient is forced to its upper bound (σ =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ss-JAO_052124_NF270_MC2_LaCl3_LaCl3_05.21.24_LaCl3.png"/>
          <p:cNvPicPr>
            <a:picLocks noChangeAspect="1"/>
          </p:cNvPicPr>
          <p:nvPr/>
        </p:nvPicPr>
        <p:blipFill>
          <a:blip r:embed="rId3"/>
          <a:stretch>
            <a:fillRect/>
          </a:stretch>
        </p:blipFill>
        <p:spPr>
          <a:xfrm>
            <a:off x="778203" y="365760"/>
            <a:ext cx="4661513" cy="4480560"/>
          </a:xfrm>
          <a:prstGeom prst="rect">
            <a:avLst/>
          </a:prstGeom>
        </p:spPr>
      </p:pic>
      <p:pic>
        <p:nvPicPr>
          <p:cNvPr id="3" name="Picture 2" descr="concentration-JAO_052124_NF270_MC2_LaCl3_LaCl3_05.21.24_LaCl3.png"/>
          <p:cNvPicPr>
            <a:picLocks noChangeAspect="1"/>
          </p:cNvPicPr>
          <p:nvPr/>
        </p:nvPicPr>
        <p:blipFill>
          <a:blip r:embed="rId4"/>
          <a:stretch>
            <a:fillRect/>
          </a:stretch>
        </p:blipFill>
        <p:spPr>
          <a:xfrm>
            <a:off x="6153912" y="1198605"/>
            <a:ext cx="5669280" cy="2814869"/>
          </a:xfrm>
          <a:prstGeom prst="rect">
            <a:avLst/>
          </a:prstGeom>
        </p:spPr>
      </p:pic>
      <p:sp>
        <p:nvSpPr>
          <p:cNvPr id="4" name="TextBox 3"/>
          <p:cNvSpPr txBox="1"/>
          <p:nvPr/>
        </p:nvSpPr>
        <p:spPr>
          <a:xfrm>
            <a:off x="457200" y="5074920"/>
            <a:ext cx="11277295" cy="1691640"/>
          </a:xfrm>
          <a:prstGeom prst="rect">
            <a:avLst/>
          </a:prstGeom>
          <a:noFill/>
        </p:spPr>
        <p:txBody>
          <a:bodyPr wrap="square">
            <a:spAutoFit/>
          </a:bodyPr>
          <a:lstStyle/>
          <a:p>
            <a:r>
              <a:rPr sz="1300" b="1">
                <a:solidFill>
                  <a:srgbClr val="0C2340"/>
                </a:solidFill>
              </a:rPr>
              <a:t>Figure 4. </a:t>
            </a:r>
            <a:r>
              <a:rPr sz="1300">
                <a:solidFill>
                  <a:srgbClr val="111111"/>
                </a:solidFill>
              </a:rPr>
              <a:t>Measured and model-predicted time profiles for a representative concentrating LaCl₃ diafiltration experiment. (Left) total retentate mass and (right) solute concentration in the retentate and permeate streams versus time; symbols are measurements — the retentate inductively-coupled-plasma (ICP) reference points and the time-resolved permeate vial samples — and the curves are the lumped-parameter model evaluated at the fitted parameters reported in the inset (Lₚ = 3.54 L m⁻² h⁻¹ bar⁻¹, B = 0.32 µm s⁻¹, σ = 0). A single concentration-independent solute permeability reproduces the mass decline and both concentration histories, with the retentate and permeate plotted in distinct colors; the reflection coefficient is forced to its lower bound (σ = 0). This trivalent-salt experiment is the most demanding case in the campaign and shows the largest residuals of the four.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C2.05.07.24_CaCl2_identifiability.png"/>
          <p:cNvPicPr>
            <a:picLocks noChangeAspect="1"/>
          </p:cNvPicPr>
          <p:nvPr/>
        </p:nvPicPr>
        <p:blipFill>
          <a:blip r:embed="rId3"/>
          <a:stretch>
            <a:fillRect/>
          </a:stretch>
        </p:blipFill>
        <p:spPr>
          <a:xfrm>
            <a:off x="3330403" y="228600"/>
            <a:ext cx="5528144" cy="4709160"/>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5. </a:t>
            </a:r>
            <a:r>
              <a:rPr sz="1300">
                <a:solidFill>
                  <a:srgbClr val="111111"/>
                </a:solidFill>
              </a:rPr>
              <a:t>Log-transformed residual-squared contours for a representative concentrating CaCl₂ diafiltration experiment, generated by a 2-D grid search in which model predictions are computed for all combinations of two lumped transport parameters while the third is held at its fitted value. Columns correspond to the mass, permeate-concentration, and retentate-concentration objectives; rows correspond to the σ×Lₚ, B×Lₚ, and σ×B planes. The red triangle marks the minimum of each surface. The horizontal iso-residual bands in the upper two rows localize a unique hydraulic permeability Lₚ that is insensitive to σ and B, whereas the σ×B plane (bottom row) displays an extended valley, indicating that the reflection coefficient and solute permeability trade off and are not jointly identified from a single experiment. This well-determined Lₚ is what licenses fixing it in the σ×B maps that follow.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our_titled.png"/>
          <p:cNvPicPr>
            <a:picLocks noChangeAspect="1"/>
          </p:cNvPicPr>
          <p:nvPr/>
        </p:nvPicPr>
        <p:blipFill>
          <a:blip r:embed="rId3"/>
          <a:stretch>
            <a:fillRect/>
          </a:stretch>
        </p:blipFill>
        <p:spPr>
          <a:xfrm>
            <a:off x="365760" y="717007"/>
            <a:ext cx="11457432" cy="3732345"/>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6. </a:t>
            </a:r>
            <a:r>
              <a:rPr sz="1300">
                <a:solidFill>
                  <a:srgbClr val="111111"/>
                </a:solidFill>
              </a:rPr>
              <a:t>Identifiability of the reflection coefficient σ and the solute permeability B for a representative diluting NaCl experiment, with the hydraulic permeability fixed at its identified optimum Lₚ = 8.98 L m⁻² h⁻¹ bar⁻¹ (well determined and insensitive to σ and B; Figure 5). The three panels are the base-10 logarithm of the weighted sum-of-squared-error (WSSE) surface for each measured response — labelled mass, permeate, and retentate — computed by forward simulation over the σ×B grid at that fixed Lₚ; the red triangle marks each surface's minimum. Each surface constrains B through a narrow valley but is only weakly sensitive to σ, so the three responses reach their minima at different σ values along the boundaries; the reflection coefficient is therefore not jointly identified, and the single-experiment optimum places σ at its upper bound (σ = 1). The solute permeability is well determined while σ is not recoverable from one experiment.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our_titled.png"/>
          <p:cNvPicPr>
            <a:picLocks noChangeAspect="1"/>
          </p:cNvPicPr>
          <p:nvPr/>
        </p:nvPicPr>
        <p:blipFill>
          <a:blip r:embed="rId3"/>
          <a:stretch>
            <a:fillRect/>
          </a:stretch>
        </p:blipFill>
        <p:spPr>
          <a:xfrm>
            <a:off x="365760" y="717007"/>
            <a:ext cx="11457432" cy="3732345"/>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7. </a:t>
            </a:r>
            <a:r>
              <a:rPr sz="1300">
                <a:solidFill>
                  <a:srgbClr val="111111"/>
                </a:solidFill>
              </a:rPr>
              <a:t>Identifiability of the reflection coefficient σ and the solute permeability B for a representative concentrating NaCl experiment, with the hydraulic permeability fixed at its identified optimum Lₚ = 9.91 L m⁻² h⁻¹ bar⁻¹ (well determined and insensitive to σ and B; Figure 5). The three panels are the base-10 logarithm of the weighted sum-of-squared-error (WSSE) surface for each measured response — labelled mass, permeate, and retentate — computed by forward simulation over the σ×B grid at that fixed Lₚ; the red triangle marks each surface's minimum. Each surface constrains B through a narrow valley but is only weakly sensitive to σ, so the three responses reach their minima at different σ values along the boundaries; the reflection coefficient is therefore not jointly identified, and the single-experiment optimum places σ at its upper bound (σ = 1). The solute permeability is well determined while σ is not recoverable from one experiment.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our_titled.png"/>
          <p:cNvPicPr>
            <a:picLocks noChangeAspect="1"/>
          </p:cNvPicPr>
          <p:nvPr/>
        </p:nvPicPr>
        <p:blipFill>
          <a:blip r:embed="rId3"/>
          <a:stretch>
            <a:fillRect/>
          </a:stretch>
        </p:blipFill>
        <p:spPr>
          <a:xfrm>
            <a:off x="365760" y="717007"/>
            <a:ext cx="11457432" cy="3732345"/>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8. </a:t>
            </a:r>
            <a:r>
              <a:rPr sz="1300">
                <a:solidFill>
                  <a:srgbClr val="111111"/>
                </a:solidFill>
              </a:rPr>
              <a:t>Identifiability of the reflection coefficient σ and the solute permeability B for a representative concentrating CaCl₂ experiment, with the hydraulic permeability fixed at its identified optimum Lₚ = 7.54 L m⁻² h⁻¹ bar⁻¹ (well determined and insensitive to σ and B; Figure 5). The three panels are the base-10 logarithm of the weighted sum-of-squared-error (WSSE) surface for each measured response — labelled mass, permeate, and retentate — computed by forward simulation over the σ×B grid at that fixed Lₚ; the red triangle marks each surface's minimum. Each surface constrains B through a narrow valley but is only weakly sensitive to σ, so the three responses reach their minima at different σ values along the boundaries; the reflection coefficient is therefore not jointly identified, and the single-experiment optimum places σ at its upper bound (σ = 1). The solute permeability is well determined while σ is not recoverable from one experiment.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our_titled.png"/>
          <p:cNvPicPr>
            <a:picLocks noChangeAspect="1"/>
          </p:cNvPicPr>
          <p:nvPr/>
        </p:nvPicPr>
        <p:blipFill>
          <a:blip r:embed="rId3"/>
          <a:stretch>
            <a:fillRect/>
          </a:stretch>
        </p:blipFill>
        <p:spPr>
          <a:xfrm>
            <a:off x="365760" y="717007"/>
            <a:ext cx="11457432" cy="3732345"/>
          </a:xfrm>
          <a:prstGeom prst="rect">
            <a:avLst/>
          </a:prstGeom>
        </p:spPr>
      </p:pic>
      <p:sp>
        <p:nvSpPr>
          <p:cNvPr id="3" name="TextBox 2"/>
          <p:cNvSpPr txBox="1"/>
          <p:nvPr/>
        </p:nvSpPr>
        <p:spPr>
          <a:xfrm>
            <a:off x="457200" y="5074920"/>
            <a:ext cx="11277295" cy="1691640"/>
          </a:xfrm>
          <a:prstGeom prst="rect">
            <a:avLst/>
          </a:prstGeom>
          <a:noFill/>
        </p:spPr>
        <p:txBody>
          <a:bodyPr wrap="square">
            <a:spAutoFit/>
          </a:bodyPr>
          <a:lstStyle/>
          <a:p>
            <a:r>
              <a:rPr sz="1300" b="1">
                <a:solidFill>
                  <a:srgbClr val="0C2340"/>
                </a:solidFill>
              </a:rPr>
              <a:t>Figure 9. </a:t>
            </a:r>
            <a:r>
              <a:rPr sz="1300">
                <a:solidFill>
                  <a:srgbClr val="111111"/>
                </a:solidFill>
              </a:rPr>
              <a:t>Identifiability of the reflection coefficient σ and the solute permeability B for a representative concentrating LaCl₃ experiment, with the hydraulic permeability fixed at its identified optimum Lₚ = 3.54 L m⁻² h⁻¹ bar⁻¹ (well determined and insensitive to σ and B; Figure 5). The three panels are the base-10 logarithm of the weighted sum-of-squared-error (WSSE) surface for each measured response — labelled mass, permeate, and retentate — computed by forward simulation over the σ×B grid at that fixed Lₚ; the red triangle marks each surface's minimum. Each surface constrains B through a narrow valley but is only weakly sensitive to σ, so the three responses reach their minima at different σ values along the boundaries; the reflection coefficient is therefore not jointly identified, and the single-experiment optimum places σ at its lower bound (σ = 0). The solute permeability is well determined while σ is not recoverable from one experiment.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6044</Words>
  <Application>Microsoft Macintosh PowerPoint</Application>
  <PresentationFormat>Widescreen</PresentationFormat>
  <Paragraphs>366</Paragraphs>
  <Slides>20</Slides>
  <Notes>11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Arial</vt:lpstr>
      <vt:lpstr>Calibri</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Physics-Based Model Links Data to Transport Parameters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Keshav Kasturi Rangan</cp:lastModifiedBy>
  <cp:revision>7</cp:revision>
  <dcterms:created xsi:type="dcterms:W3CDTF">2013-01-27T09:14:16Z</dcterms:created>
  <dcterms:modified xsi:type="dcterms:W3CDTF">2026-06-24T13:54:18Z</dcterms:modified>
  <cp:category/>
</cp:coreProperties>
</file>
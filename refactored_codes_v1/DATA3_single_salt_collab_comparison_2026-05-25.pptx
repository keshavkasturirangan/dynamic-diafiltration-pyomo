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Single-Salt Conductivity →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CADCFC"/>
                </a:solidFill>
                <a:latin typeface="Arial"/>
              </a:rPr>
              <a:t>Collaborator's deck (left)  vs  our DATA3 pipeline (right)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Arial"/>
              </a:rPr>
              <a:t>Goal: confirm processed concentrations agree on the same experiments.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Arial"/>
              </a:rPr>
              <a:t>If they agree, the data-processing pathway is consistent; differences indicate either inversion-method or model-fit discrepancies.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Arial"/>
              </a:rPr>
              <a:t>2026-05-25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How to read these comparison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1295C"/>
                </a:solidFill>
                <a:latin typeface="Arial"/>
              </a:rPr>
              <a:t>Each slide pairs the same experiment.  Left = collaborator's deck rendering.  Right = our DATA3 pipeline concentration plot.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Arial"/>
              </a:rPr>
              <a:t>LEFT — collaborator's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669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Two panels per experiment.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Left panel:  raw conductivity (μS/cm) vs time (s)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magenta ▲ = retentate probe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red ◆ = permeate probe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blue / black lines = collaborator's fit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Right panel:  concentration (mM) vs time (s)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closed red ■ = retentate ICP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open △ = permeate ICP (cumulative)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  — "Recovered X: " = mass-balance closure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Data-quality verdict in lower-left.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Arial"/>
              </a:rPr>
              <a:t>RIGHT — our DATA3 plot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6692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Single panel: concentration (mM) vs time (min — NB unit difference!)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Magenta ■ dense = retentate probe → Shedlovsky → mM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Teal ■ sparse = vial ICP-OES (lab measurement)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Green line = retentate model prediction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Red line = permeate model prediction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• Red ▲ = vial model prediction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/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Key question to answer for EACH slide: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Do the retentate (magenta) measurements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reach the same end-of-run concentration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on both sides?  If yes — processing is consistent.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MC2.05.07.24_NaCl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concentration-JAO_050724_NF270_MC2_NaCl_NaCl_05.07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93225"/>
            <a:ext cx="5760720" cy="2860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#5  ·  our file: concentration-JAO_050724_NF270_MC2_NaCl_NaCl_05.07.24_NaCl.png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MC3.07.22.24_SNaCl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150 mM   Diafiltrate: 0 mM   (Collab: Excellent — gold-standard interior σ)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concentration-JAO_072224_NF270_MC3_SNaCl_NaCl_07.22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93225"/>
            <a:ext cx="5760720" cy="2860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#7  ·  our file: concentration-JAO_072224_NF270_MC3_SNaCl_NaCl_07.22.24_SNaCl.png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MC4.07.11.24_SNaCl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150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concentration-LL_071124_NF270_MC4_S_NaCl_07.11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067" y="1554480"/>
            <a:ext cx="5219546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#8  ·  our file: concentration-LL_071124_NF270_MC4_S_NaCl_07.11.24_SNaCl.png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MC5.07.23.24_NaCl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150 mM    (Collab: Excellent)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concentration-JAO_072324_NF270_MC5_NaCl_NaCl_07.23.24_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721" y="1554480"/>
            <a:ext cx="5280238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#9  ·  our file: concentration-JAO_072324_NF270_MC5_NaCl_NaCl_07.23.24_NaCl.png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MC5.07.23.24_SNaCl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150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concentration-JAO_072324_NF270_MC5_SNaCl_NaCl_07.23.24_S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397" y="1554480"/>
            <a:ext cx="5236886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#10  ·  our file: concentration-JAO_072324_NF270_MC5_SNaCl_NaCl_07.23.24_SNaCl.png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MC5.07.23.24_S2NaCl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100 mM   Diafiltrate: 0 mM    (Collab: Excellent)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concentration-JAO_072324_NF270_MC5_NaClS2_NaCl_07.23.24_S2Na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770" y="1554480"/>
            <a:ext cx="5046139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#11  ·  our file: concentration-JAO_072324_NF270_MC5_NaClS2_NaCl_07.23.24_S2NaCl.png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B85042"/>
                </a:solidFill>
                <a:latin typeface="Arial"/>
              </a:rPr>
              <a:t>MC2.05.07.24_CaCl2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concentration-JAO_050724_NF270_MC2_CaCl2_CaCl2_05.07.24_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93225"/>
            <a:ext cx="5760720" cy="2860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#13  ·  our file: concentration-JAO_050724_NF270_MC2_CaCl2_CaCl2_05.07.24_CaCl2.png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B85042"/>
                </a:solidFill>
                <a:latin typeface="Arial"/>
              </a:rPr>
              <a:t>MC3.07.11.24_SCaCl2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concentration-JAO_071124_NF270_MC3_SCaCl2_CaCl2_07.11.24_S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770" y="1554480"/>
            <a:ext cx="5046139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#15  ·  our file: concentration-JAO_071124_NF270_MC3_SCaCl2_CaCl2_07.11.24_SCaCl2.png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B85042"/>
                </a:solidFill>
                <a:latin typeface="Arial"/>
              </a:rPr>
              <a:t>MC3.07.12.24_S2CaCl2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50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concentration-JAO_071224_NF270_MC3_S2CaCl2_CaCl2_07.12.24_S2CaC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770" y="1554480"/>
            <a:ext cx="5046139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#16  ·  our file: concentration-JAO_071224_NF270_MC3_S2CaCl2_CaCl2_07.12.24_S2CaCl2.png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6D2E46"/>
                </a:solidFill>
                <a:latin typeface="Arial"/>
              </a:rPr>
              <a:t>MC2.05.21.24_LaCl3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20 mM    (Collab: Excellent)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concentration-JAO_052124_NF270_MC2_LaCl3_LaCl3_05.21.24_LaC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83180"/>
            <a:ext cx="576072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#18  ·  our file: concentration-JAO_052124_NF270_MC2_LaCl3_LaCl3_05.21.24_LaCl3.png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6D2E46"/>
                </a:solidFill>
                <a:latin typeface="Arial"/>
              </a:rPr>
              <a:t>MC4.07.11.24_SLaCl3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A99"/>
                </a:solidFill>
                <a:latin typeface="Arial"/>
              </a:rPr>
              <a:t>Feed: 1 mM   Diafiltrate: 20 mM    (Collab: 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761"/>
                </a:solidFill>
                <a:latin typeface="Arial"/>
              </a:rPr>
              <a:t>Collaborator's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C5F2D"/>
                </a:solidFill>
                <a:latin typeface="Arial"/>
              </a:rPr>
              <a:t>Our DATA3 pipeline</a:t>
            </a:r>
          </a:p>
        </p:txBody>
      </p:sp>
      <p:pic>
        <p:nvPicPr>
          <p:cNvPr id="6" name="Picture 5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03967"/>
            <a:ext cx="5760720" cy="3238785"/>
          </a:xfrm>
          <a:prstGeom prst="rect">
            <a:avLst/>
          </a:prstGeom>
        </p:spPr>
      </p:pic>
      <p:pic>
        <p:nvPicPr>
          <p:cNvPr id="7" name="Picture 6" descr="concentration-LL_071124_NF270_MC_4_LaCl3_07.11.24_SLaC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770" y="1554480"/>
            <a:ext cx="5046139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Arial"/>
              </a:rPr>
              <a:t>Collaborator slide #19  ·  our file: concentration-LL_071124_NF270_MC_4_LaCl3_07.11.24_SLaCl3.png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E2761"/>
                </a:solidFill>
                <a:latin typeface="Arial"/>
              </a:rPr>
              <a:t>Reading guide — what to look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1295C"/>
                </a:solidFill>
                <a:latin typeface="Arial"/>
              </a:rPr>
              <a:t>Three quick checks for each experiment, top → bottom: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rial"/>
              </a:rPr>
              <a:t>1.  Retentate end-of-run concentration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Read off the final value of the magenta retentate trace on BOTH sides — they should match within ~5 %.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B85042"/>
                </a:solidFill>
                <a:latin typeface="Arial"/>
              </a:rPr>
              <a:t>2.  Time axis: collaborator uses SECONDS, we use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Multiply collab time by 60 to compare to ours.  This is just a units choice — not a processing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Arial"/>
              </a:rPr>
              <a:t>3.  Permeate (vial)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Collaborator plots open triangles (cumulative permeate ICP) AND in some cases open diamonds (instantaneous).  We plot teal ■ (per-vial instantaneous ICP).  Compare like-for-like: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— Our teal ■ vs collab open diamonds (instantaneous)</a:t>
            </a:r>
          </a:p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  — Our cumulative would need to be derived; not currently plotted.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71585"/>
                </a:solidFill>
                <a:latin typeface="Arial"/>
              </a:rPr>
              <a:t>If retentate agrees but permeate scatter differs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Conductivity → concentration inversion is the SAME for retentate (Shedlovsky).  Permeate disagreement points to either (a) per-vial ICP-OES being plotted differently, or (b) a model-prediction artifact.  Worth a follow-up.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C5F2D"/>
                </a:solidFill>
                <a:latin typeface="Arial"/>
              </a:rPr>
              <a:t>Bottom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1295C"/>
                </a:solidFill>
                <a:latin typeface="Arial"/>
              </a:rPr>
              <a:t>The conductivity-derived RETENTATE traces should agree numerically on both sides.  That is the strongest test of whether our processing pipeline gives the same numbers.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
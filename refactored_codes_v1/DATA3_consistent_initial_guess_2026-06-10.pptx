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/>
              <a:t>DATA3 — Contour-Derived Consistent Initial Guesses</a:t>
            </a:r>
          </a:p>
          <a:p>
            <a:pPr algn="l"/>
            <a:r>
              <a:rPr sz="1800" i="1"/>
              <a:t>θ from joint argmin of mass + perm_conc + ret_conc WSSE per sheet, forward-simulated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505050"/>
                </a:solidFill>
              </a:rPr>
              <a:t>Meeting prep · 2026-06-10
Left panel: mass per vial (exp vs sim).  Right panel: cF + cV (exp) vs cF + cH (sim).  Text box: θ + WSSE.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/>
              <a:t>Stage 1A · Path A · concentrating + interior 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MC3.07.22.24_SNaCl</a:t>
            </a:r>
          </a:p>
          <a:p>
            <a:r>
              <a:rPr sz="1200" i="1">
                <a:solidFill>
                  <a:srgbClr val="646464"/>
                </a:solidFill>
              </a:rPr>
              <a:t>Stage 1A · Path A · concentrating + interior σ</a:t>
            </a:r>
          </a:p>
        </p:txBody>
      </p:sp>
      <p:pic>
        <p:nvPicPr>
          <p:cNvPr id="3" name="Picture 2" descr="MC3.07.22.24_SNaCl__contour_consist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4017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latin typeface="Courier"/>
              </a:rPr>
              <a:t>θ_consistent (from 2D contour argmin of mass+cp+cr):  L_p=8.627   B=14.679   σ=0.786    WSSE_3ch=560.5    WSSE_5ch=426896.8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/>
              <a:t>Stage 1B · Path B · diluting (σ-wall)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MC5.07.23.24_S2NaCl</a:t>
            </a:r>
          </a:p>
          <a:p>
            <a:r>
              <a:rPr sz="1200" i="1">
                <a:solidFill>
                  <a:srgbClr val="646464"/>
                </a:solidFill>
              </a:rPr>
              <a:t>Stage 1B · Path B · diluting (σ-wall)</a:t>
            </a:r>
          </a:p>
        </p:txBody>
      </p:sp>
      <p:pic>
        <p:nvPicPr>
          <p:cNvPr id="3" name="Picture 2" descr="MC5.07.23.24_S2NaCl__contour_consist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40219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latin typeface="Courier"/>
              </a:rPr>
              <a:t>θ_consistent (from 2D contour argmin of mass+cp+cr):  L_p=7.750   B=10.145   σ=0.286    WSSE_3ch=887.8    WSSE_5ch=17068.4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MC4.07.11.24_SNaCl</a:t>
            </a:r>
          </a:p>
          <a:p>
            <a:r>
              <a:rPr sz="1200" i="1">
                <a:solidFill>
                  <a:srgbClr val="646464"/>
                </a:solidFill>
              </a:rPr>
              <a:t>Stage 1B · Path B · diluting (σ-wall)</a:t>
            </a:r>
          </a:p>
        </p:txBody>
      </p:sp>
      <p:pic>
        <p:nvPicPr>
          <p:cNvPr id="3" name="Picture 2" descr="MC4.07.11.24_SNaCl__contour_consist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40157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latin typeface="Courier"/>
              </a:rPr>
              <a:t>θ_consistent (from 2D contour argmin of mass+cp+cr):  L_p=11.345   B=2.024   σ=0.500    WSSE_3ch=19508.4    WSSE_5ch=20079.7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/>
              <a:t>Stage 2 · NaCl concentrating (σ pinned at 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MC2.05.07.24_NaCl</a:t>
            </a:r>
          </a:p>
          <a:p>
            <a:r>
              <a:rPr sz="1200" i="1">
                <a:solidFill>
                  <a:srgbClr val="646464"/>
                </a:solidFill>
              </a:rPr>
              <a:t>Stage 2 · NaCl concentrating (σ pinned at 1)</a:t>
            </a:r>
          </a:p>
        </p:txBody>
      </p:sp>
      <p:pic>
        <p:nvPicPr>
          <p:cNvPr id="3" name="Picture 2" descr="MC2.05.07.24_NaCl__contour_consist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40137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latin typeface="Courier"/>
              </a:rPr>
              <a:t>θ_consistent (from 2D contour argmin of mass+cp+cr):  L_p=10.451   B=9.732   σ=1.000    WSSE_3ch=4527.9    WSSE_5ch=6965.8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MC5.07.23.24_NaCl</a:t>
            </a:r>
          </a:p>
          <a:p>
            <a:r>
              <a:rPr sz="1200" i="1">
                <a:solidFill>
                  <a:srgbClr val="646464"/>
                </a:solidFill>
              </a:rPr>
              <a:t>Stage 2 · NaCl concentrating (σ pinned at 1)</a:t>
            </a:r>
          </a:p>
        </p:txBody>
      </p:sp>
      <p:pic>
        <p:nvPicPr>
          <p:cNvPr id="3" name="Picture 2" descr="MC5.07.23.24_NaCl__contour_consist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40137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latin typeface="Courier"/>
              </a:rPr>
              <a:t>θ_consistent (from 2D contour argmin of mass+cp+cr):  L_p=10.524   B=3.698   σ=0.786    WSSE_3ch=7023.8    WSSE_5ch=7221.9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MC5.07.23.24_SNaCl</a:t>
            </a:r>
          </a:p>
          <a:p>
            <a:r>
              <a:rPr sz="1200" i="1">
                <a:solidFill>
                  <a:srgbClr val="646464"/>
                </a:solidFill>
              </a:rPr>
              <a:t>Stage 2 · NaCl concentrating (σ pinned at 1)</a:t>
            </a:r>
          </a:p>
        </p:txBody>
      </p:sp>
      <p:pic>
        <p:nvPicPr>
          <p:cNvPr id="3" name="Picture 2" descr="MC5.07.23.24_SNaCl__contour_consist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40137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latin typeface="Courier"/>
              </a:rPr>
              <a:t>θ_consistent (from 2D contour argmin of mass+cp+cr):  L_p=8.636   B=3.065   σ=0.571    WSSE_3ch=5870.1    WSSE_5ch=6046.7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/>
              <a:t>Stage 2 · CaCl₂ (σ pinned, channel split)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MC2.05.07.24_CaCl2</a:t>
            </a:r>
          </a:p>
          <a:p>
            <a:r>
              <a:rPr sz="1200" i="1">
                <a:solidFill>
                  <a:srgbClr val="646464"/>
                </a:solidFill>
              </a:rPr>
              <a:t>Stage 2 · CaCl₂ (σ pinned, channel split)</a:t>
            </a:r>
          </a:p>
        </p:txBody>
      </p:sp>
      <p:pic>
        <p:nvPicPr>
          <p:cNvPr id="3" name="Picture 2" descr="MC2.05.07.24_CaCl2__contour_consist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40157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latin typeface="Courier"/>
              </a:rPr>
              <a:t>θ_consistent (from 2D contour argmin of mass+cp+cr):  L_p=8.001   B=0.509   σ=0.500    WSSE_3ch=97213.2    WSSE_5ch=98364.1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MC3.07.11.24_SCaCl2</a:t>
            </a:r>
          </a:p>
          <a:p>
            <a:r>
              <a:rPr sz="1200" i="1">
                <a:solidFill>
                  <a:srgbClr val="646464"/>
                </a:solidFill>
              </a:rPr>
              <a:t>Stage 2 · CaCl₂ (σ pinned, channel split)</a:t>
            </a:r>
          </a:p>
        </p:txBody>
      </p:sp>
      <p:pic>
        <p:nvPicPr>
          <p:cNvPr id="3" name="Picture 2" descr="MC3.07.11.24_SCaCl2__contour_consist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40137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latin typeface="Courier"/>
              </a:rPr>
              <a:t>θ_consistent (from 2D contour argmin of mass+cp+cr):  L_p=6.561   B=9.110   σ=1.000    WSSE_3ch=6139.1    WSSE_5ch=6640.5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MC3.07.12.24_S2CaCl2</a:t>
            </a:r>
          </a:p>
          <a:p>
            <a:r>
              <a:rPr sz="1200" i="1">
                <a:solidFill>
                  <a:srgbClr val="646464"/>
                </a:solidFill>
              </a:rPr>
              <a:t>Stage 2 · CaCl₂ (σ pinned, channel split)</a:t>
            </a:r>
          </a:p>
        </p:txBody>
      </p:sp>
      <p:pic>
        <p:nvPicPr>
          <p:cNvPr id="3" name="Picture 2" descr="MC3.07.12.24_S2CaCl2__contour_consist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40137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latin typeface="Courier"/>
              </a:rPr>
              <a:t>θ_consistent (from 2D contour argmin of mass+cp+cr):  L_p=5.490   B=30.000   σ=1.000    WSSE_3ch=9773.9    WSSE_5ch=10281.8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/>
              <a:t>Stage 3 · LaCl₃ (not estimable, wrong-model bias)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MC2.05.21.24_LaCl3</a:t>
            </a:r>
          </a:p>
          <a:p>
            <a:r>
              <a:rPr sz="1200" i="1">
                <a:solidFill>
                  <a:srgbClr val="646464"/>
                </a:solidFill>
              </a:rPr>
              <a:t>Stage 3 · LaCl₃ (not estimable, wrong-model bias)</a:t>
            </a:r>
          </a:p>
        </p:txBody>
      </p:sp>
      <p:pic>
        <p:nvPicPr>
          <p:cNvPr id="3" name="Picture 2" descr="MC2.05.21.24_LaCl3__contour_consist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40137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latin typeface="Courier"/>
              </a:rPr>
              <a:t>θ_consistent (from 2D contour argmin of mass+cp+cr):  L_p=2.955   B=0.313   σ=0.000    WSSE_3ch=21500.2    WSSE_5ch=22051.7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MC4.07.11.24_SLaCl3</a:t>
            </a:r>
          </a:p>
          <a:p>
            <a:r>
              <a:rPr sz="1200" i="1">
                <a:solidFill>
                  <a:srgbClr val="646464"/>
                </a:solidFill>
              </a:rPr>
              <a:t>Stage 3 · LaCl₃ (not estimable, wrong-model bias)</a:t>
            </a:r>
          </a:p>
        </p:txBody>
      </p:sp>
      <p:pic>
        <p:nvPicPr>
          <p:cNvPr id="3" name="Picture 2" descr="MC4.07.11.24_SLaCl3__contour_consistent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40137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latin typeface="Courier"/>
              </a:rPr>
              <a:t>θ_consistent (from 2D contour argmin of mass+cp+cr):  L_p=5.552   B=0.172   σ=0.929    WSSE_3ch=75080.5    WSSE_5ch=76062.9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
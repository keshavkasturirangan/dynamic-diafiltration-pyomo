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4000" b="1" i="0">
                <a:solidFill>
                  <a:srgbClr val="0C2340"/>
                </a:solidFill>
                <a:latin typeface="Cambria"/>
              </a:rPr>
              <a:t>DATA3: Single-Salt NF270 Diafiltration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B88A00"/>
                </a:solidFill>
                <a:latin typeface="Calibri"/>
              </a:rPr>
              <a:t>Concentration-dependent solute permeability &amp; the Donnan–dielectric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548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1" i="0">
                <a:solidFill>
                  <a:srgbClr val="0C2340"/>
                </a:solidFill>
                <a:latin typeface="Calibri"/>
              </a:rPr>
              <a:t>Collaborator update  ·  June 24, 2026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666666"/>
                </a:solidFill>
                <a:latin typeface="Calibri"/>
              </a:rPr>
              <a:t>Keshav Kasturi Rangan  ·  University of Notre Dame</a:t>
            </a:r>
          </a:p>
        </p:txBody>
      </p:sp>
      <p:pic>
        <p:nvPicPr>
          <p:cNvPr id="5" name="Picture 4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769620"/>
            <a:ext cx="182880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Feedback from Friday —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indent="-228600" marL="228600">
              <a:spcAft>
                <a:spcPts val="1200"/>
              </a:spcAft>
              <a:buFont typeface="Arial"/>
              <a:buChar char="•"/>
            </a:pPr>
            <a:r>
              <a:rPr sz="1800" b="1" i="0">
                <a:solidFill>
                  <a:srgbClr val="0C2340"/>
                </a:solidFill>
                <a:latin typeface="Calibri"/>
              </a:rPr>
              <a:t>Time-series correction:</a:t>
            </a:r>
            <a:r>
              <a:rPr sz="1800" b="0" i="0">
                <a:solidFill>
                  <a:srgbClr val="202020"/>
                </a:solidFill>
                <a:latin typeface="Calibri"/>
              </a:rPr>
              <a:t> permeate ICP now anchored at vial close (DATA2 convention); mass, retentate, and permeate share one time axis — the invented tube-transit placement is retired.</a:t>
            </a:r>
          </a:p>
          <a:p>
            <a:pPr indent="-228600" marL="228600">
              <a:spcAft>
                <a:spcPts val="1200"/>
              </a:spcAft>
              <a:buFont typeface="Arial"/>
              <a:buChar char="•"/>
            </a:pPr>
            <a:r>
              <a:rPr sz="1800" b="1" i="0">
                <a:solidFill>
                  <a:srgbClr val="0C2340"/>
                </a:solidFill>
                <a:latin typeface="Calibri"/>
              </a:rPr>
              <a:t>Identifiability contours:</a:t>
            </a:r>
            <a:r>
              <a:rPr sz="1800" b="0" i="0">
                <a:solidFill>
                  <a:srgbClr val="202020"/>
                </a:solidFill>
                <a:latin typeface="Calibri"/>
              </a:rPr>
              <a:t> σ×B log-WSSE surfaces generated per response (mass / permeate / retentate) at the identified L</a:t>
            </a:r>
            <a:r>
              <a:rPr sz="1800" b="0" i="0" baseline="-25000">
                <a:solidFill>
                  <a:srgbClr val="202020"/>
                </a:solidFill>
                <a:latin typeface="Calibri"/>
              </a:rPr>
              <a:t>p</a:t>
            </a:r>
            <a:r>
              <a:rPr sz="1800" b="0" i="0">
                <a:solidFill>
                  <a:srgbClr val="202020"/>
                </a:solidFill>
                <a:latin typeface="Calibri"/>
              </a:rPr>
              <a:t>.</a:t>
            </a:r>
          </a:p>
          <a:p>
            <a:pPr indent="-228600" marL="228600">
              <a:spcAft>
                <a:spcPts val="1200"/>
              </a:spcAft>
              <a:buFont typeface="Arial"/>
              <a:buChar char="•"/>
            </a:pPr>
            <a:r>
              <a:rPr sz="1800" b="1" i="0">
                <a:solidFill>
                  <a:srgbClr val="0C2340"/>
                </a:solidFill>
                <a:latin typeface="Calibri"/>
              </a:rPr>
              <a:t>Color coding:</a:t>
            </a:r>
            <a:r>
              <a:rPr sz="1800" b="0" i="0">
                <a:solidFill>
                  <a:srgbClr val="202020"/>
                </a:solidFill>
                <a:latin typeface="Calibri"/>
              </a:rPr>
              <a:t> fit/data plots follow the DATA2 convention (retentate vs permeate vs model).</a:t>
            </a:r>
          </a:p>
          <a:p>
            <a:pPr indent="-228600" marL="228600">
              <a:spcAft>
                <a:spcPts val="1200"/>
              </a:spcAft>
              <a:buFont typeface="Arial"/>
              <a:buChar char="•"/>
            </a:pPr>
            <a:r>
              <a:rPr sz="1800" b="1" i="0">
                <a:solidFill>
                  <a:srgbClr val="0C2340"/>
                </a:solidFill>
                <a:latin typeface="Calibri"/>
              </a:rPr>
              <a:t>Scope:</a:t>
            </a:r>
            <a:r>
              <a:rPr sz="1800" b="0" i="0">
                <a:solidFill>
                  <a:srgbClr val="202020"/>
                </a:solidFill>
                <a:latin typeface="Calibri"/>
              </a:rPr>
              <a:t> all changes are DATA3 / NF270-only; DATA1, DATA2, and the legacy MATLAB are untouched.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Topics I need help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indent="-228600" marL="228600">
              <a:spcAft>
                <a:spcPts val="10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Prioritization: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which question below is the right one to chase first?</a:t>
            </a:r>
          </a:p>
          <a:p>
            <a:pPr indent="-228600" marL="228600">
              <a:spcAft>
                <a:spcPts val="10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Donnan–dielectric equation: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the partition form, its assumptions, and the derivation of B(c).</a:t>
            </a:r>
          </a:p>
          <a:p>
            <a:pPr indent="-228600" marL="228600">
              <a:spcAft>
                <a:spcPts val="10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Interfacial concentration: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what range of membrane-interface concentration do the experiments actually probe?</a:t>
            </a:r>
          </a:p>
          <a:p>
            <a:pPr indent="-228600" marL="228600">
              <a:spcAft>
                <a:spcPts val="10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Péclet framing: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the Péclet number and the rejection law R(σ, Pe) — is this the right lens?</a:t>
            </a:r>
          </a:p>
          <a:p>
            <a:pPr indent="-228600" marL="228600">
              <a:spcAft>
                <a:spcPts val="10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Transport components: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dielectric exclusion, cross-coefficients D</a:t>
            </a:r>
            <a:r>
              <a:rPr sz="1700" b="0" i="0" baseline="-25000">
                <a:solidFill>
                  <a:srgbClr val="202020"/>
                </a:solidFill>
                <a:latin typeface="Calibri"/>
              </a:rPr>
              <a:t>ij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, B(c), and activity coefficients — which to include?</a:t>
            </a:r>
          </a:p>
          <a:p>
            <a:pPr indent="-228600" marL="228600">
              <a:spcAft>
                <a:spcPts val="10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Identifiability: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given σ is unidentified single-experiment, how far can B(c) claims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Single experiments determine B, not σ</a:t>
            </a:r>
          </a:p>
        </p:txBody>
      </p:sp>
      <p:pic>
        <p:nvPicPr>
          <p:cNvPr id="4" name="Picture 3" descr="all_slide1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48888"/>
            <a:ext cx="11612880" cy="37829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96463"/>
            <a:ext cx="11091672" cy="130433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indent="-228600" marL="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Each response’s log-WSSE has a narrow valley in B but is nearly flat in σ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(representative concentrating CaCl</a:t>
            </a:r>
            <a:r>
              <a:rPr sz="1400" b="0" i="0" baseline="-25000">
                <a:solidFill>
                  <a:srgbClr val="202020"/>
                </a:solidFill>
                <a:latin typeface="Calibri"/>
              </a:rPr>
              <a:t>2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; L</a:t>
            </a:r>
            <a:r>
              <a:rPr sz="1400" b="0" i="0" baseline="-25000">
                <a:solidFill>
                  <a:srgbClr val="202020"/>
                </a:solidFill>
                <a:latin typeface="Calibri"/>
              </a:rPr>
              <a:t>p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fixed at its identified optimum).</a:t>
            </a:r>
          </a:p>
          <a:p>
            <a:pPr indent="-228600" marL="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σ rails to its bound while B stays well-determined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— the two are correlated, so one experiment cannot recover σ.</a:t>
            </a:r>
          </a:p>
          <a:p>
            <a:pPr indent="-228600" marL="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Consequence: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“is B concentration-dependent?” must be posed carefully — we lean on mechanism, not fit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The same membrane spans diffusion- and convection-limited regimes</a:t>
            </a:r>
          </a:p>
        </p:txBody>
      </p:sp>
      <p:pic>
        <p:nvPicPr>
          <p:cNvPr id="4" name="Picture 3" descr="slide1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548" y="960120"/>
            <a:ext cx="7239000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75887"/>
            <a:ext cx="110916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>
                <a:solidFill>
                  <a:srgbClr val="0C234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P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convection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diffusion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w</m:t>
                              </m:r>
                            </m:sub>
                          </m:sSub>
                          <m:r>
                            <m:t> </m:t>
                          </m:r>
                          <m:r>
                            <m:t>L</m:t>
                          </m:r>
                        </m:num>
                        <m:den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0C2340"/>
                    </a:solidFill>
                    <a:latin typeface="Cambria Math"/>
                  </a:rPr>
                  <a:t>Pe = convection / diffusion = Jw·L / Dₘ</a:t>
                </a:r>
              </mc:Fallback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548640" y="4151375"/>
            <a:ext cx="110916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>
                <a:solidFill>
                  <a:srgbClr val="0C234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p>
                                <m:e>
                                  <m: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m:t>P</m:t>
                                  </m:r>
                                  <m:r>
                                    <m:rPr>
                                      <m:sty m:val="p"/>
                                    </m:rPr>
                                    <m:t>e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σ</m:t>
                          </m:r>
                          <m:r>
                            <m:t> </m:t>
                          </m:r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m:t>e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0C2340"/>
                    </a:solidFill>
                    <a:latin typeface="Cambria Math"/>
                  </a:rPr>
                  <a:t>R = σ(1 − e⁻ᴾᵉ)/(1 − σ e⁻ᴾᵉ)</a:t>
                </a:r>
              </mc:Fallback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40080" y="4654295"/>
            <a:ext cx="10908792" cy="5852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00" b="1" i="1">
                <a:solidFill>
                  <a:srgbClr val="0C2340"/>
                </a:solidFill>
                <a:latin typeface="Calibri"/>
              </a:rPr>
              <a:t>where  </a:t>
            </a:r>
            <a:r>
              <a:rPr sz="1100" b="0" i="0">
                <a:solidFill>
                  <a:srgbClr val="202020"/>
                </a:solidFill>
                <a:latin typeface="Calibri"/>
              </a:rPr>
              <a:t>Pe — Péclet number;  Jw — water (volume) flux through the membrane;  L — membrane thickness;  D</a:t>
            </a:r>
            <a:r>
              <a:rPr sz="1100" b="0" i="0" baseline="-25000">
                <a:solidFill>
                  <a:srgbClr val="202020"/>
                </a:solidFill>
                <a:latin typeface="Calibri"/>
              </a:rPr>
              <a:t>m</a:t>
            </a:r>
            <a:r>
              <a:rPr sz="1100" b="0" i="0">
                <a:solidFill>
                  <a:srgbClr val="202020"/>
                </a:solidFill>
                <a:latin typeface="Calibri"/>
              </a:rPr>
              <a:t> — solute diffusivity in the membrane;  R — salt rejection;  σ — reflection coefficient (0 = no rejection, 1 = complete).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21807"/>
            <a:ext cx="11091672" cy="6949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indent="-228600" marL="228600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0C2340"/>
                </a:solidFill>
                <a:latin typeface="Calibri"/>
              </a:rPr>
              <a:t>Diluting NaCl is diffusion-limited (Pe* ≈ 10</a:t>
            </a:r>
            <a:r>
              <a:rPr sz="1300" b="1" i="0" baseline="30000">
                <a:solidFill>
                  <a:srgbClr val="0C2340"/>
                </a:solidFill>
                <a:latin typeface="Calibri"/>
              </a:rPr>
              <a:t>-3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); concentrating NaCl / CaCl</a:t>
            </a:r>
            <a:r>
              <a:rPr sz="1300" b="1" i="0" baseline="-25000">
                <a:solidFill>
                  <a:srgbClr val="0C2340"/>
                </a:solidFill>
                <a:latin typeface="Calibri"/>
              </a:rPr>
              <a:t>2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 / LaCl</a:t>
            </a:r>
            <a:r>
              <a:rPr sz="1300" b="1" i="0" baseline="-25000">
                <a:solidFill>
                  <a:srgbClr val="0C2340"/>
                </a:solidFill>
                <a:latin typeface="Calibri"/>
              </a:rPr>
              <a:t>3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 are convection-dominated (Pe* ≈ 77 / 36 / 36).</a:t>
            </a:r>
          </a:p>
          <a:p>
            <a:pPr indent="-228600" marL="228600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0C2340"/>
                </a:solidFill>
                <a:latin typeface="Calibri"/>
              </a:rPr>
              <a:t>Mechanistic inference, not a direct demonstration: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 Pe and B come from the same fitted model — this motivates B(c), it does not prove it.</a:t>
            </a:r>
          </a:p>
          <a:p>
            <a:pPr indent="-228600" marL="228600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0C2340"/>
                </a:solidFill>
                <a:latin typeface="Calibri"/>
              </a:rPr>
              <a:t>To tabulate for review: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 water flux Jw, membrane length-scale L, and diffusivity D</a:t>
            </a:r>
            <a:r>
              <a:rPr sz="1300" b="0" i="0" baseline="-25000">
                <a:solidFill>
                  <a:srgbClr val="202020"/>
                </a:solidFill>
                <a:latin typeface="Calibri"/>
              </a:rPr>
              <a:t>m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 per salt.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63056"/>
            <a:ext cx="11475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00" b="0" i="1">
                <a:solidFill>
                  <a:srgbClr val="666666"/>
                </a:solidFill>
                <a:latin typeface="Calibri"/>
              </a:rPr>
              <a:t>Refs — Pe = JwL/Dm: DATA2, Liu et al., Ind. Eng. Chem. Res. 64 (2025) 12111 (eq 25); Spiegler–Kedem rejection: Spiegler &amp; Kedem, Desalination 1 (1966) 311; solution-diffusion (Lp, B, σ): Kedem &amp; Katchalsky, Biochim. Biophys. Acta 27 (1958) 229; framework: Ouimet et al., J. Membr. Sci. 641 (2022) 119743 (DATA1).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All single-salt windows sit on the Donnan plateau</a:t>
            </a:r>
          </a:p>
        </p:txBody>
      </p:sp>
      <p:pic>
        <p:nvPicPr>
          <p:cNvPr id="4" name="Picture 3" descr="slide1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748" y="960120"/>
            <a:ext cx="5308600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75887"/>
            <a:ext cx="110916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>
                <a:solidFill>
                  <a:srgbClr val="0C234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w</m:t>
                              </m:r>
                            </m:sub>
                          </m:sSub>
                          <m:r>
                            <m:t> 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ad>
                                <m:radPr>
                                  <m:degHide m:val="on"/>
                                </m:radPr>
                                <m:deg/>
                                <m:e>
                                  <m:sSup>
                                    <m:e>
                                      <m:r>
                                        <m:t>X</m:t>
                                      </m:r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r>
                                    <m:t>4</m:t>
                                  </m:r>
                                  <m:sSup>
                                    <m:e>
                                      <m:r>
                                        <m:t>k</m:t>
                                      </m:r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  <m:sSup>
                                    <m:e>
                                      <m:r>
                                        <m:t>c</m:t>
                                      </m:r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num>
                        <m:den>
                          <m:r>
                            <m:t>2</m:t>
                          </m:r>
                          <m:r>
                            <m:t>c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0C2340"/>
                    </a:solidFill>
                    <a:latin typeface="Cambria Math"/>
                  </a:rPr>
                  <a:t>B(c) = J_w P₀(−X + √(X² + 4k²c²)) / (2c)</a:t>
                </a:r>
              </mc:Fallback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548640" y="4151375"/>
            <a:ext cx="110916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>
                <a:solidFill>
                  <a:srgbClr val="0C234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plateau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k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knee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X</m:t>
                          </m:r>
                        </m:num>
                        <m:den>
                          <m:r>
                            <m:t>2</m:t>
                          </m:r>
                          <m:r>
                            <m:t>k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c</m:t>
                          </m:r>
                        </m:num>
                        <m:den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knee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  <m:r>
                            <m:t>k</m:t>
                          </m:r>
                          <m:r>
                            <m:t>c</m:t>
                          </m:r>
                        </m:num>
                        <m:den>
                          <m:r>
                            <m:t>X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0C2340"/>
                    </a:solidFill>
                    <a:latin typeface="Cambria Math"/>
                  </a:rPr>
                  <a:t>B_plateau = J_w P₀ k,   c_knee = X/2k,   u = c/c_knee = 2kc/X</a:t>
                </a:r>
              </mc:Fallback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40080" y="4654295"/>
            <a:ext cx="10908792" cy="5852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00" b="1" i="1">
                <a:solidFill>
                  <a:srgbClr val="0C2340"/>
                </a:solidFill>
                <a:latin typeface="Calibri"/>
              </a:rPr>
              <a:t>where  </a:t>
            </a:r>
            <a:r>
              <a:rPr sz="1100" b="0" i="0">
                <a:solidFill>
                  <a:srgbClr val="202020"/>
                </a:solidFill>
                <a:latin typeface="Calibri"/>
              </a:rPr>
              <a:t>B(c) — solute permeability at interfacial concentration c;  c — membrane-interface salt concentration;  Jw — water flux;  P</a:t>
            </a:r>
            <a:r>
              <a:rPr sz="1100" b="0" i="0" baseline="-25000">
                <a:solidFill>
                  <a:srgbClr val="202020"/>
                </a:solidFill>
                <a:latin typeface="Calibri"/>
              </a:rPr>
              <a:t>0</a:t>
            </a:r>
            <a:r>
              <a:rPr sz="1100" b="0" i="0">
                <a:solidFill>
                  <a:srgbClr val="202020"/>
                </a:solidFill>
                <a:latin typeface="Calibri"/>
              </a:rPr>
              <a:t> — intrinsic permeability prefactor;  X — effective membrane fixed-charge density;  k — lumped Donnan–dielectric partition factor;  B_plateau — high-c plateau value;  c_knee = X/2k — regime knee;  u = c/c_knee — screening parameter.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21807"/>
            <a:ext cx="11091672" cy="6949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indent="-228600" marL="228600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0C2340"/>
                </a:solidFill>
                <a:latin typeface="Calibri"/>
              </a:rPr>
              <a:t>B(c) collapses onto one master curve; every measured window is at u ≈ 10</a:t>
            </a:r>
            <a:r>
              <a:rPr sz="1300" b="1" i="0" baseline="30000">
                <a:solidFill>
                  <a:srgbClr val="0C2340"/>
                </a:solidFill>
                <a:latin typeface="Calibri"/>
              </a:rPr>
              <a:t>3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–10</a:t>
            </a:r>
            <a:r>
              <a:rPr sz="1300" b="1" i="0" baseline="30000">
                <a:solidFill>
                  <a:srgbClr val="0C2340"/>
                </a:solidFill>
                <a:latin typeface="Calibri"/>
              </a:rPr>
              <a:t>5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 (screened plateau)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 → B is ≈ constant in-window (the screened-plateau value).</a:t>
            </a:r>
          </a:p>
          <a:p>
            <a:pPr indent="-228600" marL="228600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0C2340"/>
                </a:solidFill>
                <a:latin typeface="Calibri"/>
              </a:rPr>
              <a:t>The knee c_knee = X / 2k rails 10</a:t>
            </a:r>
            <a:r>
              <a:rPr sz="1300" b="1" i="0" baseline="30000">
                <a:solidFill>
                  <a:srgbClr val="0C2340"/>
                </a:solidFill>
                <a:latin typeface="Calibri"/>
              </a:rPr>
              <a:t>3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–10</a:t>
            </a:r>
            <a:r>
              <a:rPr sz="1300" b="1" i="0" baseline="30000">
                <a:solidFill>
                  <a:srgbClr val="0C2340"/>
                </a:solidFill>
                <a:latin typeface="Calibri"/>
              </a:rPr>
              <a:t>5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× below the data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 → the fixed-charge scale X is not identified from one salt.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63056"/>
            <a:ext cx="11475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00" b="0" i="1">
                <a:solidFill>
                  <a:srgbClr val="666666"/>
                </a:solidFill>
                <a:latin typeface="Calibri"/>
              </a:rPr>
              <a:t>Refs — Donnan–dielectric B(c): Yaroshchuk, Adv. Colloid Interface Sci. 85 (2000) 193; Bandini &amp; Vezzani, Chem. Eng. Sci. 58 (2003) 3303 (DSPM-DE); Donnan-equilibrium partition cf. Bolt, J. Colloid Sci. 10 (1955) 206 (as in DATA2).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B(c): in-window agreement, out-of-window divergence — LaCl</a:t>
            </a:r>
            <a:r>
              <a:rPr sz="2600" b="1" i="0" baseline="-25000">
                <a:solidFill>
                  <a:srgbClr val="0C2340"/>
                </a:solidFill>
                <a:latin typeface="Cambria"/>
              </a:rPr>
              <a:t>3</a:t>
            </a:r>
          </a:p>
        </p:txBody>
      </p:sp>
      <p:pic>
        <p:nvPicPr>
          <p:cNvPr id="4" name="Picture 3" descr="slide15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5" y="960120"/>
            <a:ext cx="6798365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75887"/>
            <a:ext cx="110916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>
                <a:solidFill>
                  <a:srgbClr val="0C234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c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t>3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0C2340"/>
                    </a:solidFill>
                    <a:latin typeface="Cambria Math"/>
                  </a:rPr>
                  <a:t>B(c) = β₀ + β₁c + β₂c² + β₃c³</a:t>
                </a:r>
              </mc:Fallback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548640" y="4151375"/>
            <a:ext cx="110916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>
                <a:solidFill>
                  <a:srgbClr val="0C234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∞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m:t>/</m:t>
                              </m:r>
                              <m:sSup>
                                <m:e>
                                  <m:r>
                                    <m:t>c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*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0C2340"/>
                    </a:solidFill>
                    <a:latin typeface="Cambria Math"/>
                  </a:rPr>
                  <a:t>B(c) = B_∞(1 − e⁻ᶜᐟᶜ*)</a:t>
                </a:r>
              </mc:Fallback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40080" y="4654295"/>
            <a:ext cx="10908792" cy="5852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00" b="1" i="1">
                <a:solidFill>
                  <a:srgbClr val="0C2340"/>
                </a:solidFill>
                <a:latin typeface="Calibri"/>
              </a:rPr>
              <a:t>where  </a:t>
            </a:r>
            <a:r>
              <a:rPr sz="1100" b="0" i="0">
                <a:solidFill>
                  <a:srgbClr val="202020"/>
                </a:solidFill>
                <a:latin typeface="Calibri"/>
              </a:rPr>
              <a:t>B(c) — solute permeability;  c — interfacial concentration;  β</a:t>
            </a:r>
            <a:r>
              <a:rPr sz="1100" b="0" i="0" baseline="-25000">
                <a:solidFill>
                  <a:srgbClr val="202020"/>
                </a:solidFill>
                <a:latin typeface="Calibri"/>
              </a:rPr>
              <a:t>0</a:t>
            </a:r>
            <a:r>
              <a:rPr sz="1100" b="0" i="0">
                <a:solidFill>
                  <a:srgbClr val="202020"/>
                </a:solidFill>
                <a:latin typeface="Calibri"/>
              </a:rPr>
              <a:t>–β</a:t>
            </a:r>
            <a:r>
              <a:rPr sz="1100" b="0" i="0" baseline="-25000">
                <a:solidFill>
                  <a:srgbClr val="202020"/>
                </a:solidFill>
                <a:latin typeface="Calibri"/>
              </a:rPr>
              <a:t>3</a:t>
            </a:r>
            <a:r>
              <a:rPr sz="1100" b="0" i="0">
                <a:solidFill>
                  <a:srgbClr val="202020"/>
                </a:solidFill>
                <a:latin typeface="Calibri"/>
              </a:rPr>
              <a:t> — polynomial (Taylor) expansion coefficients;  B∞ — saturating permeability as c → ∞;  c* — characteristic saturation concentration.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21807"/>
            <a:ext cx="11091672" cy="6949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indent="-228600" marL="228600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0C2340"/>
                </a:solidFill>
                <a:latin typeface="Calibri"/>
              </a:rPr>
              <a:t>Within the measured window, constant / linear / quadratic / cubic / saturating-exp all agree (B ≈ 0.3 µm·s</a:t>
            </a:r>
            <a:r>
              <a:rPr sz="1300" b="1" i="0" baseline="30000">
                <a:solidFill>
                  <a:srgbClr val="0C2340"/>
                </a:solidFill>
                <a:latin typeface="Calibri"/>
              </a:rPr>
              <a:t>-1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).</a:t>
            </a:r>
          </a:p>
          <a:p>
            <a:pPr indent="-228600" marL="228600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0C2340"/>
                </a:solidFill>
                <a:latin typeface="Calibri"/>
              </a:rPr>
              <a:t>Extrapolated, the polynomials diverge unphysically (cubic → negative); Donnan and saturating-exp stay bounded.</a:t>
            </a:r>
          </a:p>
          <a:p>
            <a:pPr indent="-228600" marL="228600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0C2340"/>
                </a:solidFill>
                <a:latin typeface="Calibri"/>
              </a:rPr>
              <a:t>The Donnan–dielectric is the mechanistically-grounded, physically-bounded form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 — the data do not discriminate it from a constant in-window.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63056"/>
            <a:ext cx="11475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00" b="0" i="1">
                <a:solidFill>
                  <a:srgbClr val="666666"/>
                </a:solidFill>
                <a:latin typeface="Calibri"/>
              </a:rPr>
              <a:t>Refs — empirical B(c): polynomial (multiplicative) form per DATA2, Liu et al., Ind. Eng. Chem. Res. 64 (2025) 12111 (eq 31); saturating-exp &amp; Donnan-bounded forms: this work (DATA3).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Same behavior for CaCl</a:t>
            </a:r>
            <a:r>
              <a:rPr sz="2600" b="1" i="0" baseline="-25000">
                <a:solidFill>
                  <a:srgbClr val="0C2340"/>
                </a:solidFill>
                <a:latin typeface="Cambria"/>
              </a:rPr>
              <a:t>2</a:t>
            </a:r>
          </a:p>
        </p:txBody>
      </p:sp>
      <p:pic>
        <p:nvPicPr>
          <p:cNvPr id="4" name="Picture 3" descr="slide16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13973"/>
            <a:ext cx="11612880" cy="3852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31379"/>
            <a:ext cx="11091672" cy="1269421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indent="-228600" marL="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Identical picture: in-window agreement, out-of-window polynomial divergence, Donnan bounded.</a:t>
            </a:r>
          </a:p>
          <a:p>
            <a:pPr indent="-228600" marL="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On parsimony (AIC) a constant fits as well in-window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— prefer Donnan for mechanism and physical extrapolation, not in-window fit.</a:t>
            </a:r>
          </a:p>
          <a:p>
            <a:pPr indent="-228600" marL="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C2340"/>
                </a:solidFill>
                <a:latin typeface="Calibri"/>
              </a:rPr>
              <a:t>Next step to pin X: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 a joint multi-salt fit (re-parameterized by ionic strength) reaches lower u and probes the knee.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
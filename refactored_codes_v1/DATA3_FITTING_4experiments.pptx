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375B"/>
                </a:solidFill>
              </a:rPr>
              <a:t>Fitting the four representative DATA3 NF270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44444"/>
                </a:solidFill>
              </a:rPr>
              <a:t>Measured vs predicted at the optimized parameters — NaCl (diluting &amp; concentrating), CaCl₂, LaCl₃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B"/>
                </a:solidFill>
              </a:rPr>
              <a:t>NaCl — diluting regime  (MC3 · 07.22.24)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fit form: constant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Mass — measured (points) vs predicted (line)</a:t>
            </a:r>
          </a:p>
        </p:txBody>
      </p:sp>
      <p:pic>
        <p:nvPicPr>
          <p:cNvPr id="5" name="Picture 4" descr="mass-JAO_072224_NF270_MC3_SNaCl_NaCl_07.22.24_S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Concentration — retentate / permeate</a:t>
            </a:r>
          </a:p>
        </p:txBody>
      </p:sp>
      <p:pic>
        <p:nvPicPr>
          <p:cNvPr id="7" name="Picture 6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576072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Optimized parameters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Lₚ = 8.98 L m⁻² h⁻¹ bar⁻¹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B = 13.88 µm s⁻¹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σ = 1.00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WSSE₃ =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8920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B is flat over the range — constant B already tracks mass and both concentrations (WSSE₃=42).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B"/>
                </a:solidFill>
              </a:rPr>
              <a:t>NaCl — concentrating regime  (MC2 · 05.07.24)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fit form: constant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Mass — measured (points) vs predicted (line)</a:t>
            </a:r>
          </a:p>
        </p:txBody>
      </p:sp>
      <p:pic>
        <p:nvPicPr>
          <p:cNvPr id="5" name="Picture 4" descr="mass-JAO_050724_NF270_MC2_NaCl_NaCl_05.07.24_Na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Concentration — retentate / permeate</a:t>
            </a:r>
          </a:p>
        </p:txBody>
      </p:sp>
      <p:pic>
        <p:nvPicPr>
          <p:cNvPr id="7" name="Picture 6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576072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Optimized parameters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Lₚ = 9.91 L m⁻² h⁻¹ bar⁻¹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B = 10.00 µm s⁻¹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σ = 1.00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WSSE₃ = 114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8920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Constant B is adequate for NaCl (WSSE₃=114); B is essentially concentration-independent.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B"/>
                </a:solidFill>
              </a:rPr>
              <a:t>CaCl₂  (MC2 · 05.07.24)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fit form: quadratic  B = Jw(β₀+β₁c+β₂c²)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Mass — measured (points) vs predicted (line)</a:t>
            </a:r>
          </a:p>
        </p:txBody>
      </p:sp>
      <p:pic>
        <p:nvPicPr>
          <p:cNvPr id="5" name="Picture 4" descr="mass-JAO_050724_NF270_MC2_CaCl2_CaCl2_05.07.24_CaC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Concentration — retentate / permeate</a:t>
            </a:r>
          </a:p>
        </p:txBody>
      </p:sp>
      <p:pic>
        <p:nvPicPr>
          <p:cNvPr id="7" name="Picture 6" descr="concentration-JAO_050724_NF270_MC2_CaCl2_CaCl2_05.07.24_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576072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Optimized parameters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Lₚ = 7.00 L m⁻² h⁻¹ bar⁻¹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β₀=0.216  β₁=0.171  β₂=-0.0035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σ = 1.00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WSSE₃ = 147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8920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B(c) is required: quadratic tracks the permeate (direct solute signal) and cuts WSSE₃ 220→147 (~33%); the retentate is still over-predicted at high c → σ(c)/polarization beyond B(c).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B"/>
                </a:solidFill>
              </a:rPr>
              <a:t>LaCl₃  (MC2 · 05.21.24)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fit form: quadratic  B = Jw(β₀+β₁c+β₂c²)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Mass — measured (points) vs predicted (line)</a:t>
            </a:r>
          </a:p>
        </p:txBody>
      </p:sp>
      <p:pic>
        <p:nvPicPr>
          <p:cNvPr id="5" name="Picture 4" descr="mass-JAO_052124_NF270_MC2_LaCl3_LaCl3_05.21.24_LaC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Concentration — retentate / permeate</a:t>
            </a:r>
          </a:p>
        </p:txBody>
      </p:sp>
      <p:pic>
        <p:nvPicPr>
          <p:cNvPr id="7" name="Picture 6" descr="concentration-JAO_052124_NF270_MC2_LaCl3_LaCl3_05.21.24_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576072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920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Optimized parameters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Lₚ = 3.57 L m⁻² h⁻¹ bar⁻¹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β₀=0.158  β₁=-0.018  β₂=0.0009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σ = 0.10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WSSE₃ = 1192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8920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Model-limited: no B(c) form captures the trivalent — mass under- and retentate over-predicted (WSSE₃~1190–1244); the residual points past B(c) alone (σ(c), ion-pairing).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B"/>
                </a:solidFill>
              </a:rPr>
              <a:t>Why B depends on concentration — the Peclet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Regression MSE vs Pe (≙ DATA2 Fig 8): which transport regime each salt sits in</a:t>
            </a:r>
          </a:p>
        </p:txBody>
      </p:sp>
      <p:pic>
        <p:nvPicPr>
          <p:cNvPr id="4" name="Picture 3" descr="peclet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Diluting NaCl → Pe→0 (diffusion-limited, B = DₘH/L = constant). CaCl₂ / concentrating-NaCl / LaCl₃ → Pe≫1 (convection+diffusion → B = Jw·Σβᵢcⁱ). The Peclet number is WHICH salts need a concentration-dependent 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75B"/>
                </a:solidFill>
              </a:rPr>
              <a:t>Which B(c) order — the DATA2 per-response AIC (not raw fit)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Order chosen by the per-channel AIC (eq 39); raw WSSE3 always over-selects more parameters</a:t>
            </a:r>
          </a:p>
        </p:txBody>
      </p:sp>
      <p:pic>
        <p:nvPicPr>
          <p:cNvPr id="4" name="Picture 3" descr="aic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75B"/>
                </a:solidFill>
              </a:rPr>
              <a:t>→ CaCl₂ → quadratic / linear, cubic REJECTED (Δ=8–25); NaCl B is flat (constant). The per-response AIC is the honest criterion — the pooled single-n AIC stored in the JSONs over-picks cubic.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75B"/>
                </a:solidFill>
              </a:rPr>
              <a:t>Supporting contour — NaCl — diluting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σ×Lₚ objective contour · constant B</a:t>
            </a:r>
          </a:p>
        </p:txBody>
      </p:sp>
      <p:pic>
        <p:nvPicPr>
          <p:cNvPr id="4" name="Picture 3" descr="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117043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Objective landscape per channel (mass | permeate | retentate | combined), other params re-solved at each node; red ▲ = minimum. A sharp minimum = identified; a flat valley along σ = the σ-rail.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→ clear Lₚ minimum; σ rails (flat valley) but B is flat so the rail is harmless.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75B"/>
                </a:solidFill>
              </a:rPr>
              <a:t>Supporting contour — NaCl — concentrating regime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σ×Lₚ objective contour · linear B(c)  (nearest available form/plane)</a:t>
            </a:r>
          </a:p>
        </p:txBody>
      </p:sp>
      <p:pic>
        <p:nvPicPr>
          <p:cNvPr id="4" name="Picture 3" descr="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117043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Objective landscape per channel (mass | permeate | retentate | combined), other params re-solved at each node; red ▲ = minimum. A sharp minimum = identified; a flat valley along σ = the σ-rail.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→ constant-B identifiable in B–Lₚ; σ rails — adequate because B is concentration-independent.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75B"/>
                </a:solidFill>
              </a:rPr>
              <a:t>Supporting contour — CaCl₂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σ×Lₚ objective contour · quadratic B(c)</a:t>
            </a:r>
          </a:p>
        </p:txBody>
      </p:sp>
      <p:pic>
        <p:nvPicPr>
          <p:cNvPr id="4" name="Picture 3" descr="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117043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Objective landscape per channel (mass | permeate | retentate | combined), other params re-solved at each node; red ▲ = minimum. A sharp minimum = identified; a flat valley along σ = the σ-rail.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→ with quadratic B(c) profiled, the permeate/retentate channels pin the landscape — the B(c) 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75B"/>
                </a:solidFill>
              </a:rPr>
              <a:t>Supporting contour — LaCl₃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A02C"/>
                </a:solidFill>
              </a:rPr>
              <a:t>σ×Lₚ objective contour · quadratic B(c)</a:t>
            </a:r>
          </a:p>
        </p:txBody>
      </p:sp>
      <p:pic>
        <p:nvPicPr>
          <p:cNvPr id="4" name="Picture 3" descr="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117043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75B"/>
                </a:solidFill>
              </a:rPr>
              <a:t>Objective landscape per channel (mass | permeate | retentate | combined), other params re-solved at each node; red ▲ = minimum. A sharp minimum = identified; a flat valley along σ = the σ-rail.</a:t>
            </a:r>
          </a:p>
          <a:p>
            <a:pPr algn="l"/>
            <a:r>
              <a:rPr sz="1400" b="0">
                <a:solidFill>
                  <a:srgbClr val="1F375B"/>
                </a:solidFill>
              </a:rPr>
              <a:t>→ shallow/flat objective — the model-limited case; the landscape itself shows poor identifiability.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75B"/>
                </a:solidFill>
              </a:rPr>
              <a:t>What the four fits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</a:rPr>
              <a:t>• NaCl (both regimes): constant B is sufficient — B is concentration-independent (Peclet → 0, diffusion-limited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for the diluting case). Mass and both concentrations are tracked at WSSE₃ ≈ 42 / 114.</a:t>
            </a:r>
          </a:p>
          <a:p>
            <a:pPr algn="l"/>
          </a:p>
          <a:p>
            <a:pPr algn="l"/>
            <a:r>
              <a:rPr sz="1600" b="0">
                <a:solidFill>
                  <a:srgbClr val="444444"/>
                </a:solidFill>
              </a:rPr>
              <a:t>• CaCl₂: constant B fails (σ rails, WSSE₃=220). A quadratic B(c) is required and cuts the error ~33% to 147 —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consistent with convection+diffusion transport (Pe ≫ 1) and the DATA2 per-response AIC selecting quadratic.</a:t>
            </a:r>
          </a:p>
          <a:p>
            <a:pPr algn="l"/>
          </a:p>
          <a:p>
            <a:pPr algn="l"/>
            <a:r>
              <a:rPr sz="1600" b="0">
                <a:solidFill>
                  <a:srgbClr val="444444"/>
                </a:solidFill>
              </a:rPr>
              <a:t>• LaCl₃: model-limited — every B(c) form sits at WSSE₃ ≈ 1190–1244; the residual points past B(c) alone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(e.g. σ(c) / ion-pairing for the trivalent).</a:t>
            </a:r>
          </a:p>
          <a:p>
            <a:pPr algn="l"/>
          </a:p>
          <a:p>
            <a:pPr algn="l"/>
            <a:r>
              <a:rPr sz="1600" b="0">
                <a:solidFill>
                  <a:srgbClr val="444444"/>
                </a:solidFill>
              </a:rPr>
              <a:t>• Across the campaign: same NF270 membrane → Lₚ is consistent; the next step is the multi-experiment pooled fit</a:t>
            </a:r>
          </a:p>
          <a:p>
            <a:pPr algn="l"/>
            <a:r>
              <a:rPr sz="1600" b="0">
                <a:solidFill>
                  <a:srgbClr val="444444"/>
                </a:solidFill>
              </a:rPr>
              <a:t>   (shared σ + B(c)) that resolves the per-experiment σ-identifiability.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
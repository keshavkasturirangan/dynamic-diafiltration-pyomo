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Membrane Transport Identifiability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EAF1F6"/>
                </a:solidFill>
                <a:latin typeface="Calibri"/>
              </a:rPr>
              <a:t>σ × B WSSE contours across seven response channels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FB3C8"/>
                </a:solidFill>
                <a:latin typeface="Calibri"/>
              </a:rPr>
              <a:t>NF270 nanofiltration · DATA3 · square forward-solve slice at fixed Lₚ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Keshav Kasturirangan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FB3C8"/>
                </a:solidFill>
                <a:latin typeface="Calibri"/>
              </a:rPr>
              <a:t>  ·  NF270_MC2 · CaCl₂ · LaCl₃ · NaCl  · 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65A82"/>
                </a:solidFill>
                <a:latin typeface="Cambria"/>
              </a:rPr>
              <a:t>How to read these contours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E293B"/>
                </a:solidFill>
                <a:latin typeface="Calibri"/>
              </a:rPr>
              <a:t>Each experiment is summarized by one figure of seven panels. In every panel the hydraulic permeability Lₚ is pinned at its well-identified optimum, and the solute-permeability B and reflection coefficient σ are swept on a grid.</a:t>
            </a:r>
          </a:p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E293B"/>
                </a:solidFill>
                <a:latin typeface="Calibri"/>
              </a:rPr>
              <a:t>At every (σ, B) node the model DAE is solved ONCE as a square forward problem (no per-node optimization — a slice, not a profile likelihood), and the weighted sum-of-squared error (WSSE) for each response channel is evaluated.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88920"/>
            <a:ext cx="5212080" cy="3566160"/>
          </a:xfrm>
          <a:prstGeom prst="roundRect">
            <a:avLst/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C7293"/>
                </a:solidFill>
                <a:latin typeface="Cambria"/>
              </a:rPr>
              <a:t>What to look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4709160" cy="2743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▲  red marker = the channel's optimum (minimum WSSE).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Lines = log₁₀ WSSE level curves; tightly spaced = sharply constrained.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A narrow valley in the B-direction = B is well identified.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Level curves nearly flat along σ = σ is weakly constrained — the expected σ–B non-identifiability.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788920"/>
            <a:ext cx="5440680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97180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C7293"/>
                </a:solidFill>
                <a:latin typeface="Cambria"/>
              </a:rPr>
              <a:t>The seven response 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20440"/>
            <a:ext cx="5029200" cy="2743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1 · Mass per vial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2 · ICP retentate concentration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3 · ICP permeate concentration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4 · Conductivity probe — retentate (σ-space)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5 · Conductivity probe — permeate (σ-space)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6 · Conductivity-derived retentate conc.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 i="0">
                <a:solidFill>
                  <a:srgbClr val="1E293B"/>
                </a:solidFill>
                <a:latin typeface="Calibri"/>
              </a:rPr>
              <a:t>7 · Conductivity-derived permeate conc.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053328"/>
            <a:ext cx="50292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Channels 4–7 (new) map concentration↔conductivity via the Shedlovsky converter.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4124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65A82"/>
                </a:solidFill>
                <a:latin typeface="Cambria"/>
              </a:rPr>
              <a:t>Concentrating CaCl₂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8686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MC2.05.07.24_CaCl₂    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C7293"/>
                </a:solidFill>
                <a:latin typeface="Calibri"/>
              </a:rPr>
              <a:t>Lₚ = 7.54 · fit σ = 1.0, B = 5.71 µm s⁻¹</a:t>
            </a:r>
          </a:p>
        </p:txBody>
      </p:sp>
      <p:pic>
        <p:nvPicPr>
          <p:cNvPr id="4" name="Picture 3" descr="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234440"/>
            <a:ext cx="1143000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47103"/>
            <a:ext cx="1051560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1E293B"/>
                </a:solidFill>
                <a:latin typeface="Calibri"/>
              </a:rPr>
              <a:t>Sharp valley in B across channels; the optimum sits at high σ with a gentle σ-gradient — σ is the soft direction.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4124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65A82"/>
                </a:solidFill>
                <a:latin typeface="Cambria"/>
              </a:rPr>
              <a:t>Concentrating LaCl₃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8686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MC2.05.21.24_LaCl₃    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C7293"/>
                </a:solidFill>
                <a:latin typeface="Calibri"/>
              </a:rPr>
              <a:t>Lₚ = 3.54 · fit σ = 0.0, B = 0.32 µm s⁻¹</a:t>
            </a:r>
          </a:p>
        </p:txBody>
      </p:sp>
      <p:pic>
        <p:nvPicPr>
          <p:cNvPr id="4" name="Picture 3" descr="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234440"/>
            <a:ext cx="1143000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47103"/>
            <a:ext cx="1051560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1E293B"/>
                </a:solidFill>
                <a:latin typeface="Calibri"/>
              </a:rPr>
              <a:t>The least-identified sheet: shallow, diagonal level curves — B small and σ rails to the boundary, so both are weakly pinned.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4124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65A82"/>
                </a:solidFill>
                <a:latin typeface="Cambria"/>
              </a:rPr>
              <a:t>Concentrating 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8686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MC2.05.07.24_NaCl    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C7293"/>
                </a:solidFill>
                <a:latin typeface="Calibri"/>
              </a:rPr>
              <a:t>Lₚ = 9.91 · fit σ = 1.0, B = 10.0 µm s⁻¹</a:t>
            </a:r>
          </a:p>
        </p:txBody>
      </p:sp>
      <p:pic>
        <p:nvPicPr>
          <p:cNvPr id="4" name="Picture 3" descr="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234440"/>
            <a:ext cx="11430000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47103"/>
            <a:ext cx="10515600" cy="4572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1E293B"/>
                </a:solidFill>
                <a:latin typeface="Calibri"/>
              </a:rPr>
              <a:t>Best-behaved case: every channel's optimum lands near σ = 1, B ≈ 10, with the conductivity channels echoing the ICP/mass picture.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Beyond constant B: B(c) coefficient contours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AF1F6"/>
                </a:solidFill>
                <a:latin typeface="Calibri"/>
              </a:rPr>
              <a:t>Does letting the solute permeability vary with the interfacial concentration cᵢₙ change identifiability?  Each shape coefficient gets its OWN contour — βₖ × σ — in place of the single B × 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2606040" cy="1691640"/>
          </a:xfrm>
          <a:prstGeom prst="round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679192"/>
            <a:ext cx="2276856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2C39A"/>
                </a:solidFill>
                <a:latin typeface="Cambria"/>
              </a:rPr>
              <a:t>Linear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172968"/>
            <a:ext cx="2276856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B(c) = β₀ + β₁·c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813048"/>
            <a:ext cx="2276856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FB3C8"/>
                </a:solidFill>
                <a:latin typeface="Calibri"/>
              </a:rPr>
              <a:t>β₀×σ, β₁×σ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514600"/>
            <a:ext cx="2606040" cy="1691640"/>
          </a:xfrm>
          <a:prstGeom prst="round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2679192"/>
            <a:ext cx="2276856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2C39A"/>
                </a:solidFill>
                <a:latin typeface="Cambria"/>
              </a:rPr>
              <a:t>Quadratic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3172968"/>
            <a:ext cx="2276856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B(c) = β₀ + β₁·c + β₂·c²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3813048"/>
            <a:ext cx="2276856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FB3C8"/>
                </a:solidFill>
                <a:latin typeface="Calibri"/>
              </a:rPr>
              <a:t>β₀×σ, β₁×σ, β₂×σ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514600"/>
            <a:ext cx="2606040" cy="1691640"/>
          </a:xfrm>
          <a:prstGeom prst="round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679192"/>
            <a:ext cx="2276856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2C39A"/>
                </a:solidFill>
                <a:latin typeface="Cambria"/>
              </a:rPr>
              <a:t>Cubic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172968"/>
            <a:ext cx="2276856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B(c) = β₀ + β₁·c + β₂·c² + β₃·c³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813048"/>
            <a:ext cx="2276856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FB3C8"/>
                </a:solidFill>
                <a:latin typeface="Calibri"/>
              </a:rPr>
              <a:t>β₀…β₃ × 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514600"/>
            <a:ext cx="2606040" cy="1691640"/>
          </a:xfrm>
          <a:prstGeom prst="round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54312" y="2679192"/>
            <a:ext cx="2276856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2C39A"/>
                </a:solidFill>
                <a:latin typeface="Cambria"/>
              </a:rPr>
              <a:t>Saturating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2" y="3172968"/>
            <a:ext cx="2276856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B(c) = B∞·(1 − e^(−c/c*))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3813048"/>
            <a:ext cx="2276856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FB3C8"/>
                </a:solidFill>
                <a:latin typeface="Calibri"/>
              </a:rPr>
              <a:t>B∞×σ, c*×σ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10515600" cy="1737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Method (unchanged): square forward-solve slice.  </a:t>
            </a:r>
          </a:p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EAF1F6"/>
                </a:solidFill>
                <a:latin typeface="Calibri"/>
              </a:rPr>
              <a:t>At each (βₖ, σ) node, Lₚ and every OTHER coefficient are held at the form's fitted (warm-start) values, so the model has zero free parameters and the DAE is solved ONCE — no per-node optimization.</a:t>
            </a:r>
          </a:p>
          <a:p>
            <a:pPr algn="l">
              <a:lnSpc>
                <a:spcPct val="118000"/>
              </a:lnSpc>
            </a:pPr>
            <a:r>
              <a:rPr sz="1500" b="0" i="1">
                <a:solidFill>
                  <a:srgbClr val="CADCFC"/>
                </a:solidFill>
                <a:latin typeface="Calibri"/>
              </a:rPr>
              <a:t>Blank regions = the pinned coefficients drive B(c) out of the physical range, so no feasible square solve exists there.  That feasibility boundary is itself informative.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65A82"/>
                </a:solidFill>
                <a:latin typeface="Cambria"/>
              </a:rPr>
              <a:t>Concentrating CaCl₂ — quadratic B(c)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6400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C7293"/>
                </a:solidFill>
                <a:latin typeface="Calibri"/>
              </a:rPr>
              <a:t>warm-start fit:  β₀ = 0.22,  β₁ = 0.17,  β₂ = −0.004</a:t>
            </a:r>
          </a:p>
        </p:txBody>
      </p:sp>
      <p:pic>
        <p:nvPicPr>
          <p:cNvPr id="4" name="Picture 3" descr="bc_quad_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371600"/>
            <a:ext cx="5669280" cy="499900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417320"/>
            <a:ext cx="4434840" cy="4480560"/>
          </a:xfrm>
          <a:prstGeom prst="roundRect">
            <a:avLst/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627632"/>
            <a:ext cx="38862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7293"/>
                </a:solidFill>
                <a:latin typeface="Cambria"/>
              </a:rPr>
              <a:t>Reading the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148840"/>
            <a:ext cx="38862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Rows = the three shape coefficients.  Columns = three core channels (mass, ICP retentate, ICP permeate).  ▲ = optimum;  – – = fitted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3246120"/>
            <a:ext cx="3886200" cy="2560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β₀ (the c→0 intercept) has a clear minimum — it is the well-constrained coefficient.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β₁, β₂ show the same shape as constant B: a valley across the coefficient, much flatter along σ.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Feasible only in a band around the fit; outside it B(c) leaves the physical range.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07177"/>
            <a:ext cx="566928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64748B"/>
                </a:solidFill>
                <a:latin typeface="Calibri"/>
              </a:rPr>
              <a:t>full 7-channel × 4-form contours: per-experiment A4 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65A82"/>
                </a:solidFill>
                <a:latin typeface="Cambria"/>
              </a:rPr>
              <a:t>Concentrating LaCl₃ — quadratic B(c)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6400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C7293"/>
                </a:solidFill>
                <a:latin typeface="Calibri"/>
              </a:rPr>
              <a:t>warm-start fit:  β₀ = 0.16,  β₁ = −0.018,  β₂ = 0.0009</a:t>
            </a:r>
          </a:p>
        </p:txBody>
      </p:sp>
      <p:pic>
        <p:nvPicPr>
          <p:cNvPr id="4" name="Picture 3" descr="bc_quad_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371600"/>
            <a:ext cx="5669280" cy="499900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417320"/>
            <a:ext cx="4434840" cy="4480560"/>
          </a:xfrm>
          <a:prstGeom prst="roundRect">
            <a:avLst/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627632"/>
            <a:ext cx="38862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7293"/>
                </a:solidFill>
                <a:latin typeface="Cambria"/>
              </a:rPr>
              <a:t>Reading the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148840"/>
            <a:ext cx="38862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Rows = the three shape coefficients.  Columns = three core channels (mass, ICP retentate, ICP permeate).  ▲ = optimum;  – – = fitted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3246120"/>
            <a:ext cx="3886200" cy="2560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The poorly-identified salt: shallow, gently-sloped level curves in every coefficient.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Optima sit near the σ boundary — σ is essentially unconstrained here.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Smallest feasible region of the three (low B, high valence).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07177"/>
            <a:ext cx="566928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64748B"/>
                </a:solidFill>
                <a:latin typeface="Calibri"/>
              </a:rPr>
              <a:t>full 7-channel × 4-form contours: per-experiment A4 PDF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65A82"/>
                </a:solidFill>
                <a:latin typeface="Cambria"/>
              </a:rPr>
              <a:t>Concentrating NaCl — quadratic B(c)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77824"/>
            <a:ext cx="64008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C7293"/>
                </a:solidFill>
                <a:latin typeface="Calibri"/>
              </a:rPr>
              <a:t>warm-start fit:  β₀ = 2.60,  β₁ = −0.12,  β₂ = 0.002</a:t>
            </a:r>
          </a:p>
        </p:txBody>
      </p:sp>
      <p:pic>
        <p:nvPicPr>
          <p:cNvPr id="4" name="Picture 3" descr="bc_quad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371600"/>
            <a:ext cx="5669280" cy="499900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417320"/>
            <a:ext cx="4434840" cy="4480560"/>
          </a:xfrm>
          <a:prstGeom prst="roundRect">
            <a:avLst/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627632"/>
            <a:ext cx="38862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7293"/>
                </a:solidFill>
                <a:latin typeface="Cambria"/>
              </a:rPr>
              <a:t>Reading the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148840"/>
            <a:ext cx="38862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Rows = the three shape coefficients.  Columns = three core channels (mass, ICP retentate, ICP permeate).  ▲ = optimum;  – – = fitted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3246120"/>
            <a:ext cx="3886200" cy="2560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Best-behaved: sharp valleys, every coefficient's optimum lands near σ = 1.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β₀ dominates (large intercept); β₁, β₂ are small corrections.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The conductivity channels (in the A4 PDF) echo this same picture.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07177"/>
            <a:ext cx="566928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64748B"/>
                </a:solidFill>
                <a:latin typeface="Calibri"/>
              </a:rPr>
              <a:t>full 7-channel × 4-form contours: per-experiment A4 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65A82"/>
                </a:solidFill>
                <a:latin typeface="Cambria"/>
              </a:rPr>
              <a:t>What the B(c) contours show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62456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2588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65A82"/>
                </a:solidFill>
                <a:latin typeface="Cambria"/>
              </a:rPr>
              <a:t>Concentration-dependence does not restore 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46504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Every coefficient shows the same flat-along-σ valley as constant B — adding B(c) flexibility sharpens the coefficients, not σ.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87752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551176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65A82"/>
                </a:solidFill>
                <a:latin typeface="Cambria"/>
              </a:rPr>
              <a:t>The coefficients are feasibility-constrained.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Off-optimum coefficient values push B(c) negative / out of range, so there is no square solve — a tight implicit bound visible as the blank region around each fit.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813048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76472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65A82"/>
                </a:solidFill>
                <a:latin typeface="Cambria"/>
              </a:rPr>
              <a:t>Cubic is over-parameterized — salt-dependent.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97096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For NaCl the cubic B(cIn) goes strongly negative across the run and is essentially un-sliceable; CaCl₂ / LaCl₃ tolerate it.  Supports keeping B(c) low-order.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038344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001768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65A82"/>
                </a:solidFill>
                <a:latin typeface="Cambria"/>
              </a:rPr>
              <a:t>The saturating knee c* is weakly identified.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422392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For LaCl₃ the c* contours are nearly vertical (flat in c*) — the saturation scale is barely constrained by the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Discussion points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600200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102412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2C39A"/>
                </a:solidFill>
                <a:latin typeface="Calibri"/>
              </a:rPr>
              <a:t>B is well identified; σ is not.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38528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In every channel the valley is narrow along B but nearly flat along σ — the single-experiment σ–B non-identifiability holds channel-by-channel, even with Lₚ pinned.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807208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61488"/>
            <a:ext cx="102412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2C39A"/>
                </a:solidFill>
                <a:latin typeface="Calibri"/>
              </a:rPr>
              <a:t>The new conductivity channels add data, not identifiability.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45536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Channels 4–7 use the continuous probe traces (~hundreds of points per vial vs. one ICP point) yet show the same σ-flatness — more data on the same soft direction doesn't break the degeneracy.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014215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68496"/>
            <a:ext cx="102412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2C39A"/>
                </a:solidFill>
                <a:latin typeface="Calibri"/>
              </a:rPr>
              <a:t>Identifiability tracks rejection regime.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352544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NaCl/CaCl₂ (high σ) give sharper valleys; LaCl₃ (σ ≈ 0, tiny B) is the shallowest — consistent with the high-Péclet plateau argument.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221224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175504"/>
            <a:ext cx="1024128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2C39A"/>
                </a:solidFill>
                <a:latin typeface="Calibri"/>
              </a:rPr>
              <a:t>Method note.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559552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Square forward-solve slice at fixed Lₚ (no per-node optimization); conductivity↔concentration via the existing Shedlovsky converter. A profile-likelihood version is the rigorous next step (Task 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
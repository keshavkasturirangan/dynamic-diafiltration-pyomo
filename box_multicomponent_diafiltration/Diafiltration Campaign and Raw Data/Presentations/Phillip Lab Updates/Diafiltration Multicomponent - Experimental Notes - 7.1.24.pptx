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04" r:id="rId1"/>
  </p:sldMasterIdLst>
  <p:notesMasterIdLst>
    <p:notesMasterId r:id="rId21"/>
  </p:notesMasterIdLst>
  <p:sldIdLst>
    <p:sldId id="476" r:id="rId2"/>
    <p:sldId id="523" r:id="rId3"/>
    <p:sldId id="596" r:id="rId4"/>
    <p:sldId id="597" r:id="rId5"/>
    <p:sldId id="599" r:id="rId6"/>
    <p:sldId id="600" r:id="rId7"/>
    <p:sldId id="587" r:id="rId8"/>
    <p:sldId id="601" r:id="rId9"/>
    <p:sldId id="594" r:id="rId10"/>
    <p:sldId id="580" r:id="rId11"/>
    <p:sldId id="581" r:id="rId12"/>
    <p:sldId id="588" r:id="rId13"/>
    <p:sldId id="602" r:id="rId14"/>
    <p:sldId id="604" r:id="rId15"/>
    <p:sldId id="603" r:id="rId16"/>
    <p:sldId id="606" r:id="rId17"/>
    <p:sldId id="605" r:id="rId18"/>
    <p:sldId id="584" r:id="rId19"/>
    <p:sldId id="58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onathan Ouimet" initials="JO" lastIdx="3" clrIdx="0">
    <p:extLst>
      <p:ext uri="{19B8F6BF-5375-455C-9EA6-DF929625EA0E}">
        <p15:presenceInfo xmlns:p15="http://schemas.microsoft.com/office/powerpoint/2012/main" userId="0df71b1541b2dab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FFFFFF"/>
    <a:srgbClr val="D95015"/>
    <a:srgbClr val="D95319"/>
    <a:srgbClr val="0000FF"/>
    <a:srgbClr val="7676FF"/>
    <a:srgbClr val="82D0FF"/>
    <a:srgbClr val="FF9900"/>
    <a:srgbClr val="E26FFF"/>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0" autoAdjust="0"/>
    <p:restoredTop sz="93933" autoAdjust="0"/>
  </p:normalViewPr>
  <p:slideViewPr>
    <p:cSldViewPr snapToGrid="0">
      <p:cViewPr varScale="1">
        <p:scale>
          <a:sx n="79" d="100"/>
          <a:sy n="79" d="100"/>
        </p:scale>
        <p:origin x="790" y="29"/>
      </p:cViewPr>
      <p:guideLst>
        <p:guide orient="horz" pos="2160"/>
        <p:guide pos="3840"/>
      </p:guideLst>
    </p:cSldViewPr>
  </p:slideViewPr>
  <p:notesTextViewPr>
    <p:cViewPr>
      <p:scale>
        <a:sx n="1" d="1"/>
        <a:sy n="1" d="1"/>
      </p:scale>
      <p:origin x="0" y="0"/>
    </p:cViewPr>
  </p:notesTextViewPr>
  <p:sorterViewPr>
    <p:cViewPr varScale="1">
      <p:scale>
        <a:sx n="1" d="1"/>
        <a:sy n="1" d="1"/>
      </p:scale>
      <p:origin x="0" y="-6917"/>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BB419B-A20D-42AA-8D7F-5642F6706A43}" type="datetimeFigureOut">
              <a:rPr lang="en-US" smtClean="0"/>
              <a:t>3/27/2025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17C7DD-FA44-4AAC-AD64-73983556F2EF}" type="slidenum">
              <a:rPr lang="en-US" smtClean="0"/>
              <a:t>‹#›</a:t>
            </a:fld>
            <a:endParaRPr lang="en-US"/>
          </a:p>
        </p:txBody>
      </p:sp>
    </p:spTree>
    <p:extLst>
      <p:ext uri="{BB962C8B-B14F-4D97-AF65-F5344CB8AC3E}">
        <p14:creationId xmlns:p14="http://schemas.microsoft.com/office/powerpoint/2010/main" val="34902410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17C7DD-FA44-4AAC-AD64-73983556F2EF}" type="slidenum">
              <a:rPr lang="en-US" smtClean="0"/>
              <a:t>1</a:t>
            </a:fld>
            <a:endParaRPr lang="en-US"/>
          </a:p>
        </p:txBody>
      </p:sp>
    </p:spTree>
    <p:extLst>
      <p:ext uri="{BB962C8B-B14F-4D97-AF65-F5344CB8AC3E}">
        <p14:creationId xmlns:p14="http://schemas.microsoft.com/office/powerpoint/2010/main" val="19720900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4BA2E-E6C0-A211-B6B8-E9F77BA8CE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C3ADC2-5C8F-0DD6-5517-12004885A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0FE4BA-140C-C9B4-BA7E-56CAC2D223F3}"/>
              </a:ext>
            </a:extLst>
          </p:cNvPr>
          <p:cNvSpPr>
            <a:spLocks noGrp="1"/>
          </p:cNvSpPr>
          <p:nvPr>
            <p:ph type="body" idx="1"/>
          </p:nvPr>
        </p:nvSpPr>
        <p:spPr/>
        <p:txBody>
          <a:bodyPr/>
          <a:lstStyle/>
          <a:p>
            <a:endParaRPr lang="en-US" sz="1200" dirty="0">
              <a:latin typeface="Cambria Math" panose="02040503050406030204" pitchFamily="18" charset="0"/>
              <a:cs typeface="Arial" panose="020B0604020202020204" pitchFamily="34" charset="0"/>
            </a:endParaRPr>
          </a:p>
        </p:txBody>
      </p:sp>
      <p:sp>
        <p:nvSpPr>
          <p:cNvPr id="4" name="Slide Number Placeholder 3">
            <a:extLst>
              <a:ext uri="{FF2B5EF4-FFF2-40B4-BE49-F238E27FC236}">
                <a16:creationId xmlns:a16="http://schemas.microsoft.com/office/drawing/2014/main" id="{7EE12471-BE46-1E8F-48B0-0D3370325140}"/>
              </a:ext>
            </a:extLst>
          </p:cNvPr>
          <p:cNvSpPr>
            <a:spLocks noGrp="1"/>
          </p:cNvSpPr>
          <p:nvPr>
            <p:ph type="sldNum" sz="quarter" idx="5"/>
          </p:nvPr>
        </p:nvSpPr>
        <p:spPr/>
        <p:txBody>
          <a:bodyPr/>
          <a:lstStyle/>
          <a:p>
            <a:fld id="{F317C7DD-FA44-4AAC-AD64-73983556F2EF}" type="slidenum">
              <a:rPr lang="en-US" smtClean="0"/>
              <a:t>2</a:t>
            </a:fld>
            <a:endParaRPr lang="en-US"/>
          </a:p>
        </p:txBody>
      </p:sp>
    </p:spTree>
    <p:extLst>
      <p:ext uri="{BB962C8B-B14F-4D97-AF65-F5344CB8AC3E}">
        <p14:creationId xmlns:p14="http://schemas.microsoft.com/office/powerpoint/2010/main" val="15483806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4BA2E-E6C0-A211-B6B8-E9F77BA8CE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C3ADC2-5C8F-0DD6-5517-12004885A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0FE4BA-140C-C9B4-BA7E-56CAC2D223F3}"/>
              </a:ext>
            </a:extLst>
          </p:cNvPr>
          <p:cNvSpPr>
            <a:spLocks noGrp="1"/>
          </p:cNvSpPr>
          <p:nvPr>
            <p:ph type="body" idx="1"/>
          </p:nvPr>
        </p:nvSpPr>
        <p:spPr/>
        <p:txBody>
          <a:bodyPr/>
          <a:lstStyle/>
          <a:p>
            <a:endParaRPr lang="en-US" sz="1200" dirty="0">
              <a:latin typeface="Cambria Math" panose="02040503050406030204" pitchFamily="18" charset="0"/>
              <a:cs typeface="Arial" panose="020B0604020202020204" pitchFamily="34" charset="0"/>
            </a:endParaRPr>
          </a:p>
        </p:txBody>
      </p:sp>
      <p:sp>
        <p:nvSpPr>
          <p:cNvPr id="4" name="Slide Number Placeholder 3">
            <a:extLst>
              <a:ext uri="{FF2B5EF4-FFF2-40B4-BE49-F238E27FC236}">
                <a16:creationId xmlns:a16="http://schemas.microsoft.com/office/drawing/2014/main" id="{7EE12471-BE46-1E8F-48B0-0D3370325140}"/>
              </a:ext>
            </a:extLst>
          </p:cNvPr>
          <p:cNvSpPr>
            <a:spLocks noGrp="1"/>
          </p:cNvSpPr>
          <p:nvPr>
            <p:ph type="sldNum" sz="quarter" idx="5"/>
          </p:nvPr>
        </p:nvSpPr>
        <p:spPr/>
        <p:txBody>
          <a:bodyPr/>
          <a:lstStyle/>
          <a:p>
            <a:fld id="{F317C7DD-FA44-4AAC-AD64-73983556F2EF}" type="slidenum">
              <a:rPr lang="en-US" smtClean="0"/>
              <a:t>3</a:t>
            </a:fld>
            <a:endParaRPr lang="en-US"/>
          </a:p>
        </p:txBody>
      </p:sp>
    </p:spTree>
    <p:extLst>
      <p:ext uri="{BB962C8B-B14F-4D97-AF65-F5344CB8AC3E}">
        <p14:creationId xmlns:p14="http://schemas.microsoft.com/office/powerpoint/2010/main" val="3858354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4BA2E-E6C0-A211-B6B8-E9F77BA8CE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C3ADC2-5C8F-0DD6-5517-12004885A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0FE4BA-140C-C9B4-BA7E-56CAC2D223F3}"/>
              </a:ext>
            </a:extLst>
          </p:cNvPr>
          <p:cNvSpPr>
            <a:spLocks noGrp="1"/>
          </p:cNvSpPr>
          <p:nvPr>
            <p:ph type="body" idx="1"/>
          </p:nvPr>
        </p:nvSpPr>
        <p:spPr/>
        <p:txBody>
          <a:bodyPr/>
          <a:lstStyle/>
          <a:p>
            <a:endParaRPr lang="en-US" sz="1200" dirty="0">
              <a:latin typeface="Cambria Math" panose="02040503050406030204" pitchFamily="18" charset="0"/>
              <a:cs typeface="Arial" panose="020B0604020202020204" pitchFamily="34" charset="0"/>
            </a:endParaRPr>
          </a:p>
        </p:txBody>
      </p:sp>
      <p:sp>
        <p:nvSpPr>
          <p:cNvPr id="4" name="Slide Number Placeholder 3">
            <a:extLst>
              <a:ext uri="{FF2B5EF4-FFF2-40B4-BE49-F238E27FC236}">
                <a16:creationId xmlns:a16="http://schemas.microsoft.com/office/drawing/2014/main" id="{7EE12471-BE46-1E8F-48B0-0D3370325140}"/>
              </a:ext>
            </a:extLst>
          </p:cNvPr>
          <p:cNvSpPr>
            <a:spLocks noGrp="1"/>
          </p:cNvSpPr>
          <p:nvPr>
            <p:ph type="sldNum" sz="quarter" idx="5"/>
          </p:nvPr>
        </p:nvSpPr>
        <p:spPr/>
        <p:txBody>
          <a:bodyPr/>
          <a:lstStyle/>
          <a:p>
            <a:fld id="{F317C7DD-FA44-4AAC-AD64-73983556F2EF}" type="slidenum">
              <a:rPr lang="en-US" smtClean="0"/>
              <a:t>4</a:t>
            </a:fld>
            <a:endParaRPr lang="en-US"/>
          </a:p>
        </p:txBody>
      </p:sp>
    </p:spTree>
    <p:extLst>
      <p:ext uri="{BB962C8B-B14F-4D97-AF65-F5344CB8AC3E}">
        <p14:creationId xmlns:p14="http://schemas.microsoft.com/office/powerpoint/2010/main" val="15533412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4BA2E-E6C0-A211-B6B8-E9F77BA8CE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C3ADC2-5C8F-0DD6-5517-12004885A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0FE4BA-140C-C9B4-BA7E-56CAC2D223F3}"/>
              </a:ext>
            </a:extLst>
          </p:cNvPr>
          <p:cNvSpPr>
            <a:spLocks noGrp="1"/>
          </p:cNvSpPr>
          <p:nvPr>
            <p:ph type="body" idx="1"/>
          </p:nvPr>
        </p:nvSpPr>
        <p:spPr/>
        <p:txBody>
          <a:bodyPr/>
          <a:lstStyle/>
          <a:p>
            <a:endParaRPr lang="en-US" sz="1200" dirty="0">
              <a:latin typeface="Cambria Math" panose="02040503050406030204" pitchFamily="18" charset="0"/>
              <a:cs typeface="Arial" panose="020B0604020202020204" pitchFamily="34" charset="0"/>
            </a:endParaRPr>
          </a:p>
        </p:txBody>
      </p:sp>
      <p:sp>
        <p:nvSpPr>
          <p:cNvPr id="4" name="Slide Number Placeholder 3">
            <a:extLst>
              <a:ext uri="{FF2B5EF4-FFF2-40B4-BE49-F238E27FC236}">
                <a16:creationId xmlns:a16="http://schemas.microsoft.com/office/drawing/2014/main" id="{7EE12471-BE46-1E8F-48B0-0D3370325140}"/>
              </a:ext>
            </a:extLst>
          </p:cNvPr>
          <p:cNvSpPr>
            <a:spLocks noGrp="1"/>
          </p:cNvSpPr>
          <p:nvPr>
            <p:ph type="sldNum" sz="quarter" idx="5"/>
          </p:nvPr>
        </p:nvSpPr>
        <p:spPr/>
        <p:txBody>
          <a:bodyPr/>
          <a:lstStyle/>
          <a:p>
            <a:fld id="{F317C7DD-FA44-4AAC-AD64-73983556F2EF}" type="slidenum">
              <a:rPr lang="en-US" smtClean="0"/>
              <a:t>5</a:t>
            </a:fld>
            <a:endParaRPr lang="en-US"/>
          </a:p>
        </p:txBody>
      </p:sp>
    </p:spTree>
    <p:extLst>
      <p:ext uri="{BB962C8B-B14F-4D97-AF65-F5344CB8AC3E}">
        <p14:creationId xmlns:p14="http://schemas.microsoft.com/office/powerpoint/2010/main" val="24300393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F3006-7BC9-CBE5-5064-9B14203688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C645FA-FFB3-6030-1E47-4F86FEE21B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DE901F-C282-F467-8376-1202E867B918}"/>
              </a:ext>
            </a:extLst>
          </p:cNvPr>
          <p:cNvSpPr>
            <a:spLocks noGrp="1"/>
          </p:cNvSpPr>
          <p:nvPr>
            <p:ph type="body" idx="1"/>
          </p:nvPr>
        </p:nvSpPr>
        <p:spPr/>
        <p:txBody>
          <a:bodyPr/>
          <a:lstStyle/>
          <a:p>
            <a:endParaRPr lang="en-US" sz="1200" dirty="0">
              <a:latin typeface="Cambria Math" panose="02040503050406030204" pitchFamily="18" charset="0"/>
              <a:cs typeface="Arial" panose="020B0604020202020204" pitchFamily="34" charset="0"/>
            </a:endParaRPr>
          </a:p>
        </p:txBody>
      </p:sp>
      <p:sp>
        <p:nvSpPr>
          <p:cNvPr id="4" name="Slide Number Placeholder 3">
            <a:extLst>
              <a:ext uri="{FF2B5EF4-FFF2-40B4-BE49-F238E27FC236}">
                <a16:creationId xmlns:a16="http://schemas.microsoft.com/office/drawing/2014/main" id="{29567EF4-CE2E-134B-1339-0F0D3F713FE0}"/>
              </a:ext>
            </a:extLst>
          </p:cNvPr>
          <p:cNvSpPr>
            <a:spLocks noGrp="1"/>
          </p:cNvSpPr>
          <p:nvPr>
            <p:ph type="sldNum" sz="quarter" idx="5"/>
          </p:nvPr>
        </p:nvSpPr>
        <p:spPr/>
        <p:txBody>
          <a:bodyPr/>
          <a:lstStyle/>
          <a:p>
            <a:fld id="{F317C7DD-FA44-4AAC-AD64-73983556F2EF}" type="slidenum">
              <a:rPr lang="en-US" smtClean="0"/>
              <a:t>6</a:t>
            </a:fld>
            <a:endParaRPr lang="en-US"/>
          </a:p>
        </p:txBody>
      </p:sp>
    </p:spTree>
    <p:extLst>
      <p:ext uri="{BB962C8B-B14F-4D97-AF65-F5344CB8AC3E}">
        <p14:creationId xmlns:p14="http://schemas.microsoft.com/office/powerpoint/2010/main" val="20695626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F3006-7BC9-CBE5-5064-9B14203688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C645FA-FFB3-6030-1E47-4F86FEE21B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DE901F-C282-F467-8376-1202E867B918}"/>
              </a:ext>
            </a:extLst>
          </p:cNvPr>
          <p:cNvSpPr>
            <a:spLocks noGrp="1"/>
          </p:cNvSpPr>
          <p:nvPr>
            <p:ph type="body" idx="1"/>
          </p:nvPr>
        </p:nvSpPr>
        <p:spPr/>
        <p:txBody>
          <a:bodyPr/>
          <a:lstStyle/>
          <a:p>
            <a:endParaRPr lang="en-US" sz="1200" dirty="0">
              <a:latin typeface="Cambria Math" panose="02040503050406030204" pitchFamily="18" charset="0"/>
              <a:cs typeface="Arial" panose="020B0604020202020204" pitchFamily="34" charset="0"/>
            </a:endParaRPr>
          </a:p>
        </p:txBody>
      </p:sp>
      <p:sp>
        <p:nvSpPr>
          <p:cNvPr id="4" name="Slide Number Placeholder 3">
            <a:extLst>
              <a:ext uri="{FF2B5EF4-FFF2-40B4-BE49-F238E27FC236}">
                <a16:creationId xmlns:a16="http://schemas.microsoft.com/office/drawing/2014/main" id="{29567EF4-CE2E-134B-1339-0F0D3F713FE0}"/>
              </a:ext>
            </a:extLst>
          </p:cNvPr>
          <p:cNvSpPr>
            <a:spLocks noGrp="1"/>
          </p:cNvSpPr>
          <p:nvPr>
            <p:ph type="sldNum" sz="quarter" idx="5"/>
          </p:nvPr>
        </p:nvSpPr>
        <p:spPr/>
        <p:txBody>
          <a:bodyPr/>
          <a:lstStyle/>
          <a:p>
            <a:fld id="{F317C7DD-FA44-4AAC-AD64-73983556F2EF}" type="slidenum">
              <a:rPr lang="en-US" smtClean="0"/>
              <a:t>7</a:t>
            </a:fld>
            <a:endParaRPr lang="en-US"/>
          </a:p>
        </p:txBody>
      </p:sp>
    </p:spTree>
    <p:extLst>
      <p:ext uri="{BB962C8B-B14F-4D97-AF65-F5344CB8AC3E}">
        <p14:creationId xmlns:p14="http://schemas.microsoft.com/office/powerpoint/2010/main" val="6416186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F3006-7BC9-CBE5-5064-9B14203688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C645FA-FFB3-6030-1E47-4F86FEE21B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DE901F-C282-F467-8376-1202E867B918}"/>
              </a:ext>
            </a:extLst>
          </p:cNvPr>
          <p:cNvSpPr>
            <a:spLocks noGrp="1"/>
          </p:cNvSpPr>
          <p:nvPr>
            <p:ph type="body" idx="1"/>
          </p:nvPr>
        </p:nvSpPr>
        <p:spPr/>
        <p:txBody>
          <a:bodyPr/>
          <a:lstStyle/>
          <a:p>
            <a:endParaRPr lang="en-US" sz="1200" dirty="0">
              <a:latin typeface="Cambria Math" panose="02040503050406030204" pitchFamily="18" charset="0"/>
              <a:cs typeface="Arial" panose="020B0604020202020204" pitchFamily="34" charset="0"/>
            </a:endParaRPr>
          </a:p>
        </p:txBody>
      </p:sp>
      <p:sp>
        <p:nvSpPr>
          <p:cNvPr id="4" name="Slide Number Placeholder 3">
            <a:extLst>
              <a:ext uri="{FF2B5EF4-FFF2-40B4-BE49-F238E27FC236}">
                <a16:creationId xmlns:a16="http://schemas.microsoft.com/office/drawing/2014/main" id="{29567EF4-CE2E-134B-1339-0F0D3F713FE0}"/>
              </a:ext>
            </a:extLst>
          </p:cNvPr>
          <p:cNvSpPr>
            <a:spLocks noGrp="1"/>
          </p:cNvSpPr>
          <p:nvPr>
            <p:ph type="sldNum" sz="quarter" idx="5"/>
          </p:nvPr>
        </p:nvSpPr>
        <p:spPr/>
        <p:txBody>
          <a:bodyPr/>
          <a:lstStyle/>
          <a:p>
            <a:fld id="{F317C7DD-FA44-4AAC-AD64-73983556F2EF}" type="slidenum">
              <a:rPr lang="en-US" smtClean="0"/>
              <a:t>8</a:t>
            </a:fld>
            <a:endParaRPr lang="en-US"/>
          </a:p>
        </p:txBody>
      </p:sp>
    </p:spTree>
    <p:extLst>
      <p:ext uri="{BB962C8B-B14F-4D97-AF65-F5344CB8AC3E}">
        <p14:creationId xmlns:p14="http://schemas.microsoft.com/office/powerpoint/2010/main" val="34482327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4BA2E-E6C0-A211-B6B8-E9F77BA8CE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C3ADC2-5C8F-0DD6-5517-12004885A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0FE4BA-140C-C9B4-BA7E-56CAC2D223F3}"/>
              </a:ext>
            </a:extLst>
          </p:cNvPr>
          <p:cNvSpPr>
            <a:spLocks noGrp="1"/>
          </p:cNvSpPr>
          <p:nvPr>
            <p:ph type="body" idx="1"/>
          </p:nvPr>
        </p:nvSpPr>
        <p:spPr/>
        <p:txBody>
          <a:bodyPr/>
          <a:lstStyle/>
          <a:p>
            <a:endParaRPr lang="en-US" sz="1200" dirty="0">
              <a:latin typeface="Cambria Math" panose="02040503050406030204" pitchFamily="18" charset="0"/>
              <a:cs typeface="Arial" panose="020B0604020202020204" pitchFamily="34" charset="0"/>
            </a:endParaRPr>
          </a:p>
        </p:txBody>
      </p:sp>
      <p:sp>
        <p:nvSpPr>
          <p:cNvPr id="4" name="Slide Number Placeholder 3">
            <a:extLst>
              <a:ext uri="{FF2B5EF4-FFF2-40B4-BE49-F238E27FC236}">
                <a16:creationId xmlns:a16="http://schemas.microsoft.com/office/drawing/2014/main" id="{7EE12471-BE46-1E8F-48B0-0D3370325140}"/>
              </a:ext>
            </a:extLst>
          </p:cNvPr>
          <p:cNvSpPr>
            <a:spLocks noGrp="1"/>
          </p:cNvSpPr>
          <p:nvPr>
            <p:ph type="sldNum" sz="quarter" idx="5"/>
          </p:nvPr>
        </p:nvSpPr>
        <p:spPr/>
        <p:txBody>
          <a:bodyPr/>
          <a:lstStyle/>
          <a:p>
            <a:fld id="{F317C7DD-FA44-4AAC-AD64-73983556F2EF}" type="slidenum">
              <a:rPr lang="en-US" smtClean="0"/>
              <a:t>9</a:t>
            </a:fld>
            <a:endParaRPr lang="en-US"/>
          </a:p>
        </p:txBody>
      </p:sp>
    </p:spTree>
    <p:extLst>
      <p:ext uri="{BB962C8B-B14F-4D97-AF65-F5344CB8AC3E}">
        <p14:creationId xmlns:p14="http://schemas.microsoft.com/office/powerpoint/2010/main" val="16484769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4BA2E-E6C0-A211-B6B8-E9F77BA8CE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C3ADC2-5C8F-0DD6-5517-12004885A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0FE4BA-140C-C9B4-BA7E-56CAC2D223F3}"/>
              </a:ext>
            </a:extLst>
          </p:cNvPr>
          <p:cNvSpPr>
            <a:spLocks noGrp="1"/>
          </p:cNvSpPr>
          <p:nvPr>
            <p:ph type="body" idx="1"/>
          </p:nvPr>
        </p:nvSpPr>
        <p:spPr/>
        <p:txBody>
          <a:bodyPr/>
          <a:lstStyle/>
          <a:p>
            <a:endParaRPr lang="en-US" sz="1200" dirty="0">
              <a:latin typeface="Cambria Math" panose="02040503050406030204" pitchFamily="18" charset="0"/>
              <a:cs typeface="Arial" panose="020B0604020202020204" pitchFamily="34" charset="0"/>
            </a:endParaRPr>
          </a:p>
        </p:txBody>
      </p:sp>
      <p:sp>
        <p:nvSpPr>
          <p:cNvPr id="4" name="Slide Number Placeholder 3">
            <a:extLst>
              <a:ext uri="{FF2B5EF4-FFF2-40B4-BE49-F238E27FC236}">
                <a16:creationId xmlns:a16="http://schemas.microsoft.com/office/drawing/2014/main" id="{7EE12471-BE46-1E8F-48B0-0D3370325140}"/>
              </a:ext>
            </a:extLst>
          </p:cNvPr>
          <p:cNvSpPr>
            <a:spLocks noGrp="1"/>
          </p:cNvSpPr>
          <p:nvPr>
            <p:ph type="sldNum" sz="quarter" idx="5"/>
          </p:nvPr>
        </p:nvSpPr>
        <p:spPr/>
        <p:txBody>
          <a:bodyPr/>
          <a:lstStyle/>
          <a:p>
            <a:fld id="{F317C7DD-FA44-4AAC-AD64-73983556F2EF}" type="slidenum">
              <a:rPr lang="en-US" smtClean="0"/>
              <a:t>10</a:t>
            </a:fld>
            <a:endParaRPr lang="en-US"/>
          </a:p>
        </p:txBody>
      </p:sp>
    </p:spTree>
    <p:extLst>
      <p:ext uri="{BB962C8B-B14F-4D97-AF65-F5344CB8AC3E}">
        <p14:creationId xmlns:p14="http://schemas.microsoft.com/office/powerpoint/2010/main" val="5832959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4BA2E-E6C0-A211-B6B8-E9F77BA8CE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C3ADC2-5C8F-0DD6-5517-12004885A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0FE4BA-140C-C9B4-BA7E-56CAC2D223F3}"/>
              </a:ext>
            </a:extLst>
          </p:cNvPr>
          <p:cNvSpPr>
            <a:spLocks noGrp="1"/>
          </p:cNvSpPr>
          <p:nvPr>
            <p:ph type="body" idx="1"/>
          </p:nvPr>
        </p:nvSpPr>
        <p:spPr/>
        <p:txBody>
          <a:bodyPr/>
          <a:lstStyle/>
          <a:p>
            <a:endParaRPr lang="en-US" sz="1200" dirty="0">
              <a:latin typeface="Cambria Math" panose="02040503050406030204" pitchFamily="18" charset="0"/>
              <a:cs typeface="Arial" panose="020B0604020202020204" pitchFamily="34" charset="0"/>
            </a:endParaRPr>
          </a:p>
        </p:txBody>
      </p:sp>
      <p:sp>
        <p:nvSpPr>
          <p:cNvPr id="4" name="Slide Number Placeholder 3">
            <a:extLst>
              <a:ext uri="{FF2B5EF4-FFF2-40B4-BE49-F238E27FC236}">
                <a16:creationId xmlns:a16="http://schemas.microsoft.com/office/drawing/2014/main" id="{7EE12471-BE46-1E8F-48B0-0D3370325140}"/>
              </a:ext>
            </a:extLst>
          </p:cNvPr>
          <p:cNvSpPr>
            <a:spLocks noGrp="1"/>
          </p:cNvSpPr>
          <p:nvPr>
            <p:ph type="sldNum" sz="quarter" idx="5"/>
          </p:nvPr>
        </p:nvSpPr>
        <p:spPr/>
        <p:txBody>
          <a:bodyPr/>
          <a:lstStyle/>
          <a:p>
            <a:fld id="{F317C7DD-FA44-4AAC-AD64-73983556F2EF}" type="slidenum">
              <a:rPr lang="en-US" smtClean="0"/>
              <a:t>11</a:t>
            </a:fld>
            <a:endParaRPr lang="en-US"/>
          </a:p>
        </p:txBody>
      </p:sp>
    </p:spTree>
    <p:extLst>
      <p:ext uri="{BB962C8B-B14F-4D97-AF65-F5344CB8AC3E}">
        <p14:creationId xmlns:p14="http://schemas.microsoft.com/office/powerpoint/2010/main" val="10902108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4BA2E-E6C0-A211-B6B8-E9F77BA8CE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C3ADC2-5C8F-0DD6-5517-12004885A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0FE4BA-140C-C9B4-BA7E-56CAC2D223F3}"/>
              </a:ext>
            </a:extLst>
          </p:cNvPr>
          <p:cNvSpPr>
            <a:spLocks noGrp="1"/>
          </p:cNvSpPr>
          <p:nvPr>
            <p:ph type="body" idx="1"/>
          </p:nvPr>
        </p:nvSpPr>
        <p:spPr/>
        <p:txBody>
          <a:bodyPr/>
          <a:lstStyle/>
          <a:p>
            <a:endParaRPr lang="en-US" sz="1200" dirty="0">
              <a:latin typeface="Cambria Math" panose="02040503050406030204" pitchFamily="18" charset="0"/>
              <a:cs typeface="Arial" panose="020B0604020202020204" pitchFamily="34" charset="0"/>
            </a:endParaRPr>
          </a:p>
        </p:txBody>
      </p:sp>
      <p:sp>
        <p:nvSpPr>
          <p:cNvPr id="4" name="Slide Number Placeholder 3">
            <a:extLst>
              <a:ext uri="{FF2B5EF4-FFF2-40B4-BE49-F238E27FC236}">
                <a16:creationId xmlns:a16="http://schemas.microsoft.com/office/drawing/2014/main" id="{7EE12471-BE46-1E8F-48B0-0D3370325140}"/>
              </a:ext>
            </a:extLst>
          </p:cNvPr>
          <p:cNvSpPr>
            <a:spLocks noGrp="1"/>
          </p:cNvSpPr>
          <p:nvPr>
            <p:ph type="sldNum" sz="quarter" idx="5"/>
          </p:nvPr>
        </p:nvSpPr>
        <p:spPr/>
        <p:txBody>
          <a:bodyPr/>
          <a:lstStyle/>
          <a:p>
            <a:fld id="{F317C7DD-FA44-4AAC-AD64-73983556F2EF}" type="slidenum">
              <a:rPr lang="en-US" smtClean="0"/>
              <a:t>12</a:t>
            </a:fld>
            <a:endParaRPr lang="en-US"/>
          </a:p>
        </p:txBody>
      </p:sp>
    </p:spTree>
    <p:extLst>
      <p:ext uri="{BB962C8B-B14F-4D97-AF65-F5344CB8AC3E}">
        <p14:creationId xmlns:p14="http://schemas.microsoft.com/office/powerpoint/2010/main" val="36077092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4BA2E-E6C0-A211-B6B8-E9F77BA8CE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C3ADC2-5C8F-0DD6-5517-12004885A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0FE4BA-140C-C9B4-BA7E-56CAC2D223F3}"/>
              </a:ext>
            </a:extLst>
          </p:cNvPr>
          <p:cNvSpPr>
            <a:spLocks noGrp="1"/>
          </p:cNvSpPr>
          <p:nvPr>
            <p:ph type="body" idx="1"/>
          </p:nvPr>
        </p:nvSpPr>
        <p:spPr/>
        <p:txBody>
          <a:bodyPr/>
          <a:lstStyle/>
          <a:p>
            <a:endParaRPr lang="en-US" sz="1200" dirty="0">
              <a:latin typeface="Cambria Math" panose="02040503050406030204" pitchFamily="18" charset="0"/>
              <a:cs typeface="Arial" panose="020B0604020202020204" pitchFamily="34" charset="0"/>
            </a:endParaRPr>
          </a:p>
        </p:txBody>
      </p:sp>
      <p:sp>
        <p:nvSpPr>
          <p:cNvPr id="4" name="Slide Number Placeholder 3">
            <a:extLst>
              <a:ext uri="{FF2B5EF4-FFF2-40B4-BE49-F238E27FC236}">
                <a16:creationId xmlns:a16="http://schemas.microsoft.com/office/drawing/2014/main" id="{7EE12471-BE46-1E8F-48B0-0D3370325140}"/>
              </a:ext>
            </a:extLst>
          </p:cNvPr>
          <p:cNvSpPr>
            <a:spLocks noGrp="1"/>
          </p:cNvSpPr>
          <p:nvPr>
            <p:ph type="sldNum" sz="quarter" idx="5"/>
          </p:nvPr>
        </p:nvSpPr>
        <p:spPr/>
        <p:txBody>
          <a:bodyPr/>
          <a:lstStyle/>
          <a:p>
            <a:fld id="{F317C7DD-FA44-4AAC-AD64-73983556F2EF}" type="slidenum">
              <a:rPr lang="en-US" smtClean="0"/>
              <a:t>13</a:t>
            </a:fld>
            <a:endParaRPr lang="en-US"/>
          </a:p>
        </p:txBody>
      </p:sp>
    </p:spTree>
    <p:extLst>
      <p:ext uri="{BB962C8B-B14F-4D97-AF65-F5344CB8AC3E}">
        <p14:creationId xmlns:p14="http://schemas.microsoft.com/office/powerpoint/2010/main" val="16946082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4BA2E-E6C0-A211-B6B8-E9F77BA8CE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C3ADC2-5C8F-0DD6-5517-12004885A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0FE4BA-140C-C9B4-BA7E-56CAC2D223F3}"/>
              </a:ext>
            </a:extLst>
          </p:cNvPr>
          <p:cNvSpPr>
            <a:spLocks noGrp="1"/>
          </p:cNvSpPr>
          <p:nvPr>
            <p:ph type="body" idx="1"/>
          </p:nvPr>
        </p:nvSpPr>
        <p:spPr/>
        <p:txBody>
          <a:bodyPr/>
          <a:lstStyle/>
          <a:p>
            <a:endParaRPr lang="en-US" sz="1200" dirty="0">
              <a:latin typeface="Cambria Math" panose="02040503050406030204" pitchFamily="18" charset="0"/>
              <a:cs typeface="Arial" panose="020B0604020202020204" pitchFamily="34" charset="0"/>
            </a:endParaRPr>
          </a:p>
        </p:txBody>
      </p:sp>
      <p:sp>
        <p:nvSpPr>
          <p:cNvPr id="4" name="Slide Number Placeholder 3">
            <a:extLst>
              <a:ext uri="{FF2B5EF4-FFF2-40B4-BE49-F238E27FC236}">
                <a16:creationId xmlns:a16="http://schemas.microsoft.com/office/drawing/2014/main" id="{7EE12471-BE46-1E8F-48B0-0D3370325140}"/>
              </a:ext>
            </a:extLst>
          </p:cNvPr>
          <p:cNvSpPr>
            <a:spLocks noGrp="1"/>
          </p:cNvSpPr>
          <p:nvPr>
            <p:ph type="sldNum" sz="quarter" idx="5"/>
          </p:nvPr>
        </p:nvSpPr>
        <p:spPr/>
        <p:txBody>
          <a:bodyPr/>
          <a:lstStyle/>
          <a:p>
            <a:fld id="{F317C7DD-FA44-4AAC-AD64-73983556F2EF}" type="slidenum">
              <a:rPr lang="en-US" smtClean="0"/>
              <a:t>14</a:t>
            </a:fld>
            <a:endParaRPr lang="en-US"/>
          </a:p>
        </p:txBody>
      </p:sp>
    </p:spTree>
    <p:extLst>
      <p:ext uri="{BB962C8B-B14F-4D97-AF65-F5344CB8AC3E}">
        <p14:creationId xmlns:p14="http://schemas.microsoft.com/office/powerpoint/2010/main" val="9360296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4BA2E-E6C0-A211-B6B8-E9F77BA8CE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C3ADC2-5C8F-0DD6-5517-12004885A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0FE4BA-140C-C9B4-BA7E-56CAC2D223F3}"/>
              </a:ext>
            </a:extLst>
          </p:cNvPr>
          <p:cNvSpPr>
            <a:spLocks noGrp="1"/>
          </p:cNvSpPr>
          <p:nvPr>
            <p:ph type="body" idx="1"/>
          </p:nvPr>
        </p:nvSpPr>
        <p:spPr/>
        <p:txBody>
          <a:bodyPr/>
          <a:lstStyle/>
          <a:p>
            <a:endParaRPr lang="en-US" sz="1200" dirty="0">
              <a:latin typeface="Cambria Math" panose="02040503050406030204" pitchFamily="18" charset="0"/>
              <a:cs typeface="Arial" panose="020B0604020202020204" pitchFamily="34" charset="0"/>
            </a:endParaRPr>
          </a:p>
        </p:txBody>
      </p:sp>
      <p:sp>
        <p:nvSpPr>
          <p:cNvPr id="4" name="Slide Number Placeholder 3">
            <a:extLst>
              <a:ext uri="{FF2B5EF4-FFF2-40B4-BE49-F238E27FC236}">
                <a16:creationId xmlns:a16="http://schemas.microsoft.com/office/drawing/2014/main" id="{7EE12471-BE46-1E8F-48B0-0D3370325140}"/>
              </a:ext>
            </a:extLst>
          </p:cNvPr>
          <p:cNvSpPr>
            <a:spLocks noGrp="1"/>
          </p:cNvSpPr>
          <p:nvPr>
            <p:ph type="sldNum" sz="quarter" idx="5"/>
          </p:nvPr>
        </p:nvSpPr>
        <p:spPr/>
        <p:txBody>
          <a:bodyPr/>
          <a:lstStyle/>
          <a:p>
            <a:fld id="{F317C7DD-FA44-4AAC-AD64-73983556F2EF}" type="slidenum">
              <a:rPr lang="en-US" smtClean="0"/>
              <a:t>15</a:t>
            </a:fld>
            <a:endParaRPr lang="en-US"/>
          </a:p>
        </p:txBody>
      </p:sp>
    </p:spTree>
    <p:extLst>
      <p:ext uri="{BB962C8B-B14F-4D97-AF65-F5344CB8AC3E}">
        <p14:creationId xmlns:p14="http://schemas.microsoft.com/office/powerpoint/2010/main" val="42050633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4BA2E-E6C0-A211-B6B8-E9F77BA8CE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C3ADC2-5C8F-0DD6-5517-12004885A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0FE4BA-140C-C9B4-BA7E-56CAC2D223F3}"/>
              </a:ext>
            </a:extLst>
          </p:cNvPr>
          <p:cNvSpPr>
            <a:spLocks noGrp="1"/>
          </p:cNvSpPr>
          <p:nvPr>
            <p:ph type="body" idx="1"/>
          </p:nvPr>
        </p:nvSpPr>
        <p:spPr/>
        <p:txBody>
          <a:bodyPr/>
          <a:lstStyle/>
          <a:p>
            <a:endParaRPr lang="en-US" sz="1200" dirty="0">
              <a:latin typeface="Cambria Math" panose="02040503050406030204" pitchFamily="18" charset="0"/>
              <a:cs typeface="Arial" panose="020B0604020202020204" pitchFamily="34" charset="0"/>
            </a:endParaRPr>
          </a:p>
        </p:txBody>
      </p:sp>
      <p:sp>
        <p:nvSpPr>
          <p:cNvPr id="4" name="Slide Number Placeholder 3">
            <a:extLst>
              <a:ext uri="{FF2B5EF4-FFF2-40B4-BE49-F238E27FC236}">
                <a16:creationId xmlns:a16="http://schemas.microsoft.com/office/drawing/2014/main" id="{7EE12471-BE46-1E8F-48B0-0D3370325140}"/>
              </a:ext>
            </a:extLst>
          </p:cNvPr>
          <p:cNvSpPr>
            <a:spLocks noGrp="1"/>
          </p:cNvSpPr>
          <p:nvPr>
            <p:ph type="sldNum" sz="quarter" idx="5"/>
          </p:nvPr>
        </p:nvSpPr>
        <p:spPr/>
        <p:txBody>
          <a:bodyPr/>
          <a:lstStyle/>
          <a:p>
            <a:fld id="{F317C7DD-FA44-4AAC-AD64-73983556F2EF}" type="slidenum">
              <a:rPr lang="en-US" smtClean="0"/>
              <a:t>16</a:t>
            </a:fld>
            <a:endParaRPr lang="en-US"/>
          </a:p>
        </p:txBody>
      </p:sp>
    </p:spTree>
    <p:extLst>
      <p:ext uri="{BB962C8B-B14F-4D97-AF65-F5344CB8AC3E}">
        <p14:creationId xmlns:p14="http://schemas.microsoft.com/office/powerpoint/2010/main" val="42761400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4BA2E-E6C0-A211-B6B8-E9F77BA8CE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C3ADC2-5C8F-0DD6-5517-12004885A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0FE4BA-140C-C9B4-BA7E-56CAC2D223F3}"/>
              </a:ext>
            </a:extLst>
          </p:cNvPr>
          <p:cNvSpPr>
            <a:spLocks noGrp="1"/>
          </p:cNvSpPr>
          <p:nvPr>
            <p:ph type="body" idx="1"/>
          </p:nvPr>
        </p:nvSpPr>
        <p:spPr/>
        <p:txBody>
          <a:bodyPr/>
          <a:lstStyle/>
          <a:p>
            <a:endParaRPr lang="en-US" sz="1200" dirty="0">
              <a:latin typeface="Cambria Math" panose="02040503050406030204" pitchFamily="18" charset="0"/>
              <a:cs typeface="Arial" panose="020B0604020202020204" pitchFamily="34" charset="0"/>
            </a:endParaRPr>
          </a:p>
        </p:txBody>
      </p:sp>
      <p:sp>
        <p:nvSpPr>
          <p:cNvPr id="4" name="Slide Number Placeholder 3">
            <a:extLst>
              <a:ext uri="{FF2B5EF4-FFF2-40B4-BE49-F238E27FC236}">
                <a16:creationId xmlns:a16="http://schemas.microsoft.com/office/drawing/2014/main" id="{7EE12471-BE46-1E8F-48B0-0D3370325140}"/>
              </a:ext>
            </a:extLst>
          </p:cNvPr>
          <p:cNvSpPr>
            <a:spLocks noGrp="1"/>
          </p:cNvSpPr>
          <p:nvPr>
            <p:ph type="sldNum" sz="quarter" idx="5"/>
          </p:nvPr>
        </p:nvSpPr>
        <p:spPr/>
        <p:txBody>
          <a:bodyPr/>
          <a:lstStyle/>
          <a:p>
            <a:fld id="{F317C7DD-FA44-4AAC-AD64-73983556F2EF}" type="slidenum">
              <a:rPr lang="en-US" smtClean="0"/>
              <a:t>17</a:t>
            </a:fld>
            <a:endParaRPr lang="en-US"/>
          </a:p>
        </p:txBody>
      </p:sp>
    </p:spTree>
    <p:extLst>
      <p:ext uri="{BB962C8B-B14F-4D97-AF65-F5344CB8AC3E}">
        <p14:creationId xmlns:p14="http://schemas.microsoft.com/office/powerpoint/2010/main" val="19712849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F3006-7BC9-CBE5-5064-9B14203688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C645FA-FFB3-6030-1E47-4F86FEE21B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DE901F-C282-F467-8376-1202E867B918}"/>
              </a:ext>
            </a:extLst>
          </p:cNvPr>
          <p:cNvSpPr>
            <a:spLocks noGrp="1"/>
          </p:cNvSpPr>
          <p:nvPr>
            <p:ph type="body" idx="1"/>
          </p:nvPr>
        </p:nvSpPr>
        <p:spPr/>
        <p:txBody>
          <a:bodyPr/>
          <a:lstStyle/>
          <a:p>
            <a:endParaRPr lang="en-US" sz="1200" dirty="0">
              <a:latin typeface="Cambria Math" panose="02040503050406030204" pitchFamily="18" charset="0"/>
              <a:cs typeface="Arial" panose="020B0604020202020204" pitchFamily="34" charset="0"/>
            </a:endParaRPr>
          </a:p>
        </p:txBody>
      </p:sp>
      <p:sp>
        <p:nvSpPr>
          <p:cNvPr id="4" name="Slide Number Placeholder 3">
            <a:extLst>
              <a:ext uri="{FF2B5EF4-FFF2-40B4-BE49-F238E27FC236}">
                <a16:creationId xmlns:a16="http://schemas.microsoft.com/office/drawing/2014/main" id="{29567EF4-CE2E-134B-1339-0F0D3F713FE0}"/>
              </a:ext>
            </a:extLst>
          </p:cNvPr>
          <p:cNvSpPr>
            <a:spLocks noGrp="1"/>
          </p:cNvSpPr>
          <p:nvPr>
            <p:ph type="sldNum" sz="quarter" idx="5"/>
          </p:nvPr>
        </p:nvSpPr>
        <p:spPr/>
        <p:txBody>
          <a:bodyPr/>
          <a:lstStyle/>
          <a:p>
            <a:fld id="{F317C7DD-FA44-4AAC-AD64-73983556F2EF}" type="slidenum">
              <a:rPr lang="en-US" smtClean="0"/>
              <a:t>18</a:t>
            </a:fld>
            <a:endParaRPr lang="en-US"/>
          </a:p>
        </p:txBody>
      </p:sp>
    </p:spTree>
    <p:extLst>
      <p:ext uri="{BB962C8B-B14F-4D97-AF65-F5344CB8AC3E}">
        <p14:creationId xmlns:p14="http://schemas.microsoft.com/office/powerpoint/2010/main" val="38598767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F3006-7BC9-CBE5-5064-9B14203688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C645FA-FFB3-6030-1E47-4F86FEE21B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DE901F-C282-F467-8376-1202E867B918}"/>
              </a:ext>
            </a:extLst>
          </p:cNvPr>
          <p:cNvSpPr>
            <a:spLocks noGrp="1"/>
          </p:cNvSpPr>
          <p:nvPr>
            <p:ph type="body" idx="1"/>
          </p:nvPr>
        </p:nvSpPr>
        <p:spPr/>
        <p:txBody>
          <a:bodyPr/>
          <a:lstStyle/>
          <a:p>
            <a:endParaRPr lang="en-US" sz="1200" dirty="0">
              <a:latin typeface="Cambria Math" panose="02040503050406030204" pitchFamily="18" charset="0"/>
              <a:cs typeface="Arial" panose="020B0604020202020204" pitchFamily="34" charset="0"/>
            </a:endParaRPr>
          </a:p>
        </p:txBody>
      </p:sp>
      <p:sp>
        <p:nvSpPr>
          <p:cNvPr id="4" name="Slide Number Placeholder 3">
            <a:extLst>
              <a:ext uri="{FF2B5EF4-FFF2-40B4-BE49-F238E27FC236}">
                <a16:creationId xmlns:a16="http://schemas.microsoft.com/office/drawing/2014/main" id="{29567EF4-CE2E-134B-1339-0F0D3F713FE0}"/>
              </a:ext>
            </a:extLst>
          </p:cNvPr>
          <p:cNvSpPr>
            <a:spLocks noGrp="1"/>
          </p:cNvSpPr>
          <p:nvPr>
            <p:ph type="sldNum" sz="quarter" idx="5"/>
          </p:nvPr>
        </p:nvSpPr>
        <p:spPr/>
        <p:txBody>
          <a:bodyPr/>
          <a:lstStyle/>
          <a:p>
            <a:fld id="{F317C7DD-FA44-4AAC-AD64-73983556F2EF}" type="slidenum">
              <a:rPr lang="en-US" smtClean="0"/>
              <a:t>19</a:t>
            </a:fld>
            <a:endParaRPr lang="en-US"/>
          </a:p>
        </p:txBody>
      </p:sp>
    </p:spTree>
    <p:extLst>
      <p:ext uri="{BB962C8B-B14F-4D97-AF65-F5344CB8AC3E}">
        <p14:creationId xmlns:p14="http://schemas.microsoft.com/office/powerpoint/2010/main" val="26859542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8B405-536C-463C-B330-FB9B091EA4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BD4FE08-CE3B-43AC-881D-7529D4B560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313598C-097C-40EA-9A3D-FCB0CFA90A66}"/>
              </a:ext>
            </a:extLst>
          </p:cNvPr>
          <p:cNvSpPr>
            <a:spLocks noGrp="1"/>
          </p:cNvSpPr>
          <p:nvPr>
            <p:ph type="dt" sz="half" idx="10"/>
          </p:nvPr>
        </p:nvSpPr>
        <p:spPr/>
        <p:txBody>
          <a:bodyPr/>
          <a:lstStyle/>
          <a:p>
            <a:fld id="{B9A338F4-DD35-4498-B7BB-352DF508B298}" type="datetime1">
              <a:rPr lang="en-US" smtClean="0"/>
              <a:t>3/27/2025</a:t>
            </a:fld>
            <a:endParaRPr lang="en-US"/>
          </a:p>
        </p:txBody>
      </p:sp>
      <p:sp>
        <p:nvSpPr>
          <p:cNvPr id="5" name="Footer Placeholder 4">
            <a:extLst>
              <a:ext uri="{FF2B5EF4-FFF2-40B4-BE49-F238E27FC236}">
                <a16:creationId xmlns:a16="http://schemas.microsoft.com/office/drawing/2014/main" id="{A7BB069F-E937-4583-8169-A70F89CA0702}"/>
              </a:ext>
            </a:extLst>
          </p:cNvPr>
          <p:cNvSpPr>
            <a:spLocks noGrp="1"/>
          </p:cNvSpPr>
          <p:nvPr>
            <p:ph type="ftr" sz="quarter" idx="11"/>
          </p:nvPr>
        </p:nvSpPr>
        <p:spPr/>
        <p:txBody>
          <a:bodyPr/>
          <a:lstStyle/>
          <a:p>
            <a:r>
              <a:rPr lang="en-US"/>
              <a:t>Background | Research Objectives | Preliminary Results | Future Work</a:t>
            </a:r>
          </a:p>
        </p:txBody>
      </p:sp>
      <p:sp>
        <p:nvSpPr>
          <p:cNvPr id="6" name="Slide Number Placeholder 5">
            <a:extLst>
              <a:ext uri="{FF2B5EF4-FFF2-40B4-BE49-F238E27FC236}">
                <a16:creationId xmlns:a16="http://schemas.microsoft.com/office/drawing/2014/main" id="{722826A5-054C-4F79-8BFC-5BFBC0D68B64}"/>
              </a:ext>
            </a:extLst>
          </p:cNvPr>
          <p:cNvSpPr>
            <a:spLocks noGrp="1"/>
          </p:cNvSpPr>
          <p:nvPr>
            <p:ph type="sldNum" sz="quarter" idx="12"/>
          </p:nvPr>
        </p:nvSpPr>
        <p:spPr/>
        <p:txBody>
          <a:bodyPr/>
          <a:lstStyle/>
          <a:p>
            <a:fld id="{B789AA32-48A6-4E3B-907A-585A7BC180FF}" type="slidenum">
              <a:rPr lang="en-US" smtClean="0"/>
              <a:t>‹#›</a:t>
            </a:fld>
            <a:endParaRPr lang="en-US"/>
          </a:p>
        </p:txBody>
      </p:sp>
    </p:spTree>
    <p:extLst>
      <p:ext uri="{BB962C8B-B14F-4D97-AF65-F5344CB8AC3E}">
        <p14:creationId xmlns:p14="http://schemas.microsoft.com/office/powerpoint/2010/main" val="2852689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1700C-72FD-48DA-B560-B3723819D59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D279FD-488D-4B07-A7EE-C8CFB8AAF5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C0AF8E-2C4A-409E-B1F3-453E5B9DEE3D}"/>
              </a:ext>
            </a:extLst>
          </p:cNvPr>
          <p:cNvSpPr>
            <a:spLocks noGrp="1"/>
          </p:cNvSpPr>
          <p:nvPr>
            <p:ph type="dt" sz="half" idx="10"/>
          </p:nvPr>
        </p:nvSpPr>
        <p:spPr/>
        <p:txBody>
          <a:bodyPr/>
          <a:lstStyle/>
          <a:p>
            <a:fld id="{A2708AD7-9E2D-498D-A2F6-336374926C8D}" type="datetime1">
              <a:rPr lang="en-US" smtClean="0"/>
              <a:t>3/27/2025</a:t>
            </a:fld>
            <a:endParaRPr lang="en-US"/>
          </a:p>
        </p:txBody>
      </p:sp>
      <p:sp>
        <p:nvSpPr>
          <p:cNvPr id="5" name="Footer Placeholder 4">
            <a:extLst>
              <a:ext uri="{FF2B5EF4-FFF2-40B4-BE49-F238E27FC236}">
                <a16:creationId xmlns:a16="http://schemas.microsoft.com/office/drawing/2014/main" id="{81F89C10-C02E-4B1F-B767-B2FEC057DA31}"/>
              </a:ext>
            </a:extLst>
          </p:cNvPr>
          <p:cNvSpPr>
            <a:spLocks noGrp="1"/>
          </p:cNvSpPr>
          <p:nvPr>
            <p:ph type="ftr" sz="quarter" idx="11"/>
          </p:nvPr>
        </p:nvSpPr>
        <p:spPr/>
        <p:txBody>
          <a:bodyPr/>
          <a:lstStyle/>
          <a:p>
            <a:r>
              <a:rPr lang="en-US"/>
              <a:t>Background | Research Objectives | Preliminary Results | Future Work</a:t>
            </a:r>
          </a:p>
        </p:txBody>
      </p:sp>
      <p:sp>
        <p:nvSpPr>
          <p:cNvPr id="6" name="Slide Number Placeholder 5">
            <a:extLst>
              <a:ext uri="{FF2B5EF4-FFF2-40B4-BE49-F238E27FC236}">
                <a16:creationId xmlns:a16="http://schemas.microsoft.com/office/drawing/2014/main" id="{86DD473B-A99A-41BD-9E27-67890561F7B6}"/>
              </a:ext>
            </a:extLst>
          </p:cNvPr>
          <p:cNvSpPr>
            <a:spLocks noGrp="1"/>
          </p:cNvSpPr>
          <p:nvPr>
            <p:ph type="sldNum" sz="quarter" idx="12"/>
          </p:nvPr>
        </p:nvSpPr>
        <p:spPr/>
        <p:txBody>
          <a:bodyPr/>
          <a:lstStyle/>
          <a:p>
            <a:fld id="{B789AA32-48A6-4E3B-907A-585A7BC180FF}" type="slidenum">
              <a:rPr lang="en-US" smtClean="0"/>
              <a:t>‹#›</a:t>
            </a:fld>
            <a:endParaRPr lang="en-US"/>
          </a:p>
        </p:txBody>
      </p:sp>
    </p:spTree>
    <p:extLst>
      <p:ext uri="{BB962C8B-B14F-4D97-AF65-F5344CB8AC3E}">
        <p14:creationId xmlns:p14="http://schemas.microsoft.com/office/powerpoint/2010/main" val="13448785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4EDB6-7846-40D1-9908-AE142B2327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B7804F-5D40-4DC3-B7A1-7BF693A6F1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4C547D-0CF5-48AA-9BAB-EDA8C0608FCC}"/>
              </a:ext>
            </a:extLst>
          </p:cNvPr>
          <p:cNvSpPr>
            <a:spLocks noGrp="1"/>
          </p:cNvSpPr>
          <p:nvPr>
            <p:ph type="dt" sz="half" idx="10"/>
          </p:nvPr>
        </p:nvSpPr>
        <p:spPr/>
        <p:txBody>
          <a:bodyPr/>
          <a:lstStyle/>
          <a:p>
            <a:fld id="{86839866-0A34-4501-A045-E8741A9799CF}" type="datetime1">
              <a:rPr lang="en-US" smtClean="0"/>
              <a:t>3/27/2025</a:t>
            </a:fld>
            <a:endParaRPr lang="en-US"/>
          </a:p>
        </p:txBody>
      </p:sp>
      <p:sp>
        <p:nvSpPr>
          <p:cNvPr id="5" name="Footer Placeholder 4">
            <a:extLst>
              <a:ext uri="{FF2B5EF4-FFF2-40B4-BE49-F238E27FC236}">
                <a16:creationId xmlns:a16="http://schemas.microsoft.com/office/drawing/2014/main" id="{3023BA10-0A81-4E23-9B21-3BA856E7F074}"/>
              </a:ext>
            </a:extLst>
          </p:cNvPr>
          <p:cNvSpPr>
            <a:spLocks noGrp="1"/>
          </p:cNvSpPr>
          <p:nvPr>
            <p:ph type="ftr" sz="quarter" idx="11"/>
          </p:nvPr>
        </p:nvSpPr>
        <p:spPr/>
        <p:txBody>
          <a:bodyPr/>
          <a:lstStyle/>
          <a:p>
            <a:r>
              <a:rPr lang="en-US"/>
              <a:t>Background | Research Objectives | Preliminary Results | Future Work</a:t>
            </a:r>
          </a:p>
        </p:txBody>
      </p:sp>
      <p:sp>
        <p:nvSpPr>
          <p:cNvPr id="6" name="Slide Number Placeholder 5">
            <a:extLst>
              <a:ext uri="{FF2B5EF4-FFF2-40B4-BE49-F238E27FC236}">
                <a16:creationId xmlns:a16="http://schemas.microsoft.com/office/drawing/2014/main" id="{0D20AB30-1AE3-416C-913A-8ADABEFE1603}"/>
              </a:ext>
            </a:extLst>
          </p:cNvPr>
          <p:cNvSpPr>
            <a:spLocks noGrp="1"/>
          </p:cNvSpPr>
          <p:nvPr>
            <p:ph type="sldNum" sz="quarter" idx="12"/>
          </p:nvPr>
        </p:nvSpPr>
        <p:spPr/>
        <p:txBody>
          <a:bodyPr/>
          <a:lstStyle/>
          <a:p>
            <a:fld id="{B789AA32-48A6-4E3B-907A-585A7BC180FF}" type="slidenum">
              <a:rPr lang="en-US" smtClean="0"/>
              <a:t>‹#›</a:t>
            </a:fld>
            <a:endParaRPr lang="en-US"/>
          </a:p>
        </p:txBody>
      </p:sp>
    </p:spTree>
    <p:extLst>
      <p:ext uri="{BB962C8B-B14F-4D97-AF65-F5344CB8AC3E}">
        <p14:creationId xmlns:p14="http://schemas.microsoft.com/office/powerpoint/2010/main" val="787886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6551A-CCCC-4D7F-92BE-B64B320584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C7CBE7-A107-43A5-9FC6-F8BD2D1C8F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DB1F6B0-EB61-4854-B01C-717B8E3ADF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23CE46F-C997-45BB-84C4-ADE4F99AE569}"/>
              </a:ext>
            </a:extLst>
          </p:cNvPr>
          <p:cNvSpPr>
            <a:spLocks noGrp="1"/>
          </p:cNvSpPr>
          <p:nvPr>
            <p:ph type="dt" sz="half" idx="10"/>
          </p:nvPr>
        </p:nvSpPr>
        <p:spPr/>
        <p:txBody>
          <a:bodyPr/>
          <a:lstStyle/>
          <a:p>
            <a:fld id="{32BD55FB-9D8B-4F31-9C42-5D17D4A59442}" type="datetime1">
              <a:rPr lang="en-US" smtClean="0"/>
              <a:t>3/27/2025</a:t>
            </a:fld>
            <a:endParaRPr lang="en-US"/>
          </a:p>
        </p:txBody>
      </p:sp>
      <p:sp>
        <p:nvSpPr>
          <p:cNvPr id="6" name="Footer Placeholder 5">
            <a:extLst>
              <a:ext uri="{FF2B5EF4-FFF2-40B4-BE49-F238E27FC236}">
                <a16:creationId xmlns:a16="http://schemas.microsoft.com/office/drawing/2014/main" id="{0011D414-8201-4C32-BEB1-7943238C146F}"/>
              </a:ext>
            </a:extLst>
          </p:cNvPr>
          <p:cNvSpPr>
            <a:spLocks noGrp="1"/>
          </p:cNvSpPr>
          <p:nvPr>
            <p:ph type="ftr" sz="quarter" idx="11"/>
          </p:nvPr>
        </p:nvSpPr>
        <p:spPr/>
        <p:txBody>
          <a:bodyPr/>
          <a:lstStyle/>
          <a:p>
            <a:r>
              <a:rPr lang="en-US"/>
              <a:t>Background | Research Objectives | Preliminary Results | Future Work</a:t>
            </a:r>
          </a:p>
        </p:txBody>
      </p:sp>
      <p:sp>
        <p:nvSpPr>
          <p:cNvPr id="7" name="Slide Number Placeholder 6">
            <a:extLst>
              <a:ext uri="{FF2B5EF4-FFF2-40B4-BE49-F238E27FC236}">
                <a16:creationId xmlns:a16="http://schemas.microsoft.com/office/drawing/2014/main" id="{FF2B6850-AAB2-43C1-8774-722A95370BB9}"/>
              </a:ext>
            </a:extLst>
          </p:cNvPr>
          <p:cNvSpPr>
            <a:spLocks noGrp="1"/>
          </p:cNvSpPr>
          <p:nvPr>
            <p:ph type="sldNum" sz="quarter" idx="12"/>
          </p:nvPr>
        </p:nvSpPr>
        <p:spPr/>
        <p:txBody>
          <a:bodyPr/>
          <a:lstStyle/>
          <a:p>
            <a:fld id="{B789AA32-48A6-4E3B-907A-585A7BC180FF}" type="slidenum">
              <a:rPr lang="en-US" smtClean="0"/>
              <a:t>‹#›</a:t>
            </a:fld>
            <a:endParaRPr lang="en-US"/>
          </a:p>
        </p:txBody>
      </p:sp>
    </p:spTree>
    <p:extLst>
      <p:ext uri="{BB962C8B-B14F-4D97-AF65-F5344CB8AC3E}">
        <p14:creationId xmlns:p14="http://schemas.microsoft.com/office/powerpoint/2010/main" val="896736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D5349-ED1F-413C-AFFB-E712763338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3480413-0B66-423E-9362-4868BE55CA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42E36A-00A4-4F53-AA97-D813F10B509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2A55C15-8A19-4295-B8C4-F782F004EA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7559757-B879-442D-9173-4DEF38F7B7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82C15DA-44C8-4ED3-80FE-8FC2CAF8EF1A}"/>
              </a:ext>
            </a:extLst>
          </p:cNvPr>
          <p:cNvSpPr>
            <a:spLocks noGrp="1"/>
          </p:cNvSpPr>
          <p:nvPr>
            <p:ph type="dt" sz="half" idx="10"/>
          </p:nvPr>
        </p:nvSpPr>
        <p:spPr/>
        <p:txBody>
          <a:bodyPr/>
          <a:lstStyle/>
          <a:p>
            <a:fld id="{8F1EE37B-8374-4EBD-8E99-D65A34C434E5}" type="datetime1">
              <a:rPr lang="en-US" smtClean="0"/>
              <a:t>3/27/2025</a:t>
            </a:fld>
            <a:endParaRPr lang="en-US"/>
          </a:p>
        </p:txBody>
      </p:sp>
      <p:sp>
        <p:nvSpPr>
          <p:cNvPr id="8" name="Footer Placeholder 7">
            <a:extLst>
              <a:ext uri="{FF2B5EF4-FFF2-40B4-BE49-F238E27FC236}">
                <a16:creationId xmlns:a16="http://schemas.microsoft.com/office/drawing/2014/main" id="{FEE841B9-9240-4C9D-85FE-6335A7599DD5}"/>
              </a:ext>
            </a:extLst>
          </p:cNvPr>
          <p:cNvSpPr>
            <a:spLocks noGrp="1"/>
          </p:cNvSpPr>
          <p:nvPr>
            <p:ph type="ftr" sz="quarter" idx="11"/>
          </p:nvPr>
        </p:nvSpPr>
        <p:spPr/>
        <p:txBody>
          <a:bodyPr/>
          <a:lstStyle/>
          <a:p>
            <a:r>
              <a:rPr lang="en-US"/>
              <a:t>Background | Research Objectives | Preliminary Results | Future Work</a:t>
            </a:r>
          </a:p>
        </p:txBody>
      </p:sp>
      <p:sp>
        <p:nvSpPr>
          <p:cNvPr id="9" name="Slide Number Placeholder 8">
            <a:extLst>
              <a:ext uri="{FF2B5EF4-FFF2-40B4-BE49-F238E27FC236}">
                <a16:creationId xmlns:a16="http://schemas.microsoft.com/office/drawing/2014/main" id="{6411053B-2981-457D-A031-BDC28B73F44C}"/>
              </a:ext>
            </a:extLst>
          </p:cNvPr>
          <p:cNvSpPr>
            <a:spLocks noGrp="1"/>
          </p:cNvSpPr>
          <p:nvPr>
            <p:ph type="sldNum" sz="quarter" idx="12"/>
          </p:nvPr>
        </p:nvSpPr>
        <p:spPr/>
        <p:txBody>
          <a:bodyPr/>
          <a:lstStyle/>
          <a:p>
            <a:fld id="{B789AA32-48A6-4E3B-907A-585A7BC180FF}" type="slidenum">
              <a:rPr lang="en-US" smtClean="0"/>
              <a:t>‹#›</a:t>
            </a:fld>
            <a:endParaRPr lang="en-US"/>
          </a:p>
        </p:txBody>
      </p:sp>
    </p:spTree>
    <p:extLst>
      <p:ext uri="{BB962C8B-B14F-4D97-AF65-F5344CB8AC3E}">
        <p14:creationId xmlns:p14="http://schemas.microsoft.com/office/powerpoint/2010/main" val="3327414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1D4FC-4810-43CA-A3E8-ECE1C67D3A9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8B4C82-7674-4375-AB8C-76BA08974A81}"/>
              </a:ext>
            </a:extLst>
          </p:cNvPr>
          <p:cNvSpPr>
            <a:spLocks noGrp="1"/>
          </p:cNvSpPr>
          <p:nvPr>
            <p:ph type="dt" sz="half" idx="10"/>
          </p:nvPr>
        </p:nvSpPr>
        <p:spPr/>
        <p:txBody>
          <a:bodyPr/>
          <a:lstStyle/>
          <a:p>
            <a:fld id="{B98EA699-2B8A-416A-9BC0-A09D8459D01E}" type="datetime1">
              <a:rPr lang="en-US" smtClean="0"/>
              <a:t>3/27/2025</a:t>
            </a:fld>
            <a:endParaRPr lang="en-US"/>
          </a:p>
        </p:txBody>
      </p:sp>
      <p:sp>
        <p:nvSpPr>
          <p:cNvPr id="4" name="Footer Placeholder 3">
            <a:extLst>
              <a:ext uri="{FF2B5EF4-FFF2-40B4-BE49-F238E27FC236}">
                <a16:creationId xmlns:a16="http://schemas.microsoft.com/office/drawing/2014/main" id="{E33AE238-9184-4F78-8C91-95C4EB392FD1}"/>
              </a:ext>
            </a:extLst>
          </p:cNvPr>
          <p:cNvSpPr>
            <a:spLocks noGrp="1"/>
          </p:cNvSpPr>
          <p:nvPr>
            <p:ph type="ftr" sz="quarter" idx="11"/>
          </p:nvPr>
        </p:nvSpPr>
        <p:spPr/>
        <p:txBody>
          <a:bodyPr/>
          <a:lstStyle/>
          <a:p>
            <a:r>
              <a:rPr lang="en-US"/>
              <a:t>Background | Research Objectives | Preliminary Results | Future Work</a:t>
            </a:r>
          </a:p>
        </p:txBody>
      </p:sp>
      <p:sp>
        <p:nvSpPr>
          <p:cNvPr id="5" name="Slide Number Placeholder 4">
            <a:extLst>
              <a:ext uri="{FF2B5EF4-FFF2-40B4-BE49-F238E27FC236}">
                <a16:creationId xmlns:a16="http://schemas.microsoft.com/office/drawing/2014/main" id="{2D332382-B95E-4BC0-AE45-9360A91FC227}"/>
              </a:ext>
            </a:extLst>
          </p:cNvPr>
          <p:cNvSpPr>
            <a:spLocks noGrp="1"/>
          </p:cNvSpPr>
          <p:nvPr>
            <p:ph type="sldNum" sz="quarter" idx="12"/>
          </p:nvPr>
        </p:nvSpPr>
        <p:spPr/>
        <p:txBody>
          <a:bodyPr/>
          <a:lstStyle/>
          <a:p>
            <a:fld id="{B789AA32-48A6-4E3B-907A-585A7BC180FF}" type="slidenum">
              <a:rPr lang="en-US" smtClean="0"/>
              <a:t>‹#›</a:t>
            </a:fld>
            <a:endParaRPr lang="en-US"/>
          </a:p>
        </p:txBody>
      </p:sp>
    </p:spTree>
    <p:extLst>
      <p:ext uri="{BB962C8B-B14F-4D97-AF65-F5344CB8AC3E}">
        <p14:creationId xmlns:p14="http://schemas.microsoft.com/office/powerpoint/2010/main" val="13835394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5607FF-ADA3-41DB-A6E3-1A832A4DFD2F}"/>
              </a:ext>
            </a:extLst>
          </p:cNvPr>
          <p:cNvSpPr>
            <a:spLocks noGrp="1"/>
          </p:cNvSpPr>
          <p:nvPr>
            <p:ph type="dt" sz="half" idx="10"/>
          </p:nvPr>
        </p:nvSpPr>
        <p:spPr/>
        <p:txBody>
          <a:bodyPr/>
          <a:lstStyle/>
          <a:p>
            <a:fld id="{3E4762BE-D3A0-430E-B344-BF5ECB0D8697}" type="datetime1">
              <a:rPr lang="en-US" smtClean="0"/>
              <a:t>3/27/2025</a:t>
            </a:fld>
            <a:endParaRPr lang="en-US"/>
          </a:p>
        </p:txBody>
      </p:sp>
      <p:sp>
        <p:nvSpPr>
          <p:cNvPr id="3" name="Footer Placeholder 2">
            <a:extLst>
              <a:ext uri="{FF2B5EF4-FFF2-40B4-BE49-F238E27FC236}">
                <a16:creationId xmlns:a16="http://schemas.microsoft.com/office/drawing/2014/main" id="{9DDDAE89-5659-4746-8638-4BAC289F9F95}"/>
              </a:ext>
            </a:extLst>
          </p:cNvPr>
          <p:cNvSpPr>
            <a:spLocks noGrp="1"/>
          </p:cNvSpPr>
          <p:nvPr>
            <p:ph type="ftr" sz="quarter" idx="11"/>
          </p:nvPr>
        </p:nvSpPr>
        <p:spPr/>
        <p:txBody>
          <a:bodyPr/>
          <a:lstStyle/>
          <a:p>
            <a:r>
              <a:rPr lang="en-US"/>
              <a:t>Background | Research Objectives | Preliminary Results | Future Work</a:t>
            </a:r>
          </a:p>
        </p:txBody>
      </p:sp>
      <p:sp>
        <p:nvSpPr>
          <p:cNvPr id="4" name="Slide Number Placeholder 3">
            <a:extLst>
              <a:ext uri="{FF2B5EF4-FFF2-40B4-BE49-F238E27FC236}">
                <a16:creationId xmlns:a16="http://schemas.microsoft.com/office/drawing/2014/main" id="{32F3878A-2624-490C-9280-C75B5870A83E}"/>
              </a:ext>
            </a:extLst>
          </p:cNvPr>
          <p:cNvSpPr>
            <a:spLocks noGrp="1"/>
          </p:cNvSpPr>
          <p:nvPr>
            <p:ph type="sldNum" sz="quarter" idx="12"/>
          </p:nvPr>
        </p:nvSpPr>
        <p:spPr/>
        <p:txBody>
          <a:bodyPr/>
          <a:lstStyle/>
          <a:p>
            <a:fld id="{B789AA32-48A6-4E3B-907A-585A7BC180FF}" type="slidenum">
              <a:rPr lang="en-US" smtClean="0"/>
              <a:t>‹#›</a:t>
            </a:fld>
            <a:endParaRPr lang="en-US"/>
          </a:p>
        </p:txBody>
      </p:sp>
    </p:spTree>
    <p:extLst>
      <p:ext uri="{BB962C8B-B14F-4D97-AF65-F5344CB8AC3E}">
        <p14:creationId xmlns:p14="http://schemas.microsoft.com/office/powerpoint/2010/main" val="14288142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B903E-84C9-4588-9A81-3D172D03C1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6169F03-981B-4AF9-9317-A260E81DA6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D77DF7A-E298-4F86-9FB4-F7EB591B21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861EA5-C53E-4D1D-9DA6-6980C2C87CB5}"/>
              </a:ext>
            </a:extLst>
          </p:cNvPr>
          <p:cNvSpPr>
            <a:spLocks noGrp="1"/>
          </p:cNvSpPr>
          <p:nvPr>
            <p:ph type="dt" sz="half" idx="10"/>
          </p:nvPr>
        </p:nvSpPr>
        <p:spPr/>
        <p:txBody>
          <a:bodyPr/>
          <a:lstStyle/>
          <a:p>
            <a:fld id="{2093A361-81D5-4F8F-9205-3505AF9B6183}" type="datetime1">
              <a:rPr lang="en-US" smtClean="0"/>
              <a:t>3/27/2025</a:t>
            </a:fld>
            <a:endParaRPr lang="en-US"/>
          </a:p>
        </p:txBody>
      </p:sp>
      <p:sp>
        <p:nvSpPr>
          <p:cNvPr id="6" name="Footer Placeholder 5">
            <a:extLst>
              <a:ext uri="{FF2B5EF4-FFF2-40B4-BE49-F238E27FC236}">
                <a16:creationId xmlns:a16="http://schemas.microsoft.com/office/drawing/2014/main" id="{2784D73E-4725-439B-81D9-6CC6D35F57E1}"/>
              </a:ext>
            </a:extLst>
          </p:cNvPr>
          <p:cNvSpPr>
            <a:spLocks noGrp="1"/>
          </p:cNvSpPr>
          <p:nvPr>
            <p:ph type="ftr" sz="quarter" idx="11"/>
          </p:nvPr>
        </p:nvSpPr>
        <p:spPr/>
        <p:txBody>
          <a:bodyPr/>
          <a:lstStyle/>
          <a:p>
            <a:r>
              <a:rPr lang="en-US"/>
              <a:t>Background | Research Objectives | Preliminary Results | Future Work</a:t>
            </a:r>
          </a:p>
        </p:txBody>
      </p:sp>
      <p:sp>
        <p:nvSpPr>
          <p:cNvPr id="7" name="Slide Number Placeholder 6">
            <a:extLst>
              <a:ext uri="{FF2B5EF4-FFF2-40B4-BE49-F238E27FC236}">
                <a16:creationId xmlns:a16="http://schemas.microsoft.com/office/drawing/2014/main" id="{F9253C6C-198D-4D8A-BDFE-4ABE760427E0}"/>
              </a:ext>
            </a:extLst>
          </p:cNvPr>
          <p:cNvSpPr>
            <a:spLocks noGrp="1"/>
          </p:cNvSpPr>
          <p:nvPr>
            <p:ph type="sldNum" sz="quarter" idx="12"/>
          </p:nvPr>
        </p:nvSpPr>
        <p:spPr/>
        <p:txBody>
          <a:bodyPr/>
          <a:lstStyle/>
          <a:p>
            <a:fld id="{B789AA32-48A6-4E3B-907A-585A7BC180FF}" type="slidenum">
              <a:rPr lang="en-US" smtClean="0"/>
              <a:t>‹#›</a:t>
            </a:fld>
            <a:endParaRPr lang="en-US"/>
          </a:p>
        </p:txBody>
      </p:sp>
    </p:spTree>
    <p:extLst>
      <p:ext uri="{BB962C8B-B14F-4D97-AF65-F5344CB8AC3E}">
        <p14:creationId xmlns:p14="http://schemas.microsoft.com/office/powerpoint/2010/main" val="1589503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2864E-0BE5-4A67-AFEE-C7CBB4C102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FB15005-2D12-47F5-A223-B54CFD61ED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5B8A30-37ED-4265-90FA-050BCF0B0B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2430DB-3B48-48B2-BB27-BA118F93CA8A}"/>
              </a:ext>
            </a:extLst>
          </p:cNvPr>
          <p:cNvSpPr>
            <a:spLocks noGrp="1"/>
          </p:cNvSpPr>
          <p:nvPr>
            <p:ph type="dt" sz="half" idx="10"/>
          </p:nvPr>
        </p:nvSpPr>
        <p:spPr/>
        <p:txBody>
          <a:bodyPr/>
          <a:lstStyle/>
          <a:p>
            <a:fld id="{093778AC-498F-4EA6-B83A-E0329440060F}" type="datetime1">
              <a:rPr lang="en-US" smtClean="0"/>
              <a:t>3/27/2025</a:t>
            </a:fld>
            <a:endParaRPr lang="en-US"/>
          </a:p>
        </p:txBody>
      </p:sp>
      <p:sp>
        <p:nvSpPr>
          <p:cNvPr id="6" name="Footer Placeholder 5">
            <a:extLst>
              <a:ext uri="{FF2B5EF4-FFF2-40B4-BE49-F238E27FC236}">
                <a16:creationId xmlns:a16="http://schemas.microsoft.com/office/drawing/2014/main" id="{18D17D31-1E45-49A5-B67F-A49716BE2BF0}"/>
              </a:ext>
            </a:extLst>
          </p:cNvPr>
          <p:cNvSpPr>
            <a:spLocks noGrp="1"/>
          </p:cNvSpPr>
          <p:nvPr>
            <p:ph type="ftr" sz="quarter" idx="11"/>
          </p:nvPr>
        </p:nvSpPr>
        <p:spPr/>
        <p:txBody>
          <a:bodyPr/>
          <a:lstStyle/>
          <a:p>
            <a:r>
              <a:rPr lang="en-US"/>
              <a:t>Background | Research Objectives | Preliminary Results | Future Work</a:t>
            </a:r>
          </a:p>
        </p:txBody>
      </p:sp>
      <p:sp>
        <p:nvSpPr>
          <p:cNvPr id="7" name="Slide Number Placeholder 6">
            <a:extLst>
              <a:ext uri="{FF2B5EF4-FFF2-40B4-BE49-F238E27FC236}">
                <a16:creationId xmlns:a16="http://schemas.microsoft.com/office/drawing/2014/main" id="{FFFF03FA-D66B-416A-B875-B118A44DC109}"/>
              </a:ext>
            </a:extLst>
          </p:cNvPr>
          <p:cNvSpPr>
            <a:spLocks noGrp="1"/>
          </p:cNvSpPr>
          <p:nvPr>
            <p:ph type="sldNum" sz="quarter" idx="12"/>
          </p:nvPr>
        </p:nvSpPr>
        <p:spPr/>
        <p:txBody>
          <a:bodyPr/>
          <a:lstStyle/>
          <a:p>
            <a:fld id="{B789AA32-48A6-4E3B-907A-585A7BC180FF}" type="slidenum">
              <a:rPr lang="en-US" smtClean="0"/>
              <a:t>‹#›</a:t>
            </a:fld>
            <a:endParaRPr lang="en-US"/>
          </a:p>
        </p:txBody>
      </p:sp>
    </p:spTree>
    <p:extLst>
      <p:ext uri="{BB962C8B-B14F-4D97-AF65-F5344CB8AC3E}">
        <p14:creationId xmlns:p14="http://schemas.microsoft.com/office/powerpoint/2010/main" val="1123823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FE3B5-EBAB-41C8-95E5-42B502EFBBF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B761160-4D0A-450A-AEAC-873B253832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DC1F5F-3B4A-4E5A-95CE-F2593C676C3C}"/>
              </a:ext>
            </a:extLst>
          </p:cNvPr>
          <p:cNvSpPr>
            <a:spLocks noGrp="1"/>
          </p:cNvSpPr>
          <p:nvPr>
            <p:ph type="dt" sz="half" idx="10"/>
          </p:nvPr>
        </p:nvSpPr>
        <p:spPr/>
        <p:txBody>
          <a:bodyPr/>
          <a:lstStyle/>
          <a:p>
            <a:fld id="{753E8221-79A7-4CE4-ADDD-425DA8282893}" type="datetime1">
              <a:rPr lang="en-US" smtClean="0"/>
              <a:t>3/27/2025</a:t>
            </a:fld>
            <a:endParaRPr lang="en-US"/>
          </a:p>
        </p:txBody>
      </p:sp>
      <p:sp>
        <p:nvSpPr>
          <p:cNvPr id="5" name="Footer Placeholder 4">
            <a:extLst>
              <a:ext uri="{FF2B5EF4-FFF2-40B4-BE49-F238E27FC236}">
                <a16:creationId xmlns:a16="http://schemas.microsoft.com/office/drawing/2014/main" id="{8E5F900B-8C90-4189-AD87-D568CFDE6EE2}"/>
              </a:ext>
            </a:extLst>
          </p:cNvPr>
          <p:cNvSpPr>
            <a:spLocks noGrp="1"/>
          </p:cNvSpPr>
          <p:nvPr>
            <p:ph type="ftr" sz="quarter" idx="11"/>
          </p:nvPr>
        </p:nvSpPr>
        <p:spPr/>
        <p:txBody>
          <a:bodyPr/>
          <a:lstStyle/>
          <a:p>
            <a:r>
              <a:rPr lang="en-US"/>
              <a:t>Background | Research Objectives | Preliminary Results | Future Work</a:t>
            </a:r>
          </a:p>
        </p:txBody>
      </p:sp>
      <p:sp>
        <p:nvSpPr>
          <p:cNvPr id="6" name="Slide Number Placeholder 5">
            <a:extLst>
              <a:ext uri="{FF2B5EF4-FFF2-40B4-BE49-F238E27FC236}">
                <a16:creationId xmlns:a16="http://schemas.microsoft.com/office/drawing/2014/main" id="{840E610F-7D80-449F-9593-68E38A86D818}"/>
              </a:ext>
            </a:extLst>
          </p:cNvPr>
          <p:cNvSpPr>
            <a:spLocks noGrp="1"/>
          </p:cNvSpPr>
          <p:nvPr>
            <p:ph type="sldNum" sz="quarter" idx="12"/>
          </p:nvPr>
        </p:nvSpPr>
        <p:spPr/>
        <p:txBody>
          <a:bodyPr/>
          <a:lstStyle/>
          <a:p>
            <a:fld id="{B789AA32-48A6-4E3B-907A-585A7BC180FF}" type="slidenum">
              <a:rPr lang="en-US" smtClean="0"/>
              <a:t>‹#›</a:t>
            </a:fld>
            <a:endParaRPr lang="en-US"/>
          </a:p>
        </p:txBody>
      </p:sp>
    </p:spTree>
    <p:extLst>
      <p:ext uri="{BB962C8B-B14F-4D97-AF65-F5344CB8AC3E}">
        <p14:creationId xmlns:p14="http://schemas.microsoft.com/office/powerpoint/2010/main" val="92069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ABA965-3EB1-426A-ACD9-867C49744F7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2A579F2-D994-495B-9DF9-B307718546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E13096-1CF1-4CC3-BE96-655DBB5DC801}"/>
              </a:ext>
            </a:extLst>
          </p:cNvPr>
          <p:cNvSpPr>
            <a:spLocks noGrp="1"/>
          </p:cNvSpPr>
          <p:nvPr>
            <p:ph type="dt" sz="half" idx="10"/>
          </p:nvPr>
        </p:nvSpPr>
        <p:spPr/>
        <p:txBody>
          <a:bodyPr/>
          <a:lstStyle/>
          <a:p>
            <a:fld id="{E3D62B7C-5ED1-4C75-B407-BEDAA600FF9B}" type="datetime1">
              <a:rPr lang="en-US" smtClean="0"/>
              <a:t>3/27/2025</a:t>
            </a:fld>
            <a:endParaRPr lang="en-US"/>
          </a:p>
        </p:txBody>
      </p:sp>
      <p:sp>
        <p:nvSpPr>
          <p:cNvPr id="5" name="Footer Placeholder 4">
            <a:extLst>
              <a:ext uri="{FF2B5EF4-FFF2-40B4-BE49-F238E27FC236}">
                <a16:creationId xmlns:a16="http://schemas.microsoft.com/office/drawing/2014/main" id="{8D67A3E6-6FC7-4806-8EB1-581D8EA60CAA}"/>
              </a:ext>
            </a:extLst>
          </p:cNvPr>
          <p:cNvSpPr>
            <a:spLocks noGrp="1"/>
          </p:cNvSpPr>
          <p:nvPr>
            <p:ph type="ftr" sz="quarter" idx="11"/>
          </p:nvPr>
        </p:nvSpPr>
        <p:spPr/>
        <p:txBody>
          <a:bodyPr/>
          <a:lstStyle/>
          <a:p>
            <a:r>
              <a:rPr lang="en-US"/>
              <a:t>Background | Research Objectives | Preliminary Results | Future Work</a:t>
            </a:r>
          </a:p>
        </p:txBody>
      </p:sp>
      <p:sp>
        <p:nvSpPr>
          <p:cNvPr id="6" name="Slide Number Placeholder 5">
            <a:extLst>
              <a:ext uri="{FF2B5EF4-FFF2-40B4-BE49-F238E27FC236}">
                <a16:creationId xmlns:a16="http://schemas.microsoft.com/office/drawing/2014/main" id="{72B73D38-77AD-4D0F-8BD8-1819086CA34B}"/>
              </a:ext>
            </a:extLst>
          </p:cNvPr>
          <p:cNvSpPr>
            <a:spLocks noGrp="1"/>
          </p:cNvSpPr>
          <p:nvPr>
            <p:ph type="sldNum" sz="quarter" idx="12"/>
          </p:nvPr>
        </p:nvSpPr>
        <p:spPr/>
        <p:txBody>
          <a:bodyPr/>
          <a:lstStyle/>
          <a:p>
            <a:fld id="{B789AA32-48A6-4E3B-907A-585A7BC180FF}" type="slidenum">
              <a:rPr lang="en-US" smtClean="0"/>
              <a:t>‹#›</a:t>
            </a:fld>
            <a:endParaRPr lang="en-US"/>
          </a:p>
        </p:txBody>
      </p:sp>
    </p:spTree>
    <p:extLst>
      <p:ext uri="{BB962C8B-B14F-4D97-AF65-F5344CB8AC3E}">
        <p14:creationId xmlns:p14="http://schemas.microsoft.com/office/powerpoint/2010/main" val="3707474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2DF924-4E5C-450E-ADF0-3669051BDD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CCB9E9-B4AE-494F-8748-C7E58EA28B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BA6BB-BC99-4875-A01C-3E62743D57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E9D0E1-EB42-4819-B5CB-E90382D18A4F}" type="datetime1">
              <a:rPr lang="en-US" smtClean="0"/>
              <a:t>3/27/2025</a:t>
            </a:fld>
            <a:endParaRPr lang="en-US"/>
          </a:p>
        </p:txBody>
      </p:sp>
      <p:sp>
        <p:nvSpPr>
          <p:cNvPr id="5" name="Footer Placeholder 4">
            <a:extLst>
              <a:ext uri="{FF2B5EF4-FFF2-40B4-BE49-F238E27FC236}">
                <a16:creationId xmlns:a16="http://schemas.microsoft.com/office/drawing/2014/main" id="{725A307B-1EA0-4787-ADD1-80D44AF312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Background | Research Objectives | Preliminary Results | Future Work</a:t>
            </a:r>
          </a:p>
        </p:txBody>
      </p:sp>
      <p:sp>
        <p:nvSpPr>
          <p:cNvPr id="6" name="Slide Number Placeholder 5">
            <a:extLst>
              <a:ext uri="{FF2B5EF4-FFF2-40B4-BE49-F238E27FC236}">
                <a16:creationId xmlns:a16="http://schemas.microsoft.com/office/drawing/2014/main" id="{4A39D563-B43D-4183-B24F-0F7FDBAC23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89AA32-48A6-4E3B-907A-585A7BC180FF}" type="slidenum">
              <a:rPr lang="en-US" smtClean="0"/>
              <a:t>‹#›</a:t>
            </a:fld>
            <a:endParaRPr lang="en-US"/>
          </a:p>
        </p:txBody>
      </p:sp>
    </p:spTree>
    <p:extLst>
      <p:ext uri="{BB962C8B-B14F-4D97-AF65-F5344CB8AC3E}">
        <p14:creationId xmlns:p14="http://schemas.microsoft.com/office/powerpoint/2010/main" val="2686069261"/>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B9B724F1-7F43-5DC3-2F87-41D267CF3E9F}"/>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8AAD91F9-1AC7-9340-930B-C01B6F76E71A}"/>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Slide Number Placeholder 3">
            <a:extLst>
              <a:ext uri="{FF2B5EF4-FFF2-40B4-BE49-F238E27FC236}">
                <a16:creationId xmlns:a16="http://schemas.microsoft.com/office/drawing/2014/main" id="{3432EBA1-6D94-8FD1-B945-F05B3ADF7A94}"/>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1</a:t>
            </a:fld>
            <a:endParaRPr lang="en-US" sz="1600" dirty="0">
              <a:solidFill>
                <a:schemeClr val="tx1"/>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A3BCC7A3-B685-7C94-4342-E5A2F044D901}"/>
              </a:ext>
            </a:extLst>
          </p:cNvPr>
          <p:cNvSpPr txBox="1"/>
          <p:nvPr/>
        </p:nvSpPr>
        <p:spPr>
          <a:xfrm>
            <a:off x="1255589" y="2188251"/>
            <a:ext cx="9680822" cy="1200329"/>
          </a:xfrm>
          <a:prstGeom prst="rect">
            <a:avLst/>
          </a:prstGeom>
          <a:noFill/>
        </p:spPr>
        <p:txBody>
          <a:bodyPr wrap="square" rtlCol="0">
            <a:spAutoFit/>
          </a:bodyPr>
          <a:lstStyle/>
          <a:p>
            <a:pPr algn="ctr"/>
            <a:r>
              <a:rPr lang="en-US" sz="3600" dirty="0">
                <a:latin typeface="Arial" panose="020B0604020202020204" pitchFamily="34" charset="0"/>
                <a:cs typeface="Arial" panose="020B0604020202020204" pitchFamily="34" charset="0"/>
              </a:rPr>
              <a:t>Diafiltration Experiments Elucidate Multi-body Interactions in Complex Feed Streams</a:t>
            </a:r>
          </a:p>
        </p:txBody>
      </p:sp>
      <p:sp>
        <p:nvSpPr>
          <p:cNvPr id="180" name="Rectangle 179">
            <a:extLst>
              <a:ext uri="{FF2B5EF4-FFF2-40B4-BE49-F238E27FC236}">
                <a16:creationId xmlns:a16="http://schemas.microsoft.com/office/drawing/2014/main" id="{36810316-3F7C-6008-3659-2D662D36A0E6}"/>
              </a:ext>
            </a:extLst>
          </p:cNvPr>
          <p:cNvSpPr/>
          <p:nvPr/>
        </p:nvSpPr>
        <p:spPr>
          <a:xfrm>
            <a:off x="3805767" y="3552996"/>
            <a:ext cx="4580467"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B6BC9999-31E1-6A2D-961E-596E955F9EEB}"/>
              </a:ext>
            </a:extLst>
          </p:cNvPr>
          <p:cNvSpPr txBox="1"/>
          <p:nvPr/>
        </p:nvSpPr>
        <p:spPr>
          <a:xfrm>
            <a:off x="2104485" y="3763131"/>
            <a:ext cx="7983030" cy="461665"/>
          </a:xfrm>
          <a:prstGeom prst="rect">
            <a:avLst/>
          </a:prstGeom>
          <a:noFill/>
        </p:spPr>
        <p:txBody>
          <a:bodyPr wrap="square">
            <a:spAutoFit/>
          </a:bodyPr>
          <a:lstStyle/>
          <a:p>
            <a:pPr algn="ctr"/>
            <a:r>
              <a:rPr lang="en-US" sz="2400" b="0" i="0" dirty="0">
                <a:effectLst/>
                <a:latin typeface="Arial" panose="020B0604020202020204" pitchFamily="34" charset="0"/>
                <a:cs typeface="Arial" panose="020B0604020202020204" pitchFamily="34" charset="0"/>
              </a:rPr>
              <a:t>Target Journal: Nature – Chemical Engineering, Science</a:t>
            </a:r>
          </a:p>
        </p:txBody>
      </p:sp>
      <p:sp>
        <p:nvSpPr>
          <p:cNvPr id="4" name="TextBox 3">
            <a:extLst>
              <a:ext uri="{FF2B5EF4-FFF2-40B4-BE49-F238E27FC236}">
                <a16:creationId xmlns:a16="http://schemas.microsoft.com/office/drawing/2014/main" id="{039B55B2-7974-F29B-3EFD-A4B171504FFF}"/>
              </a:ext>
            </a:extLst>
          </p:cNvPr>
          <p:cNvSpPr txBox="1"/>
          <p:nvPr/>
        </p:nvSpPr>
        <p:spPr>
          <a:xfrm>
            <a:off x="3048681" y="4598075"/>
            <a:ext cx="6094638" cy="461665"/>
          </a:xfrm>
          <a:prstGeom prst="rect">
            <a:avLst/>
          </a:prstGeom>
          <a:noFill/>
        </p:spPr>
        <p:txBody>
          <a:bodyPr wrap="square">
            <a:spAutoFit/>
          </a:bodyPr>
          <a:lstStyle/>
          <a:p>
            <a:pPr algn="ctr"/>
            <a:r>
              <a:rPr lang="en-US" sz="2400" b="0" i="0" dirty="0">
                <a:effectLst/>
                <a:latin typeface="Arial" panose="020B0604020202020204" pitchFamily="34" charset="0"/>
                <a:cs typeface="Arial" panose="020B0604020202020204" pitchFamily="34" charset="0"/>
              </a:rPr>
              <a:t>Experimental Results - 7/1/2024</a:t>
            </a:r>
          </a:p>
        </p:txBody>
      </p:sp>
    </p:spTree>
    <p:extLst>
      <p:ext uri="{BB962C8B-B14F-4D97-AF65-F5344CB8AC3E}">
        <p14:creationId xmlns:p14="http://schemas.microsoft.com/office/powerpoint/2010/main" val="41814711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4D5B5-3180-1B1F-7697-F3870CC3823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5CCBB67-761D-7467-2DA8-89A84674C580}"/>
              </a:ext>
            </a:extLst>
          </p:cNvPr>
          <p:cNvSpPr txBox="1"/>
          <p:nvPr/>
        </p:nvSpPr>
        <p:spPr>
          <a:xfrm>
            <a:off x="3048681" y="207219"/>
            <a:ext cx="6094638" cy="461665"/>
          </a:xfrm>
          <a:prstGeom prst="rect">
            <a:avLst/>
          </a:prstGeom>
          <a:noFill/>
        </p:spPr>
        <p:txBody>
          <a:bodyPr wrap="square">
            <a:spAutoFit/>
          </a:bodyPr>
          <a:lstStyle/>
          <a:p>
            <a:pPr algn="ctr"/>
            <a:r>
              <a:rPr lang="en-US" sz="2400" b="0" i="0" dirty="0">
                <a:effectLst/>
                <a:latin typeface="Arial" panose="020B0604020202020204" pitchFamily="34" charset="0"/>
                <a:cs typeface="Arial" panose="020B0604020202020204" pitchFamily="34" charset="0"/>
              </a:rPr>
              <a:t>Overarching Questions/Goals for Today</a:t>
            </a:r>
          </a:p>
        </p:txBody>
      </p:sp>
      <p:sp>
        <p:nvSpPr>
          <p:cNvPr id="4" name="TextBox 3">
            <a:extLst>
              <a:ext uri="{FF2B5EF4-FFF2-40B4-BE49-F238E27FC236}">
                <a16:creationId xmlns:a16="http://schemas.microsoft.com/office/drawing/2014/main" id="{6E8F7442-1165-80F2-09DB-19345482E877}"/>
              </a:ext>
            </a:extLst>
          </p:cNvPr>
          <p:cNvSpPr txBox="1"/>
          <p:nvPr/>
        </p:nvSpPr>
        <p:spPr>
          <a:xfrm>
            <a:off x="670151" y="1992476"/>
            <a:ext cx="10909687" cy="3477875"/>
          </a:xfrm>
          <a:prstGeom prst="rect">
            <a:avLst/>
          </a:prstGeom>
          <a:noFill/>
        </p:spPr>
        <p:txBody>
          <a:bodyPr wrap="square">
            <a:spAutoFit/>
          </a:bodyPr>
          <a:lstStyle/>
          <a:p>
            <a:pPr marL="457200" indent="-457200">
              <a:buAutoNum type="arabicPeriod"/>
            </a:pPr>
            <a:r>
              <a:rPr lang="en-US" sz="2000" b="0" i="0" dirty="0">
                <a:effectLst/>
                <a:latin typeface="Arial" panose="020B0604020202020204" pitchFamily="34" charset="0"/>
                <a:cs typeface="Arial" panose="020B0604020202020204" pitchFamily="34" charset="0"/>
              </a:rPr>
              <a:t>Running Experiments</a:t>
            </a:r>
          </a:p>
          <a:p>
            <a:pPr marL="914400" lvl="1" indent="-457200">
              <a:buFont typeface="Arial" panose="020B0604020202020204" pitchFamily="34" charset="0"/>
              <a:buChar char="•"/>
            </a:pPr>
            <a:r>
              <a:rPr lang="en-US" sz="2000" b="0" i="0" dirty="0">
                <a:effectLst/>
                <a:latin typeface="Arial" panose="020B0604020202020204" pitchFamily="34" charset="0"/>
                <a:cs typeface="Arial" panose="020B0604020202020204" pitchFamily="34" charset="0"/>
              </a:rPr>
              <a:t>What data is being collected throughout the course of these experiments? </a:t>
            </a:r>
          </a:p>
          <a:p>
            <a:pPr marL="457200" indent="-457200">
              <a:buAutoNum type="arabicPeriod"/>
            </a:pPr>
            <a:r>
              <a:rPr lang="en-US" sz="2000" dirty="0">
                <a:latin typeface="Arial" panose="020B0604020202020204" pitchFamily="34" charset="0"/>
                <a:cs typeface="Arial" panose="020B0604020202020204" pitchFamily="34" charset="0"/>
              </a:rPr>
              <a:t>Data Analysis</a:t>
            </a:r>
          </a:p>
          <a:p>
            <a:pPr marL="914400" lvl="1" indent="-457200">
              <a:buFont typeface="Arial" panose="020B0604020202020204" pitchFamily="34" charset="0"/>
              <a:buChar char="•"/>
            </a:pPr>
            <a:r>
              <a:rPr lang="en-US" sz="2000" dirty="0">
                <a:latin typeface="Arial" panose="020B0604020202020204" pitchFamily="34" charset="0"/>
                <a:cs typeface="Arial" panose="020B0604020202020204" pitchFamily="34" charset="0"/>
              </a:rPr>
              <a:t>How is this data analyzed to constrain the conductivity readings and monitor the concentration of ions in the feed and permeate? </a:t>
            </a:r>
            <a:endParaRPr lang="en-US" sz="2000" b="0" i="0" dirty="0">
              <a:effectLst/>
              <a:latin typeface="Arial" panose="020B0604020202020204" pitchFamily="34" charset="0"/>
              <a:cs typeface="Arial" panose="020B0604020202020204" pitchFamily="34" charset="0"/>
            </a:endParaRPr>
          </a:p>
          <a:p>
            <a:pPr marL="457200" indent="-457200">
              <a:buAutoNum type="arabicPeriod"/>
            </a:pPr>
            <a:r>
              <a:rPr lang="en-US" sz="2000" dirty="0">
                <a:latin typeface="Arial" panose="020B0604020202020204" pitchFamily="34" charset="0"/>
                <a:cs typeface="Arial" panose="020B0604020202020204" pitchFamily="34" charset="0"/>
              </a:rPr>
              <a:t>Visualizing the Data/Next Steps</a:t>
            </a:r>
          </a:p>
          <a:p>
            <a:pPr marL="914400" lvl="1" indent="-457200">
              <a:buFont typeface="Arial" panose="020B0604020202020204" pitchFamily="34" charset="0"/>
              <a:buChar char="•"/>
            </a:pPr>
            <a:r>
              <a:rPr lang="en-US" sz="2000" dirty="0">
                <a:latin typeface="Arial" panose="020B0604020202020204" pitchFamily="34" charset="0"/>
                <a:cs typeface="Arial" panose="020B0604020202020204" pitchFamily="34" charset="0"/>
              </a:rPr>
              <a:t>The current equations we have are insufficient in describing ion transport. How will these equations be modified? </a:t>
            </a:r>
          </a:p>
          <a:p>
            <a:pPr marL="914400" lvl="1" indent="-457200">
              <a:buFont typeface="Arial" panose="020B0604020202020204" pitchFamily="34" charset="0"/>
              <a:buChar char="•"/>
            </a:pPr>
            <a:endParaRPr lang="en-US" sz="2000" b="0" i="0" dirty="0">
              <a:effectLst/>
              <a:latin typeface="Arial" panose="020B0604020202020204" pitchFamily="34" charset="0"/>
              <a:cs typeface="Arial" panose="020B0604020202020204" pitchFamily="34" charset="0"/>
            </a:endParaRPr>
          </a:p>
          <a:p>
            <a:pPr marL="0" lvl="1"/>
            <a:r>
              <a:rPr lang="en-US" sz="2000" dirty="0">
                <a:latin typeface="Arial" panose="020B0604020202020204" pitchFamily="34" charset="0"/>
                <a:cs typeface="Arial" panose="020B0604020202020204" pitchFamily="34" charset="0"/>
              </a:rPr>
              <a:t>Experiments will focus on Na</a:t>
            </a:r>
            <a:r>
              <a:rPr lang="en-US" sz="2000" baseline="30000" dirty="0">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 | Ca</a:t>
            </a:r>
            <a:r>
              <a:rPr lang="en-US" sz="2000" baseline="30000" dirty="0">
                <a:latin typeface="Arial" panose="020B0604020202020204" pitchFamily="34" charset="0"/>
                <a:cs typeface="Arial" panose="020B0604020202020204" pitchFamily="34" charset="0"/>
              </a:rPr>
              <a:t>2+ </a:t>
            </a:r>
            <a:r>
              <a:rPr lang="en-US" sz="2000" dirty="0">
                <a:latin typeface="Arial" panose="020B0604020202020204" pitchFamily="34" charset="0"/>
                <a:cs typeface="Arial" panose="020B0604020202020204" pitchFamily="34" charset="0"/>
              </a:rPr>
              <a:t>| La</a:t>
            </a:r>
            <a:r>
              <a:rPr lang="en-US" sz="2000" baseline="30000" dirty="0">
                <a:latin typeface="Arial" panose="020B0604020202020204" pitchFamily="34" charset="0"/>
                <a:cs typeface="Arial" panose="020B0604020202020204" pitchFamily="34" charset="0"/>
              </a:rPr>
              <a:t>3+ </a:t>
            </a:r>
            <a:r>
              <a:rPr lang="en-US" sz="2000" dirty="0">
                <a:latin typeface="Arial" panose="020B0604020202020204" pitchFamily="34" charset="0"/>
                <a:cs typeface="Arial" panose="020B0604020202020204" pitchFamily="34" charset="0"/>
              </a:rPr>
              <a:t>separations due to there importance in refining ores and recycling electronics. </a:t>
            </a:r>
            <a:endParaRPr lang="en-US" sz="2000" b="0" i="0" dirty="0">
              <a:effectLst/>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1BE373E0-1529-1727-23A1-663BA09FBED9}"/>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D830450-952B-A30C-4F41-6C6B637421F2}"/>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Slide Number Placeholder 3">
            <a:extLst>
              <a:ext uri="{FF2B5EF4-FFF2-40B4-BE49-F238E27FC236}">
                <a16:creationId xmlns:a16="http://schemas.microsoft.com/office/drawing/2014/main" id="{94EACC90-F41C-49B4-4A11-6365CBB90133}"/>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2</a:t>
            </a:fld>
            <a:endParaRPr lang="en-US" sz="1600" dirty="0">
              <a:solidFill>
                <a:schemeClr val="tx1"/>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6BAA85C3-E0BF-BEEB-DFE9-69D26765C7BC}"/>
              </a:ext>
            </a:extLst>
          </p:cNvPr>
          <p:cNvSpPr txBox="1"/>
          <p:nvPr/>
        </p:nvSpPr>
        <p:spPr>
          <a:xfrm>
            <a:off x="51643" y="6408182"/>
            <a:ext cx="5828812" cy="276999"/>
          </a:xfrm>
          <a:prstGeom prst="rect">
            <a:avLst/>
          </a:prstGeom>
          <a:noFill/>
        </p:spPr>
        <p:txBody>
          <a:bodyPr wrap="square">
            <a:spAutoFit/>
          </a:bodyPr>
          <a:lstStyle/>
          <a:p>
            <a:r>
              <a:rPr lang="en-US" sz="1200" b="0" i="0" dirty="0">
                <a:effectLst/>
                <a:latin typeface="Arial" panose="020B0604020202020204" pitchFamily="34" charset="0"/>
                <a:cs typeface="Arial" panose="020B0604020202020204" pitchFamily="34" charset="0"/>
              </a:rPr>
              <a:t>Running Experiments | Data Analysis | Visualizing Data and Next Steps </a:t>
            </a:r>
          </a:p>
        </p:txBody>
      </p:sp>
    </p:spTree>
    <p:extLst>
      <p:ext uri="{BB962C8B-B14F-4D97-AF65-F5344CB8AC3E}">
        <p14:creationId xmlns:p14="http://schemas.microsoft.com/office/powerpoint/2010/main" val="3726378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4D5B5-3180-1B1F-7697-F3870CC3823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5CCBB67-761D-7467-2DA8-89A84674C580}"/>
              </a:ext>
            </a:extLst>
          </p:cNvPr>
          <p:cNvSpPr txBox="1"/>
          <p:nvPr/>
        </p:nvSpPr>
        <p:spPr>
          <a:xfrm>
            <a:off x="0" y="192140"/>
            <a:ext cx="12192000" cy="461665"/>
          </a:xfrm>
          <a:prstGeom prst="rect">
            <a:avLst/>
          </a:prstGeom>
          <a:noFill/>
        </p:spPr>
        <p:txBody>
          <a:bodyPr wrap="square">
            <a:spAutoFit/>
          </a:bodyPr>
          <a:lstStyle/>
          <a:p>
            <a:pPr algn="ctr"/>
            <a:r>
              <a:rPr lang="en-US" sz="2400" b="0" i="0" dirty="0">
                <a:effectLst/>
                <a:latin typeface="Arial" panose="020B0604020202020204" pitchFamily="34" charset="0"/>
                <a:cs typeface="Arial" panose="020B0604020202020204" pitchFamily="34" charset="0"/>
              </a:rPr>
              <a:t>Diafiltration Experiments are Run in a Modified </a:t>
            </a:r>
            <a:r>
              <a:rPr lang="en-US" sz="2400" dirty="0">
                <a:latin typeface="Arial" panose="020B0604020202020204" pitchFamily="34" charset="0"/>
                <a:cs typeface="Arial" panose="020B0604020202020204" pitchFamily="34" charset="0"/>
              </a:rPr>
              <a:t>S</a:t>
            </a:r>
            <a:r>
              <a:rPr lang="en-US" sz="2400" b="0" i="0" dirty="0">
                <a:effectLst/>
                <a:latin typeface="Arial" panose="020B0604020202020204" pitchFamily="34" charset="0"/>
                <a:cs typeface="Arial" panose="020B0604020202020204" pitchFamily="34" charset="0"/>
              </a:rPr>
              <a:t>tirred Cell </a:t>
            </a:r>
            <a:r>
              <a:rPr lang="en-US" sz="2400" dirty="0">
                <a:latin typeface="Arial" panose="020B0604020202020204" pitchFamily="34" charset="0"/>
                <a:cs typeface="Arial" panose="020B0604020202020204" pitchFamily="34" charset="0"/>
              </a:rPr>
              <a:t>A</a:t>
            </a:r>
            <a:r>
              <a:rPr lang="en-US" sz="2400" b="0" i="0" dirty="0">
                <a:effectLst/>
                <a:latin typeface="Arial" panose="020B0604020202020204" pitchFamily="34" charset="0"/>
                <a:cs typeface="Arial" panose="020B0604020202020204" pitchFamily="34" charset="0"/>
              </a:rPr>
              <a:t>pparatus. </a:t>
            </a:r>
          </a:p>
        </p:txBody>
      </p:sp>
      <p:sp>
        <p:nvSpPr>
          <p:cNvPr id="15" name="Rectangle 14">
            <a:extLst>
              <a:ext uri="{FF2B5EF4-FFF2-40B4-BE49-F238E27FC236}">
                <a16:creationId xmlns:a16="http://schemas.microsoft.com/office/drawing/2014/main" id="{1BE373E0-1529-1727-23A1-663BA09FBED9}"/>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D830450-952B-A30C-4F41-6C6B637421F2}"/>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Slide Number Placeholder 3">
            <a:extLst>
              <a:ext uri="{FF2B5EF4-FFF2-40B4-BE49-F238E27FC236}">
                <a16:creationId xmlns:a16="http://schemas.microsoft.com/office/drawing/2014/main" id="{94EACC90-F41C-49B4-4A11-6365CBB90133}"/>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3</a:t>
            </a:fld>
            <a:endParaRPr lang="en-US" sz="1600" dirty="0">
              <a:solidFill>
                <a:schemeClr val="tx1"/>
              </a:solidFill>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D9D24617-508C-4D21-35A3-00458C9E81B0}"/>
              </a:ext>
            </a:extLst>
          </p:cNvPr>
          <p:cNvGrpSpPr/>
          <p:nvPr/>
        </p:nvGrpSpPr>
        <p:grpSpPr>
          <a:xfrm>
            <a:off x="544650" y="1021140"/>
            <a:ext cx="11102699" cy="4192227"/>
            <a:chOff x="351046" y="691993"/>
            <a:chExt cx="11520630" cy="4350032"/>
          </a:xfrm>
        </p:grpSpPr>
        <p:pic>
          <p:nvPicPr>
            <p:cNvPr id="5" name="Picture 4" descr="A blueprint of a machine&#10;&#10;Description automatically generated">
              <a:extLst>
                <a:ext uri="{FF2B5EF4-FFF2-40B4-BE49-F238E27FC236}">
                  <a16:creationId xmlns:a16="http://schemas.microsoft.com/office/drawing/2014/main" id="{0DBA090F-07FD-DE90-EA6D-0CDBDE1619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54489" y="2610942"/>
              <a:ext cx="1614426" cy="2190915"/>
            </a:xfrm>
            <a:prstGeom prst="rect">
              <a:avLst/>
            </a:prstGeom>
          </p:spPr>
        </p:pic>
        <p:sp>
          <p:nvSpPr>
            <p:cNvPr id="6" name="Rectangle: Rounded Corners 5">
              <a:extLst>
                <a:ext uri="{FF2B5EF4-FFF2-40B4-BE49-F238E27FC236}">
                  <a16:creationId xmlns:a16="http://schemas.microsoft.com/office/drawing/2014/main" id="{2EB6093E-2793-5670-C4CB-1DD400EECC08}"/>
                </a:ext>
              </a:extLst>
            </p:cNvPr>
            <p:cNvSpPr/>
            <p:nvPr/>
          </p:nvSpPr>
          <p:spPr>
            <a:xfrm>
              <a:off x="6228264" y="2164920"/>
              <a:ext cx="90000" cy="1963531"/>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CC966856-465D-1740-800B-A4575BEAE650}"/>
                </a:ext>
              </a:extLst>
            </p:cNvPr>
            <p:cNvSpPr/>
            <p:nvPr/>
          </p:nvSpPr>
          <p:spPr>
            <a:xfrm>
              <a:off x="4196303" y="2878505"/>
              <a:ext cx="705532" cy="9000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70B72C63-10DD-F793-B058-7F4C0AB460FB}"/>
                </a:ext>
              </a:extLst>
            </p:cNvPr>
            <p:cNvSpPr/>
            <p:nvPr/>
          </p:nvSpPr>
          <p:spPr>
            <a:xfrm>
              <a:off x="4196303" y="1173490"/>
              <a:ext cx="90000" cy="179317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blue cylinder with towers&#10;&#10;Description automatically generated with medium confidence">
              <a:extLst>
                <a:ext uri="{FF2B5EF4-FFF2-40B4-BE49-F238E27FC236}">
                  <a16:creationId xmlns:a16="http://schemas.microsoft.com/office/drawing/2014/main" id="{CD3DBBC7-25FD-D878-FA01-992EE0709B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40739" y="1908960"/>
              <a:ext cx="2131187" cy="2896803"/>
            </a:xfrm>
            <a:prstGeom prst="rect">
              <a:avLst/>
            </a:prstGeom>
          </p:spPr>
        </p:pic>
        <p:sp>
          <p:nvSpPr>
            <p:cNvPr id="10" name="TextBox 9">
              <a:extLst>
                <a:ext uri="{FF2B5EF4-FFF2-40B4-BE49-F238E27FC236}">
                  <a16:creationId xmlns:a16="http://schemas.microsoft.com/office/drawing/2014/main" id="{70CA6E39-F7D8-3704-7952-57A7B9F2614B}"/>
                </a:ext>
              </a:extLst>
            </p:cNvPr>
            <p:cNvSpPr txBox="1"/>
            <p:nvPr/>
          </p:nvSpPr>
          <p:spPr>
            <a:xfrm>
              <a:off x="3875623" y="4557521"/>
              <a:ext cx="1198587" cy="338554"/>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Membrane</a:t>
              </a:r>
              <a:endParaRPr lang="en-US" sz="1600" baseline="300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BCE8FEF1-7C84-C366-697E-82ACC3C300FF}"/>
                </a:ext>
              </a:extLst>
            </p:cNvPr>
            <p:cNvSpPr txBox="1"/>
            <p:nvPr/>
          </p:nvSpPr>
          <p:spPr>
            <a:xfrm>
              <a:off x="3940016" y="3819550"/>
              <a:ext cx="1119409" cy="60678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Retentate Probe</a:t>
              </a:r>
              <a:endParaRPr lang="en-US" sz="1600" baseline="30000" dirty="0">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9CB30425-45C6-952C-DCC9-5D74F8D0622C}"/>
                </a:ext>
              </a:extLst>
            </p:cNvPr>
            <p:cNvSpPr/>
            <p:nvPr/>
          </p:nvSpPr>
          <p:spPr>
            <a:xfrm>
              <a:off x="5287300" y="4196163"/>
              <a:ext cx="671898" cy="45719"/>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CA897F2-942F-6409-492D-31AB23B57B19}"/>
                </a:ext>
              </a:extLst>
            </p:cNvPr>
            <p:cNvSpPr/>
            <p:nvPr/>
          </p:nvSpPr>
          <p:spPr>
            <a:xfrm>
              <a:off x="6068295" y="4393710"/>
              <a:ext cx="203743" cy="45719"/>
            </a:xfrm>
            <a:prstGeom prst="rect">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9C5F9D89-8CD2-661C-E9C0-75DA2E7126EE}"/>
                </a:ext>
              </a:extLst>
            </p:cNvPr>
            <p:cNvSpPr txBox="1"/>
            <p:nvPr/>
          </p:nvSpPr>
          <p:spPr>
            <a:xfrm>
              <a:off x="5822993" y="4703471"/>
              <a:ext cx="2040631" cy="338554"/>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Permeate Probe</a:t>
              </a:r>
              <a:endParaRPr lang="en-US" sz="1600" baseline="30000" dirty="0">
                <a:latin typeface="Arial" panose="020B0604020202020204"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720105AB-44B2-7666-B1F4-B4B67D647207}"/>
                </a:ext>
              </a:extLst>
            </p:cNvPr>
            <p:cNvCxnSpPr>
              <a:cxnSpLocks/>
            </p:cNvCxnSpPr>
            <p:nvPr/>
          </p:nvCxnSpPr>
          <p:spPr>
            <a:xfrm>
              <a:off x="6203914" y="4500246"/>
              <a:ext cx="549568" cy="162444"/>
            </a:xfrm>
            <a:prstGeom prst="line">
              <a:avLst/>
            </a:prstGeom>
            <a:ln w="12700">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pic>
          <p:nvPicPr>
            <p:cNvPr id="19" name="Picture 18" descr="A drawing of a machine&#10;&#10;Description automatically generated">
              <a:extLst>
                <a:ext uri="{FF2B5EF4-FFF2-40B4-BE49-F238E27FC236}">
                  <a16:creationId xmlns:a16="http://schemas.microsoft.com/office/drawing/2014/main" id="{E152B00D-21AF-0C3D-CD67-19512293893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25591" y="2514337"/>
              <a:ext cx="2697986" cy="2175340"/>
            </a:xfrm>
            <a:prstGeom prst="rect">
              <a:avLst/>
            </a:prstGeom>
          </p:spPr>
        </p:pic>
        <p:cxnSp>
          <p:nvCxnSpPr>
            <p:cNvPr id="20" name="Straight Connector 19">
              <a:extLst>
                <a:ext uri="{FF2B5EF4-FFF2-40B4-BE49-F238E27FC236}">
                  <a16:creationId xmlns:a16="http://schemas.microsoft.com/office/drawing/2014/main" id="{4539A00E-D228-1BAC-784F-3609659FC2F9}"/>
                </a:ext>
              </a:extLst>
            </p:cNvPr>
            <p:cNvCxnSpPr>
              <a:cxnSpLocks/>
            </p:cNvCxnSpPr>
            <p:nvPr/>
          </p:nvCxnSpPr>
          <p:spPr>
            <a:xfrm>
              <a:off x="9501238" y="3551928"/>
              <a:ext cx="842186" cy="169277"/>
            </a:xfrm>
            <a:prstGeom prst="line">
              <a:avLst/>
            </a:prstGeom>
            <a:ln w="12700">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8464BA3-91D7-7B5F-14E5-B256A7A96BB5}"/>
                </a:ext>
              </a:extLst>
            </p:cNvPr>
            <p:cNvSpPr txBox="1"/>
            <p:nvPr/>
          </p:nvSpPr>
          <p:spPr>
            <a:xfrm>
              <a:off x="10087001" y="2710146"/>
              <a:ext cx="1784675" cy="338554"/>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Scintillation Vials</a:t>
              </a:r>
              <a:endParaRPr lang="en-US" sz="1600" baseline="30000" dirty="0">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A43F4350-1AEA-F1B3-50B9-1365AA7C37A6}"/>
                </a:ext>
              </a:extLst>
            </p:cNvPr>
            <p:cNvSpPr txBox="1"/>
            <p:nvPr/>
          </p:nvSpPr>
          <p:spPr>
            <a:xfrm>
              <a:off x="10197511" y="3568617"/>
              <a:ext cx="1072317" cy="338554"/>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Motor</a:t>
              </a:r>
              <a:endParaRPr lang="en-US" sz="1600" baseline="30000" dirty="0">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BF138C4A-456E-B16C-FCB2-3B06288E3373}"/>
                </a:ext>
              </a:extLst>
            </p:cNvPr>
            <p:cNvSpPr txBox="1"/>
            <p:nvPr/>
          </p:nvSpPr>
          <p:spPr>
            <a:xfrm>
              <a:off x="7574835" y="4224433"/>
              <a:ext cx="2419024" cy="338554"/>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Balance</a:t>
              </a:r>
              <a:endParaRPr lang="en-US" sz="1600" baseline="30000" dirty="0">
                <a:latin typeface="Arial" panose="020B0604020202020204" pitchFamily="34" charset="0"/>
                <a:cs typeface="Arial" panose="020B0604020202020204" pitchFamily="34" charset="0"/>
              </a:endParaRPr>
            </a:p>
          </p:txBody>
        </p:sp>
        <p:cxnSp>
          <p:nvCxnSpPr>
            <p:cNvPr id="24" name="Straight Connector 23">
              <a:extLst>
                <a:ext uri="{FF2B5EF4-FFF2-40B4-BE49-F238E27FC236}">
                  <a16:creationId xmlns:a16="http://schemas.microsoft.com/office/drawing/2014/main" id="{46B0E490-E68B-18E5-9350-82BB6075F057}"/>
                </a:ext>
              </a:extLst>
            </p:cNvPr>
            <p:cNvCxnSpPr>
              <a:cxnSpLocks/>
            </p:cNvCxnSpPr>
            <p:nvPr/>
          </p:nvCxnSpPr>
          <p:spPr>
            <a:xfrm>
              <a:off x="9290017" y="2670620"/>
              <a:ext cx="833560" cy="174187"/>
            </a:xfrm>
            <a:prstGeom prst="line">
              <a:avLst/>
            </a:prstGeom>
            <a:ln w="12700">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2A175CC-B36E-6766-5049-70A8338E0845}"/>
                </a:ext>
              </a:extLst>
            </p:cNvPr>
            <p:cNvSpPr txBox="1"/>
            <p:nvPr/>
          </p:nvSpPr>
          <p:spPr>
            <a:xfrm>
              <a:off x="722393" y="1424391"/>
              <a:ext cx="1052202" cy="60678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Pressure Gauge</a:t>
              </a:r>
              <a:endParaRPr lang="en-US" sz="1600" baseline="30000" dirty="0">
                <a:latin typeface="Arial" panose="020B0604020202020204" pitchFamily="34" charset="0"/>
                <a:cs typeface="Arial" panose="020B0604020202020204" pitchFamily="34" charset="0"/>
              </a:endParaRPr>
            </a:p>
          </p:txBody>
        </p:sp>
        <p:sp>
          <p:nvSpPr>
            <p:cNvPr id="26" name="Rectangle 25">
              <a:extLst>
                <a:ext uri="{FF2B5EF4-FFF2-40B4-BE49-F238E27FC236}">
                  <a16:creationId xmlns:a16="http://schemas.microsoft.com/office/drawing/2014/main" id="{2E984A8F-C804-6FB0-9272-0C4494B53FCA}"/>
                </a:ext>
              </a:extLst>
            </p:cNvPr>
            <p:cNvSpPr/>
            <p:nvPr/>
          </p:nvSpPr>
          <p:spPr>
            <a:xfrm>
              <a:off x="2232898" y="3429001"/>
              <a:ext cx="1373917" cy="1084262"/>
            </a:xfrm>
            <a:prstGeom prst="rect">
              <a:avLst/>
            </a:prstGeom>
            <a:solidFill>
              <a:schemeClr val="accent1">
                <a:lumMod val="7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F1163ACC-F22C-780B-72AF-B5F12373F4E9}"/>
                </a:ext>
              </a:extLst>
            </p:cNvPr>
            <p:cNvSpPr/>
            <p:nvPr/>
          </p:nvSpPr>
          <p:spPr>
            <a:xfrm>
              <a:off x="3367372" y="1173491"/>
              <a:ext cx="90000" cy="82546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95764C87-CF03-DFDA-EF6E-6FD8E529FBD8}"/>
                </a:ext>
              </a:extLst>
            </p:cNvPr>
            <p:cNvSpPr/>
            <p:nvPr/>
          </p:nvSpPr>
          <p:spPr>
            <a:xfrm>
              <a:off x="3367372" y="1173490"/>
              <a:ext cx="885398" cy="92868"/>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5F7CD551-BC31-981E-4A49-1978EB624A48}"/>
                </a:ext>
              </a:extLst>
            </p:cNvPr>
            <p:cNvSpPr/>
            <p:nvPr/>
          </p:nvSpPr>
          <p:spPr>
            <a:xfrm>
              <a:off x="3387601" y="1194524"/>
              <a:ext cx="49912" cy="808068"/>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747D2B64-0237-45C3-92DE-254D76747905}"/>
                </a:ext>
              </a:extLst>
            </p:cNvPr>
            <p:cNvSpPr/>
            <p:nvPr/>
          </p:nvSpPr>
          <p:spPr>
            <a:xfrm>
              <a:off x="3410643" y="1194523"/>
              <a:ext cx="853037" cy="50400"/>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DA9A31F8-A332-C89B-AA58-B17F1B9642E7}"/>
                </a:ext>
              </a:extLst>
            </p:cNvPr>
            <p:cNvSpPr/>
            <p:nvPr/>
          </p:nvSpPr>
          <p:spPr>
            <a:xfrm>
              <a:off x="4222073" y="2899655"/>
              <a:ext cx="679826" cy="50400"/>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a16="http://schemas.microsoft.com/office/drawing/2014/main" id="{7E4D114C-6539-B55F-198C-0233970CB9E2}"/>
                </a:ext>
              </a:extLst>
            </p:cNvPr>
            <p:cNvSpPr/>
            <p:nvPr/>
          </p:nvSpPr>
          <p:spPr>
            <a:xfrm>
              <a:off x="4215027" y="1194523"/>
              <a:ext cx="54000" cy="1750851"/>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20E52BFD-8155-3734-5D18-FE626D85082E}"/>
                </a:ext>
              </a:extLst>
            </p:cNvPr>
            <p:cNvSpPr/>
            <p:nvPr/>
          </p:nvSpPr>
          <p:spPr>
            <a:xfrm>
              <a:off x="8459937" y="2167329"/>
              <a:ext cx="90000" cy="388005"/>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Rounded Corners 33">
              <a:extLst>
                <a:ext uri="{FF2B5EF4-FFF2-40B4-BE49-F238E27FC236}">
                  <a16:creationId xmlns:a16="http://schemas.microsoft.com/office/drawing/2014/main" id="{0E8DCC34-68D2-4A44-3759-5F430355AE66}"/>
                </a:ext>
              </a:extLst>
            </p:cNvPr>
            <p:cNvSpPr/>
            <p:nvPr/>
          </p:nvSpPr>
          <p:spPr>
            <a:xfrm>
              <a:off x="6272038" y="2164921"/>
              <a:ext cx="2277899" cy="9000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FA081CCF-6015-05D7-B1C5-346DE24C0E59}"/>
                </a:ext>
              </a:extLst>
            </p:cNvPr>
            <p:cNvSpPr/>
            <p:nvPr/>
          </p:nvSpPr>
          <p:spPr>
            <a:xfrm>
              <a:off x="8480166" y="2189480"/>
              <a:ext cx="45719" cy="369486"/>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361C6717-22DA-30D7-686F-C60351DBA937}"/>
                </a:ext>
              </a:extLst>
            </p:cNvPr>
            <p:cNvSpPr/>
            <p:nvPr/>
          </p:nvSpPr>
          <p:spPr>
            <a:xfrm>
              <a:off x="6272038" y="2185499"/>
              <a:ext cx="2253847" cy="50400"/>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Rounded Corners 36">
              <a:extLst>
                <a:ext uri="{FF2B5EF4-FFF2-40B4-BE49-F238E27FC236}">
                  <a16:creationId xmlns:a16="http://schemas.microsoft.com/office/drawing/2014/main" id="{36628968-10CE-6AF1-EB1A-08BE011B00EB}"/>
                </a:ext>
              </a:extLst>
            </p:cNvPr>
            <p:cNvSpPr/>
            <p:nvPr/>
          </p:nvSpPr>
          <p:spPr>
            <a:xfrm>
              <a:off x="6247184" y="2185499"/>
              <a:ext cx="50400" cy="1942952"/>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Rounded Corners 37">
              <a:extLst>
                <a:ext uri="{FF2B5EF4-FFF2-40B4-BE49-F238E27FC236}">
                  <a16:creationId xmlns:a16="http://schemas.microsoft.com/office/drawing/2014/main" id="{8BF88AAF-0714-82BE-7A23-264F7D8D2003}"/>
                </a:ext>
              </a:extLst>
            </p:cNvPr>
            <p:cNvSpPr/>
            <p:nvPr/>
          </p:nvSpPr>
          <p:spPr>
            <a:xfrm>
              <a:off x="2875122" y="818985"/>
              <a:ext cx="90000" cy="1176344"/>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Rounded Corners 38">
              <a:extLst>
                <a:ext uri="{FF2B5EF4-FFF2-40B4-BE49-F238E27FC236}">
                  <a16:creationId xmlns:a16="http://schemas.microsoft.com/office/drawing/2014/main" id="{94052956-AFE0-0FE0-CBFD-4D195F90A96E}"/>
                </a:ext>
              </a:extLst>
            </p:cNvPr>
            <p:cNvSpPr/>
            <p:nvPr/>
          </p:nvSpPr>
          <p:spPr>
            <a:xfrm>
              <a:off x="2895351" y="847413"/>
              <a:ext cx="49912" cy="1151547"/>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F62EE3C2-B626-DFC7-F25B-061BE2E9A0AB}"/>
                </a:ext>
              </a:extLst>
            </p:cNvPr>
            <p:cNvGrpSpPr/>
            <p:nvPr/>
          </p:nvGrpSpPr>
          <p:grpSpPr>
            <a:xfrm rot="5400000">
              <a:off x="1206418" y="803173"/>
              <a:ext cx="896308" cy="1636943"/>
              <a:chOff x="2408016" y="1071443"/>
              <a:chExt cx="896308" cy="1636943"/>
            </a:xfrm>
          </p:grpSpPr>
          <p:sp>
            <p:nvSpPr>
              <p:cNvPr id="73" name="Rectangle: Rounded Corners 72">
                <a:extLst>
                  <a:ext uri="{FF2B5EF4-FFF2-40B4-BE49-F238E27FC236}">
                    <a16:creationId xmlns:a16="http://schemas.microsoft.com/office/drawing/2014/main" id="{51A541A7-AF91-F98C-AE17-E2B9C83E7FFF}"/>
                  </a:ext>
                </a:extLst>
              </p:cNvPr>
              <p:cNvSpPr/>
              <p:nvPr/>
            </p:nvSpPr>
            <p:spPr>
              <a:xfrm>
                <a:off x="2408017" y="1071443"/>
                <a:ext cx="90000" cy="163694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Rounded Corners 73">
                <a:extLst>
                  <a:ext uri="{FF2B5EF4-FFF2-40B4-BE49-F238E27FC236}">
                    <a16:creationId xmlns:a16="http://schemas.microsoft.com/office/drawing/2014/main" id="{1FF839EF-0771-DD4D-3C30-34CA56B04005}"/>
                  </a:ext>
                </a:extLst>
              </p:cNvPr>
              <p:cNvSpPr/>
              <p:nvPr/>
            </p:nvSpPr>
            <p:spPr>
              <a:xfrm>
                <a:off x="2408016" y="1071443"/>
                <a:ext cx="885398" cy="92868"/>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Rounded Corners 74">
                <a:extLst>
                  <a:ext uri="{FF2B5EF4-FFF2-40B4-BE49-F238E27FC236}">
                    <a16:creationId xmlns:a16="http://schemas.microsoft.com/office/drawing/2014/main" id="{9AB21A58-AD5E-224C-6F8E-42B2D7C09861}"/>
                  </a:ext>
                </a:extLst>
              </p:cNvPr>
              <p:cNvSpPr/>
              <p:nvPr/>
            </p:nvSpPr>
            <p:spPr>
              <a:xfrm>
                <a:off x="2428245" y="1092478"/>
                <a:ext cx="49912" cy="1602436"/>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Rounded Corners 75">
                <a:extLst>
                  <a:ext uri="{FF2B5EF4-FFF2-40B4-BE49-F238E27FC236}">
                    <a16:creationId xmlns:a16="http://schemas.microsoft.com/office/drawing/2014/main" id="{5FCB114A-0EFC-C4D7-A1DE-D6CB7B44ECBA}"/>
                  </a:ext>
                </a:extLst>
              </p:cNvPr>
              <p:cNvSpPr/>
              <p:nvPr/>
            </p:nvSpPr>
            <p:spPr>
              <a:xfrm>
                <a:off x="2451287" y="1092476"/>
                <a:ext cx="853037" cy="50400"/>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 name="Flowchart: Connector 40">
              <a:extLst>
                <a:ext uri="{FF2B5EF4-FFF2-40B4-BE49-F238E27FC236}">
                  <a16:creationId xmlns:a16="http://schemas.microsoft.com/office/drawing/2014/main" id="{307AB801-8CC7-63EA-692F-751394E110B2}"/>
                </a:ext>
              </a:extLst>
            </p:cNvPr>
            <p:cNvSpPr/>
            <p:nvPr/>
          </p:nvSpPr>
          <p:spPr>
            <a:xfrm>
              <a:off x="997942" y="1020217"/>
              <a:ext cx="455063" cy="436694"/>
            </a:xfrm>
            <a:prstGeom prst="flowChartConnec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7E319A4E-E7F9-2075-A92A-A0B54359FF0D}"/>
                </a:ext>
              </a:extLst>
            </p:cNvPr>
            <p:cNvSpPr txBox="1"/>
            <p:nvPr/>
          </p:nvSpPr>
          <p:spPr>
            <a:xfrm>
              <a:off x="997942" y="1069287"/>
              <a:ext cx="455063" cy="338554"/>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P</a:t>
              </a:r>
              <a:endParaRPr lang="en-US" sz="1600" baseline="30000" dirty="0">
                <a:latin typeface="Arial" panose="020B0604020202020204" pitchFamily="34" charset="0"/>
                <a:cs typeface="Arial" panose="020B0604020202020204" pitchFamily="34" charset="0"/>
              </a:endParaRPr>
            </a:p>
          </p:txBody>
        </p:sp>
        <p:sp>
          <p:nvSpPr>
            <p:cNvPr id="43" name="TextBox 42">
              <a:extLst>
                <a:ext uri="{FF2B5EF4-FFF2-40B4-BE49-F238E27FC236}">
                  <a16:creationId xmlns:a16="http://schemas.microsoft.com/office/drawing/2014/main" id="{32E943BA-8E0E-A44F-CF5A-EF5A08A507DF}"/>
                </a:ext>
              </a:extLst>
            </p:cNvPr>
            <p:cNvSpPr txBox="1"/>
            <p:nvPr/>
          </p:nvSpPr>
          <p:spPr>
            <a:xfrm>
              <a:off x="351046" y="3146685"/>
              <a:ext cx="1097695" cy="584775"/>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Diafiltrate Tank</a:t>
              </a:r>
              <a:endParaRPr lang="en-US" sz="1600" baseline="30000" dirty="0">
                <a:latin typeface="Arial" panose="020B0604020202020204" pitchFamily="34" charset="0"/>
                <a:cs typeface="Arial" panose="020B0604020202020204" pitchFamily="34" charset="0"/>
              </a:endParaRPr>
            </a:p>
          </p:txBody>
        </p:sp>
        <p:cxnSp>
          <p:nvCxnSpPr>
            <p:cNvPr id="44" name="Straight Connector 43">
              <a:extLst>
                <a:ext uri="{FF2B5EF4-FFF2-40B4-BE49-F238E27FC236}">
                  <a16:creationId xmlns:a16="http://schemas.microsoft.com/office/drawing/2014/main" id="{4EF54666-9D05-810A-BE7A-9DA9B3514688}"/>
                </a:ext>
              </a:extLst>
            </p:cNvPr>
            <p:cNvCxnSpPr>
              <a:cxnSpLocks/>
            </p:cNvCxnSpPr>
            <p:nvPr/>
          </p:nvCxnSpPr>
          <p:spPr>
            <a:xfrm flipH="1">
              <a:off x="1413756" y="3284019"/>
              <a:ext cx="549568" cy="162444"/>
            </a:xfrm>
            <a:prstGeom prst="line">
              <a:avLst/>
            </a:prstGeom>
            <a:ln w="12700">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sp>
          <p:nvSpPr>
            <p:cNvPr id="45" name="Isosceles Triangle 44">
              <a:extLst>
                <a:ext uri="{FF2B5EF4-FFF2-40B4-BE49-F238E27FC236}">
                  <a16:creationId xmlns:a16="http://schemas.microsoft.com/office/drawing/2014/main" id="{7D26C648-384B-8951-6AEB-4D3BDB1E5D42}"/>
                </a:ext>
              </a:extLst>
            </p:cNvPr>
            <p:cNvSpPr/>
            <p:nvPr/>
          </p:nvSpPr>
          <p:spPr>
            <a:xfrm>
              <a:off x="2754042" y="1065670"/>
              <a:ext cx="332332" cy="279152"/>
            </a:xfrm>
            <a:prstGeom prst="triangl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Isosceles Triangle 45">
              <a:extLst>
                <a:ext uri="{FF2B5EF4-FFF2-40B4-BE49-F238E27FC236}">
                  <a16:creationId xmlns:a16="http://schemas.microsoft.com/office/drawing/2014/main" id="{E2974523-4C4D-E027-EAED-8A420F788854}"/>
                </a:ext>
              </a:extLst>
            </p:cNvPr>
            <p:cNvSpPr/>
            <p:nvPr/>
          </p:nvSpPr>
          <p:spPr>
            <a:xfrm flipV="1">
              <a:off x="2754042" y="944752"/>
              <a:ext cx="332332" cy="279152"/>
            </a:xfrm>
            <a:prstGeom prst="triangl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Isosceles Triangle 46">
              <a:extLst>
                <a:ext uri="{FF2B5EF4-FFF2-40B4-BE49-F238E27FC236}">
                  <a16:creationId xmlns:a16="http://schemas.microsoft.com/office/drawing/2014/main" id="{F3BC0C0B-3BE3-A790-1870-79F11441F831}"/>
                </a:ext>
              </a:extLst>
            </p:cNvPr>
            <p:cNvSpPr/>
            <p:nvPr/>
          </p:nvSpPr>
          <p:spPr>
            <a:xfrm flipV="1">
              <a:off x="2821484" y="994767"/>
              <a:ext cx="196743" cy="163790"/>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Isosceles Triangle 47">
              <a:extLst>
                <a:ext uri="{FF2B5EF4-FFF2-40B4-BE49-F238E27FC236}">
                  <a16:creationId xmlns:a16="http://schemas.microsoft.com/office/drawing/2014/main" id="{019CB72F-726A-272A-FA6B-76914A9C7437}"/>
                </a:ext>
              </a:extLst>
            </p:cNvPr>
            <p:cNvSpPr/>
            <p:nvPr/>
          </p:nvSpPr>
          <p:spPr>
            <a:xfrm>
              <a:off x="2822675" y="1133739"/>
              <a:ext cx="196743" cy="163790"/>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18F335E3-C7B3-66E9-AC40-23D505AE60F1}"/>
                </a:ext>
              </a:extLst>
            </p:cNvPr>
            <p:cNvSpPr txBox="1"/>
            <p:nvPr/>
          </p:nvSpPr>
          <p:spPr>
            <a:xfrm>
              <a:off x="3406479" y="691993"/>
              <a:ext cx="2614013" cy="338554"/>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Pressure Relief Valve</a:t>
              </a:r>
              <a:endParaRPr lang="en-US" sz="1600" baseline="30000" dirty="0">
                <a:latin typeface="Arial" panose="020B0604020202020204" pitchFamily="34" charset="0"/>
                <a:cs typeface="Arial" panose="020B0604020202020204" pitchFamily="34" charset="0"/>
              </a:endParaRPr>
            </a:p>
          </p:txBody>
        </p:sp>
        <p:cxnSp>
          <p:nvCxnSpPr>
            <p:cNvPr id="50" name="Straight Connector 49">
              <a:extLst>
                <a:ext uri="{FF2B5EF4-FFF2-40B4-BE49-F238E27FC236}">
                  <a16:creationId xmlns:a16="http://schemas.microsoft.com/office/drawing/2014/main" id="{E4169BEA-2EC1-B923-48B2-59463C105C21}"/>
                </a:ext>
              </a:extLst>
            </p:cNvPr>
            <p:cNvCxnSpPr>
              <a:cxnSpLocks/>
            </p:cNvCxnSpPr>
            <p:nvPr/>
          </p:nvCxnSpPr>
          <p:spPr>
            <a:xfrm flipV="1">
              <a:off x="3080746" y="900618"/>
              <a:ext cx="549568" cy="162444"/>
            </a:xfrm>
            <a:prstGeom prst="line">
              <a:avLst/>
            </a:prstGeom>
            <a:ln w="12700">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E3718C76-94B5-2399-EFCA-F4B12F73C750}"/>
                </a:ext>
              </a:extLst>
            </p:cNvPr>
            <p:cNvCxnSpPr>
              <a:cxnSpLocks/>
            </p:cNvCxnSpPr>
            <p:nvPr/>
          </p:nvCxnSpPr>
          <p:spPr>
            <a:xfrm flipH="1">
              <a:off x="4569922" y="4283212"/>
              <a:ext cx="962540" cy="309349"/>
            </a:xfrm>
            <a:prstGeom prst="line">
              <a:avLst/>
            </a:prstGeom>
            <a:ln w="12700">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739A127F-6F95-7C96-7011-44CBF7C0CDDF}"/>
                </a:ext>
              </a:extLst>
            </p:cNvPr>
            <p:cNvCxnSpPr>
              <a:cxnSpLocks/>
            </p:cNvCxnSpPr>
            <p:nvPr/>
          </p:nvCxnSpPr>
          <p:spPr>
            <a:xfrm>
              <a:off x="5409835" y="2966669"/>
              <a:ext cx="0" cy="556149"/>
            </a:xfrm>
            <a:prstGeom prst="line">
              <a:avLst/>
            </a:prstGeom>
            <a:ln w="12700"/>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B0AB03FC-6AA7-1310-3DC1-87AAC8ABB9D7}"/>
                </a:ext>
              </a:extLst>
            </p:cNvPr>
            <p:cNvCxnSpPr>
              <a:cxnSpLocks/>
            </p:cNvCxnSpPr>
            <p:nvPr/>
          </p:nvCxnSpPr>
          <p:spPr>
            <a:xfrm>
              <a:off x="5430711" y="2945374"/>
              <a:ext cx="0" cy="556149"/>
            </a:xfrm>
            <a:prstGeom prst="line">
              <a:avLst/>
            </a:prstGeom>
            <a:ln w="12700"/>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226F36FE-1976-3140-F62E-B9C827E34432}"/>
                </a:ext>
              </a:extLst>
            </p:cNvPr>
            <p:cNvCxnSpPr>
              <a:cxnSpLocks/>
            </p:cNvCxnSpPr>
            <p:nvPr/>
          </p:nvCxnSpPr>
          <p:spPr>
            <a:xfrm>
              <a:off x="5449970" y="2923505"/>
              <a:ext cx="0" cy="556149"/>
            </a:xfrm>
            <a:prstGeom prst="line">
              <a:avLst/>
            </a:prstGeom>
            <a:ln w="12700"/>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F837A749-5AC3-1CA2-A3E9-9A66F44050B9}"/>
                </a:ext>
              </a:extLst>
            </p:cNvPr>
            <p:cNvCxnSpPr>
              <a:cxnSpLocks/>
            </p:cNvCxnSpPr>
            <p:nvPr/>
          </p:nvCxnSpPr>
          <p:spPr>
            <a:xfrm>
              <a:off x="5472997" y="2911821"/>
              <a:ext cx="0" cy="556149"/>
            </a:xfrm>
            <a:prstGeom prst="line">
              <a:avLst/>
            </a:prstGeom>
            <a:ln w="12700"/>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0435D2BC-AEA4-00CD-D021-0ACFFE8DEFC8}"/>
                </a:ext>
              </a:extLst>
            </p:cNvPr>
            <p:cNvCxnSpPr>
              <a:cxnSpLocks/>
            </p:cNvCxnSpPr>
            <p:nvPr/>
          </p:nvCxnSpPr>
          <p:spPr>
            <a:xfrm>
              <a:off x="5495821" y="2889275"/>
              <a:ext cx="0" cy="556149"/>
            </a:xfrm>
            <a:prstGeom prst="line">
              <a:avLst/>
            </a:prstGeom>
            <a:ln w="12700"/>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2F47BCE7-D122-DE31-2C20-FC5952BEBF2D}"/>
                </a:ext>
              </a:extLst>
            </p:cNvPr>
            <p:cNvCxnSpPr>
              <a:cxnSpLocks/>
            </p:cNvCxnSpPr>
            <p:nvPr/>
          </p:nvCxnSpPr>
          <p:spPr>
            <a:xfrm>
              <a:off x="5516924" y="2872851"/>
              <a:ext cx="0" cy="556149"/>
            </a:xfrm>
            <a:prstGeom prst="line">
              <a:avLst/>
            </a:prstGeom>
            <a:ln w="12700"/>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88A95C22-37D7-F9C8-0274-B73E6A24F094}"/>
                </a:ext>
              </a:extLst>
            </p:cNvPr>
            <p:cNvCxnSpPr>
              <a:cxnSpLocks/>
            </p:cNvCxnSpPr>
            <p:nvPr/>
          </p:nvCxnSpPr>
          <p:spPr>
            <a:xfrm flipH="1">
              <a:off x="4901835" y="2966669"/>
              <a:ext cx="514352"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986976AD-13C1-3C0A-9BB5-5C75C5ED5E16}"/>
                </a:ext>
              </a:extLst>
            </p:cNvPr>
            <p:cNvCxnSpPr>
              <a:cxnSpLocks/>
            </p:cNvCxnSpPr>
            <p:nvPr/>
          </p:nvCxnSpPr>
          <p:spPr>
            <a:xfrm flipH="1">
              <a:off x="4901835" y="2949771"/>
              <a:ext cx="53374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64AEA452-77FD-73C8-C14D-8ECE08F8A69F}"/>
                </a:ext>
              </a:extLst>
            </p:cNvPr>
            <p:cNvCxnSpPr>
              <a:cxnSpLocks/>
            </p:cNvCxnSpPr>
            <p:nvPr/>
          </p:nvCxnSpPr>
          <p:spPr>
            <a:xfrm flipH="1">
              <a:off x="4903423" y="2929857"/>
              <a:ext cx="548135"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1" name="Straight Connector 60">
              <a:extLst>
                <a:ext uri="{FF2B5EF4-FFF2-40B4-BE49-F238E27FC236}">
                  <a16:creationId xmlns:a16="http://schemas.microsoft.com/office/drawing/2014/main" id="{42CFF86F-B388-FE34-7B6F-45A8C630193F}"/>
                </a:ext>
              </a:extLst>
            </p:cNvPr>
            <p:cNvCxnSpPr>
              <a:cxnSpLocks/>
            </p:cNvCxnSpPr>
            <p:nvPr/>
          </p:nvCxnSpPr>
          <p:spPr>
            <a:xfrm flipH="1">
              <a:off x="4901835" y="2911821"/>
              <a:ext cx="576938"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2" name="Straight Connector 61">
              <a:extLst>
                <a:ext uri="{FF2B5EF4-FFF2-40B4-BE49-F238E27FC236}">
                  <a16:creationId xmlns:a16="http://schemas.microsoft.com/office/drawing/2014/main" id="{E4273EAC-ED7C-CB05-3606-23779B1102EE}"/>
                </a:ext>
              </a:extLst>
            </p:cNvPr>
            <p:cNvCxnSpPr>
              <a:cxnSpLocks/>
            </p:cNvCxnSpPr>
            <p:nvPr/>
          </p:nvCxnSpPr>
          <p:spPr>
            <a:xfrm flipH="1">
              <a:off x="4903423" y="2890863"/>
              <a:ext cx="59682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3" name="Straight Connector 62">
              <a:extLst>
                <a:ext uri="{FF2B5EF4-FFF2-40B4-BE49-F238E27FC236}">
                  <a16:creationId xmlns:a16="http://schemas.microsoft.com/office/drawing/2014/main" id="{A42C71E1-4D0B-D2C8-B89F-E5FBBC380F1E}"/>
                </a:ext>
              </a:extLst>
            </p:cNvPr>
            <p:cNvCxnSpPr>
              <a:cxnSpLocks/>
            </p:cNvCxnSpPr>
            <p:nvPr/>
          </p:nvCxnSpPr>
          <p:spPr>
            <a:xfrm flipH="1">
              <a:off x="4900247" y="2872482"/>
              <a:ext cx="622524" cy="0"/>
            </a:xfrm>
            <a:prstGeom prst="line">
              <a:avLst/>
            </a:prstGeom>
            <a:ln w="12700"/>
          </p:spPr>
          <p:style>
            <a:lnRef idx="1">
              <a:schemeClr val="dk1"/>
            </a:lnRef>
            <a:fillRef idx="0">
              <a:schemeClr val="dk1"/>
            </a:fillRef>
            <a:effectRef idx="0">
              <a:schemeClr val="dk1"/>
            </a:effectRef>
            <a:fontRef idx="minor">
              <a:schemeClr val="tx1"/>
            </a:fontRef>
          </p:style>
        </p:cxnSp>
        <p:sp>
          <p:nvSpPr>
            <p:cNvPr id="64" name="Rectangle 63">
              <a:extLst>
                <a:ext uri="{FF2B5EF4-FFF2-40B4-BE49-F238E27FC236}">
                  <a16:creationId xmlns:a16="http://schemas.microsoft.com/office/drawing/2014/main" id="{A83FE521-EC7A-0BBC-752A-A16666D53314}"/>
                </a:ext>
              </a:extLst>
            </p:cNvPr>
            <p:cNvSpPr/>
            <p:nvPr/>
          </p:nvSpPr>
          <p:spPr>
            <a:xfrm>
              <a:off x="5354191" y="3423963"/>
              <a:ext cx="214188" cy="359089"/>
            </a:xfrm>
            <a:prstGeom prst="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E00A935B-F942-CDF3-2236-A707965A6AD4}"/>
                </a:ext>
              </a:extLst>
            </p:cNvPr>
            <p:cNvSpPr/>
            <p:nvPr/>
          </p:nvSpPr>
          <p:spPr>
            <a:xfrm>
              <a:off x="5371239" y="3581612"/>
              <a:ext cx="181842" cy="182172"/>
            </a:xfrm>
            <a:prstGeom prst="ellipse">
              <a:avLst/>
            </a:prstGeom>
            <a:solidFill>
              <a:schemeClr val="bg1">
                <a:lumMod val="7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6B4D4D89-EBED-B9D2-1350-6B663A8F901E}"/>
                </a:ext>
              </a:extLst>
            </p:cNvPr>
            <p:cNvSpPr/>
            <p:nvPr/>
          </p:nvSpPr>
          <p:spPr>
            <a:xfrm>
              <a:off x="5399544" y="3611175"/>
              <a:ext cx="124244" cy="124470"/>
            </a:xfrm>
            <a:prstGeom prst="ellipse">
              <a:avLst/>
            </a:prstGeom>
            <a:solidFill>
              <a:schemeClr val="bg1">
                <a:lumMod val="7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33F0BCBB-3A24-A131-1846-934A6793198E}"/>
                </a:ext>
              </a:extLst>
            </p:cNvPr>
            <p:cNvSpPr/>
            <p:nvPr/>
          </p:nvSpPr>
          <p:spPr>
            <a:xfrm>
              <a:off x="5426708" y="3636614"/>
              <a:ext cx="72127" cy="74881"/>
            </a:xfrm>
            <a:prstGeom prst="ellipse">
              <a:avLst/>
            </a:prstGeom>
            <a:solidFill>
              <a:schemeClr val="bg1">
                <a:lumMod val="7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B2F92570-BB1F-6036-CFFC-EE721AD73904}"/>
                </a:ext>
              </a:extLst>
            </p:cNvPr>
            <p:cNvSpPr txBox="1"/>
            <p:nvPr/>
          </p:nvSpPr>
          <p:spPr>
            <a:xfrm>
              <a:off x="4946188" y="1697015"/>
              <a:ext cx="1071191" cy="584775"/>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Stirred Cell</a:t>
              </a:r>
              <a:endParaRPr lang="en-US" sz="1600" baseline="300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D3A3904F-B769-2E09-F732-157052F29981}"/>
                    </a:ext>
                  </a:extLst>
                </p:cNvPr>
                <p:cNvSpPr txBox="1"/>
                <p:nvPr/>
              </p:nvSpPr>
              <p:spPr>
                <a:xfrm rot="5400000">
                  <a:off x="5259573" y="1903138"/>
                  <a:ext cx="525742" cy="132856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n-US" sz="5400" i="1" smtClean="0">
                                <a:latin typeface="Cambria Math" panose="02040503050406030204" pitchFamily="18" charset="0"/>
                                <a:cs typeface="Arial" panose="020B0604020202020204" pitchFamily="34" charset="0"/>
                              </a:rPr>
                            </m:ctrlPr>
                          </m:dPr>
                          <m:e>
                            <m:eqArr>
                              <m:eqArrPr>
                                <m:ctrlPr>
                                  <a:rPr lang="en-US" sz="5400" i="1" smtClean="0">
                                    <a:latin typeface="Cambria Math" panose="02040503050406030204" pitchFamily="18" charset="0"/>
                                    <a:cs typeface="Arial" panose="020B0604020202020204" pitchFamily="34" charset="0"/>
                                  </a:rPr>
                                </m:ctrlPr>
                              </m:eqArrPr>
                              <m:e>
                                <m:r>
                                  <a:rPr lang="en-US" sz="5400" b="0" i="1" smtClean="0">
                                    <a:latin typeface="Cambria Math" panose="02040503050406030204" pitchFamily="18" charset="0"/>
                                    <a:cs typeface="Arial" panose="020B0604020202020204" pitchFamily="34" charset="0"/>
                                  </a:rPr>
                                  <m:t> </m:t>
                                </m:r>
                              </m:e>
                              <m:e>
                                <m:r>
                                  <a:rPr lang="en-US" sz="5400" b="0" i="1" smtClean="0">
                                    <a:latin typeface="Cambria Math" panose="02040503050406030204" pitchFamily="18" charset="0"/>
                                    <a:cs typeface="Arial" panose="020B0604020202020204" pitchFamily="34" charset="0"/>
                                  </a:rPr>
                                  <m:t> </m:t>
                                </m:r>
                              </m:e>
                            </m:eqArr>
                          </m:e>
                        </m:d>
                      </m:oMath>
                    </m:oMathPara>
                  </a14:m>
                  <a:endParaRPr lang="en-US" sz="1600" dirty="0">
                    <a:latin typeface="Arial" panose="020B0604020202020204" pitchFamily="34" charset="0"/>
                    <a:cs typeface="Arial" panose="020B0604020202020204" pitchFamily="34" charset="0"/>
                  </a:endParaRPr>
                </a:p>
              </p:txBody>
            </p:sp>
          </mc:Choice>
          <mc:Fallback xmlns="">
            <p:sp>
              <p:nvSpPr>
                <p:cNvPr id="210" name="TextBox 209">
                  <a:extLst>
                    <a:ext uri="{FF2B5EF4-FFF2-40B4-BE49-F238E27FC236}">
                      <a16:creationId xmlns:a16="http://schemas.microsoft.com/office/drawing/2014/main" id="{A0A5A728-B824-A225-9E3B-4532DE8DB37D}"/>
                    </a:ext>
                  </a:extLst>
                </p:cNvPr>
                <p:cNvSpPr txBox="1">
                  <a:spLocks noRot="1" noChangeAspect="1" noMove="1" noResize="1" noEditPoints="1" noAdjustHandles="1" noChangeArrowheads="1" noChangeShapeType="1" noTextEdit="1"/>
                </p:cNvSpPr>
                <p:nvPr/>
              </p:nvSpPr>
              <p:spPr>
                <a:xfrm rot="5400000">
                  <a:off x="5259573" y="1903138"/>
                  <a:ext cx="525742" cy="1328569"/>
                </a:xfrm>
                <a:prstGeom prst="rect">
                  <a:avLst/>
                </a:prstGeom>
                <a:blipFill>
                  <a:blip r:embed="rId7"/>
                  <a:stretch>
                    <a:fillRect l="-476" t="-6024"/>
                  </a:stretch>
                </a:blipFill>
              </p:spPr>
              <p:txBody>
                <a:bodyPr/>
                <a:lstStyle/>
                <a:p>
                  <a:r>
                    <a:rPr lang="en-US">
                      <a:noFill/>
                    </a:rPr>
                    <a:t> </a:t>
                  </a:r>
                </a:p>
              </p:txBody>
            </p:sp>
          </mc:Fallback>
        </mc:AlternateContent>
        <p:sp>
          <p:nvSpPr>
            <p:cNvPr id="70" name="TextBox 69">
              <a:extLst>
                <a:ext uri="{FF2B5EF4-FFF2-40B4-BE49-F238E27FC236}">
                  <a16:creationId xmlns:a16="http://schemas.microsoft.com/office/drawing/2014/main" id="{0F2445C6-A87F-70AC-280C-BEECD3345ACE}"/>
                </a:ext>
              </a:extLst>
            </p:cNvPr>
            <p:cNvSpPr txBox="1"/>
            <p:nvPr/>
          </p:nvSpPr>
          <p:spPr>
            <a:xfrm>
              <a:off x="6366476" y="3332442"/>
              <a:ext cx="1253688" cy="584775"/>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Permeate Outlet</a:t>
              </a:r>
              <a:endParaRPr lang="en-US" sz="1600" baseline="30000" dirty="0">
                <a:latin typeface="Arial" panose="020B0604020202020204" pitchFamily="34" charset="0"/>
                <a:cs typeface="Arial" panose="020B0604020202020204" pitchFamily="34" charset="0"/>
              </a:endParaRPr>
            </a:p>
          </p:txBody>
        </p:sp>
        <p:cxnSp>
          <p:nvCxnSpPr>
            <p:cNvPr id="71" name="Straight Connector 70">
              <a:extLst>
                <a:ext uri="{FF2B5EF4-FFF2-40B4-BE49-F238E27FC236}">
                  <a16:creationId xmlns:a16="http://schemas.microsoft.com/office/drawing/2014/main" id="{7046F000-4BF2-6238-461A-2BDBD388C34F}"/>
                </a:ext>
              </a:extLst>
            </p:cNvPr>
            <p:cNvCxnSpPr>
              <a:cxnSpLocks/>
            </p:cNvCxnSpPr>
            <p:nvPr/>
          </p:nvCxnSpPr>
          <p:spPr>
            <a:xfrm flipV="1">
              <a:off x="6358909" y="3892733"/>
              <a:ext cx="549568" cy="162444"/>
            </a:xfrm>
            <a:prstGeom prst="line">
              <a:avLst/>
            </a:prstGeom>
            <a:ln w="12700">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B2D66A30-9676-067C-1530-519B11673208}"/>
                </a:ext>
              </a:extLst>
            </p:cNvPr>
            <p:cNvCxnSpPr>
              <a:cxnSpLocks/>
            </p:cNvCxnSpPr>
            <p:nvPr/>
          </p:nvCxnSpPr>
          <p:spPr>
            <a:xfrm flipH="1">
              <a:off x="4569922" y="3594985"/>
              <a:ext cx="754405" cy="233782"/>
            </a:xfrm>
            <a:prstGeom prst="line">
              <a:avLst/>
            </a:prstGeom>
            <a:ln w="12700">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grpSp>
      <p:sp>
        <p:nvSpPr>
          <p:cNvPr id="77" name="TextBox 76">
            <a:extLst>
              <a:ext uri="{FF2B5EF4-FFF2-40B4-BE49-F238E27FC236}">
                <a16:creationId xmlns:a16="http://schemas.microsoft.com/office/drawing/2014/main" id="{7EB03E38-0B6A-DE0E-91FF-C10F2AFB7D13}"/>
              </a:ext>
            </a:extLst>
          </p:cNvPr>
          <p:cNvSpPr txBox="1"/>
          <p:nvPr/>
        </p:nvSpPr>
        <p:spPr>
          <a:xfrm>
            <a:off x="710926" y="5279548"/>
            <a:ext cx="9495352"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Multiple (two) salts are now placed within the feed and diafiltrate reservoirs. </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Retentate and permeate conductivity data are obtained at 5 second intervals. </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Scintillation vials are analyzed after the experiment (ICP-OES) to get ion specific concentrations. </a:t>
            </a:r>
            <a:endParaRPr lang="en-US" sz="1600" baseline="30000" dirty="0">
              <a:latin typeface="Arial" panose="020B0604020202020204" pitchFamily="34" charset="0"/>
              <a:cs typeface="Arial" panose="020B0604020202020204" pitchFamily="34" charset="0"/>
            </a:endParaRPr>
          </a:p>
        </p:txBody>
      </p:sp>
      <p:sp>
        <p:nvSpPr>
          <p:cNvPr id="78" name="TextBox 77">
            <a:extLst>
              <a:ext uri="{FF2B5EF4-FFF2-40B4-BE49-F238E27FC236}">
                <a16:creationId xmlns:a16="http://schemas.microsoft.com/office/drawing/2014/main" id="{F3AA24D7-E8A4-76C1-86CE-D8F64B60B9CB}"/>
              </a:ext>
            </a:extLst>
          </p:cNvPr>
          <p:cNvSpPr txBox="1"/>
          <p:nvPr/>
        </p:nvSpPr>
        <p:spPr>
          <a:xfrm>
            <a:off x="51643" y="6408182"/>
            <a:ext cx="5828812" cy="276999"/>
          </a:xfrm>
          <a:prstGeom prst="rect">
            <a:avLst/>
          </a:prstGeom>
          <a:noFill/>
        </p:spPr>
        <p:txBody>
          <a:bodyPr wrap="square">
            <a:spAutoFit/>
          </a:bodyPr>
          <a:lstStyle/>
          <a:p>
            <a:r>
              <a:rPr lang="en-US" sz="1200" b="0" i="0" dirty="0">
                <a:effectLst/>
                <a:latin typeface="Arial" panose="020B0604020202020204" pitchFamily="34" charset="0"/>
                <a:cs typeface="Arial" panose="020B0604020202020204" pitchFamily="34" charset="0"/>
              </a:rPr>
              <a:t>Running Experiments </a:t>
            </a:r>
            <a:r>
              <a:rPr lang="en-US" sz="1200" b="0" i="0" dirty="0">
                <a:solidFill>
                  <a:schemeClr val="bg1">
                    <a:lumMod val="65000"/>
                  </a:schemeClr>
                </a:solidFill>
                <a:effectLst/>
                <a:latin typeface="Arial" panose="020B0604020202020204" pitchFamily="34" charset="0"/>
                <a:cs typeface="Arial" panose="020B0604020202020204" pitchFamily="34" charset="0"/>
              </a:rPr>
              <a:t>| Data Analysis | Visualizing Data and Next Steps </a:t>
            </a:r>
          </a:p>
        </p:txBody>
      </p:sp>
    </p:spTree>
    <p:extLst>
      <p:ext uri="{BB962C8B-B14F-4D97-AF65-F5344CB8AC3E}">
        <p14:creationId xmlns:p14="http://schemas.microsoft.com/office/powerpoint/2010/main" val="3801132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4D5B5-3180-1B1F-7697-F3870CC3823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5CCBB67-761D-7467-2DA8-89A84674C580}"/>
              </a:ext>
            </a:extLst>
          </p:cNvPr>
          <p:cNvSpPr txBox="1"/>
          <p:nvPr/>
        </p:nvSpPr>
        <p:spPr>
          <a:xfrm>
            <a:off x="0" y="192140"/>
            <a:ext cx="12192000" cy="461665"/>
          </a:xfrm>
          <a:prstGeom prst="rect">
            <a:avLst/>
          </a:prstGeom>
          <a:noFill/>
        </p:spPr>
        <p:txBody>
          <a:bodyPr wrap="square">
            <a:spAutoFit/>
          </a:bodyPr>
          <a:lstStyle/>
          <a:p>
            <a:pPr algn="ctr"/>
            <a:r>
              <a:rPr lang="en-US" sz="2400" b="0" i="0" dirty="0">
                <a:effectLst/>
                <a:latin typeface="Arial" panose="020B0604020202020204" pitchFamily="34" charset="0"/>
                <a:cs typeface="Arial" panose="020B0604020202020204" pitchFamily="34" charset="0"/>
              </a:rPr>
              <a:t>RAW Excel Data will be Included in the Supplementary Information. </a:t>
            </a:r>
          </a:p>
        </p:txBody>
      </p:sp>
      <p:sp>
        <p:nvSpPr>
          <p:cNvPr id="15" name="Rectangle 14">
            <a:extLst>
              <a:ext uri="{FF2B5EF4-FFF2-40B4-BE49-F238E27FC236}">
                <a16:creationId xmlns:a16="http://schemas.microsoft.com/office/drawing/2014/main" id="{1BE373E0-1529-1727-23A1-663BA09FBED9}"/>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D830450-952B-A30C-4F41-6C6B637421F2}"/>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Slide Number Placeholder 3">
            <a:extLst>
              <a:ext uri="{FF2B5EF4-FFF2-40B4-BE49-F238E27FC236}">
                <a16:creationId xmlns:a16="http://schemas.microsoft.com/office/drawing/2014/main" id="{94EACC90-F41C-49B4-4A11-6365CBB90133}"/>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4</a:t>
            </a:fld>
            <a:endParaRPr lang="en-US" sz="1600" dirty="0">
              <a:solidFill>
                <a:schemeClr val="tx1"/>
              </a:solidFill>
              <a:latin typeface="Arial" panose="020B0604020202020204" pitchFamily="34" charset="0"/>
              <a:cs typeface="Arial" panose="020B0604020202020204" pitchFamily="34" charset="0"/>
            </a:endParaRPr>
          </a:p>
        </p:txBody>
      </p:sp>
      <p:sp>
        <p:nvSpPr>
          <p:cNvPr id="77" name="TextBox 76">
            <a:extLst>
              <a:ext uri="{FF2B5EF4-FFF2-40B4-BE49-F238E27FC236}">
                <a16:creationId xmlns:a16="http://schemas.microsoft.com/office/drawing/2014/main" id="{7EB03E38-0B6A-DE0E-91FF-C10F2AFB7D13}"/>
              </a:ext>
            </a:extLst>
          </p:cNvPr>
          <p:cNvSpPr txBox="1"/>
          <p:nvPr/>
        </p:nvSpPr>
        <p:spPr>
          <a:xfrm>
            <a:off x="1" y="5132686"/>
            <a:ext cx="12191999"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Dowling lab: What are the best practices/sources that we can use to make the data sets easily readable/understandable?</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Comment/Question on Error:  The error associated with the calibration curve is larger than the error associated with the device making the measurement. In the following slides, the analyses incorporate the error of the calibration curve. Error propagation is left for future discussion.</a:t>
            </a:r>
          </a:p>
        </p:txBody>
      </p:sp>
      <p:pic>
        <p:nvPicPr>
          <p:cNvPr id="78" name="Picture 77">
            <a:extLst>
              <a:ext uri="{FF2B5EF4-FFF2-40B4-BE49-F238E27FC236}">
                <a16:creationId xmlns:a16="http://schemas.microsoft.com/office/drawing/2014/main" id="{5AAAD1CF-A227-2BF4-8D33-F80690FE0565}"/>
              </a:ext>
            </a:extLst>
          </p:cNvPr>
          <p:cNvPicPr>
            <a:picLocks noChangeAspect="1"/>
          </p:cNvPicPr>
          <p:nvPr/>
        </p:nvPicPr>
        <p:blipFill>
          <a:blip r:embed="rId3"/>
          <a:stretch>
            <a:fillRect/>
          </a:stretch>
        </p:blipFill>
        <p:spPr>
          <a:xfrm>
            <a:off x="603372" y="902450"/>
            <a:ext cx="6636091" cy="4038808"/>
          </a:xfrm>
          <a:prstGeom prst="rect">
            <a:avLst/>
          </a:prstGeom>
        </p:spPr>
      </p:pic>
      <p:pic>
        <p:nvPicPr>
          <p:cNvPr id="80" name="Picture 79">
            <a:extLst>
              <a:ext uri="{FF2B5EF4-FFF2-40B4-BE49-F238E27FC236}">
                <a16:creationId xmlns:a16="http://schemas.microsoft.com/office/drawing/2014/main" id="{8F71118D-C602-FB20-EBB4-26175C59DBA4}"/>
              </a:ext>
            </a:extLst>
          </p:cNvPr>
          <p:cNvPicPr>
            <a:picLocks noChangeAspect="1"/>
          </p:cNvPicPr>
          <p:nvPr/>
        </p:nvPicPr>
        <p:blipFill>
          <a:blip r:embed="rId4"/>
          <a:stretch>
            <a:fillRect/>
          </a:stretch>
        </p:blipFill>
        <p:spPr>
          <a:xfrm>
            <a:off x="3921417" y="1181711"/>
            <a:ext cx="3753043" cy="4026107"/>
          </a:xfrm>
          <a:prstGeom prst="rect">
            <a:avLst/>
          </a:prstGeom>
        </p:spPr>
      </p:pic>
      <p:pic>
        <p:nvPicPr>
          <p:cNvPr id="82" name="Picture 81">
            <a:extLst>
              <a:ext uri="{FF2B5EF4-FFF2-40B4-BE49-F238E27FC236}">
                <a16:creationId xmlns:a16="http://schemas.microsoft.com/office/drawing/2014/main" id="{7D6E2B8F-28E7-7B78-3883-4246C3EFC6DC}"/>
              </a:ext>
            </a:extLst>
          </p:cNvPr>
          <p:cNvPicPr>
            <a:picLocks noChangeAspect="1"/>
          </p:cNvPicPr>
          <p:nvPr/>
        </p:nvPicPr>
        <p:blipFill>
          <a:blip r:embed="rId5"/>
          <a:stretch>
            <a:fillRect/>
          </a:stretch>
        </p:blipFill>
        <p:spPr>
          <a:xfrm>
            <a:off x="603372" y="1109944"/>
            <a:ext cx="10522491" cy="3930852"/>
          </a:xfrm>
          <a:prstGeom prst="rect">
            <a:avLst/>
          </a:prstGeom>
        </p:spPr>
      </p:pic>
      <p:sp>
        <p:nvSpPr>
          <p:cNvPr id="84" name="TextBox 83">
            <a:extLst>
              <a:ext uri="{FF2B5EF4-FFF2-40B4-BE49-F238E27FC236}">
                <a16:creationId xmlns:a16="http://schemas.microsoft.com/office/drawing/2014/main" id="{737FE249-118C-5A87-C351-8F7A993E02FB}"/>
              </a:ext>
            </a:extLst>
          </p:cNvPr>
          <p:cNvSpPr txBox="1"/>
          <p:nvPr/>
        </p:nvSpPr>
        <p:spPr>
          <a:xfrm>
            <a:off x="51643" y="6408182"/>
            <a:ext cx="5828812" cy="276999"/>
          </a:xfrm>
          <a:prstGeom prst="rect">
            <a:avLst/>
          </a:prstGeom>
          <a:noFill/>
        </p:spPr>
        <p:txBody>
          <a:bodyPr wrap="square">
            <a:spAutoFit/>
          </a:bodyPr>
          <a:lstStyle/>
          <a:p>
            <a:r>
              <a:rPr lang="en-US" sz="1200" b="0" i="0" dirty="0">
                <a:effectLst/>
                <a:latin typeface="Arial" panose="020B0604020202020204" pitchFamily="34" charset="0"/>
                <a:cs typeface="Arial" panose="020B0604020202020204" pitchFamily="34" charset="0"/>
              </a:rPr>
              <a:t>Running Experiments </a:t>
            </a:r>
            <a:r>
              <a:rPr lang="en-US" sz="1200" b="0" i="0" dirty="0">
                <a:solidFill>
                  <a:schemeClr val="bg1">
                    <a:lumMod val="65000"/>
                  </a:schemeClr>
                </a:solidFill>
                <a:effectLst/>
                <a:latin typeface="Arial" panose="020B0604020202020204" pitchFamily="34" charset="0"/>
                <a:cs typeface="Arial" panose="020B0604020202020204" pitchFamily="34" charset="0"/>
              </a:rPr>
              <a:t>| Data Analysis | Visualizing Data and Next Steps </a:t>
            </a:r>
          </a:p>
        </p:txBody>
      </p:sp>
    </p:spTree>
    <p:extLst>
      <p:ext uri="{BB962C8B-B14F-4D97-AF65-F5344CB8AC3E}">
        <p14:creationId xmlns:p14="http://schemas.microsoft.com/office/powerpoint/2010/main" val="2964809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78"/>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80"/>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4D5B5-3180-1B1F-7697-F3870CC3823A}"/>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1BE373E0-1529-1727-23A1-663BA09FBED9}"/>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D830450-952B-A30C-4F41-6C6B637421F2}"/>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Slide Number Placeholder 3">
            <a:extLst>
              <a:ext uri="{FF2B5EF4-FFF2-40B4-BE49-F238E27FC236}">
                <a16:creationId xmlns:a16="http://schemas.microsoft.com/office/drawing/2014/main" id="{94EACC90-F41C-49B4-4A11-6365CBB90133}"/>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5</a:t>
            </a:fld>
            <a:endParaRPr lang="en-US" sz="1600" dirty="0">
              <a:solidFill>
                <a:schemeClr val="tx1"/>
              </a:solidFill>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1CDE495D-546A-79B0-C34C-3338F0FC8A3D}"/>
              </a:ext>
            </a:extLst>
          </p:cNvPr>
          <p:cNvPicPr>
            <a:picLocks noChangeAspect="1"/>
          </p:cNvPicPr>
          <p:nvPr/>
        </p:nvPicPr>
        <p:blipFill>
          <a:blip r:embed="rId3"/>
          <a:stretch>
            <a:fillRect/>
          </a:stretch>
        </p:blipFill>
        <p:spPr>
          <a:xfrm>
            <a:off x="0" y="1665774"/>
            <a:ext cx="5649796" cy="4325185"/>
          </a:xfrm>
          <a:prstGeom prst="rect">
            <a:avLst/>
          </a:prstGeom>
        </p:spPr>
      </p:pic>
      <p:pic>
        <p:nvPicPr>
          <p:cNvPr id="4" name="Picture 3">
            <a:extLst>
              <a:ext uri="{FF2B5EF4-FFF2-40B4-BE49-F238E27FC236}">
                <a16:creationId xmlns:a16="http://schemas.microsoft.com/office/drawing/2014/main" id="{353E58DD-6D6B-7AFD-0774-2B5C3C7A1E24}"/>
              </a:ext>
            </a:extLst>
          </p:cNvPr>
          <p:cNvPicPr>
            <a:picLocks noChangeAspect="1"/>
          </p:cNvPicPr>
          <p:nvPr/>
        </p:nvPicPr>
        <p:blipFill>
          <a:blip r:embed="rId4"/>
          <a:stretch>
            <a:fillRect/>
          </a:stretch>
        </p:blipFill>
        <p:spPr>
          <a:xfrm>
            <a:off x="4005154" y="1666287"/>
            <a:ext cx="5649797" cy="4325186"/>
          </a:xfrm>
          <a:prstGeom prst="rect">
            <a:avLst/>
          </a:prstGeom>
        </p:spPr>
      </p:pic>
      <p:sp>
        <p:nvSpPr>
          <p:cNvPr id="5" name="TextBox 4">
            <a:extLst>
              <a:ext uri="{FF2B5EF4-FFF2-40B4-BE49-F238E27FC236}">
                <a16:creationId xmlns:a16="http://schemas.microsoft.com/office/drawing/2014/main" id="{0040ABEA-DC3D-C022-F95F-1E04C21E3B62}"/>
              </a:ext>
            </a:extLst>
          </p:cNvPr>
          <p:cNvSpPr txBox="1"/>
          <p:nvPr/>
        </p:nvSpPr>
        <p:spPr>
          <a:xfrm>
            <a:off x="0" y="192140"/>
            <a:ext cx="12192000" cy="461665"/>
          </a:xfrm>
          <a:prstGeom prst="rect">
            <a:avLst/>
          </a:prstGeom>
          <a:noFill/>
        </p:spPr>
        <p:txBody>
          <a:bodyPr wrap="square">
            <a:spAutoFit/>
          </a:bodyPr>
          <a:lstStyle/>
          <a:p>
            <a:pPr algn="ctr"/>
            <a:r>
              <a:rPr lang="en-US" sz="2400" b="0" i="0" dirty="0">
                <a:effectLst/>
                <a:latin typeface="Arial" panose="020B0604020202020204" pitchFamily="34" charset="0"/>
                <a:cs typeface="Arial" panose="020B0604020202020204" pitchFamily="34" charset="0"/>
              </a:rPr>
              <a:t>Data Analysis and Visualization</a:t>
            </a:r>
          </a:p>
        </p:txBody>
      </p:sp>
      <p:sp>
        <p:nvSpPr>
          <p:cNvPr id="6" name="TextBox 5">
            <a:extLst>
              <a:ext uri="{FF2B5EF4-FFF2-40B4-BE49-F238E27FC236}">
                <a16:creationId xmlns:a16="http://schemas.microsoft.com/office/drawing/2014/main" id="{3D469ECA-E733-9160-3060-8A021303950F}"/>
              </a:ext>
            </a:extLst>
          </p:cNvPr>
          <p:cNvSpPr txBox="1"/>
          <p:nvPr/>
        </p:nvSpPr>
        <p:spPr>
          <a:xfrm>
            <a:off x="127929" y="893565"/>
            <a:ext cx="12191999" cy="584775"/>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Feed: 20 mM NaCl</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Diafiltrate: 10 mM NaCl, 50 mM CaCl</a:t>
            </a:r>
            <a:r>
              <a:rPr lang="en-US" sz="1600" baseline="-25000" dirty="0">
                <a:latin typeface="Arial" panose="020B0604020202020204" pitchFamily="34" charset="0"/>
                <a:cs typeface="Arial" panose="020B0604020202020204" pitchFamily="34" charset="0"/>
              </a:rPr>
              <a:t>2</a:t>
            </a:r>
            <a:r>
              <a:rPr lang="en-US" sz="1600" dirty="0">
                <a:latin typeface="Arial" panose="020B0604020202020204" pitchFamily="34" charset="0"/>
                <a:cs typeface="Arial" panose="020B0604020202020204" pitchFamily="34" charset="0"/>
              </a:rPr>
              <a:t> </a:t>
            </a:r>
          </a:p>
        </p:txBody>
      </p:sp>
      <p:pic>
        <p:nvPicPr>
          <p:cNvPr id="8" name="Picture 7">
            <a:extLst>
              <a:ext uri="{FF2B5EF4-FFF2-40B4-BE49-F238E27FC236}">
                <a16:creationId xmlns:a16="http://schemas.microsoft.com/office/drawing/2014/main" id="{999D8740-2477-5406-4C19-D74EB04FAD30}"/>
              </a:ext>
            </a:extLst>
          </p:cNvPr>
          <p:cNvPicPr>
            <a:picLocks noChangeAspect="1"/>
          </p:cNvPicPr>
          <p:nvPr/>
        </p:nvPicPr>
        <p:blipFill>
          <a:blip r:embed="rId5"/>
          <a:stretch>
            <a:fillRect/>
          </a:stretch>
        </p:blipFill>
        <p:spPr>
          <a:xfrm>
            <a:off x="4005153" y="1666800"/>
            <a:ext cx="5649797" cy="4325186"/>
          </a:xfrm>
          <a:prstGeom prst="rect">
            <a:avLst/>
          </a:prstGeom>
        </p:spPr>
      </p:pic>
      <p:pic>
        <p:nvPicPr>
          <p:cNvPr id="10" name="Picture 9">
            <a:extLst>
              <a:ext uri="{FF2B5EF4-FFF2-40B4-BE49-F238E27FC236}">
                <a16:creationId xmlns:a16="http://schemas.microsoft.com/office/drawing/2014/main" id="{F3449477-D719-C1B4-81E0-1174EBD5E0A3}"/>
              </a:ext>
            </a:extLst>
          </p:cNvPr>
          <p:cNvPicPr>
            <a:picLocks noChangeAspect="1"/>
          </p:cNvPicPr>
          <p:nvPr/>
        </p:nvPicPr>
        <p:blipFill>
          <a:blip r:embed="rId6"/>
          <a:stretch>
            <a:fillRect/>
          </a:stretch>
        </p:blipFill>
        <p:spPr>
          <a:xfrm>
            <a:off x="0" y="1666800"/>
            <a:ext cx="5649796" cy="4325186"/>
          </a:xfrm>
          <a:prstGeom prst="rect">
            <a:avLst/>
          </a:prstGeom>
        </p:spPr>
      </p:pic>
      <p:pic>
        <p:nvPicPr>
          <p:cNvPr id="3" name="Picture 2">
            <a:extLst>
              <a:ext uri="{FF2B5EF4-FFF2-40B4-BE49-F238E27FC236}">
                <a16:creationId xmlns:a16="http://schemas.microsoft.com/office/drawing/2014/main" id="{B5125DAF-C513-09F2-E62B-6F432A8B3104}"/>
              </a:ext>
            </a:extLst>
          </p:cNvPr>
          <p:cNvPicPr>
            <a:picLocks noChangeAspect="1"/>
          </p:cNvPicPr>
          <p:nvPr/>
        </p:nvPicPr>
        <p:blipFill>
          <a:blip r:embed="rId7"/>
          <a:stretch>
            <a:fillRect/>
          </a:stretch>
        </p:blipFill>
        <p:spPr>
          <a:xfrm>
            <a:off x="8378699" y="2195693"/>
            <a:ext cx="3685372" cy="3194670"/>
          </a:xfrm>
          <a:prstGeom prst="rect">
            <a:avLst/>
          </a:prstGeom>
        </p:spPr>
      </p:pic>
      <p:pic>
        <p:nvPicPr>
          <p:cNvPr id="7" name="Picture 6">
            <a:extLst>
              <a:ext uri="{FF2B5EF4-FFF2-40B4-BE49-F238E27FC236}">
                <a16:creationId xmlns:a16="http://schemas.microsoft.com/office/drawing/2014/main" id="{F266D8F3-DCFA-B860-9DAB-94E4064F79F6}"/>
              </a:ext>
            </a:extLst>
          </p:cNvPr>
          <p:cNvPicPr>
            <a:picLocks noChangeAspect="1"/>
          </p:cNvPicPr>
          <p:nvPr/>
        </p:nvPicPr>
        <p:blipFill>
          <a:blip r:embed="rId8"/>
          <a:stretch>
            <a:fillRect/>
          </a:stretch>
        </p:blipFill>
        <p:spPr>
          <a:xfrm>
            <a:off x="9184012" y="350910"/>
            <a:ext cx="2383462" cy="1792808"/>
          </a:xfrm>
          <a:prstGeom prst="rect">
            <a:avLst/>
          </a:prstGeom>
        </p:spPr>
      </p:pic>
      <p:pic>
        <p:nvPicPr>
          <p:cNvPr id="11" name="Picture 10">
            <a:extLst>
              <a:ext uri="{FF2B5EF4-FFF2-40B4-BE49-F238E27FC236}">
                <a16:creationId xmlns:a16="http://schemas.microsoft.com/office/drawing/2014/main" id="{6838436C-29BB-A22B-CB36-A77305824928}"/>
              </a:ext>
            </a:extLst>
          </p:cNvPr>
          <p:cNvPicPr>
            <a:picLocks noChangeAspect="1"/>
          </p:cNvPicPr>
          <p:nvPr/>
        </p:nvPicPr>
        <p:blipFill>
          <a:blip r:embed="rId9"/>
          <a:stretch>
            <a:fillRect/>
          </a:stretch>
        </p:blipFill>
        <p:spPr>
          <a:xfrm>
            <a:off x="0" y="1666800"/>
            <a:ext cx="5649796" cy="4325186"/>
          </a:xfrm>
          <a:prstGeom prst="rect">
            <a:avLst/>
          </a:prstGeom>
        </p:spPr>
      </p:pic>
      <p:sp>
        <p:nvSpPr>
          <p:cNvPr id="12" name="TextBox 11">
            <a:extLst>
              <a:ext uri="{FF2B5EF4-FFF2-40B4-BE49-F238E27FC236}">
                <a16:creationId xmlns:a16="http://schemas.microsoft.com/office/drawing/2014/main" id="{CD2E495F-B2D2-A84A-8D68-5A54F0541F38}"/>
              </a:ext>
            </a:extLst>
          </p:cNvPr>
          <p:cNvSpPr txBox="1"/>
          <p:nvPr/>
        </p:nvSpPr>
        <p:spPr>
          <a:xfrm>
            <a:off x="51643" y="6408182"/>
            <a:ext cx="5828812" cy="276999"/>
          </a:xfrm>
          <a:prstGeom prst="rect">
            <a:avLst/>
          </a:prstGeom>
          <a:noFill/>
        </p:spPr>
        <p:txBody>
          <a:bodyPr wrap="square">
            <a:spAutoFit/>
          </a:bodyPr>
          <a:lstStyle/>
          <a:p>
            <a:r>
              <a:rPr lang="en-US" sz="1200" b="0" i="0" dirty="0">
                <a:solidFill>
                  <a:schemeClr val="bg1">
                    <a:lumMod val="65000"/>
                  </a:schemeClr>
                </a:solidFill>
                <a:effectLst/>
                <a:latin typeface="Arial" panose="020B0604020202020204" pitchFamily="34" charset="0"/>
                <a:cs typeface="Arial" panose="020B0604020202020204" pitchFamily="34" charset="0"/>
              </a:rPr>
              <a:t>Running Experiments | </a:t>
            </a:r>
            <a:r>
              <a:rPr lang="en-US" sz="1200" b="0" i="0" dirty="0">
                <a:effectLst/>
                <a:latin typeface="Arial" panose="020B0604020202020204" pitchFamily="34" charset="0"/>
                <a:cs typeface="Arial" panose="020B0604020202020204" pitchFamily="34" charset="0"/>
              </a:rPr>
              <a:t>Data Analysis </a:t>
            </a:r>
            <a:r>
              <a:rPr lang="en-US" sz="1200" b="0" i="0" dirty="0">
                <a:solidFill>
                  <a:schemeClr val="bg1">
                    <a:lumMod val="65000"/>
                  </a:schemeClr>
                </a:solidFill>
                <a:effectLst/>
                <a:latin typeface="Arial" panose="020B0604020202020204" pitchFamily="34" charset="0"/>
                <a:cs typeface="Arial" panose="020B0604020202020204" pitchFamily="34" charset="0"/>
              </a:rPr>
              <a:t>| Visualizing Data and Next Steps </a:t>
            </a:r>
          </a:p>
        </p:txBody>
      </p:sp>
    </p:spTree>
    <p:extLst>
      <p:ext uri="{BB962C8B-B14F-4D97-AF65-F5344CB8AC3E}">
        <p14:creationId xmlns:p14="http://schemas.microsoft.com/office/powerpoint/2010/main" val="3960881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10"/>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B164E-B1CA-C5D6-5BCF-C5298DBBAE4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57C47BB-D5D4-5855-3CE3-13415477498D}"/>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B2D1515-8D55-092C-5685-E335CA4BDB97}"/>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3">
            <a:extLst>
              <a:ext uri="{FF2B5EF4-FFF2-40B4-BE49-F238E27FC236}">
                <a16:creationId xmlns:a16="http://schemas.microsoft.com/office/drawing/2014/main" id="{67FEE5FB-EA18-FD52-7F58-D533478B4E98}"/>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6</a:t>
            </a:fld>
            <a:endParaRPr lang="en-US" sz="1600" dirty="0">
              <a:solidFill>
                <a:schemeClr val="tx1"/>
              </a:solidFill>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06A8D693-AE72-1E44-EF20-12ECEE9F64A9}"/>
              </a:ext>
            </a:extLst>
          </p:cNvPr>
          <p:cNvPicPr>
            <a:picLocks noChangeAspect="1"/>
          </p:cNvPicPr>
          <p:nvPr/>
        </p:nvPicPr>
        <p:blipFill>
          <a:blip r:embed="rId3"/>
          <a:stretch>
            <a:fillRect/>
          </a:stretch>
        </p:blipFill>
        <p:spPr>
          <a:xfrm>
            <a:off x="6104543" y="1414699"/>
            <a:ext cx="4454409" cy="3016457"/>
          </a:xfrm>
          <a:prstGeom prst="rect">
            <a:avLst/>
          </a:prstGeom>
        </p:spPr>
      </p:pic>
      <p:sp>
        <p:nvSpPr>
          <p:cNvPr id="3" name="TextBox 2">
            <a:extLst>
              <a:ext uri="{FF2B5EF4-FFF2-40B4-BE49-F238E27FC236}">
                <a16:creationId xmlns:a16="http://schemas.microsoft.com/office/drawing/2014/main" id="{D5193684-5226-5971-43D8-8981018C7079}"/>
              </a:ext>
            </a:extLst>
          </p:cNvPr>
          <p:cNvSpPr txBox="1"/>
          <p:nvPr/>
        </p:nvSpPr>
        <p:spPr>
          <a:xfrm>
            <a:off x="0" y="5368519"/>
            <a:ext cx="12191999"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The data plots the retentate concentrations that were explored throughout the course of the experiments.</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 Compare the final concentrations in experiment group (1) CaCl</a:t>
            </a:r>
            <a:r>
              <a:rPr lang="en-US" sz="1600" baseline="-25000" dirty="0">
                <a:latin typeface="Arial" panose="020B0604020202020204" pitchFamily="34" charset="0"/>
                <a:cs typeface="Arial" panose="020B0604020202020204" pitchFamily="34" charset="0"/>
              </a:rPr>
              <a:t>2</a:t>
            </a:r>
            <a:r>
              <a:rPr lang="en-US" sz="1600" dirty="0">
                <a:latin typeface="Arial" panose="020B0604020202020204" pitchFamily="34" charset="0"/>
                <a:cs typeface="Arial" panose="020B0604020202020204" pitchFamily="34" charset="0"/>
              </a:rPr>
              <a:t>, E3, E4 and (2) NaCl, E1, E2</a:t>
            </a:r>
          </a:p>
          <a:p>
            <a:pPr marL="285750"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3D625FAE-E5D4-58BC-B29F-54EDE029F049}"/>
              </a:ext>
            </a:extLst>
          </p:cNvPr>
          <p:cNvPicPr>
            <a:picLocks noChangeAspect="1"/>
          </p:cNvPicPr>
          <p:nvPr/>
        </p:nvPicPr>
        <p:blipFill>
          <a:blip r:embed="rId4"/>
          <a:stretch>
            <a:fillRect/>
          </a:stretch>
        </p:blipFill>
        <p:spPr>
          <a:xfrm>
            <a:off x="942148" y="653805"/>
            <a:ext cx="6259718" cy="4792110"/>
          </a:xfrm>
          <a:prstGeom prst="rect">
            <a:avLst/>
          </a:prstGeom>
        </p:spPr>
      </p:pic>
      <p:sp>
        <p:nvSpPr>
          <p:cNvPr id="9" name="TextBox 8">
            <a:extLst>
              <a:ext uri="{FF2B5EF4-FFF2-40B4-BE49-F238E27FC236}">
                <a16:creationId xmlns:a16="http://schemas.microsoft.com/office/drawing/2014/main" id="{E5F2EC67-8BCF-6D14-1AB2-A5D45B8A7030}"/>
              </a:ext>
            </a:extLst>
          </p:cNvPr>
          <p:cNvSpPr txBox="1"/>
          <p:nvPr/>
        </p:nvSpPr>
        <p:spPr>
          <a:xfrm>
            <a:off x="0" y="192140"/>
            <a:ext cx="12192000" cy="461665"/>
          </a:xfrm>
          <a:prstGeom prst="rect">
            <a:avLst/>
          </a:prstGeom>
          <a:noFill/>
        </p:spPr>
        <p:txBody>
          <a:bodyPr wrap="square">
            <a:spAutoFit/>
          </a:bodyPr>
          <a:lstStyle/>
          <a:p>
            <a:pPr algn="ctr"/>
            <a:r>
              <a:rPr lang="en-US" sz="2400" b="0" i="0" dirty="0">
                <a:effectLst/>
                <a:latin typeface="Arial" panose="020B0604020202020204" pitchFamily="34" charset="0"/>
                <a:cs typeface="Arial" panose="020B0604020202020204" pitchFamily="34" charset="0"/>
              </a:rPr>
              <a:t>Diafiltration Experiments Systematically Explore Multi-component Feeds</a:t>
            </a:r>
          </a:p>
        </p:txBody>
      </p:sp>
      <p:sp>
        <p:nvSpPr>
          <p:cNvPr id="10" name="TextBox 9">
            <a:extLst>
              <a:ext uri="{FF2B5EF4-FFF2-40B4-BE49-F238E27FC236}">
                <a16:creationId xmlns:a16="http://schemas.microsoft.com/office/drawing/2014/main" id="{656B2D6E-FAE8-9352-DBD3-7011841E8FB2}"/>
              </a:ext>
            </a:extLst>
          </p:cNvPr>
          <p:cNvSpPr txBox="1"/>
          <p:nvPr/>
        </p:nvSpPr>
        <p:spPr>
          <a:xfrm>
            <a:off x="51643" y="6408182"/>
            <a:ext cx="5828812" cy="276999"/>
          </a:xfrm>
          <a:prstGeom prst="rect">
            <a:avLst/>
          </a:prstGeom>
          <a:noFill/>
        </p:spPr>
        <p:txBody>
          <a:bodyPr wrap="square">
            <a:spAutoFit/>
          </a:bodyPr>
          <a:lstStyle/>
          <a:p>
            <a:r>
              <a:rPr lang="en-US" sz="1200" b="0" i="0" dirty="0">
                <a:solidFill>
                  <a:schemeClr val="bg1">
                    <a:lumMod val="65000"/>
                  </a:schemeClr>
                </a:solidFill>
                <a:effectLst/>
                <a:latin typeface="Arial" panose="020B0604020202020204" pitchFamily="34" charset="0"/>
                <a:cs typeface="Arial" panose="020B0604020202020204" pitchFamily="34" charset="0"/>
              </a:rPr>
              <a:t>Running Experiments | Data Analysis | </a:t>
            </a:r>
            <a:r>
              <a:rPr lang="en-US" sz="1200" b="0" i="0" dirty="0">
                <a:effectLst/>
                <a:latin typeface="Arial" panose="020B0604020202020204" pitchFamily="34" charset="0"/>
                <a:cs typeface="Arial" panose="020B0604020202020204" pitchFamily="34" charset="0"/>
              </a:rPr>
              <a:t>Visualizing Data and Next Steps </a:t>
            </a:r>
          </a:p>
        </p:txBody>
      </p:sp>
    </p:spTree>
    <p:extLst>
      <p:ext uri="{BB962C8B-B14F-4D97-AF65-F5344CB8AC3E}">
        <p14:creationId xmlns:p14="http://schemas.microsoft.com/office/powerpoint/2010/main" val="3743210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B164E-B1CA-C5D6-5BCF-C5298DBBAE4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57C47BB-D5D4-5855-3CE3-13415477498D}"/>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B2D1515-8D55-092C-5685-E335CA4BDB97}"/>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3">
            <a:extLst>
              <a:ext uri="{FF2B5EF4-FFF2-40B4-BE49-F238E27FC236}">
                <a16:creationId xmlns:a16="http://schemas.microsoft.com/office/drawing/2014/main" id="{67FEE5FB-EA18-FD52-7F58-D533478B4E98}"/>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7</a:t>
            </a:fld>
            <a:endParaRPr lang="en-US" sz="1600" dirty="0">
              <a:solidFill>
                <a:schemeClr val="tx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70E1A08B-3E71-B05E-FFEC-526EDBF3935E}"/>
              </a:ext>
            </a:extLst>
          </p:cNvPr>
          <p:cNvSpPr txBox="1"/>
          <p:nvPr/>
        </p:nvSpPr>
        <p:spPr>
          <a:xfrm>
            <a:off x="1092643" y="1755505"/>
            <a:ext cx="1765968" cy="430887"/>
          </a:xfrm>
          <a:prstGeom prst="rect">
            <a:avLst/>
          </a:prstGeom>
          <a:noFill/>
        </p:spPr>
        <p:txBody>
          <a:bodyPr wrap="square">
            <a:spAutoFit/>
          </a:bodyPr>
          <a:lstStyle/>
          <a:p>
            <a:r>
              <a:rPr lang="en-US" sz="1100" dirty="0">
                <a:latin typeface="Arial" panose="020B0604020202020204" pitchFamily="34" charset="0"/>
                <a:cs typeface="Arial" panose="020B0604020202020204" pitchFamily="34" charset="0"/>
              </a:rPr>
              <a:t>Multicomponent Ca, Na</a:t>
            </a:r>
          </a:p>
          <a:p>
            <a:r>
              <a:rPr lang="en-US" sz="1100" dirty="0">
                <a:solidFill>
                  <a:srgbClr val="7676FF"/>
                </a:solidFill>
                <a:latin typeface="Arial" panose="020B0604020202020204" pitchFamily="34" charset="0"/>
                <a:cs typeface="Arial" panose="020B0604020202020204" pitchFamily="34" charset="0"/>
              </a:rPr>
              <a:t>Single component, Na</a:t>
            </a:r>
          </a:p>
        </p:txBody>
      </p:sp>
      <p:sp>
        <p:nvSpPr>
          <p:cNvPr id="3" name="TextBox 2">
            <a:extLst>
              <a:ext uri="{FF2B5EF4-FFF2-40B4-BE49-F238E27FC236}">
                <a16:creationId xmlns:a16="http://schemas.microsoft.com/office/drawing/2014/main" id="{06162258-68D8-8312-78D3-056A85F9E916}"/>
              </a:ext>
            </a:extLst>
          </p:cNvPr>
          <p:cNvSpPr txBox="1"/>
          <p:nvPr/>
        </p:nvSpPr>
        <p:spPr>
          <a:xfrm>
            <a:off x="0" y="192140"/>
            <a:ext cx="12192000" cy="461665"/>
          </a:xfrm>
          <a:prstGeom prst="rect">
            <a:avLst/>
          </a:prstGeom>
          <a:noFill/>
        </p:spPr>
        <p:txBody>
          <a:bodyPr wrap="square">
            <a:spAutoFit/>
          </a:bodyPr>
          <a:lstStyle/>
          <a:p>
            <a:pPr algn="ctr"/>
            <a:r>
              <a:rPr lang="en-US" sz="2400" b="0" i="0" dirty="0">
                <a:effectLst/>
                <a:latin typeface="Arial" panose="020B0604020202020204" pitchFamily="34" charset="0"/>
                <a:cs typeface="Arial" panose="020B0604020202020204" pitchFamily="34" charset="0"/>
              </a:rPr>
              <a:t>The Presence of Divalent Ions Enhance the Flux of Monovalent Ions</a:t>
            </a:r>
          </a:p>
        </p:txBody>
      </p:sp>
      <p:sp>
        <p:nvSpPr>
          <p:cNvPr id="6" name="TextBox 5">
            <a:extLst>
              <a:ext uri="{FF2B5EF4-FFF2-40B4-BE49-F238E27FC236}">
                <a16:creationId xmlns:a16="http://schemas.microsoft.com/office/drawing/2014/main" id="{FD3233AE-6C4F-ACE0-A8EF-E21E9FBBEE6A}"/>
              </a:ext>
            </a:extLst>
          </p:cNvPr>
          <p:cNvSpPr txBox="1"/>
          <p:nvPr/>
        </p:nvSpPr>
        <p:spPr>
          <a:xfrm>
            <a:off x="234004" y="5571707"/>
            <a:ext cx="11119796" cy="830997"/>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Deriving New Equations</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Concentration polarization – Accounts for diffusion and convection. Need to modify for electromigration. </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Flux through membrane – Possess equations for diffusion/convection. Need to modify for electromigration. </a:t>
            </a:r>
          </a:p>
        </p:txBody>
      </p:sp>
      <p:pic>
        <p:nvPicPr>
          <p:cNvPr id="8" name="Picture 7">
            <a:extLst>
              <a:ext uri="{FF2B5EF4-FFF2-40B4-BE49-F238E27FC236}">
                <a16:creationId xmlns:a16="http://schemas.microsoft.com/office/drawing/2014/main" id="{70E8CE6B-FE06-6680-9EA0-A658C040FB06}"/>
              </a:ext>
            </a:extLst>
          </p:cNvPr>
          <p:cNvPicPr>
            <a:picLocks noChangeAspect="1"/>
          </p:cNvPicPr>
          <p:nvPr/>
        </p:nvPicPr>
        <p:blipFill>
          <a:blip r:embed="rId3"/>
          <a:stretch>
            <a:fillRect/>
          </a:stretch>
        </p:blipFill>
        <p:spPr>
          <a:xfrm>
            <a:off x="6267634" y="1299312"/>
            <a:ext cx="4339565" cy="4129247"/>
          </a:xfrm>
          <a:prstGeom prst="rect">
            <a:avLst/>
          </a:prstGeom>
        </p:spPr>
      </p:pic>
      <p:pic>
        <p:nvPicPr>
          <p:cNvPr id="13" name="Picture 12">
            <a:extLst>
              <a:ext uri="{FF2B5EF4-FFF2-40B4-BE49-F238E27FC236}">
                <a16:creationId xmlns:a16="http://schemas.microsoft.com/office/drawing/2014/main" id="{390B46B4-8106-2945-DF85-1F0403C1E3C7}"/>
              </a:ext>
            </a:extLst>
          </p:cNvPr>
          <p:cNvPicPr>
            <a:picLocks noChangeAspect="1"/>
          </p:cNvPicPr>
          <p:nvPr/>
        </p:nvPicPr>
        <p:blipFill>
          <a:blip r:embed="rId4"/>
          <a:stretch>
            <a:fillRect/>
          </a:stretch>
        </p:blipFill>
        <p:spPr>
          <a:xfrm>
            <a:off x="1092643" y="1186106"/>
            <a:ext cx="4339565" cy="4227937"/>
          </a:xfrm>
          <a:prstGeom prst="rect">
            <a:avLst/>
          </a:prstGeom>
        </p:spPr>
      </p:pic>
      <p:sp>
        <p:nvSpPr>
          <p:cNvPr id="18" name="Oval 17">
            <a:extLst>
              <a:ext uri="{FF2B5EF4-FFF2-40B4-BE49-F238E27FC236}">
                <a16:creationId xmlns:a16="http://schemas.microsoft.com/office/drawing/2014/main" id="{6724386F-0991-91ED-FADF-85FA9400D4E3}"/>
              </a:ext>
            </a:extLst>
          </p:cNvPr>
          <p:cNvSpPr/>
          <p:nvPr/>
        </p:nvSpPr>
        <p:spPr>
          <a:xfrm rot="2066763">
            <a:off x="3456806" y="862598"/>
            <a:ext cx="450615" cy="4543271"/>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448A0F65-5B39-8767-0859-227876188E40}"/>
              </a:ext>
            </a:extLst>
          </p:cNvPr>
          <p:cNvSpPr txBox="1"/>
          <p:nvPr/>
        </p:nvSpPr>
        <p:spPr>
          <a:xfrm>
            <a:off x="3361200" y="863277"/>
            <a:ext cx="3062107" cy="338554"/>
          </a:xfrm>
          <a:prstGeom prst="rect">
            <a:avLst/>
          </a:prstGeom>
          <a:noFill/>
        </p:spPr>
        <p:txBody>
          <a:bodyPr wrap="square" rtlCol="0">
            <a:spAutoFit/>
          </a:bodyPr>
          <a:lstStyle/>
          <a:p>
            <a:r>
              <a:rPr lang="en-US" sz="1600" dirty="0">
                <a:solidFill>
                  <a:srgbClr val="FF0000"/>
                </a:solidFill>
                <a:latin typeface="Arial" panose="020B0604020202020204" pitchFamily="34" charset="0"/>
                <a:cs typeface="Arial" panose="020B0604020202020204" pitchFamily="34" charset="0"/>
              </a:rPr>
              <a:t>Constant Ca</a:t>
            </a:r>
            <a:r>
              <a:rPr lang="en-US" sz="1600" baseline="30000" dirty="0">
                <a:solidFill>
                  <a:srgbClr val="FF0000"/>
                </a:solidFill>
                <a:latin typeface="Arial" panose="020B0604020202020204" pitchFamily="34" charset="0"/>
                <a:cs typeface="Arial" panose="020B0604020202020204" pitchFamily="34" charset="0"/>
              </a:rPr>
              <a:t>2+</a:t>
            </a:r>
            <a:r>
              <a:rPr lang="en-US" sz="1600" dirty="0">
                <a:solidFill>
                  <a:srgbClr val="FF0000"/>
                </a:solidFill>
                <a:latin typeface="Arial" panose="020B0604020202020204" pitchFamily="34" charset="0"/>
                <a:cs typeface="Arial" panose="020B0604020202020204" pitchFamily="34" charset="0"/>
              </a:rPr>
              <a:t>, Increasing NaCl</a:t>
            </a:r>
            <a:r>
              <a:rPr lang="en-US" sz="1600" baseline="30000" dirty="0">
                <a:solidFill>
                  <a:srgbClr val="FF0000"/>
                </a:solidFill>
                <a:latin typeface="Arial" panose="020B0604020202020204" pitchFamily="34" charset="0"/>
                <a:cs typeface="Arial" panose="020B0604020202020204" pitchFamily="34" charset="0"/>
              </a:rPr>
              <a:t> </a:t>
            </a:r>
          </a:p>
        </p:txBody>
      </p:sp>
      <p:sp>
        <p:nvSpPr>
          <p:cNvPr id="20" name="Oval 19">
            <a:extLst>
              <a:ext uri="{FF2B5EF4-FFF2-40B4-BE49-F238E27FC236}">
                <a16:creationId xmlns:a16="http://schemas.microsoft.com/office/drawing/2014/main" id="{CC863723-E6CF-3A0A-B19A-6E0240EB3569}"/>
              </a:ext>
            </a:extLst>
          </p:cNvPr>
          <p:cNvSpPr/>
          <p:nvPr/>
        </p:nvSpPr>
        <p:spPr>
          <a:xfrm rot="5400000">
            <a:off x="8091142" y="1257043"/>
            <a:ext cx="621437" cy="1392089"/>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EBCAE46-BDE8-7031-5130-CD2A4EA4D952}"/>
              </a:ext>
            </a:extLst>
          </p:cNvPr>
          <p:cNvSpPr/>
          <p:nvPr/>
        </p:nvSpPr>
        <p:spPr>
          <a:xfrm rot="1221092">
            <a:off x="2998734" y="2781146"/>
            <a:ext cx="379689" cy="873969"/>
          </a:xfrm>
          <a:prstGeom prst="ellipse">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2E1B682B-FDA2-1D3E-FC42-8413DB32B080}"/>
              </a:ext>
            </a:extLst>
          </p:cNvPr>
          <p:cNvSpPr/>
          <p:nvPr/>
        </p:nvSpPr>
        <p:spPr>
          <a:xfrm>
            <a:off x="2315723" y="3714852"/>
            <a:ext cx="379689" cy="873969"/>
          </a:xfrm>
          <a:prstGeom prst="ellipse">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B75C547-C680-60A9-36A2-FA9AEE1FBBCD}"/>
              </a:ext>
            </a:extLst>
          </p:cNvPr>
          <p:cNvSpPr/>
          <p:nvPr/>
        </p:nvSpPr>
        <p:spPr>
          <a:xfrm rot="5400000">
            <a:off x="8800262" y="1452695"/>
            <a:ext cx="746431" cy="2368654"/>
          </a:xfrm>
          <a:prstGeom prst="ellipse">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AAED09FB-5217-E25E-109B-B66B64C18822}"/>
              </a:ext>
            </a:extLst>
          </p:cNvPr>
          <p:cNvSpPr txBox="1"/>
          <p:nvPr/>
        </p:nvSpPr>
        <p:spPr>
          <a:xfrm>
            <a:off x="3361200" y="1070618"/>
            <a:ext cx="3062107" cy="338554"/>
          </a:xfrm>
          <a:prstGeom prst="rect">
            <a:avLst/>
          </a:prstGeom>
          <a:noFill/>
        </p:spPr>
        <p:txBody>
          <a:bodyPr wrap="square" rtlCol="0">
            <a:spAutoFit/>
          </a:bodyPr>
          <a:lstStyle/>
          <a:p>
            <a:r>
              <a:rPr lang="en-US" sz="1600" dirty="0">
                <a:solidFill>
                  <a:srgbClr val="00B050"/>
                </a:solidFill>
                <a:latin typeface="Arial" panose="020B0604020202020204" pitchFamily="34" charset="0"/>
                <a:cs typeface="Arial" panose="020B0604020202020204" pitchFamily="34" charset="0"/>
              </a:rPr>
              <a:t>Constant Na</a:t>
            </a:r>
            <a:r>
              <a:rPr lang="en-US" sz="1600" baseline="30000" dirty="0">
                <a:solidFill>
                  <a:srgbClr val="00B050"/>
                </a:solidFill>
                <a:latin typeface="Arial" panose="020B0604020202020204" pitchFamily="34" charset="0"/>
                <a:cs typeface="Arial" panose="020B0604020202020204" pitchFamily="34" charset="0"/>
              </a:rPr>
              <a:t>+</a:t>
            </a:r>
            <a:r>
              <a:rPr lang="en-US" sz="1600" dirty="0">
                <a:solidFill>
                  <a:srgbClr val="00B050"/>
                </a:solidFill>
                <a:latin typeface="Arial" panose="020B0604020202020204" pitchFamily="34" charset="0"/>
                <a:cs typeface="Arial" panose="020B0604020202020204" pitchFamily="34" charset="0"/>
              </a:rPr>
              <a:t>, Increasing Ca</a:t>
            </a:r>
            <a:r>
              <a:rPr lang="en-US" sz="1600" baseline="30000" dirty="0">
                <a:solidFill>
                  <a:srgbClr val="00B050"/>
                </a:solidFill>
                <a:latin typeface="Arial" panose="020B0604020202020204" pitchFamily="34" charset="0"/>
                <a:cs typeface="Arial" panose="020B0604020202020204" pitchFamily="34" charset="0"/>
              </a:rPr>
              <a:t>2+</a:t>
            </a:r>
          </a:p>
        </p:txBody>
      </p:sp>
      <p:sp>
        <p:nvSpPr>
          <p:cNvPr id="25" name="Arrow: Up 24">
            <a:extLst>
              <a:ext uri="{FF2B5EF4-FFF2-40B4-BE49-F238E27FC236}">
                <a16:creationId xmlns:a16="http://schemas.microsoft.com/office/drawing/2014/main" id="{8B4CF820-30C1-AF52-C878-6A8104A12040}"/>
              </a:ext>
            </a:extLst>
          </p:cNvPr>
          <p:cNvSpPr/>
          <p:nvPr/>
        </p:nvSpPr>
        <p:spPr>
          <a:xfrm>
            <a:off x="2058983" y="3750975"/>
            <a:ext cx="204581" cy="712736"/>
          </a:xfrm>
          <a:prstGeom prst="upArrow">
            <a:avLst/>
          </a:prstGeom>
          <a:solidFill>
            <a:srgbClr val="00FF0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A536C982-733F-9E37-E28D-E9A40E8C6991}"/>
              </a:ext>
            </a:extLst>
          </p:cNvPr>
          <p:cNvSpPr txBox="1"/>
          <p:nvPr/>
        </p:nvSpPr>
        <p:spPr>
          <a:xfrm>
            <a:off x="1724029" y="3126141"/>
            <a:ext cx="1183387" cy="584775"/>
          </a:xfrm>
          <a:prstGeom prst="rect">
            <a:avLst/>
          </a:prstGeom>
          <a:noFill/>
        </p:spPr>
        <p:txBody>
          <a:bodyPr wrap="square" rtlCol="0">
            <a:spAutoFit/>
          </a:bodyPr>
          <a:lstStyle/>
          <a:p>
            <a:r>
              <a:rPr lang="en-US" sz="1600" dirty="0">
                <a:solidFill>
                  <a:srgbClr val="00B050"/>
                </a:solidFill>
                <a:latin typeface="Arial" panose="020B0604020202020204" pitchFamily="34" charset="0"/>
                <a:cs typeface="Arial" panose="020B0604020202020204" pitchFamily="34" charset="0"/>
              </a:rPr>
              <a:t>Increasing [Ca</a:t>
            </a:r>
            <a:r>
              <a:rPr lang="en-US" sz="1600" baseline="30000" dirty="0">
                <a:solidFill>
                  <a:srgbClr val="00B050"/>
                </a:solidFill>
                <a:latin typeface="Arial" panose="020B0604020202020204" pitchFamily="34" charset="0"/>
                <a:cs typeface="Arial" panose="020B0604020202020204" pitchFamily="34" charset="0"/>
              </a:rPr>
              <a:t>2+</a:t>
            </a:r>
            <a:r>
              <a:rPr lang="en-US" sz="1600" dirty="0">
                <a:solidFill>
                  <a:srgbClr val="00B050"/>
                </a:solidFill>
                <a:latin typeface="Arial" panose="020B0604020202020204" pitchFamily="34" charset="0"/>
                <a:cs typeface="Arial" panose="020B0604020202020204" pitchFamily="34" charset="0"/>
              </a:rPr>
              <a:t>]</a:t>
            </a:r>
          </a:p>
        </p:txBody>
      </p:sp>
      <p:sp>
        <p:nvSpPr>
          <p:cNvPr id="27" name="TextBox 26">
            <a:extLst>
              <a:ext uri="{FF2B5EF4-FFF2-40B4-BE49-F238E27FC236}">
                <a16:creationId xmlns:a16="http://schemas.microsoft.com/office/drawing/2014/main" id="{09D4BAA6-DE1B-E41A-0260-0CDE835BA2D5}"/>
              </a:ext>
            </a:extLst>
          </p:cNvPr>
          <p:cNvSpPr txBox="1"/>
          <p:nvPr/>
        </p:nvSpPr>
        <p:spPr>
          <a:xfrm>
            <a:off x="6641084" y="951333"/>
            <a:ext cx="3939032" cy="338554"/>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Calculation of B Assumes Diffusion Only</a:t>
            </a:r>
          </a:p>
        </p:txBody>
      </p:sp>
      <p:sp>
        <p:nvSpPr>
          <p:cNvPr id="28" name="TextBox 27">
            <a:extLst>
              <a:ext uri="{FF2B5EF4-FFF2-40B4-BE49-F238E27FC236}">
                <a16:creationId xmlns:a16="http://schemas.microsoft.com/office/drawing/2014/main" id="{2B9CE0C6-EA14-9607-5AF3-74401A9EC171}"/>
              </a:ext>
            </a:extLst>
          </p:cNvPr>
          <p:cNvSpPr txBox="1"/>
          <p:nvPr/>
        </p:nvSpPr>
        <p:spPr>
          <a:xfrm>
            <a:off x="51643" y="6408182"/>
            <a:ext cx="5828812" cy="276999"/>
          </a:xfrm>
          <a:prstGeom prst="rect">
            <a:avLst/>
          </a:prstGeom>
          <a:noFill/>
        </p:spPr>
        <p:txBody>
          <a:bodyPr wrap="square">
            <a:spAutoFit/>
          </a:bodyPr>
          <a:lstStyle/>
          <a:p>
            <a:r>
              <a:rPr lang="en-US" sz="1200" b="0" i="0" dirty="0">
                <a:solidFill>
                  <a:schemeClr val="bg1">
                    <a:lumMod val="65000"/>
                  </a:schemeClr>
                </a:solidFill>
                <a:effectLst/>
                <a:latin typeface="Arial" panose="020B0604020202020204" pitchFamily="34" charset="0"/>
                <a:cs typeface="Arial" panose="020B0604020202020204" pitchFamily="34" charset="0"/>
              </a:rPr>
              <a:t>Running Experiments | Data Analysis | </a:t>
            </a:r>
            <a:r>
              <a:rPr lang="en-US" sz="1200" b="0" i="0" dirty="0">
                <a:effectLst/>
                <a:latin typeface="Arial" panose="020B0604020202020204" pitchFamily="34" charset="0"/>
                <a:cs typeface="Arial" panose="020B0604020202020204" pitchFamily="34" charset="0"/>
              </a:rPr>
              <a:t>Visualizing Data and Next Steps </a:t>
            </a:r>
          </a:p>
        </p:txBody>
      </p:sp>
    </p:spTree>
    <p:extLst>
      <p:ext uri="{BB962C8B-B14F-4D97-AF65-F5344CB8AC3E}">
        <p14:creationId xmlns:p14="http://schemas.microsoft.com/office/powerpoint/2010/main" val="697877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18"/>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19"/>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20"/>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P spid="19" grpId="0"/>
      <p:bldP spid="19" grpId="1"/>
      <p:bldP spid="20" grpId="0" animBg="1"/>
      <p:bldP spid="20" grpId="1" animBg="1"/>
      <p:bldP spid="21" grpId="0" animBg="1"/>
      <p:bldP spid="22" grpId="0" animBg="1"/>
      <p:bldP spid="23" grpId="0" animBg="1"/>
      <p:bldP spid="24" grpId="0"/>
      <p:bldP spid="25" grpId="0" animBg="1"/>
      <p:bldP spid="2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B164E-B1CA-C5D6-5BCF-C5298DBBAE4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57C47BB-D5D4-5855-3CE3-13415477498D}"/>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B2D1515-8D55-092C-5685-E335CA4BDB97}"/>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3">
            <a:extLst>
              <a:ext uri="{FF2B5EF4-FFF2-40B4-BE49-F238E27FC236}">
                <a16:creationId xmlns:a16="http://schemas.microsoft.com/office/drawing/2014/main" id="{67FEE5FB-EA18-FD52-7F58-D533478B4E98}"/>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8</a:t>
            </a:fld>
            <a:endParaRPr lang="en-US" sz="1600" dirty="0">
              <a:solidFill>
                <a:schemeClr val="tx1"/>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06162258-68D8-8312-78D3-056A85F9E916}"/>
              </a:ext>
            </a:extLst>
          </p:cNvPr>
          <p:cNvSpPr txBox="1"/>
          <p:nvPr/>
        </p:nvSpPr>
        <p:spPr>
          <a:xfrm>
            <a:off x="0" y="192140"/>
            <a:ext cx="12192000" cy="461665"/>
          </a:xfrm>
          <a:prstGeom prst="rect">
            <a:avLst/>
          </a:prstGeom>
          <a:noFill/>
        </p:spPr>
        <p:txBody>
          <a:bodyPr wrap="square">
            <a:spAutoFit/>
          </a:bodyPr>
          <a:lstStyle/>
          <a:p>
            <a:pPr algn="ctr"/>
            <a:r>
              <a:rPr lang="en-US" sz="2400" b="0" i="0" dirty="0">
                <a:effectLst/>
                <a:latin typeface="Arial" panose="020B0604020202020204" pitchFamily="34" charset="0"/>
                <a:cs typeface="Arial" panose="020B0604020202020204" pitchFamily="34" charset="0"/>
              </a:rPr>
              <a:t>Next Steps</a:t>
            </a:r>
          </a:p>
        </p:txBody>
      </p:sp>
      <p:sp>
        <p:nvSpPr>
          <p:cNvPr id="6" name="TextBox 5">
            <a:extLst>
              <a:ext uri="{FF2B5EF4-FFF2-40B4-BE49-F238E27FC236}">
                <a16:creationId xmlns:a16="http://schemas.microsoft.com/office/drawing/2014/main" id="{FD3233AE-6C4F-ACE0-A8EF-E21E9FBBEE6A}"/>
              </a:ext>
            </a:extLst>
          </p:cNvPr>
          <p:cNvSpPr txBox="1"/>
          <p:nvPr/>
        </p:nvSpPr>
        <p:spPr>
          <a:xfrm>
            <a:off x="234003" y="930804"/>
            <a:ext cx="5082463" cy="2862322"/>
          </a:xfrm>
          <a:prstGeom prst="rect">
            <a:avLst/>
          </a:prstGeom>
          <a:noFill/>
        </p:spPr>
        <p:txBody>
          <a:bodyPr wrap="square" rtlCol="0">
            <a:spAutoFit/>
          </a:bodyPr>
          <a:lstStyle/>
          <a:p>
            <a:pPr algn="ctr"/>
            <a:r>
              <a:rPr lang="en-US" sz="2000" b="1" dirty="0">
                <a:latin typeface="Arial" panose="020B0604020202020204" pitchFamily="34" charset="0"/>
                <a:cs typeface="Arial" panose="020B0604020202020204" pitchFamily="34" charset="0"/>
              </a:rPr>
              <a:t>Theory</a:t>
            </a:r>
          </a:p>
          <a:p>
            <a:pPr algn="ctr"/>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Derivation of equations to incorporate electromigration</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Nernst Plank (Flux through membrane)</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Concentration Polarization (Interface Conc.)</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Derivation of Donnan Equilibrium for multivalent species</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We know Donnan alone will not capture the transport of salts, we are developing the equations that illustrate this mathematically.</a:t>
            </a:r>
          </a:p>
        </p:txBody>
      </p:sp>
      <p:sp>
        <p:nvSpPr>
          <p:cNvPr id="28" name="TextBox 27">
            <a:extLst>
              <a:ext uri="{FF2B5EF4-FFF2-40B4-BE49-F238E27FC236}">
                <a16:creationId xmlns:a16="http://schemas.microsoft.com/office/drawing/2014/main" id="{2B9CE0C6-EA14-9607-5AF3-74401A9EC171}"/>
              </a:ext>
            </a:extLst>
          </p:cNvPr>
          <p:cNvSpPr txBox="1"/>
          <p:nvPr/>
        </p:nvSpPr>
        <p:spPr>
          <a:xfrm>
            <a:off x="51643" y="6408182"/>
            <a:ext cx="5828812" cy="276999"/>
          </a:xfrm>
          <a:prstGeom prst="rect">
            <a:avLst/>
          </a:prstGeom>
          <a:noFill/>
        </p:spPr>
        <p:txBody>
          <a:bodyPr wrap="square">
            <a:spAutoFit/>
          </a:bodyPr>
          <a:lstStyle/>
          <a:p>
            <a:r>
              <a:rPr lang="en-US" sz="1200" b="0" i="0" dirty="0">
                <a:solidFill>
                  <a:schemeClr val="bg1">
                    <a:lumMod val="65000"/>
                  </a:schemeClr>
                </a:solidFill>
                <a:effectLst/>
                <a:latin typeface="Arial" panose="020B0604020202020204" pitchFamily="34" charset="0"/>
                <a:cs typeface="Arial" panose="020B0604020202020204" pitchFamily="34" charset="0"/>
              </a:rPr>
              <a:t>Running Experiments | Data Analysis | </a:t>
            </a:r>
            <a:r>
              <a:rPr lang="en-US" sz="1200" b="0" i="0" dirty="0">
                <a:effectLst/>
                <a:latin typeface="Arial" panose="020B0604020202020204" pitchFamily="34" charset="0"/>
                <a:cs typeface="Arial" panose="020B0604020202020204" pitchFamily="34" charset="0"/>
              </a:rPr>
              <a:t>Visualizing Data and Next Steps </a:t>
            </a:r>
          </a:p>
        </p:txBody>
      </p:sp>
      <p:sp>
        <p:nvSpPr>
          <p:cNvPr id="7" name="TextBox 6">
            <a:extLst>
              <a:ext uri="{FF2B5EF4-FFF2-40B4-BE49-F238E27FC236}">
                <a16:creationId xmlns:a16="http://schemas.microsoft.com/office/drawing/2014/main" id="{5CB757A9-A62D-E093-C891-03045EA90EC0}"/>
              </a:ext>
            </a:extLst>
          </p:cNvPr>
          <p:cNvSpPr txBox="1"/>
          <p:nvPr/>
        </p:nvSpPr>
        <p:spPr>
          <a:xfrm>
            <a:off x="6069368" y="930804"/>
            <a:ext cx="5082463" cy="2862322"/>
          </a:xfrm>
          <a:prstGeom prst="rect">
            <a:avLst/>
          </a:prstGeom>
          <a:noFill/>
        </p:spPr>
        <p:txBody>
          <a:bodyPr wrap="square" rtlCol="0">
            <a:spAutoFit/>
          </a:bodyPr>
          <a:lstStyle/>
          <a:p>
            <a:pPr algn="ctr"/>
            <a:r>
              <a:rPr lang="en-US" sz="2000" b="1" dirty="0">
                <a:latin typeface="Arial" panose="020B0604020202020204" pitchFamily="34" charset="0"/>
                <a:cs typeface="Arial" panose="020B0604020202020204" pitchFamily="34" charset="0"/>
              </a:rPr>
              <a:t>Experimental</a:t>
            </a:r>
          </a:p>
          <a:p>
            <a:pPr algn="ctr"/>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Execution of Ca</a:t>
            </a:r>
            <a:r>
              <a:rPr lang="en-US" sz="1600" baseline="30000" dirty="0">
                <a:latin typeface="Arial" panose="020B0604020202020204" pitchFamily="34" charset="0"/>
                <a:cs typeface="Arial" panose="020B0604020202020204" pitchFamily="34" charset="0"/>
              </a:rPr>
              <a:t>2+ </a:t>
            </a:r>
            <a:r>
              <a:rPr lang="en-US" sz="1600" dirty="0">
                <a:latin typeface="Arial" panose="020B0604020202020204" pitchFamily="34" charset="0"/>
                <a:cs typeface="Arial" panose="020B0604020202020204" pitchFamily="34" charset="0"/>
              </a:rPr>
              <a:t>| La</a:t>
            </a:r>
            <a:r>
              <a:rPr lang="en-US" sz="1600" baseline="30000" dirty="0">
                <a:latin typeface="Arial" panose="020B0604020202020204" pitchFamily="34" charset="0"/>
                <a:cs typeface="Arial" panose="020B0604020202020204" pitchFamily="34" charset="0"/>
              </a:rPr>
              <a:t>3+ </a:t>
            </a:r>
            <a:r>
              <a:rPr lang="en-US" sz="1600" dirty="0">
                <a:latin typeface="Arial" panose="020B0604020202020204" pitchFamily="34" charset="0"/>
                <a:cs typeface="Arial" panose="020B0604020202020204" pitchFamily="34" charset="0"/>
              </a:rPr>
              <a:t>and Na</a:t>
            </a:r>
            <a:r>
              <a:rPr lang="en-US" sz="1600" baseline="30000" dirty="0">
                <a:latin typeface="Arial" panose="020B0604020202020204" pitchFamily="34" charset="0"/>
                <a:cs typeface="Arial" panose="020B0604020202020204" pitchFamily="34" charset="0"/>
              </a:rPr>
              <a:t>+</a:t>
            </a:r>
            <a:r>
              <a:rPr lang="en-US" sz="1600" dirty="0">
                <a:latin typeface="Arial" panose="020B0604020202020204" pitchFamily="34" charset="0"/>
                <a:cs typeface="Arial" panose="020B0604020202020204" pitchFamily="34" charset="0"/>
              </a:rPr>
              <a:t> | La</a:t>
            </a:r>
            <a:r>
              <a:rPr lang="en-US" sz="1600" baseline="30000" dirty="0">
                <a:latin typeface="Arial" panose="020B0604020202020204" pitchFamily="34" charset="0"/>
                <a:cs typeface="Arial" panose="020B0604020202020204" pitchFamily="34" charset="0"/>
              </a:rPr>
              <a:t>3+ </a:t>
            </a:r>
            <a:r>
              <a:rPr lang="en-US" sz="1600" dirty="0">
                <a:latin typeface="Arial" panose="020B0604020202020204" pitchFamily="34" charset="0"/>
                <a:cs typeface="Arial" panose="020B0604020202020204" pitchFamily="34" charset="0"/>
              </a:rPr>
              <a:t>experiments</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Duplicate experiments</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Revised analysis with ‘correct’ concentration polarization. </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Design of trivalent ion experiment (will be motivated by the ratio/concentrations of industrially relevant feed streams)</a:t>
            </a:r>
          </a:p>
          <a:p>
            <a:pPr marL="742950" lvl="1"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7738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4D5B5-3180-1B1F-7697-F3870CC3823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5CCBB67-761D-7467-2DA8-89A84674C580}"/>
              </a:ext>
            </a:extLst>
          </p:cNvPr>
          <p:cNvSpPr txBox="1"/>
          <p:nvPr/>
        </p:nvSpPr>
        <p:spPr>
          <a:xfrm>
            <a:off x="3048681" y="3429000"/>
            <a:ext cx="6094638" cy="461665"/>
          </a:xfrm>
          <a:prstGeom prst="rect">
            <a:avLst/>
          </a:prstGeom>
          <a:noFill/>
        </p:spPr>
        <p:txBody>
          <a:bodyPr wrap="square">
            <a:spAutoFit/>
          </a:bodyPr>
          <a:lstStyle/>
          <a:p>
            <a:pPr algn="ctr"/>
            <a:r>
              <a:rPr lang="en-US" sz="2400" b="0" i="0" dirty="0">
                <a:effectLst/>
                <a:latin typeface="Arial" panose="020B0604020202020204" pitchFamily="34" charset="0"/>
                <a:cs typeface="Arial" panose="020B0604020202020204" pitchFamily="34" charset="0"/>
              </a:rPr>
              <a:t>Supplementary Slides</a:t>
            </a:r>
          </a:p>
        </p:txBody>
      </p:sp>
      <p:sp>
        <p:nvSpPr>
          <p:cNvPr id="15" name="Rectangle 14">
            <a:extLst>
              <a:ext uri="{FF2B5EF4-FFF2-40B4-BE49-F238E27FC236}">
                <a16:creationId xmlns:a16="http://schemas.microsoft.com/office/drawing/2014/main" id="{1BE373E0-1529-1727-23A1-663BA09FBED9}"/>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D830450-952B-A30C-4F41-6C6B637421F2}"/>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Slide Number Placeholder 3">
            <a:extLst>
              <a:ext uri="{FF2B5EF4-FFF2-40B4-BE49-F238E27FC236}">
                <a16:creationId xmlns:a16="http://schemas.microsoft.com/office/drawing/2014/main" id="{94EACC90-F41C-49B4-4A11-6365CBB90133}"/>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9</a:t>
            </a:fld>
            <a:endParaRPr lang="en-US" sz="16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99105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4D5B5-3180-1B1F-7697-F3870CC3823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5CCBB67-761D-7467-2DA8-89A84674C580}"/>
              </a:ext>
            </a:extLst>
          </p:cNvPr>
          <p:cNvSpPr txBox="1"/>
          <p:nvPr/>
        </p:nvSpPr>
        <p:spPr>
          <a:xfrm>
            <a:off x="0" y="207219"/>
            <a:ext cx="12192000" cy="461665"/>
          </a:xfrm>
          <a:prstGeom prst="rect">
            <a:avLst/>
          </a:prstGeom>
          <a:noFill/>
        </p:spPr>
        <p:txBody>
          <a:bodyPr wrap="square">
            <a:spAutoFit/>
          </a:bodyPr>
          <a:lstStyle/>
          <a:p>
            <a:pPr algn="ctr"/>
            <a:r>
              <a:rPr lang="en-US" sz="2400" b="0" i="0" dirty="0">
                <a:effectLst/>
                <a:latin typeface="Arial" panose="020B0604020202020204" pitchFamily="34" charset="0"/>
                <a:cs typeface="Arial" panose="020B0604020202020204" pitchFamily="34" charset="0"/>
              </a:rPr>
              <a:t>Data Sets – NaCl, CaCl2 – Estimated Dates</a:t>
            </a:r>
          </a:p>
        </p:txBody>
      </p:sp>
      <p:sp>
        <p:nvSpPr>
          <p:cNvPr id="4" name="TextBox 3">
            <a:extLst>
              <a:ext uri="{FF2B5EF4-FFF2-40B4-BE49-F238E27FC236}">
                <a16:creationId xmlns:a16="http://schemas.microsoft.com/office/drawing/2014/main" id="{6E8F7442-1165-80F2-09DB-19345482E877}"/>
              </a:ext>
            </a:extLst>
          </p:cNvPr>
          <p:cNvSpPr txBox="1"/>
          <p:nvPr/>
        </p:nvSpPr>
        <p:spPr>
          <a:xfrm>
            <a:off x="404083" y="1028343"/>
            <a:ext cx="9142715" cy="4801314"/>
          </a:xfrm>
          <a:prstGeom prst="rect">
            <a:avLst/>
          </a:prstGeom>
          <a:noFill/>
        </p:spPr>
        <p:txBody>
          <a:bodyPr wrap="square">
            <a:spAutoFit/>
          </a:bodyPr>
          <a:lstStyle/>
          <a:p>
            <a:r>
              <a:rPr lang="en-US" b="0" i="0" dirty="0">
                <a:effectLst/>
                <a:latin typeface="Arial" panose="020B0604020202020204" pitchFamily="34" charset="0"/>
                <a:cs typeface="Arial" panose="020B0604020202020204" pitchFamily="34" charset="0"/>
              </a:rPr>
              <a:t>Membrane #1 – Completed</a:t>
            </a:r>
          </a:p>
          <a:p>
            <a:r>
              <a:rPr lang="en-US" dirty="0">
                <a:solidFill>
                  <a:srgbClr val="FF0000"/>
                </a:solidFill>
                <a:latin typeface="Arial" panose="020B0604020202020204" pitchFamily="34" charset="0"/>
                <a:cs typeface="Arial" panose="020B0604020202020204" pitchFamily="34" charset="0"/>
              </a:rPr>
              <a:t>Membrane #2 – Need duplicate samples</a:t>
            </a:r>
            <a:endParaRPr lang="en-US" b="0" i="0" dirty="0">
              <a:solidFill>
                <a:srgbClr val="FF0000"/>
              </a:solidFill>
              <a:effectLst/>
              <a:latin typeface="Arial" panose="020B0604020202020204" pitchFamily="34" charset="0"/>
              <a:cs typeface="Arial" panose="020B0604020202020204" pitchFamily="34" charset="0"/>
            </a:endParaRPr>
          </a:p>
          <a:p>
            <a:endParaRPr lang="en-US" b="0" i="0" dirty="0">
              <a:effectLst/>
              <a:latin typeface="Arial" panose="020B0604020202020204" pitchFamily="34" charset="0"/>
              <a:cs typeface="Arial" panose="020B0604020202020204" pitchFamily="34" charset="0"/>
            </a:endParaRPr>
          </a:p>
          <a:p>
            <a:r>
              <a:rPr lang="en-US" b="0" i="0" dirty="0">
                <a:effectLst/>
                <a:latin typeface="Arial" panose="020B0604020202020204" pitchFamily="34" charset="0"/>
                <a:cs typeface="Arial" panose="020B0604020202020204" pitchFamily="34" charset="0"/>
              </a:rPr>
              <a:t>5/6/24 (Single Component)</a:t>
            </a:r>
          </a:p>
          <a:p>
            <a:pPr marL="342900" indent="-342900">
              <a:buFontTx/>
              <a:buChar char="-"/>
            </a:pPr>
            <a:r>
              <a:rPr lang="en-US" dirty="0">
                <a:latin typeface="Arial" panose="020B0604020202020204" pitchFamily="34" charset="0"/>
                <a:cs typeface="Arial" panose="020B0604020202020204" pitchFamily="34" charset="0"/>
              </a:rPr>
              <a:t>Exp #1. Feed: 1 mM NaCl; Diafiltrate: 50 mM NaCl</a:t>
            </a:r>
          </a:p>
          <a:p>
            <a:pPr marL="342900" indent="-342900">
              <a:buFontTx/>
              <a:buChar char="-"/>
            </a:pPr>
            <a:r>
              <a:rPr lang="en-US" dirty="0">
                <a:solidFill>
                  <a:srgbClr val="FF0000"/>
                </a:solidFill>
                <a:latin typeface="Arial" panose="020B0604020202020204" pitchFamily="34" charset="0"/>
                <a:cs typeface="Arial" panose="020B0604020202020204" pitchFamily="34" charset="0"/>
              </a:rPr>
              <a:t>Exp #2. Feed: 1 mM CaCl2; Diafiltrate: 50 mM CaCl2</a:t>
            </a:r>
          </a:p>
          <a:p>
            <a:endParaRPr lang="en-US" dirty="0">
              <a:latin typeface="Arial" panose="020B0604020202020204" pitchFamily="34" charset="0"/>
              <a:cs typeface="Arial" panose="020B0604020202020204" pitchFamily="34" charset="0"/>
            </a:endParaRPr>
          </a:p>
          <a:p>
            <a:r>
              <a:rPr lang="en-US" b="0" i="0" dirty="0">
                <a:effectLst/>
                <a:latin typeface="Arial" panose="020B0604020202020204" pitchFamily="34" charset="0"/>
                <a:cs typeface="Arial" panose="020B0604020202020204" pitchFamily="34" charset="0"/>
              </a:rPr>
              <a:t>5/7/24 (Multicomponent – constant NaCl) </a:t>
            </a:r>
          </a:p>
          <a:p>
            <a:pPr marL="285750" indent="-285750">
              <a:buFontTx/>
              <a:buChar char="-"/>
            </a:pPr>
            <a:r>
              <a:rPr lang="en-US" dirty="0">
                <a:latin typeface="Arial" panose="020B0604020202020204" pitchFamily="34" charset="0"/>
                <a:cs typeface="Arial" panose="020B0604020202020204" pitchFamily="34" charset="0"/>
              </a:rPr>
              <a:t>Exp #3. Feed: 10 mM NaCl, 0 mM CaCl2; Diafiltrate: 5 mM NaCl, 50 mM CaCl2</a:t>
            </a:r>
          </a:p>
          <a:p>
            <a:pPr marL="342900" indent="-342900">
              <a:buFontTx/>
              <a:buChar char="-"/>
            </a:pPr>
            <a:r>
              <a:rPr lang="en-US" dirty="0">
                <a:latin typeface="Arial" panose="020B0604020202020204" pitchFamily="34" charset="0"/>
                <a:cs typeface="Arial" panose="020B0604020202020204" pitchFamily="34" charset="0"/>
              </a:rPr>
              <a:t>Exp #4. Feed: 20 mM NaCl, 0 mM CaCl2; Diafiltrate: 10 mM NaCl, 50 mM CaCl2</a:t>
            </a:r>
            <a:endParaRPr lang="en-US" b="0" i="0" dirty="0">
              <a:effectLst/>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b="0" i="0" dirty="0">
                <a:effectLst/>
                <a:latin typeface="Arial" panose="020B0604020202020204" pitchFamily="34" charset="0"/>
                <a:cs typeface="Arial" panose="020B0604020202020204" pitchFamily="34" charset="0"/>
              </a:rPr>
              <a:t>5/8/24 (Multicomponent – constant CaCl2)</a:t>
            </a:r>
          </a:p>
          <a:p>
            <a:pPr marL="342900" indent="-342900">
              <a:buFontTx/>
              <a:buChar char="-"/>
            </a:pPr>
            <a:r>
              <a:rPr lang="en-US" dirty="0">
                <a:latin typeface="Arial" panose="020B0604020202020204" pitchFamily="34" charset="0"/>
                <a:cs typeface="Arial" panose="020B0604020202020204" pitchFamily="34" charset="0"/>
              </a:rPr>
              <a:t>Exp #5. Feed: 0 mM NaCl, 10 mM CaCl2; Diafiltrate: 50 mM NaCl, 4 mM CaCl2</a:t>
            </a:r>
          </a:p>
          <a:p>
            <a:pPr marL="342900" indent="-342900">
              <a:buFontTx/>
              <a:buChar char="-"/>
            </a:pPr>
            <a:r>
              <a:rPr lang="en-US" dirty="0">
                <a:latin typeface="Arial" panose="020B0604020202020204" pitchFamily="34" charset="0"/>
                <a:cs typeface="Arial" panose="020B0604020202020204" pitchFamily="34" charset="0"/>
              </a:rPr>
              <a:t>Exp #6. Feed: 0 mM NaCl, 20 mM CaCl2; Diafiltrate: 50 mM NaCl, 8 mM CaCl2</a:t>
            </a:r>
            <a:endParaRPr lang="en-US" b="0" i="0" dirty="0">
              <a:effectLst/>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b="0" i="0" dirty="0">
                <a:effectLst/>
                <a:latin typeface="Arial" panose="020B0604020202020204" pitchFamily="34" charset="0"/>
                <a:cs typeface="Arial" panose="020B0604020202020204" pitchFamily="34" charset="0"/>
              </a:rPr>
              <a:t>5/9/24</a:t>
            </a:r>
          </a:p>
          <a:p>
            <a:pPr marL="285750" indent="-285750">
              <a:buFontTx/>
              <a:buChar char="-"/>
            </a:pPr>
            <a:r>
              <a:rPr lang="en-US" dirty="0">
                <a:latin typeface="Arial" panose="020B0604020202020204" pitchFamily="34" charset="0"/>
                <a:cs typeface="Arial" panose="020B0604020202020204" pitchFamily="34" charset="0"/>
              </a:rPr>
              <a:t>Exp #7. Feed: 10 mM NaCl, 1 mM CaCl2; Diafiltrate: 50 mM NaCl, 50 mM CaCl2</a:t>
            </a:r>
          </a:p>
        </p:txBody>
      </p:sp>
      <p:sp>
        <p:nvSpPr>
          <p:cNvPr id="15" name="Rectangle 14">
            <a:extLst>
              <a:ext uri="{FF2B5EF4-FFF2-40B4-BE49-F238E27FC236}">
                <a16:creationId xmlns:a16="http://schemas.microsoft.com/office/drawing/2014/main" id="{1BE373E0-1529-1727-23A1-663BA09FBED9}"/>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D830450-952B-A30C-4F41-6C6B637421F2}"/>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Slide Number Placeholder 3">
            <a:extLst>
              <a:ext uri="{FF2B5EF4-FFF2-40B4-BE49-F238E27FC236}">
                <a16:creationId xmlns:a16="http://schemas.microsoft.com/office/drawing/2014/main" id="{94EACC90-F41C-49B4-4A11-6365CBB90133}"/>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10</a:t>
            </a:fld>
            <a:endParaRPr lang="en-US" sz="16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424925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4D5B5-3180-1B1F-7697-F3870CC3823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5CCBB67-761D-7467-2DA8-89A84674C580}"/>
              </a:ext>
            </a:extLst>
          </p:cNvPr>
          <p:cNvSpPr txBox="1"/>
          <p:nvPr/>
        </p:nvSpPr>
        <p:spPr>
          <a:xfrm>
            <a:off x="0" y="207219"/>
            <a:ext cx="12192000" cy="461665"/>
          </a:xfrm>
          <a:prstGeom prst="rect">
            <a:avLst/>
          </a:prstGeom>
          <a:noFill/>
        </p:spPr>
        <p:txBody>
          <a:bodyPr wrap="square">
            <a:spAutoFit/>
          </a:bodyPr>
          <a:lstStyle/>
          <a:p>
            <a:pPr algn="ctr"/>
            <a:r>
              <a:rPr lang="en-US" sz="2400" b="0" i="0" dirty="0">
                <a:effectLst/>
                <a:latin typeface="Arial" panose="020B0604020202020204" pitchFamily="34" charset="0"/>
                <a:cs typeface="Arial" panose="020B0604020202020204" pitchFamily="34" charset="0"/>
              </a:rPr>
              <a:t>Data Sets – </a:t>
            </a:r>
            <a:r>
              <a:rPr lang="en-US" sz="2400" dirty="0">
                <a:latin typeface="Arial" panose="020B0604020202020204" pitchFamily="34" charset="0"/>
                <a:cs typeface="Arial" panose="020B0604020202020204" pitchFamily="34" charset="0"/>
              </a:rPr>
              <a:t>Ca</a:t>
            </a:r>
            <a:r>
              <a:rPr lang="en-US" sz="2400" b="0" i="0" dirty="0">
                <a:effectLst/>
                <a:latin typeface="Arial" panose="020B0604020202020204" pitchFamily="34" charset="0"/>
                <a:cs typeface="Arial" panose="020B0604020202020204" pitchFamily="34" charset="0"/>
              </a:rPr>
              <a:t>Cl2, LaCl3 – Estimated Dates</a:t>
            </a:r>
          </a:p>
        </p:txBody>
      </p:sp>
      <p:sp>
        <p:nvSpPr>
          <p:cNvPr id="4" name="TextBox 3">
            <a:extLst>
              <a:ext uri="{FF2B5EF4-FFF2-40B4-BE49-F238E27FC236}">
                <a16:creationId xmlns:a16="http://schemas.microsoft.com/office/drawing/2014/main" id="{6E8F7442-1165-80F2-09DB-19345482E877}"/>
              </a:ext>
            </a:extLst>
          </p:cNvPr>
          <p:cNvSpPr txBox="1"/>
          <p:nvPr/>
        </p:nvSpPr>
        <p:spPr>
          <a:xfrm>
            <a:off x="404083" y="1028343"/>
            <a:ext cx="11787917" cy="5016758"/>
          </a:xfrm>
          <a:prstGeom prst="rect">
            <a:avLst/>
          </a:prstGeom>
          <a:noFill/>
        </p:spPr>
        <p:txBody>
          <a:bodyPr wrap="square">
            <a:spAutoFit/>
          </a:bodyPr>
          <a:lstStyle/>
          <a:p>
            <a:r>
              <a:rPr lang="en-US" sz="1600" b="0" i="0" dirty="0">
                <a:solidFill>
                  <a:srgbClr val="FF0000"/>
                </a:solidFill>
                <a:effectLst/>
                <a:latin typeface="Arial" panose="020B0604020202020204" pitchFamily="34" charset="0"/>
                <a:cs typeface="Arial" panose="020B0604020202020204" pitchFamily="34" charset="0"/>
              </a:rPr>
              <a:t>Membrane #1 – Need to run – Week of 5/20/24</a:t>
            </a:r>
          </a:p>
          <a:p>
            <a:r>
              <a:rPr lang="en-US" sz="1600" dirty="0">
                <a:solidFill>
                  <a:srgbClr val="FF0000"/>
                </a:solidFill>
                <a:latin typeface="Arial" panose="020B0604020202020204" pitchFamily="34" charset="0"/>
                <a:cs typeface="Arial" panose="020B0604020202020204" pitchFamily="34" charset="0"/>
              </a:rPr>
              <a:t>Membrane #2 – Need duplicate samples</a:t>
            </a:r>
            <a:endParaRPr lang="en-US" sz="1600" b="0" i="0" dirty="0">
              <a:solidFill>
                <a:srgbClr val="FF0000"/>
              </a:solidFill>
              <a:effectLst/>
              <a:latin typeface="Arial" panose="020B0604020202020204" pitchFamily="34" charset="0"/>
              <a:cs typeface="Arial" panose="020B0604020202020204" pitchFamily="34" charset="0"/>
            </a:endParaRPr>
          </a:p>
          <a:p>
            <a:endParaRPr lang="en-US" sz="1600" b="0" i="0" dirty="0">
              <a:effectLst/>
              <a:latin typeface="Arial" panose="020B0604020202020204" pitchFamily="34" charset="0"/>
              <a:cs typeface="Arial" panose="020B0604020202020204" pitchFamily="34" charset="0"/>
            </a:endParaRPr>
          </a:p>
          <a:p>
            <a:r>
              <a:rPr lang="en-US" sz="1600" b="0" i="0" dirty="0">
                <a:effectLst/>
                <a:latin typeface="Arial" panose="020B0604020202020204" pitchFamily="34" charset="0"/>
                <a:cs typeface="Arial" panose="020B0604020202020204" pitchFamily="34" charset="0"/>
              </a:rPr>
              <a:t>5/21/24: Single Component</a:t>
            </a:r>
          </a:p>
          <a:p>
            <a:pPr marL="342900" indent="-342900">
              <a:buFontTx/>
              <a:buChar char="-"/>
            </a:pPr>
            <a:r>
              <a:rPr lang="en-US" sz="1600" dirty="0">
                <a:latin typeface="Arial" panose="020B0604020202020204" pitchFamily="34" charset="0"/>
                <a:cs typeface="Arial" panose="020B0604020202020204" pitchFamily="34" charset="0"/>
              </a:rPr>
              <a:t>Exp #1. Feed: 1 mM LaCl3; Diafiltrate: 20 mM LaCl3 → (~100% rejection, ∆</a:t>
            </a:r>
            <a:r>
              <a:rPr lang="el-GR" sz="1600" dirty="0">
                <a:latin typeface="Arial" panose="020B0604020202020204" pitchFamily="34" charset="0"/>
                <a:cs typeface="Arial" panose="020B0604020202020204" pitchFamily="34" charset="0"/>
              </a:rPr>
              <a:t>π</a:t>
            </a:r>
            <a:r>
              <a:rPr lang="en-US" sz="1600" dirty="0">
                <a:latin typeface="Arial" panose="020B0604020202020204" pitchFamily="34" charset="0"/>
                <a:cs typeface="Arial" panose="020B0604020202020204" pitchFamily="34" charset="0"/>
              </a:rPr>
              <a:t> ~29psi)</a:t>
            </a:r>
          </a:p>
          <a:p>
            <a:endParaRPr lang="en-US" sz="1600" dirty="0">
              <a:latin typeface="Arial" panose="020B0604020202020204" pitchFamily="34" charset="0"/>
              <a:cs typeface="Arial" panose="020B0604020202020204" pitchFamily="34" charset="0"/>
            </a:endParaRPr>
          </a:p>
          <a:p>
            <a:r>
              <a:rPr lang="en-US" sz="1600" b="0" i="0" dirty="0">
                <a:effectLst/>
                <a:latin typeface="Arial" panose="020B0604020202020204" pitchFamily="34" charset="0"/>
                <a:cs typeface="Arial" panose="020B0604020202020204" pitchFamily="34" charset="0"/>
              </a:rPr>
              <a:t>5/22/24: Multicomponent – constant LaCl3 - assume ~96% LaCl3 rejection, ~50% CaCl2 rejection</a:t>
            </a:r>
          </a:p>
          <a:p>
            <a:pPr marL="342900" indent="-342900">
              <a:buFontTx/>
              <a:buChar char="-"/>
            </a:pPr>
            <a:r>
              <a:rPr lang="en-US" sz="1600" dirty="0">
                <a:latin typeface="Arial" panose="020B0604020202020204" pitchFamily="34" charset="0"/>
                <a:cs typeface="Arial" panose="020B0604020202020204" pitchFamily="34" charset="0"/>
              </a:rPr>
              <a:t>Exp #2. Feed: 5 mM LaCl3, 0 mM CaCl2; Diafiltrate: 0.2 mM LaCl3, 50 mM CaCl2 → max ∆</a:t>
            </a:r>
            <a:r>
              <a:rPr lang="el-GR" sz="1600" dirty="0">
                <a:latin typeface="Arial" panose="020B0604020202020204" pitchFamily="34" charset="0"/>
                <a:cs typeface="Arial" panose="020B0604020202020204" pitchFamily="34" charset="0"/>
              </a:rPr>
              <a:t>π</a:t>
            </a:r>
            <a:r>
              <a:rPr lang="en-US" sz="1600" dirty="0">
                <a:latin typeface="Arial" panose="020B0604020202020204" pitchFamily="34" charset="0"/>
                <a:cs typeface="Arial" panose="020B0604020202020204" pitchFamily="34" charset="0"/>
              </a:rPr>
              <a:t> ~34 psi</a:t>
            </a:r>
          </a:p>
          <a:p>
            <a:pPr marL="342900" indent="-342900">
              <a:buFontTx/>
              <a:buChar char="-"/>
            </a:pPr>
            <a:r>
              <a:rPr lang="en-US" sz="1600" dirty="0">
                <a:latin typeface="Arial" panose="020B0604020202020204" pitchFamily="34" charset="0"/>
                <a:cs typeface="Arial" panose="020B0604020202020204" pitchFamily="34" charset="0"/>
              </a:rPr>
              <a:t>Exp #3. Feed: 10 mM LaCl3, 0 mM CaCl2; Diafiltrate: 0.4 mM LaCl3, 50 mM CaCl2 → max ∆</a:t>
            </a:r>
            <a:r>
              <a:rPr lang="el-GR" sz="1600" dirty="0">
                <a:latin typeface="Arial" panose="020B0604020202020204" pitchFamily="34" charset="0"/>
                <a:cs typeface="Arial" panose="020B0604020202020204" pitchFamily="34" charset="0"/>
              </a:rPr>
              <a:t>π</a:t>
            </a:r>
            <a:r>
              <a:rPr lang="en-US" sz="1600" dirty="0">
                <a:latin typeface="Arial" panose="020B0604020202020204" pitchFamily="34" charset="0"/>
                <a:cs typeface="Arial" panose="020B0604020202020204" pitchFamily="34" charset="0"/>
              </a:rPr>
              <a:t> ~41.3 psi</a:t>
            </a:r>
            <a:endParaRPr lang="en-US" sz="1600" b="0" i="0" dirty="0">
              <a:effectLst/>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a:p>
            <a:r>
              <a:rPr lang="en-US" sz="1600" b="0" i="0" dirty="0">
                <a:effectLst/>
                <a:latin typeface="Arial" panose="020B0604020202020204" pitchFamily="34" charset="0"/>
                <a:cs typeface="Arial" panose="020B0604020202020204" pitchFamily="34" charset="0"/>
              </a:rPr>
              <a:t>5/23/24: Multicomponent – constant CaCl2 - assume ~96% LaCl3 rejection, ~50% CaCl2 rejection </a:t>
            </a:r>
          </a:p>
          <a:p>
            <a:pPr marL="285750" indent="-285750">
              <a:buFontTx/>
              <a:buChar char="-"/>
            </a:pPr>
            <a:r>
              <a:rPr lang="en-US" sz="1600" dirty="0">
                <a:latin typeface="Arial" panose="020B0604020202020204" pitchFamily="34" charset="0"/>
                <a:cs typeface="Arial" panose="020B0604020202020204" pitchFamily="34" charset="0"/>
              </a:rPr>
              <a:t>Exp #4. Feed: 0 mM LaCl3, 10 mM CaCl2; Diafiltrate: 15 mM LaCl3, 6 mM CaCl2 → max ∆</a:t>
            </a:r>
            <a:r>
              <a:rPr lang="el-GR" sz="1600" dirty="0">
                <a:latin typeface="Arial" panose="020B0604020202020204" pitchFamily="34" charset="0"/>
                <a:cs typeface="Arial" panose="020B0604020202020204" pitchFamily="34" charset="0"/>
              </a:rPr>
              <a:t>π</a:t>
            </a:r>
            <a:r>
              <a:rPr lang="en-US" sz="1600" dirty="0">
                <a:latin typeface="Arial" panose="020B0604020202020204" pitchFamily="34" charset="0"/>
                <a:cs typeface="Arial" panose="020B0604020202020204" pitchFamily="34" charset="0"/>
              </a:rPr>
              <a:t> ~ 30 psi</a:t>
            </a:r>
          </a:p>
          <a:p>
            <a:pPr marL="342900" indent="-342900">
              <a:buFontTx/>
              <a:buChar char="-"/>
            </a:pPr>
            <a:r>
              <a:rPr lang="en-US" sz="1600" dirty="0">
                <a:latin typeface="Arial" panose="020B0604020202020204" pitchFamily="34" charset="0"/>
                <a:cs typeface="Arial" panose="020B0604020202020204" pitchFamily="34" charset="0"/>
              </a:rPr>
              <a:t>Exp #5. Feed: 0 mM LaCl3, 20 mM CaCl2; Diafiltrate: 15 mM LaCl3, 12 mM CaCl2→ max ∆</a:t>
            </a:r>
            <a:r>
              <a:rPr lang="el-GR" sz="1600" dirty="0">
                <a:latin typeface="Arial" panose="020B0604020202020204" pitchFamily="34" charset="0"/>
                <a:cs typeface="Arial" panose="020B0604020202020204" pitchFamily="34" charset="0"/>
              </a:rPr>
              <a:t>π</a:t>
            </a:r>
            <a:r>
              <a:rPr lang="en-US" sz="1600" dirty="0">
                <a:latin typeface="Arial" panose="020B0604020202020204" pitchFamily="34" charset="0"/>
                <a:cs typeface="Arial" panose="020B0604020202020204" pitchFamily="34" charset="0"/>
              </a:rPr>
              <a:t> ~ 40 psi</a:t>
            </a:r>
            <a:endParaRPr lang="en-US" sz="1600" b="0" i="0" dirty="0">
              <a:effectLst/>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a:p>
            <a:r>
              <a:rPr lang="en-US" sz="1600" b="0" i="0" dirty="0">
                <a:effectLst/>
                <a:latin typeface="Arial" panose="020B0604020202020204" pitchFamily="34" charset="0"/>
                <a:cs typeface="Arial" panose="020B0604020202020204" pitchFamily="34" charset="0"/>
              </a:rPr>
              <a:t>5/24/24</a:t>
            </a:r>
          </a:p>
          <a:p>
            <a:pPr marL="285750" indent="-285750">
              <a:buFontTx/>
              <a:buChar char="-"/>
            </a:pPr>
            <a:r>
              <a:rPr lang="en-US" sz="1600" dirty="0">
                <a:latin typeface="Arial" panose="020B0604020202020204" pitchFamily="34" charset="0"/>
                <a:cs typeface="Arial" panose="020B0604020202020204" pitchFamily="34" charset="0"/>
              </a:rPr>
              <a:t>Exp #6. Feed: 1 mM LaCl3, 5 mM CaCl2; Diafiltrate: 10 mM LaCl3, 25 mM CaCl2 → max ∆</a:t>
            </a:r>
            <a:r>
              <a:rPr lang="el-GR" sz="1600" dirty="0">
                <a:latin typeface="Arial" panose="020B0604020202020204" pitchFamily="34" charset="0"/>
                <a:cs typeface="Arial" panose="020B0604020202020204" pitchFamily="34" charset="0"/>
              </a:rPr>
              <a:t>π</a:t>
            </a:r>
            <a:r>
              <a:rPr lang="en-US" sz="1600" dirty="0">
                <a:latin typeface="Arial" panose="020B0604020202020204" pitchFamily="34" charset="0"/>
                <a:cs typeface="Arial" panose="020B0604020202020204" pitchFamily="34" charset="0"/>
              </a:rPr>
              <a:t> ~ 40 psi</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Two things after this set of experiments. </a:t>
            </a:r>
          </a:p>
          <a:p>
            <a:pPr marL="285750" indent="-285750">
              <a:buFontTx/>
              <a:buChar char="-"/>
            </a:pPr>
            <a:r>
              <a:rPr lang="en-US" sz="1600">
                <a:latin typeface="Arial" panose="020B0604020202020204" pitchFamily="34" charset="0"/>
                <a:cs typeface="Arial" panose="020B0604020202020204" pitchFamily="34" charset="0"/>
              </a:rPr>
              <a:t>Run duplicates ( ~ 2 weeks to run)</a:t>
            </a:r>
            <a:endParaRPr lang="en-US" sz="1600" dirty="0">
              <a:latin typeface="Arial" panose="020B0604020202020204" pitchFamily="34" charset="0"/>
              <a:cs typeface="Arial" panose="020B0604020202020204" pitchFamily="34" charset="0"/>
            </a:endParaRPr>
          </a:p>
          <a:p>
            <a:pPr marL="285750" indent="-285750">
              <a:buFontTx/>
              <a:buChar char="-"/>
            </a:pPr>
            <a:r>
              <a:rPr lang="en-US" sz="1600" dirty="0">
                <a:latin typeface="Arial" panose="020B0604020202020204" pitchFamily="34" charset="0"/>
                <a:cs typeface="Arial" panose="020B0604020202020204" pitchFamily="34" charset="0"/>
              </a:rPr>
              <a:t>Run NaCl, LaCl3 experiments – If you want me to run these, tell Laurianne that she has until the 29</a:t>
            </a:r>
            <a:r>
              <a:rPr lang="en-US" sz="1600" baseline="30000" dirty="0">
                <a:latin typeface="Arial" panose="020B0604020202020204" pitchFamily="34" charset="0"/>
                <a:cs typeface="Arial" panose="020B0604020202020204" pitchFamily="34" charset="0"/>
              </a:rPr>
              <a:t>th</a:t>
            </a:r>
            <a:r>
              <a:rPr lang="en-US" sz="1600" dirty="0">
                <a:latin typeface="Arial" panose="020B0604020202020204" pitchFamily="34" charset="0"/>
                <a:cs typeface="Arial" panose="020B0604020202020204" pitchFamily="34" charset="0"/>
              </a:rPr>
              <a:t> of I run it. </a:t>
            </a:r>
          </a:p>
        </p:txBody>
      </p:sp>
      <p:sp>
        <p:nvSpPr>
          <p:cNvPr id="15" name="Rectangle 14">
            <a:extLst>
              <a:ext uri="{FF2B5EF4-FFF2-40B4-BE49-F238E27FC236}">
                <a16:creationId xmlns:a16="http://schemas.microsoft.com/office/drawing/2014/main" id="{1BE373E0-1529-1727-23A1-663BA09FBED9}"/>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D830450-952B-A30C-4F41-6C6B637421F2}"/>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Slide Number Placeholder 3">
            <a:extLst>
              <a:ext uri="{FF2B5EF4-FFF2-40B4-BE49-F238E27FC236}">
                <a16:creationId xmlns:a16="http://schemas.microsoft.com/office/drawing/2014/main" id="{94EACC90-F41C-49B4-4A11-6365CBB90133}"/>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11</a:t>
            </a:fld>
            <a:endParaRPr lang="en-US" sz="16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243048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4D5B5-3180-1B1F-7697-F3870CC3823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5CCBB67-761D-7467-2DA8-89A84674C580}"/>
              </a:ext>
            </a:extLst>
          </p:cNvPr>
          <p:cNvSpPr txBox="1"/>
          <p:nvPr/>
        </p:nvSpPr>
        <p:spPr>
          <a:xfrm>
            <a:off x="0" y="207219"/>
            <a:ext cx="12192000" cy="461665"/>
          </a:xfrm>
          <a:prstGeom prst="rect">
            <a:avLst/>
          </a:prstGeom>
          <a:noFill/>
        </p:spPr>
        <p:txBody>
          <a:bodyPr wrap="square">
            <a:spAutoFit/>
          </a:bodyPr>
          <a:lstStyle/>
          <a:p>
            <a:pPr algn="ctr"/>
            <a:r>
              <a:rPr lang="en-US" sz="2400" b="0" i="0" dirty="0">
                <a:effectLst/>
                <a:latin typeface="Arial" panose="020B0604020202020204" pitchFamily="34" charset="0"/>
                <a:cs typeface="Arial" panose="020B0604020202020204" pitchFamily="34" charset="0"/>
              </a:rPr>
              <a:t>Data Sets – </a:t>
            </a:r>
            <a:r>
              <a:rPr lang="en-US" sz="2400" dirty="0">
                <a:latin typeface="Arial" panose="020B0604020202020204" pitchFamily="34" charset="0"/>
                <a:cs typeface="Arial" panose="020B0604020202020204" pitchFamily="34" charset="0"/>
              </a:rPr>
              <a:t>MC2</a:t>
            </a:r>
            <a:endParaRPr lang="en-US" sz="2400" b="0" i="0" dirty="0">
              <a:effectLst/>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E8F7442-1165-80F2-09DB-19345482E877}"/>
                  </a:ext>
                </a:extLst>
              </p:cNvPr>
              <p:cNvSpPr txBox="1"/>
              <p:nvPr/>
            </p:nvSpPr>
            <p:spPr>
              <a:xfrm>
                <a:off x="519344" y="920621"/>
                <a:ext cx="11787917" cy="5299592"/>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Supplementary Experiments</a:t>
                </a:r>
              </a:p>
              <a:p>
                <a:endParaRPr lang="en-US" sz="1600" dirty="0">
                  <a:latin typeface="Arial" panose="020B0604020202020204" pitchFamily="34" charset="0"/>
                  <a:cs typeface="Arial" panose="020B0604020202020204" pitchFamily="34" charset="0"/>
                </a:endParaRPr>
              </a:p>
              <a:p>
                <a:pPr marL="285750" indent="-285750">
                  <a:buFontTx/>
                  <a:buChar char="-"/>
                </a:pPr>
                <a:r>
                  <a:rPr lang="en-US" sz="1600" dirty="0">
                    <a:latin typeface="Arial" panose="020B0604020202020204" pitchFamily="34" charset="0"/>
                    <a:cs typeface="Arial" panose="020B0604020202020204" pitchFamily="34" charset="0"/>
                  </a:rPr>
                  <a:t>Run NF90 membrane experiment to verify DAE modeling</a:t>
                </a:r>
              </a:p>
              <a:p>
                <a:pPr marL="285750" indent="-285750">
                  <a:buFontTx/>
                  <a:buChar char="-"/>
                </a:pPr>
                <a:endParaRPr lang="en-US" sz="1600" dirty="0">
                  <a:latin typeface="Arial" panose="020B0604020202020204" pitchFamily="34" charset="0"/>
                  <a:cs typeface="Arial" panose="020B0604020202020204" pitchFamily="34" charset="0"/>
                </a:endParaRPr>
              </a:p>
              <a:p>
                <a:pPr marL="342900" indent="-342900">
                  <a:buFontTx/>
                  <a:buChar char="-"/>
                </a:pPr>
                <a:r>
                  <a:rPr lang="en-US" sz="1600" dirty="0">
                    <a:latin typeface="Arial" panose="020B0604020202020204" pitchFamily="34" charset="0"/>
                    <a:cs typeface="Arial" panose="020B0604020202020204" pitchFamily="34" charset="0"/>
                  </a:rPr>
                  <a:t>Exp #S1. Feed: 1 mM NaCl; Diafiltrate: 200 mM NaCl</a:t>
                </a:r>
              </a:p>
              <a:p>
                <a:pPr marL="742950" lvl="1" indent="-285750">
                  <a:buFontTx/>
                  <a:buChar char="-"/>
                </a:pPr>
                <a:r>
                  <a:rPr lang="en-US" sz="1600" dirty="0">
                    <a:latin typeface="Arial" panose="020B0604020202020204" pitchFamily="34" charset="0"/>
                    <a:cs typeface="Arial" panose="020B0604020202020204" pitchFamily="34" charset="0"/>
                  </a:rPr>
                  <a:t>What is the maximum B coefficient for single solute experiments -&gt; this can be obtained at high ionic strengths. The assumption is that the rejection will go to 0, B will plateau. </a:t>
                </a:r>
              </a:p>
              <a:p>
                <a:pPr marL="742950" lvl="1" indent="-285750">
                  <a:buFontTx/>
                  <a:buChar char="-"/>
                </a:pPr>
                <a:endParaRPr lang="en-US" sz="1600" dirty="0">
                  <a:latin typeface="Arial" panose="020B0604020202020204" pitchFamily="34" charset="0"/>
                  <a:cs typeface="Arial" panose="020B0604020202020204" pitchFamily="34" charset="0"/>
                </a:endParaRPr>
              </a:p>
              <a:p>
                <a:pPr marL="285750" indent="-285750">
                  <a:buFontTx/>
                  <a:buChar char="-"/>
                </a:pPr>
                <a:r>
                  <a:rPr lang="en-US" sz="1600" dirty="0">
                    <a:latin typeface="Arial" panose="020B0604020202020204" pitchFamily="34" charset="0"/>
                    <a:cs typeface="Arial" panose="020B0604020202020204" pitchFamily="34" charset="0"/>
                  </a:rPr>
                  <a:t>Exp #S2. Feed 1 mM CaCl2; Diafiltrate: 50 mM CaCl2</a:t>
                </a:r>
              </a:p>
              <a:p>
                <a:pPr marL="285750" indent="-285750">
                  <a:buFontTx/>
                  <a:buChar char="-"/>
                </a:pPr>
                <a:endParaRPr lang="en-US" sz="1600" dirty="0">
                  <a:latin typeface="Arial" panose="020B0604020202020204" pitchFamily="34" charset="0"/>
                  <a:cs typeface="Arial" panose="020B0604020202020204" pitchFamily="34" charset="0"/>
                </a:endParaRPr>
              </a:p>
              <a:p>
                <a:pPr marL="285750" indent="-285750">
                  <a:buFontTx/>
                  <a:buChar char="-"/>
                </a:pPr>
                <a:endParaRPr lang="en-US" sz="1600" dirty="0">
                  <a:latin typeface="Arial" panose="020B0604020202020204" pitchFamily="34" charset="0"/>
                  <a:cs typeface="Arial" panose="020B0604020202020204" pitchFamily="34" charset="0"/>
                </a:endParaRPr>
              </a:p>
              <a:p>
                <a:pPr marL="285750" indent="-285750">
                  <a:buFontTx/>
                  <a:buChar char="-"/>
                </a:pPr>
                <a:endParaRPr lang="en-US" sz="1600" dirty="0">
                  <a:latin typeface="Arial" panose="020B0604020202020204" pitchFamily="34" charset="0"/>
                  <a:cs typeface="Arial" panose="020B0604020202020204" pitchFamily="34" charset="0"/>
                </a:endParaRPr>
              </a:p>
              <a:p>
                <a:pPr marL="285750" indent="-285750">
                  <a:buFontTx/>
                  <a:buChar char="-"/>
                </a:pPr>
                <a:endParaRPr lang="en-US" sz="1600" dirty="0">
                  <a:latin typeface="Arial" panose="020B0604020202020204" pitchFamily="34" charset="0"/>
                  <a:cs typeface="Arial" panose="020B0604020202020204" pitchFamily="34" charset="0"/>
                </a:endParaRPr>
              </a:p>
              <a:p>
                <a:pPr marL="285750" indent="-285750">
                  <a:buFontTx/>
                  <a:buChar char="-"/>
                </a:pPr>
                <a:r>
                  <a:rPr lang="en-US" sz="1600" dirty="0">
                    <a:latin typeface="Arial" panose="020B0604020202020204" pitchFamily="34" charset="0"/>
                    <a:cs typeface="Arial" panose="020B0604020202020204" pitchFamily="34" charset="0"/>
                  </a:rPr>
                  <a:t>How do you rationalize/accurately calculate B once you have a “negative” rejection? -&gt; Makes sense in the form of </a:t>
                </a:r>
                <a14:m>
                  <m:oMath xmlns:m="http://schemas.openxmlformats.org/officeDocument/2006/math">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𝐽</m:t>
                        </m:r>
                      </m:e>
                      <m:sub>
                        <m:r>
                          <a:rPr lang="en-US" sz="1600" b="0" i="1" smtClean="0">
                            <a:latin typeface="Cambria Math" panose="02040503050406030204" pitchFamily="18" charset="0"/>
                            <a:cs typeface="Arial" panose="020B0604020202020204" pitchFamily="34" charset="0"/>
                          </a:rPr>
                          <m:t>𝑠</m:t>
                        </m:r>
                      </m:sub>
                    </m:sSub>
                    <m:r>
                      <a:rPr lang="en-US" sz="1600" b="0" i="1" smtClean="0">
                        <a:latin typeface="Cambria Math" panose="02040503050406030204" pitchFamily="18" charset="0"/>
                        <a:cs typeface="Arial" panose="020B0604020202020204" pitchFamily="34" charset="0"/>
                      </a:rPr>
                      <m:t>=</m:t>
                    </m:r>
                    <m:r>
                      <a:rPr lang="en-US" sz="1600" b="0" i="1" smtClean="0">
                        <a:latin typeface="Cambria Math" panose="02040503050406030204" pitchFamily="18" charset="0"/>
                        <a:cs typeface="Arial" panose="020B0604020202020204" pitchFamily="34" charset="0"/>
                      </a:rPr>
                      <m:t>𝐵</m:t>
                    </m:r>
                    <m:d>
                      <m:dPr>
                        <m:ctrlPr>
                          <a:rPr lang="en-US" sz="1600" b="0" i="1" smtClean="0">
                            <a:latin typeface="Cambria Math" panose="02040503050406030204" pitchFamily="18" charset="0"/>
                            <a:cs typeface="Arial" panose="020B0604020202020204" pitchFamily="34" charset="0"/>
                          </a:rPr>
                        </m:ctrlPr>
                      </m:dPr>
                      <m:e>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𝑐</m:t>
                            </m:r>
                          </m:e>
                          <m:sub>
                            <m:r>
                              <a:rPr lang="en-US" sz="1600" b="0" i="1" smtClean="0">
                                <a:latin typeface="Cambria Math" panose="02040503050406030204" pitchFamily="18" charset="0"/>
                                <a:cs typeface="Arial" panose="020B0604020202020204" pitchFamily="34" charset="0"/>
                              </a:rPr>
                              <m:t>𝑟</m:t>
                            </m:r>
                          </m:sub>
                        </m:sSub>
                        <m:r>
                          <a:rPr lang="en-US" sz="1600" b="0" i="1" smtClean="0">
                            <a:latin typeface="Cambria Math" panose="02040503050406030204" pitchFamily="18" charset="0"/>
                            <a:cs typeface="Arial" panose="020B0604020202020204" pitchFamily="34" charset="0"/>
                          </a:rPr>
                          <m:t>−</m:t>
                        </m:r>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𝑐</m:t>
                            </m:r>
                          </m:e>
                          <m:sub>
                            <m:r>
                              <a:rPr lang="en-US" sz="1600" b="0" i="1" smtClean="0">
                                <a:latin typeface="Cambria Math" panose="02040503050406030204" pitchFamily="18" charset="0"/>
                                <a:cs typeface="Arial" panose="020B0604020202020204" pitchFamily="34" charset="0"/>
                              </a:rPr>
                              <m:t>𝑝</m:t>
                            </m:r>
                          </m:sub>
                        </m:sSub>
                      </m:e>
                    </m:d>
                  </m:oMath>
                </a14:m>
                <a:r>
                  <a:rPr lang="en-US" sz="1600" dirty="0">
                    <a:latin typeface="Arial" panose="020B0604020202020204" pitchFamily="34" charset="0"/>
                    <a:cs typeface="Arial" panose="020B0604020202020204" pitchFamily="34" charset="0"/>
                  </a:rPr>
                  <a:t>, the parenthetical term will be negative and thus B has to be negative to have a positive slat flux, but what does this mean, physically?</a:t>
                </a:r>
              </a:p>
              <a:p>
                <a:pPr marL="285750" indent="-285750">
                  <a:buFontTx/>
                  <a:buChar char="-"/>
                </a:pPr>
                <a:r>
                  <a:rPr lang="en-US" sz="1600" dirty="0">
                    <a:latin typeface="Arial" panose="020B0604020202020204" pitchFamily="34" charset="0"/>
                    <a:cs typeface="Arial" panose="020B0604020202020204" pitchFamily="34" charset="0"/>
                  </a:rPr>
                  <a:t>The “adsorption” (or weird stuff) occurring with calcium in the NF270 membranes may be a great example to show how we can use insight from the Na/La experiments to tailor the membrane nanostructure to enhance these separations. (Engineering down a </a:t>
                </a:r>
                <a:r>
                  <a:rPr lang="en-US" sz="1600" dirty="0" err="1">
                    <a:latin typeface="Arial" panose="020B0604020202020204" pitchFamily="34" charset="0"/>
                    <a:cs typeface="Arial" panose="020B0604020202020204" pitchFamily="34" charset="0"/>
                  </a:rPr>
                  <a:t>lengthscale</a:t>
                </a:r>
                <a:r>
                  <a:rPr lang="en-US" sz="1600" dirty="0">
                    <a:latin typeface="Arial" panose="020B0604020202020204" pitchFamily="34" charset="0"/>
                    <a:cs typeface="Arial" panose="020B0604020202020204" pitchFamily="34" charset="0"/>
                  </a:rPr>
                  <a:t>) </a:t>
                </a:r>
              </a:p>
              <a:p>
                <a:pPr marL="285750" indent="-285750">
                  <a:buFontTx/>
                  <a:buChar char="-"/>
                </a:pPr>
                <a:r>
                  <a:rPr lang="en-US" sz="1600" dirty="0">
                    <a:latin typeface="Arial" panose="020B0604020202020204" pitchFamily="34" charset="0"/>
                    <a:cs typeface="Arial" panose="020B0604020202020204" pitchFamily="34" charset="0"/>
                  </a:rPr>
                  <a:t>If flux is diffusive, Na flux (negative rejection) needs to be coupled with the Cl flux. </a:t>
                </a:r>
              </a:p>
              <a:p>
                <a:pPr marL="285750" indent="-285750">
                  <a:buFontTx/>
                  <a:buChar char="-"/>
                </a:pPr>
                <a:endParaRPr lang="en-US" sz="1600" dirty="0">
                  <a:latin typeface="Arial" panose="020B0604020202020204" pitchFamily="34" charset="0"/>
                  <a:cs typeface="Arial" panose="020B0604020202020204" pitchFamily="34" charset="0"/>
                </a:endParaRPr>
              </a:p>
            </p:txBody>
          </p:sp>
        </mc:Choice>
        <mc:Fallback xmlns="">
          <p:sp>
            <p:nvSpPr>
              <p:cNvPr id="4" name="TextBox 3">
                <a:extLst>
                  <a:ext uri="{FF2B5EF4-FFF2-40B4-BE49-F238E27FC236}">
                    <a16:creationId xmlns:a16="http://schemas.microsoft.com/office/drawing/2014/main" id="{6E8F7442-1165-80F2-09DB-19345482E877}"/>
                  </a:ext>
                </a:extLst>
              </p:cNvPr>
              <p:cNvSpPr txBox="1">
                <a:spLocks noRot="1" noChangeAspect="1" noMove="1" noResize="1" noEditPoints="1" noAdjustHandles="1" noChangeArrowheads="1" noChangeShapeType="1" noTextEdit="1"/>
              </p:cNvSpPr>
              <p:nvPr/>
            </p:nvSpPr>
            <p:spPr>
              <a:xfrm>
                <a:off x="519344" y="920621"/>
                <a:ext cx="11787917" cy="5299592"/>
              </a:xfrm>
              <a:prstGeom prst="rect">
                <a:avLst/>
              </a:prstGeom>
              <a:blipFill>
                <a:blip r:embed="rId3"/>
                <a:stretch>
                  <a:fillRect l="-259" t="-345" r="-620"/>
                </a:stretch>
              </a:blipFill>
            </p:spPr>
            <p:txBody>
              <a:bodyPr/>
              <a:lstStyle/>
              <a:p>
                <a:r>
                  <a:rPr lang="en-US">
                    <a:noFill/>
                  </a:rPr>
                  <a:t> </a:t>
                </a:r>
              </a:p>
            </p:txBody>
          </p:sp>
        </mc:Fallback>
      </mc:AlternateContent>
      <p:sp>
        <p:nvSpPr>
          <p:cNvPr id="15" name="Rectangle 14">
            <a:extLst>
              <a:ext uri="{FF2B5EF4-FFF2-40B4-BE49-F238E27FC236}">
                <a16:creationId xmlns:a16="http://schemas.microsoft.com/office/drawing/2014/main" id="{1BE373E0-1529-1727-23A1-663BA09FBED9}"/>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D830450-952B-A30C-4F41-6C6B637421F2}"/>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Slide Number Placeholder 3">
            <a:extLst>
              <a:ext uri="{FF2B5EF4-FFF2-40B4-BE49-F238E27FC236}">
                <a16:creationId xmlns:a16="http://schemas.microsoft.com/office/drawing/2014/main" id="{94EACC90-F41C-49B4-4A11-6365CBB90133}"/>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12</a:t>
            </a:fld>
            <a:endParaRPr lang="en-US" sz="16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234795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4D5B5-3180-1B1F-7697-F3870CC3823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5CCBB67-761D-7467-2DA8-89A84674C580}"/>
              </a:ext>
            </a:extLst>
          </p:cNvPr>
          <p:cNvSpPr txBox="1"/>
          <p:nvPr/>
        </p:nvSpPr>
        <p:spPr>
          <a:xfrm>
            <a:off x="3048681" y="3198167"/>
            <a:ext cx="6094638" cy="461665"/>
          </a:xfrm>
          <a:prstGeom prst="rect">
            <a:avLst/>
          </a:prstGeom>
          <a:noFill/>
        </p:spPr>
        <p:txBody>
          <a:bodyPr wrap="square">
            <a:spAutoFit/>
          </a:bodyPr>
          <a:lstStyle/>
          <a:p>
            <a:pPr algn="ctr"/>
            <a:r>
              <a:rPr lang="en-US" sz="2400" dirty="0">
                <a:latin typeface="Arial" panose="020B0604020202020204" pitchFamily="34" charset="0"/>
                <a:cs typeface="Arial" panose="020B0604020202020204" pitchFamily="34" charset="0"/>
              </a:rPr>
              <a:t>Manuscript Figures</a:t>
            </a:r>
            <a:endParaRPr lang="en-US" sz="2400" b="0" i="0" dirty="0">
              <a:effectLst/>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1BE373E0-1529-1727-23A1-663BA09FBED9}"/>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D830450-952B-A30C-4F41-6C6B637421F2}"/>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Slide Number Placeholder 3">
            <a:extLst>
              <a:ext uri="{FF2B5EF4-FFF2-40B4-BE49-F238E27FC236}">
                <a16:creationId xmlns:a16="http://schemas.microsoft.com/office/drawing/2014/main" id="{94EACC90-F41C-49B4-4A11-6365CBB90133}"/>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13</a:t>
            </a:fld>
            <a:endParaRPr lang="en-US" sz="16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171590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4D5B5-3180-1B1F-7697-F3870CC3823A}"/>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1BE373E0-1529-1727-23A1-663BA09FBED9}"/>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D830450-952B-A30C-4F41-6C6B637421F2}"/>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Slide Number Placeholder 3">
            <a:extLst>
              <a:ext uri="{FF2B5EF4-FFF2-40B4-BE49-F238E27FC236}">
                <a16:creationId xmlns:a16="http://schemas.microsoft.com/office/drawing/2014/main" id="{94EACC90-F41C-49B4-4A11-6365CBB90133}"/>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14</a:t>
            </a:fld>
            <a:endParaRPr lang="en-US" sz="1600" dirty="0">
              <a:solidFill>
                <a:schemeClr val="tx1"/>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DDA11AC1-2129-4795-32A5-6E727E792377}"/>
              </a:ext>
            </a:extLst>
          </p:cNvPr>
          <p:cNvPicPr>
            <a:picLocks noChangeAspect="1"/>
          </p:cNvPicPr>
          <p:nvPr/>
        </p:nvPicPr>
        <p:blipFill>
          <a:blip r:embed="rId3"/>
          <a:stretch>
            <a:fillRect/>
          </a:stretch>
        </p:blipFill>
        <p:spPr>
          <a:xfrm>
            <a:off x="1309348" y="428720"/>
            <a:ext cx="5649796" cy="4325186"/>
          </a:xfrm>
          <a:prstGeom prst="rect">
            <a:avLst/>
          </a:prstGeom>
        </p:spPr>
      </p:pic>
      <p:sp>
        <p:nvSpPr>
          <p:cNvPr id="5" name="TextBox 4">
            <a:extLst>
              <a:ext uri="{FF2B5EF4-FFF2-40B4-BE49-F238E27FC236}">
                <a16:creationId xmlns:a16="http://schemas.microsoft.com/office/drawing/2014/main" id="{8A5CE100-C448-C295-6328-3773A5306010}"/>
              </a:ext>
            </a:extLst>
          </p:cNvPr>
          <p:cNvSpPr txBox="1"/>
          <p:nvPr/>
        </p:nvSpPr>
        <p:spPr>
          <a:xfrm>
            <a:off x="230259" y="5808622"/>
            <a:ext cx="9455908" cy="830997"/>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SI Table with all the experiments – operating conditions, feed and diafiltrate concentrations, etc. </a:t>
            </a:r>
          </a:p>
          <a:p>
            <a:r>
              <a:rPr lang="en-US" sz="1600" dirty="0">
                <a:latin typeface="Arial" panose="020B0604020202020204" pitchFamily="34" charset="0"/>
                <a:cs typeface="Arial" panose="020B0604020202020204" pitchFamily="34" charset="0"/>
              </a:rPr>
              <a:t>SI Figures for all experiments conducted to visualize/verify agreement between multiple types of data: Total of 15 – 20 sets of figures. (Duplicate experiments will not have figures) </a:t>
            </a:r>
            <a:endParaRPr lang="en-US" sz="1600" b="0" i="0" dirty="0">
              <a:effectLst/>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0930F2B7-F5B0-F533-F107-B6E27B622D51}"/>
              </a:ext>
            </a:extLst>
          </p:cNvPr>
          <p:cNvPicPr>
            <a:picLocks noChangeAspect="1"/>
          </p:cNvPicPr>
          <p:nvPr/>
        </p:nvPicPr>
        <p:blipFill>
          <a:blip r:embed="rId4"/>
          <a:stretch>
            <a:fillRect/>
          </a:stretch>
        </p:blipFill>
        <p:spPr>
          <a:xfrm>
            <a:off x="5638591" y="428720"/>
            <a:ext cx="5649797" cy="4325186"/>
          </a:xfrm>
          <a:prstGeom prst="rect">
            <a:avLst/>
          </a:prstGeom>
        </p:spPr>
      </p:pic>
      <p:sp>
        <p:nvSpPr>
          <p:cNvPr id="8" name="TextBox 7">
            <a:extLst>
              <a:ext uri="{FF2B5EF4-FFF2-40B4-BE49-F238E27FC236}">
                <a16:creationId xmlns:a16="http://schemas.microsoft.com/office/drawing/2014/main" id="{DD864892-4AB6-76F9-BB36-C5F498A09105}"/>
              </a:ext>
            </a:extLst>
          </p:cNvPr>
          <p:cNvSpPr txBox="1"/>
          <p:nvPr/>
        </p:nvSpPr>
        <p:spPr>
          <a:xfrm>
            <a:off x="269729" y="4804661"/>
            <a:ext cx="9536469" cy="830997"/>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Edits to figure.</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Right panel: The current shapes are too similar – suggest having unfilled/half filled diamonds.</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Left panel: The green diamonds are ‘confusing’. These are predictions, they should be a line.  </a:t>
            </a:r>
            <a:endParaRPr lang="en-US" sz="1600" b="0" i="0" dirty="0">
              <a:effectLst/>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267389E3-09EF-5ADC-6AE2-CEACE37A3DDE}"/>
              </a:ext>
            </a:extLst>
          </p:cNvPr>
          <p:cNvSpPr txBox="1"/>
          <p:nvPr/>
        </p:nvSpPr>
        <p:spPr>
          <a:xfrm>
            <a:off x="1327765" y="389759"/>
            <a:ext cx="9536469" cy="338554"/>
          </a:xfrm>
          <a:prstGeom prst="rect">
            <a:avLst/>
          </a:prstGeom>
          <a:noFill/>
        </p:spPr>
        <p:txBody>
          <a:bodyPr wrap="square">
            <a:spAutoFit/>
          </a:bodyPr>
          <a:lstStyle/>
          <a:p>
            <a:r>
              <a:rPr lang="en-US" sz="1600" b="1" dirty="0">
                <a:latin typeface="Arial" panose="020B0604020202020204" pitchFamily="34" charset="0"/>
                <a:cs typeface="Arial" panose="020B0604020202020204" pitchFamily="34" charset="0"/>
              </a:rPr>
              <a:t>NF270_MC2, E2. Feed: 20 mM CaCl</a:t>
            </a:r>
            <a:r>
              <a:rPr lang="en-US" sz="1600" b="1" baseline="-25000" dirty="0">
                <a:latin typeface="Arial" panose="020B0604020202020204" pitchFamily="34" charset="0"/>
                <a:cs typeface="Arial" panose="020B0604020202020204" pitchFamily="34" charset="0"/>
              </a:rPr>
              <a:t>2</a:t>
            </a:r>
            <a:r>
              <a:rPr lang="en-US" sz="1600" b="1" dirty="0">
                <a:latin typeface="Arial" panose="020B0604020202020204" pitchFamily="34" charset="0"/>
                <a:cs typeface="Arial" panose="020B0604020202020204" pitchFamily="34" charset="0"/>
              </a:rPr>
              <a:t>, Diafiltrate: 8 mM CaCl</a:t>
            </a:r>
            <a:r>
              <a:rPr lang="en-US" sz="1600" b="1" baseline="-25000" dirty="0">
                <a:latin typeface="Arial" panose="020B0604020202020204" pitchFamily="34" charset="0"/>
                <a:cs typeface="Arial" panose="020B0604020202020204" pitchFamily="34" charset="0"/>
              </a:rPr>
              <a:t>2</a:t>
            </a:r>
            <a:r>
              <a:rPr lang="en-US" sz="1600" b="1" dirty="0">
                <a:latin typeface="Arial" panose="020B0604020202020204" pitchFamily="34" charset="0"/>
                <a:cs typeface="Arial" panose="020B0604020202020204" pitchFamily="34" charset="0"/>
              </a:rPr>
              <a:t>, 50 mM NaCl </a:t>
            </a:r>
            <a:endParaRPr lang="en-US" sz="1600" b="1" i="0"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135841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4D5B5-3180-1B1F-7697-F3870CC3823A}"/>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1BE373E0-1529-1727-23A1-663BA09FBED9}"/>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D830450-952B-A30C-4F41-6C6B637421F2}"/>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Slide Number Placeholder 3">
            <a:extLst>
              <a:ext uri="{FF2B5EF4-FFF2-40B4-BE49-F238E27FC236}">
                <a16:creationId xmlns:a16="http://schemas.microsoft.com/office/drawing/2014/main" id="{94EACC90-F41C-49B4-4A11-6365CBB90133}"/>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15</a:t>
            </a:fld>
            <a:endParaRPr lang="en-US" sz="1600" dirty="0">
              <a:solidFill>
                <a:schemeClr val="tx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DED2A23D-A348-7A67-A871-9C16EE8F48E5}"/>
              </a:ext>
            </a:extLst>
          </p:cNvPr>
          <p:cNvSpPr txBox="1"/>
          <p:nvPr/>
        </p:nvSpPr>
        <p:spPr>
          <a:xfrm>
            <a:off x="214436" y="5874811"/>
            <a:ext cx="11763128" cy="338554"/>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There is likely a figure similar to this for the ternary system. – Will also need to present and validate the raw experimental data.   </a:t>
            </a:r>
            <a:endParaRPr lang="en-US" sz="1600" b="0" i="0" dirty="0">
              <a:effectLst/>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CCA0E9DE-5A02-DFA8-3C98-0972FEFFBE20}"/>
              </a:ext>
            </a:extLst>
          </p:cNvPr>
          <p:cNvSpPr txBox="1"/>
          <p:nvPr/>
        </p:nvSpPr>
        <p:spPr>
          <a:xfrm>
            <a:off x="269729" y="4631511"/>
            <a:ext cx="11326158" cy="830997"/>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Edits to figure. 3 panel figure. Phase space explored by multicomponent diafiltration experiments. </a:t>
            </a:r>
            <a:endParaRPr lang="en-US" sz="1600" b="0" i="0" dirty="0">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Instead of lines, we should overlay ‘circular’ data points that correspond to the calculated retentate concentrations.</a:t>
            </a:r>
          </a:p>
          <a:p>
            <a:pPr marL="742950" lvl="1" indent="-285750">
              <a:buFont typeface="Arial" panose="020B0604020202020204" pitchFamily="34" charset="0"/>
              <a:buChar char="•"/>
            </a:pPr>
            <a:r>
              <a:rPr lang="en-US" sz="1600" b="0" i="0" dirty="0">
                <a:effectLst/>
                <a:latin typeface="Arial" panose="020B0604020202020204" pitchFamily="34" charset="0"/>
                <a:cs typeface="Arial" panose="020B0604020202020204" pitchFamily="34" charset="0"/>
              </a:rPr>
              <a:t>Keep the </a:t>
            </a:r>
            <a:r>
              <a:rPr lang="en-US" sz="1600" dirty="0">
                <a:latin typeface="Arial" panose="020B0604020202020204" pitchFamily="34" charset="0"/>
                <a:cs typeface="Arial" panose="020B0604020202020204" pitchFamily="34" charset="0"/>
              </a:rPr>
              <a:t>triangles that provide information on the “path” of the experiment with respect to time. </a:t>
            </a:r>
            <a:endParaRPr lang="en-US" sz="1600" b="0" i="0" dirty="0">
              <a:effectLst/>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0817D6E8-A465-E48D-3946-059F7001D17B}"/>
              </a:ext>
            </a:extLst>
          </p:cNvPr>
          <p:cNvPicPr>
            <a:picLocks noChangeAspect="1"/>
          </p:cNvPicPr>
          <p:nvPr/>
        </p:nvPicPr>
        <p:blipFill>
          <a:blip r:embed="rId3"/>
          <a:stretch>
            <a:fillRect/>
          </a:stretch>
        </p:blipFill>
        <p:spPr>
          <a:xfrm>
            <a:off x="3499231" y="644635"/>
            <a:ext cx="5321088" cy="4073544"/>
          </a:xfrm>
          <a:prstGeom prst="rect">
            <a:avLst/>
          </a:prstGeom>
        </p:spPr>
      </p:pic>
    </p:spTree>
    <p:extLst>
      <p:ext uri="{BB962C8B-B14F-4D97-AF65-F5344CB8AC3E}">
        <p14:creationId xmlns:p14="http://schemas.microsoft.com/office/powerpoint/2010/main" val="19583342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4D5B5-3180-1B1F-7697-F3870CC3823A}"/>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1BE373E0-1529-1727-23A1-663BA09FBED9}"/>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D830450-952B-A30C-4F41-6C6B637421F2}"/>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Slide Number Placeholder 3">
            <a:extLst>
              <a:ext uri="{FF2B5EF4-FFF2-40B4-BE49-F238E27FC236}">
                <a16:creationId xmlns:a16="http://schemas.microsoft.com/office/drawing/2014/main" id="{94EACC90-F41C-49B4-4A11-6365CBB90133}"/>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16</a:t>
            </a:fld>
            <a:endParaRPr lang="en-US" sz="1600" dirty="0">
              <a:solidFill>
                <a:schemeClr val="tx1"/>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CCA0E9DE-5A02-DFA8-3C98-0972FEFFBE20}"/>
              </a:ext>
            </a:extLst>
          </p:cNvPr>
          <p:cNvSpPr txBox="1"/>
          <p:nvPr/>
        </p:nvSpPr>
        <p:spPr>
          <a:xfrm>
            <a:off x="269729" y="4631511"/>
            <a:ext cx="11326158" cy="830997"/>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Edits to figure. </a:t>
            </a:r>
          </a:p>
          <a:p>
            <a:pPr marL="285750" indent="-285750">
              <a:buFont typeface="Arial" panose="020B0604020202020204" pitchFamily="34" charset="0"/>
              <a:buChar char="•"/>
            </a:pPr>
            <a:r>
              <a:rPr lang="en-US" sz="1600" b="0" i="0" dirty="0">
                <a:effectLst/>
                <a:latin typeface="Arial" panose="020B0604020202020204" pitchFamily="34" charset="0"/>
                <a:cs typeface="Arial" panose="020B0604020202020204" pitchFamily="34" charset="0"/>
              </a:rPr>
              <a:t>There is a figure</a:t>
            </a:r>
            <a:r>
              <a:rPr lang="en-US" sz="1600" dirty="0">
                <a:latin typeface="Arial" panose="020B0604020202020204" pitchFamily="34" charset="0"/>
                <a:cs typeface="Arial" panose="020B0604020202020204" pitchFamily="34" charset="0"/>
              </a:rPr>
              <a:t>/panel of figures that examines the interface concentration as a function of ionic strength.</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 discussion on how  </a:t>
            </a:r>
            <a:endParaRPr lang="en-US" sz="1600" b="0" i="0"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41947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4D5B5-3180-1B1F-7697-F3870CC3823A}"/>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1BE373E0-1529-1727-23A1-663BA09FBED9}"/>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D830450-952B-A30C-4F41-6C6B637421F2}"/>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Slide Number Placeholder 3">
            <a:extLst>
              <a:ext uri="{FF2B5EF4-FFF2-40B4-BE49-F238E27FC236}">
                <a16:creationId xmlns:a16="http://schemas.microsoft.com/office/drawing/2014/main" id="{94EACC90-F41C-49B4-4A11-6365CBB90133}"/>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17</a:t>
            </a:fld>
            <a:endParaRPr lang="en-US" sz="1600" dirty="0">
              <a:solidFill>
                <a:schemeClr val="tx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DED2A23D-A348-7A67-A871-9C16EE8F48E5}"/>
              </a:ext>
            </a:extLst>
          </p:cNvPr>
          <p:cNvSpPr txBox="1"/>
          <p:nvPr/>
        </p:nvSpPr>
        <p:spPr>
          <a:xfrm>
            <a:off x="269729" y="5874811"/>
            <a:ext cx="9455908" cy="338554"/>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3 panel figure. Phase space explored by multicomponent diafiltration experiments. </a:t>
            </a:r>
            <a:endParaRPr lang="en-US" sz="1600" b="0" i="0" dirty="0">
              <a:effectLst/>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CCA0E9DE-5A02-DFA8-3C98-0972FEFFBE20}"/>
              </a:ext>
            </a:extLst>
          </p:cNvPr>
          <p:cNvSpPr txBox="1"/>
          <p:nvPr/>
        </p:nvSpPr>
        <p:spPr>
          <a:xfrm>
            <a:off x="269729" y="4804661"/>
            <a:ext cx="11326158" cy="1077218"/>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Edits to figure.</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This figure is 2D, but I think there is a 3D equivalent that examines solute flux as a function of retentate concentration</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There are likely two panels – one of the panels will have solute flux as a function of the interface concentration</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Prediction that the data will collapse when you graph against the interface concentration.</a:t>
            </a:r>
            <a:endParaRPr lang="en-US" sz="1600" b="0" i="0" dirty="0">
              <a:effectLst/>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76EA666D-AD78-4A81-5B01-CB9B61EE757C}"/>
              </a:ext>
            </a:extLst>
          </p:cNvPr>
          <p:cNvPicPr>
            <a:picLocks noChangeAspect="1"/>
          </p:cNvPicPr>
          <p:nvPr/>
        </p:nvPicPr>
        <p:blipFill>
          <a:blip r:embed="rId3"/>
          <a:stretch>
            <a:fillRect/>
          </a:stretch>
        </p:blipFill>
        <p:spPr>
          <a:xfrm>
            <a:off x="1162086" y="516610"/>
            <a:ext cx="3835597" cy="3886400"/>
          </a:xfrm>
          <a:prstGeom prst="rect">
            <a:avLst/>
          </a:prstGeom>
        </p:spPr>
      </p:pic>
      <p:pic>
        <p:nvPicPr>
          <p:cNvPr id="4" name="Picture 3">
            <a:extLst>
              <a:ext uri="{FF2B5EF4-FFF2-40B4-BE49-F238E27FC236}">
                <a16:creationId xmlns:a16="http://schemas.microsoft.com/office/drawing/2014/main" id="{A45DC73B-B412-B81F-E873-1872389EE6E7}"/>
              </a:ext>
            </a:extLst>
          </p:cNvPr>
          <p:cNvPicPr>
            <a:picLocks noChangeAspect="1"/>
          </p:cNvPicPr>
          <p:nvPr/>
        </p:nvPicPr>
        <p:blipFill>
          <a:blip r:embed="rId4"/>
          <a:stretch>
            <a:fillRect/>
          </a:stretch>
        </p:blipFill>
        <p:spPr>
          <a:xfrm rot="16200000">
            <a:off x="6651179" y="185671"/>
            <a:ext cx="3918842" cy="4580720"/>
          </a:xfrm>
          <a:prstGeom prst="rect">
            <a:avLst/>
          </a:prstGeom>
        </p:spPr>
      </p:pic>
    </p:spTree>
    <p:extLst>
      <p:ext uri="{BB962C8B-B14F-4D97-AF65-F5344CB8AC3E}">
        <p14:creationId xmlns:p14="http://schemas.microsoft.com/office/powerpoint/2010/main" val="41880879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B164E-B1CA-C5D6-5BCF-C5298DBBAE4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57C47BB-D5D4-5855-3CE3-13415477498D}"/>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B2D1515-8D55-092C-5685-E335CA4BDB97}"/>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3">
            <a:extLst>
              <a:ext uri="{FF2B5EF4-FFF2-40B4-BE49-F238E27FC236}">
                <a16:creationId xmlns:a16="http://schemas.microsoft.com/office/drawing/2014/main" id="{67FEE5FB-EA18-FD52-7F58-D533478B4E98}"/>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18</a:t>
            </a:fld>
            <a:endParaRPr lang="en-US" sz="1600" dirty="0">
              <a:solidFill>
                <a:schemeClr val="tx1"/>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76F166BD-705F-F81D-4B5D-C2C5D31F5173}"/>
              </a:ext>
            </a:extLst>
          </p:cNvPr>
          <p:cNvPicPr>
            <a:picLocks noChangeAspect="1"/>
          </p:cNvPicPr>
          <p:nvPr/>
        </p:nvPicPr>
        <p:blipFill>
          <a:blip r:embed="rId3"/>
          <a:stretch>
            <a:fillRect/>
          </a:stretch>
        </p:blipFill>
        <p:spPr>
          <a:xfrm>
            <a:off x="53788" y="1850219"/>
            <a:ext cx="3981336" cy="3730491"/>
          </a:xfrm>
          <a:prstGeom prst="rect">
            <a:avLst/>
          </a:prstGeom>
        </p:spPr>
      </p:pic>
      <p:sp>
        <p:nvSpPr>
          <p:cNvPr id="7" name="TextBox 6">
            <a:extLst>
              <a:ext uri="{FF2B5EF4-FFF2-40B4-BE49-F238E27FC236}">
                <a16:creationId xmlns:a16="http://schemas.microsoft.com/office/drawing/2014/main" id="{14BB39AB-BBCF-F0E6-6FC0-355094CDF767}"/>
              </a:ext>
            </a:extLst>
          </p:cNvPr>
          <p:cNvSpPr txBox="1"/>
          <p:nvPr/>
        </p:nvSpPr>
        <p:spPr>
          <a:xfrm>
            <a:off x="4117684" y="1496463"/>
            <a:ext cx="2487939" cy="307777"/>
          </a:xfrm>
          <a:prstGeom prst="rect">
            <a:avLst/>
          </a:prstGeom>
          <a:noFill/>
        </p:spPr>
        <p:txBody>
          <a:bodyPr wrap="square">
            <a:spAutoFit/>
          </a:bodyPr>
          <a:lstStyle/>
          <a:p>
            <a:r>
              <a:rPr lang="en-US" sz="1400" b="1" dirty="0">
                <a:latin typeface="Arial" panose="020B0604020202020204" pitchFamily="34" charset="0"/>
                <a:cs typeface="Arial" panose="020B0604020202020204" pitchFamily="34" charset="0"/>
              </a:rPr>
              <a:t>CaCl2 – Single Component</a:t>
            </a:r>
          </a:p>
        </p:txBody>
      </p:sp>
      <p:sp>
        <p:nvSpPr>
          <p:cNvPr id="10" name="TextBox 9">
            <a:extLst>
              <a:ext uri="{FF2B5EF4-FFF2-40B4-BE49-F238E27FC236}">
                <a16:creationId xmlns:a16="http://schemas.microsoft.com/office/drawing/2014/main" id="{8AF0E69E-99E2-CB09-FA28-FA40AEC2C80B}"/>
              </a:ext>
            </a:extLst>
          </p:cNvPr>
          <p:cNvSpPr txBox="1"/>
          <p:nvPr/>
        </p:nvSpPr>
        <p:spPr>
          <a:xfrm>
            <a:off x="8095048" y="1496464"/>
            <a:ext cx="2487939" cy="307777"/>
          </a:xfrm>
          <a:prstGeom prst="rect">
            <a:avLst/>
          </a:prstGeom>
          <a:noFill/>
        </p:spPr>
        <p:txBody>
          <a:bodyPr wrap="square">
            <a:spAutoFit/>
          </a:bodyPr>
          <a:lstStyle/>
          <a:p>
            <a:r>
              <a:rPr lang="en-US" sz="1400" b="1" dirty="0">
                <a:latin typeface="Arial" panose="020B0604020202020204" pitchFamily="34" charset="0"/>
                <a:cs typeface="Arial" panose="020B0604020202020204" pitchFamily="34" charset="0"/>
              </a:rPr>
              <a:t>LaCl3 – Single Component</a:t>
            </a:r>
          </a:p>
        </p:txBody>
      </p:sp>
      <p:pic>
        <p:nvPicPr>
          <p:cNvPr id="12" name="Picture 11">
            <a:extLst>
              <a:ext uri="{FF2B5EF4-FFF2-40B4-BE49-F238E27FC236}">
                <a16:creationId xmlns:a16="http://schemas.microsoft.com/office/drawing/2014/main" id="{ED5ABC84-E8EC-558D-AEE5-E7F4C20095AF}"/>
              </a:ext>
            </a:extLst>
          </p:cNvPr>
          <p:cNvPicPr>
            <a:picLocks noChangeAspect="1"/>
          </p:cNvPicPr>
          <p:nvPr/>
        </p:nvPicPr>
        <p:blipFill>
          <a:blip r:embed="rId4"/>
          <a:stretch>
            <a:fillRect/>
          </a:stretch>
        </p:blipFill>
        <p:spPr>
          <a:xfrm>
            <a:off x="4117684" y="1850218"/>
            <a:ext cx="3894804" cy="3730492"/>
          </a:xfrm>
          <a:prstGeom prst="rect">
            <a:avLst/>
          </a:prstGeom>
        </p:spPr>
      </p:pic>
      <p:pic>
        <p:nvPicPr>
          <p:cNvPr id="15" name="Picture 14">
            <a:extLst>
              <a:ext uri="{FF2B5EF4-FFF2-40B4-BE49-F238E27FC236}">
                <a16:creationId xmlns:a16="http://schemas.microsoft.com/office/drawing/2014/main" id="{11BF38D1-91E5-2ADC-45B5-6F47D3C4AC01}"/>
              </a:ext>
            </a:extLst>
          </p:cNvPr>
          <p:cNvPicPr>
            <a:picLocks noChangeAspect="1"/>
          </p:cNvPicPr>
          <p:nvPr/>
        </p:nvPicPr>
        <p:blipFill>
          <a:blip r:embed="rId5"/>
          <a:stretch>
            <a:fillRect/>
          </a:stretch>
        </p:blipFill>
        <p:spPr>
          <a:xfrm>
            <a:off x="8095048" y="1850218"/>
            <a:ext cx="3955027" cy="3736730"/>
          </a:xfrm>
          <a:prstGeom prst="rect">
            <a:avLst/>
          </a:prstGeom>
        </p:spPr>
      </p:pic>
    </p:spTree>
    <p:extLst>
      <p:ext uri="{BB962C8B-B14F-4D97-AF65-F5344CB8AC3E}">
        <p14:creationId xmlns:p14="http://schemas.microsoft.com/office/powerpoint/2010/main" val="16665770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B164E-B1CA-C5D6-5BCF-C5298DBBAE4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57C47BB-D5D4-5855-3CE3-13415477498D}"/>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B2D1515-8D55-092C-5685-E335CA4BDB97}"/>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3">
            <a:extLst>
              <a:ext uri="{FF2B5EF4-FFF2-40B4-BE49-F238E27FC236}">
                <a16:creationId xmlns:a16="http://schemas.microsoft.com/office/drawing/2014/main" id="{67FEE5FB-EA18-FD52-7F58-D533478B4E98}"/>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19</a:t>
            </a:fld>
            <a:endParaRPr lang="en-US" sz="1600" dirty="0">
              <a:solidFill>
                <a:schemeClr val="tx1"/>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8AF0E69E-99E2-CB09-FA28-FA40AEC2C80B}"/>
              </a:ext>
            </a:extLst>
          </p:cNvPr>
          <p:cNvSpPr txBox="1"/>
          <p:nvPr/>
        </p:nvSpPr>
        <p:spPr>
          <a:xfrm>
            <a:off x="31565" y="6335168"/>
            <a:ext cx="4452979" cy="307777"/>
          </a:xfrm>
          <a:prstGeom prst="rect">
            <a:avLst/>
          </a:prstGeom>
          <a:noFill/>
        </p:spPr>
        <p:txBody>
          <a:bodyPr wrap="square">
            <a:spAutoFit/>
          </a:bodyPr>
          <a:lstStyle/>
          <a:p>
            <a:r>
              <a:rPr lang="en-US" sz="1400" b="1" dirty="0">
                <a:latin typeface="Arial" panose="020B0604020202020204" pitchFamily="34" charset="0"/>
                <a:cs typeface="Arial" panose="020B0604020202020204" pitchFamily="34" charset="0"/>
              </a:rPr>
              <a:t>NaCl – CaCl2 Multicomponent</a:t>
            </a:r>
          </a:p>
        </p:txBody>
      </p:sp>
      <p:pic>
        <p:nvPicPr>
          <p:cNvPr id="9" name="Picture 8">
            <a:extLst>
              <a:ext uri="{FF2B5EF4-FFF2-40B4-BE49-F238E27FC236}">
                <a16:creationId xmlns:a16="http://schemas.microsoft.com/office/drawing/2014/main" id="{71A61FF6-11AC-422B-76AB-029C5C874BB5}"/>
              </a:ext>
            </a:extLst>
          </p:cNvPr>
          <p:cNvPicPr>
            <a:picLocks noChangeAspect="1"/>
          </p:cNvPicPr>
          <p:nvPr/>
        </p:nvPicPr>
        <p:blipFill>
          <a:blip r:embed="rId3"/>
          <a:stretch>
            <a:fillRect/>
          </a:stretch>
        </p:blipFill>
        <p:spPr>
          <a:xfrm>
            <a:off x="228422" y="204379"/>
            <a:ext cx="3167925" cy="2999581"/>
          </a:xfrm>
          <a:prstGeom prst="rect">
            <a:avLst/>
          </a:prstGeom>
        </p:spPr>
      </p:pic>
      <p:pic>
        <p:nvPicPr>
          <p:cNvPr id="13" name="Picture 12">
            <a:extLst>
              <a:ext uri="{FF2B5EF4-FFF2-40B4-BE49-F238E27FC236}">
                <a16:creationId xmlns:a16="http://schemas.microsoft.com/office/drawing/2014/main" id="{AEFFCE48-8251-5678-2AD5-54E4465F57D1}"/>
              </a:ext>
            </a:extLst>
          </p:cNvPr>
          <p:cNvPicPr>
            <a:picLocks noChangeAspect="1"/>
          </p:cNvPicPr>
          <p:nvPr/>
        </p:nvPicPr>
        <p:blipFill>
          <a:blip r:embed="rId4"/>
          <a:stretch>
            <a:fillRect/>
          </a:stretch>
        </p:blipFill>
        <p:spPr>
          <a:xfrm>
            <a:off x="228422" y="3289857"/>
            <a:ext cx="3229141" cy="2999581"/>
          </a:xfrm>
          <a:prstGeom prst="rect">
            <a:avLst/>
          </a:prstGeom>
        </p:spPr>
      </p:pic>
      <p:sp>
        <p:nvSpPr>
          <p:cNvPr id="17" name="TextBox 16">
            <a:extLst>
              <a:ext uri="{FF2B5EF4-FFF2-40B4-BE49-F238E27FC236}">
                <a16:creationId xmlns:a16="http://schemas.microsoft.com/office/drawing/2014/main" id="{6DFDD1DA-B830-CE50-A60E-1413B94F949C}"/>
              </a:ext>
            </a:extLst>
          </p:cNvPr>
          <p:cNvSpPr txBox="1"/>
          <p:nvPr/>
        </p:nvSpPr>
        <p:spPr>
          <a:xfrm>
            <a:off x="1233084" y="2186010"/>
            <a:ext cx="3167925" cy="600164"/>
          </a:xfrm>
          <a:prstGeom prst="rect">
            <a:avLst/>
          </a:prstGeom>
          <a:noFill/>
        </p:spPr>
        <p:txBody>
          <a:bodyPr wrap="square">
            <a:spAutoFit/>
          </a:bodyPr>
          <a:lstStyle/>
          <a:p>
            <a:r>
              <a:rPr lang="en-US" sz="1100" b="1" dirty="0">
                <a:latin typeface="Arial" panose="020B0604020202020204" pitchFamily="34" charset="0"/>
                <a:cs typeface="Arial" panose="020B0604020202020204" pitchFamily="34" charset="0"/>
              </a:rPr>
              <a:t>E1. </a:t>
            </a:r>
          </a:p>
          <a:p>
            <a:r>
              <a:rPr lang="en-US" sz="1100" b="1" dirty="0">
                <a:latin typeface="Arial" panose="020B0604020202020204" pitchFamily="34" charset="0"/>
                <a:cs typeface="Arial" panose="020B0604020202020204" pitchFamily="34" charset="0"/>
              </a:rPr>
              <a:t>Feed: 10 mM CaCl2</a:t>
            </a:r>
          </a:p>
          <a:p>
            <a:r>
              <a:rPr lang="en-US" sz="1100" b="1" dirty="0">
                <a:latin typeface="Arial" panose="020B0604020202020204" pitchFamily="34" charset="0"/>
                <a:cs typeface="Arial" panose="020B0604020202020204" pitchFamily="34" charset="0"/>
              </a:rPr>
              <a:t>Diafiltrate: 50 mM NaCl, 4 mM CaCl2</a:t>
            </a:r>
          </a:p>
        </p:txBody>
      </p:sp>
      <p:pic>
        <p:nvPicPr>
          <p:cNvPr id="23" name="Picture 22">
            <a:extLst>
              <a:ext uri="{FF2B5EF4-FFF2-40B4-BE49-F238E27FC236}">
                <a16:creationId xmlns:a16="http://schemas.microsoft.com/office/drawing/2014/main" id="{FA76D379-F926-8B32-88F5-7E0E630F7CD0}"/>
              </a:ext>
            </a:extLst>
          </p:cNvPr>
          <p:cNvPicPr>
            <a:picLocks noChangeAspect="1"/>
          </p:cNvPicPr>
          <p:nvPr/>
        </p:nvPicPr>
        <p:blipFill>
          <a:blip r:embed="rId5"/>
          <a:stretch>
            <a:fillRect/>
          </a:stretch>
        </p:blipFill>
        <p:spPr>
          <a:xfrm>
            <a:off x="4325074" y="139557"/>
            <a:ext cx="3167926" cy="2984278"/>
          </a:xfrm>
          <a:prstGeom prst="rect">
            <a:avLst/>
          </a:prstGeom>
        </p:spPr>
      </p:pic>
      <p:pic>
        <p:nvPicPr>
          <p:cNvPr id="24" name="Picture 23">
            <a:extLst>
              <a:ext uri="{FF2B5EF4-FFF2-40B4-BE49-F238E27FC236}">
                <a16:creationId xmlns:a16="http://schemas.microsoft.com/office/drawing/2014/main" id="{53BEE66A-4781-2019-7AF4-C3EB704956E8}"/>
              </a:ext>
            </a:extLst>
          </p:cNvPr>
          <p:cNvPicPr>
            <a:picLocks noChangeAspect="1"/>
          </p:cNvPicPr>
          <p:nvPr/>
        </p:nvPicPr>
        <p:blipFill>
          <a:blip r:embed="rId6"/>
          <a:stretch>
            <a:fillRect/>
          </a:stretch>
        </p:blipFill>
        <p:spPr>
          <a:xfrm>
            <a:off x="4325074" y="3289153"/>
            <a:ext cx="3167925" cy="2901878"/>
          </a:xfrm>
          <a:prstGeom prst="rect">
            <a:avLst/>
          </a:prstGeom>
        </p:spPr>
      </p:pic>
      <p:pic>
        <p:nvPicPr>
          <p:cNvPr id="26" name="Picture 25">
            <a:extLst>
              <a:ext uri="{FF2B5EF4-FFF2-40B4-BE49-F238E27FC236}">
                <a16:creationId xmlns:a16="http://schemas.microsoft.com/office/drawing/2014/main" id="{CE1DB239-107C-6586-1EBC-F679FA16C50A}"/>
              </a:ext>
            </a:extLst>
          </p:cNvPr>
          <p:cNvPicPr>
            <a:picLocks noChangeAspect="1"/>
          </p:cNvPicPr>
          <p:nvPr/>
        </p:nvPicPr>
        <p:blipFill>
          <a:blip r:embed="rId7"/>
          <a:stretch>
            <a:fillRect/>
          </a:stretch>
        </p:blipFill>
        <p:spPr>
          <a:xfrm>
            <a:off x="8610600" y="1561586"/>
            <a:ext cx="3051605" cy="2858403"/>
          </a:xfrm>
          <a:prstGeom prst="rect">
            <a:avLst/>
          </a:prstGeom>
        </p:spPr>
      </p:pic>
      <p:sp>
        <p:nvSpPr>
          <p:cNvPr id="27" name="TextBox 26">
            <a:extLst>
              <a:ext uri="{FF2B5EF4-FFF2-40B4-BE49-F238E27FC236}">
                <a16:creationId xmlns:a16="http://schemas.microsoft.com/office/drawing/2014/main" id="{9D103BD5-D242-3992-44D1-4C7DEA7C5774}"/>
              </a:ext>
            </a:extLst>
          </p:cNvPr>
          <p:cNvSpPr txBox="1"/>
          <p:nvPr/>
        </p:nvSpPr>
        <p:spPr>
          <a:xfrm>
            <a:off x="1068588" y="5185591"/>
            <a:ext cx="3167925" cy="600164"/>
          </a:xfrm>
          <a:prstGeom prst="rect">
            <a:avLst/>
          </a:prstGeom>
          <a:noFill/>
        </p:spPr>
        <p:txBody>
          <a:bodyPr wrap="square">
            <a:spAutoFit/>
          </a:bodyPr>
          <a:lstStyle/>
          <a:p>
            <a:r>
              <a:rPr lang="en-US" sz="1100" b="1" dirty="0">
                <a:latin typeface="Arial" panose="020B0604020202020204" pitchFamily="34" charset="0"/>
                <a:cs typeface="Arial" panose="020B0604020202020204" pitchFamily="34" charset="0"/>
              </a:rPr>
              <a:t>E2. </a:t>
            </a:r>
          </a:p>
          <a:p>
            <a:r>
              <a:rPr lang="en-US" sz="1100" b="1" dirty="0">
                <a:latin typeface="Arial" panose="020B0604020202020204" pitchFamily="34" charset="0"/>
                <a:cs typeface="Arial" panose="020B0604020202020204" pitchFamily="34" charset="0"/>
              </a:rPr>
              <a:t>Feed: 20 mM CaCl2</a:t>
            </a:r>
          </a:p>
          <a:p>
            <a:r>
              <a:rPr lang="en-US" sz="1100" b="1" dirty="0">
                <a:latin typeface="Arial" panose="020B0604020202020204" pitchFamily="34" charset="0"/>
                <a:cs typeface="Arial" panose="020B0604020202020204" pitchFamily="34" charset="0"/>
              </a:rPr>
              <a:t>Diafiltrate: 50 mM NaCl, 8 mM CaCl2</a:t>
            </a:r>
          </a:p>
        </p:txBody>
      </p:sp>
      <p:sp>
        <p:nvSpPr>
          <p:cNvPr id="28" name="TextBox 27">
            <a:extLst>
              <a:ext uri="{FF2B5EF4-FFF2-40B4-BE49-F238E27FC236}">
                <a16:creationId xmlns:a16="http://schemas.microsoft.com/office/drawing/2014/main" id="{3ADC4626-0F13-FD55-8977-00A057208C4B}"/>
              </a:ext>
            </a:extLst>
          </p:cNvPr>
          <p:cNvSpPr txBox="1"/>
          <p:nvPr/>
        </p:nvSpPr>
        <p:spPr>
          <a:xfrm>
            <a:off x="5536568" y="2137066"/>
            <a:ext cx="3167925" cy="600164"/>
          </a:xfrm>
          <a:prstGeom prst="rect">
            <a:avLst/>
          </a:prstGeom>
          <a:noFill/>
        </p:spPr>
        <p:txBody>
          <a:bodyPr wrap="square">
            <a:spAutoFit/>
          </a:bodyPr>
          <a:lstStyle/>
          <a:p>
            <a:r>
              <a:rPr lang="en-US" sz="1100" b="1" dirty="0">
                <a:latin typeface="Arial" panose="020B0604020202020204" pitchFamily="34" charset="0"/>
                <a:cs typeface="Arial" panose="020B0604020202020204" pitchFamily="34" charset="0"/>
              </a:rPr>
              <a:t>E3. </a:t>
            </a:r>
          </a:p>
          <a:p>
            <a:r>
              <a:rPr lang="en-US" sz="1100" b="1" dirty="0">
                <a:latin typeface="Arial" panose="020B0604020202020204" pitchFamily="34" charset="0"/>
                <a:cs typeface="Arial" panose="020B0604020202020204" pitchFamily="34" charset="0"/>
              </a:rPr>
              <a:t>Feed: 10 mM NaCl</a:t>
            </a:r>
          </a:p>
          <a:p>
            <a:r>
              <a:rPr lang="en-US" sz="1100" b="1" dirty="0">
                <a:latin typeface="Arial" panose="020B0604020202020204" pitchFamily="34" charset="0"/>
                <a:cs typeface="Arial" panose="020B0604020202020204" pitchFamily="34" charset="0"/>
              </a:rPr>
              <a:t>Diafiltrate: 50 mM CaCl2, 5 mM NaCl</a:t>
            </a:r>
          </a:p>
        </p:txBody>
      </p:sp>
      <p:sp>
        <p:nvSpPr>
          <p:cNvPr id="29" name="TextBox 28">
            <a:extLst>
              <a:ext uri="{FF2B5EF4-FFF2-40B4-BE49-F238E27FC236}">
                <a16:creationId xmlns:a16="http://schemas.microsoft.com/office/drawing/2014/main" id="{E2BB71B6-5CBA-8EC0-5AC7-0D3365C60A6E}"/>
              </a:ext>
            </a:extLst>
          </p:cNvPr>
          <p:cNvSpPr txBox="1"/>
          <p:nvPr/>
        </p:nvSpPr>
        <p:spPr>
          <a:xfrm>
            <a:off x="5536568" y="5252503"/>
            <a:ext cx="3167925" cy="600164"/>
          </a:xfrm>
          <a:prstGeom prst="rect">
            <a:avLst/>
          </a:prstGeom>
          <a:noFill/>
        </p:spPr>
        <p:txBody>
          <a:bodyPr wrap="square">
            <a:spAutoFit/>
          </a:bodyPr>
          <a:lstStyle/>
          <a:p>
            <a:r>
              <a:rPr lang="en-US" sz="1100" b="1" dirty="0">
                <a:latin typeface="Arial" panose="020B0604020202020204" pitchFamily="34" charset="0"/>
                <a:cs typeface="Arial" panose="020B0604020202020204" pitchFamily="34" charset="0"/>
              </a:rPr>
              <a:t>E4. </a:t>
            </a:r>
          </a:p>
          <a:p>
            <a:r>
              <a:rPr lang="en-US" sz="1100" b="1" dirty="0">
                <a:latin typeface="Arial" panose="020B0604020202020204" pitchFamily="34" charset="0"/>
                <a:cs typeface="Arial" panose="020B0604020202020204" pitchFamily="34" charset="0"/>
              </a:rPr>
              <a:t>Feed: 20 mM NaCl</a:t>
            </a:r>
          </a:p>
          <a:p>
            <a:r>
              <a:rPr lang="en-US" sz="1100" b="1" dirty="0">
                <a:latin typeface="Arial" panose="020B0604020202020204" pitchFamily="34" charset="0"/>
                <a:cs typeface="Arial" panose="020B0604020202020204" pitchFamily="34" charset="0"/>
              </a:rPr>
              <a:t>Diafiltrate: 50 mM CaCl2, 10 mM NaCl</a:t>
            </a:r>
          </a:p>
        </p:txBody>
      </p:sp>
      <p:sp>
        <p:nvSpPr>
          <p:cNvPr id="30" name="TextBox 29">
            <a:extLst>
              <a:ext uri="{FF2B5EF4-FFF2-40B4-BE49-F238E27FC236}">
                <a16:creationId xmlns:a16="http://schemas.microsoft.com/office/drawing/2014/main" id="{83C7580B-918D-E167-8ECF-DC9BC09F4776}"/>
              </a:ext>
            </a:extLst>
          </p:cNvPr>
          <p:cNvSpPr txBox="1"/>
          <p:nvPr/>
        </p:nvSpPr>
        <p:spPr>
          <a:xfrm>
            <a:off x="8610600" y="4598264"/>
            <a:ext cx="3167925" cy="600164"/>
          </a:xfrm>
          <a:prstGeom prst="rect">
            <a:avLst/>
          </a:prstGeom>
          <a:noFill/>
        </p:spPr>
        <p:txBody>
          <a:bodyPr wrap="square">
            <a:spAutoFit/>
          </a:bodyPr>
          <a:lstStyle/>
          <a:p>
            <a:r>
              <a:rPr lang="en-US" sz="1100" b="1" dirty="0">
                <a:latin typeface="Arial" panose="020B0604020202020204" pitchFamily="34" charset="0"/>
                <a:cs typeface="Arial" panose="020B0604020202020204" pitchFamily="34" charset="0"/>
              </a:rPr>
              <a:t>E5. </a:t>
            </a:r>
          </a:p>
          <a:p>
            <a:r>
              <a:rPr lang="en-US" sz="1100" b="1" dirty="0">
                <a:latin typeface="Arial" panose="020B0604020202020204" pitchFamily="34" charset="0"/>
                <a:cs typeface="Arial" panose="020B0604020202020204" pitchFamily="34" charset="0"/>
              </a:rPr>
              <a:t>Feed: 10 mM NaCl, 1 mM CaCl2</a:t>
            </a:r>
          </a:p>
          <a:p>
            <a:r>
              <a:rPr lang="en-US" sz="1100" b="1" dirty="0">
                <a:latin typeface="Arial" panose="020B0604020202020204" pitchFamily="34" charset="0"/>
                <a:cs typeface="Arial" panose="020B0604020202020204" pitchFamily="34" charset="0"/>
              </a:rPr>
              <a:t>Diafiltrate: 50 mM CaCl2, 50 mM NaCl</a:t>
            </a:r>
          </a:p>
        </p:txBody>
      </p:sp>
    </p:spTree>
    <p:extLst>
      <p:ext uri="{BB962C8B-B14F-4D97-AF65-F5344CB8AC3E}">
        <p14:creationId xmlns:p14="http://schemas.microsoft.com/office/powerpoint/2010/main" val="37296616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TM04033917[[fn=Berlin]]</Template>
  <TotalTime>193009</TotalTime>
  <Words>1705</Words>
  <Application>Microsoft Office PowerPoint</Application>
  <PresentationFormat>Widescreen</PresentationFormat>
  <Paragraphs>200</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On one 05/07/2020</dc:title>
  <dc:creator>Jonathan Ouimet</dc:creator>
  <cp:lastModifiedBy>Laurianne Lair</cp:lastModifiedBy>
  <cp:revision>1279</cp:revision>
  <dcterms:created xsi:type="dcterms:W3CDTF">2020-05-07T13:25:50Z</dcterms:created>
  <dcterms:modified xsi:type="dcterms:W3CDTF">2025-03-27T16:31:33Z</dcterms:modified>
</cp:coreProperties>
</file>
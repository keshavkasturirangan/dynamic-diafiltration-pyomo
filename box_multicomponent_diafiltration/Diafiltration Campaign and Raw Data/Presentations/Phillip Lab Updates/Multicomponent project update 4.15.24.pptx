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7" r:id="rId2"/>
    <p:sldId id="585" r:id="rId3"/>
    <p:sldId id="598" r:id="rId4"/>
    <p:sldId id="599" r:id="rId5"/>
    <p:sldId id="601" r:id="rId6"/>
    <p:sldId id="575" r:id="rId7"/>
    <p:sldId id="600" r:id="rId8"/>
    <p:sldId id="596" r:id="rId9"/>
    <p:sldId id="602" r:id="rId10"/>
    <p:sldId id="594" r:id="rId11"/>
    <p:sldId id="597" r:id="rId12"/>
    <p:sldId id="582" r:id="rId13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EFCD4F"/>
    <a:srgbClr val="F4DB80"/>
    <a:srgbClr val="000000"/>
    <a:srgbClr val="FFCC66"/>
    <a:srgbClr val="FFCC99"/>
    <a:srgbClr val="000066"/>
    <a:srgbClr val="FFCCCC"/>
    <a:srgbClr val="FFCC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4D85D-252E-48CD-B191-8DF5AC0ACE10}" v="594" dt="2024-04-15T18:47:56.6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8" autoAdjust="0"/>
    <p:restoredTop sz="94980" autoAdjust="0"/>
  </p:normalViewPr>
  <p:slideViewPr>
    <p:cSldViewPr snapToGrid="0" snapToObjects="1">
      <p:cViewPr varScale="1">
        <p:scale>
          <a:sx n="106" d="100"/>
          <a:sy n="106" d="100"/>
        </p:scale>
        <p:origin x="806" y="3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 snapToObjects="1">
      <p:cViewPr>
        <p:scale>
          <a:sx n="61" d="100"/>
          <a:sy n="61" d="100"/>
        </p:scale>
        <p:origin x="3156" y="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7d0e272dd2d022/Documents/Procedures%20for%20Data%20Analysis%20and%20Sample%20Preparation/Multicomponent%20Calibration%20Curv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7d0e272dd2d022/Documents/Procedures%20for%20Data%20Analysis%20and%20Sample%20Preparation/Multicomponent%20Calibration%20Curv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7d0e272dd2d022/Documents/Procedures%20for%20Data%20Analysis%20and%20Sample%20Preparation/Multicomponent%20Calibration%20Curv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7d0e272dd2d022/Documents/Procedures%20for%20Data%20Analysis%20and%20Sample%20Preparation/Multicomponent%20Calibration%20Curv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7d0e272dd2d022/Documents/Procedures%20for%20Data%20Analysis%20and%20Sample%20Preparation/Multicomponent%20Calibration%20Curv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KCl calibration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348381452318461"/>
          <c:y val="5.0925925925925923E-2"/>
          <c:w val="0.79699759405074366"/>
          <c:h val="0.82683654126567507"/>
        </c:manualLayout>
      </c:layout>
      <c:scatterChart>
        <c:scatterStyle val="lineMarker"/>
        <c:varyColors val="0"/>
        <c:ser>
          <c:idx val="0"/>
          <c:order val="0"/>
          <c:tx>
            <c:v>Experimental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2126852463488039"/>
                  <c:y val="9.1974187587707923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'[Multicomponent Calibration Curve.xlsx]KCl 9.5.23 (2)'!$D$43:$D$57</c:f>
              <c:numCache>
                <c:formatCode>General</c:formatCod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80</c:v>
                </c:pt>
                <c:pt idx="13">
                  <c:v>90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 9.5.23 (2)'!$E$43:$E$57</c:f>
              <c:numCache>
                <c:formatCode>General</c:formatCode>
                <c:ptCount val="15"/>
                <c:pt idx="0">
                  <c:v>0.88</c:v>
                </c:pt>
                <c:pt idx="1">
                  <c:v>272.04000000000002</c:v>
                </c:pt>
                <c:pt idx="2">
                  <c:v>530.48</c:v>
                </c:pt>
                <c:pt idx="3">
                  <c:v>794.86</c:v>
                </c:pt>
                <c:pt idx="4">
                  <c:v>1055.0999999999999</c:v>
                </c:pt>
                <c:pt idx="5">
                  <c:v>1286.5</c:v>
                </c:pt>
                <c:pt idx="6">
                  <c:v>2601.9</c:v>
                </c:pt>
                <c:pt idx="7">
                  <c:v>3850.1</c:v>
                </c:pt>
                <c:pt idx="8">
                  <c:v>5090.6000000000004</c:v>
                </c:pt>
                <c:pt idx="9">
                  <c:v>6268.6</c:v>
                </c:pt>
                <c:pt idx="10">
                  <c:v>7488.8</c:v>
                </c:pt>
                <c:pt idx="11">
                  <c:v>8620.2999999999993</c:v>
                </c:pt>
                <c:pt idx="12">
                  <c:v>9866.1</c:v>
                </c:pt>
                <c:pt idx="13">
                  <c:v>11024</c:v>
                </c:pt>
                <c:pt idx="14">
                  <c:v>11944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93B-45CC-B48E-98988EDF28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1014608"/>
        <c:axId val="491016528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v>Predicted</c:v>
                </c:tx>
                <c:spPr>
                  <a:ln w="25400" cap="rnd">
                    <a:solidFill>
                      <a:schemeClr val="tx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'[Multicomponent Calibration Curve.xlsx]KCl 9.5.23 (2)'!$D$43:$D$57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2</c:v>
                      </c:pt>
                      <c:pt idx="2">
                        <c:v>4</c:v>
                      </c:pt>
                      <c:pt idx="3">
                        <c:v>6</c:v>
                      </c:pt>
                      <c:pt idx="4">
                        <c:v>8</c:v>
                      </c:pt>
                      <c:pt idx="5">
                        <c:v>10</c:v>
                      </c:pt>
                      <c:pt idx="6">
                        <c:v>20</c:v>
                      </c:pt>
                      <c:pt idx="7">
                        <c:v>30</c:v>
                      </c:pt>
                      <c:pt idx="8">
                        <c:v>40</c:v>
                      </c:pt>
                      <c:pt idx="9">
                        <c:v>50</c:v>
                      </c:pt>
                      <c:pt idx="10">
                        <c:v>60</c:v>
                      </c:pt>
                      <c:pt idx="11">
                        <c:v>70</c:v>
                      </c:pt>
                      <c:pt idx="12">
                        <c:v>80</c:v>
                      </c:pt>
                      <c:pt idx="13">
                        <c:v>90</c:v>
                      </c:pt>
                      <c:pt idx="14">
                        <c:v>100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'[Multicomponent Calibration Curve.xlsx]KCl 9.5.23 (2)'!$K$43:$K$57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299.52989465993716</c:v>
                      </c:pt>
                      <c:pt idx="2">
                        <c:v>599.05978931987431</c:v>
                      </c:pt>
                      <c:pt idx="3">
                        <c:v>898.58968397981141</c:v>
                      </c:pt>
                      <c:pt idx="4">
                        <c:v>1198.1195786397486</c:v>
                      </c:pt>
                      <c:pt idx="5">
                        <c:v>1497.649473299686</c:v>
                      </c:pt>
                      <c:pt idx="6">
                        <c:v>2995.2989465993719</c:v>
                      </c:pt>
                      <c:pt idx="7">
                        <c:v>4492.9484198990567</c:v>
                      </c:pt>
                      <c:pt idx="8">
                        <c:v>5990.5978931987438</c:v>
                      </c:pt>
                      <c:pt idx="9">
                        <c:v>7488.2473664984282</c:v>
                      </c:pt>
                      <c:pt idx="10">
                        <c:v>8985.8968397981134</c:v>
                      </c:pt>
                      <c:pt idx="11">
                        <c:v>10483.546313097799</c:v>
                      </c:pt>
                      <c:pt idx="12">
                        <c:v>11981.195786397488</c:v>
                      </c:pt>
                      <c:pt idx="13">
                        <c:v>13478.845259697169</c:v>
                      </c:pt>
                      <c:pt idx="14">
                        <c:v>14976.494732996856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E93B-45CC-B48E-98988EDF28BD}"/>
                  </c:ext>
                </c:extLst>
              </c15:ser>
            </c15:filteredScatterSeries>
          </c:ext>
        </c:extLst>
      </c:scatterChart>
      <c:valAx>
        <c:axId val="491014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6528"/>
        <c:crosses val="autoZero"/>
        <c:crossBetween val="midCat"/>
      </c:valAx>
      <c:valAx>
        <c:axId val="4910165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 (uS/cm)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46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1"/>
        <c:delete val="1"/>
      </c:legendEntry>
      <c:layout>
        <c:manualLayout>
          <c:xMode val="edge"/>
          <c:yMode val="edge"/>
          <c:x val="0.71610174382652425"/>
          <c:y val="0.45993411996092148"/>
          <c:w val="0.26993665058883348"/>
          <c:h val="0.188202746347448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668221484680345"/>
          <c:y val="0.13815769150812887"/>
          <c:w val="0.82588973362452611"/>
          <c:h val="0.77629325854985398"/>
        </c:manualLayout>
      </c:layout>
      <c:scatterChart>
        <c:scatterStyle val="lineMarker"/>
        <c:varyColors val="0"/>
        <c:ser>
          <c:idx val="0"/>
          <c:order val="0"/>
          <c:tx>
            <c:v>Residuals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'[Multicomponent Calibration Curve.xlsx]KCl 9.5.23 (2)'!$H$63:$H$77</c:f>
              <c:numCache>
                <c:formatCode>General</c:formatCode>
                <c:ptCount val="15"/>
                <c:pt idx="0">
                  <c:v>0</c:v>
                </c:pt>
                <c:pt idx="1">
                  <c:v>299.52989465993716</c:v>
                </c:pt>
                <c:pt idx="2">
                  <c:v>599.05978931987431</c:v>
                </c:pt>
                <c:pt idx="3">
                  <c:v>898.58968397981141</c:v>
                </c:pt>
                <c:pt idx="4">
                  <c:v>1198.1195786397486</c:v>
                </c:pt>
                <c:pt idx="5">
                  <c:v>1497.649473299686</c:v>
                </c:pt>
                <c:pt idx="6">
                  <c:v>2995.2989465993719</c:v>
                </c:pt>
                <c:pt idx="7">
                  <c:v>4492.9484198990567</c:v>
                </c:pt>
                <c:pt idx="8">
                  <c:v>5990.5978931987438</c:v>
                </c:pt>
                <c:pt idx="9">
                  <c:v>7488.2473664984282</c:v>
                </c:pt>
                <c:pt idx="10">
                  <c:v>8985.8968397981134</c:v>
                </c:pt>
                <c:pt idx="11">
                  <c:v>10483.546313097799</c:v>
                </c:pt>
                <c:pt idx="12">
                  <c:v>11981.195786397488</c:v>
                </c:pt>
                <c:pt idx="13">
                  <c:v>13478.845259697169</c:v>
                </c:pt>
                <c:pt idx="14">
                  <c:v>14976.494732996856</c:v>
                </c:pt>
              </c:numCache>
            </c:numRef>
          </c:xVal>
          <c:yVal>
            <c:numRef>
              <c:f>'[Multicomponent Calibration Curve.xlsx]KCl 9.5.23 (2)'!$K$63:$K$77</c:f>
              <c:numCache>
                <c:formatCode>General</c:formatCode>
                <c:ptCount val="15"/>
                <c:pt idx="0">
                  <c:v>-106.47</c:v>
                </c:pt>
                <c:pt idx="1">
                  <c:v>-77.70999999999998</c:v>
                </c:pt>
                <c:pt idx="2">
                  <c:v>-61.669999999999959</c:v>
                </c:pt>
                <c:pt idx="3">
                  <c:v>-39.690000000000055</c:v>
                </c:pt>
                <c:pt idx="4">
                  <c:v>-21.850000000000136</c:v>
                </c:pt>
                <c:pt idx="5">
                  <c:v>-32.849999999999909</c:v>
                </c:pt>
                <c:pt idx="6">
                  <c:v>70.550000000000182</c:v>
                </c:pt>
                <c:pt idx="7">
                  <c:v>106.75</c:v>
                </c:pt>
                <c:pt idx="8">
                  <c:v>135.25</c:v>
                </c:pt>
                <c:pt idx="9">
                  <c:v>101.25</c:v>
                </c:pt>
                <c:pt idx="10">
                  <c:v>109.44999999999982</c:v>
                </c:pt>
                <c:pt idx="11">
                  <c:v>28.949999999998909</c:v>
                </c:pt>
                <c:pt idx="12">
                  <c:v>62.75</c:v>
                </c:pt>
                <c:pt idx="13">
                  <c:v>8.6499999999996362</c:v>
                </c:pt>
                <c:pt idx="14">
                  <c:v>-283.35000000000036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C5-44F7-928D-7DC742B37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3256544"/>
        <c:axId val="503262304"/>
      </c:scatterChart>
      <c:valAx>
        <c:axId val="503256544"/>
        <c:scaling>
          <c:orientation val="minMax"/>
          <c:max val="1500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Concentration</a:t>
                </a:r>
                <a:r>
                  <a:rPr lang="en-US" baseline="0">
                    <a:solidFill>
                      <a:sysClr val="windowText" lastClr="000000"/>
                    </a:solidFill>
                  </a:rPr>
                  <a:t> (mM)</a:t>
                </a:r>
                <a:endParaRPr 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262304"/>
        <c:crosses val="autoZero"/>
        <c:crossBetween val="midCat"/>
      </c:valAx>
      <c:valAx>
        <c:axId val="503262304"/>
        <c:scaling>
          <c:orientation val="minMax"/>
          <c:max val="150"/>
          <c:min val="-325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</a:t>
                </a:r>
                <a:r>
                  <a:rPr lang="en-US" baseline="0">
                    <a:solidFill>
                      <a:sysClr val="windowText" lastClr="000000"/>
                    </a:solidFill>
                  </a:rPr>
                  <a:t> (uS/cm)</a:t>
                </a:r>
                <a:endParaRPr 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256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KCl calibration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348381452318461"/>
          <c:y val="5.0925925925925923E-2"/>
          <c:w val="0.79699759405074366"/>
          <c:h val="0.82683654126567507"/>
        </c:manualLayout>
      </c:layout>
      <c:scatterChart>
        <c:scatterStyle val="lineMarker"/>
        <c:varyColors val="0"/>
        <c:ser>
          <c:idx val="0"/>
          <c:order val="0"/>
          <c:tx>
            <c:v>Experimental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2126852463488039"/>
                  <c:y val="9.1974187587707923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'[Multicomponent Calibration Curve.xlsx]KCl 9.5.23 (2)'!$D$43:$D$57</c:f>
              <c:numCache>
                <c:formatCode>General</c:formatCod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80</c:v>
                </c:pt>
                <c:pt idx="13">
                  <c:v>90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 9.5.23 (2)'!$E$43:$E$57</c:f>
              <c:numCache>
                <c:formatCode>General</c:formatCode>
                <c:ptCount val="15"/>
                <c:pt idx="0">
                  <c:v>0.88</c:v>
                </c:pt>
                <c:pt idx="1">
                  <c:v>272.04000000000002</c:v>
                </c:pt>
                <c:pt idx="2">
                  <c:v>530.48</c:v>
                </c:pt>
                <c:pt idx="3">
                  <c:v>794.86</c:v>
                </c:pt>
                <c:pt idx="4">
                  <c:v>1055.0999999999999</c:v>
                </c:pt>
                <c:pt idx="5">
                  <c:v>1286.5</c:v>
                </c:pt>
                <c:pt idx="6">
                  <c:v>2601.9</c:v>
                </c:pt>
                <c:pt idx="7">
                  <c:v>3850.1</c:v>
                </c:pt>
                <c:pt idx="8">
                  <c:v>5090.6000000000004</c:v>
                </c:pt>
                <c:pt idx="9">
                  <c:v>6268.6</c:v>
                </c:pt>
                <c:pt idx="10">
                  <c:v>7488.8</c:v>
                </c:pt>
                <c:pt idx="11">
                  <c:v>8620.2999999999993</c:v>
                </c:pt>
                <c:pt idx="12">
                  <c:v>9866.1</c:v>
                </c:pt>
                <c:pt idx="13">
                  <c:v>11024</c:v>
                </c:pt>
                <c:pt idx="14">
                  <c:v>11944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763-4621-B043-3030759DE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1014608"/>
        <c:axId val="491016528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v>Predicted</c:v>
                </c:tx>
                <c:spPr>
                  <a:ln w="25400" cap="rnd">
                    <a:solidFill>
                      <a:schemeClr val="tx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'[Multicomponent Calibration Curve.xlsx]KCl 9.5.23 (2)'!$D$43:$D$57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2</c:v>
                      </c:pt>
                      <c:pt idx="2">
                        <c:v>4</c:v>
                      </c:pt>
                      <c:pt idx="3">
                        <c:v>6</c:v>
                      </c:pt>
                      <c:pt idx="4">
                        <c:v>8</c:v>
                      </c:pt>
                      <c:pt idx="5">
                        <c:v>10</c:v>
                      </c:pt>
                      <c:pt idx="6">
                        <c:v>20</c:v>
                      </c:pt>
                      <c:pt idx="7">
                        <c:v>30</c:v>
                      </c:pt>
                      <c:pt idx="8">
                        <c:v>40</c:v>
                      </c:pt>
                      <c:pt idx="9">
                        <c:v>50</c:v>
                      </c:pt>
                      <c:pt idx="10">
                        <c:v>60</c:v>
                      </c:pt>
                      <c:pt idx="11">
                        <c:v>70</c:v>
                      </c:pt>
                      <c:pt idx="12">
                        <c:v>80</c:v>
                      </c:pt>
                      <c:pt idx="13">
                        <c:v>90</c:v>
                      </c:pt>
                      <c:pt idx="14">
                        <c:v>100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'[Multicomponent Calibration Curve.xlsx]KCl 9.5.23 (2)'!$K$43:$K$57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299.52989465993716</c:v>
                      </c:pt>
                      <c:pt idx="2">
                        <c:v>599.05978931987431</c:v>
                      </c:pt>
                      <c:pt idx="3">
                        <c:v>898.58968397981141</c:v>
                      </c:pt>
                      <c:pt idx="4">
                        <c:v>1198.1195786397486</c:v>
                      </c:pt>
                      <c:pt idx="5">
                        <c:v>1497.649473299686</c:v>
                      </c:pt>
                      <c:pt idx="6">
                        <c:v>2995.2989465993719</c:v>
                      </c:pt>
                      <c:pt idx="7">
                        <c:v>4492.9484198990567</c:v>
                      </c:pt>
                      <c:pt idx="8">
                        <c:v>5990.5978931987438</c:v>
                      </c:pt>
                      <c:pt idx="9">
                        <c:v>7488.2473664984282</c:v>
                      </c:pt>
                      <c:pt idx="10">
                        <c:v>8985.8968397981134</c:v>
                      </c:pt>
                      <c:pt idx="11">
                        <c:v>10483.546313097799</c:v>
                      </c:pt>
                      <c:pt idx="12">
                        <c:v>11981.195786397488</c:v>
                      </c:pt>
                      <c:pt idx="13">
                        <c:v>13478.845259697169</c:v>
                      </c:pt>
                      <c:pt idx="14">
                        <c:v>14976.494732996856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2-B763-4621-B043-3030759DE0E9}"/>
                  </c:ext>
                </c:extLst>
              </c15:ser>
            </c15:filteredScatterSeries>
          </c:ext>
        </c:extLst>
      </c:scatterChart>
      <c:valAx>
        <c:axId val="491014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6528"/>
        <c:crosses val="autoZero"/>
        <c:crossBetween val="midCat"/>
      </c:valAx>
      <c:valAx>
        <c:axId val="4910165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 (uS/cm)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46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1"/>
        <c:delete val="1"/>
      </c:legendEntry>
      <c:layout>
        <c:manualLayout>
          <c:xMode val="edge"/>
          <c:yMode val="edge"/>
          <c:x val="0.71610174382652425"/>
          <c:y val="0.45993411996092148"/>
          <c:w val="0.26993665058883348"/>
          <c:h val="0.188202746347448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KCl calibration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348381452318461"/>
          <c:y val="5.0925925925925923E-2"/>
          <c:w val="0.79699759405074366"/>
          <c:h val="0.82683654126567507"/>
        </c:manualLayout>
      </c:layout>
      <c:scatterChart>
        <c:scatterStyle val="lineMarker"/>
        <c:varyColors val="0"/>
        <c:ser>
          <c:idx val="0"/>
          <c:order val="0"/>
          <c:tx>
            <c:v>Experimental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22810222020676735"/>
                  <c:y val="0.4562728891218215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'[Multicomponent Calibration Curve.xlsx]KCl 9.5.23 (2)'!$D$43:$D$57</c:f>
              <c:numCache>
                <c:formatCode>General</c:formatCod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80</c:v>
                </c:pt>
                <c:pt idx="13">
                  <c:v>90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 9.5.23 (2)'!$E$43:$E$57</c:f>
              <c:numCache>
                <c:formatCode>General</c:formatCode>
                <c:ptCount val="15"/>
                <c:pt idx="0">
                  <c:v>0.88</c:v>
                </c:pt>
                <c:pt idx="1">
                  <c:v>272.04000000000002</c:v>
                </c:pt>
                <c:pt idx="2">
                  <c:v>530.48</c:v>
                </c:pt>
                <c:pt idx="3">
                  <c:v>794.86</c:v>
                </c:pt>
                <c:pt idx="4">
                  <c:v>1055.0999999999999</c:v>
                </c:pt>
                <c:pt idx="5">
                  <c:v>1286.5</c:v>
                </c:pt>
                <c:pt idx="6">
                  <c:v>2601.9</c:v>
                </c:pt>
                <c:pt idx="7">
                  <c:v>3850.1</c:v>
                </c:pt>
                <c:pt idx="8">
                  <c:v>5090.6000000000004</c:v>
                </c:pt>
                <c:pt idx="9">
                  <c:v>6268.6</c:v>
                </c:pt>
                <c:pt idx="10">
                  <c:v>7488.8</c:v>
                </c:pt>
                <c:pt idx="11">
                  <c:v>8620.2999999999993</c:v>
                </c:pt>
                <c:pt idx="12">
                  <c:v>9866.1</c:v>
                </c:pt>
                <c:pt idx="13">
                  <c:v>11024</c:v>
                </c:pt>
                <c:pt idx="14">
                  <c:v>11944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6CA-4F3A-8B07-74794A263C38}"/>
            </c:ext>
          </c:extLst>
        </c:ser>
        <c:ser>
          <c:idx val="1"/>
          <c:order val="1"/>
          <c:tx>
            <c:v>Predicted</c:v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'[Multicomponent Calibration Curve.xlsx]KCl 9.5.23 (2)'!$D$43:$D$57</c:f>
              <c:numCache>
                <c:formatCode>General</c:formatCod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80</c:v>
                </c:pt>
                <c:pt idx="13">
                  <c:v>90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 9.5.23 (2)'!$K$43:$K$57</c:f>
              <c:numCache>
                <c:formatCode>General</c:formatCode>
                <c:ptCount val="15"/>
                <c:pt idx="0">
                  <c:v>0</c:v>
                </c:pt>
                <c:pt idx="1">
                  <c:v>299.52989465993716</c:v>
                </c:pt>
                <c:pt idx="2">
                  <c:v>599.05978931987431</c:v>
                </c:pt>
                <c:pt idx="3">
                  <c:v>898.58968397981141</c:v>
                </c:pt>
                <c:pt idx="4">
                  <c:v>1198.1195786397486</c:v>
                </c:pt>
                <c:pt idx="5">
                  <c:v>1497.649473299686</c:v>
                </c:pt>
                <c:pt idx="6">
                  <c:v>2995.2989465993719</c:v>
                </c:pt>
                <c:pt idx="7">
                  <c:v>4492.9484198990567</c:v>
                </c:pt>
                <c:pt idx="8">
                  <c:v>5990.5978931987438</c:v>
                </c:pt>
                <c:pt idx="9">
                  <c:v>7488.2473664984282</c:v>
                </c:pt>
                <c:pt idx="10">
                  <c:v>8985.8968397981134</c:v>
                </c:pt>
                <c:pt idx="11">
                  <c:v>10483.546313097799</c:v>
                </c:pt>
                <c:pt idx="12">
                  <c:v>11981.195786397488</c:v>
                </c:pt>
                <c:pt idx="13">
                  <c:v>13478.845259697169</c:v>
                </c:pt>
                <c:pt idx="14">
                  <c:v>14976.494732996856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6CA-4F3A-8B07-74794A263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1014608"/>
        <c:axId val="491016528"/>
      </c:scatterChart>
      <c:valAx>
        <c:axId val="491014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6528"/>
        <c:crosses val="autoZero"/>
        <c:crossBetween val="midCat"/>
      </c:valAx>
      <c:valAx>
        <c:axId val="4910165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 (uS/cm)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46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71610174382652425"/>
          <c:y val="0.45993411996092148"/>
          <c:w val="0.26993665058883348"/>
          <c:h val="0.188202746347448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668221484680345"/>
          <c:y val="0.13815769150812887"/>
          <c:w val="0.82588973362452611"/>
          <c:h val="0.77629325854985398"/>
        </c:manualLayout>
      </c:layout>
      <c:scatterChart>
        <c:scatterStyle val="lineMarker"/>
        <c:varyColors val="0"/>
        <c:ser>
          <c:idx val="0"/>
          <c:order val="0"/>
          <c:tx>
            <c:v>Residuals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'[Multicomponent Calibration Curve.xlsx]KCl 9.5.23 (2)'!$H$63:$H$77</c:f>
              <c:numCache>
                <c:formatCode>General</c:formatCode>
                <c:ptCount val="15"/>
                <c:pt idx="0">
                  <c:v>0</c:v>
                </c:pt>
                <c:pt idx="1">
                  <c:v>299.52989465993716</c:v>
                </c:pt>
                <c:pt idx="2">
                  <c:v>599.05978931987431</c:v>
                </c:pt>
                <c:pt idx="3">
                  <c:v>898.58968397981141</c:v>
                </c:pt>
                <c:pt idx="4">
                  <c:v>1198.1195786397486</c:v>
                </c:pt>
                <c:pt idx="5">
                  <c:v>1497.649473299686</c:v>
                </c:pt>
                <c:pt idx="6">
                  <c:v>2995.2989465993719</c:v>
                </c:pt>
                <c:pt idx="7">
                  <c:v>4492.9484198990567</c:v>
                </c:pt>
                <c:pt idx="8">
                  <c:v>5990.5978931987438</c:v>
                </c:pt>
                <c:pt idx="9">
                  <c:v>7488.2473664984282</c:v>
                </c:pt>
                <c:pt idx="10">
                  <c:v>8985.8968397981134</c:v>
                </c:pt>
                <c:pt idx="11">
                  <c:v>10483.546313097799</c:v>
                </c:pt>
                <c:pt idx="12">
                  <c:v>11981.195786397488</c:v>
                </c:pt>
                <c:pt idx="13">
                  <c:v>13478.845259697169</c:v>
                </c:pt>
                <c:pt idx="14">
                  <c:v>14976.494732996856</c:v>
                </c:pt>
              </c:numCache>
            </c:numRef>
          </c:xVal>
          <c:yVal>
            <c:numRef>
              <c:f>'[Multicomponent Calibration Curve.xlsx]KCl 9.5.23 (2)'!$L$63:$L$77</c:f>
              <c:numCache>
                <c:formatCode>General</c:formatCode>
                <c:ptCount val="15"/>
                <c:pt idx="0">
                  <c:v>0.88</c:v>
                </c:pt>
                <c:pt idx="1">
                  <c:v>-27.489894659937136</c:v>
                </c:pt>
                <c:pt idx="2">
                  <c:v>-68.579789319874294</c:v>
                </c:pt>
                <c:pt idx="3">
                  <c:v>-103.7296839798114</c:v>
                </c:pt>
                <c:pt idx="4">
                  <c:v>-143.01957863974872</c:v>
                </c:pt>
                <c:pt idx="5">
                  <c:v>-211.14947329968595</c:v>
                </c:pt>
                <c:pt idx="6">
                  <c:v>-393.39894659937181</c:v>
                </c:pt>
                <c:pt idx="7">
                  <c:v>-642.84841989905681</c:v>
                </c:pt>
                <c:pt idx="8">
                  <c:v>-899.99789319874344</c:v>
                </c:pt>
                <c:pt idx="9">
                  <c:v>-1219.6473664984278</c:v>
                </c:pt>
                <c:pt idx="10">
                  <c:v>-1497.0968397981133</c:v>
                </c:pt>
                <c:pt idx="11">
                  <c:v>-1863.2463130977994</c:v>
                </c:pt>
                <c:pt idx="12">
                  <c:v>-2115.0957863974872</c:v>
                </c:pt>
                <c:pt idx="13">
                  <c:v>-2454.8452596971692</c:v>
                </c:pt>
                <c:pt idx="14">
                  <c:v>-3032.4947329968563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899-4E41-9E54-D1EB438B3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3256544"/>
        <c:axId val="503262304"/>
      </c:scatterChart>
      <c:valAx>
        <c:axId val="503256544"/>
        <c:scaling>
          <c:orientation val="minMax"/>
          <c:max val="1500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Concentration</a:t>
                </a:r>
                <a:r>
                  <a:rPr lang="en-US" baseline="0">
                    <a:solidFill>
                      <a:sysClr val="windowText" lastClr="000000"/>
                    </a:solidFill>
                  </a:rPr>
                  <a:t> (mM)</a:t>
                </a:r>
                <a:endParaRPr 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262304"/>
        <c:crosses val="autoZero"/>
        <c:crossBetween val="midCat"/>
      </c:valAx>
      <c:valAx>
        <c:axId val="503262304"/>
        <c:scaling>
          <c:orientation val="minMax"/>
          <c:max val="0"/>
          <c:min val="-305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</a:t>
                </a:r>
                <a:r>
                  <a:rPr lang="en-US" baseline="0">
                    <a:solidFill>
                      <a:sysClr val="windowText" lastClr="000000"/>
                    </a:solidFill>
                  </a:rPr>
                  <a:t> (uS/cm)</a:t>
                </a:r>
                <a:endParaRPr 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256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KCl calibration curve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348381452318461"/>
          <c:y val="5.0925925925925923E-2"/>
          <c:w val="0.79699759405074366"/>
          <c:h val="0.82683654126567507"/>
        </c:manualLayout>
      </c:layout>
      <c:scatterChart>
        <c:scatterStyle val="lineMarker"/>
        <c:varyColors val="0"/>
        <c:ser>
          <c:idx val="0"/>
          <c:order val="0"/>
          <c:tx>
            <c:v>Experimental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22810222020676735"/>
                  <c:y val="0.4562728891218215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rgbClr val="0070C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'[Multicomponent Calibration Curve.xlsx]KCl 9.5.23 (2)'!$D$43:$D$57</c:f>
              <c:numCache>
                <c:formatCode>General</c:formatCod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80</c:v>
                </c:pt>
                <c:pt idx="13">
                  <c:v>90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 9.5.23 (2)'!$E$43:$E$57</c:f>
              <c:numCache>
                <c:formatCode>General</c:formatCode>
                <c:ptCount val="15"/>
                <c:pt idx="0">
                  <c:v>0.88</c:v>
                </c:pt>
                <c:pt idx="1">
                  <c:v>272.04000000000002</c:v>
                </c:pt>
                <c:pt idx="2">
                  <c:v>530.48</c:v>
                </c:pt>
                <c:pt idx="3">
                  <c:v>794.86</c:v>
                </c:pt>
                <c:pt idx="4">
                  <c:v>1055.0999999999999</c:v>
                </c:pt>
                <c:pt idx="5">
                  <c:v>1286.5</c:v>
                </c:pt>
                <c:pt idx="6">
                  <c:v>2601.9</c:v>
                </c:pt>
                <c:pt idx="7">
                  <c:v>3850.1</c:v>
                </c:pt>
                <c:pt idx="8">
                  <c:v>5090.6000000000004</c:v>
                </c:pt>
                <c:pt idx="9">
                  <c:v>6268.6</c:v>
                </c:pt>
                <c:pt idx="10">
                  <c:v>7488.8</c:v>
                </c:pt>
                <c:pt idx="11">
                  <c:v>8620.2999999999993</c:v>
                </c:pt>
                <c:pt idx="12">
                  <c:v>9866.1</c:v>
                </c:pt>
                <c:pt idx="13">
                  <c:v>11024</c:v>
                </c:pt>
                <c:pt idx="14">
                  <c:v>11944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BC3-46EA-AB70-AD67829C19FF}"/>
            </c:ext>
          </c:extLst>
        </c:ser>
        <c:ser>
          <c:idx val="1"/>
          <c:order val="1"/>
          <c:tx>
            <c:v>Predicted</c:v>
          </c:tx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'[Multicomponent Calibration Curve.xlsx]KCl 9.5.23 (2)'!$D$43:$D$57</c:f>
              <c:numCache>
                <c:formatCode>General</c:formatCod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20</c:v>
                </c:pt>
                <c:pt idx="7">
                  <c:v>30</c:v>
                </c:pt>
                <c:pt idx="8">
                  <c:v>40</c:v>
                </c:pt>
                <c:pt idx="9">
                  <c:v>50</c:v>
                </c:pt>
                <c:pt idx="10">
                  <c:v>60</c:v>
                </c:pt>
                <c:pt idx="11">
                  <c:v>70</c:v>
                </c:pt>
                <c:pt idx="12">
                  <c:v>80</c:v>
                </c:pt>
                <c:pt idx="13">
                  <c:v>90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 9.5.23 (2)'!$K$43:$K$57</c:f>
              <c:numCache>
                <c:formatCode>General</c:formatCode>
                <c:ptCount val="15"/>
                <c:pt idx="0">
                  <c:v>0</c:v>
                </c:pt>
                <c:pt idx="1">
                  <c:v>299.52989465993716</c:v>
                </c:pt>
                <c:pt idx="2">
                  <c:v>599.05978931987431</c:v>
                </c:pt>
                <c:pt idx="3">
                  <c:v>898.58968397981141</c:v>
                </c:pt>
                <c:pt idx="4">
                  <c:v>1198.1195786397486</c:v>
                </c:pt>
                <c:pt idx="5">
                  <c:v>1497.649473299686</c:v>
                </c:pt>
                <c:pt idx="6">
                  <c:v>2995.2989465993719</c:v>
                </c:pt>
                <c:pt idx="7">
                  <c:v>4492.9484198990567</c:v>
                </c:pt>
                <c:pt idx="8">
                  <c:v>5990.5978931987438</c:v>
                </c:pt>
                <c:pt idx="9">
                  <c:v>7488.2473664984282</c:v>
                </c:pt>
                <c:pt idx="10">
                  <c:v>8985.8968397981134</c:v>
                </c:pt>
                <c:pt idx="11">
                  <c:v>10483.546313097799</c:v>
                </c:pt>
                <c:pt idx="12">
                  <c:v>11981.195786397488</c:v>
                </c:pt>
                <c:pt idx="13">
                  <c:v>13478.845259697169</c:v>
                </c:pt>
                <c:pt idx="14">
                  <c:v>14976.494732996856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BC3-46EA-AB70-AD67829C19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1014608"/>
        <c:axId val="491016528"/>
      </c:scatterChart>
      <c:valAx>
        <c:axId val="491014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Concentration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6528"/>
        <c:crosses val="autoZero"/>
        <c:crossBetween val="midCat"/>
      </c:valAx>
      <c:valAx>
        <c:axId val="4910165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 (uS/cm)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01460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71610174382652425"/>
          <c:y val="0.45993411996092148"/>
          <c:w val="0.26993665058883348"/>
          <c:h val="0.188202746347448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ysClr val="windowText" lastClr="000000"/>
                </a:solidFill>
              </a:rPr>
              <a:t>Equal parts KCl and NdCl3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844566678049999"/>
          <c:y val="0.13621863348220295"/>
          <c:w val="0.80537889911956961"/>
          <c:h val="0.72322954924903537"/>
        </c:manualLayout>
      </c:layout>
      <c:scatterChart>
        <c:scatterStyle val="lineMarker"/>
        <c:varyColors val="0"/>
        <c:ser>
          <c:idx val="1"/>
          <c:order val="1"/>
          <c:tx>
            <c:v>Equal parts KCl and NdCl3 at RT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0.11706695666720839"/>
                  <c:y val="0.3944643361930854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'[Multicomponent Calibration Curve.xlsx]KCl+NdCl3 9.6.23'!$A$21:$A$35</c:f>
              <c:numCache>
                <c:formatCode>0.00</c:formatCode>
                <c:ptCount val="15"/>
                <c:pt idx="0">
                  <c:v>0</c:v>
                </c:pt>
                <c:pt idx="1">
                  <c:v>2.5641025641025643</c:v>
                </c:pt>
                <c:pt idx="2">
                  <c:v>4.166666666666667</c:v>
                </c:pt>
                <c:pt idx="3">
                  <c:v>6.25</c:v>
                </c:pt>
                <c:pt idx="4">
                  <c:v>8.3333333333333339</c:v>
                </c:pt>
                <c:pt idx="5">
                  <c:v>10</c:v>
                </c:pt>
                <c:pt idx="6">
                  <c:v>20</c:v>
                </c:pt>
                <c:pt idx="7">
                  <c:v>30.303030303030305</c:v>
                </c:pt>
                <c:pt idx="8">
                  <c:v>40.000000000000007</c:v>
                </c:pt>
                <c:pt idx="9">
                  <c:v>50.000000000000014</c:v>
                </c:pt>
                <c:pt idx="10">
                  <c:v>60.240963855421704</c:v>
                </c:pt>
                <c:pt idx="11">
                  <c:v>70.422535211267615</c:v>
                </c:pt>
                <c:pt idx="12">
                  <c:v>80</c:v>
                </c:pt>
                <c:pt idx="13">
                  <c:v>90.909090909090907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Curve.xlsx]KCl+NdCl3 9.6.23'!$E$21:$E$35</c:f>
              <c:numCache>
                <c:formatCode>General</c:formatCode>
                <c:ptCount val="15"/>
                <c:pt idx="0">
                  <c:v>0.52</c:v>
                </c:pt>
                <c:pt idx="1">
                  <c:v>1156.7</c:v>
                </c:pt>
                <c:pt idx="2">
                  <c:v>1833.8</c:v>
                </c:pt>
                <c:pt idx="3">
                  <c:v>2684</c:v>
                </c:pt>
                <c:pt idx="4">
                  <c:v>522.20000000000005</c:v>
                </c:pt>
                <c:pt idx="5">
                  <c:v>4181</c:v>
                </c:pt>
                <c:pt idx="6">
                  <c:v>8631.5</c:v>
                </c:pt>
                <c:pt idx="7">
                  <c:v>11513</c:v>
                </c:pt>
                <c:pt idx="8">
                  <c:v>14907</c:v>
                </c:pt>
                <c:pt idx="9">
                  <c:v>18309</c:v>
                </c:pt>
                <c:pt idx="10">
                  <c:v>21747</c:v>
                </c:pt>
                <c:pt idx="11">
                  <c:v>25064</c:v>
                </c:pt>
                <c:pt idx="12">
                  <c:v>28062</c:v>
                </c:pt>
                <c:pt idx="13">
                  <c:v>31598</c:v>
                </c:pt>
                <c:pt idx="14">
                  <c:v>34492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9E4-4F78-86A7-53C409817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7493024"/>
        <c:axId val="1389160928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Equal parts KCl and NdCl3 at T</c:v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trendline>
                  <c:spPr>
                    <a:ln w="19050" cap="rnd">
                      <a:solidFill>
                        <a:schemeClr val="accent1"/>
                      </a:solidFill>
                      <a:prstDash val="sysDot"/>
                    </a:ln>
                    <a:effectLst/>
                  </c:spPr>
                  <c:trendlineType val="linear"/>
                  <c:dispRSqr val="0"/>
                  <c:dispEq val="1"/>
                  <c:trendlineLbl>
                    <c:layout>
                      <c:manualLayout>
                        <c:x val="-4.6523623395159662E-2"/>
                        <c:y val="0.29184838388635326"/>
                      </c:manualLayout>
                    </c:layout>
                    <c:numFmt formatCode="General" sourceLinked="0"/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anchor="ctr" anchorCtr="1"/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accen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en-US"/>
                      </a:p>
                    </c:txPr>
                  </c:trendlineLbl>
                </c:trendline>
                <c:xVal>
                  <c:numRef>
                    <c:extLst>
                      <c:ext uri="{02D57815-91ED-43cb-92C2-25804820EDAC}">
                        <c15:formulaRef>
                          <c15:sqref>'[Multicomponent Calibration Curve.xlsx]KCl+NdCl3 9.6.23'!$A$21:$A$35</c15:sqref>
                        </c15:formulaRef>
                      </c:ext>
                    </c:extLst>
                    <c:numCache>
                      <c:formatCode>0.00</c:formatCode>
                      <c:ptCount val="15"/>
                      <c:pt idx="0">
                        <c:v>0</c:v>
                      </c:pt>
                      <c:pt idx="1">
                        <c:v>2.5641025641025643</c:v>
                      </c:pt>
                      <c:pt idx="2">
                        <c:v>4.166666666666667</c:v>
                      </c:pt>
                      <c:pt idx="3">
                        <c:v>6.25</c:v>
                      </c:pt>
                      <c:pt idx="4">
                        <c:v>8.3333333333333339</c:v>
                      </c:pt>
                      <c:pt idx="5">
                        <c:v>10</c:v>
                      </c:pt>
                      <c:pt idx="6">
                        <c:v>20</c:v>
                      </c:pt>
                      <c:pt idx="7">
                        <c:v>30.303030303030305</c:v>
                      </c:pt>
                      <c:pt idx="8">
                        <c:v>40.000000000000007</c:v>
                      </c:pt>
                      <c:pt idx="9">
                        <c:v>50.000000000000014</c:v>
                      </c:pt>
                      <c:pt idx="10">
                        <c:v>60.240963855421704</c:v>
                      </c:pt>
                      <c:pt idx="11">
                        <c:v>70.422535211267615</c:v>
                      </c:pt>
                      <c:pt idx="12">
                        <c:v>80</c:v>
                      </c:pt>
                      <c:pt idx="13">
                        <c:v>90.909090909090907</c:v>
                      </c:pt>
                      <c:pt idx="14">
                        <c:v>100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'[Multicomponent Calibration Curve.xlsx]KCl+NdCl3 9.6.23'!$B$21:$B$35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0.52</c:v>
                      </c:pt>
                      <c:pt idx="1">
                        <c:v>1058.4000000000001</c:v>
                      </c:pt>
                      <c:pt idx="2">
                        <c:v>1678.4</c:v>
                      </c:pt>
                      <c:pt idx="3">
                        <c:v>2457.9</c:v>
                      </c:pt>
                      <c:pt idx="4">
                        <c:v>3227.4</c:v>
                      </c:pt>
                      <c:pt idx="5">
                        <c:v>3820.9</c:v>
                      </c:pt>
                      <c:pt idx="6">
                        <c:v>7944.6</c:v>
                      </c:pt>
                      <c:pt idx="7">
                        <c:v>10630</c:v>
                      </c:pt>
                      <c:pt idx="8">
                        <c:v>13798</c:v>
                      </c:pt>
                      <c:pt idx="9">
                        <c:v>16993</c:v>
                      </c:pt>
                      <c:pt idx="10">
                        <c:v>20185</c:v>
                      </c:pt>
                      <c:pt idx="11">
                        <c:v>23252</c:v>
                      </c:pt>
                      <c:pt idx="12">
                        <c:v>26021</c:v>
                      </c:pt>
                      <c:pt idx="13">
                        <c:v>29290</c:v>
                      </c:pt>
                      <c:pt idx="14">
                        <c:v>31804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39E4-4F78-86A7-53C409817B83}"/>
                  </c:ext>
                </c:extLst>
              </c15:ser>
            </c15:filteredScatterSeries>
          </c:ext>
        </c:extLst>
      </c:scatterChart>
      <c:valAx>
        <c:axId val="7274930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0">
                    <a:solidFill>
                      <a:sysClr val="windowText" lastClr="000000"/>
                    </a:solidFill>
                  </a:rPr>
                  <a:t>Concentration</a:t>
                </a:r>
                <a:r>
                  <a:rPr lang="en-US" b="0" baseline="0">
                    <a:solidFill>
                      <a:sysClr val="windowText" lastClr="000000"/>
                    </a:solidFill>
                  </a:rPr>
                  <a:t> (mM)</a:t>
                </a:r>
                <a:endParaRPr 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9160928"/>
        <c:crosses val="autoZero"/>
        <c:crossBetween val="midCat"/>
      </c:valAx>
      <c:valAx>
        <c:axId val="13891609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0">
                    <a:solidFill>
                      <a:sysClr val="windowText" lastClr="000000"/>
                    </a:solidFill>
                  </a:rPr>
                  <a:t>COnductivity (uS/cm)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49302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ayout>
        <c:manualLayout>
          <c:xMode val="edge"/>
          <c:yMode val="edge"/>
          <c:x val="0.18894977399735449"/>
          <c:y val="0.20517712799759505"/>
          <c:w val="0.33122741401531425"/>
          <c:h val="0.110340500777076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Residuals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'[Multicomponent Calibration Curve.xlsx]KCl+NdCl3 9.6.23 (2)'!$A$21:$A$35</c:f>
              <c:numCache>
                <c:formatCode>0.00</c:formatCode>
                <c:ptCount val="15"/>
                <c:pt idx="0">
                  <c:v>0</c:v>
                </c:pt>
                <c:pt idx="1">
                  <c:v>2.5641025641025643</c:v>
                </c:pt>
                <c:pt idx="2">
                  <c:v>4.166666666666667</c:v>
                </c:pt>
                <c:pt idx="3">
                  <c:v>6.25</c:v>
                </c:pt>
                <c:pt idx="4">
                  <c:v>8.3333333333333339</c:v>
                </c:pt>
                <c:pt idx="5">
                  <c:v>10</c:v>
                </c:pt>
                <c:pt idx="6">
                  <c:v>20</c:v>
                </c:pt>
                <c:pt idx="7">
                  <c:v>30.303030303030305</c:v>
                </c:pt>
                <c:pt idx="8">
                  <c:v>40.000000000000007</c:v>
                </c:pt>
                <c:pt idx="9">
                  <c:v>50.000000000000014</c:v>
                </c:pt>
                <c:pt idx="10">
                  <c:v>60.240963855421704</c:v>
                </c:pt>
                <c:pt idx="11">
                  <c:v>70.422535211267615</c:v>
                </c:pt>
                <c:pt idx="12">
                  <c:v>80</c:v>
                </c:pt>
                <c:pt idx="13">
                  <c:v>90.909090909090907</c:v>
                </c:pt>
                <c:pt idx="14">
                  <c:v>100</c:v>
                </c:pt>
              </c:numCache>
            </c:numRef>
          </c:xVal>
          <c:yVal>
            <c:numRef>
              <c:f>'[Multicomponent Calibration Curve.xlsx]KCl+NdCl3 9.6.23 (2)'!$M$41:$M$55</c:f>
              <c:numCache>
                <c:formatCode>General</c:formatCode>
                <c:ptCount val="15"/>
                <c:pt idx="0">
                  <c:v>-482.38</c:v>
                </c:pt>
                <c:pt idx="1">
                  <c:v>-158.25128205128226</c:v>
                </c:pt>
                <c:pt idx="2">
                  <c:v>-1.183333333333394</c:v>
                </c:pt>
                <c:pt idx="3">
                  <c:v>172.97499999999991</c:v>
                </c:pt>
                <c:pt idx="4">
                  <c:v>-2664.8666666666668</c:v>
                </c:pt>
                <c:pt idx="5">
                  <c:v>453.09999999999991</c:v>
                </c:pt>
                <c:pt idx="6">
                  <c:v>1658.6000000000004</c:v>
                </c:pt>
                <c:pt idx="7">
                  <c:v>1196.7666666666664</c:v>
                </c:pt>
                <c:pt idx="8">
                  <c:v>1444.0999999999985</c:v>
                </c:pt>
                <c:pt idx="9">
                  <c:v>1601.0999999999949</c:v>
                </c:pt>
                <c:pt idx="10">
                  <c:v>1715.9072289156575</c:v>
                </c:pt>
                <c:pt idx="11">
                  <c:v>1728.9873239436602</c:v>
                </c:pt>
                <c:pt idx="12">
                  <c:v>1619.0999999999985</c:v>
                </c:pt>
                <c:pt idx="13">
                  <c:v>1615.0999999999985</c:v>
                </c:pt>
                <c:pt idx="14">
                  <c:v>1559.0999999999985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5D2-45F6-A059-DBF942186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8015120"/>
        <c:axId val="920913536"/>
      </c:scatterChart>
      <c:valAx>
        <c:axId val="488015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Concentration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0913536"/>
        <c:crosses val="autoZero"/>
        <c:crossBetween val="midCat"/>
      </c:valAx>
      <c:valAx>
        <c:axId val="92091353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</a:rPr>
                  <a:t>Conductivity (uS/cm)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015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B3C8217-5CB5-4DD9-8D68-F0F767B4C00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02609DD-FFEB-4A75-9A75-53D06298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9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8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01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3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46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2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02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00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51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50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36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33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2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143001"/>
            <a:ext cx="7950200" cy="1965302"/>
          </a:xfrm>
        </p:spPr>
        <p:txBody>
          <a:bodyPr>
            <a:normAutofit/>
          </a:bodyPr>
          <a:lstStyle>
            <a:lvl1pPr algn="l">
              <a:defRPr sz="4400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8000" y="4513263"/>
            <a:ext cx="2667000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4/15/2024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9800" y="4513263"/>
            <a:ext cx="2362200" cy="273050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4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053" y="1143003"/>
            <a:ext cx="7930147" cy="1771649"/>
          </a:xfrm>
        </p:spPr>
        <p:txBody>
          <a:bodyPr>
            <a:normAutofit/>
          </a:bodyPr>
          <a:lstStyle>
            <a:lvl1pPr algn="l">
              <a:defRPr sz="4400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1" y="4503738"/>
            <a:ext cx="2667000" cy="2730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4/15/2024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86149" y="4503738"/>
            <a:ext cx="2362200" cy="273050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9473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64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86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94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80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621" y="1113328"/>
            <a:ext cx="3008313" cy="60010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13328"/>
            <a:ext cx="5111751" cy="34812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711819"/>
            <a:ext cx="3008313" cy="2882804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32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2828"/>
            <a:ext cx="5486400" cy="3380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00869" y="910062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350338"/>
            <a:ext cx="5486400" cy="439700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07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06377"/>
            <a:ext cx="67056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085850"/>
            <a:ext cx="82296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05600" y="4846638"/>
            <a:ext cx="2133600" cy="1825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 ftr="0" dt="0"/>
  <p:txStyles>
    <p:titleStyle>
      <a:lvl1pPr algn="l" defTabSz="457189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457189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457189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457189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457189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457189" algn="l" defTabSz="457189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914377" algn="l" defTabSz="457189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371566" algn="l" defTabSz="457189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1828754" algn="l" defTabSz="457189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342891" indent="-342891" algn="l" defTabSz="457189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742932" indent="-285744" algn="l" defTabSz="457189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142971" indent="-228594" algn="l" defTabSz="457189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1600160" indent="-228594" algn="l" defTabSz="457189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057349" indent="-228594" algn="l" defTabSz="457189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ubs.acs.org/doi/epdf/10.1021/jp901916r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492" y="909335"/>
            <a:ext cx="8013700" cy="2415064"/>
          </a:xfrm>
        </p:spPr>
        <p:txBody>
          <a:bodyPr>
            <a:noAutofit/>
          </a:bodyPr>
          <a:lstStyle/>
          <a:p>
            <a:pPr algn="ctr"/>
            <a:r>
              <a:rPr lang="en-US" alt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multicomponent feed streams using diafiltration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2937944" y="3237875"/>
            <a:ext cx="32681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Laurianne Lair, Jonathan A. Ouimet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4.15.24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1E3989C-6358-4B9E-8004-116CAD3F2682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B3D608F-7561-74BA-A29D-E64C187B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5224"/>
            <a:ext cx="7649155" cy="559753"/>
          </a:xfrm>
        </p:spPr>
        <p:txBody>
          <a:bodyPr rtlCol="0">
            <a:noAutofit/>
          </a:bodyPr>
          <a:lstStyle/>
          <a:p>
            <a:pPr algn="l"/>
            <a:r>
              <a:rPr lang="en-US" sz="2050" b="1" dirty="0"/>
              <a:t>Evaluating the relationship between conductivity and concentration</a:t>
            </a:r>
          </a:p>
        </p:txBody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7D0FF1DC-04A0-8382-AAE1-709AAFD37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2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AF30D-DA96-BBE2-7993-71A337F9F5DE}"/>
              </a:ext>
            </a:extLst>
          </p:cNvPr>
          <p:cNvSpPr txBox="1"/>
          <p:nvPr/>
        </p:nvSpPr>
        <p:spPr>
          <a:xfrm>
            <a:off x="2585240" y="1859244"/>
            <a:ext cx="5175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assuming a linear relationship between conductivity and concentration good enough?</a:t>
            </a:r>
          </a:p>
        </p:txBody>
      </p:sp>
    </p:spTree>
    <p:extLst>
      <p:ext uri="{BB962C8B-B14F-4D97-AF65-F5344CB8AC3E}">
        <p14:creationId xmlns:p14="http://schemas.microsoft.com/office/powerpoint/2010/main" val="402209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device&#10;&#10;Description automatically generated">
            <a:extLst>
              <a:ext uri="{FF2B5EF4-FFF2-40B4-BE49-F238E27FC236}">
                <a16:creationId xmlns:a16="http://schemas.microsoft.com/office/drawing/2014/main" id="{B4A4191A-FA2F-DB8F-3C51-3DDAE67F8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054" y="2597090"/>
            <a:ext cx="4984982" cy="207315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1E3989C-6358-4B9E-8004-116CAD3F2682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B3D608F-7561-74BA-A29D-E64C187B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87988" cy="559753"/>
          </a:xfrm>
        </p:spPr>
        <p:txBody>
          <a:bodyPr rtlCol="0">
            <a:noAutofit/>
          </a:bodyPr>
          <a:lstStyle/>
          <a:p>
            <a:pPr algn="l"/>
            <a:r>
              <a:rPr lang="en-US" sz="2800" b="1" dirty="0"/>
              <a:t>Conductivity probe basics</a:t>
            </a:r>
          </a:p>
        </p:txBody>
      </p: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7D0FF1DC-04A0-8382-AAE1-709AAFD37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3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AF30D-DA96-BBE2-7993-71A337F9F5DE}"/>
              </a:ext>
            </a:extLst>
          </p:cNvPr>
          <p:cNvSpPr txBox="1"/>
          <p:nvPr/>
        </p:nvSpPr>
        <p:spPr>
          <a:xfrm>
            <a:off x="0" y="747918"/>
            <a:ext cx="88357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The diafiltration apparatus contains two conductivity probes, one in the retentate and one in the permeate.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This allows us to obtain continuous conductivity measurements, in which can be related to concentration.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AC229-E796-68A2-1F31-11F62D091A0E}"/>
              </a:ext>
            </a:extLst>
          </p:cNvPr>
          <p:cNvSpPr txBox="1"/>
          <p:nvPr/>
        </p:nvSpPr>
        <p:spPr>
          <a:xfrm>
            <a:off x="57150" y="4499642"/>
            <a:ext cx="3745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/>
              <a:t>The probes have a cell constant of 0.42 cm</a:t>
            </a:r>
            <a:r>
              <a:rPr lang="en-US" sz="1400" baseline="30000" dirty="0"/>
              <a:t>-1</a:t>
            </a:r>
            <a:r>
              <a:rPr lang="en-US" sz="1400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A7B5F-B4B5-BB24-9B9B-9FE2D55BE845}"/>
              </a:ext>
            </a:extLst>
          </p:cNvPr>
          <p:cNvSpPr txBox="1"/>
          <p:nvPr/>
        </p:nvSpPr>
        <p:spPr>
          <a:xfrm>
            <a:off x="884144" y="1858426"/>
            <a:ext cx="6417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/>
              <a:t> Voltage is held constant.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/>
              <a:t> Probe measures changes in electric current, which is related to the concentration of ions present in the solution.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2304F9-0C44-C8F4-731C-E064EF7ABE43}"/>
                  </a:ext>
                </a:extLst>
              </p:cNvPr>
              <p:cNvSpPr txBox="1"/>
              <p:nvPr/>
            </p:nvSpPr>
            <p:spPr>
              <a:xfrm>
                <a:off x="1139497" y="2889078"/>
                <a:ext cx="3278397" cy="5672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Conductivity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cell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[=]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cm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2304F9-0C44-C8F4-731C-E064EF7AB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497" y="2889078"/>
                <a:ext cx="3278397" cy="567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99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4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6FBE65-1270-0794-0AE6-6FA58D8E4B1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665057" cy="6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alaxiePolaris-Bold"/>
                <a:ea typeface="MS PGothic" panose="020B0600070205080204" pitchFamily="34" charset="-128"/>
                <a:cs typeface="GalaxiePolaris-Bold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5pPr>
            <a:lvl6pPr marL="457189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6pPr>
            <a:lvl7pPr marL="914377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7pPr>
            <a:lvl8pPr marL="1371566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8pPr>
            <a:lvl9pPr marL="1828754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100" b="1" dirty="0"/>
              <a:t>Conductivity measurements and predictions in single salt solutions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A30177C-8257-87F3-1B81-79BEC9374B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799242"/>
              </p:ext>
            </p:extLst>
          </p:nvPr>
        </p:nvGraphicFramePr>
        <p:xfrm>
          <a:off x="4781682" y="1162790"/>
          <a:ext cx="4218863" cy="3135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49419B2-054D-83E5-32E1-0376DE8A6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07734"/>
              </p:ext>
            </p:extLst>
          </p:nvPr>
        </p:nvGraphicFramePr>
        <p:xfrm>
          <a:off x="143455" y="1267531"/>
          <a:ext cx="2933700" cy="292608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3795199809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678012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 (mM)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Conductivity reading (uS/cm)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0073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5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272.04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0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530.48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974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794.86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7797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1055.1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417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1286.5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9509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2601.9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6859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3850.1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53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5090.6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847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6268.6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9287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7488.8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0127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8620.3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3292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9866.1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0404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11024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9358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12420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3D90F4C-5E5D-121D-EC04-A93061A20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267782"/>
              </p:ext>
            </p:extLst>
          </p:nvPr>
        </p:nvGraphicFramePr>
        <p:xfrm>
          <a:off x="2889599" y="1081834"/>
          <a:ext cx="1638300" cy="3135630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3062721474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 (mM)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8773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7429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0503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36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4153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583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6448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20.58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032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7431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107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50.84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311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60.90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46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236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80.52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4618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90.07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1608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808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AC5DA45D-3230-80AA-3E0B-772F7AD1B091}"/>
              </a:ext>
            </a:extLst>
          </p:cNvPr>
          <p:cNvSpPr/>
          <p:nvPr/>
        </p:nvSpPr>
        <p:spPr>
          <a:xfrm>
            <a:off x="4015409" y="1494845"/>
            <a:ext cx="659958" cy="17492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1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5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25C52FD-0841-C78B-7A56-A68D046106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5088197"/>
              </p:ext>
            </p:extLst>
          </p:nvPr>
        </p:nvGraphicFramePr>
        <p:xfrm>
          <a:off x="4778736" y="840240"/>
          <a:ext cx="4174435" cy="3096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4F6FBE65-1270-0794-0AE6-6FA58D8E4B1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665057" cy="6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alaxiePolaris-Bold"/>
                <a:ea typeface="MS PGothic" panose="020B0600070205080204" pitchFamily="34" charset="-128"/>
                <a:cs typeface="GalaxiePolaris-Bold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5pPr>
            <a:lvl6pPr marL="457189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6pPr>
            <a:lvl7pPr marL="914377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7pPr>
            <a:lvl8pPr marL="1371566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8pPr>
            <a:lvl9pPr marL="1828754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100" b="1" dirty="0"/>
              <a:t>Conductivity measurements and predictions in single salt solutions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136B7E8-87F1-9562-C1CA-D4BA7384F5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587473"/>
              </p:ext>
            </p:extLst>
          </p:nvPr>
        </p:nvGraphicFramePr>
        <p:xfrm>
          <a:off x="190829" y="845102"/>
          <a:ext cx="4494623" cy="3091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37352F-E584-84C8-6AF5-B3BF520FEF3E}"/>
              </a:ext>
            </a:extLst>
          </p:cNvPr>
          <p:cNvSpPr txBox="1"/>
          <p:nvPr/>
        </p:nvSpPr>
        <p:spPr>
          <a:xfrm>
            <a:off x="57149" y="4147704"/>
            <a:ext cx="9007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/>
              <a:t>This type of residual plot indicates a relationship other than linear between the experimental conductivities and those calculated from the regressed line.</a:t>
            </a:r>
          </a:p>
        </p:txBody>
      </p:sp>
    </p:spTree>
    <p:extLst>
      <p:ext uri="{BB962C8B-B14F-4D97-AF65-F5344CB8AC3E}">
        <p14:creationId xmlns:p14="http://schemas.microsoft.com/office/powerpoint/2010/main" val="349437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C2FB1-55CA-403A-8F45-A047482C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665057" cy="636104"/>
          </a:xfrm>
        </p:spPr>
        <p:txBody>
          <a:bodyPr/>
          <a:lstStyle/>
          <a:p>
            <a:r>
              <a:rPr lang="en-US" sz="2100" b="1" dirty="0"/>
              <a:t>Conductivity measurements and predictions in single salt solutions</a:t>
            </a: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6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BD06C-48A5-1427-1DA4-9195493BB7B9}"/>
              </a:ext>
            </a:extLst>
          </p:cNvPr>
          <p:cNvSpPr txBox="1"/>
          <p:nvPr/>
        </p:nvSpPr>
        <p:spPr>
          <a:xfrm>
            <a:off x="159026" y="791581"/>
            <a:ext cx="3506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This equation works in dilute solutions: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For simplification, we assume that the parenthetical terms are negligible.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C70F8D-B177-9752-D846-68710DA02177}"/>
                  </a:ext>
                </a:extLst>
              </p:cNvPr>
              <p:cNvSpPr txBox="1"/>
              <p:nvPr/>
            </p:nvSpPr>
            <p:spPr>
              <a:xfrm>
                <a:off x="3820077" y="791581"/>
                <a:ext cx="4608826" cy="67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conductivity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hyd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)(1+</m:t>
                          </m:r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rel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C70F8D-B177-9752-D846-68710DA02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077" y="791581"/>
                <a:ext cx="4608826" cy="670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B10FE3F-B4C2-AF36-FA2E-61F905240875}"/>
              </a:ext>
            </a:extLst>
          </p:cNvPr>
          <p:cNvSpPr txBox="1"/>
          <p:nvPr/>
        </p:nvSpPr>
        <p:spPr>
          <a:xfrm>
            <a:off x="159026" y="2999539"/>
            <a:ext cx="350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The predictions begin to break down at concentrations greater than 20mM.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A30177C-8257-87F3-1B81-79BEC9374B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6061107"/>
              </p:ext>
            </p:extLst>
          </p:nvPr>
        </p:nvGraphicFramePr>
        <p:xfrm>
          <a:off x="3748284" y="1765943"/>
          <a:ext cx="5082164" cy="2915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442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7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9CD3E6-2726-4D34-8995-62105D2041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2921080"/>
              </p:ext>
            </p:extLst>
          </p:nvPr>
        </p:nvGraphicFramePr>
        <p:xfrm>
          <a:off x="4929811" y="794304"/>
          <a:ext cx="4055166" cy="291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335704-8E77-97A7-4212-B79B8CB8FE3C}"/>
                  </a:ext>
                </a:extLst>
              </p:cNvPr>
              <p:cNvSpPr txBox="1"/>
              <p:nvPr/>
            </p:nvSpPr>
            <p:spPr>
              <a:xfrm>
                <a:off x="74493" y="794304"/>
                <a:ext cx="4608826" cy="586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conductivity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hyd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)(1+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rel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1335704-8E77-97A7-4212-B79B8CB8F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3" y="794304"/>
                <a:ext cx="4608826" cy="586314"/>
              </a:xfrm>
              <a:prstGeom prst="rect">
                <a:avLst/>
              </a:prstGeom>
              <a:blipFill>
                <a:blip r:embed="rId4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4F6FBE65-1270-0794-0AE6-6FA58D8E4B1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665057" cy="6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alaxiePolaris-Bold"/>
                <a:ea typeface="MS PGothic" panose="020B0600070205080204" pitchFamily="34" charset="-128"/>
                <a:cs typeface="GalaxiePolaris-Bold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5pPr>
            <a:lvl6pPr marL="457189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6pPr>
            <a:lvl7pPr marL="914377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7pPr>
            <a:lvl8pPr marL="1371566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8pPr>
            <a:lvl9pPr marL="1828754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100" b="1" dirty="0"/>
              <a:t>Conductivity measurements and predictions in single salt solutions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F1B334C-A5C1-02BD-9009-89A17B8C64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360590"/>
              </p:ext>
            </p:extLst>
          </p:nvPr>
        </p:nvGraphicFramePr>
        <p:xfrm>
          <a:off x="74493" y="1479696"/>
          <a:ext cx="4608826" cy="3124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8A6D1A-BD2D-7615-46FC-243D383559A6}"/>
              </a:ext>
            </a:extLst>
          </p:cNvPr>
          <p:cNvSpPr txBox="1"/>
          <p:nvPr/>
        </p:nvSpPr>
        <p:spPr>
          <a:xfrm>
            <a:off x="4929811" y="3865479"/>
            <a:ext cx="4134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/>
              <a:t>This type of residual plot indicates a non-linear relationship between the experimental conductivities and those predicted from theory.</a:t>
            </a:r>
          </a:p>
        </p:txBody>
      </p:sp>
    </p:spTree>
    <p:extLst>
      <p:ext uri="{BB962C8B-B14F-4D97-AF65-F5344CB8AC3E}">
        <p14:creationId xmlns:p14="http://schemas.microsoft.com/office/powerpoint/2010/main" val="190991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C2FB1-55CA-403A-8F45-A047482C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96569" cy="445135"/>
          </a:xfrm>
        </p:spPr>
        <p:txBody>
          <a:bodyPr/>
          <a:lstStyle/>
          <a:p>
            <a:r>
              <a:rPr lang="en-US" sz="2000" b="1" dirty="0"/>
              <a:t>Concentration and conductivity relationship</a:t>
            </a:r>
            <a:endParaRPr lang="en-US" sz="2100" b="1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8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BD06C-48A5-1427-1DA4-9195493BB7B9}"/>
              </a:ext>
            </a:extLst>
          </p:cNvPr>
          <p:cNvSpPr txBox="1"/>
          <p:nvPr/>
        </p:nvSpPr>
        <p:spPr>
          <a:xfrm>
            <a:off x="0" y="818832"/>
            <a:ext cx="4226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Assume that we are working with dilute solutions.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C70F8D-B177-9752-D846-68710DA02177}"/>
                  </a:ext>
                </a:extLst>
              </p:cNvPr>
              <p:cNvSpPr txBox="1"/>
              <p:nvPr/>
            </p:nvSpPr>
            <p:spPr>
              <a:xfrm>
                <a:off x="451312" y="3485316"/>
                <a:ext cx="2968890" cy="753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conductivity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C70F8D-B177-9752-D846-68710DA02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12" y="3485316"/>
                <a:ext cx="2968890" cy="753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3C5E17-6C94-9096-B34F-B2F8C0B4FCAB}"/>
                  </a:ext>
                </a:extLst>
              </p:cNvPr>
              <p:cNvSpPr txBox="1"/>
              <p:nvPr/>
            </p:nvSpPr>
            <p:spPr>
              <a:xfrm>
                <a:off x="550372" y="1479838"/>
                <a:ext cx="3209212" cy="753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conductivity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3C5E17-6C94-9096-B34F-B2F8C0B4F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72" y="1479838"/>
                <a:ext cx="3209212" cy="753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A803C94A-AD2A-0466-07FA-837F6DF40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834" y="4509681"/>
            <a:ext cx="2919346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155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https://pubs.acs.org/doi/epdf/10.1021/jp901916r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64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9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B601D-3E3A-4BE9-7F2E-8B3C2BE6CF62}"/>
              </a:ext>
            </a:extLst>
          </p:cNvPr>
          <p:cNvSpPr txBox="1"/>
          <p:nvPr/>
        </p:nvSpPr>
        <p:spPr>
          <a:xfrm>
            <a:off x="0" y="4303589"/>
            <a:ext cx="9010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Using LaCl</a:t>
            </a:r>
            <a:r>
              <a:rPr lang="en-US" sz="1400" baseline="-25000" dirty="0"/>
              <a:t>3</a:t>
            </a:r>
            <a:r>
              <a:rPr lang="en-US" sz="1400" dirty="0"/>
              <a:t>, CaCl</a:t>
            </a:r>
            <a:r>
              <a:rPr lang="en-US" sz="1400" baseline="-25000" dirty="0"/>
              <a:t>2</a:t>
            </a:r>
            <a:r>
              <a:rPr lang="en-US" sz="1400" dirty="0"/>
              <a:t>, and NaCl for the multicomponent studies.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Measurements are currently being recorded by an undergraduate student.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20B02D2-01B5-ECA0-2FF3-DA2612A046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763327"/>
              </p:ext>
            </p:extLst>
          </p:nvPr>
        </p:nvGraphicFramePr>
        <p:xfrm>
          <a:off x="4726073" y="1192604"/>
          <a:ext cx="4190337" cy="29043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63682E05-A81C-B194-14AF-E400B93304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665057" cy="6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alaxiePolaris-Bold"/>
                <a:ea typeface="MS PGothic" panose="020B0600070205080204" pitchFamily="34" charset="-128"/>
                <a:cs typeface="GalaxiePolaris-Bold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5pPr>
            <a:lvl6pPr marL="457189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6pPr>
            <a:lvl7pPr marL="914377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7pPr>
            <a:lvl8pPr marL="1371566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8pPr>
            <a:lvl9pPr marL="1828754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100" b="1" dirty="0"/>
              <a:t>Conductivity measurements and predictions in multi salt solutions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AEE2D0-3020-1AC4-B7EA-1AC8C26E1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2667"/>
              </p:ext>
            </p:extLst>
          </p:nvPr>
        </p:nvGraphicFramePr>
        <p:xfrm>
          <a:off x="255821" y="933645"/>
          <a:ext cx="4162107" cy="329184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1195131420"/>
                    </a:ext>
                  </a:extLst>
                </a:gridCol>
                <a:gridCol w="1685607">
                  <a:extLst>
                    <a:ext uri="{9D8B030D-6E8A-4147-A177-3AD203B41FA5}">
                      <a16:colId xmlns:a16="http://schemas.microsoft.com/office/drawing/2014/main" val="204842041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91882235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 of KCl and NdCl3 (mM)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Conductivity reading (uS/cm)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 (mM)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178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-0.933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5944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1156.7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2.384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18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1833.8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4.326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4143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6.765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0464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522.2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150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4181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11.059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6990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8631.5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23.826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954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30.30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11513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32.091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0096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14907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41.827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584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18309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51.586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3373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60.24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21747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61.448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732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70.42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25064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70.963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61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28062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79.563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4562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31598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89.706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8593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34492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98.007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15953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042DFE1-1038-B1AF-DF88-8797AD07D1E0}"/>
              </a:ext>
            </a:extLst>
          </p:cNvPr>
          <p:cNvSpPr/>
          <p:nvPr/>
        </p:nvSpPr>
        <p:spPr>
          <a:xfrm>
            <a:off x="3912043" y="1494845"/>
            <a:ext cx="659958" cy="17492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4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10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3682E05-A81C-B194-14AF-E400B93304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665057" cy="6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GalaxiePolaris-Bold"/>
                <a:ea typeface="MS PGothic" panose="020B0600070205080204" pitchFamily="34" charset="-128"/>
                <a:cs typeface="GalaxiePolaris-Bold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5pPr>
            <a:lvl6pPr marL="457189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6pPr>
            <a:lvl7pPr marL="914377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7pPr>
            <a:lvl8pPr marL="1371566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8pPr>
            <a:lvl9pPr marL="1828754" algn="l" defTabSz="457189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100" b="1" dirty="0"/>
              <a:t>Conductivity measurements and predictions in multi salt solutions</a:t>
            </a:r>
          </a:p>
        </p:txBody>
      </p:sp>
      <p:pic>
        <p:nvPicPr>
          <p:cNvPr id="12" name="Picture 11" descr="A diagram of a complex of different types of substances&#10;&#10;Description automatically generated with medium confidence">
            <a:extLst>
              <a:ext uri="{FF2B5EF4-FFF2-40B4-BE49-F238E27FC236}">
                <a16:creationId xmlns:a16="http://schemas.microsoft.com/office/drawing/2014/main" id="{EBD62326-6FD8-2562-B420-CB9383F2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4" y="778221"/>
            <a:ext cx="4446266" cy="33962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D4479E-99E2-DB3B-20BB-E490A413A8D4}"/>
              </a:ext>
            </a:extLst>
          </p:cNvPr>
          <p:cNvSpPr txBox="1"/>
          <p:nvPr/>
        </p:nvSpPr>
        <p:spPr>
          <a:xfrm>
            <a:off x="175264" y="4316564"/>
            <a:ext cx="439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Conductivity = 482.9+105.6*[KCl]+218.9*[NdCl</a:t>
            </a:r>
            <a:r>
              <a:rPr lang="en-US" sz="1600" baseline="-25000" dirty="0"/>
              <a:t>3</a:t>
            </a:r>
            <a:r>
              <a:rPr lang="en-US" sz="1600" dirty="0"/>
              <a:t>] 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C4AC72B1-4E80-1D9E-AAC9-5E4ABA9389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8314264"/>
              </p:ext>
            </p:extLst>
          </p:nvPr>
        </p:nvGraphicFramePr>
        <p:xfrm>
          <a:off x="4985467" y="863287"/>
          <a:ext cx="3729162" cy="2873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2D2DCA7-70DB-3115-138E-DC789615F3E7}"/>
              </a:ext>
            </a:extLst>
          </p:cNvPr>
          <p:cNvSpPr txBox="1"/>
          <p:nvPr/>
        </p:nvSpPr>
        <p:spPr>
          <a:xfrm>
            <a:off x="4985467" y="3832529"/>
            <a:ext cx="4079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/>
              <a:t>This type of residual plot indicates a relationship other than linear between the experimental conductivities and those calculated from the regressed line.</a:t>
            </a:r>
          </a:p>
        </p:txBody>
      </p:sp>
    </p:spTree>
    <p:extLst>
      <p:ext uri="{BB962C8B-B14F-4D97-AF65-F5344CB8AC3E}">
        <p14:creationId xmlns:p14="http://schemas.microsoft.com/office/powerpoint/2010/main" val="123069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C2FB1-55CA-403A-8F45-A047482C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9" y="84061"/>
            <a:ext cx="7496569" cy="445135"/>
          </a:xfrm>
        </p:spPr>
        <p:txBody>
          <a:bodyPr/>
          <a:lstStyle/>
          <a:p>
            <a:r>
              <a:rPr lang="en-US" sz="2400" b="1" dirty="0"/>
              <a:t>Conductivities in a multi-salt system are fit on MATLAB</a:t>
            </a: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11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pic>
        <p:nvPicPr>
          <p:cNvPr id="5" name="Picture 4" descr="A diagram of a complex of different types of substances&#10;&#10;Description automatically generated with medium confidence">
            <a:extLst>
              <a:ext uri="{FF2B5EF4-FFF2-40B4-BE49-F238E27FC236}">
                <a16:creationId xmlns:a16="http://schemas.microsoft.com/office/drawing/2014/main" id="{F12A7B6B-7A4A-562C-3822-414CEC33F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4" y="772570"/>
            <a:ext cx="4446266" cy="3396226"/>
          </a:xfrm>
          <a:prstGeom prst="rect">
            <a:avLst/>
          </a:prstGeom>
        </p:spPr>
      </p:pic>
      <p:pic>
        <p:nvPicPr>
          <p:cNvPr id="7" name="Picture 6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2559684B-32B2-7536-BEFC-1652F1F92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27" y="772570"/>
            <a:ext cx="4339440" cy="33962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3B0A53-E767-A586-D5F0-1698F54AD69A}"/>
              </a:ext>
            </a:extLst>
          </p:cNvPr>
          <p:cNvSpPr txBox="1"/>
          <p:nvPr/>
        </p:nvSpPr>
        <p:spPr>
          <a:xfrm>
            <a:off x="91444" y="4316730"/>
            <a:ext cx="439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Conductivity = 482.9+105.6*[KCl]+218.9*[NdCl</a:t>
            </a:r>
            <a:r>
              <a:rPr lang="en-US" sz="1600" baseline="-25000" dirty="0"/>
              <a:t>3</a:t>
            </a:r>
            <a:r>
              <a:rPr lang="en-US" sz="1600" dirty="0"/>
              <a:t>]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175BF7-77EA-6338-852F-B17E59E0C2AC}"/>
              </a:ext>
            </a:extLst>
          </p:cNvPr>
          <p:cNvSpPr txBox="1"/>
          <p:nvPr/>
        </p:nvSpPr>
        <p:spPr>
          <a:xfrm>
            <a:off x="4850134" y="4310551"/>
            <a:ext cx="439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Conductivity = 131.5+113.5*[KCl]+249*[NdCl</a:t>
            </a:r>
            <a:r>
              <a:rPr lang="en-US" sz="1600" baseline="-25000" dirty="0"/>
              <a:t>3</a:t>
            </a:r>
            <a:r>
              <a:rPr lang="en-US" sz="1600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309896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35CADD-C078-401F-AD16-1BAAEDB0FFD3}"/>
              </a:ext>
            </a:extLst>
          </p:cNvPr>
          <p:cNvSpPr/>
          <p:nvPr/>
        </p:nvSpPr>
        <p:spPr>
          <a:xfrm>
            <a:off x="0" y="4882301"/>
            <a:ext cx="9144000" cy="254596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C2FB1-55CA-403A-8F45-A047482C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647"/>
            <a:ext cx="7924800" cy="445135"/>
          </a:xfrm>
        </p:spPr>
        <p:txBody>
          <a:bodyPr/>
          <a:lstStyle/>
          <a:p>
            <a:r>
              <a:rPr lang="en-US" sz="4000" b="1" dirty="0"/>
              <a:t>Notes</a:t>
            </a:r>
          </a:p>
        </p:txBody>
      </p:sp>
      <p:sp>
        <p:nvSpPr>
          <p:cNvPr id="42" name="Slide Number Placeholder 2">
            <a:extLst>
              <a:ext uri="{FF2B5EF4-FFF2-40B4-BE49-F238E27FC236}">
                <a16:creationId xmlns:a16="http://schemas.microsoft.com/office/drawing/2014/main" id="{A35B8F52-4F43-F9A1-4706-5D340F59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5933" y="4901887"/>
            <a:ext cx="618067" cy="204843"/>
          </a:xfrm>
        </p:spPr>
        <p:txBody>
          <a:bodyPr/>
          <a:lstStyle/>
          <a:p>
            <a:fld id="{B1EE52E1-BDEA-45DB-925F-16EF4B41C5C6}" type="slidenum">
              <a:rPr lang="en-US" altLang="en-US" sz="1200">
                <a:solidFill>
                  <a:schemeClr val="tx1"/>
                </a:solidFill>
              </a:rPr>
              <a:pPr/>
              <a:t>12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180771"/>
      </p:ext>
    </p:extLst>
  </p:cSld>
  <p:clrMapOvr>
    <a:masterClrMapping/>
  </p:clrMapOvr>
</p:sld>
</file>

<file path=ppt/theme/theme1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98615A-A5B6-48F7-BF14-75AA51D61DC4}">
  <we:reference id="wa104379279" version="2.1.0.0" store="en-US" storeType="OMEX"/>
  <we:alternateReferences>
    <we:reference id="WA104379279" version="2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brand_standards_PPT_template_1W.thmx</Template>
  <TotalTime>62322</TotalTime>
  <Words>612</Words>
  <Application>Microsoft Office PowerPoint</Application>
  <PresentationFormat>On-screen Show (16:9)</PresentationFormat>
  <Paragraphs>181</Paragraphs>
  <Slides>12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Cambria Math</vt:lpstr>
      <vt:lpstr>GalaxiePolaris-Bold</vt:lpstr>
      <vt:lpstr>GalaxiePolaris-Book</vt:lpstr>
      <vt:lpstr>GalaxiePolaris-Medium</vt:lpstr>
      <vt:lpstr>Garamond</vt:lpstr>
      <vt:lpstr>Times New Roman</vt:lpstr>
      <vt:lpstr>Wingdings</vt:lpstr>
      <vt:lpstr>brand_standards_PPT_template_1W</vt:lpstr>
      <vt:lpstr>Addressing multicomponent feed streams using diafiltration</vt:lpstr>
      <vt:lpstr>Evaluating the relationship between conductivity and concentration</vt:lpstr>
      <vt:lpstr>Conductivity probe basics</vt:lpstr>
      <vt:lpstr>PowerPoint Presentation</vt:lpstr>
      <vt:lpstr>PowerPoint Presentation</vt:lpstr>
      <vt:lpstr>Conductivity measurements and predictions in single salt solutions</vt:lpstr>
      <vt:lpstr>PowerPoint Presentation</vt:lpstr>
      <vt:lpstr>Concentration and conductivity relationship</vt:lpstr>
      <vt:lpstr>PowerPoint Presentation</vt:lpstr>
      <vt:lpstr>PowerPoint Presentation</vt:lpstr>
      <vt:lpstr>Conductivities in a multi-salt system are fit on MATLAB</vt:lpstr>
      <vt:lpstr>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kcampbe3</dc:creator>
  <cp:lastModifiedBy>Laurianne Lair</cp:lastModifiedBy>
  <cp:revision>25</cp:revision>
  <cp:lastPrinted>2022-08-18T20:07:12Z</cp:lastPrinted>
  <dcterms:created xsi:type="dcterms:W3CDTF">2012-02-06T17:12:11Z</dcterms:created>
  <dcterms:modified xsi:type="dcterms:W3CDTF">2024-04-16T19:43:25Z</dcterms:modified>
</cp:coreProperties>
</file>
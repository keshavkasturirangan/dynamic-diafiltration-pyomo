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4"/>
  </p:notesMasterIdLst>
  <p:sldIdLst>
    <p:sldId id="257" r:id="rId3"/>
    <p:sldId id="752" r:id="rId4"/>
    <p:sldId id="746" r:id="rId5"/>
    <p:sldId id="751" r:id="rId6"/>
    <p:sldId id="753" r:id="rId7"/>
    <p:sldId id="754" r:id="rId8"/>
    <p:sldId id="759" r:id="rId9"/>
    <p:sldId id="755" r:id="rId10"/>
    <p:sldId id="756" r:id="rId11"/>
    <p:sldId id="757" r:id="rId12"/>
    <p:sldId id="7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4C45E-1D12-41BC-91A4-F6325E7E7DA3}" v="65" dt="2025-03-10T19:00:19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6" autoAdjust="0"/>
    <p:restoredTop sz="94980" autoAdjust="0"/>
  </p:normalViewPr>
  <p:slideViewPr>
    <p:cSldViewPr>
      <p:cViewPr varScale="1">
        <p:scale>
          <a:sx n="84" d="100"/>
          <a:sy n="84" d="100"/>
        </p:scale>
        <p:origin x="629" y="3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230FF-CDBE-750A-D04E-80941066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25284-1CBA-DCBF-5801-2AD92655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4E272-77D8-A457-8B9A-23F60437B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15E93-A9B1-9164-FDA3-5D07505B4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86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23C8-695E-54C8-0188-A6EB5597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286A3-5575-4757-16B7-FFC27D286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D5ACF-D24C-FE8F-5217-E733AD4CB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96F9B-4963-FDEA-9C80-E4CB66A4C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05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F132-9DFE-90F1-02FF-4B67B7DD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22682-665A-D9F1-7F84-C6C8C8B50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4E1B7-1A07-D8E1-7DD2-23A4FAC06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42952-8887-4EB2-BF52-CB2FB8335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9713-83D6-0494-79E0-C154E127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BC6E7-DC4C-2F2D-2F17-4EA80751C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B651A-3B9C-55E1-5CB2-E07E6E3F3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48888-A4DD-9DBA-5570-05792101B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7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FFC2-9752-ED8F-E9C1-D99DAAB6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78614-6EA2-5AFC-2739-896708C73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282DA-F39F-4BBC-1B98-6EC48BD59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E5D08-EB6F-2851-BA73-527E18C4C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88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5C07-6441-3E00-3785-D2D8858E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7994D-3C4D-6F71-3A5E-FBE0D63B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4655E-83FC-1D27-8250-18FBC00C7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9BE75-2FE5-FFE2-E750-02BDC3B2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10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975C-0D18-FB25-4035-0B10323A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7E0F2-A171-16DB-9D60-723CBDED7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AC2C9-F15F-1092-3BC5-1A9F12EC5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F0252-82E9-1FF2-CB80-883829A59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54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6F57-FD6D-4F35-3A4E-F5864FAB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1CF9B-7A34-BAC6-540C-66C3D0B36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5653F-C5F3-DC0B-0747-1F6E17B6D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C5C26-AD3E-4F21-0E43-E6A08696C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72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ECC96-19A7-6179-2B71-997AD193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1C97F-B340-F400-2A8A-58C077522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0FFD1-5E4A-ECA6-3A9B-2081FC0FB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4DAB6-1E60-7F13-212A-260F0BE48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6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939C-A351-F872-9235-CA6C9187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250ED-395B-0B97-65A9-3FC5F9669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38B34-8DF3-5B04-E5C5-CD2B3ADD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54BED-2FC3-303A-BF8C-3248636F5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4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3/31/2025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3/31/2025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3/31/2025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11658600" cy="3733800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4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Investigating the impact of multicomponent interactions on solute transport via high-throughput experiments</a:t>
            </a:r>
            <a:endParaRPr lang="en-US" sz="4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0" y="5715000"/>
            <a:ext cx="99822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Laurianne Estrada,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A. Ouimet, Zhicheng Lu, Molly Dougher, Shammah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Lilonfe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Alexander W. Dowling, William A. Phillip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3.31.24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EC4F-DCBB-4E6C-E5A4-877AC92E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B42561D-56CD-B271-BB37-562FC3D8F305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EBE5C37C-BD8B-F5CE-AF26-D9439172C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6D532-4392-6694-853A-B8BC1A4CE884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AEB27-25D6-9F52-B23A-FD2462A04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ea typeface="+mj-ea"/>
              </a:rPr>
              <a:t>Publication journal target</a:t>
            </a:r>
            <a:endParaRPr lang="en-US" sz="4400" dirty="0">
              <a:ea typeface="+mj-ea"/>
            </a:endParaRPr>
          </a:p>
        </p:txBody>
      </p:sp>
      <p:pic>
        <p:nvPicPr>
          <p:cNvPr id="12" name="Picture 11" descr="A poster with people sitting and drinking water&#10;&#10;AI-generated content may be incorrect.">
            <a:extLst>
              <a:ext uri="{FF2B5EF4-FFF2-40B4-BE49-F238E27FC236}">
                <a16:creationId xmlns:a16="http://schemas.microsoft.com/office/drawing/2014/main" id="{EFEBCB3B-2F65-B44A-75A2-5BCD98419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304457"/>
            <a:ext cx="3581400" cy="46739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DD9BC3-A7DA-92A2-D563-2A919809A2F4}"/>
              </a:ext>
            </a:extLst>
          </p:cNvPr>
          <p:cNvSpPr txBox="1"/>
          <p:nvPr/>
        </p:nvSpPr>
        <p:spPr>
          <a:xfrm>
            <a:off x="5105400" y="2895600"/>
            <a:ext cx="5986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Submit manuscript end of semester/early summer</a:t>
            </a:r>
          </a:p>
        </p:txBody>
      </p:sp>
    </p:spTree>
    <p:extLst>
      <p:ext uri="{BB962C8B-B14F-4D97-AF65-F5344CB8AC3E}">
        <p14:creationId xmlns:p14="http://schemas.microsoft.com/office/powerpoint/2010/main" val="66520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34C9F-39CF-25D2-0683-C001963D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4084F51-A8B3-7DA4-1F9E-79E04C4D9C05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727FD76B-0FF3-9FC3-6799-FF88D00078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5F72A0-1838-F83E-94BA-BDAD84F2FCB0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0F4DB-18F7-E1EE-D80E-3F2A329E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ea typeface="+mj-ea"/>
              </a:rPr>
              <a:t>Overarching questions</a:t>
            </a:r>
            <a:endParaRPr lang="en-US" sz="4400" dirty="0"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49A36-DD5A-C716-6657-F799D32A2FD2}"/>
              </a:ext>
            </a:extLst>
          </p:cNvPr>
          <p:cNvSpPr txBox="1"/>
          <p:nvPr/>
        </p:nvSpPr>
        <p:spPr>
          <a:xfrm>
            <a:off x="533400" y="1447800"/>
            <a:ext cx="1135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 How is the transport of one ion influenced by the presence of competing ions (Na</a:t>
            </a:r>
            <a:r>
              <a:rPr lang="en-US" sz="2000" baseline="30000" dirty="0"/>
              <a:t>+</a:t>
            </a:r>
            <a:r>
              <a:rPr lang="en-US" sz="2000" dirty="0"/>
              <a:t>, Ca</a:t>
            </a:r>
            <a:r>
              <a:rPr lang="en-US" sz="2000" baseline="30000" dirty="0"/>
              <a:t>2+ </a:t>
            </a:r>
            <a:r>
              <a:rPr lang="en-US" sz="2000" dirty="0"/>
              <a:t>, La</a:t>
            </a:r>
            <a:r>
              <a:rPr lang="en-US" sz="2000" baseline="30000" dirty="0"/>
              <a:t>3+ </a:t>
            </a:r>
            <a:r>
              <a:rPr lang="en-US" sz="2000" dirty="0"/>
              <a:t>)?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4AE96-B0B6-FE26-782B-86F4A3EB1207}"/>
              </a:ext>
            </a:extLst>
          </p:cNvPr>
          <p:cNvSpPr txBox="1"/>
          <p:nvPr/>
        </p:nvSpPr>
        <p:spPr>
          <a:xfrm>
            <a:off x="1295400" y="22860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 What adjustments to current models need to be made, if any?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86E4D-7359-8151-6B76-928A419A2E2F}"/>
              </a:ext>
            </a:extLst>
          </p:cNvPr>
          <p:cNvSpPr txBox="1"/>
          <p:nvPr/>
        </p:nvSpPr>
        <p:spPr>
          <a:xfrm>
            <a:off x="1295400" y="2924145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What data sets are needed to validate current models?</a:t>
            </a:r>
          </a:p>
        </p:txBody>
      </p:sp>
    </p:spTree>
    <p:extLst>
      <p:ext uri="{BB962C8B-B14F-4D97-AF65-F5344CB8AC3E}">
        <p14:creationId xmlns:p14="http://schemas.microsoft.com/office/powerpoint/2010/main" val="260507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63FD-4287-B576-4243-707651FF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D100395-B9B9-975D-6398-82FF1E586711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E2E5BC3-8A94-254A-0405-CC6FF884B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9B8AA9-6652-F6A5-C0FD-477A93856BF2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8A6C4-4126-1E0D-7F6A-7DF850B4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ea typeface="+mj-ea"/>
              </a:rPr>
              <a:t>Motivation</a:t>
            </a:r>
            <a:endParaRPr lang="en-US" sz="4400" dirty="0"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99D99-5D1A-2F74-4254-3A2E4E0D1FAF}"/>
              </a:ext>
            </a:extLst>
          </p:cNvPr>
          <p:cNvSpPr txBox="1"/>
          <p:nvPr/>
        </p:nvSpPr>
        <p:spPr>
          <a:xfrm>
            <a:off x="685800" y="2765209"/>
            <a:ext cx="8373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For membranes to be implemented into processes, we need models that can predict what will be in the permeate.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23326-B098-465D-370B-7F2972287D4A}"/>
              </a:ext>
            </a:extLst>
          </p:cNvPr>
          <p:cNvSpPr txBox="1"/>
          <p:nvPr/>
        </p:nvSpPr>
        <p:spPr>
          <a:xfrm>
            <a:off x="685800" y="4382816"/>
            <a:ext cx="8678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Models must account for membrane properties (mechanistic insight) and span a range of concentration regimes (dilute to concentrated).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7FC28-CF6C-0926-332C-4387DAB5863F}"/>
              </a:ext>
            </a:extLst>
          </p:cNvPr>
          <p:cNvSpPr txBox="1"/>
          <p:nvPr/>
        </p:nvSpPr>
        <p:spPr>
          <a:xfrm>
            <a:off x="685800" y="1653952"/>
            <a:ext cx="1135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streams we aim to treat have complex compositions.</a:t>
            </a:r>
          </a:p>
        </p:txBody>
      </p:sp>
    </p:spTree>
    <p:extLst>
      <p:ext uri="{BB962C8B-B14F-4D97-AF65-F5344CB8AC3E}">
        <p14:creationId xmlns:p14="http://schemas.microsoft.com/office/powerpoint/2010/main" val="180025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F4CA-8948-D427-B2A8-6C60BB87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different types of diavolume&#10;&#10;AI-generated content may be incorrect.">
            <a:extLst>
              <a:ext uri="{FF2B5EF4-FFF2-40B4-BE49-F238E27FC236}">
                <a16:creationId xmlns:a16="http://schemas.microsoft.com/office/drawing/2014/main" id="{989B7D05-BEF5-125D-EA2E-1C7E230B6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780" y="1832685"/>
            <a:ext cx="4087240" cy="3735867"/>
          </a:xfrm>
          <a:prstGeom prst="rect">
            <a:avLst/>
          </a:prstGeom>
        </p:spPr>
      </p:pic>
      <p:pic>
        <p:nvPicPr>
          <p:cNvPr id="19" name="Picture 18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FD432657-872B-3426-C0CB-44985FA72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46323" y="1256482"/>
            <a:ext cx="2678546" cy="441960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607ECAA-5171-5D74-5537-F0109AE40D46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1FF20C57-EDBC-AC4B-0040-6EDC8ABFA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026182-7773-EBEE-82BF-8A6728EFDAF5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1C70D-FE0A-4559-F2A1-34496CE1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1: Experimental Data and Operating Regimes</a:t>
            </a:r>
            <a:endParaRPr lang="en-US" sz="4000" dirty="0"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F2228-4EAD-B30A-EE73-1D58A6003297}"/>
              </a:ext>
            </a:extLst>
          </p:cNvPr>
          <p:cNvSpPr txBox="1"/>
          <p:nvPr/>
        </p:nvSpPr>
        <p:spPr>
          <a:xfrm>
            <a:off x="2157921" y="1460902"/>
            <a:ext cx="403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NaCl – Single Component raw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1E58A-66BC-B9A8-BE4A-7DD02B85E11E}"/>
              </a:ext>
            </a:extLst>
          </p:cNvPr>
          <p:cNvSpPr txBox="1"/>
          <p:nvPr/>
        </p:nvSpPr>
        <p:spPr>
          <a:xfrm>
            <a:off x="76200" y="60960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*Main text will show NaCl. SI plots can be made for CaCl</a:t>
            </a:r>
            <a:r>
              <a:rPr lang="en-US" baseline="-25000" dirty="0"/>
              <a:t>2</a:t>
            </a:r>
            <a:r>
              <a:rPr lang="en-US" dirty="0"/>
              <a:t> and LaCl</a:t>
            </a:r>
            <a:r>
              <a:rPr lang="en-US" baseline="-25000" dirty="0"/>
              <a:t>3</a:t>
            </a:r>
            <a:r>
              <a:rPr lang="en-US" dirty="0"/>
              <a:t> single salts.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4C8DAE-3D2E-C90F-32F4-6847BC6DD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44" y="1951105"/>
            <a:ext cx="3352800" cy="31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8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3C4C-3305-5FF1-6F5C-ED47DABA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0000D78-F25B-AFEF-21FD-3EC816F63757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575FDB21-767E-289F-408E-E92A4D156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B00DA-1030-BDAB-4756-AE083396D76F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2C932-D487-5F8A-C561-DC278515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2: Conductivity to Concentration</a:t>
            </a:r>
            <a:endParaRPr lang="en-US" sz="4000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EE4F7A-3E43-17C7-6684-44625B09E991}"/>
              </a:ext>
            </a:extLst>
          </p:cNvPr>
          <p:cNvSpPr txBox="1"/>
          <p:nvPr/>
        </p:nvSpPr>
        <p:spPr>
          <a:xfrm>
            <a:off x="76199" y="5613745"/>
            <a:ext cx="1066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*Main text will show NaCl/LaCl</a:t>
            </a:r>
            <a:r>
              <a:rPr lang="en-US" baseline="-25000" dirty="0"/>
              <a:t>3</a:t>
            </a:r>
            <a:r>
              <a:rPr lang="en-US" dirty="0"/>
              <a:t>. SI plots can be made for NaCl/CaCl</a:t>
            </a:r>
            <a:r>
              <a:rPr lang="en-US" baseline="-25000" dirty="0"/>
              <a:t>2</a:t>
            </a:r>
            <a:r>
              <a:rPr lang="en-US" dirty="0"/>
              <a:t> and CaCl</a:t>
            </a:r>
            <a:r>
              <a:rPr lang="en-US" baseline="-25000" dirty="0"/>
              <a:t>2</a:t>
            </a:r>
            <a:r>
              <a:rPr lang="en-US" dirty="0"/>
              <a:t>/LaCl</a:t>
            </a:r>
            <a:r>
              <a:rPr lang="en-US" baseline="-25000" dirty="0"/>
              <a:t>3</a:t>
            </a:r>
            <a:r>
              <a:rPr lang="en-US" dirty="0"/>
              <a:t> multicomponent salts.</a:t>
            </a:r>
          </a:p>
        </p:txBody>
      </p:sp>
      <p:pic>
        <p:nvPicPr>
          <p:cNvPr id="5" name="Picture 4" descr="A graph of 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FAEC11FE-0B04-2F73-CA67-FBBBFD771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27" y="1590534"/>
            <a:ext cx="3609810" cy="3488130"/>
          </a:xfrm>
          <a:prstGeom prst="rect">
            <a:avLst/>
          </a:prstGeom>
        </p:spPr>
      </p:pic>
      <p:pic>
        <p:nvPicPr>
          <p:cNvPr id="6" name="Picture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C7897281-EE91-12FD-A93F-119A4FB7F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597693"/>
            <a:ext cx="3369667" cy="3130550"/>
          </a:xfrm>
          <a:prstGeom prst="rect">
            <a:avLst/>
          </a:prstGeom>
        </p:spPr>
      </p:pic>
      <p:pic>
        <p:nvPicPr>
          <p:cNvPr id="7" name="Picture 6" descr="A graph of a concentration&#10;&#10;Description automatically generated with medium confidence">
            <a:extLst>
              <a:ext uri="{FF2B5EF4-FFF2-40B4-BE49-F238E27FC236}">
                <a16:creationId xmlns:a16="http://schemas.microsoft.com/office/drawing/2014/main" id="{EB4E4FCF-0F74-958F-C7E1-07E299C64F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552138"/>
            <a:ext cx="3203576" cy="3119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FEDA03-FA07-4BD0-EBEE-1E6B81D414B6}"/>
              </a:ext>
            </a:extLst>
          </p:cNvPr>
          <p:cNvSpPr txBox="1"/>
          <p:nvPr/>
        </p:nvSpPr>
        <p:spPr>
          <a:xfrm>
            <a:off x="4076699" y="1101292"/>
            <a:ext cx="403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NaCl + LaCl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multicomponent raw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94252-AF8F-ECBE-9E1B-3DB93F5B4CF9}"/>
              </a:ext>
            </a:extLst>
          </p:cNvPr>
          <p:cNvSpPr txBox="1"/>
          <p:nvPr/>
        </p:nvSpPr>
        <p:spPr>
          <a:xfrm>
            <a:off x="72787" y="6028111"/>
            <a:ext cx="907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*Single salt calibration curve – compare experimental data points with theory (Shammah).</a:t>
            </a:r>
          </a:p>
        </p:txBody>
      </p:sp>
      <p:pic>
        <p:nvPicPr>
          <p:cNvPr id="15" name="Picture 14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F60D12EC-69A0-4815-48F0-EA7932CD61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024" y="4833668"/>
            <a:ext cx="1745777" cy="162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3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AF2EB0-CFC7-37F5-96CF-92FA4FD1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EC13912-043E-6658-2494-2CE97FB3F426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96531DCB-5F38-844F-DDF6-E48ACC932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8A674-4973-3868-DABF-7A22CBCFEB1C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BC061-F906-FF33-4EA9-78FFA0A32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2: Conductivity to Concentration</a:t>
            </a:r>
            <a:endParaRPr lang="en-US" sz="4000" dirty="0">
              <a:ea typeface="+mj-ea"/>
            </a:endParaRPr>
          </a:p>
        </p:txBody>
      </p:sp>
      <p:pic>
        <p:nvPicPr>
          <p:cNvPr id="6" name="Picture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981EAF57-84B9-3A50-9C9B-6891A0D1B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11" y="2623322"/>
            <a:ext cx="3369667" cy="3130550"/>
          </a:xfrm>
          <a:prstGeom prst="rect">
            <a:avLst/>
          </a:prstGeom>
        </p:spPr>
      </p:pic>
      <p:pic>
        <p:nvPicPr>
          <p:cNvPr id="7" name="Picture 6" descr="A graph of a concentration&#10;&#10;Description automatically generated with medium confidence">
            <a:extLst>
              <a:ext uri="{FF2B5EF4-FFF2-40B4-BE49-F238E27FC236}">
                <a16:creationId xmlns:a16="http://schemas.microsoft.com/office/drawing/2014/main" id="{C38A4C12-D116-A085-2A17-860793A8F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024" y="2520664"/>
            <a:ext cx="3203576" cy="3119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1422D-8CC0-9817-3273-E98ADC4E6F8B}"/>
              </a:ext>
            </a:extLst>
          </p:cNvPr>
          <p:cNvSpPr txBox="1"/>
          <p:nvPr/>
        </p:nvSpPr>
        <p:spPr>
          <a:xfrm>
            <a:off x="3833812" y="1131846"/>
            <a:ext cx="403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NaCl + LaCl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multicomponent raw data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B9FAB3-1900-ED3A-51D9-DB9180BD7D05}"/>
              </a:ext>
            </a:extLst>
          </p:cNvPr>
          <p:cNvGrpSpPr/>
          <p:nvPr/>
        </p:nvGrpSpPr>
        <p:grpSpPr>
          <a:xfrm>
            <a:off x="152400" y="1989488"/>
            <a:ext cx="3654116" cy="1778500"/>
            <a:chOff x="2379971" y="2139333"/>
            <a:chExt cx="3654116" cy="17785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4A3AC01-A6DB-ED96-D2C7-63BAE19DD714}"/>
                </a:ext>
              </a:extLst>
            </p:cNvPr>
            <p:cNvSpPr/>
            <p:nvPr/>
          </p:nvSpPr>
          <p:spPr>
            <a:xfrm>
              <a:off x="2487987" y="2263719"/>
              <a:ext cx="136287" cy="13628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0" name="Diamond 19">
              <a:extLst>
                <a:ext uri="{FF2B5EF4-FFF2-40B4-BE49-F238E27FC236}">
                  <a16:creationId xmlns:a16="http://schemas.microsoft.com/office/drawing/2014/main" id="{82542ABC-A6A8-935B-759D-D339E2085452}"/>
                </a:ext>
              </a:extLst>
            </p:cNvPr>
            <p:cNvSpPr/>
            <p:nvPr/>
          </p:nvSpPr>
          <p:spPr>
            <a:xfrm>
              <a:off x="2488883" y="3360559"/>
              <a:ext cx="136286" cy="160422"/>
            </a:xfrm>
            <a:prstGeom prst="diamond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" name="Diamond 20">
              <a:extLst>
                <a:ext uri="{FF2B5EF4-FFF2-40B4-BE49-F238E27FC236}">
                  <a16:creationId xmlns:a16="http://schemas.microsoft.com/office/drawing/2014/main" id="{F42C0F5E-7A05-B9F5-253F-202B3AB9AFA2}"/>
                </a:ext>
              </a:extLst>
            </p:cNvPr>
            <p:cNvSpPr/>
            <p:nvPr/>
          </p:nvSpPr>
          <p:spPr>
            <a:xfrm>
              <a:off x="2487989" y="3670618"/>
              <a:ext cx="136286" cy="160422"/>
            </a:xfrm>
            <a:prstGeom prst="diamond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529212-7515-BD74-6AA7-F7E92005F8AA}"/>
                </a:ext>
              </a:extLst>
            </p:cNvPr>
            <p:cNvSpPr/>
            <p:nvPr/>
          </p:nvSpPr>
          <p:spPr>
            <a:xfrm>
              <a:off x="2487987" y="2543252"/>
              <a:ext cx="136288" cy="136288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B2BB57-1B2E-5A8F-A6B7-1D11B3E094D4}"/>
                </a:ext>
              </a:extLst>
            </p:cNvPr>
            <p:cNvSpPr txBox="1"/>
            <p:nvPr/>
          </p:nvSpPr>
          <p:spPr>
            <a:xfrm>
              <a:off x="2379971" y="2966646"/>
              <a:ext cx="3905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6979D6-895D-267E-CAF1-273C5B0A3982}"/>
                </a:ext>
              </a:extLst>
            </p:cNvPr>
            <p:cNvSpPr/>
            <p:nvPr/>
          </p:nvSpPr>
          <p:spPr>
            <a:xfrm>
              <a:off x="2488883" y="2798056"/>
              <a:ext cx="135392" cy="15056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7C53F5-1AB0-D692-9D4C-442FC1FD3330}"/>
                </a:ext>
              </a:extLst>
            </p:cNvPr>
            <p:cNvSpPr txBox="1"/>
            <p:nvPr/>
          </p:nvSpPr>
          <p:spPr>
            <a:xfrm>
              <a:off x="2609850" y="2139333"/>
              <a:ext cx="3424237" cy="1778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1400" dirty="0"/>
                <a:t>Permeability probe conductivity</a:t>
              </a:r>
            </a:p>
            <a:p>
              <a:pPr>
                <a:lnSpc>
                  <a:spcPts val="2200"/>
                </a:lnSpc>
              </a:pPr>
              <a:r>
                <a:rPr lang="en-US" sz="1400" dirty="0"/>
                <a:t>Retentate probe conductivity</a:t>
              </a:r>
            </a:p>
            <a:p>
              <a:pPr>
                <a:lnSpc>
                  <a:spcPts val="2200"/>
                </a:lnSpc>
              </a:pPr>
              <a:r>
                <a:rPr lang="en-US" sz="1400" dirty="0"/>
                <a:t>ICP feed and retentate</a:t>
              </a:r>
            </a:p>
            <a:p>
              <a:pPr>
                <a:lnSpc>
                  <a:spcPts val="2200"/>
                </a:lnSpc>
              </a:pPr>
              <a:r>
                <a:rPr lang="en-US" sz="1400" dirty="0"/>
                <a:t>Bulk permeate conductivity</a:t>
              </a:r>
            </a:p>
            <a:p>
              <a:pPr>
                <a:lnSpc>
                  <a:spcPts val="2200"/>
                </a:lnSpc>
              </a:pPr>
              <a:r>
                <a:rPr lang="en-US" sz="1400" dirty="0"/>
                <a:t>ICP permeate </a:t>
              </a:r>
            </a:p>
            <a:p>
              <a:pPr>
                <a:lnSpc>
                  <a:spcPts val="2200"/>
                </a:lnSpc>
              </a:pPr>
              <a:r>
                <a:rPr lang="en-US" sz="1400" dirty="0"/>
                <a:t>Retentate mass balance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4374C7-65A5-1AE5-0430-1D10FAC1CC84}"/>
              </a:ext>
            </a:extLst>
          </p:cNvPr>
          <p:cNvGrpSpPr/>
          <p:nvPr/>
        </p:nvGrpSpPr>
        <p:grpSpPr>
          <a:xfrm>
            <a:off x="7206589" y="2033149"/>
            <a:ext cx="1688749" cy="993091"/>
            <a:chOff x="8481930" y="3546516"/>
            <a:chExt cx="1688749" cy="99309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A86BB57-6AD2-FB93-688F-F82C6A2326AB}"/>
                </a:ext>
              </a:extLst>
            </p:cNvPr>
            <p:cNvGrpSpPr/>
            <p:nvPr/>
          </p:nvGrpSpPr>
          <p:grpSpPr>
            <a:xfrm>
              <a:off x="8481930" y="3546516"/>
              <a:ext cx="1688749" cy="307777"/>
              <a:chOff x="8481930" y="3546516"/>
              <a:chExt cx="1688749" cy="30777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BE1BD9A-1FD8-4C3A-13D3-1B5616A906E1}"/>
                  </a:ext>
                </a:extLst>
              </p:cNvPr>
              <p:cNvSpPr/>
              <p:nvPr/>
            </p:nvSpPr>
            <p:spPr>
              <a:xfrm>
                <a:off x="8481930" y="3625956"/>
                <a:ext cx="156663" cy="15666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BD36F7-030C-3BC6-5CDD-3A78428FCA90}"/>
                  </a:ext>
                </a:extLst>
              </p:cNvPr>
              <p:cNvSpPr txBox="1"/>
              <p:nvPr/>
            </p:nvSpPr>
            <p:spPr>
              <a:xfrm>
                <a:off x="8646679" y="3546516"/>
                <a:ext cx="1524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Feed/Retentate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3B012B9-1BB1-C0FF-0EC6-4B8CE51F1304}"/>
                </a:ext>
              </a:extLst>
            </p:cNvPr>
            <p:cNvGrpSpPr/>
            <p:nvPr/>
          </p:nvGrpSpPr>
          <p:grpSpPr>
            <a:xfrm>
              <a:off x="8490016" y="3880143"/>
              <a:ext cx="1643588" cy="307777"/>
              <a:chOff x="8490016" y="3880143"/>
              <a:chExt cx="1643588" cy="307777"/>
            </a:xfrm>
          </p:grpSpPr>
          <p:sp>
            <p:nvSpPr>
              <p:cNvPr id="14" name="Diamond 13">
                <a:extLst>
                  <a:ext uri="{FF2B5EF4-FFF2-40B4-BE49-F238E27FC236}">
                    <a16:creationId xmlns:a16="http://schemas.microsoft.com/office/drawing/2014/main" id="{943AD508-7CA3-B849-EED0-420DCB01B0F4}"/>
                  </a:ext>
                </a:extLst>
              </p:cNvPr>
              <p:cNvSpPr/>
              <p:nvPr/>
            </p:nvSpPr>
            <p:spPr>
              <a:xfrm>
                <a:off x="8490016" y="3911762"/>
                <a:ext cx="151121" cy="273295"/>
              </a:xfrm>
              <a:prstGeom prst="diamond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FA0222B-2E9F-D2C1-A202-E5E3C19F376A}"/>
                  </a:ext>
                </a:extLst>
              </p:cNvPr>
              <p:cNvSpPr txBox="1"/>
              <p:nvPr/>
            </p:nvSpPr>
            <p:spPr>
              <a:xfrm>
                <a:off x="8609604" y="3880143"/>
                <a:ext cx="1524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Permeate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259BFB9-574A-F8C8-A49A-19B4236108F6}"/>
                </a:ext>
              </a:extLst>
            </p:cNvPr>
            <p:cNvGrpSpPr/>
            <p:nvPr/>
          </p:nvGrpSpPr>
          <p:grpSpPr>
            <a:xfrm>
              <a:off x="8490016" y="4231830"/>
              <a:ext cx="1672577" cy="307777"/>
              <a:chOff x="8490016" y="4231830"/>
              <a:chExt cx="1672577" cy="30777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434B0A0-80B5-B2DA-736F-E04779D1CC85}"/>
                  </a:ext>
                </a:extLst>
              </p:cNvPr>
              <p:cNvSpPr/>
              <p:nvPr/>
            </p:nvSpPr>
            <p:spPr>
              <a:xfrm>
                <a:off x="8490016" y="4319406"/>
                <a:ext cx="156663" cy="15666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84988C-7069-FD00-4EBC-78C794E17945}"/>
                  </a:ext>
                </a:extLst>
              </p:cNvPr>
              <p:cNvSpPr txBox="1"/>
              <p:nvPr/>
            </p:nvSpPr>
            <p:spPr>
              <a:xfrm>
                <a:off x="8638593" y="4231830"/>
                <a:ext cx="1524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Mass Balance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8E5123C-1D49-50CE-58DC-6A731F031296}"/>
              </a:ext>
            </a:extLst>
          </p:cNvPr>
          <p:cNvSpPr txBox="1"/>
          <p:nvPr/>
        </p:nvSpPr>
        <p:spPr>
          <a:xfrm>
            <a:off x="10591800" y="2025188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Red – La</a:t>
            </a:r>
            <a:r>
              <a:rPr lang="en-US" sz="1400" baseline="30000" dirty="0"/>
              <a:t>3+</a:t>
            </a:r>
          </a:p>
          <a:p>
            <a:r>
              <a:rPr lang="en-US" sz="1400" dirty="0"/>
              <a:t>Black – Na</a:t>
            </a:r>
            <a:r>
              <a:rPr lang="en-US" sz="1400" baseline="30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9066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9E84-D3AA-6741-5069-90FB0021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65F1197-0962-A3DA-358E-2BC3D0315F0D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A5C5598E-413B-9E36-CC78-30D19B8BB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D52EAB-A82E-1C06-723F-79442EC66D6D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852F1-5921-1703-54F3-6E48D092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3: Concentration phase space</a:t>
            </a:r>
            <a:endParaRPr lang="en-US" sz="4000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DB1AA8-D286-71DD-3419-BD9BD4737B11}"/>
              </a:ext>
            </a:extLst>
          </p:cNvPr>
          <p:cNvSpPr txBox="1"/>
          <p:nvPr/>
        </p:nvSpPr>
        <p:spPr>
          <a:xfrm>
            <a:off x="-1" y="5721789"/>
            <a:ext cx="1066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*Main text will show NaCl/LaCl</a:t>
            </a:r>
            <a:r>
              <a:rPr lang="en-US" baseline="-25000" dirty="0"/>
              <a:t>3</a:t>
            </a:r>
            <a:r>
              <a:rPr lang="en-US" dirty="0"/>
              <a:t>. SI plots can be made for NaCl/CaCl</a:t>
            </a:r>
            <a:r>
              <a:rPr lang="en-US" baseline="-25000" dirty="0"/>
              <a:t>2</a:t>
            </a:r>
            <a:r>
              <a:rPr lang="en-US" dirty="0"/>
              <a:t> and CaCl</a:t>
            </a:r>
            <a:r>
              <a:rPr lang="en-US" baseline="-25000" dirty="0"/>
              <a:t>2</a:t>
            </a:r>
            <a:r>
              <a:rPr lang="en-US" dirty="0"/>
              <a:t>/LaCl</a:t>
            </a:r>
            <a:r>
              <a:rPr lang="en-US" baseline="-25000" dirty="0"/>
              <a:t>3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C0A13-C5C8-53FA-981A-A0AB099DE8EC}"/>
              </a:ext>
            </a:extLst>
          </p:cNvPr>
          <p:cNvSpPr txBox="1"/>
          <p:nvPr/>
        </p:nvSpPr>
        <p:spPr>
          <a:xfrm>
            <a:off x="0" y="6109261"/>
            <a:ext cx="609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*SI can include tables denoting what experiments “E1-E#” are.</a:t>
            </a:r>
          </a:p>
        </p:txBody>
      </p:sp>
      <p:graphicFrame>
        <p:nvGraphicFramePr>
          <p:cNvPr id="3" name="Object 2" descr="Project Path: C:\Users\lauri\Downloads\NaCl, CaCl2, LaCl3 Phase Space (2).opju&#10;PE Folder: /NaCl, CaCl2, LaCl3 Phase Space (2)/Folder1/&#10;Short Name: Graph2">
            <a:extLst>
              <a:ext uri="{FF2B5EF4-FFF2-40B4-BE49-F238E27FC236}">
                <a16:creationId xmlns:a16="http://schemas.microsoft.com/office/drawing/2014/main" id="{DAFBDDC9-69F4-02B4-B522-F08640008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737350"/>
              </p:ext>
            </p:extLst>
          </p:nvPr>
        </p:nvGraphicFramePr>
        <p:xfrm>
          <a:off x="1371599" y="1290357"/>
          <a:ext cx="5410200" cy="4140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7" name="Object 6" descr="Project Path: C:\Users\lauri\Downloads\NaCl, CaCl2, LaCl3 Phase Space (2).opju&#10;PE Folder: /NaCl, CaCl2, LaCl3 Phase Space (2)/Folder1/&#10;Short Name: Graph2">
                        <a:extLst>
                          <a:ext uri="{FF2B5EF4-FFF2-40B4-BE49-F238E27FC236}">
                            <a16:creationId xmlns:a16="http://schemas.microsoft.com/office/drawing/2014/main" id="{31127886-7B90-B2D1-8C0F-8E71A227C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599" y="1290357"/>
                        <a:ext cx="5410200" cy="41406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6BBD46B-1292-0AE8-E542-4A8058BA07EF}"/>
              </a:ext>
            </a:extLst>
          </p:cNvPr>
          <p:cNvSpPr txBox="1"/>
          <p:nvPr/>
        </p:nvSpPr>
        <p:spPr>
          <a:xfrm>
            <a:off x="6019800" y="1942874"/>
            <a:ext cx="5791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 a circle for the feed concentration (experiment start).</a:t>
            </a:r>
          </a:p>
          <a:p>
            <a:r>
              <a:rPr lang="en-US" sz="1600" dirty="0"/>
              <a:t>Add a star for the retentate concentration (experiment ends).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A38FE-C4FF-A6D0-D3C1-5B8E704FC789}"/>
              </a:ext>
            </a:extLst>
          </p:cNvPr>
          <p:cNvSpPr txBox="1"/>
          <p:nvPr/>
        </p:nvSpPr>
        <p:spPr>
          <a:xfrm>
            <a:off x="6019800" y="2999235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Triangles are retentate concentrations that correspond to each permeate vial (calculated from a mass balance using ICP).</a:t>
            </a:r>
          </a:p>
        </p:txBody>
      </p:sp>
    </p:spTree>
    <p:extLst>
      <p:ext uri="{BB962C8B-B14F-4D97-AF65-F5344CB8AC3E}">
        <p14:creationId xmlns:p14="http://schemas.microsoft.com/office/powerpoint/2010/main" val="152098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53DD9-590A-61D3-BE9B-2544CFEC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8862DB9-3CBD-5CAC-6385-546CBB6A5281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7AC6CE3-2662-8592-B4E2-2DD1A66F7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290BD0-DE20-C090-2DFE-EBFB8EEDF8BC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DD24C-54F2-9717-A843-91BBA06B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4: Membrane performance</a:t>
            </a:r>
            <a:endParaRPr lang="en-US" sz="4000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E4759-5227-2BE5-7656-657110C8408A}"/>
              </a:ext>
            </a:extLst>
          </p:cNvPr>
          <p:cNvSpPr txBox="1"/>
          <p:nvPr/>
        </p:nvSpPr>
        <p:spPr>
          <a:xfrm>
            <a:off x="-76200" y="6055870"/>
            <a:ext cx="1066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*Main text will show NaCl/LaCl</a:t>
            </a:r>
            <a:r>
              <a:rPr lang="en-US" baseline="-25000" dirty="0"/>
              <a:t>3</a:t>
            </a:r>
            <a:r>
              <a:rPr lang="en-US" dirty="0"/>
              <a:t>. SI plots can be made for NaCl/CaCl</a:t>
            </a:r>
            <a:r>
              <a:rPr lang="en-US" baseline="-25000" dirty="0"/>
              <a:t>2</a:t>
            </a:r>
            <a:r>
              <a:rPr lang="en-US" dirty="0"/>
              <a:t> and CaCl</a:t>
            </a:r>
            <a:r>
              <a:rPr lang="en-US" baseline="-25000" dirty="0"/>
              <a:t>2</a:t>
            </a:r>
            <a:r>
              <a:rPr lang="en-US" dirty="0"/>
              <a:t>/LaCl</a:t>
            </a:r>
            <a:r>
              <a:rPr lang="en-US" baseline="-25000" dirty="0"/>
              <a:t>3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18F52-C754-541E-9EA3-748FC4109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28800"/>
            <a:ext cx="4637243" cy="3550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C7DAC-BB18-EEED-AF77-F4EF41594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882940"/>
            <a:ext cx="4495800" cy="3441747"/>
          </a:xfrm>
          <a:prstGeom prst="rect">
            <a:avLst/>
          </a:prstGeom>
        </p:spPr>
      </p:pic>
      <p:pic>
        <p:nvPicPr>
          <p:cNvPr id="14" name="Picture 13" descr="A graph of a periodic strength&#10;&#10;AI-generated content may be incorrect.">
            <a:extLst>
              <a:ext uri="{FF2B5EF4-FFF2-40B4-BE49-F238E27FC236}">
                <a16:creationId xmlns:a16="http://schemas.microsoft.com/office/drawing/2014/main" id="{5343A500-3F47-C058-19FF-C8EB7BB40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796531"/>
            <a:ext cx="3962400" cy="333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D9B7-D281-D54E-0B05-54832767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46745F7-3B82-38FC-C886-35C995D8CCCD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0C418669-436E-5C1E-DA6B-8F0EE2AE8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9F72E-D1DE-264C-3D42-8B276B517A2F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2A7BC-5ACD-9C62-FE9F-6A0A0E1A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4: Membrane performance</a:t>
            </a:r>
            <a:endParaRPr lang="en-US" sz="4000" dirty="0"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D4101-10C6-35F8-97DA-BC97E0A807BA}"/>
              </a:ext>
            </a:extLst>
          </p:cNvPr>
          <p:cNvSpPr txBox="1"/>
          <p:nvPr/>
        </p:nvSpPr>
        <p:spPr>
          <a:xfrm>
            <a:off x="228600" y="1026457"/>
            <a:ext cx="1138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Plots have K</a:t>
            </a:r>
            <a:r>
              <a:rPr lang="en-US" baseline="30000" dirty="0"/>
              <a:t>+</a:t>
            </a:r>
            <a:r>
              <a:rPr lang="en-US" dirty="0"/>
              <a:t> (Na</a:t>
            </a:r>
            <a:r>
              <a:rPr lang="en-US" baseline="30000" dirty="0"/>
              <a:t>+</a:t>
            </a:r>
            <a:r>
              <a:rPr lang="en-US" dirty="0"/>
              <a:t> ) from rejection of KCl/NdCl3 experiment only. We will need to adjust these figures to have: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6A342-AD0D-7DDA-0BBD-1A40F0D39827}"/>
              </a:ext>
            </a:extLst>
          </p:cNvPr>
          <p:cNvSpPr txBox="1"/>
          <p:nvPr/>
        </p:nvSpPr>
        <p:spPr>
          <a:xfrm>
            <a:off x="7086600" y="2590800"/>
            <a:ext cx="4953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Single salt NaCl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Single salt LaCl</a:t>
            </a:r>
            <a:r>
              <a:rPr lang="en-US" sz="2000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Constant NaCl increasing LaCl</a:t>
            </a:r>
            <a:r>
              <a:rPr lang="en-US" sz="2000" baseline="-25000" dirty="0"/>
              <a:t>3 </a:t>
            </a:r>
            <a:r>
              <a:rPr lang="en-US" sz="2000" dirty="0"/>
              <a:t>at conc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Constant NaCl increasing LaCl</a:t>
            </a:r>
            <a:r>
              <a:rPr lang="en-US" sz="2000" baseline="-25000" dirty="0"/>
              <a:t>3</a:t>
            </a:r>
            <a:r>
              <a:rPr lang="en-US" sz="2000" dirty="0"/>
              <a:t> at conc #2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Increasing NaCl constant LaCl</a:t>
            </a:r>
            <a:r>
              <a:rPr lang="en-US" sz="2000" baseline="-25000" dirty="0"/>
              <a:t>3</a:t>
            </a:r>
            <a:r>
              <a:rPr lang="en-US" sz="2000" dirty="0"/>
              <a:t> at conc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Increasing NaCl constant LaCl</a:t>
            </a:r>
            <a:r>
              <a:rPr lang="en-US" sz="2000" baseline="-25000" dirty="0"/>
              <a:t>3</a:t>
            </a:r>
            <a:r>
              <a:rPr lang="en-US" sz="2000" dirty="0"/>
              <a:t> at conc #2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51BB9A-89D8-90AC-EBF9-E32037920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021614"/>
            <a:ext cx="4637243" cy="3550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6474ED-BEB8-01F1-8BA3-36C2DD85C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075754"/>
            <a:ext cx="4495800" cy="344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61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E0646-61B2-D679-5747-7D7CB2B2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192BF85-BFCB-96AC-338C-C935FD2F5E11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054D54AB-CEC4-1863-5209-DCD395D1D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B17FC4-6E49-D5E8-D840-69279BC9EDB5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27A92-9DB3-3285-8ECC-B6913665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920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Figure 5: Three ion experiments</a:t>
            </a:r>
            <a:endParaRPr lang="en-US" sz="4000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A549E-C269-07C8-01E0-BF5AB932E3A5}"/>
              </a:ext>
            </a:extLst>
          </p:cNvPr>
          <p:cNvSpPr txBox="1"/>
          <p:nvPr/>
        </p:nvSpPr>
        <p:spPr>
          <a:xfrm>
            <a:off x="381000" y="1371600"/>
            <a:ext cx="10668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For now, we are waiting to see what these experiments look like.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Raw diafiltration data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Ion rejections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Selectivity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Material properties</a:t>
            </a:r>
          </a:p>
        </p:txBody>
      </p:sp>
    </p:spTree>
    <p:extLst>
      <p:ext uri="{BB962C8B-B14F-4D97-AF65-F5344CB8AC3E}">
        <p14:creationId xmlns:p14="http://schemas.microsoft.com/office/powerpoint/2010/main" val="248630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162955</TotalTime>
  <Words>514</Words>
  <Application>Microsoft Office PowerPoint</Application>
  <PresentationFormat>Widescreen</PresentationFormat>
  <Paragraphs>77</Paragraphs>
  <Slides>11</Slides>
  <Notes>11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GalaxiePolaris-Bold</vt:lpstr>
      <vt:lpstr>GalaxiePolaris-Book</vt:lpstr>
      <vt:lpstr>GalaxiePolaris-Medium</vt:lpstr>
      <vt:lpstr>Garamond</vt:lpstr>
      <vt:lpstr>Times New Roman</vt:lpstr>
      <vt:lpstr>Wingdings</vt:lpstr>
      <vt:lpstr>Office Theme</vt:lpstr>
      <vt:lpstr>brand_standards_PPT_template_1W</vt:lpstr>
      <vt:lpstr>Graph</vt:lpstr>
      <vt:lpstr>Investigating the impact of multicomponent interactions on solute transport via high-throughput experiments</vt:lpstr>
      <vt:lpstr>Publication journal target</vt:lpstr>
      <vt:lpstr>Overarching questions</vt:lpstr>
      <vt:lpstr>Motivation</vt:lpstr>
      <vt:lpstr>Figure 1: Experimental Data and Operating Regimes</vt:lpstr>
      <vt:lpstr>Figure 2: Conductivity to Concentration</vt:lpstr>
      <vt:lpstr>Figure 2: Conductivity to Concentration</vt:lpstr>
      <vt:lpstr>Figure 3: Concentration phase space</vt:lpstr>
      <vt:lpstr>Figure 4: Membrane performance</vt:lpstr>
      <vt:lpstr>Figure 4: Membrane performance</vt:lpstr>
      <vt:lpstr>Figure 5: Three ion 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Lair</cp:lastModifiedBy>
  <cp:revision>10</cp:revision>
  <cp:lastPrinted>2023-07-13T18:14:11Z</cp:lastPrinted>
  <dcterms:created xsi:type="dcterms:W3CDTF">2022-05-09T22:03:52Z</dcterms:created>
  <dcterms:modified xsi:type="dcterms:W3CDTF">2025-03-31T15:21:38Z</dcterms:modified>
</cp:coreProperties>
</file>
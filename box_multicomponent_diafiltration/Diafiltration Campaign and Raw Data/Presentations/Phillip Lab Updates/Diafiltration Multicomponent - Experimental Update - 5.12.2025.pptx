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32"/>
  </p:notesMasterIdLst>
  <p:sldIdLst>
    <p:sldId id="476" r:id="rId2"/>
    <p:sldId id="523" r:id="rId3"/>
    <p:sldId id="596" r:id="rId4"/>
    <p:sldId id="597" r:id="rId5"/>
    <p:sldId id="599" r:id="rId6"/>
    <p:sldId id="600" r:id="rId7"/>
    <p:sldId id="768" r:id="rId8"/>
    <p:sldId id="774" r:id="rId9"/>
    <p:sldId id="769" r:id="rId10"/>
    <p:sldId id="770" r:id="rId11"/>
    <p:sldId id="771" r:id="rId12"/>
    <p:sldId id="772" r:id="rId13"/>
    <p:sldId id="776" r:id="rId14"/>
    <p:sldId id="775" r:id="rId15"/>
    <p:sldId id="777" r:id="rId16"/>
    <p:sldId id="778" r:id="rId17"/>
    <p:sldId id="773" r:id="rId18"/>
    <p:sldId id="594" r:id="rId19"/>
    <p:sldId id="779" r:id="rId20"/>
    <p:sldId id="760" r:id="rId21"/>
    <p:sldId id="762" r:id="rId22"/>
    <p:sldId id="761" r:id="rId23"/>
    <p:sldId id="764" r:id="rId24"/>
    <p:sldId id="765" r:id="rId25"/>
    <p:sldId id="763" r:id="rId26"/>
    <p:sldId id="766" r:id="rId27"/>
    <p:sldId id="767" r:id="rId28"/>
    <p:sldId id="604" r:id="rId29"/>
    <p:sldId id="584" r:id="rId30"/>
    <p:sldId id="5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FFFF"/>
    <a:srgbClr val="D95015"/>
    <a:srgbClr val="D95319"/>
    <a:srgbClr val="0000FF"/>
    <a:srgbClr val="7676FF"/>
    <a:srgbClr val="82D0FF"/>
    <a:srgbClr val="FF9900"/>
    <a:srgbClr val="E26F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3933" autoAdjust="0"/>
  </p:normalViewPr>
  <p:slideViewPr>
    <p:cSldViewPr snapToGrid="0">
      <p:cViewPr varScale="1">
        <p:scale>
          <a:sx n="74" d="100"/>
          <a:sy n="74" d="100"/>
        </p:scale>
        <p:origin x="212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0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54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41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39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3006-7BC9-CBE5-5064-9B142036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45FA-FFB3-6030-1E47-4F86FEE21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E901F-C282-F467-8376-1202E867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67EF4-CE2E-134B-1339-0F0D3F713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6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562F-5599-7FBB-5460-3C81BBEF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AA352-2B06-C562-C099-78328ABAE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EB440-2925-32F7-5DD0-C907D8CB8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31062-84BE-8F76-7CFB-F64F48841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4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023BD-2391-B65A-F454-E425B01E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2CF72-81CF-44BE-732D-1CB236DC9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A5081-3DCE-9DFB-125F-AF8DE0DA3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1B2D9-48D4-B961-6D62-3DC470AA2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78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C7E08-CD2F-DA8B-EE38-9C8F42F5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53397-F06E-3FDA-FF49-015A37278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AC537-B345-C8B6-7B97-39C94F059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F0D15-4571-86AD-4E94-326C82CB9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84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09E0-5796-55B2-AEB6-17C6078B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DA428-1265-A01F-590D-36C8CAF1E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29AF9-B98F-6751-312D-2724DAA41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E336F-09D8-5187-1D08-4454254EA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92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FA8C-6E9F-D691-7233-23341BCAC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EA4C5-C11C-29C8-5B99-2E6586CD1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35C5F-B669-1416-2A16-AC5A116F7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E771-6394-9BB3-8DDB-EF0F2D9EC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61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EB2D8-49A9-5A57-772D-3EBAD85C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A8FAE-06AD-A49B-1889-D4356316A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F63F0-0465-F465-E63C-39F6E8323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457B0-37B8-EC79-97B2-5C496BC4F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56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5D4A-2915-949F-C268-BB1E23E5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1A66A-591E-58C6-BDCC-2502238D7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E1586-F693-4353-F94F-24FB44EB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EC8E3-6182-E49D-525F-EC62EF993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75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618B-670A-2CEC-447E-1D25CB9D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2CF5C-FFF5-7B07-54BE-16925BB47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3AA6B-8909-5143-A583-489F6CD4B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F5C2E-9CA3-BDDD-6BBA-0D2611A53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5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2D3C-8B60-135D-8B7B-306FEEED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253D8-73EA-E96F-F536-2E1A35E0B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036E2-DE22-D4BD-C399-A16A73598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5F322-E1A4-D19B-225A-9FDCDEADE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66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DC36A-ACC1-65DD-7751-9C42B9CD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D40AA-C681-0521-99E8-80D9B5246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62F72-9881-FA46-6767-82320DD46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857DA-2ED6-F328-6909-F84FE0E5A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0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268F-2B70-84F7-41F4-376CCC88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89684-7C6D-46D9-F80A-4D3608D3D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B7E01-8738-C6AD-BB4B-C0DA18543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D1E0-F742-80E6-A923-6C45F2178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76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17D48-31B2-AA26-840A-B57C441C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C20DF-24AD-9B1B-20DB-859C51CE9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EC5F5-BDB5-1713-5B7E-6734BBAEC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5A599-63F4-9B7C-6F3A-11C62A9B6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74A75-801E-F53E-5272-8EB0EEFE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667DF-3603-2B1B-AFA6-F8073DCEFB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B8A01-BD27-9B71-55C3-5E99DCCF0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D2451-E504-BFC9-5E5F-FB9BF506F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768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E5FC6-8C8E-89D8-D2E8-19B43208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BD743-A0F4-1909-9A8F-75A6082DE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FFC89-D65A-9769-D51A-CF101C94A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61DB0-BB16-E720-A60B-9BE1D56BD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056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B9DD-43DE-EB8E-06ED-0FE9CCE3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EC581-BBD1-B54C-2420-84E6E3D64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50BC6-577B-079F-9782-CD15CB78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CCFB1-5CF5-0A70-BD62-295DEAC64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735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6EFF-372D-894F-D657-8209BD4B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4F0DD-A188-03B9-A42A-7B1F677F8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B176A-0009-870C-7625-28EECD610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E98EC-D48F-6C94-8D9B-984A87313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40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B90C-2CA3-1706-D2B5-730795D7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979AD-AF23-0F43-5327-404CD12BC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2E405-4A5D-4EFF-486F-E4AB866FD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BB4F8-9900-8857-F149-F00C65AAB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04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2D36-7524-E312-4D44-6FB4BCE6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32DC5-60A5-E454-D76B-7A5BD18EE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A0B57-B573-208C-E898-9E4E9B650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C15C0-F3AE-E64E-4A5D-2B4B523E3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73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97161-DAE2-A33E-1DAE-A8EC6C1B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A80AB-E293-12B7-F79F-2A17D3825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AD59B-B9EE-7853-06C4-B49778071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11E8D-5E0C-44D5-B8D9-6109AEB0B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582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571A-F884-B5CC-E91D-82C4A1FF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C7015-9B1B-C79B-29BD-DDCD13484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FFA59-90C1-F73E-A0E1-FECB21AC7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8CB1D-63D3-D1DD-FFBC-1C2A75EC1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854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BA2E-E6C0-A211-B6B8-E9F77BA8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3ADC2-5C8F-0DD6-5517-12004885A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FE4BA-140C-C9B4-BA7E-56CAC2D2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12471-BE46-1E8F-48B0-0D3370325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96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3006-7BC9-CBE5-5064-9B142036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45FA-FFB3-6030-1E47-4F86FEE21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E901F-C282-F467-8376-1202E867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67EF4-CE2E-134B-1339-0F0D3F713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767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F3006-7BC9-CBE5-5064-9B142036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45FA-FFB3-6030-1E47-4F86FEE21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E901F-C282-F467-8376-1202E867B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67EF4-CE2E-134B-1339-0F0D3F713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54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B405-536C-463C-B330-FB9B091E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FE08-CE3B-43AC-881D-7529D4B5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598C-097C-40EA-9A3D-FCB0CFA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B069F-E937-4583-8169-A70F89CA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26A5-054C-4F79-8BFC-5BFBC0D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700C-72FD-48DA-B560-B372381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9FD-488D-4B07-A7EE-C8CFB8AA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AF8E-2C4A-409E-B1F3-453E5B9D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9C10-C02E-4B1F-B767-B2FEC057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473B-A99A-41BD-9E27-67890561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EDB6-7846-40D1-9908-AE142B23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804F-5D40-4DC3-B7A1-7BF693A6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47D-0CF5-48AA-9BAB-EDA8C060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A10-0A81-4E23-9B21-3BA856E7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AB30-1AE3-416C-913A-8ADABEFE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551A-CCCC-4D7F-92BE-B64B320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BE7-A107-43A5-9FC6-F8BD2D1C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1F6B0-EB61-4854-B01C-717B8E3A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E46F-C997-45BB-84C4-ADE4F99A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414-8201-4C32-BEB1-7943238C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6850-AAB2-43C1-8774-722A953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5349-ED1F-413C-AFFB-E7127633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0413-0B66-423E-9362-4868BE55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E36A-00A4-4F53-AA97-D813F10B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5C15-8A19-4295-B8C4-F782F004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59757-B879-442D-9173-4DEF38F7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15DA-44C8-4ED3-80FE-8FC2CAF8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841B9-9240-4C9D-85FE-6335A75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1053B-2981-457D-A031-BDC28B7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D4FC-4810-43CA-A3E8-ECE1C67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B4C82-7674-4375-AB8C-76BA089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E238-9184-4F78-8C91-95C4EB3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32382-B95E-4BC0-AE45-9360A91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07FF-ADA3-41DB-A6E3-1A832A4D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DAE89-5659-4746-8638-4BAC289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878A-2624-490C-9280-C75B5870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903E-84C9-4588-9A81-3D172D03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F03-981B-4AF9-9317-A260E81D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7DF7A-E298-4F86-9FB4-F7EB591B2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61EA5-C53E-4D1D-9DA6-6980C2C8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D73E-4725-439B-81D9-6CC6D35F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53C6C-198D-4D8A-BDFE-4ABE760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864E-0BE5-4A67-AFEE-C7CBB4C1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15005-2D12-47F5-A223-B54CFD61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B8A30-37ED-4265-90FA-050BCF0B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430DB-3B48-48B2-BB27-BA118F93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7D31-1E45-49A5-B67F-A49716B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FA-D66B-416A-B875-B118A44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E3B5-EBAB-41C8-95E5-42B502EF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1160-4D0A-450A-AEAC-873B25383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1F5F-3B4A-4E5A-95CE-F2593C67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F900B-8C90-4189-AD87-D568CFD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610F-7D80-449F-9593-68E38A8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BA965-3EB1-426A-ACD9-867C4974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79F2-D994-495B-9DF9-B3077185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3096-1CF1-4CC3-BE96-655DBB5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3E6-6FC7-4806-8EB1-581D8EA6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3D38-77AD-4D0F-8BD8-181908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DF924-4E5C-450E-ADF0-3669051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B9E9-B4AE-494F-8748-C7E58EA2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A6BB-BC99-4875-A01C-3E62743D5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307B-1EA0-4787-ADD1-80D44AF3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D563-B43D-4183-B24F-0F7FDBAC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B724F1-7F43-5DC3-2F87-41D267CF3E9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AD91F9-1AC7-9340-930B-C01B6F76E71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Slide Number Placeholder 3">
            <a:extLst>
              <a:ext uri="{FF2B5EF4-FFF2-40B4-BE49-F238E27FC236}">
                <a16:creationId xmlns:a16="http://schemas.microsoft.com/office/drawing/2014/main" id="{3432EBA1-6D94-8FD1-B945-F05B3ADF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C7A3-B685-7C94-4342-E5A2F044D901}"/>
              </a:ext>
            </a:extLst>
          </p:cNvPr>
          <p:cNvSpPr txBox="1"/>
          <p:nvPr/>
        </p:nvSpPr>
        <p:spPr>
          <a:xfrm>
            <a:off x="1255589" y="867450"/>
            <a:ext cx="9680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High-throughput experiments elucidate the impact of multicomponent interactions on solute transport in complex feed streams.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810316-3F7C-6008-3659-2D662D36A0E6}"/>
              </a:ext>
            </a:extLst>
          </p:cNvPr>
          <p:cNvSpPr/>
          <p:nvPr/>
        </p:nvSpPr>
        <p:spPr>
          <a:xfrm>
            <a:off x="3805767" y="2928879"/>
            <a:ext cx="458046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C9999-31E1-6A2D-961E-596E955F9EEB}"/>
              </a:ext>
            </a:extLst>
          </p:cNvPr>
          <p:cNvSpPr txBox="1"/>
          <p:nvPr/>
        </p:nvSpPr>
        <p:spPr>
          <a:xfrm>
            <a:off x="2104485" y="3139014"/>
            <a:ext cx="7983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 Journal: Nature Water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B55B2-7974-F29B-3EFD-A4B171504FFF}"/>
              </a:ext>
            </a:extLst>
          </p:cNvPr>
          <p:cNvSpPr txBox="1"/>
          <p:nvPr/>
        </p:nvSpPr>
        <p:spPr>
          <a:xfrm>
            <a:off x="3048681" y="4956418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Experimental Results - 5/11/2024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362E9-E12F-714B-C95F-33D43898C948}"/>
              </a:ext>
            </a:extLst>
          </p:cNvPr>
          <p:cNvSpPr txBox="1"/>
          <p:nvPr/>
        </p:nvSpPr>
        <p:spPr>
          <a:xfrm>
            <a:off x="1378814" y="3820726"/>
            <a:ext cx="9434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Laurianne Estrada, Jonathan A. Ouimet,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Zhicheng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Lu, Molly Dougher, Shammah </a:t>
            </a:r>
            <a:r>
              <a:rPr lang="en-US" sz="24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Lilonfe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Alexander Dowling, William Phillip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BB67-761D-7467-2DA8-89A84674C580}"/>
              </a:ext>
            </a:extLst>
          </p:cNvPr>
          <p:cNvSpPr txBox="1"/>
          <p:nvPr/>
        </p:nvSpPr>
        <p:spPr>
          <a:xfrm>
            <a:off x="3048681" y="207219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Overarching Questions/Goals for Today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F7442-1165-80F2-09DB-19345482E877}"/>
              </a:ext>
            </a:extLst>
          </p:cNvPr>
          <p:cNvSpPr txBox="1"/>
          <p:nvPr/>
        </p:nvSpPr>
        <p:spPr>
          <a:xfrm>
            <a:off x="641156" y="1661096"/>
            <a:ext cx="109096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Reminder to experiments available. 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data is being collected throughout the course of these experiments?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is this data analyzed to constrain the conductivity readings and monitor the concentration of ions in the feed and permeate? 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Modeling efforts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Single component – Planning/discussion/timeline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Multicomponent systems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Concentration polarization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Transport in membranes with Donnan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Experiments will focus on Na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| Ca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2+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| La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3+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separations due to there importance in refining ores and recycling electronics. 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7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BB67-761D-7467-2DA8-89A84674C58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Diafiltration Experiments are Run in a Modified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tirred Cell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pparatus.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D24617-508C-4D21-35A3-00458C9E81B0}"/>
              </a:ext>
            </a:extLst>
          </p:cNvPr>
          <p:cNvGrpSpPr/>
          <p:nvPr/>
        </p:nvGrpSpPr>
        <p:grpSpPr>
          <a:xfrm>
            <a:off x="544650" y="1021140"/>
            <a:ext cx="11102699" cy="4192227"/>
            <a:chOff x="351046" y="691993"/>
            <a:chExt cx="11520630" cy="4350032"/>
          </a:xfrm>
        </p:grpSpPr>
        <p:pic>
          <p:nvPicPr>
            <p:cNvPr id="5" name="Picture 4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0DBA090F-07FD-DE90-EA6D-0CDBDE161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B6093E-2793-5670-C4CB-1DD400EECC08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C966856-465D-1740-800B-A4575BEAE650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0B72C63-10DD-F793-B058-7F4C0AB460FB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CD3DBBC7-25FD-D878-FA01-992EE0709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CA6E39-F7D8-3704-7952-57A7B9F2614B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Membrane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E8FEF1-7C84-C366-697E-82ACC3C300FF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Retentate Probe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B30425-45C6-952C-DCC9-5D74F8D0622C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A897F2-942F-6409-492D-31AB23B57B19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5F9D89-8CD2-661C-E9C0-75DA2E7126EE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Permeate Probe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20105AB-44B2-7666-B1F4-B4B67D647207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 descr="A drawing of a machine&#10;&#10;Description automatically generated">
              <a:extLst>
                <a:ext uri="{FF2B5EF4-FFF2-40B4-BE49-F238E27FC236}">
                  <a16:creationId xmlns:a16="http://schemas.microsoft.com/office/drawing/2014/main" id="{E152B00D-21AF-0C3D-CD67-195122938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39A00E-D228-1BAC-784F-3609659FC2F9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8464BA3-91D7-7B5F-14E5-B256A7A96BB5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Scintillation Vials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3F4350-1AEA-F1B3-50B9-1365AA7C37A6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Motor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138C4A-456E-B16C-FCB2-3B06288E3373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Balance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6B0E490-E68B-18E5-9350-82BB6075F057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A175CC-B36E-6766-5049-70A8338E0845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Pressure Gauge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E984A8F-C804-6FB0-9272-0C4494B53FCA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1163ACC-F22C-780B-72AF-B5F12373F4E9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5764C87-CF03-DFDA-EF6E-6FD8E529FBD8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F7CD551-BC31-981E-4A49-1978EB624A48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47D2B64-0237-45C3-92DE-254D76747905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A9A31F8-A332-C89B-AA58-B17F1B9642E7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E4D114C-6539-B55F-198C-0233970CB9E2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0E52BFD-8155-3734-5D18-FE626D85082E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E8DCC34-68D2-4A44-3759-5F430355AE66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A081CCF-6015-05D7-B1C5-346DE24C0E59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61C6717-22DA-30D7-686F-C60351DBA937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6628968-10CE-6AF1-EB1A-08BE011B00EB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BF88AAF-0714-82BE-7A23-264F7D8D2003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4052956-AFE0-0FE0-CBFD-4D195F90A96E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62EE3C2-B626-DFC7-F25B-061BE2E9A0AB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51A541A7-AF91-F98C-AE17-E2B9C83E7FFF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1FF839EF-0771-DD4D-3C30-34CA56B04005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9AB21A58-AD5E-224C-6F8E-42B2D7C09861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5FCB114A-0EFC-C4D7-A1DE-D6CB7B44ECBA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307AB801-8CC7-63EA-692F-751394E110B2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E319A4E-E7F9-2075-A92A-A0B54359FF0D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2E943BA-8E0E-A44F-CF5A-EF5A08A507DF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Diafiltrate Tank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EF54666-9D05-810A-BE7A-9DA9B35146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7D26C648-384B-8951-6AEB-4D3BDB1E5D42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E2974523-4C4D-E027-EAED-8A420F788854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F3BC0C0B-3BE3-A790-1870-79F11441F831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019CB72F-726A-272A-FA6B-76914A9C7437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F335E3-C7B3-66E9-AC40-23D505AE60F1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Pressure Relief Valve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4169BEA-2EC1-B923-48B2-59463C105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3718C76-94B5-2399-EFCA-F4B12F73C7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39A127F-6F95-7C96-7011-44CBF7C0CDDF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0AB03FC-6AA7-1310-3DC1-87AAC8ABB9D7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26F36FE-1976-3140-F62E-B9C827E34432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837A749-5AC3-1CA2-A3E9-9A66F44050B9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435D2BC-AEA4-00CD-D021-0ACFFE8DEFC8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F47BCE7-D122-DE31-2C20-FC5952BEBF2D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8A95C22-37D7-F9C8-0274-B73E6A24F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86976AD-13C1-3C0A-9BB5-5C75C5ED5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4AEA452-77FD-73C8-C14D-8ECE08F8A6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CFF86F-B388-FE34-7B6F-45A8C63019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4273EAC-ED7C-CB05-3606-23779B1102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42C71E1-4D0B-D2C8-B89F-E5FBBC380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83FE521-EC7A-0BBC-752A-A16666D53314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00A935B-F942-CDF3-2236-A707965A6AD4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B4D4D89-EBED-B9D2-1350-6B663A8F901E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3F0BCBB-3A24-A131-1846-934A6793198E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2F92570-BB1F-6036-CFFC-EE721AD73904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Stirred Cell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3A3904F-B769-2E09-F732-157052F29981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5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F2445C6-A87F-70AC-280C-BEECD3345ACE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Permeate Outlet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46F000-4BF2-6238-461A-2BDBD388C3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2D66A30-9676-067C-1530-519B116732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EB03E38-0B6A-DE0E-91FF-C10F2AFB7D13}"/>
              </a:ext>
            </a:extLst>
          </p:cNvPr>
          <p:cNvSpPr txBox="1"/>
          <p:nvPr/>
        </p:nvSpPr>
        <p:spPr>
          <a:xfrm>
            <a:off x="710926" y="5279548"/>
            <a:ext cx="9495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Multiple (two) salts are now placed within the feed and diafiltrate reservoirs.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Retentate and permeate conductivity data are obtained at 5 second intervals.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Scintillation vials are analyzed after the experiment (ICP-OES) to get ion specific concentrations. </a:t>
            </a:r>
            <a:endParaRPr lang="en-US" sz="1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BB67-761D-7467-2DA8-89A84674C58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RAW Excel Data will be Included in the Supplementary Information.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5AAAD1CF-A227-2BF4-8D33-F80690FE0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72" y="902450"/>
            <a:ext cx="6636091" cy="403880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F71118D-C602-FB20-EBB4-26175C59D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817" y="902450"/>
            <a:ext cx="3753043" cy="4026107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D6E2B8F-28E7-7B78-3883-4246C3EFC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973" y="1692036"/>
            <a:ext cx="10522491" cy="39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0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DE495D-546A-79B0-C34C-3338F0FC8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5774"/>
            <a:ext cx="5649796" cy="43251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3E58DD-6D6B-7AFD-0774-2B5C3C7A1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154" y="1666287"/>
            <a:ext cx="5649797" cy="43251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40ABEA-DC3D-C022-F95F-1E04C21E3B62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Analysis and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69ECA-E733-9160-3060-8A021303950F}"/>
              </a:ext>
            </a:extLst>
          </p:cNvPr>
          <p:cNvSpPr txBox="1"/>
          <p:nvPr/>
        </p:nvSpPr>
        <p:spPr>
          <a:xfrm>
            <a:off x="185986" y="1372359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Diafiltrate: 10 mM NaCl, 50 mM CaCl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9D8740-2477-5406-4C19-D74EB04FAD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153" y="1666800"/>
            <a:ext cx="5649797" cy="4325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449477-D719-C1B4-81E0-1174EBD5E0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66800"/>
            <a:ext cx="5649796" cy="43251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125DAF-C513-09F2-E62B-6F432A8B3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8699" y="2195693"/>
            <a:ext cx="3685372" cy="31946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38436C-29BB-A22B-CB36-A773058249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666800"/>
            <a:ext cx="5649796" cy="432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8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164E-B1CA-C5D6-5BCF-C5298DBB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7C47BB-D5D4-5855-3CE3-13415477498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D1515-8D55-092C-5685-E335CA4BDB9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FEE5FB-EA18-FD52-7F58-D533478B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193684-5226-5971-43D8-8981018C7079}"/>
              </a:ext>
            </a:extLst>
          </p:cNvPr>
          <p:cNvSpPr txBox="1"/>
          <p:nvPr/>
        </p:nvSpPr>
        <p:spPr>
          <a:xfrm>
            <a:off x="484716" y="1101173"/>
            <a:ext cx="112225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Single Salt Experiments - Running these will mirror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Xinhong’s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work for the “Permeate Probe” and “NF270” Manuscripts.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Who in the Dowling lab is running these to regress variables?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 we have a code that is functional for single component data analysis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That simultaneously regresses parameters using (1) retentate and permeate conductivity probes, (2) ICP data, (3) mass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timeline to get the single salt experiments rigorously analyzed through the codes?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Regression of H, D,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identification of which salts possess concentration dependent parameters?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Let’s email to set up a meeting offline.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Multicomponent Experiments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Analysis was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by my derivation of multicomponent equations.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2EC67-8BCF-6D14-1AB2-A5D45B8A703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 Items/Discussion</a:t>
            </a:r>
          </a:p>
        </p:txBody>
      </p:sp>
    </p:spTree>
    <p:extLst>
      <p:ext uri="{BB962C8B-B14F-4D97-AF65-F5344CB8AC3E}">
        <p14:creationId xmlns:p14="http://schemas.microsoft.com/office/powerpoint/2010/main" val="374321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D98A0-FEF7-D2AD-6A4D-540C50BC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9F2D11F-95F6-AA5C-AA23-F5E368C914E2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87322F-0F7E-86CB-B7F7-338911157B34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7DA59AB-1E67-CF66-77C9-2D98A560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8517FE-7391-D149-0A92-0CD7D1C2F53B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Request/Need: Everything needs to be in BOX for me to follow along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4A2608-727B-1790-0601-ABF845DFE899}"/>
              </a:ext>
            </a:extLst>
          </p:cNvPr>
          <p:cNvGrpSpPr/>
          <p:nvPr/>
        </p:nvGrpSpPr>
        <p:grpSpPr>
          <a:xfrm>
            <a:off x="280935" y="2289730"/>
            <a:ext cx="7163276" cy="4072733"/>
            <a:chOff x="280935" y="2289730"/>
            <a:chExt cx="7163276" cy="40727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0403812-1049-0641-37E0-D1AFC0B14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0935" y="2289730"/>
              <a:ext cx="7163276" cy="407273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F2F8EB5-A9AA-DD03-ECEC-980F565D73B7}"/>
                </a:ext>
              </a:extLst>
            </p:cNvPr>
            <p:cNvSpPr/>
            <p:nvPr/>
          </p:nvSpPr>
          <p:spPr>
            <a:xfrm>
              <a:off x="1450534" y="3671867"/>
              <a:ext cx="4688606" cy="271168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0F6EE1D-F68D-B3B1-F07D-564A75C92F3F}"/>
              </a:ext>
            </a:extLst>
          </p:cNvPr>
          <p:cNvSpPr txBox="1"/>
          <p:nvPr/>
        </p:nvSpPr>
        <p:spPr>
          <a:xfrm>
            <a:off x="280935" y="976523"/>
            <a:ext cx="109096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 28 experiments have been conducted to characterize multicomponent effects.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Salt Experiments: 13 Experiments (7 NaCl, 4 CaCl2,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LaCl3)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Two Salt Experiments: 15 Experiments</a:t>
            </a:r>
            <a:endParaRPr lang="en-US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858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DA9E-7F19-9B30-F6FB-A2309B761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684E3B-F555-8405-7255-A6D6CED2BE8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4F478-618F-8F06-B291-FD1E4836732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6552B66-8093-3A69-B0A6-4DF9E050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33CD0-D4B9-3E91-AD51-080C35AB6C75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Physical picture of modeling efforts.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3119E0-FD3C-E073-90F8-EEDEC5BADCA5}"/>
              </a:ext>
            </a:extLst>
          </p:cNvPr>
          <p:cNvSpPr/>
          <p:nvPr/>
        </p:nvSpPr>
        <p:spPr>
          <a:xfrm>
            <a:off x="2502246" y="1866704"/>
            <a:ext cx="1938867" cy="3335867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938565-C863-1953-6D24-120B17EA93B0}"/>
              </a:ext>
            </a:extLst>
          </p:cNvPr>
          <p:cNvCxnSpPr>
            <a:cxnSpLocks/>
          </p:cNvCxnSpPr>
          <p:nvPr/>
        </p:nvCxnSpPr>
        <p:spPr>
          <a:xfrm>
            <a:off x="485028" y="3336086"/>
            <a:ext cx="822619" cy="8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61CD6936-28C8-7940-133A-20022042DB41}"/>
              </a:ext>
            </a:extLst>
          </p:cNvPr>
          <p:cNvSpPr/>
          <p:nvPr/>
        </p:nvSpPr>
        <p:spPr>
          <a:xfrm rot="5400000">
            <a:off x="987968" y="1821811"/>
            <a:ext cx="638355" cy="2390194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2301CB-B756-9494-3C72-12ADC3AA8B96}"/>
              </a:ext>
            </a:extLst>
          </p:cNvPr>
          <p:cNvCxnSpPr>
            <a:cxnSpLocks/>
          </p:cNvCxnSpPr>
          <p:nvPr/>
        </p:nvCxnSpPr>
        <p:spPr>
          <a:xfrm>
            <a:off x="2502244" y="3429000"/>
            <a:ext cx="1938869" cy="60092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742C83-AAB2-29D2-C742-B0839F9C29F7}"/>
              </a:ext>
            </a:extLst>
          </p:cNvPr>
          <p:cNvCxnSpPr/>
          <p:nvPr/>
        </p:nvCxnSpPr>
        <p:spPr>
          <a:xfrm>
            <a:off x="4441113" y="3748177"/>
            <a:ext cx="14923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3C9BBC4-5BC4-2DE0-62C4-EB2A95124B9C}"/>
              </a:ext>
            </a:extLst>
          </p:cNvPr>
          <p:cNvSpPr txBox="1"/>
          <p:nvPr/>
        </p:nvSpPr>
        <p:spPr>
          <a:xfrm>
            <a:off x="2709259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Membrane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E369BF-89B5-21DC-A9F6-86DD205EEE52}"/>
              </a:ext>
            </a:extLst>
          </p:cNvPr>
          <p:cNvSpPr txBox="1"/>
          <p:nvPr/>
        </p:nvSpPr>
        <p:spPr>
          <a:xfrm>
            <a:off x="561462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06B487-A1D3-9BF4-71AB-FB4D182BE7ED}"/>
              </a:ext>
            </a:extLst>
          </p:cNvPr>
          <p:cNvSpPr txBox="1"/>
          <p:nvPr/>
        </p:nvSpPr>
        <p:spPr>
          <a:xfrm>
            <a:off x="4775499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Permeate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1E2B58-C96A-EB4E-596F-C872710F87EF}"/>
              </a:ext>
            </a:extLst>
          </p:cNvPr>
          <p:cNvSpPr txBox="1"/>
          <p:nvPr/>
        </p:nvSpPr>
        <p:spPr>
          <a:xfrm>
            <a:off x="340806" y="1714596"/>
            <a:ext cx="180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Concentration Polarization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414D88-1AD3-B14A-17FE-3B3CA80DEF14}"/>
              </a:ext>
            </a:extLst>
          </p:cNvPr>
          <p:cNvCxnSpPr>
            <a:cxnSpLocks/>
          </p:cNvCxnSpPr>
          <p:nvPr/>
        </p:nvCxnSpPr>
        <p:spPr>
          <a:xfrm>
            <a:off x="1820053" y="2381291"/>
            <a:ext cx="266246" cy="638356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76BAE6-52BF-BA3A-6C26-6238BD3DCD89}"/>
              </a:ext>
            </a:extLst>
          </p:cNvPr>
          <p:cNvSpPr txBox="1"/>
          <p:nvPr/>
        </p:nvSpPr>
        <p:spPr>
          <a:xfrm>
            <a:off x="2502243" y="1083336"/>
            <a:ext cx="1806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Partitioning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BA0C390-48BE-26EF-69C2-E579CA150B88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2595174" y="1421890"/>
            <a:ext cx="810177" cy="1689794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D74773-1841-B8EB-19D8-687038219159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405351" y="1421890"/>
            <a:ext cx="903107" cy="2007110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4CC107B-18D4-B0D0-5696-3391368D694F}"/>
              </a:ext>
            </a:extLst>
          </p:cNvPr>
          <p:cNvSpPr/>
          <p:nvPr/>
        </p:nvSpPr>
        <p:spPr>
          <a:xfrm>
            <a:off x="2502246" y="4194542"/>
            <a:ext cx="1938867" cy="7967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93E4AC-2669-A166-8A5F-F7C297D311BB}"/>
              </a:ext>
            </a:extLst>
          </p:cNvPr>
          <p:cNvSpPr txBox="1"/>
          <p:nvPr/>
        </p:nvSpPr>
        <p:spPr>
          <a:xfrm>
            <a:off x="2345015" y="4194542"/>
            <a:ext cx="2253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Membrane Transport/Diffusion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6DE12-6155-DC6F-7DA2-2F0A1AC5E192}"/>
              </a:ext>
            </a:extLst>
          </p:cNvPr>
          <p:cNvCxnSpPr>
            <a:cxnSpLocks/>
          </p:cNvCxnSpPr>
          <p:nvPr/>
        </p:nvCxnSpPr>
        <p:spPr>
          <a:xfrm flipH="1">
            <a:off x="2615035" y="4877994"/>
            <a:ext cx="1713284" cy="0"/>
          </a:xfrm>
          <a:prstGeom prst="line">
            <a:avLst/>
          </a:prstGeom>
          <a:ln w="28575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1876AA-E239-DD78-C87A-D1B9D0B4A2EF}"/>
                  </a:ext>
                </a:extLst>
              </p:cNvPr>
              <p:cNvSpPr txBox="1"/>
              <p:nvPr/>
            </p:nvSpPr>
            <p:spPr>
              <a:xfrm>
                <a:off x="6758609" y="930804"/>
                <a:ext cx="5160845" cy="5040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Concentration polarization 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Nernst Plank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Solute Partitioning</a:t>
                </a:r>
              </a:p>
              <a:p>
                <a:r>
                  <a:rPr lang="en-US" sz="1600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NF270 Manuscript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int</m:t>
                          </m:r>
                        </m:sup>
                      </m:sSubSup>
                    </m:oMath>
                  </m:oMathPara>
                </a14:m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… relate to Donnan equilibrium (or similar model)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int</m:t>
                              </m:r>
                            </m:sup>
                          </m:sSubSup>
                        </m:den>
                      </m:f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m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∝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n</m:t>
                          </m:r>
                        </m:sup>
                      </m:sSup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int</m:t>
                              </m:r>
                            </m:sup>
                          </m:sSubSup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χ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Membrane Transport/Diffusion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Nernst Plank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χ</m:t>
                      </m:r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91876AA-E239-DD78-C87A-D1B9D0B4A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09" y="930804"/>
                <a:ext cx="5160845" cy="5040098"/>
              </a:xfrm>
              <a:prstGeom prst="rect">
                <a:avLst/>
              </a:prstGeom>
              <a:blipFill>
                <a:blip r:embed="rId3"/>
                <a:stretch>
                  <a:fillRect l="-709" t="-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EEDD5D-CCCE-515F-2EA1-A7263FFA13E7}"/>
                  </a:ext>
                </a:extLst>
              </p:cNvPr>
              <p:cNvSpPr txBox="1"/>
              <p:nvPr/>
            </p:nvSpPr>
            <p:spPr>
              <a:xfrm>
                <a:off x="824927" y="5792299"/>
                <a:ext cx="5160845" cy="39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𝑓𝑒𝑒𝑑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𝑚𝑒𝑚𝑏𝑟𝑎𝑛𝑒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permeate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3EEDD5D-CCCE-515F-2EA1-A7263FFA1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27" y="5792299"/>
                <a:ext cx="5160845" cy="397545"/>
              </a:xfrm>
              <a:prstGeom prst="rect">
                <a:avLst/>
              </a:prstGeom>
              <a:blipFill>
                <a:blip r:embed="rId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816517D4-A5B0-1514-DE6D-1BF3467BDF64}"/>
              </a:ext>
            </a:extLst>
          </p:cNvPr>
          <p:cNvSpPr/>
          <p:nvPr/>
        </p:nvSpPr>
        <p:spPr>
          <a:xfrm>
            <a:off x="6754975" y="930804"/>
            <a:ext cx="5160845" cy="1551992"/>
          </a:xfrm>
          <a:prstGeom prst="rect">
            <a:avLst/>
          </a:prstGeom>
          <a:solidFill>
            <a:schemeClr val="accent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1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76DC-E134-94E9-EDC3-8F55BDA8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F7E696-11EF-47B6-DB9E-93627E7E730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D7AE34-1E38-D708-8AB6-45B8B50E43EF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EC4E1F3-953F-5A99-BB71-C1357385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7B980-CD73-2DBF-E7B1-4FF3860D262C}"/>
              </a:ext>
            </a:extLst>
          </p:cNvPr>
          <p:cNvSpPr txBox="1"/>
          <p:nvPr/>
        </p:nvSpPr>
        <p:spPr>
          <a:xfrm>
            <a:off x="0" y="192140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Equations for the flux of species in solution.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Derived from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Nernst-Plank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quation, 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 species in solution.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7D73C3-1D3A-C5EA-5D62-75D23D121886}"/>
                  </a:ext>
                </a:extLst>
              </p:cNvPr>
              <p:cNvSpPr txBox="1"/>
              <p:nvPr/>
            </p:nvSpPr>
            <p:spPr>
              <a:xfrm>
                <a:off x="1675009" y="1294919"/>
                <a:ext cx="4086684" cy="4820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Nernst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Plank Equation.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=0= </m:t>
                      </m:r>
                      <m:nary>
                        <m:naryPr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dr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 →</m:t>
                    </m:r>
                    <m:r>
                      <a:rPr lang="en-US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𝑐𝑎𝑡𝑖𝑜𝑛</m:t>
                    </m:r>
                  </m:oMath>
                </a14:m>
                <a:r>
                  <a:rPr lang="en-US" b="0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3 →</m:t>
                    </m:r>
                    <m:r>
                      <a:rPr lang="en-US" b="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𝑎𝑛𝑖𝑜𝑛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…Solving provides an equation for the flux of ions.</a:t>
                </a: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d>
                        <m:d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b="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b="0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b="0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7D73C3-1D3A-C5EA-5D62-75D23D121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09" y="1294919"/>
                <a:ext cx="4086684" cy="4820166"/>
              </a:xfrm>
              <a:prstGeom prst="rect">
                <a:avLst/>
              </a:prstGeom>
              <a:blipFill>
                <a:blip r:embed="rId3"/>
                <a:stretch>
                  <a:fillRect l="-1343" t="-632" r="-2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C1EC4A-32DD-B72B-52F0-9855294FC23D}"/>
                  </a:ext>
                </a:extLst>
              </p:cNvPr>
              <p:cNvSpPr txBox="1"/>
              <p:nvPr/>
            </p:nvSpPr>
            <p:spPr>
              <a:xfrm>
                <a:off x="6516788" y="1294919"/>
                <a:ext cx="4187623" cy="4779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Concentration Polarization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</m:oMath>
                  </m:oMathPara>
                </a14:m>
                <a:endParaRPr lang="en-US" sz="18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8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8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18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b="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n-US" sz="1800" b="0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800" b="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b="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800" b="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8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8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Analytical Solution.</a:t>
                </a:r>
                <a:endParaRPr lang="en-US" sz="18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solidFill>
                    <a:schemeClr val="tx1"/>
                  </a:solidFill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J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w</m:t>
                                      </m:r>
                                      <m: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800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800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800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800" b="0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8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J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w</m:t>
                                      </m:r>
                                      <m:r>
                                        <a:rPr lang="en-US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kern="100" smtClean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8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</m:t>
                              </m:r>
                              <m: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sz="18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  <m: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sz="18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  <m:r>
                                <a:rPr lang="en-US" sz="180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=0.23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0.57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0.67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0.24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0.43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C1EC4A-32DD-B72B-52F0-9855294F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788" y="1294919"/>
                <a:ext cx="4187623" cy="4779129"/>
              </a:xfrm>
              <a:prstGeom prst="rect">
                <a:avLst/>
              </a:prstGeom>
              <a:blipFill>
                <a:blip r:embed="rId4"/>
                <a:stretch>
                  <a:fillRect l="-1164" t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201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D694-ADE9-92FD-E9F3-95C3944F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B99A5C-E3A4-7D51-C4DD-A108C0990092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3B710-A561-C051-9F5A-1D8DD95694E0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AAEBE24-3BF8-C66A-E706-0A2CF7FF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177C1-AC84-9965-7CCC-F7AEA98D4B6A}"/>
              </a:ext>
            </a:extLst>
          </p:cNvPr>
          <p:cNvSpPr txBox="1"/>
          <p:nvPr/>
        </p:nvSpPr>
        <p:spPr>
          <a:xfrm>
            <a:off x="0" y="192140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Equations for the flux of species in solution.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Derived from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Nernst-Plank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quation, three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species in solution.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650E7C-DE25-8C57-4886-35144CAC10CF}"/>
                  </a:ext>
                </a:extLst>
              </p:cNvPr>
              <p:cNvSpPr txBox="1"/>
              <p:nvPr/>
            </p:nvSpPr>
            <p:spPr>
              <a:xfrm>
                <a:off x="410915" y="1580879"/>
                <a:ext cx="6029853" cy="3120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Nernst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Plank Equation.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=0= </m:t>
                      </m:r>
                      <m:nary>
                        <m:naryPr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dr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1, 2→</m:t>
                    </m:r>
                    <m:r>
                      <m:rPr>
                        <m:sty m:val="p"/>
                      </m:rP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cation</m:t>
                    </m:r>
                  </m:oMath>
                </a14:m>
                <a:r>
                  <a:rPr lang="en-US" b="0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3 →</m:t>
                    </m:r>
                    <m:r>
                      <m:rPr>
                        <m:sty m:val="p"/>
                      </m:rP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anion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650E7C-DE25-8C57-4886-35144CAC1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15" y="1580879"/>
                <a:ext cx="6029853" cy="3120598"/>
              </a:xfrm>
              <a:prstGeom prst="rect">
                <a:avLst/>
              </a:prstGeom>
              <a:blipFill>
                <a:blip r:embed="rId3"/>
                <a:stretch>
                  <a:fillRect l="-808" t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953FF9E-32E1-A70D-B92E-4243DEC99F35}"/>
              </a:ext>
            </a:extLst>
          </p:cNvPr>
          <p:cNvSpPr txBox="1"/>
          <p:nvPr/>
        </p:nvSpPr>
        <p:spPr>
          <a:xfrm>
            <a:off x="6873859" y="6116092"/>
            <a:ext cx="4859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cautious about negative and positive signs. Please check derivation to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ensure accuracy. 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E36610-496B-A109-459A-849562969284}"/>
                  </a:ext>
                </a:extLst>
              </p:cNvPr>
              <p:cNvSpPr txBox="1"/>
              <p:nvPr/>
            </p:nvSpPr>
            <p:spPr>
              <a:xfrm>
                <a:off x="6043051" y="1580879"/>
                <a:ext cx="6029853" cy="2799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…Solving provides an equation for the flux of ions.</a:t>
                </a: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2 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i="1" kern="10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E36610-496B-A109-459A-849562969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051" y="1580879"/>
                <a:ext cx="6029853" cy="2799228"/>
              </a:xfrm>
              <a:prstGeom prst="rect">
                <a:avLst/>
              </a:prstGeom>
              <a:blipFill>
                <a:blip r:embed="rId4"/>
                <a:stretch>
                  <a:fillRect l="-809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481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9625-7272-6212-5B1E-B3DB23D9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3D1AD9-4706-8483-F4C1-C2605DF13531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45885-FDD6-882E-F01D-3777F84B6EC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3746F96-EF78-06FA-20EE-DC47611D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ECF79-56F4-6DD7-912B-44053F941550}"/>
              </a:ext>
            </a:extLst>
          </p:cNvPr>
          <p:cNvSpPr txBox="1"/>
          <p:nvPr/>
        </p:nvSpPr>
        <p:spPr>
          <a:xfrm>
            <a:off x="0" y="192140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Equations for the flux of species in solution.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Derived from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Nernst-Plank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quation, three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species in solution.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9963ED-2966-5BDE-8717-2F117B80CFFB}"/>
                  </a:ext>
                </a:extLst>
              </p:cNvPr>
              <p:cNvSpPr txBox="1"/>
              <p:nvPr/>
            </p:nvSpPr>
            <p:spPr>
              <a:xfrm>
                <a:off x="243386" y="1199856"/>
                <a:ext cx="6172199" cy="5220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Concentration Polarization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Solve using matrix algebra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w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p</m:t>
                                    </m:r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,1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w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p</m:t>
                                    </m:r>
                                    <m:r>
                                      <a:rPr lang="en-US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,2</m:t>
                                    </m:r>
                                  </m:sub>
                                </m:s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∇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Known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Volumetric water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w</m:t>
                        </m:r>
                      </m:sub>
                    </m:sSub>
                  </m:oMath>
                </a14:m>
                <a:endParaRPr lang="en-US" b="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Bulk retentate and permeate concentrations: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  <m: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,1</m:t>
                        </m:r>
                      </m:sub>
                    </m:sSub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  <m: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,2</m:t>
                        </m:r>
                      </m:sub>
                    </m:sSub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p</m:t>
                        </m:r>
                        <m: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,1</m:t>
                        </m:r>
                      </m:sub>
                    </m:sSub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p</m:t>
                        </m:r>
                        <m: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,2</m:t>
                        </m:r>
                      </m:sub>
                    </m:sSub>
                  </m:oMath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Unknown Variables: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Boundary layer thickness: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δ</m:t>
                    </m:r>
                  </m:oMath>
                </a14:m>
                <a:endParaRPr lang="en-US" b="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Interface concentrations: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,1</m:t>
                        </m:r>
                      </m:sub>
                    </m:sSub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, </m:t>
                    </m:r>
                    <m:sSub>
                      <m:sSubPr>
                        <m:ctrlPr>
                          <a:rPr lang="en-US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i</m:t>
                        </m:r>
                        <m:r>
                          <a:rPr lang="en-US" b="0" i="0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,2</m:t>
                        </m:r>
                      </m:sub>
                    </m:sSub>
                  </m:oMath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9963ED-2966-5BDE-8717-2F117B80C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86" y="1199856"/>
                <a:ext cx="6172199" cy="5220403"/>
              </a:xfrm>
              <a:prstGeom prst="rect">
                <a:avLst/>
              </a:prstGeom>
              <a:blipFill>
                <a:blip r:embed="rId3"/>
                <a:stretch>
                  <a:fillRect l="-889" t="-701" b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74B6712-9828-1A19-9D7D-987BA0D0D3EC}"/>
              </a:ext>
            </a:extLst>
          </p:cNvPr>
          <p:cNvSpPr txBox="1"/>
          <p:nvPr/>
        </p:nvSpPr>
        <p:spPr>
          <a:xfrm>
            <a:off x="6873859" y="6116092"/>
            <a:ext cx="4859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cautious about negative and positive signs. Please check derivation to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ensure accuracy. 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BD2390-C576-4954-11BB-24E42BAFE110}"/>
                  </a:ext>
                </a:extLst>
              </p:cNvPr>
              <p:cNvSpPr txBox="1"/>
              <p:nvPr/>
            </p:nvSpPr>
            <p:spPr>
              <a:xfrm>
                <a:off x="6415585" y="1199856"/>
                <a:ext cx="5689601" cy="2314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No analytical solution exists.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Estimate bound by single species estimates (additional variable)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Select an average of the single species boundary layer</a:t>
                </a: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k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=0.23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v</m:t>
                                      </m:r>
                                    </m:e>
                                    <m:sup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0.57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0.67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0.24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0.43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BD2390-C576-4954-11BB-24E42BAFE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5585" y="1199856"/>
                <a:ext cx="5689601" cy="2314160"/>
              </a:xfrm>
              <a:prstGeom prst="rect">
                <a:avLst/>
              </a:prstGeom>
              <a:blipFill>
                <a:blip r:embed="rId4"/>
                <a:stretch>
                  <a:fillRect l="-857" t="-1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FCC8C14-D02E-085B-F256-84499BE51C2B}"/>
              </a:ext>
            </a:extLst>
          </p:cNvPr>
          <p:cNvSpPr txBox="1"/>
          <p:nvPr/>
        </p:nvSpPr>
        <p:spPr>
          <a:xfrm>
            <a:off x="6415584" y="3965686"/>
            <a:ext cx="568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 We can solve the differential equations with the initial conditions. </a:t>
            </a:r>
          </a:p>
        </p:txBody>
      </p:sp>
    </p:spTree>
    <p:extLst>
      <p:ext uri="{BB962C8B-B14F-4D97-AF65-F5344CB8AC3E}">
        <p14:creationId xmlns:p14="http://schemas.microsoft.com/office/powerpoint/2010/main" val="23794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0A258-2B06-B218-3834-F9A950F1F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B7C4A5-9A86-C9F2-5122-08C76AF5A362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1A230-8206-CBC6-345E-BF03B663D816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A5B74ED-8708-6271-0894-48475742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58913-AFAF-D9FF-643E-2977258F6255}"/>
              </a:ext>
            </a:extLst>
          </p:cNvPr>
          <p:cNvSpPr txBox="1"/>
          <p:nvPr/>
        </p:nvSpPr>
        <p:spPr>
          <a:xfrm>
            <a:off x="0" y="192140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Equations for the flux of species in solution. </a:t>
            </a: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Derived from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Nernst-Plank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quation, three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species in solution.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52CAEC-FC7A-1AD8-DCBB-F058EECFA5A4}"/>
                  </a:ext>
                </a:extLst>
              </p:cNvPr>
              <p:cNvSpPr txBox="1"/>
              <p:nvPr/>
            </p:nvSpPr>
            <p:spPr>
              <a:xfrm>
                <a:off x="311119" y="1317924"/>
                <a:ext cx="5861081" cy="3339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Within one of the diafiltration experiments: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w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=1.5 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−6</m:t>
                        </m:r>
                      </m:sup>
                    </m:sSup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</m:t>
                        </m:r>
                      </m:den>
                    </m:f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NaCl</m:t>
                        </m:r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b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=16.8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mM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Na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Cl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p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14.3 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mM</m:t>
                    </m:r>
                  </m:oMath>
                </a14:m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CaC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 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b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=10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mM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CaC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p</m:t>
                        </m:r>
                      </m:sub>
                    </m:sSub>
                    <m:r>
                      <a:rPr lang="en-US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mM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** Solve the differential equations with respect to position.</a:t>
                </a:r>
              </a:p>
              <a:p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does not give us an interface concentration, we arbitrarily chose a boundary layer thickness of 100 µm</a:t>
                </a:r>
                <a:endParaRPr lang="en-US" kern="100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52CAEC-FC7A-1AD8-DCBB-F058EECFA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19" y="1317924"/>
                <a:ext cx="5861081" cy="3339376"/>
              </a:xfrm>
              <a:prstGeom prst="rect">
                <a:avLst/>
              </a:prstGeom>
              <a:blipFill>
                <a:blip r:embed="rId3"/>
                <a:stretch>
                  <a:fillRect l="-832" t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661015-42FB-C270-0D0D-B65EA7A47114}"/>
                  </a:ext>
                </a:extLst>
              </p:cNvPr>
              <p:cNvSpPr txBox="1"/>
              <p:nvPr/>
            </p:nvSpPr>
            <p:spPr>
              <a:xfrm>
                <a:off x="311119" y="4657300"/>
                <a:ext cx="5784881" cy="1483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 boundary layer thickness using the diffusion coefficient of each ion in solution. </a:t>
                </a:r>
              </a:p>
              <a:p>
                <a:endParaRPr lang="en-US" b="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k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δ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=0.23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v</m:t>
                                      </m:r>
                                    </m:e>
                                    <m:sup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0.57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0.67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0.24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0.43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𝛿</m:t>
                      </m:r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k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D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661015-42FB-C270-0D0D-B65EA7A47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19" y="4657300"/>
                <a:ext cx="5784881" cy="1483098"/>
              </a:xfrm>
              <a:prstGeom prst="rect">
                <a:avLst/>
              </a:prstGeom>
              <a:blipFill>
                <a:blip r:embed="rId4"/>
                <a:stretch>
                  <a:fillRect l="-843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5D8892FE-9129-FBC7-5E4D-4F65D8851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46175"/>
            <a:ext cx="6087533" cy="4565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2C62FC-AB91-76CE-F067-108B3B16FF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146176"/>
            <a:ext cx="6087532" cy="456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6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F39E-63A2-3267-4FD6-4C314D31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7392EF-862A-8F6B-A1DC-4EDC7EB2FB95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470470-F8C2-8BCF-7598-E6549AAF3A9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040548-1055-3DA6-B855-AAE0CFED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13EDB-1F10-8253-3ECE-0FB3DEACBA20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Physical picture of modeling efforts.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CEF05-8741-9B29-212A-964C6FD34F1B}"/>
              </a:ext>
            </a:extLst>
          </p:cNvPr>
          <p:cNvSpPr/>
          <p:nvPr/>
        </p:nvSpPr>
        <p:spPr>
          <a:xfrm>
            <a:off x="2502246" y="1866704"/>
            <a:ext cx="1938867" cy="3335867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BEC83-1BB4-BF24-9A91-E8129BDDCAD7}"/>
              </a:ext>
            </a:extLst>
          </p:cNvPr>
          <p:cNvCxnSpPr>
            <a:cxnSpLocks/>
          </p:cNvCxnSpPr>
          <p:nvPr/>
        </p:nvCxnSpPr>
        <p:spPr>
          <a:xfrm>
            <a:off x="485028" y="3336086"/>
            <a:ext cx="822619" cy="8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BD619605-457B-0A77-BA8D-0D325617D1BF}"/>
              </a:ext>
            </a:extLst>
          </p:cNvPr>
          <p:cNvSpPr/>
          <p:nvPr/>
        </p:nvSpPr>
        <p:spPr>
          <a:xfrm rot="5400000">
            <a:off x="987968" y="1821811"/>
            <a:ext cx="638355" cy="2390194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5338ED-47C2-3C65-C97D-98606BFA8EAD}"/>
              </a:ext>
            </a:extLst>
          </p:cNvPr>
          <p:cNvCxnSpPr>
            <a:cxnSpLocks/>
          </p:cNvCxnSpPr>
          <p:nvPr/>
        </p:nvCxnSpPr>
        <p:spPr>
          <a:xfrm>
            <a:off x="2502244" y="3429000"/>
            <a:ext cx="1938869" cy="60092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C86134-24AE-CF25-FEC1-E6123DF95F92}"/>
              </a:ext>
            </a:extLst>
          </p:cNvPr>
          <p:cNvCxnSpPr/>
          <p:nvPr/>
        </p:nvCxnSpPr>
        <p:spPr>
          <a:xfrm>
            <a:off x="4441113" y="3748177"/>
            <a:ext cx="14923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240181-BA33-29CE-0AF1-59A21E087AAF}"/>
              </a:ext>
            </a:extLst>
          </p:cNvPr>
          <p:cNvSpPr txBox="1"/>
          <p:nvPr/>
        </p:nvSpPr>
        <p:spPr>
          <a:xfrm>
            <a:off x="2709259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Membrane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CEBAF0-B88B-7A11-4EF7-CCE6BDD6F195}"/>
              </a:ext>
            </a:extLst>
          </p:cNvPr>
          <p:cNvSpPr txBox="1"/>
          <p:nvPr/>
        </p:nvSpPr>
        <p:spPr>
          <a:xfrm>
            <a:off x="561462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BBAE19-5347-CDEB-C590-39C246632297}"/>
              </a:ext>
            </a:extLst>
          </p:cNvPr>
          <p:cNvSpPr txBox="1"/>
          <p:nvPr/>
        </p:nvSpPr>
        <p:spPr>
          <a:xfrm>
            <a:off x="4775499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Permeate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D5EA90-ED1B-4A50-5264-32EEAE1F417D}"/>
              </a:ext>
            </a:extLst>
          </p:cNvPr>
          <p:cNvSpPr txBox="1"/>
          <p:nvPr/>
        </p:nvSpPr>
        <p:spPr>
          <a:xfrm>
            <a:off x="340806" y="1714596"/>
            <a:ext cx="180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Concentration Polarization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2B74AB-9FBC-880F-3350-5AA0E69D81C8}"/>
              </a:ext>
            </a:extLst>
          </p:cNvPr>
          <p:cNvCxnSpPr>
            <a:cxnSpLocks/>
          </p:cNvCxnSpPr>
          <p:nvPr/>
        </p:nvCxnSpPr>
        <p:spPr>
          <a:xfrm>
            <a:off x="1820053" y="2381291"/>
            <a:ext cx="266246" cy="638356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8611120-0C1F-6C19-9CA9-3C5D9DFAA26B}"/>
              </a:ext>
            </a:extLst>
          </p:cNvPr>
          <p:cNvSpPr txBox="1"/>
          <p:nvPr/>
        </p:nvSpPr>
        <p:spPr>
          <a:xfrm>
            <a:off x="2502243" y="1083336"/>
            <a:ext cx="1806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Partitioning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E66C90A-58DF-B45C-B46D-7C00CE439658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2595174" y="1421890"/>
            <a:ext cx="810177" cy="1689794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8ADB6E-4DE1-3682-E85D-74E3AD68B47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405351" y="1421890"/>
            <a:ext cx="903107" cy="2007110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09E6225-FD14-5FE6-F2EB-1D16AFF90A82}"/>
              </a:ext>
            </a:extLst>
          </p:cNvPr>
          <p:cNvSpPr/>
          <p:nvPr/>
        </p:nvSpPr>
        <p:spPr>
          <a:xfrm>
            <a:off x="2502246" y="4194542"/>
            <a:ext cx="1938867" cy="7967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41E447-A6AC-F62F-96A0-9C4822E6EB8D}"/>
              </a:ext>
            </a:extLst>
          </p:cNvPr>
          <p:cNvSpPr txBox="1"/>
          <p:nvPr/>
        </p:nvSpPr>
        <p:spPr>
          <a:xfrm>
            <a:off x="2345015" y="4194542"/>
            <a:ext cx="2253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Membrane Transport/Diffusion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8FBD53-3935-D2D4-A31E-66ABC8E7376D}"/>
              </a:ext>
            </a:extLst>
          </p:cNvPr>
          <p:cNvCxnSpPr>
            <a:cxnSpLocks/>
          </p:cNvCxnSpPr>
          <p:nvPr/>
        </p:nvCxnSpPr>
        <p:spPr>
          <a:xfrm flipH="1">
            <a:off x="2615035" y="4877994"/>
            <a:ext cx="1713284" cy="0"/>
          </a:xfrm>
          <a:prstGeom prst="line">
            <a:avLst/>
          </a:prstGeom>
          <a:ln w="28575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0835550-5F05-C265-D816-A2F9795A887D}"/>
                  </a:ext>
                </a:extLst>
              </p:cNvPr>
              <p:cNvSpPr txBox="1"/>
              <p:nvPr/>
            </p:nvSpPr>
            <p:spPr>
              <a:xfrm>
                <a:off x="6758609" y="930804"/>
                <a:ext cx="5160845" cy="5040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Concentration polarization 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Nernst Plank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Solute Partitioning</a:t>
                </a:r>
              </a:p>
              <a:p>
                <a:r>
                  <a:rPr lang="en-US" sz="1600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NF270 Manuscript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int</m:t>
                          </m:r>
                        </m:sup>
                      </m:sSubSup>
                    </m:oMath>
                  </m:oMathPara>
                </a14:m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… relate to Donnan equilibrium (or similar model)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int</m:t>
                              </m:r>
                            </m:sup>
                          </m:sSubSup>
                        </m:den>
                      </m:f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m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∝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n</m:t>
                          </m:r>
                        </m:sup>
                      </m:sSup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int</m:t>
                              </m:r>
                            </m:sup>
                          </m:sSubSup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χ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Membrane Transport/Diffusion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Nernst Plank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χ</m:t>
                      </m:r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0835550-5F05-C265-D816-A2F9795A8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09" y="930804"/>
                <a:ext cx="5160845" cy="5040098"/>
              </a:xfrm>
              <a:prstGeom prst="rect">
                <a:avLst/>
              </a:prstGeom>
              <a:blipFill>
                <a:blip r:embed="rId3"/>
                <a:stretch>
                  <a:fillRect l="-709" t="-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6B7DAF-5259-33E7-2DCA-65CEE68FC1AC}"/>
                  </a:ext>
                </a:extLst>
              </p:cNvPr>
              <p:cNvSpPr txBox="1"/>
              <p:nvPr/>
            </p:nvSpPr>
            <p:spPr>
              <a:xfrm>
                <a:off x="824927" y="5792299"/>
                <a:ext cx="5160845" cy="39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𝑓𝑒𝑒𝑑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𝑚𝑒𝑚𝑏𝑟𝑎𝑛𝑒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permeate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F6B7DAF-5259-33E7-2DCA-65CEE68F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27" y="5792299"/>
                <a:ext cx="5160845" cy="397545"/>
              </a:xfrm>
              <a:prstGeom prst="rect">
                <a:avLst/>
              </a:prstGeom>
              <a:blipFill>
                <a:blip r:embed="rId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799CE1C-F1F7-B3F5-998B-0CCFB2BB9BC4}"/>
              </a:ext>
            </a:extLst>
          </p:cNvPr>
          <p:cNvSpPr/>
          <p:nvPr/>
        </p:nvSpPr>
        <p:spPr>
          <a:xfrm>
            <a:off x="6754975" y="2616479"/>
            <a:ext cx="5160845" cy="1653369"/>
          </a:xfrm>
          <a:prstGeom prst="rect">
            <a:avLst/>
          </a:prstGeom>
          <a:solidFill>
            <a:schemeClr val="accent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6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A8F9-3762-6A7D-8CEA-27AB3C588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682DA0-4B76-7D79-D4DE-D3BD57E5DDC2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06E70C-1732-2370-AB33-EF3428C5DC3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E87D827-EB25-EC27-E9CA-DCC528CE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DF902-4EFD-2915-F57E-BBAD40116989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Solute Partitioning: Donnan equilibrium.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47FEEB-0783-DE59-4291-6221136A2A99}"/>
                  </a:ext>
                </a:extLst>
              </p:cNvPr>
              <p:cNvSpPr txBox="1"/>
              <p:nvPr/>
            </p:nvSpPr>
            <p:spPr>
              <a:xfrm>
                <a:off x="215132" y="1228557"/>
                <a:ext cx="7687893" cy="4553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chemical potential of species ‘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’ is equal in the membrane and in the solution. 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RTln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F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RTln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F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ϕ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RT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F</m:t>
                          </m:r>
                        </m:den>
                      </m:f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Use electroneutrality constraint.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sup>
                      </m:s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c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m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Sup>
                                            <m:sSub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c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s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sup>
                              </m:s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χ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sup>
                      </m:sSup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… use a solver to obtain the concentration of solute in the membrane.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47FEEB-0783-DE59-4291-6221136A2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32" y="1228557"/>
                <a:ext cx="7687893" cy="4553041"/>
              </a:xfrm>
              <a:prstGeom prst="rect">
                <a:avLst/>
              </a:prstGeom>
              <a:blipFill>
                <a:blip r:embed="rId3"/>
                <a:stretch>
                  <a:fillRect l="-634" t="-804" b="-1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0E1E033-4F8C-DDB3-C604-347684746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672" y="2088713"/>
            <a:ext cx="4215413" cy="31615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5C1DE2-29D3-4996-D05E-048C8DF73B9D}"/>
              </a:ext>
            </a:extLst>
          </p:cNvPr>
          <p:cNvSpPr txBox="1"/>
          <p:nvPr/>
        </p:nvSpPr>
        <p:spPr>
          <a:xfrm>
            <a:off x="7999012" y="1890887"/>
            <a:ext cx="3977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Representative of a NaCl/LaCl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System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C1E44-FEE2-34A5-9518-095079F81A0E}"/>
              </a:ext>
            </a:extLst>
          </p:cNvPr>
          <p:cNvSpPr txBox="1"/>
          <p:nvPr/>
        </p:nvSpPr>
        <p:spPr>
          <a:xfrm>
            <a:off x="8710374" y="2548365"/>
            <a:ext cx="1698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Specie 1: +1</a:t>
            </a:r>
          </a:p>
          <a:p>
            <a:r>
              <a:rPr lang="en-US" sz="16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Specie 2: +3</a:t>
            </a: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Specie 3: -1</a:t>
            </a:r>
          </a:p>
        </p:txBody>
      </p:sp>
    </p:spTree>
    <p:extLst>
      <p:ext uri="{BB962C8B-B14F-4D97-AF65-F5344CB8AC3E}">
        <p14:creationId xmlns:p14="http://schemas.microsoft.com/office/powerpoint/2010/main" val="2312695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D2C8-7C46-6934-7755-003BCEBD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189670-CA97-2D59-E2C0-70B1A82CD6EC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6B92F1-93AF-2F3D-3E99-ECA49D0DA56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311307-9858-9927-07FE-BD4B3EC8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C74FE-85C4-C749-460E-19A03B58D85F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Physical picture of modeling efforts.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7E6CDA-887C-DAD9-A55C-46F762ACA433}"/>
              </a:ext>
            </a:extLst>
          </p:cNvPr>
          <p:cNvSpPr/>
          <p:nvPr/>
        </p:nvSpPr>
        <p:spPr>
          <a:xfrm>
            <a:off x="2502246" y="1866704"/>
            <a:ext cx="1938867" cy="3335867"/>
          </a:xfrm>
          <a:prstGeom prst="rect">
            <a:avLst/>
          </a:pr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5A35E0-4805-D178-F5C7-E3CA8E35E2E5}"/>
              </a:ext>
            </a:extLst>
          </p:cNvPr>
          <p:cNvCxnSpPr>
            <a:cxnSpLocks/>
          </p:cNvCxnSpPr>
          <p:nvPr/>
        </p:nvCxnSpPr>
        <p:spPr>
          <a:xfrm>
            <a:off x="485028" y="3336086"/>
            <a:ext cx="822619" cy="8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c 10">
            <a:extLst>
              <a:ext uri="{FF2B5EF4-FFF2-40B4-BE49-F238E27FC236}">
                <a16:creationId xmlns:a16="http://schemas.microsoft.com/office/drawing/2014/main" id="{790A22EB-D7B5-F4D1-F00F-31C5F8926A1D}"/>
              </a:ext>
            </a:extLst>
          </p:cNvPr>
          <p:cNvSpPr/>
          <p:nvPr/>
        </p:nvSpPr>
        <p:spPr>
          <a:xfrm rot="5400000">
            <a:off x="987968" y="1821811"/>
            <a:ext cx="638355" cy="2390194"/>
          </a:xfrm>
          <a:prstGeom prst="arc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8BA6E9-0A43-143D-A274-D7FC3D674108}"/>
              </a:ext>
            </a:extLst>
          </p:cNvPr>
          <p:cNvCxnSpPr>
            <a:cxnSpLocks/>
          </p:cNvCxnSpPr>
          <p:nvPr/>
        </p:nvCxnSpPr>
        <p:spPr>
          <a:xfrm>
            <a:off x="2502244" y="3429000"/>
            <a:ext cx="1938869" cy="60092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2F51BF-9513-6ED8-DB1F-C4FFD7DB3BAE}"/>
              </a:ext>
            </a:extLst>
          </p:cNvPr>
          <p:cNvCxnSpPr/>
          <p:nvPr/>
        </p:nvCxnSpPr>
        <p:spPr>
          <a:xfrm>
            <a:off x="4441113" y="3748177"/>
            <a:ext cx="149237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244671-D99F-A9F6-9C25-FA34B86246B0}"/>
              </a:ext>
            </a:extLst>
          </p:cNvPr>
          <p:cNvSpPr txBox="1"/>
          <p:nvPr/>
        </p:nvSpPr>
        <p:spPr>
          <a:xfrm>
            <a:off x="2709259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Membrane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7D5251-E774-3475-26BE-CDA8CFA292B5}"/>
              </a:ext>
            </a:extLst>
          </p:cNvPr>
          <p:cNvSpPr txBox="1"/>
          <p:nvPr/>
        </p:nvSpPr>
        <p:spPr>
          <a:xfrm>
            <a:off x="561462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2411A4-8F1E-C7C0-A08C-6B8B303F3456}"/>
              </a:ext>
            </a:extLst>
          </p:cNvPr>
          <p:cNvSpPr txBox="1"/>
          <p:nvPr/>
        </p:nvSpPr>
        <p:spPr>
          <a:xfrm>
            <a:off x="4775499" y="5248168"/>
            <a:ext cx="152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Permeate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16600-9FC6-DA2A-84B3-C3D9E7B73B45}"/>
              </a:ext>
            </a:extLst>
          </p:cNvPr>
          <p:cNvSpPr txBox="1"/>
          <p:nvPr/>
        </p:nvSpPr>
        <p:spPr>
          <a:xfrm>
            <a:off x="340806" y="1714596"/>
            <a:ext cx="1806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Concentration Polarization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966D87-9DB0-F775-C45D-FA3BEE984073}"/>
              </a:ext>
            </a:extLst>
          </p:cNvPr>
          <p:cNvCxnSpPr>
            <a:cxnSpLocks/>
          </p:cNvCxnSpPr>
          <p:nvPr/>
        </p:nvCxnSpPr>
        <p:spPr>
          <a:xfrm>
            <a:off x="1820053" y="2381291"/>
            <a:ext cx="266246" cy="638356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4DDA71C-FA5C-8832-8374-8BBA2FAEF089}"/>
              </a:ext>
            </a:extLst>
          </p:cNvPr>
          <p:cNvSpPr txBox="1"/>
          <p:nvPr/>
        </p:nvSpPr>
        <p:spPr>
          <a:xfrm>
            <a:off x="2502243" y="1083336"/>
            <a:ext cx="1806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Partitioning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F44291-833E-B6A3-F0F9-68C20A0159E4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2595174" y="1421890"/>
            <a:ext cx="810177" cy="1689794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0E7A65-2A9D-DF90-2ACD-8C6261CFB4D4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3405351" y="1421890"/>
            <a:ext cx="903107" cy="2007110"/>
          </a:xfrm>
          <a:prstGeom prst="line">
            <a:avLst/>
          </a:prstGeom>
          <a:ln w="28575">
            <a:solidFill>
              <a:schemeClr val="tx1"/>
            </a:solidFill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EBD3FB7-C6B9-86E0-FAC0-83905B11A759}"/>
              </a:ext>
            </a:extLst>
          </p:cNvPr>
          <p:cNvSpPr/>
          <p:nvPr/>
        </p:nvSpPr>
        <p:spPr>
          <a:xfrm>
            <a:off x="2502246" y="4194542"/>
            <a:ext cx="1938867" cy="7967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690CF5-E694-1183-800D-5E8D3AE5015E}"/>
              </a:ext>
            </a:extLst>
          </p:cNvPr>
          <p:cNvSpPr txBox="1"/>
          <p:nvPr/>
        </p:nvSpPr>
        <p:spPr>
          <a:xfrm>
            <a:off x="2345015" y="4194542"/>
            <a:ext cx="2253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Membrane Transport/Diffusion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9BD0FD0-0D91-ACB0-E0CE-11E45734737D}"/>
              </a:ext>
            </a:extLst>
          </p:cNvPr>
          <p:cNvCxnSpPr>
            <a:cxnSpLocks/>
          </p:cNvCxnSpPr>
          <p:nvPr/>
        </p:nvCxnSpPr>
        <p:spPr>
          <a:xfrm flipH="1">
            <a:off x="2615035" y="4877994"/>
            <a:ext cx="1713284" cy="0"/>
          </a:xfrm>
          <a:prstGeom prst="line">
            <a:avLst/>
          </a:prstGeom>
          <a:ln w="28575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F72F000-BB2B-9C5C-8F0A-3A85B56D562E}"/>
                  </a:ext>
                </a:extLst>
              </p:cNvPr>
              <p:cNvSpPr txBox="1"/>
              <p:nvPr/>
            </p:nvSpPr>
            <p:spPr>
              <a:xfrm>
                <a:off x="6758609" y="930804"/>
                <a:ext cx="5160845" cy="5040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Concentration polarization 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Nernst Plank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Solute Partitioning</a:t>
                </a:r>
              </a:p>
              <a:p>
                <a:r>
                  <a:rPr lang="en-US" sz="1600" kern="100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NF270 Manuscript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0" kern="10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sSubSup>
                        <m:sSubSupPr>
                          <m:ctrlPr>
                            <a:rPr lang="en-US" sz="1600" b="0" i="1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int</m:t>
                          </m:r>
                        </m:sup>
                      </m:sSubSup>
                    </m:oMath>
                  </m:oMathPara>
                </a14:m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… relate to Donnan equilibrium (or similar model)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int</m:t>
                              </m:r>
                            </m:sup>
                          </m:sSubSup>
                        </m:den>
                      </m:f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m</m:t>
                          </m:r>
                        </m:sub>
                      </m:sSub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∝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n</m:t>
                          </m:r>
                        </m:sup>
                      </m:sSup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int</m:t>
                              </m:r>
                            </m:sup>
                          </m:sSubSup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k</m:t>
                              </m:r>
                            </m:sub>
                          </m:sSub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χ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1600" kern="100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Membrane Transport/Diffusion</a:t>
                </a:r>
              </a:p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Nernst Plank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1600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6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600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600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χ</m:t>
                      </m:r>
                      <m:r>
                        <a:rPr lang="en-US" sz="160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F72F000-BB2B-9C5C-8F0A-3A85B56D5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09" y="930804"/>
                <a:ext cx="5160845" cy="5040098"/>
              </a:xfrm>
              <a:prstGeom prst="rect">
                <a:avLst/>
              </a:prstGeom>
              <a:blipFill>
                <a:blip r:embed="rId3"/>
                <a:stretch>
                  <a:fillRect l="-709" t="-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A8B48C-4313-1683-1A1F-81FA0957D1E7}"/>
                  </a:ext>
                </a:extLst>
              </p:cNvPr>
              <p:cNvSpPr txBox="1"/>
              <p:nvPr/>
            </p:nvSpPr>
            <p:spPr>
              <a:xfrm>
                <a:off x="824927" y="5792299"/>
                <a:ext cx="5160845" cy="39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𝑓𝑒𝑒𝑑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𝑚𝑒𝑚𝑏𝑟𝑎𝑛𝑒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permeate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A8B48C-4313-1683-1A1F-81FA0957D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27" y="5792299"/>
                <a:ext cx="5160845" cy="397545"/>
              </a:xfrm>
              <a:prstGeom prst="rect">
                <a:avLst/>
              </a:prstGeom>
              <a:blipFill>
                <a:blip r:embed="rId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D168704-F23F-A545-2707-4F9D8B5BFEBA}"/>
              </a:ext>
            </a:extLst>
          </p:cNvPr>
          <p:cNvSpPr/>
          <p:nvPr/>
        </p:nvSpPr>
        <p:spPr>
          <a:xfrm>
            <a:off x="6754975" y="4389621"/>
            <a:ext cx="5160845" cy="1551992"/>
          </a:xfrm>
          <a:prstGeom prst="rect">
            <a:avLst/>
          </a:prstGeom>
          <a:solidFill>
            <a:schemeClr val="accent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6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A4E8-B067-DD46-AFAC-9A275390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F4EA89-F6FE-8207-2B3F-98B213CE2A2B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553869-443F-12D5-0796-2D175CFDC70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731C950-5687-174C-397D-181DF0853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1FB38-782E-E755-701A-72C5DDCFF3BA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Membrane transport derived for multicomponent transport in membranes.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0F4A61-36F5-1C62-3700-77AACDCE86FE}"/>
                  </a:ext>
                </a:extLst>
              </p:cNvPr>
              <p:cNvSpPr txBox="1"/>
              <p:nvPr/>
            </p:nvSpPr>
            <p:spPr>
              <a:xfrm>
                <a:off x="124668" y="1424370"/>
                <a:ext cx="6029853" cy="3397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Nernst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Plank Equation.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∇ϕ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Electroneutrality Constraint.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=0= </m:t>
                      </m:r>
                      <m:nary>
                        <m:naryPr>
                          <m:limLoc m:val="subSup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dr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0" kern="1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χ</m:t>
                      </m:r>
                      <m:r>
                        <a:rPr lang="en-US" i="0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1, 2→</m:t>
                    </m:r>
                    <m:r>
                      <m:rPr>
                        <m:sty m:val="p"/>
                      </m:rP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cation</m:t>
                    </m:r>
                  </m:oMath>
                </a14:m>
                <a:r>
                  <a:rPr lang="en-US" b="0" kern="1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3 →</m:t>
                    </m:r>
                    <m:r>
                      <m:rPr>
                        <m:sty m:val="p"/>
                      </m:rPr>
                      <a:rPr lang="en-US" b="0" i="0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anion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χ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mem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charge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density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kern="1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0F4A61-36F5-1C62-3700-77AACDCE8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68" y="1424370"/>
                <a:ext cx="6029853" cy="3397597"/>
              </a:xfrm>
              <a:prstGeom prst="rect">
                <a:avLst/>
              </a:prstGeom>
              <a:blipFill>
                <a:blip r:embed="rId3"/>
                <a:stretch>
                  <a:fillRect l="-808" t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56AB64-7C84-CACF-CAA5-8E3A0E813551}"/>
                  </a:ext>
                </a:extLst>
              </p:cNvPr>
              <p:cNvSpPr txBox="1"/>
              <p:nvPr/>
            </p:nvSpPr>
            <p:spPr>
              <a:xfrm>
                <a:off x="6096000" y="1424370"/>
                <a:ext cx="5966878" cy="2386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…Solving provides an equation for the flux of ions.</a:t>
                </a:r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  <m:r>
                      <a:rPr lang="en-US" sz="18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𝜒</m:t>
                        </m:r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18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sz="18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𝜒</m:t>
                        </m:r>
                      </m:den>
                    </m:f>
                  </m:oMath>
                </a14:m>
                <a:r>
                  <a:rPr lang="en-US" sz="1800" kern="100" dirty="0">
                    <a:solidFill>
                      <a:schemeClr val="tx1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en-US" sz="18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8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18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sz="18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8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2 </m:t>
                                    </m:r>
                                  </m:sub>
                                </m:s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18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 sz="1800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1800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800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𝜒</m:t>
                        </m:r>
                      </m:den>
                    </m:f>
                  </m:oMath>
                </a14:m>
                <a:r>
                  <a:rPr lang="en-US" sz="1800" kern="100" dirty="0">
                    <a:solidFill>
                      <a:schemeClr val="tx1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56AB64-7C84-CACF-CAA5-8E3A0E813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24370"/>
                <a:ext cx="5966878" cy="2386102"/>
              </a:xfrm>
              <a:prstGeom prst="rect">
                <a:avLst/>
              </a:prstGeom>
              <a:blipFill>
                <a:blip r:embed="rId4"/>
                <a:stretch>
                  <a:fillRect l="-817" t="-1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953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FE71D-F2AE-A19B-103D-6789AA94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81314-4F5A-7F16-CB54-04D53EAD514C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7386E-98FA-ED56-A506-5750643A82EC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68ADAA6-8FB2-1E2C-5C3E-8EF261BE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FFD40-F0DC-1BA3-863D-CC60951A747A}"/>
              </a:ext>
            </a:extLst>
          </p:cNvPr>
          <p:cNvSpPr txBox="1"/>
          <p:nvPr/>
        </p:nvSpPr>
        <p:spPr>
          <a:xfrm>
            <a:off x="484716" y="1101173"/>
            <a:ext cx="1122256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Single Salt Experiments - Running these will mirror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Xinhong’s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work for the “Permeate Probe” and “NF270” Manuscripts.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Who in the Dowling lab is running these to regress variables?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 we have a code that is functional for single component data analysis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That simultaneously regresses parameters using (1) retentate and permeate conductivity probes, (2) ICP data, (3) mass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timeline to get the single salt experiments rigorously analyzed through the codes?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Regression of H, D,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identification of which salts possess concentration dependent parameters?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Let’s email to set up a meeting offline.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Multicomponent Experiments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Analysis was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limited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by my derivation of multicomponent equations.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Equations are available online BOX.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Jonathan/Laurianne Action Item: Need to clean up derivation to include in SI.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Once single salt is done, I will reach out to set up a meeting for multicomponent regression.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1A66E-B1CB-9846-BB51-8386770146A7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 Items/Discussion</a:t>
            </a:r>
          </a:p>
        </p:txBody>
      </p:sp>
    </p:spTree>
    <p:extLst>
      <p:ext uri="{BB962C8B-B14F-4D97-AF65-F5344CB8AC3E}">
        <p14:creationId xmlns:p14="http://schemas.microsoft.com/office/powerpoint/2010/main" val="3994006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CBB67-761D-7467-2DA8-89A84674C580}"/>
              </a:ext>
            </a:extLst>
          </p:cNvPr>
          <p:cNvSpPr txBox="1"/>
          <p:nvPr/>
        </p:nvSpPr>
        <p:spPr>
          <a:xfrm>
            <a:off x="3048681" y="3429000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Supplementary Slides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105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655A1-569B-AFA2-EFB9-3998E120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F44AF0-4E40-90B4-2FBF-9F71506DCE37}"/>
              </a:ext>
            </a:extLst>
          </p:cNvPr>
          <p:cNvSpPr txBox="1"/>
          <p:nvPr/>
        </p:nvSpPr>
        <p:spPr>
          <a:xfrm>
            <a:off x="3048681" y="2967335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Manuscript Figures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0282CE-7F51-6156-101C-882C095F5612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852BF5-D2DD-BA37-656B-FC717435319D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C33D5CB9-74E1-92C2-0D95-CD345A7BC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022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648B-BFD7-9843-D412-7CD87BCB6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46404-4E1C-3944-01B4-23D6FD130D4E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2EBF27-9E66-C02E-DB93-A147EF18E149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E4B2F00-8F2B-CCA6-F95B-8B36FBEDF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4F873-B423-28F2-AE5E-E83ACB2B3655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0DEFE2-9C71-9907-5528-83515D97CFEF}"/>
              </a:ext>
            </a:extLst>
          </p:cNvPr>
          <p:cNvGrpSpPr/>
          <p:nvPr/>
        </p:nvGrpSpPr>
        <p:grpSpPr>
          <a:xfrm>
            <a:off x="544650" y="1021140"/>
            <a:ext cx="11102699" cy="4192227"/>
            <a:chOff x="351046" y="691993"/>
            <a:chExt cx="11520630" cy="4350032"/>
          </a:xfrm>
        </p:grpSpPr>
        <p:pic>
          <p:nvPicPr>
            <p:cNvPr id="8" name="Picture 7" descr="A blueprint of a machine&#10;&#10;Description automatically generated">
              <a:extLst>
                <a:ext uri="{FF2B5EF4-FFF2-40B4-BE49-F238E27FC236}">
                  <a16:creationId xmlns:a16="http://schemas.microsoft.com/office/drawing/2014/main" id="{8BBCAF55-EBA7-2D29-C08D-3F8F446E5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4489" y="2610942"/>
              <a:ext cx="1614426" cy="2190915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29E210A-1AD2-4ADB-2A59-000CF120AF97}"/>
                </a:ext>
              </a:extLst>
            </p:cNvPr>
            <p:cNvSpPr/>
            <p:nvPr/>
          </p:nvSpPr>
          <p:spPr>
            <a:xfrm>
              <a:off x="6228264" y="2164920"/>
              <a:ext cx="90000" cy="196353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A863740-3AE0-C90D-170B-F443025D6113}"/>
                </a:ext>
              </a:extLst>
            </p:cNvPr>
            <p:cNvSpPr/>
            <p:nvPr/>
          </p:nvSpPr>
          <p:spPr>
            <a:xfrm>
              <a:off x="4196303" y="2878505"/>
              <a:ext cx="705532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9346DEA-A292-6FD8-E75C-1BB181208F54}"/>
                </a:ext>
              </a:extLst>
            </p:cNvPr>
            <p:cNvSpPr/>
            <p:nvPr/>
          </p:nvSpPr>
          <p:spPr>
            <a:xfrm>
              <a:off x="4196303" y="1173490"/>
              <a:ext cx="90000" cy="179317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 descr="A blue cylinder with towers&#10;&#10;Description automatically generated with medium confidence">
              <a:extLst>
                <a:ext uri="{FF2B5EF4-FFF2-40B4-BE49-F238E27FC236}">
                  <a16:creationId xmlns:a16="http://schemas.microsoft.com/office/drawing/2014/main" id="{0AAD1D81-CBB2-1D91-453D-09B5FBBB0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0739" y="1908960"/>
              <a:ext cx="2131187" cy="289680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1AFE64-2397-D691-07EE-60E25DF17502}"/>
                </a:ext>
              </a:extLst>
            </p:cNvPr>
            <p:cNvSpPr txBox="1"/>
            <p:nvPr/>
          </p:nvSpPr>
          <p:spPr>
            <a:xfrm>
              <a:off x="3875623" y="4557521"/>
              <a:ext cx="11985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Membrane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16487B-7D0C-E7DB-E1FF-654CEEA627C8}"/>
                </a:ext>
              </a:extLst>
            </p:cNvPr>
            <p:cNvSpPr txBox="1"/>
            <p:nvPr/>
          </p:nvSpPr>
          <p:spPr>
            <a:xfrm>
              <a:off x="3940016" y="3819550"/>
              <a:ext cx="1119409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Retentate Probe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CBEF00-87A5-DD5F-54D0-6954B1C0ABDC}"/>
                </a:ext>
              </a:extLst>
            </p:cNvPr>
            <p:cNvSpPr/>
            <p:nvPr/>
          </p:nvSpPr>
          <p:spPr>
            <a:xfrm>
              <a:off x="5287300" y="4196163"/>
              <a:ext cx="67189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752FB2-47FF-AADE-22A6-440823716867}"/>
                </a:ext>
              </a:extLst>
            </p:cNvPr>
            <p:cNvSpPr/>
            <p:nvPr/>
          </p:nvSpPr>
          <p:spPr>
            <a:xfrm>
              <a:off x="6068295" y="4393710"/>
              <a:ext cx="203743" cy="45719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D4A49C-45DD-73F8-769B-2BFB55EDCF86}"/>
                </a:ext>
              </a:extLst>
            </p:cNvPr>
            <p:cNvSpPr txBox="1"/>
            <p:nvPr/>
          </p:nvSpPr>
          <p:spPr>
            <a:xfrm>
              <a:off x="5822993" y="4703471"/>
              <a:ext cx="204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Permeate Probe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2E850F-3429-F2E4-C258-A6BC650FE2DE}"/>
                </a:ext>
              </a:extLst>
            </p:cNvPr>
            <p:cNvCxnSpPr>
              <a:cxnSpLocks/>
            </p:cNvCxnSpPr>
            <p:nvPr/>
          </p:nvCxnSpPr>
          <p:spPr>
            <a:xfrm>
              <a:off x="6203914" y="4500246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 descr="A drawing of a machine&#10;&#10;Description automatically generated">
              <a:extLst>
                <a:ext uri="{FF2B5EF4-FFF2-40B4-BE49-F238E27FC236}">
                  <a16:creationId xmlns:a16="http://schemas.microsoft.com/office/drawing/2014/main" id="{CB218700-FC76-314A-D343-A5C2FD37C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5591" y="2514337"/>
              <a:ext cx="2697986" cy="2175340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AACD30-1BFE-684A-C027-63A39CB733CD}"/>
                </a:ext>
              </a:extLst>
            </p:cNvPr>
            <p:cNvCxnSpPr>
              <a:cxnSpLocks/>
            </p:cNvCxnSpPr>
            <p:nvPr/>
          </p:nvCxnSpPr>
          <p:spPr>
            <a:xfrm>
              <a:off x="9501238" y="3551928"/>
              <a:ext cx="842186" cy="16927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844479A-D37B-0192-6E77-C2F174FFFC9E}"/>
                </a:ext>
              </a:extLst>
            </p:cNvPr>
            <p:cNvSpPr txBox="1"/>
            <p:nvPr/>
          </p:nvSpPr>
          <p:spPr>
            <a:xfrm>
              <a:off x="10087001" y="2710146"/>
              <a:ext cx="17846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Scintillation Vials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CC1FAE6-8C0C-68AC-40E4-0C9B98A1BD99}"/>
                </a:ext>
              </a:extLst>
            </p:cNvPr>
            <p:cNvSpPr txBox="1"/>
            <p:nvPr/>
          </p:nvSpPr>
          <p:spPr>
            <a:xfrm>
              <a:off x="10197511" y="3568617"/>
              <a:ext cx="1072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Motor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26A1653-7660-9506-3AA9-0CC139B4B16D}"/>
                </a:ext>
              </a:extLst>
            </p:cNvPr>
            <p:cNvSpPr txBox="1"/>
            <p:nvPr/>
          </p:nvSpPr>
          <p:spPr>
            <a:xfrm>
              <a:off x="7574835" y="4224433"/>
              <a:ext cx="24190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Balance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E7A69C4-9539-A83F-13BD-F103FA865758}"/>
                </a:ext>
              </a:extLst>
            </p:cNvPr>
            <p:cNvCxnSpPr>
              <a:cxnSpLocks/>
            </p:cNvCxnSpPr>
            <p:nvPr/>
          </p:nvCxnSpPr>
          <p:spPr>
            <a:xfrm>
              <a:off x="9290017" y="2670620"/>
              <a:ext cx="833560" cy="174187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19445E-C5AD-A415-0DD8-E379DAD08F9B}"/>
                </a:ext>
              </a:extLst>
            </p:cNvPr>
            <p:cNvSpPr txBox="1"/>
            <p:nvPr/>
          </p:nvSpPr>
          <p:spPr>
            <a:xfrm>
              <a:off x="722393" y="1424391"/>
              <a:ext cx="1052202" cy="60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Pressure Gauge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B33663A-9C40-9EE4-A8DB-0922C1585B8C}"/>
                </a:ext>
              </a:extLst>
            </p:cNvPr>
            <p:cNvSpPr/>
            <p:nvPr/>
          </p:nvSpPr>
          <p:spPr>
            <a:xfrm>
              <a:off x="2232898" y="3429001"/>
              <a:ext cx="1373917" cy="1084262"/>
            </a:xfrm>
            <a:prstGeom prst="rect">
              <a:avLst/>
            </a:prstGeom>
            <a:solidFill>
              <a:schemeClr val="accent1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71B08B4-5188-B58C-0B40-A531EA2C202E}"/>
                </a:ext>
              </a:extLst>
            </p:cNvPr>
            <p:cNvSpPr/>
            <p:nvPr/>
          </p:nvSpPr>
          <p:spPr>
            <a:xfrm>
              <a:off x="3367372" y="1173491"/>
              <a:ext cx="90000" cy="825469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F9A6F89-44C7-D473-610A-0F68F3D65F18}"/>
                </a:ext>
              </a:extLst>
            </p:cNvPr>
            <p:cNvSpPr/>
            <p:nvPr/>
          </p:nvSpPr>
          <p:spPr>
            <a:xfrm>
              <a:off x="3367372" y="1173490"/>
              <a:ext cx="885398" cy="92868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985B841-E161-6C23-1962-9300291D55C7}"/>
                </a:ext>
              </a:extLst>
            </p:cNvPr>
            <p:cNvSpPr/>
            <p:nvPr/>
          </p:nvSpPr>
          <p:spPr>
            <a:xfrm>
              <a:off x="3387601" y="1194524"/>
              <a:ext cx="49912" cy="808068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8658B4A-D97F-D2D4-F9BB-9F493EAE0D41}"/>
                </a:ext>
              </a:extLst>
            </p:cNvPr>
            <p:cNvSpPr/>
            <p:nvPr/>
          </p:nvSpPr>
          <p:spPr>
            <a:xfrm>
              <a:off x="3410643" y="1194523"/>
              <a:ext cx="85303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A1D48AC-56CC-A806-0C72-2345490746BE}"/>
                </a:ext>
              </a:extLst>
            </p:cNvPr>
            <p:cNvSpPr/>
            <p:nvPr/>
          </p:nvSpPr>
          <p:spPr>
            <a:xfrm>
              <a:off x="4222073" y="2899655"/>
              <a:ext cx="679826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1AAE6A6-2B64-70E0-DE0D-D37CCE7825D8}"/>
                </a:ext>
              </a:extLst>
            </p:cNvPr>
            <p:cNvSpPr/>
            <p:nvPr/>
          </p:nvSpPr>
          <p:spPr>
            <a:xfrm>
              <a:off x="4215027" y="1194523"/>
              <a:ext cx="54000" cy="1750851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DD5CB65-CB7C-D277-F48C-7536DAE3C16C}"/>
                </a:ext>
              </a:extLst>
            </p:cNvPr>
            <p:cNvSpPr/>
            <p:nvPr/>
          </p:nvSpPr>
          <p:spPr>
            <a:xfrm>
              <a:off x="8459937" y="2167329"/>
              <a:ext cx="90000" cy="3880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B676914-3F01-DAA8-B1B1-D69D6516B3A8}"/>
                </a:ext>
              </a:extLst>
            </p:cNvPr>
            <p:cNvSpPr/>
            <p:nvPr/>
          </p:nvSpPr>
          <p:spPr>
            <a:xfrm>
              <a:off x="6272038" y="2164921"/>
              <a:ext cx="2277899" cy="90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0DA9320-4DB8-C4FA-CAE2-50F1E49302FC}"/>
                </a:ext>
              </a:extLst>
            </p:cNvPr>
            <p:cNvSpPr/>
            <p:nvPr/>
          </p:nvSpPr>
          <p:spPr>
            <a:xfrm>
              <a:off x="8480166" y="2189480"/>
              <a:ext cx="45719" cy="369486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F7E7F90-D1BE-1D78-23F2-44723D5295FE}"/>
                </a:ext>
              </a:extLst>
            </p:cNvPr>
            <p:cNvSpPr/>
            <p:nvPr/>
          </p:nvSpPr>
          <p:spPr>
            <a:xfrm>
              <a:off x="6272038" y="2185499"/>
              <a:ext cx="2253847" cy="50400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AE6A4D4-9378-7425-07B5-FB14E380CA86}"/>
                </a:ext>
              </a:extLst>
            </p:cNvPr>
            <p:cNvSpPr/>
            <p:nvPr/>
          </p:nvSpPr>
          <p:spPr>
            <a:xfrm>
              <a:off x="6247184" y="2185499"/>
              <a:ext cx="50400" cy="1942952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55E6940-5ED7-F3F3-048F-6F79CA2EBEE6}"/>
                </a:ext>
              </a:extLst>
            </p:cNvPr>
            <p:cNvSpPr/>
            <p:nvPr/>
          </p:nvSpPr>
          <p:spPr>
            <a:xfrm>
              <a:off x="2875122" y="818985"/>
              <a:ext cx="90000" cy="1176344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5369A10-93A2-2875-5E60-D4899AA47F1A}"/>
                </a:ext>
              </a:extLst>
            </p:cNvPr>
            <p:cNvSpPr/>
            <p:nvPr/>
          </p:nvSpPr>
          <p:spPr>
            <a:xfrm>
              <a:off x="2895351" y="847413"/>
              <a:ext cx="49912" cy="1151547"/>
            </a:xfrm>
            <a:prstGeom prst="roundRect">
              <a:avLst/>
            </a:prstGeom>
            <a:solidFill>
              <a:srgbClr val="C7CE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FBFE41A-5146-9DB6-5634-D275899EE2C2}"/>
                </a:ext>
              </a:extLst>
            </p:cNvPr>
            <p:cNvGrpSpPr/>
            <p:nvPr/>
          </p:nvGrpSpPr>
          <p:grpSpPr>
            <a:xfrm rot="5400000">
              <a:off x="1206418" y="803173"/>
              <a:ext cx="896308" cy="1636943"/>
              <a:chOff x="2408016" y="1071443"/>
              <a:chExt cx="896308" cy="1636943"/>
            </a:xfrm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A02F43F1-29F2-8201-A4DA-E44DB76FF989}"/>
                  </a:ext>
                </a:extLst>
              </p:cNvPr>
              <p:cNvSpPr/>
              <p:nvPr/>
            </p:nvSpPr>
            <p:spPr>
              <a:xfrm>
                <a:off x="2408017" y="1071443"/>
                <a:ext cx="90000" cy="163694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4652AE15-F609-BA45-7B6C-9630652D417D}"/>
                  </a:ext>
                </a:extLst>
              </p:cNvPr>
              <p:cNvSpPr/>
              <p:nvPr/>
            </p:nvSpPr>
            <p:spPr>
              <a:xfrm>
                <a:off x="2408016" y="1071443"/>
                <a:ext cx="885398" cy="92868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DF724B45-2A88-7C0C-5529-9DAD0DB05AB9}"/>
                  </a:ext>
                </a:extLst>
              </p:cNvPr>
              <p:cNvSpPr/>
              <p:nvPr/>
            </p:nvSpPr>
            <p:spPr>
              <a:xfrm>
                <a:off x="2428245" y="1092478"/>
                <a:ext cx="49912" cy="1602436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3C465612-4292-6FFB-AD37-4A963BD0F11F}"/>
                  </a:ext>
                </a:extLst>
              </p:cNvPr>
              <p:cNvSpPr/>
              <p:nvPr/>
            </p:nvSpPr>
            <p:spPr>
              <a:xfrm>
                <a:off x="2451287" y="1092476"/>
                <a:ext cx="853037" cy="50400"/>
              </a:xfrm>
              <a:prstGeom prst="roundRect">
                <a:avLst/>
              </a:prstGeom>
              <a:solidFill>
                <a:srgbClr val="C7CEE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9EF12AF8-C5E6-0E7D-E55A-AB45D5BB6E46}"/>
                </a:ext>
              </a:extLst>
            </p:cNvPr>
            <p:cNvSpPr/>
            <p:nvPr/>
          </p:nvSpPr>
          <p:spPr>
            <a:xfrm>
              <a:off x="997942" y="1020217"/>
              <a:ext cx="455063" cy="436694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D7A117-508A-9ACE-95C5-735BC9FA0FE0}"/>
                </a:ext>
              </a:extLst>
            </p:cNvPr>
            <p:cNvSpPr txBox="1"/>
            <p:nvPr/>
          </p:nvSpPr>
          <p:spPr>
            <a:xfrm>
              <a:off x="997942" y="1069287"/>
              <a:ext cx="455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2B21DEF-7100-F681-CF75-F6198CDC574E}"/>
                </a:ext>
              </a:extLst>
            </p:cNvPr>
            <p:cNvSpPr txBox="1"/>
            <p:nvPr/>
          </p:nvSpPr>
          <p:spPr>
            <a:xfrm>
              <a:off x="351046" y="3146685"/>
              <a:ext cx="10976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Diafiltrate Tank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7199EE1-C83C-44B4-E60F-A757F196B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3756" y="3284019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01BA912C-BBFD-B4A4-6DB9-B31850E40DDD}"/>
                </a:ext>
              </a:extLst>
            </p:cNvPr>
            <p:cNvSpPr/>
            <p:nvPr/>
          </p:nvSpPr>
          <p:spPr>
            <a:xfrm>
              <a:off x="2754042" y="1065670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44810353-A2B3-413E-4B32-F4CFD5FC9DC5}"/>
                </a:ext>
              </a:extLst>
            </p:cNvPr>
            <p:cNvSpPr/>
            <p:nvPr/>
          </p:nvSpPr>
          <p:spPr>
            <a:xfrm flipV="1">
              <a:off x="2754042" y="944752"/>
              <a:ext cx="332332" cy="27915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14FCA90F-04BE-F4DD-F8F5-76BEC211E6C3}"/>
                </a:ext>
              </a:extLst>
            </p:cNvPr>
            <p:cNvSpPr/>
            <p:nvPr/>
          </p:nvSpPr>
          <p:spPr>
            <a:xfrm flipV="1">
              <a:off x="2821484" y="994767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7938B8C1-6C18-8D59-552E-A6D5C741721F}"/>
                </a:ext>
              </a:extLst>
            </p:cNvPr>
            <p:cNvSpPr/>
            <p:nvPr/>
          </p:nvSpPr>
          <p:spPr>
            <a:xfrm>
              <a:off x="2822675" y="1133739"/>
              <a:ext cx="196743" cy="16379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4DF7F2-6DB2-8318-227E-1052704739BA}"/>
                </a:ext>
              </a:extLst>
            </p:cNvPr>
            <p:cNvSpPr txBox="1"/>
            <p:nvPr/>
          </p:nvSpPr>
          <p:spPr>
            <a:xfrm>
              <a:off x="3406479" y="691993"/>
              <a:ext cx="26140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Pressure Relief Valve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93B296-DEBA-FF57-9BAD-6A060482A9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0746" y="900618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A8E729A-B5D5-F4B4-BA3F-7D83A551D1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4283212"/>
              <a:ext cx="962540" cy="309349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AEFC3BEC-A8B7-ABC8-CD83-C1B33E9209DE}"/>
                </a:ext>
              </a:extLst>
            </p:cNvPr>
            <p:cNvCxnSpPr>
              <a:cxnSpLocks/>
            </p:cNvCxnSpPr>
            <p:nvPr/>
          </p:nvCxnSpPr>
          <p:spPr>
            <a:xfrm>
              <a:off x="5409835" y="2966669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6CA2A02-372D-71B1-8351-170BCC73D8EE}"/>
                </a:ext>
              </a:extLst>
            </p:cNvPr>
            <p:cNvCxnSpPr>
              <a:cxnSpLocks/>
            </p:cNvCxnSpPr>
            <p:nvPr/>
          </p:nvCxnSpPr>
          <p:spPr>
            <a:xfrm>
              <a:off x="5430711" y="2945374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BB2E37D-41DE-7B1B-C46C-6890217055DA}"/>
                </a:ext>
              </a:extLst>
            </p:cNvPr>
            <p:cNvCxnSpPr>
              <a:cxnSpLocks/>
            </p:cNvCxnSpPr>
            <p:nvPr/>
          </p:nvCxnSpPr>
          <p:spPr>
            <a:xfrm>
              <a:off x="5449970" y="292350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CFABB8F-2FF2-B4A2-1829-2497F964D7A7}"/>
                </a:ext>
              </a:extLst>
            </p:cNvPr>
            <p:cNvCxnSpPr>
              <a:cxnSpLocks/>
            </p:cNvCxnSpPr>
            <p:nvPr/>
          </p:nvCxnSpPr>
          <p:spPr>
            <a:xfrm>
              <a:off x="5472997" y="291182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D1AF007-DD45-2E42-158A-8BA415A427C1}"/>
                </a:ext>
              </a:extLst>
            </p:cNvPr>
            <p:cNvCxnSpPr>
              <a:cxnSpLocks/>
            </p:cNvCxnSpPr>
            <p:nvPr/>
          </p:nvCxnSpPr>
          <p:spPr>
            <a:xfrm>
              <a:off x="5495821" y="2889275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9A4324D-5AFC-011F-5B8C-8553071F375B}"/>
                </a:ext>
              </a:extLst>
            </p:cNvPr>
            <p:cNvCxnSpPr>
              <a:cxnSpLocks/>
            </p:cNvCxnSpPr>
            <p:nvPr/>
          </p:nvCxnSpPr>
          <p:spPr>
            <a:xfrm>
              <a:off x="5516924" y="2872851"/>
              <a:ext cx="0" cy="55614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F6DD45B-8E64-3CDB-18C3-2655F4DA2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66669"/>
              <a:ext cx="514352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77B7FEF-8DCA-876F-1009-3D2EA967C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49771"/>
              <a:ext cx="53374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9464C56-017B-7C37-49CE-4989E44327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929857"/>
              <a:ext cx="54813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D150BAB-EC7D-AB9F-6F39-DC01C0726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1835" y="2911821"/>
              <a:ext cx="5769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FE1C4BF-0AFD-BB89-48BB-6956F7827A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3423" y="2890863"/>
              <a:ext cx="596829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D105435-04F5-68A5-E0E5-DACADB76B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0247" y="2872482"/>
              <a:ext cx="62252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D1B2604-0FC2-8305-5E1B-5660445C0F2E}"/>
                </a:ext>
              </a:extLst>
            </p:cNvPr>
            <p:cNvSpPr/>
            <p:nvPr/>
          </p:nvSpPr>
          <p:spPr>
            <a:xfrm>
              <a:off x="5354191" y="3423963"/>
              <a:ext cx="214188" cy="359089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0972FAE-57A3-9EE7-DC23-DDB7C2F81F08}"/>
                </a:ext>
              </a:extLst>
            </p:cNvPr>
            <p:cNvSpPr/>
            <p:nvPr/>
          </p:nvSpPr>
          <p:spPr>
            <a:xfrm>
              <a:off x="5371239" y="3581612"/>
              <a:ext cx="181842" cy="18217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7597F43-7296-9870-86F6-3E71407E0DAB}"/>
                </a:ext>
              </a:extLst>
            </p:cNvPr>
            <p:cNvSpPr/>
            <p:nvPr/>
          </p:nvSpPr>
          <p:spPr>
            <a:xfrm>
              <a:off x="5399544" y="3611175"/>
              <a:ext cx="124244" cy="12447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AD93725-4F23-8A84-A047-11592432E2E2}"/>
                </a:ext>
              </a:extLst>
            </p:cNvPr>
            <p:cNvSpPr/>
            <p:nvPr/>
          </p:nvSpPr>
          <p:spPr>
            <a:xfrm>
              <a:off x="5426708" y="3636614"/>
              <a:ext cx="72127" cy="7488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D4AF9E6-8D2A-4069-E4CD-6D381E52F67A}"/>
                </a:ext>
              </a:extLst>
            </p:cNvPr>
            <p:cNvSpPr txBox="1"/>
            <p:nvPr/>
          </p:nvSpPr>
          <p:spPr>
            <a:xfrm>
              <a:off x="4946188" y="1697015"/>
              <a:ext cx="10711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Stirred Cell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283D1332-DB20-587D-3FCF-111D96FDC475}"/>
                    </a:ext>
                  </a:extLst>
                </p:cNvPr>
                <p:cNvSpPr txBox="1"/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sz="5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54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eqArrPr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0A5A728-B824-A225-9E3B-4532DE8DB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59573" y="1903138"/>
                  <a:ext cx="525742" cy="1328569"/>
                </a:xfrm>
                <a:prstGeom prst="rect">
                  <a:avLst/>
                </a:prstGeom>
                <a:blipFill>
                  <a:blip r:embed="rId7"/>
                  <a:stretch>
                    <a:fillRect l="-476" t="-60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2AF8449-F53B-30DC-3DE3-F006C0301883}"/>
                </a:ext>
              </a:extLst>
            </p:cNvPr>
            <p:cNvSpPr txBox="1"/>
            <p:nvPr/>
          </p:nvSpPr>
          <p:spPr>
            <a:xfrm>
              <a:off x="6366476" y="3332442"/>
              <a:ext cx="12536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Permeate Outlet</a:t>
              </a:r>
              <a:endParaRPr lang="en-US" sz="1600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39C14E1-A17D-ECBC-06DF-BFD8D5CE3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8909" y="3892733"/>
              <a:ext cx="549568" cy="162444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44DF569-DC09-836B-7A37-5230E87BBD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922" y="3594985"/>
              <a:ext cx="754405" cy="233782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 w="med" len="lg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4784542F-5821-B5F5-78FD-F46A2018EF6B}"/>
              </a:ext>
            </a:extLst>
          </p:cNvPr>
          <p:cNvSpPr txBox="1"/>
          <p:nvPr/>
        </p:nvSpPr>
        <p:spPr>
          <a:xfrm>
            <a:off x="1" y="5485634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Combine Figure 1 and 2?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841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0341-A208-F3F1-1749-F6BED334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980A95-6E17-FC82-57B0-302D72BBC5CF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6BDE1-74CB-6543-AFAE-5C0E78878990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B716D04-EC67-B1EF-9E92-9BFF23D0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8BEEA-0891-FB85-7BAF-2831093D1361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2</a:t>
            </a:r>
          </a:p>
        </p:txBody>
      </p:sp>
      <p:pic>
        <p:nvPicPr>
          <p:cNvPr id="6" name="Picture 5" descr="A diagram of different types of diavolume&#10;&#10;AI-generated content may be incorrect.">
            <a:extLst>
              <a:ext uri="{FF2B5EF4-FFF2-40B4-BE49-F238E27FC236}">
                <a16:creationId xmlns:a16="http://schemas.microsoft.com/office/drawing/2014/main" id="{67A4FDEA-3094-D951-A71E-9E5F826C1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780" y="1832685"/>
            <a:ext cx="4087240" cy="3735867"/>
          </a:xfrm>
          <a:prstGeom prst="rect">
            <a:avLst/>
          </a:prstGeom>
        </p:spPr>
      </p:pic>
      <p:pic>
        <p:nvPicPr>
          <p:cNvPr id="7" name="Picture 6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6BD5824C-1CAB-A5BE-2CBD-587C8ABF59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46323" y="1256482"/>
            <a:ext cx="2678546" cy="4419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9ED586-4646-E2A0-B7A2-F70BB848007C}"/>
              </a:ext>
            </a:extLst>
          </p:cNvPr>
          <p:cNvSpPr txBox="1"/>
          <p:nvPr/>
        </p:nvSpPr>
        <p:spPr>
          <a:xfrm>
            <a:off x="2157921" y="1460902"/>
            <a:ext cx="403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NaCl – Single Component raw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09C19A-2DE1-A16C-4305-EEB3B8F0E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382" y="1916989"/>
            <a:ext cx="3352800" cy="314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11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2CD8-6038-A2F3-5A7C-3F49B8254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F412D4-9914-A111-C8C8-F81473EA56C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5693B6-092F-3A29-FFA2-5D2300EB5521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FB8F6AF-47C3-178E-2204-A5F852CE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FB8E4-CBFF-EB3E-E752-BDB8F0C897B8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9050E-B709-CD0E-244A-C7456C6CE7A5}"/>
              </a:ext>
            </a:extLst>
          </p:cNvPr>
          <p:cNvSpPr txBox="1"/>
          <p:nvPr/>
        </p:nvSpPr>
        <p:spPr>
          <a:xfrm>
            <a:off x="253999" y="5608466"/>
            <a:ext cx="10668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*Main text will show NaCl/LaCl</a:t>
            </a:r>
            <a:r>
              <a:rPr lang="en-US" baseline="-25000" dirty="0"/>
              <a:t>3</a:t>
            </a:r>
            <a:r>
              <a:rPr lang="en-US" dirty="0"/>
              <a:t>. SI plots can be made for NaCl/CaCl</a:t>
            </a:r>
            <a:r>
              <a:rPr lang="en-US" baseline="-25000" dirty="0"/>
              <a:t>2</a:t>
            </a:r>
            <a:r>
              <a:rPr lang="en-US" dirty="0"/>
              <a:t> and CaCl</a:t>
            </a:r>
            <a:r>
              <a:rPr lang="en-US" baseline="-25000" dirty="0"/>
              <a:t>2</a:t>
            </a:r>
            <a:r>
              <a:rPr lang="en-US" dirty="0"/>
              <a:t>/LaCl</a:t>
            </a:r>
            <a:r>
              <a:rPr lang="en-US" baseline="-25000" dirty="0"/>
              <a:t>3</a:t>
            </a:r>
            <a:r>
              <a:rPr lang="en-US" dirty="0"/>
              <a:t> multicomponent salts.</a:t>
            </a:r>
          </a:p>
        </p:txBody>
      </p:sp>
      <p:pic>
        <p:nvPicPr>
          <p:cNvPr id="7" name="Picture 6" descr="A graph of 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71E3A124-86B0-70AF-5AC6-7A6DE84F7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27" y="1590534"/>
            <a:ext cx="3609810" cy="3488130"/>
          </a:xfrm>
          <a:prstGeom prst="rect">
            <a:avLst/>
          </a:prstGeom>
        </p:spPr>
      </p:pic>
      <p:pic>
        <p:nvPicPr>
          <p:cNvPr id="8" name="Picture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9904F6E5-28F5-8BC8-D643-AE5B29508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597693"/>
            <a:ext cx="3369667" cy="3130550"/>
          </a:xfrm>
          <a:prstGeom prst="rect">
            <a:avLst/>
          </a:prstGeom>
        </p:spPr>
      </p:pic>
      <p:pic>
        <p:nvPicPr>
          <p:cNvPr id="9" name="Picture 8" descr="A graph of a concentration&#10;&#10;Description automatically generated with medium confidence">
            <a:extLst>
              <a:ext uri="{FF2B5EF4-FFF2-40B4-BE49-F238E27FC236}">
                <a16:creationId xmlns:a16="http://schemas.microsoft.com/office/drawing/2014/main" id="{84F33FD0-40EC-AE51-B674-B8A899AA18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552138"/>
            <a:ext cx="3203576" cy="31195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07D941-1DA0-34A1-4F38-8F528CDE6B78}"/>
              </a:ext>
            </a:extLst>
          </p:cNvPr>
          <p:cNvSpPr txBox="1"/>
          <p:nvPr/>
        </p:nvSpPr>
        <p:spPr>
          <a:xfrm>
            <a:off x="4076699" y="1101292"/>
            <a:ext cx="403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NaCl + LaCl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multicomponent raw data</a:t>
            </a:r>
          </a:p>
        </p:txBody>
      </p:sp>
    </p:spTree>
    <p:extLst>
      <p:ext uri="{BB962C8B-B14F-4D97-AF65-F5344CB8AC3E}">
        <p14:creationId xmlns:p14="http://schemas.microsoft.com/office/powerpoint/2010/main" val="1836014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1187-174E-7CA0-A2A5-70C3C9DA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50474B-4571-0B9B-586C-FE38B665405A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016D34-5537-6830-D156-7ECB327E902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73808A4-8CD0-6776-AAED-83D8C673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04264-2108-8652-9DD2-4480CE5A3661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ct 5" descr="Project Path: C:\Users\lauri\Downloads\NaCl, CaCl2, LaCl3 Phase Space (2).opju&#10;PE Folder: /NaCl, CaCl2, LaCl3 Phase Space (2)/Folder1/&#10;Short Name: Graph2">
            <a:extLst>
              <a:ext uri="{FF2B5EF4-FFF2-40B4-BE49-F238E27FC236}">
                <a16:creationId xmlns:a16="http://schemas.microsoft.com/office/drawing/2014/main" id="{DAFBDDC9-69F4-02B4-B522-F08640008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416185"/>
              </p:ext>
            </p:extLst>
          </p:nvPr>
        </p:nvGraphicFramePr>
        <p:xfrm>
          <a:off x="1405467" y="1269502"/>
          <a:ext cx="5842000" cy="447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3" name="Object 2" descr="Project Path: C:\Users\lauri\Downloads\NaCl, CaCl2, LaCl3 Phase Space (2).opju&#10;PE Folder: /NaCl, CaCl2, LaCl3 Phase Space (2)/Folder1/&#10;Short Name: Graph2">
                        <a:extLst>
                          <a:ext uri="{FF2B5EF4-FFF2-40B4-BE49-F238E27FC236}">
                            <a16:creationId xmlns:a16="http://schemas.microsoft.com/office/drawing/2014/main" id="{DAFBDDC9-69F4-02B4-B522-F086400081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5467" y="1269502"/>
                        <a:ext cx="5842000" cy="447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F0AD394-0775-14D3-077D-61C70E35D971}"/>
              </a:ext>
            </a:extLst>
          </p:cNvPr>
          <p:cNvSpPr txBox="1"/>
          <p:nvPr/>
        </p:nvSpPr>
        <p:spPr>
          <a:xfrm>
            <a:off x="7459133" y="1942874"/>
            <a:ext cx="43518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 a circle for the feed concentration (experiment start).</a:t>
            </a:r>
          </a:p>
          <a:p>
            <a:r>
              <a:rPr lang="en-US" sz="1600" dirty="0"/>
              <a:t>Add a star for the retentate concentration (experiment ends).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68549-3CAB-1694-47CB-E5894C21E87F}"/>
              </a:ext>
            </a:extLst>
          </p:cNvPr>
          <p:cNvSpPr txBox="1"/>
          <p:nvPr/>
        </p:nvSpPr>
        <p:spPr>
          <a:xfrm>
            <a:off x="7459133" y="3159066"/>
            <a:ext cx="41228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Triangles are retentate concentrations that correspond to each permeate vial (calculated from a mass balance using ICP).</a:t>
            </a:r>
          </a:p>
        </p:txBody>
      </p:sp>
    </p:spTree>
    <p:extLst>
      <p:ext uri="{BB962C8B-B14F-4D97-AF65-F5344CB8AC3E}">
        <p14:creationId xmlns:p14="http://schemas.microsoft.com/office/powerpoint/2010/main" val="2830815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5505-F27C-8CBB-ED47-DFF594CC4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D9E10C-2DBA-6EAB-0803-CA695F0FC9F4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D5B5FF-283E-3AC8-DC45-318FA86AE0F1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3C7B0D2-554E-D240-7AD9-EE515F61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55A89-AC4A-DB80-6D69-ACB7E688F2E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B18F52-C754-541E-9EA3-748FC4109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28800"/>
            <a:ext cx="4637243" cy="3550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EC7DAC-BB18-EEED-AF77-F4EF41594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882940"/>
            <a:ext cx="4495800" cy="3441747"/>
          </a:xfrm>
          <a:prstGeom prst="rect">
            <a:avLst/>
          </a:prstGeom>
        </p:spPr>
      </p:pic>
      <p:pic>
        <p:nvPicPr>
          <p:cNvPr id="14" name="Picture 13" descr="A graph of a periodic strength&#10;&#10;AI-generated content may be incorrect.">
            <a:extLst>
              <a:ext uri="{FF2B5EF4-FFF2-40B4-BE49-F238E27FC236}">
                <a16:creationId xmlns:a16="http://schemas.microsoft.com/office/drawing/2014/main" id="{5343A500-3F47-C058-19FF-C8EB7BB40E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796531"/>
            <a:ext cx="3962400" cy="333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88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DB0C-41D0-F97F-A468-67C0BA5F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9936A0-C680-EA30-1C4C-15FA831C8CB0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AD0A3E-EA77-E3CC-78B8-A102B5F5E128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1808AA4-4B45-0B42-29A8-F707A68D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AA4A2D-0110-86F1-2E99-400011D2E11D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6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FA52B-4346-EFAC-C0BC-2BA03F9FB14B}"/>
              </a:ext>
            </a:extLst>
          </p:cNvPr>
          <p:cNvSpPr txBox="1"/>
          <p:nvPr/>
        </p:nvSpPr>
        <p:spPr>
          <a:xfrm>
            <a:off x="3554768" y="1274220"/>
            <a:ext cx="5082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Three ion experiment provided by model-based design of experiments. </a:t>
            </a:r>
          </a:p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Raw diafiltration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Ion rejections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Material Properties</a:t>
            </a:r>
          </a:p>
        </p:txBody>
      </p:sp>
    </p:spTree>
    <p:extLst>
      <p:ext uri="{BB962C8B-B14F-4D97-AF65-F5344CB8AC3E}">
        <p14:creationId xmlns:p14="http://schemas.microsoft.com/office/powerpoint/2010/main" val="2727981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CEC4-E466-5D81-181B-1A8FF76A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DB0C22-5F9A-1AFB-F50B-5A18C68EB74C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9C5E6-7DE4-AB1F-BB0F-3A9E559A41CB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24E97F-6DBC-93AF-3727-AFA70A5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450A3-81F5-B91C-776C-B248270AB8CE}"/>
              </a:ext>
            </a:extLst>
          </p:cNvPr>
          <p:cNvSpPr txBox="1"/>
          <p:nvPr/>
        </p:nvSpPr>
        <p:spPr>
          <a:xfrm>
            <a:off x="0" y="192140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Figure S#</a:t>
            </a:r>
          </a:p>
        </p:txBody>
      </p:sp>
      <p:pic>
        <p:nvPicPr>
          <p:cNvPr id="12" name="Picture 11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EFFDB37C-5C14-FECB-74B2-5023EE165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1" y="1630711"/>
            <a:ext cx="3862444" cy="359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133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976F-7323-DD80-822D-444F690B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69DF5F-978D-F71A-D9FD-5477FEDB10A8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3CE5A5-B3F7-5E3E-1271-77547922E7A0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584311-9C51-BC59-2BB2-7DF41B73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E77E23-8496-1B17-ADE8-E799674794B4}"/>
              </a:ext>
            </a:extLst>
          </p:cNvPr>
          <p:cNvSpPr txBox="1"/>
          <p:nvPr/>
        </p:nvSpPr>
        <p:spPr>
          <a:xfrm>
            <a:off x="0" y="2967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Supplementary Slides</a:t>
            </a:r>
          </a:p>
        </p:txBody>
      </p:sp>
    </p:spTree>
    <p:extLst>
      <p:ext uri="{BB962C8B-B14F-4D97-AF65-F5344CB8AC3E}">
        <p14:creationId xmlns:p14="http://schemas.microsoft.com/office/powerpoint/2010/main" val="95405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5B5-3180-1B1F-7697-F3870CC3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E373E0-1529-1727-23A1-663BA09FBED9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830450-952B-A30C-4F41-6C6B637421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4EACC90-F41C-49B4-4A11-6365CBB9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A11AC1-2129-4795-32A5-6E727E792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348" y="428720"/>
            <a:ext cx="5649796" cy="43251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5CE100-C448-C295-6328-3773A5306010}"/>
              </a:ext>
            </a:extLst>
          </p:cNvPr>
          <p:cNvSpPr txBox="1"/>
          <p:nvPr/>
        </p:nvSpPr>
        <p:spPr>
          <a:xfrm>
            <a:off x="230259" y="5808622"/>
            <a:ext cx="94559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 Table with all the experiments – operating conditions, feed and diafiltrate concentrations, etc.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 Figures for all experiments conducted to visualize/verify agreement between multiple types of data: Total of 15 – 20 sets of figures. (Duplicate experiments will not have figures) </a:t>
            </a:r>
            <a:endParaRPr lang="en-US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0F2B7-F5B0-F533-F107-B6E27B622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91" y="428720"/>
            <a:ext cx="5649797" cy="43251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864892-4AB6-76F9-BB36-C5F498A09105}"/>
              </a:ext>
            </a:extLst>
          </p:cNvPr>
          <p:cNvSpPr txBox="1"/>
          <p:nvPr/>
        </p:nvSpPr>
        <p:spPr>
          <a:xfrm>
            <a:off x="269729" y="4804661"/>
            <a:ext cx="9536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Edits to figure.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Right panel: The current shapes are too similar – suggest having unfilled/half filled diamonds.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Left panel: The green diamonds are ‘confusing’. These are predictions, they should be a line.  </a:t>
            </a:r>
            <a:endParaRPr lang="en-US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7389E3-09EF-5ADC-6AE2-CEACE37A3DDE}"/>
              </a:ext>
            </a:extLst>
          </p:cNvPr>
          <p:cNvSpPr txBox="1"/>
          <p:nvPr/>
        </p:nvSpPr>
        <p:spPr>
          <a:xfrm>
            <a:off x="1327765" y="389759"/>
            <a:ext cx="95364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NF270_MC2, E2. Feed: 20 mM CaCl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Diafiltrate: 8 mM CaCl</a:t>
            </a:r>
            <a:r>
              <a:rPr lang="en-US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 50 mM NaCl </a:t>
            </a:r>
            <a:endParaRPr lang="en-US" sz="16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584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164E-B1CA-C5D6-5BCF-C5298DBB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7C47BB-D5D4-5855-3CE3-13415477498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D1515-8D55-092C-5685-E335CA4BDB9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FEE5FB-EA18-FD52-7F58-D533478B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166BD-705F-F81D-4B5D-C2C5D31F5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" y="1850219"/>
            <a:ext cx="3981336" cy="3730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BB39AB-BBCF-F0E6-6FC0-355094CDF767}"/>
              </a:ext>
            </a:extLst>
          </p:cNvPr>
          <p:cNvSpPr txBox="1"/>
          <p:nvPr/>
        </p:nvSpPr>
        <p:spPr>
          <a:xfrm>
            <a:off x="4117684" y="1496463"/>
            <a:ext cx="24879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CaCl2 – Single Component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0E69E-99E2-CB09-FA28-FA40AEC2C80B}"/>
              </a:ext>
            </a:extLst>
          </p:cNvPr>
          <p:cNvSpPr txBox="1"/>
          <p:nvPr/>
        </p:nvSpPr>
        <p:spPr>
          <a:xfrm>
            <a:off x="8095048" y="1496464"/>
            <a:ext cx="24879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LaCl3 – Single Component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5ABC84-E8EC-558D-AEE5-E7F4C2009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684" y="1850218"/>
            <a:ext cx="3894804" cy="3730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BF38D1-91E5-2ADC-45B5-6F47D3C4A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048" y="1850218"/>
            <a:ext cx="3955027" cy="373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77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164E-B1CA-C5D6-5BCF-C5298DBB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7C47BB-D5D4-5855-3CE3-13415477498D}"/>
              </a:ext>
            </a:extLst>
          </p:cNvPr>
          <p:cNvSpPr/>
          <p:nvPr/>
        </p:nvSpPr>
        <p:spPr>
          <a:xfrm>
            <a:off x="9996984" y="6356350"/>
            <a:ext cx="2195015" cy="4286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tx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D1515-8D55-092C-5685-E335CA4BDB97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7FEE5FB-EA18-FD52-7F58-D533478B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B789AA32-48A6-4E3B-907A-585A7BC180FF}" type="slidenum">
              <a:rPr lang="en-US" sz="16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0E69E-99E2-CB09-FA28-FA40AEC2C80B}"/>
              </a:ext>
            </a:extLst>
          </p:cNvPr>
          <p:cNvSpPr txBox="1"/>
          <p:nvPr/>
        </p:nvSpPr>
        <p:spPr>
          <a:xfrm>
            <a:off x="31565" y="6335168"/>
            <a:ext cx="4452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NaCl – CaCl2 Multicomponent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A61FF6-11AC-422B-76AB-029C5C874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22" y="204379"/>
            <a:ext cx="3167925" cy="2999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FFCE48-8251-5678-2AD5-54E4465F5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22" y="3289857"/>
            <a:ext cx="3229141" cy="2999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FDD1DA-B830-CE50-A60E-1413B94F949C}"/>
              </a:ext>
            </a:extLst>
          </p:cNvPr>
          <p:cNvSpPr txBox="1"/>
          <p:nvPr/>
        </p:nvSpPr>
        <p:spPr>
          <a:xfrm>
            <a:off x="1233084" y="2186010"/>
            <a:ext cx="31679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E1. 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NaCl, 4 mM CaCl2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A76D379-F926-8B32-88F5-7E0E630F7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074" y="139557"/>
            <a:ext cx="3167926" cy="29842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BEE66A-4781-2019-7AF4-C3EB704956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074" y="3289153"/>
            <a:ext cx="3167925" cy="29018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E1DB239-107C-6586-1EBC-F679FA16C5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1561586"/>
            <a:ext cx="3051605" cy="285840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103BD5-D242-3992-44D1-4C7DEA7C5774}"/>
              </a:ext>
            </a:extLst>
          </p:cNvPr>
          <p:cNvSpPr txBox="1"/>
          <p:nvPr/>
        </p:nvSpPr>
        <p:spPr>
          <a:xfrm>
            <a:off x="1068588" y="5185591"/>
            <a:ext cx="31679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E2. 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Feed: 20 mM CaCl2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Diafiltrate: 50 mM NaCl, 8 mM CaCl2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DC4626-0F13-FD55-8977-00A057208C4B}"/>
              </a:ext>
            </a:extLst>
          </p:cNvPr>
          <p:cNvSpPr txBox="1"/>
          <p:nvPr/>
        </p:nvSpPr>
        <p:spPr>
          <a:xfrm>
            <a:off x="5536568" y="2137066"/>
            <a:ext cx="31679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E3. 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CaCl2, 5 mM NaCl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BB71B6-5CBA-8EC0-5AC7-0D3365C60A6E}"/>
              </a:ext>
            </a:extLst>
          </p:cNvPr>
          <p:cNvSpPr txBox="1"/>
          <p:nvPr/>
        </p:nvSpPr>
        <p:spPr>
          <a:xfrm>
            <a:off x="5536568" y="5252503"/>
            <a:ext cx="31679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E4. 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Feed: 20 mM NaCl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CaCl2, 10 mM NaCl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C7580B-918D-E167-8ECF-DC9BC09F4776}"/>
              </a:ext>
            </a:extLst>
          </p:cNvPr>
          <p:cNvSpPr txBox="1"/>
          <p:nvPr/>
        </p:nvSpPr>
        <p:spPr>
          <a:xfrm>
            <a:off x="8610600" y="4598264"/>
            <a:ext cx="31679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E5. 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Feed: 10 mM NaCl, 1 mM CaCl2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Diafiltrate: 50 mM CaCl2, 50 mM NaCl</a:t>
            </a:r>
          </a:p>
        </p:txBody>
      </p:sp>
    </p:spTree>
    <p:extLst>
      <p:ext uri="{BB962C8B-B14F-4D97-AF65-F5344CB8AC3E}">
        <p14:creationId xmlns:p14="http://schemas.microsoft.com/office/powerpoint/2010/main" val="372966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193421</TotalTime>
  <Words>2015</Words>
  <Application>Microsoft Office PowerPoint</Application>
  <PresentationFormat>Widescreen</PresentationFormat>
  <Paragraphs>373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Cambria Math</vt:lpstr>
      <vt:lpstr>Times New Roman</vt:lpstr>
      <vt:lpstr>Office Theme</vt:lpstr>
      <vt:lpstr>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On one 05/07/2020</dc:title>
  <dc:creator>Jonathan Ouimet</dc:creator>
  <cp:lastModifiedBy>Jonathan Ouimet</cp:lastModifiedBy>
  <cp:revision>1309</cp:revision>
  <dcterms:created xsi:type="dcterms:W3CDTF">2020-05-07T13:25:50Z</dcterms:created>
  <dcterms:modified xsi:type="dcterms:W3CDTF">2025-05-12T19:47:19Z</dcterms:modified>
</cp:coreProperties>
</file>
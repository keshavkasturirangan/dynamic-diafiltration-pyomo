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  <p:sldMasterId id="2147483685" r:id="rId3"/>
  </p:sldMasterIdLst>
  <p:notesMasterIdLst>
    <p:notesMasterId r:id="rId63"/>
  </p:notesMasterIdLst>
  <p:sldIdLst>
    <p:sldId id="1650" r:id="rId4"/>
    <p:sldId id="268" r:id="rId5"/>
    <p:sldId id="269" r:id="rId6"/>
    <p:sldId id="261" r:id="rId7"/>
    <p:sldId id="262" r:id="rId8"/>
    <p:sldId id="271" r:id="rId9"/>
    <p:sldId id="266" r:id="rId10"/>
    <p:sldId id="259" r:id="rId11"/>
    <p:sldId id="260" r:id="rId12"/>
    <p:sldId id="267" r:id="rId13"/>
    <p:sldId id="2147472426" r:id="rId14"/>
    <p:sldId id="2147472427" r:id="rId15"/>
    <p:sldId id="2147472428" r:id="rId16"/>
    <p:sldId id="2147472429" r:id="rId17"/>
    <p:sldId id="2147472430" r:id="rId18"/>
    <p:sldId id="2147472431" r:id="rId19"/>
    <p:sldId id="287" r:id="rId20"/>
    <p:sldId id="2147472432" r:id="rId21"/>
    <p:sldId id="289" r:id="rId22"/>
    <p:sldId id="2147472433" r:id="rId23"/>
    <p:sldId id="2147472434" r:id="rId24"/>
    <p:sldId id="2147472435" r:id="rId25"/>
    <p:sldId id="2147472436" r:id="rId26"/>
    <p:sldId id="2147472425" r:id="rId27"/>
    <p:sldId id="2147472437" r:id="rId28"/>
    <p:sldId id="2147472438" r:id="rId29"/>
    <p:sldId id="2147472439" r:id="rId30"/>
    <p:sldId id="2147472440" r:id="rId31"/>
    <p:sldId id="2147472441" r:id="rId32"/>
    <p:sldId id="2147472442" r:id="rId33"/>
    <p:sldId id="2147472443" r:id="rId34"/>
    <p:sldId id="2147472444" r:id="rId35"/>
    <p:sldId id="2147472445" r:id="rId36"/>
    <p:sldId id="2147472446" r:id="rId37"/>
    <p:sldId id="2147472447" r:id="rId38"/>
    <p:sldId id="2147472448" r:id="rId39"/>
    <p:sldId id="2147472449" r:id="rId40"/>
    <p:sldId id="2147472450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147472387" r:id="rId56"/>
    <p:sldId id="2147472414" r:id="rId57"/>
    <p:sldId id="2147472421" r:id="rId58"/>
    <p:sldId id="388" r:id="rId59"/>
    <p:sldId id="288" r:id="rId60"/>
    <p:sldId id="286" r:id="rId61"/>
    <p:sldId id="1562" r:id="rId62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iHo73YM/FpLJf3RZrsEBtSyY5J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Dowl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5"/>
    <a:srgbClr val="E8ECF6"/>
    <a:srgbClr val="CDD4EB"/>
    <a:srgbClr val="0022F5"/>
    <a:srgbClr val="008500"/>
    <a:srgbClr val="3792EA"/>
    <a:srgbClr val="FF0000"/>
    <a:srgbClr val="B7B7B7"/>
    <a:srgbClr val="F3CABF"/>
    <a:srgbClr val="C4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697DE5-9888-468C-86D8-FFF9E8A69FE0}">
  <a:tblStyle styleId="{06697DE5-9888-468C-86D8-FFF9E8A69F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8E175-17EB-43BB-9359-DD97DDB502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60" autoAdjust="0"/>
    <p:restoredTop sz="78767" autoAdjust="0"/>
  </p:normalViewPr>
  <p:slideViewPr>
    <p:cSldViewPr snapToGrid="0" snapToObjects="1">
      <p:cViewPr varScale="1">
        <p:scale>
          <a:sx n="99" d="100"/>
          <a:sy n="99" d="100"/>
        </p:scale>
        <p:origin x="11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90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9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78" Type="http://customschemas.google.com/relationships/presentationmetadata" Target="metadata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“Membrane characterization can be formulated as a dynamic inverse problem, where we estimate transport parameters from time-resolved experimental data.”</a:t>
            </a:r>
          </a:p>
          <a:p>
            <a:r>
              <a:rPr lang="en-US" dirty="0"/>
              <a:t>“However, these parameters are often poorly identifiable due to strong correlations, which leads to an ill-conditioned inference problem.”</a:t>
            </a:r>
          </a:p>
          <a:p>
            <a:r>
              <a:rPr lang="en-US" dirty="0"/>
              <a:t>“To address this, we adopt a closed-loop uncertainty quantification framework.”</a:t>
            </a:r>
          </a:p>
          <a:p>
            <a:r>
              <a:rPr lang="en-US" dirty="0"/>
              <a:t>👉 (point to diagram)</a:t>
            </a:r>
          </a:p>
          <a:p>
            <a:r>
              <a:rPr lang="en-US" dirty="0"/>
              <a:t>“We estimate parameters using weighted least squares, quantify uncertainty through sensitivities and the Fisher Information Matrix, and then design new experiments to improve identifiability.”</a:t>
            </a:r>
          </a:p>
          <a:p>
            <a:r>
              <a:rPr lang="en-US" dirty="0"/>
              <a:t>“This creates a sequential learning loop.”</a:t>
            </a:r>
          </a:p>
          <a:p>
            <a:r>
              <a:rPr lang="en-US" b="1" dirty="0"/>
              <a:t>Final line (slow down):</a:t>
            </a:r>
            <a:endParaRPr lang="en-US" dirty="0"/>
          </a:p>
          <a:p>
            <a:r>
              <a:rPr lang="en-US" dirty="0"/>
              <a:t>“Our goal is to reshape the information geometry of the problem so that the parameters become identifiable.”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022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6BE-E720-A454-D678-EBB7233C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4DEB-52FF-A1D4-EB34-66DB9E80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91A30-CF43-CD42-BCEA-726C7D54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CBA5-D906-0D08-8030-5F599896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8DF-A4CF-C495-3E37-382D93E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291F-C3DB-499D-2B49-645F321B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F673-93EE-208F-3027-80FF1DA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2D76-F0F7-6BCF-D32A-327874FB4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12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8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 parameters, hydraulic permeability </a:t>
            </a:r>
            <a:r>
              <a:rPr lang="en-US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solute permeability coefficient B that correspond to the membrane transport properties,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and reflection coefficient sigma that depends on the thermodynamics of the membrane-solution interface. </a:t>
            </a: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8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D2AD-EF1C-3132-3127-1573B17B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E206-88FA-6E1D-187D-037D33AE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855EA-0AA7-4AD6-A8D2-2F3A5F94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9BC1-6B0C-3EE4-3394-F10324828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59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36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3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6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6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3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7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1E1D2-72A9-9FD3-67EA-EE0005BB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D6328E-A9E1-FD12-C995-CF3D272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65"/>
            <a:ext cx="10972801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B2E5501-FFAD-A888-C3A6-6DDCDBEA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24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2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23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1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4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3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0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1646"/>
      </p:ext>
    </p:extLst>
  </p:cSld>
  <p:clrMapOvr>
    <a:masterClrMapping/>
  </p:clrMapOvr>
  <p:transition spd="med"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40329"/>
      </p:ext>
    </p:extLst>
  </p:cSld>
  <p:clrMapOvr>
    <a:masterClrMapping/>
  </p:clrMapOvr>
  <p:transition spd="med"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2455"/>
      </p:ext>
    </p:extLst>
  </p:cSld>
  <p:clrMapOvr>
    <a:masterClrMapping/>
  </p:clrMapOvr>
  <p:transition spd="med"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5491"/>
      </p:ext>
    </p:extLst>
  </p:cSld>
  <p:clrMapOvr>
    <a:masterClrMapping/>
  </p:clrMapOvr>
  <p:transition spd="med"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6766"/>
      </p:ext>
    </p:extLst>
  </p:cSld>
  <p:clrMapOvr>
    <a:masterClrMapping/>
  </p:clrMapOvr>
  <p:transition spd="med"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57082"/>
      </p:ext>
    </p:extLst>
  </p:cSld>
  <p:clrMapOvr>
    <a:masterClrMapping/>
  </p:clrMapOvr>
  <p:transition spd="med"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75974"/>
      </p:ext>
    </p:extLst>
  </p:cSld>
  <p:clrMapOvr>
    <a:masterClrMapping/>
  </p:clrMapOvr>
  <p:transition spd="med"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34264"/>
      </p:ext>
    </p:extLst>
  </p:cSld>
  <p:clrMapOvr>
    <a:masterClrMapping/>
  </p:clrMapOvr>
  <p:transition spd="med" advClick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9242"/>
      </p:ext>
    </p:extLst>
  </p:cSld>
  <p:clrMapOvr>
    <a:masterClrMapping/>
  </p:clrMapOvr>
  <p:transition spd="med" advClick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7285"/>
      </p:ext>
    </p:extLst>
  </p:cSld>
  <p:clrMapOvr>
    <a:masterClrMapping/>
  </p:clrMapOvr>
  <p:transition spd="med" advClick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79103"/>
      </p:ext>
    </p:extLst>
  </p:cSld>
  <p:clrMapOvr>
    <a:masterClrMapping/>
  </p:clrMapOvr>
  <p:transition spd="med" advClick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87771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60296"/>
      </p:ext>
    </p:extLst>
  </p:cSld>
  <p:clrMapOvr>
    <a:masterClrMapping/>
  </p:clrMapOvr>
  <p:transition spd="med" advClick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0546"/>
      </p:ext>
    </p:extLst>
  </p:cSld>
  <p:clrMapOvr>
    <a:masterClrMapping/>
  </p:clrMapOvr>
  <p:transition spd="med" advClick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34315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43833"/>
      </p:ext>
    </p:extLst>
  </p:cSld>
  <p:clrMapOvr>
    <a:masterClrMapping/>
  </p:clrMapOvr>
  <p:transition spd="med" advClick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03342"/>
      </p:ext>
    </p:extLst>
  </p:cSld>
  <p:clrMapOvr>
    <a:masterClrMapping/>
  </p:clrMapOvr>
  <p:transition spd="med" advClick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5813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31" Type="http://schemas.openxmlformats.org/officeDocument/2006/relationships/image" Target="../media/image3.tiff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71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2810-152E-88D5-CED5-86AAB06B0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/>
          <a:srcRect l="96653" r="770"/>
          <a:stretch/>
        </p:blipFill>
        <p:spPr>
          <a:xfrm>
            <a:off x="1559942" y="6169025"/>
            <a:ext cx="10632057" cy="68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52DB-239B-316A-8F82-E495F1474D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-3" y="6169024"/>
            <a:ext cx="1559943" cy="68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890BDC-BB55-DEB4-8AEA-3B808BD3019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41" y="6398564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3" Type="http://schemas.openxmlformats.org/officeDocument/2006/relationships/image" Target="../media/image15.png"/><Relationship Id="rId7" Type="http://schemas.openxmlformats.org/officeDocument/2006/relationships/image" Target="NUL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tmp"/><Relationship Id="rId5" Type="http://schemas.openxmlformats.org/officeDocument/2006/relationships/image" Target="../media/image17.png"/><Relationship Id="rId15" Type="http://schemas.openxmlformats.org/officeDocument/2006/relationships/image" Target="../media/image26.jpe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11" Type="http://schemas.openxmlformats.org/officeDocument/2006/relationships/image" Target="../media/image85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tmp"/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8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1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2F3F04-FC14-EA67-DF2A-2DC32BA4EA8A}"/>
              </a:ext>
            </a:extLst>
          </p:cNvPr>
          <p:cNvSpPr/>
          <p:nvPr/>
        </p:nvSpPr>
        <p:spPr>
          <a:xfrm>
            <a:off x="-4" y="2280092"/>
            <a:ext cx="12192004" cy="2342493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lumMod val="0"/>
                  <a:lumOff val="100000"/>
                  <a:alpha val="51049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-4" y="73155"/>
            <a:ext cx="12192000" cy="118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en-US" sz="4400" b="0" kern="1200" dirty="0">
                <a:solidFill>
                  <a:srgbClr val="0022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Plan for a Digital Twin Testbed</a:t>
            </a:r>
            <a:endParaRPr lang="en-US" sz="4000" dirty="0">
              <a:solidFill>
                <a:srgbClr val="0022F5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275AFC-6E58-4F7D-85DA-86F8E363062F}"/>
              </a:ext>
            </a:extLst>
          </p:cNvPr>
          <p:cNvSpPr txBox="1">
            <a:spLocks/>
          </p:cNvSpPr>
          <p:nvPr/>
        </p:nvSpPr>
        <p:spPr>
          <a:xfrm>
            <a:off x="1900320" y="4731704"/>
            <a:ext cx="8391356" cy="224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Baskerville" panose="02020502070401020303" pitchFamily="18" charset="0"/>
                <a:ea typeface="Baskerville" panose="02020502070401020303" pitchFamily="18" charset="0"/>
              </a:rPr>
              <a:t>Keshav Kasturi Rangan</a:t>
            </a:r>
          </a:p>
          <a:p>
            <a:pPr marL="0" indent="0" algn="ctr">
              <a:buNone/>
            </a:pPr>
            <a:endParaRPr lang="en-US" sz="1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Group Meeting</a:t>
            </a:r>
            <a:b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</a:br>
            <a:endParaRPr lang="en-US" sz="2400" dirty="0">
              <a:latin typeface="Baskerville" panose="02020502070401020303" pitchFamily="18" charset="0"/>
              <a:ea typeface="Baskerville" panose="02020502070401020303" pitchFamily="18" charset="0"/>
              <a:cs typeface="CMU Sans Serif Medium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April 2, 2026</a:t>
            </a:r>
          </a:p>
        </p:txBody>
      </p:sp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4297FA7C-CA05-87F7-E27E-41FC51226ED9}"/>
              </a:ext>
            </a:extLst>
          </p:cNvPr>
          <p:cNvSpPr txBox="1">
            <a:spLocks/>
          </p:cNvSpPr>
          <p:nvPr/>
        </p:nvSpPr>
        <p:spPr>
          <a:xfrm>
            <a:off x="-4" y="1331852"/>
            <a:ext cx="12192000" cy="50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From Parameter Estimation to Adaptive Experiment Design in Diafiltration Systems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AC631908-BEAB-4111-8A6D-E68D8DA18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7170" y="2084502"/>
            <a:ext cx="2688995" cy="268899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0FEE7-11A4-8BB9-493C-DED9ADD8470B}"/>
              </a:ext>
            </a:extLst>
          </p:cNvPr>
          <p:cNvCxnSpPr/>
          <p:nvPr/>
        </p:nvCxnSpPr>
        <p:spPr>
          <a:xfrm>
            <a:off x="6338457" y="2798618"/>
            <a:ext cx="2431473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0E30-1307-1333-A2EE-59F495F57048}"/>
              </a:ext>
            </a:extLst>
          </p:cNvPr>
          <p:cNvCxnSpPr>
            <a:cxnSpLocks/>
          </p:cNvCxnSpPr>
          <p:nvPr/>
        </p:nvCxnSpPr>
        <p:spPr>
          <a:xfrm flipH="1">
            <a:off x="6368811" y="4087091"/>
            <a:ext cx="2370764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87;p1">
            <a:extLst>
              <a:ext uri="{FF2B5EF4-FFF2-40B4-BE49-F238E27FC236}">
                <a16:creationId xmlns:a16="http://schemas.microsoft.com/office/drawing/2014/main" id="{22397273-8049-FF5A-D6D2-2C34A9E2A28B}"/>
              </a:ext>
            </a:extLst>
          </p:cNvPr>
          <p:cNvSpPr txBox="1">
            <a:spLocks/>
          </p:cNvSpPr>
          <p:nvPr/>
        </p:nvSpPr>
        <p:spPr>
          <a:xfrm>
            <a:off x="5987715" y="3049824"/>
            <a:ext cx="3132955" cy="80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Digital Model (Current Setup)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E2D3EF-44CA-6A8C-8F8C-0F3F56207E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875" y="2281379"/>
            <a:ext cx="6082918" cy="23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data_config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:
  n, n_v0,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n_extra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n_h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
  M_F0, M_O, C_F0, C_D
 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delP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Temp, Am, rho
  Lp0, B0, sigma0, theta0
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data_raw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[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i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]:
  time, mass,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cF_exp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cV_avg</a:t>
            </a:r>
            <a:endParaRPr sz="900" b="0" i="0" dirty="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Byte-identical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DATA1 — Apparatus Figure 2 (KCl mass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DATA2 — Lag-mode Figure 6 (KCl retentate cF)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First DATA3 fit on the 11 single-salt sheets. Same WSSE objective:  Obj = 1e4 · ( Σ (Δm/0.01)²/N_m  +  Σ (Δcv/(0.03·cv))²/N_v  +  Σ (Δcf/(0.003·cf))²/N_r ).  Three distinct failure patterns appear — all σ-pathologies, not data bugs: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Latin-Hypercube: draw N starts so that, after permuting columns, each of the N strata along every axis contains exactly one sample. θ_k = θ_lo + LHS_unit[k] · (θ_hi - θ_lo). Better space coverage than IID for small 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IPOPT is local. Multistart is a global-search heuristic: best_fit = argmin_{k=1..N} Obj(IPOPT(θ_k))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R10: factor-of-4 Obj cut by escaping Mode B. R12: tightening Lp to [5,8] removed the upper-Lp draws but the σ=1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Pyomo Var bounds remain wider than the LHS box: Lp ∈ (0.5, 50), B ∈ (1e-6, 30), σ ∈ (0, 1). LHS just controls trial starts; if a corner solution is the true global minimum it will still be reached. The next two slides tackle the loss-function side.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Sidebar ICP-OES (R14) + Final Tube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FINAL TUBE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Open questions — frequentist, no priors; corner-hopping still in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Should we reparameterize σ = exp(η)/(1+exp(η)), η ∈ ℝ, to eliminate the {σ=0, σ=1} corners? Frequentist-neutral (pure change of variables in the parameter space).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Retentate weight?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onsolas"/>
              </a:rPr>
              <a:t>data_config:
  n, n_v0, n_extra, n_h, n_A
  M_F0, M_O, C_F0, C_D
  delP, Temp, Am, rho
  Lp0, B0, sigma0, theta0
data_raw[i]:
  time, mass, cF_exp, cV_avg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Byte-identical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DATA1 — Apparatus Figure 2 (KCl mass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DATA2 — Lag-mode Figure 6 (KCl retentate cF)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First DATA3 fit on the 11 single-salt sheets. Same WSSE objective:  Obj = 1e4 · ( Σ (Δm/0.01)²/N_m  +  Σ (Δcv/(0.03·cv))²/N_v  +  Σ (Δcf/(0.003·cf))²/N_r ).  Three distinct failure patterns appear — all σ-pathologies, not data bugs: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05A · MC2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MC2 — base salts (NaCl, CaCl₂, LaCl₃)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The base-salts panel — what you asked about.  Same code, three different cation valences, on the same membrane coupon.  Mass-litmus baseline (σ = 0, B = 1e-6) — this is the σ = 0 corner.  NaCl mass slope is under-predicted; LaCl₃ best.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05B · MC3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MC3 — step sheets (SCaCl₂, S2CaCl₂, SNaCl)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Second NF270 coupon, three step sheets.  Mass-litmus reads similar Lₚ to MC2; SNaCl shows the strongest mass under-prediction (high baseline permeate flow).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05C · MC4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MC4 — step sheets (SLaCl₃, SNaCl)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Third coupon, two step sheets only (SLaCl₃ + SNaCl).  LaCl₃ rejection again very high — Final-Tube ICP read ≈ −0.001 mM here, so the R15 anchor is silently skipped on this sheet.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05D · MC5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MC5 — repeat sheets (NaCl, S2NaCl, SNaCl)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Fourth coupon, three repeat NaCl variants.  S2NaCl is the diluting-experiment sheet (100 mM Feed, 0 mM Diafiltrate) — that is why the retentate is decreasing.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Latin-Hypercube: draw N starts so that, after permuting columns, each of the N strata along every axis contains exactly one sample. θ_k = θ_lo + LHS_unit[k] · (θ_hi - θ_lo). Better space coverage than IID for small 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IPOPT is local. Multistart is a global-search heuristic: best_fit = argmin_{k=1..N} Obj(IPOPT(θ_k))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R10: factor-of-4 Obj cut by escaping Mode B. R12: tightening Lp to [5,8] removed the upper-Lp draws but the σ=1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Pyomo Var bounds remain wider than the LHS box: Lp ∈ (0.5, 50), B ∈ (1e-6, 30), σ ∈ (0, 1). LHS just controls trial starts; if a corner solution is the true global minimum it will still be reached. The next two slides tackle the loss-function side.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Sidebar ICP-OES (R14) + Final Tube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FINAL TUBE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Open questions — frequentist, no priors; corner-hopping still in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Should we reparameterize σ = exp(η)/(1+exp(η)), η ∈ ℝ, to eliminate the {σ=0, σ=1} corners? Frequentist-neutral (pure change of variables in the parameter space).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Retentate weight?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F5-AB68-BA8C-F15E-8081BC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154981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Backup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90D04-C649-5473-A3DE-81A87A661C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C7D3-B622-B26C-0D11-4D7E86A82A1E}"/>
              </a:ext>
            </a:extLst>
          </p:cNvPr>
          <p:cNvSpPr txBox="1"/>
          <p:nvPr/>
        </p:nvSpPr>
        <p:spPr>
          <a:xfrm>
            <a:off x="4872384" y="1997839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/>
              <a:t>📎</a:t>
            </a:r>
          </a:p>
        </p:txBody>
      </p:sp>
    </p:spTree>
    <p:extLst>
      <p:ext uri="{BB962C8B-B14F-4D97-AF65-F5344CB8AC3E}">
        <p14:creationId xmlns:p14="http://schemas.microsoft.com/office/powerpoint/2010/main" val="152933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Lumped-parameter membrane transport — what each θ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solidFill>
            <a:srgbClr val="E6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Hydraulic permeability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 / (m² · hr · bar)   sets J_w against ΔP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solidFill>
            <a:srgbClr val="EC9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Solute permeability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μm / s   sets diffusive solute flux J_s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solidFill>
            <a:srgbClr val="6FB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Reflection coefficient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0..1   sets the osmotic backpressure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WATER FLUX  J_w  [cm/s]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J_w · 36000  =  Lₚ · [ ΔP − σ · n_i · R · T · ( c_in − c_H 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m.Jw[n,t] · 36000  ==  m.Lp · (delP − (m.cIn − m.cH) · ni · m.sigma · R · 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SOLUTE FLUX  J_s  [mol/(cm²·s)]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J_s · 10000  =  B · ( c_in − c_H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single-B form:   m.Js[n,t] · 10000  ==  m.B · (m.cIn − m.cH)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CONCENTRATION POLARIZATION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c_in  =  ( c_F − c_H ) · exp( J_w / k )  +  c_H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k  =  0.23 · v^0.57 · D^0.67 / (ν^0.24 · b^0.43),   v = (RPM/60) · π ·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DIAFILTRATE  (constant)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c_D  =  const  (mM)
M_D  →  pumped in at S
  S  fit during holdup
  (Lag mode only)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STIRRED CELL  (feed)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7953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79393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dm_F / dt  =  − S₀ − A_m · ρ · J_w     (Lag, post-holdup)
dm_F / dt  =  + S / 3600                          (Lag, in holdup)
dc_F / dt  =  ( A_m · ρ / m_F ) ·
             ( c_D · J_w − J_s 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HOLDUP  (m_H = 0.25 mL)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147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1587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dc_H / dt  =  ( A_m · ρ / m_H ) ·
             ( J_s − c_H · J_w )
c_in  =  (c_F − c_H) exp(J_w/k)  +  c_H
         ↑ algebraic constraint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COLLECTING VIAL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2341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23781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dm_V / dt  =  A_m · ρ · J_w
d(c_V · m_V)/dt  =  A_m · ρ · J_w · c_H
c_V  =  (c_V · m_V) / m_V
         ↑ avoids 0/0 at vial start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6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21295C"/>
                </a:solidFill>
                <a:latin typeface="Calibri"/>
              </a:rPr>
              <a:t>Parameter estimation problem:   θ̂  =  argmin_θ  Σ ( y_meas − h(x(θ), t) )² / σ_meas²    subject to the DAEs above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States, derivatives, and the time-scaling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STATES &amp; DERIVATIVES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4572000" cy="3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4297680" cy="2925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onsolas"/>
              </a:rPr>
              <a:t>m.cF   [n, τ]    retentate / feed   [mM]
m.cH   [n, τ]    holdup             [mM]
m.mV   [n, τ]    cumulative vial mass [g]
m.cVmV [n, τ]    extensive solute   c_V · m_V
m.cV   [n, τ]    vial concentration [mM]
derivatives via Pyomo DAE:
   m.dcF    = DerivativeVar(m.cF,   wrt=m.tau)
   m.dcH    = DerivativeVar(m.cH,   wrt=m.tau)
   m.dmV    = DerivativeVar(m.mV,   wrt=m.tau)
   m.dcVmV  = DerivativeVar(m.cVmV, wrt=m.tau)
algebraic recovery:
   c_V · m_V  =  c_VmV     (well-defined at m_V = 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600" y="128016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8760" y="130759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MASS  d m_V / d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8760" y="155448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m_V / d t   =   A_m · ρ · J_w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600" y="215732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8760" y="218475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SOLUTE  d (c_V · m_V) / d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8760" y="243164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(c_V · m_V) / d t   =   A_m · ρ · J_w · c_H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600" y="303448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8760" y="306191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HOLDUP CONCENTRATION  d c_H / d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30880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c_H / d t   =   ( A_m · ρ / m_H ) · ( J_s − c_H · J_w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391164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8760" y="393907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FEED CONCENTRATION  d c_F / d t           (DATA mode)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760" y="418596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c_F / d t   =   ( A_m · ρ / M_F0 ) · ( c_D · J_w − J_s 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05800"/>
            <a:ext cx="114602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146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TIME-SCALING FACTOR — chain rule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8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Every Pyomo ODE is multiplied by  (TF[n] − TI[n]) / Tauf   because τ ∈ [0,1] is rescaled time:
              dx / dτ   =   (TF − TI) · dx / dt          (chain rule, Tauf = 1)
Drop the factor and the dynamics fit the wrong time-window.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— what IPOPT actually minimizes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164592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WSSE OBJECTIVE  Obj(θ ;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1185920" cy="99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10⁴ · [   Σ_i  ( (m_pred_i − m_meas_i) / σ_m )² / N_m
       +   Σ_j  ( (c_V_j − c_V_j_meas) / (0.03 · c_V_j_meas) )² / N_v
       +   Σ_k  ( (c_F_k − c_F_k_meas) / (0.003 · c_F_k_meas) )² / N_r
       +   R15:  ( (c_F[N, τ_last] − ICP_final) / (0.003 · ICP_final) )²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2480"/>
            <a:ext cx="1118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 =  mass_scale_g  =  0.01 g  (R13, frequentist balance precision; salt-independent)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MASS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Δm / σ_m )² / N_m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= 0.01 g is the analytical-balance precision.
Under N(0, σ_m²) noise, this is MLE up to a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CONC.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Δc_V / (0.03 · c_V_meas) )² / N_v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3 % relative uncertainty on ICP-OES per-vial reads.
Hits the optimizer at τ = τ_last for each real vial.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RETENTATE TERM   ← 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Δc_F / (0.003 · c_F_meas) )² / N_r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0.3 % relative uncertainty on in-line conductivity.
10× tighter than vial → cF dominates the WSSE.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520"/>
            <a:ext cx="11460240" cy="15544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3768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7720"/>
            <a:ext cx="11185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42144"/>
                </a:solidFill>
                <a:latin typeface="Cambria"/>
              </a:rPr>
              <a:t>IPOPT discretizes onto its own τ-grid.  Measurements live at experimental timestamps t_j.
For each (n_vial, t_j_scaled), find bracketing nodes τ[k], τ[k+1] and linearly interpolate:
     ŷ ( t_j )   =   y[k]  +  ( y[k+1] − y[k] ) · ( t_j − τ[k] ) / ( τ[k+1] − τ[k] )
Residuals are evaluated at ŷ(t_j), not at grid nodes.  Same trick DATA2 utility.py uses.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Fisher information matrix — eigenstructure tells identifiability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FISHER INFORMATION MATRIX  M  =  J ᵀ · Σ_y⁻¹ ·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J  =  ∂ y / ∂ θ   (n_obs × n_θ)         Σ_y  =  diag( σ_m² ,  (0.03·c_V)² ,  (0.003·c_F)² )         V_θ  ≈  M ⁻¹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Eigen-decomposition of M:  large eigenvalues → tightly constrained directions;  small →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FROM LATEST DATA3 RUN — NaCl-MC2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7315200" cy="29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eigenvalue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7200" y="269748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eig_dir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7200" y="269748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std (asymptotic)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200" y="269748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7200" y="320040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200" y="320040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0.0065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200" y="320040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tightest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2.776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200" y="370332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00" y="370332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200" y="370332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flat ← corner basin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907 752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7200" y="420624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200" y="420624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200" y="420624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most informative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det(M)  =  3.99 × 10⁵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7200" y="470916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97200" y="470916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trace(M)  =  9.08 × 10⁵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200" y="470916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cond(M)  =  5.7 × 10⁶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FIM INFERENCE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606040"/>
            <a:ext cx="3826200" cy="2925000"/>
          </a:xfrm>
          <a:prstGeom prst="rect">
            <a:avLst/>
          </a:prstGeom>
          <a:solidFill>
            <a:srgbClr val="DAE8FC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2743200"/>
            <a:ext cx="3551880" cy="2650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libri"/>
              </a:rPr>
              <a:t>·  σ direction is FLAT  (std 2.26
   while σ ∈ [0,1])  ⇒  exactly the
   corner-basin signature.
·  Lp is the most informative
   direction (eigenvalue ~9 × 10⁵).
·  B is the tightest (std 0.0065
   μm/s) — but this is a local
   linearization at the fitted θ̂.
·  FIM is local: meaningful only
   near θ̂ under assumed σ_meas.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ASYMPTOTIC CONFIDENCE ELLIPSOID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4360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( θ − θ̂ ) ᵀ · M · ( θ − θ̂ )   ≤   χ²_{n_θ, 1−α}                          For α = 0.05, n_θ = 3:  threshold = 7.815.    In the (Lp, σ) plane, the ellipse is highly elongated along 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5198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  <p:extLst>
      <p:ext uri="{BB962C8B-B14F-4D97-AF65-F5344CB8AC3E}">
        <p14:creationId xmlns:p14="http://schemas.microsoft.com/office/powerpoint/2010/main" val="3841992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  <p:extLst>
      <p:ext uri="{BB962C8B-B14F-4D97-AF65-F5344CB8AC3E}">
        <p14:creationId xmlns:p14="http://schemas.microsoft.com/office/powerpoint/2010/main" val="54018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Membrane transport — Jw, Js, concentration polarization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WATER FLUX  Jw  [cm/s]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Jw  =  ( Lp / 36000 ) · [ ΔP  −  σ · n_i · R · T · ( c_in − c_H ) ]
Pyomo line:
  m.Jw[n,t] · 36000  ==  m.Lp · (
      delP − (m.cIn[n,t]−m.cH[n,t]) · ni · m.sigma · R · T )
Lp is in L/(m²·hr·bar); the 36000 converts to cm/s.
(c_in − c_H) is the osmotic driving force across the membrane.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SOLUTE FLUX  Js  [mol/(cm²·s)]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Js · 10000  =  B · ( c_in − c_H )         (single-B form)
Pyomo line:
  m.Js[n,t] · 10000  ==  m.B · (m.cIn[n,t]−m.cH[n,t])
B is in μm/s; 10000 converts to cm²·mM-per-time units
consistent with the rest of the model.
For convection-diffusion B_form:
  Js · 10000  =  ( Jw · B · 10000 ) · ( c_in − c_H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CONCENTRATION POLARIZATION  (film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83080"/>
            <a:ext cx="11292840" cy="2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83080"/>
            <a:ext cx="91440" cy="2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10512"/>
            <a:ext cx="10927080" cy="2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c_in  =  ( c_F  −  c_H ) · exp( Jw / k )  +  c_H
Pyomo line:
  m.cIn[n,t]  ==  (m.cF[n,t] − m.cH[n,t]) · exp( m.Jw[n,t] / k )  +  m.cH[n,t]
k = mass-transfer coefficient computed from stir velocity v, diameter b, kinematic viscosity ν,
and salt diffusivity D via the standard correlation:
  k  =  0.23 · v^0.57 · D^0.67 / (ν^0.24 · b^0.43)         where  v = (RPM / 60) · π · b
R16 update: RPM is now parsed from XLSX notes → data_config["stir_rpm"], used in k.
D is salt-specific: K⁺ 1.96e-5, Na⁺ 1.33e-5, Ca²⁺ 0.79e-5, La³⁺ 0.62e-5 cm²/s.
Why this matters: the membrane sees c_in, not c_F.  Polarization raises c_in above c_F when Jw is large,
which couples Lp and σ — a key reason the (Lp, σ) landscape has corner basins.</a:t>
            </a:r>
          </a:p>
        </p:txBody>
      </p:sp>
    </p:spTree>
    <p:extLst>
      <p:ext uri="{BB962C8B-B14F-4D97-AF65-F5344CB8AC3E}">
        <p14:creationId xmlns:p14="http://schemas.microsoft.com/office/powerpoint/2010/main" val="262039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14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  <p:extLst>
      <p:ext uri="{BB962C8B-B14F-4D97-AF65-F5344CB8AC3E}">
        <p14:creationId xmlns:p14="http://schemas.microsoft.com/office/powerpoint/2010/main" val="40653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Mass and species balances — what each state evolves 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15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MASS  m.mV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m_V / d t  =  A_m · ρ · J_w
Pyomo:
  m.dmV[n,t]  ==  m.Jw[n,t] · A_m · ρ · (TF[n] − TI[n]) /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40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4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SOLUTE  m.cVmV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404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404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836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(c_V · m_V) / d t  =  A_m · ρ · J_w · c_H
Pyomo:
  m.dcVmV[n,t]  ==
     m.Jw[n,t] · m.cH[n,t] · A_m · ρ · (TF[n] − TI[n])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HOLDUP  m.cH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c_H / d t  =  ( A_m · ρ / m_H ) · ( J_s − c_H · J_w )
Pyomo:
  m.dcH[n,t]  ==  A_m · ρ / m_H · (
     m.Js[n,t] − m.cH[n,t] · m.Jw[n,t] ) · (TF[n] − TI[n])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404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48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  m.cF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4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404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836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c_F / d t  =  ( A_m · ρ / M_F0 ) · ( c_D · J_w − J_s )
Pyomo (DATA mode):
  m.dcF[n,t]  ==  A_m · ρ / M_F0 · (
     m.cD · m.Jw[n,t] − m.Js[n,t] ) · (TF[n] − TI[n])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5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5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LAG / OVERFLOW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23080"/>
            <a:ext cx="11292840" cy="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323080"/>
            <a:ext cx="91440" cy="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350512"/>
            <a:ext cx="10927080" cy="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 Lag and Overflow modes,  m_F  becomes dynamic too:
  d m_F / d t  =  − S₀  −  A_m · ρ · J_w        (Lag, after holdup)
  d m_F / d t  =   S / 3600                      (Lag, during holdup)
S₀, S are fit parameters describing leakage / diafiltrate inflow.</a:t>
            </a:r>
          </a:p>
        </p:txBody>
      </p:sp>
    </p:spTree>
    <p:extLst>
      <p:ext uri="{BB962C8B-B14F-4D97-AF65-F5344CB8AC3E}">
        <p14:creationId xmlns:p14="http://schemas.microsoft.com/office/powerpoint/2010/main" val="234343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16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  <p:extLst>
      <p:ext uri="{BB962C8B-B14F-4D97-AF65-F5344CB8AC3E}">
        <p14:creationId xmlns:p14="http://schemas.microsoft.com/office/powerpoint/2010/main" val="88596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17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  <p:extLst>
      <p:ext uri="{BB962C8B-B14F-4D97-AF65-F5344CB8AC3E}">
        <p14:creationId xmlns:p14="http://schemas.microsoft.com/office/powerpoint/2010/main" val="270820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+ interpolation onto measurement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18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13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3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l-GR" sz="1100" b="0" i="0" dirty="0">
                    <a:solidFill>
                      <a:srgbClr val="1E293B"/>
                    </a:solidFill>
                    <a:latin typeface="Consolas"/>
                  </a:rPr>
                  <a:t>  (</a:t>
                </a:r>
                <a:r>
                  <a:rPr lang="en-US" sz="1100" b="0" i="0" dirty="0">
                    <a:solidFill>
                      <a:srgbClr val="1E293B"/>
                    </a:solidFill>
                    <a:latin typeface="Consolas"/>
                  </a:rPr>
                  <a:t>R13, frequentist balance precision, salt-independent).</a:t>
                </a:r>
                <a:endParaRPr sz="1100" b="0" i="0" dirty="0">
                  <a:solidFill>
                    <a:srgbClr val="1E293B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blipFill>
                <a:blip r:embed="rId2"/>
                <a:stretch>
                  <a:fillRect l="-812" t="-370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IPOPT discretizes onto its own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-grid.
Measurements are at experimental timestamps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
For each (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n_vial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t_j_scaled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), find the bracketing grid
nodes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[k],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[k+1] and linear-interpolate:
</a:t>
                </a:r>
                <a14:m>
                  <m:oMath xmlns:m="http://schemas.openxmlformats.org/officeDocument/2006/math">
                    <m:r>
                      <a:rPr lang="cy-GB" sz="10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ŷ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  = 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 +  (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+1] −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) · </m:t>
                    </m:r>
                    <m:box>
                      <m:boxPr>
                        <m:ctrlPr>
                          <a:rPr lang="cy-GB" sz="10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cy-GB" sz="1000" b="0" i="1" dirty="0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 )</m:t>
                            </m:r>
                          </m:num>
                          <m:den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+1]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])</m:t>
                            </m:r>
                          </m:den>
                        </m:f>
                      </m:e>
                    </m:box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
Residuals are evaluated at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ŷ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(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), not at grid nodes.
Same trick used by DATA2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utility.py:obj_rule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blipFill>
                <a:blip r:embed="rId3"/>
                <a:stretch>
                  <a:fillRect l="-1485" t="-2400" b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26364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THESE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10512"/>
            <a:ext cx="5120640" cy="2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MLE interpretation: under independent Gaussian noise
  N( 0, σ_meas² )  on each residual, the WSSE is the
  negative log-likelihood up to constants.
  σ_meas (mass)        =  0.01  g    (balance precision)
  σ_meas (vial conc.)  =  3 %  ·  cV_meas
  σ_meas (retentate)   =  0.3 %  ·  cF_meas
Retentate weight is much tighter than vial weight.
The optimizer therefore prioritizes cF fit — and that
is one mechanism driving the σ=1 corner basin (see
slide 6 and the open-questions slide).</a:t>
            </a:r>
          </a:p>
        </p:txBody>
      </p:sp>
    </p:spTree>
    <p:extLst>
      <p:ext uri="{BB962C8B-B14F-4D97-AF65-F5344CB8AC3E}">
        <p14:creationId xmlns:p14="http://schemas.microsoft.com/office/powerpoint/2010/main" val="309280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19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  <p:extLst>
      <p:ext uri="{BB962C8B-B14F-4D97-AF65-F5344CB8AC3E}">
        <p14:creationId xmlns:p14="http://schemas.microsoft.com/office/powerpoint/2010/main" val="7875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  <p:extLst>
      <p:ext uri="{BB962C8B-B14F-4D97-AF65-F5344CB8AC3E}">
        <p14:creationId xmlns:p14="http://schemas.microsoft.com/office/powerpoint/2010/main" val="117495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Finite-difference sensitivities, covariance,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SENSITIVITIES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Stack predictions:   y ( θ )  =  [ mV ;  cV ;  cF ]
For each parameter θ_i, perturb and re-simulate:
   θ_i±  =  θ̂_i  ·  ( 1  ±  h ),     h ≈ 10⁻⁴
   ∂ y / ∂ θ_i   ≈   ( y( θ_i+ ) − y( θ_i− ) )  /  ( 2 h θ̂_i )
Code: calc_FIM( data_stru, mode, theta=θ̂, step=1e-8 ).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FISHER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Sensitivity matrix:   J  =  ∂ y / ∂ θ           (n_obs × n_θ)
Measurement covariance:
   Σ_y  =  diag( σ_m² ,  (0.03·cV)² ,  (0.003·cF)² )
   M    =  J ᵀ · Σ_y⁻¹ · J                (Fisher Information)
Asymptotic parameter covariance:
   V_θ  ≈  M⁻¹
Eigen-decomposition of M tells you identifiability:
   large eigenvalues  →  tightly constrained directions
   small eigenvalues  →  flat directions, large variance
   cond(M) ≫ 1        →  correlated / ill-conditioned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FROM LATEST DATA3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3080"/>
            <a:ext cx="11292840" cy="1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83080"/>
            <a:ext cx="91440" cy="1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10512"/>
            <a:ext cx="10927080" cy="1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NaCl-MC2 after IPOPT:
   eig(M)  =  [ 0.158,  2.776,  907,752 ]                (well-conditioned in 1 direction!)
   eig_dir =  [ B,      σ,      Lp     ]
   std     =  [ 0.0065, 2.26,   1.25   ]
   trace   =  9.08 × 10⁵        det  =  3.99 × 10⁵        cond  =  5.7 × 10⁶
σ-direction is flat (std 2.26 with σ ∈ [0,1]) — exactly what the corner-basin
behaviour predicts. Lp is the most informative direction, B is the tightest.
Identifiability is local: it lives at the fitted θ̂, under the assumed σ_meas.</a:t>
            </a:r>
          </a:p>
        </p:txBody>
      </p:sp>
    </p:spTree>
    <p:extLst>
      <p:ext uri="{BB962C8B-B14F-4D97-AF65-F5344CB8AC3E}">
        <p14:creationId xmlns:p14="http://schemas.microsoft.com/office/powerpoint/2010/main" val="302493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  <p:extLst>
      <p:ext uri="{BB962C8B-B14F-4D97-AF65-F5344CB8AC3E}">
        <p14:creationId xmlns:p14="http://schemas.microsoft.com/office/powerpoint/2010/main" val="31392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  <p:extLst>
      <p:ext uri="{BB962C8B-B14F-4D97-AF65-F5344CB8AC3E}">
        <p14:creationId xmlns:p14="http://schemas.microsoft.com/office/powerpoint/2010/main" val="110071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83C67A1C-2317-4FCB-2BFC-C0E979A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586"/>
            <a:ext cx="12192000" cy="787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Membrane Characterization using a Digital Model</a:t>
            </a: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DE6AB9-B45F-A744-3771-AECCC17ED1F1}"/>
              </a:ext>
            </a:extLst>
          </p:cNvPr>
          <p:cNvGrpSpPr/>
          <p:nvPr/>
        </p:nvGrpSpPr>
        <p:grpSpPr>
          <a:xfrm>
            <a:off x="618224" y="1224950"/>
            <a:ext cx="11130910" cy="4198364"/>
            <a:chOff x="618224" y="1224950"/>
            <a:chExt cx="11130910" cy="4198364"/>
          </a:xfrm>
        </p:grpSpPr>
        <p:cxnSp>
          <p:nvCxnSpPr>
            <p:cNvPr id="71" name="Google Shape;173;g392c667b943_0_12">
              <a:extLst>
                <a:ext uri="{FF2B5EF4-FFF2-40B4-BE49-F238E27FC236}">
                  <a16:creationId xmlns:a16="http://schemas.microsoft.com/office/drawing/2014/main" id="{0875509E-1601-9D7A-83AF-1AA8D36759FD}"/>
                </a:ext>
              </a:extLst>
            </p:cNvPr>
            <p:cNvCxnSpPr>
              <a:cxnSpLocks/>
              <a:stCxn id="63" idx="3"/>
              <a:endCxn id="51" idx="1"/>
            </p:cNvCxnSpPr>
            <p:nvPr/>
          </p:nvCxnSpPr>
          <p:spPr>
            <a:xfrm flipV="1">
              <a:off x="1882937" y="1831700"/>
              <a:ext cx="3618363" cy="1710995"/>
            </a:xfrm>
            <a:prstGeom prst="bentConnector3">
              <a:avLst>
                <a:gd name="adj1" fmla="val 69145"/>
              </a:avLst>
            </a:prstGeom>
            <a:noFill/>
            <a:ln w="571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5A21B-35BA-34A4-3A30-D4E28F0B4374}"/>
                </a:ext>
              </a:extLst>
            </p:cNvPr>
            <p:cNvGrpSpPr/>
            <p:nvPr/>
          </p:nvGrpSpPr>
          <p:grpSpPr>
            <a:xfrm>
              <a:off x="618224" y="1224950"/>
              <a:ext cx="11130910" cy="4198364"/>
              <a:chOff x="618224" y="1224950"/>
              <a:chExt cx="11130910" cy="419836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3295AEE-B2F0-9F9A-1C37-71D3F4A8443A}"/>
                  </a:ext>
                </a:extLst>
              </p:cNvPr>
              <p:cNvGrpSpPr/>
              <p:nvPr/>
            </p:nvGrpSpPr>
            <p:grpSpPr>
              <a:xfrm>
                <a:off x="618224" y="1224950"/>
                <a:ext cx="11130910" cy="4198364"/>
                <a:chOff x="369885" y="1928259"/>
                <a:chExt cx="11130910" cy="419836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169FD2-6F7D-3E6B-C6EC-3B5AC4D78132}"/>
                    </a:ext>
                  </a:extLst>
                </p:cNvPr>
                <p:cNvGrpSpPr/>
                <p:nvPr/>
              </p:nvGrpSpPr>
              <p:grpSpPr>
                <a:xfrm>
                  <a:off x="369885" y="1928259"/>
                  <a:ext cx="11130910" cy="4198364"/>
                  <a:chOff x="8222763" y="17311212"/>
                  <a:chExt cx="42079744" cy="13208021"/>
                </a:xfrm>
              </p:grpSpPr>
              <p:sp>
                <p:nvSpPr>
                  <p:cNvPr id="23" name="Google Shape;163;g392c667b943_0_12">
                    <a:extLst>
                      <a:ext uri="{FF2B5EF4-FFF2-40B4-BE49-F238E27FC236}">
                        <a16:creationId xmlns:a16="http://schemas.microsoft.com/office/drawing/2014/main" id="{AD3AA1B3-95C7-31A6-E3F4-BB7AE3C2E1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222763" y="17353468"/>
                    <a:ext cx="4781198" cy="2582601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Prior</a:t>
                    </a:r>
                    <a:endParaRPr sz="1600" b="1" dirty="0"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Knowledge</a:t>
                    </a:r>
                    <a:endParaRPr sz="1600" b="1" dirty="0"/>
                  </a:p>
                </p:txBody>
              </p:sp>
              <p:cxnSp>
                <p:nvCxnSpPr>
                  <p:cNvPr id="24" name="Google Shape;170;g392c667b943_0_12">
                    <a:extLst>
                      <a:ext uri="{FF2B5EF4-FFF2-40B4-BE49-F238E27FC236}">
                        <a16:creationId xmlns:a16="http://schemas.microsoft.com/office/drawing/2014/main" id="{E8DD75D1-1C28-8483-6703-B7A217FCD1B5}"/>
                      </a:ext>
                    </a:extLst>
                  </p:cNvPr>
                  <p:cNvCxnSpPr>
                    <a:cxnSpLocks/>
                    <a:stCxn id="59" idx="3"/>
                    <a:endCxn id="27" idx="0"/>
                  </p:cNvCxnSpPr>
                  <p:nvPr/>
                </p:nvCxnSpPr>
                <p:spPr>
                  <a:xfrm>
                    <a:off x="42261223" y="19220045"/>
                    <a:ext cx="3327272" cy="2812486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25" name="Google Shape;173;g392c667b943_0_12">
                    <a:extLst>
                      <a:ext uri="{FF2B5EF4-FFF2-40B4-BE49-F238E27FC236}">
                        <a16:creationId xmlns:a16="http://schemas.microsoft.com/office/drawing/2014/main" id="{29F85463-D4B4-4F4D-9354-7521495E8CC8}"/>
                      </a:ext>
                    </a:extLst>
                  </p:cNvPr>
                  <p:cNvCxnSpPr>
                    <a:cxnSpLocks/>
                    <a:stCxn id="52" idx="1"/>
                    <a:endCxn id="63" idx="2"/>
                  </p:cNvCxnSpPr>
                  <p:nvPr/>
                </p:nvCxnSpPr>
                <p:spPr>
                  <a:xfrm rot="10800000">
                    <a:off x="10613368" y="26196592"/>
                    <a:ext cx="32583620" cy="2728872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3" name="Google Shape;168;g392c667b943_0_12">
                    <a:extLst>
                      <a:ext uri="{FF2B5EF4-FFF2-40B4-BE49-F238E27FC236}">
                        <a16:creationId xmlns:a16="http://schemas.microsoft.com/office/drawing/2014/main" id="{395B9EA8-489B-E47B-1686-64D1C3A8A224}"/>
                      </a:ext>
                    </a:extLst>
                  </p:cNvPr>
                  <p:cNvSpPr/>
                  <p:nvPr/>
                </p:nvSpPr>
                <p:spPr>
                  <a:xfrm>
                    <a:off x="8222787" y="23009047"/>
                    <a:ext cx="4781150" cy="3187545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Model(s)</a:t>
                    </a:r>
                    <a:endParaRPr sz="1600" b="1" dirty="0"/>
                  </a:p>
                </p:txBody>
              </p:sp>
              <p:sp>
                <p:nvSpPr>
                  <p:cNvPr id="27" name="Google Shape;172;g392c667b943_0_12">
                    <a:extLst>
                      <a:ext uri="{FF2B5EF4-FFF2-40B4-BE49-F238E27FC236}">
                        <a16:creationId xmlns:a16="http://schemas.microsoft.com/office/drawing/2014/main" id="{851FD7B4-7984-EED2-90A2-97030F7003F2}"/>
                      </a:ext>
                    </a:extLst>
                  </p:cNvPr>
                  <p:cNvSpPr/>
                  <p:nvPr/>
                </p:nvSpPr>
                <p:spPr>
                  <a:xfrm>
                    <a:off x="40874478" y="22032531"/>
                    <a:ext cx="9428029" cy="3610004"/>
                  </a:xfrm>
                  <a:prstGeom prst="diamond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Uncertainty Acceptable?</a:t>
                    </a:r>
                    <a:endParaRPr sz="1600" b="1" dirty="0"/>
                  </a:p>
                </p:txBody>
              </p:sp>
              <p:cxnSp>
                <p:nvCxnSpPr>
                  <p:cNvPr id="28" name="Google Shape;181;g392c667b943_0_12">
                    <a:extLst>
                      <a:ext uri="{FF2B5EF4-FFF2-40B4-BE49-F238E27FC236}">
                        <a16:creationId xmlns:a16="http://schemas.microsoft.com/office/drawing/2014/main" id="{DAC43201-F4A7-75B7-95D4-46BDB17E8A04}"/>
                      </a:ext>
                    </a:extLst>
                  </p:cNvPr>
                  <p:cNvCxnSpPr>
                    <a:cxnSpLocks/>
                    <a:stCxn id="51" idx="3"/>
                    <a:endCxn id="59" idx="1"/>
                  </p:cNvCxnSpPr>
                  <p:nvPr/>
                </p:nvCxnSpPr>
                <p:spPr>
                  <a:xfrm>
                    <a:off x="31465956" y="19220042"/>
                    <a:ext cx="6012254" cy="3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30" name="Google Shape;183;g392c667b943_0_12">
                    <a:extLst>
                      <a:ext uri="{FF2B5EF4-FFF2-40B4-BE49-F238E27FC236}">
                        <a16:creationId xmlns:a16="http://schemas.microsoft.com/office/drawing/2014/main" id="{0ACFB825-0A49-6431-C861-315CC14F5E47}"/>
                      </a:ext>
                    </a:extLst>
                  </p:cNvPr>
                  <p:cNvCxnSpPr>
                    <a:cxnSpLocks/>
                    <a:stCxn id="27" idx="1"/>
                    <a:endCxn id="46" idx="3"/>
                  </p:cNvCxnSpPr>
                  <p:nvPr/>
                </p:nvCxnSpPr>
                <p:spPr>
                  <a:xfrm flipH="1" flipV="1">
                    <a:off x="38711578" y="23819024"/>
                    <a:ext cx="2162900" cy="18511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" name="Google Shape;184;g392c667b943_0_12">
                    <a:extLst>
                      <a:ext uri="{FF2B5EF4-FFF2-40B4-BE49-F238E27FC236}">
                        <a16:creationId xmlns:a16="http://schemas.microsoft.com/office/drawing/2014/main" id="{E6F2A968-AEA2-649A-7607-713828148B06}"/>
                      </a:ext>
                    </a:extLst>
                  </p:cNvPr>
                  <p:cNvSpPr/>
                  <p:nvPr/>
                </p:nvSpPr>
                <p:spPr>
                  <a:xfrm>
                    <a:off x="32616412" y="22543223"/>
                    <a:ext cx="6095166" cy="2551598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 with Quantified Uncertainty</a:t>
                    </a:r>
                    <a:endParaRPr sz="1600" b="1" dirty="0"/>
                  </a:p>
                </p:txBody>
              </p:sp>
              <p:sp>
                <p:nvSpPr>
                  <p:cNvPr id="47" name="Google Shape;185;g392c667b943_0_12">
                    <a:extLst>
                      <a:ext uri="{FF2B5EF4-FFF2-40B4-BE49-F238E27FC236}">
                        <a16:creationId xmlns:a16="http://schemas.microsoft.com/office/drawing/2014/main" id="{5802C27D-D262-121D-D1E4-D1104C4B54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6944" y="25850080"/>
                    <a:ext cx="2462292" cy="968135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No</a:t>
                    </a:r>
                    <a:endParaRPr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Google Shape;186;g392c667b943_0_12">
                    <a:extLst>
                      <a:ext uri="{FF2B5EF4-FFF2-40B4-BE49-F238E27FC236}">
                        <a16:creationId xmlns:a16="http://schemas.microsoft.com/office/drawing/2014/main" id="{BEAC935A-0C00-7964-F11A-A4970AD9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29751" y="22857237"/>
                    <a:ext cx="1999207" cy="788024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Yes</a:t>
                    </a:r>
                    <a:endParaRPr dirty="0">
                      <a:solidFill>
                        <a:schemeClr val="tx1"/>
                      </a:solidFill>
                      <a:sym typeface="Courier New"/>
                    </a:endParaRPr>
                  </a:p>
                </p:txBody>
              </p:sp>
              <p:sp>
                <p:nvSpPr>
                  <p:cNvPr id="59" name="Google Shape;171;g392c667b943_0_12">
                    <a:extLst>
                      <a:ext uri="{FF2B5EF4-FFF2-40B4-BE49-F238E27FC236}">
                        <a16:creationId xmlns:a16="http://schemas.microsoft.com/office/drawing/2014/main" id="{A465C23B-B14B-0E22-2FDE-3BBB31C70664}"/>
                      </a:ext>
                    </a:extLst>
                  </p:cNvPr>
                  <p:cNvSpPr/>
                  <p:nvPr/>
                </p:nvSpPr>
                <p:spPr>
                  <a:xfrm>
                    <a:off x="37478213" y="17626273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Sensitivity &amp; Uncertainty Analysis</a:t>
                    </a:r>
                    <a:endParaRPr sz="1600" b="1" dirty="0"/>
                  </a:p>
                </p:txBody>
              </p:sp>
              <p:sp>
                <p:nvSpPr>
                  <p:cNvPr id="51" name="Google Shape;171;g392c667b943_0_12">
                    <a:extLst>
                      <a:ext uri="{FF2B5EF4-FFF2-40B4-BE49-F238E27FC236}">
                        <a16:creationId xmlns:a16="http://schemas.microsoft.com/office/drawing/2014/main" id="{1061763A-9B29-8742-450B-517DE457A6EF}"/>
                      </a:ext>
                    </a:extLst>
                  </p:cNvPr>
                  <p:cNvSpPr/>
                  <p:nvPr/>
                </p:nvSpPr>
                <p:spPr>
                  <a:xfrm>
                    <a:off x="26682943" y="17626270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Parameter Estimation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sp>
                <p:nvSpPr>
                  <p:cNvPr id="52" name="Google Shape;171;g392c667b943_0_12">
                    <a:extLst>
                      <a:ext uri="{FF2B5EF4-FFF2-40B4-BE49-F238E27FC236}">
                        <a16:creationId xmlns:a16="http://schemas.microsoft.com/office/drawing/2014/main" id="{53F972BC-EA18-6524-D488-BE0F073A7224}"/>
                      </a:ext>
                    </a:extLst>
                  </p:cNvPr>
                  <p:cNvSpPr/>
                  <p:nvPr/>
                </p:nvSpPr>
                <p:spPr>
                  <a:xfrm>
                    <a:off x="43196984" y="27331691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Model-Based Design of Experiments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45CE23A-5CDA-2F23-47CB-BAF8850DC6C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3943" y="17311212"/>
                    <a:ext cx="5640307" cy="2551599"/>
                    <a:chOff x="4770778" y="26675994"/>
                    <a:chExt cx="5640307" cy="2551599"/>
                  </a:xfrm>
                </p:grpSpPr>
                <p:sp>
                  <p:nvSpPr>
                    <p:cNvPr id="56" name="Google Shape;164;g392c667b943_0_12">
                      <a:extLst>
                        <a:ext uri="{FF2B5EF4-FFF2-40B4-BE49-F238E27FC236}">
                          <a16:creationId xmlns:a16="http://schemas.microsoft.com/office/drawing/2014/main" id="{CCDC9745-32B0-B257-BF7E-11583D192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0778" y="26675994"/>
                      <a:ext cx="5640307" cy="2551599"/>
                    </a:xfrm>
                    <a:prstGeom prst="flowChartTerminator">
                      <a:avLst/>
                    </a:prstGeom>
                    <a:solidFill>
                      <a:srgbClr val="DDEAF6"/>
                    </a:solidFill>
                    <a:ln w="28575" cap="flat" cmpd="sng">
                      <a:solidFill>
                        <a:srgbClr val="0C233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Data</a:t>
                      </a:r>
                      <a:endParaRPr sz="1600" b="1" dirty="0"/>
                    </a:p>
                  </p:txBody>
                </p:sp>
                <p:pic>
                  <p:nvPicPr>
                    <p:cNvPr id="57" name="Google Shape;145;g392c667b943_0_0" descr="Beaker with solid fill">
                      <a:extLst>
                        <a:ext uri="{FF2B5EF4-FFF2-40B4-BE49-F238E27FC236}">
                          <a16:creationId xmlns:a16="http://schemas.microsoft.com/office/drawing/2014/main" id="{CD51961C-5C35-63DB-134C-39F1BE700A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402021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  <p:pic>
                  <p:nvPicPr>
                    <p:cNvPr id="58" name="Google Shape;144;g392c667b943_0_0" descr="Microscope with solid fill">
                      <a:extLst>
                        <a:ext uri="{FF2B5EF4-FFF2-40B4-BE49-F238E27FC236}">
                          <a16:creationId xmlns:a16="http://schemas.microsoft.com/office/drawing/2014/main" id="{52984D16-F55A-8079-1503-A938A27076AA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8695242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54" name="Google Shape;173;g392c667b943_0_12">
                    <a:extLst>
                      <a:ext uri="{FF2B5EF4-FFF2-40B4-BE49-F238E27FC236}">
                        <a16:creationId xmlns:a16="http://schemas.microsoft.com/office/drawing/2014/main" id="{1E3A9DD0-756E-9D8F-4CE1-3A446FA5C0B9}"/>
                      </a:ext>
                    </a:extLst>
                  </p:cNvPr>
                  <p:cNvCxnSpPr>
                    <a:cxnSpLocks/>
                    <a:stCxn id="56" idx="2"/>
                  </p:cNvCxnSpPr>
                  <p:nvPr/>
                </p:nvCxnSpPr>
                <p:spPr>
                  <a:xfrm rot="5400000">
                    <a:off x="13404149" y="17163684"/>
                    <a:ext cx="1270824" cy="6669079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</p:grpSp>
            <p:cxnSp>
              <p:nvCxnSpPr>
                <p:cNvPr id="75" name="Google Shape;183;g392c667b943_0_12">
                  <a:extLst>
                    <a:ext uri="{FF2B5EF4-FFF2-40B4-BE49-F238E27FC236}">
                      <a16:creationId xmlns:a16="http://schemas.microsoft.com/office/drawing/2014/main" id="{86C654AC-BBEB-3BA6-10BB-331A4CE5A847}"/>
                    </a:ext>
                  </a:extLst>
                </p:cNvPr>
                <p:cNvCxnSpPr>
                  <a:cxnSpLocks/>
                  <a:stCxn id="27" idx="2"/>
                  <a:endCxn id="52" idx="0"/>
                </p:cNvCxnSpPr>
                <p:nvPr/>
              </p:nvCxnSpPr>
              <p:spPr>
                <a:xfrm flipH="1">
                  <a:off x="10253846" y="4576493"/>
                  <a:ext cx="1" cy="536923"/>
                </a:xfrm>
                <a:prstGeom prst="straightConnector1">
                  <a:avLst/>
                </a:prstGeom>
                <a:noFill/>
                <a:ln w="57150" cap="flat" cmpd="sng">
                  <a:solidFill>
                    <a:srgbClr val="0C233F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93" name="Google Shape;183;g392c667b943_0_12">
                <a:extLst>
                  <a:ext uri="{FF2B5EF4-FFF2-40B4-BE49-F238E27FC236}">
                    <a16:creationId xmlns:a16="http://schemas.microsoft.com/office/drawing/2014/main" id="{AB2ED750-F013-43EF-4A41-07751CF19EA0}"/>
                  </a:ext>
                </a:extLst>
              </p:cNvPr>
              <p:cNvCxnSpPr>
                <a:cxnSpLocks/>
                <a:stCxn id="23" idx="2"/>
                <a:endCxn id="63" idx="0"/>
              </p:cNvCxnSpPr>
              <p:nvPr/>
            </p:nvCxnSpPr>
            <p:spPr>
              <a:xfrm>
                <a:off x="1250584" y="2059300"/>
                <a:ext cx="0" cy="976791"/>
              </a:xfrm>
              <a:prstGeom prst="straightConnector1">
                <a:avLst/>
              </a:prstGeom>
              <a:noFill/>
              <a:ln w="57150" cap="flat" cmpd="sng">
                <a:solidFill>
                  <a:srgbClr val="0C233F"/>
                </a:solidFill>
                <a:prstDash val="dash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73D278-13A4-4C52-F02E-886FE3C47C01}"/>
              </a:ext>
            </a:extLst>
          </p:cNvPr>
          <p:cNvSpPr txBox="1"/>
          <p:nvPr/>
        </p:nvSpPr>
        <p:spPr>
          <a:xfrm>
            <a:off x="3797128" y="5532903"/>
            <a:ext cx="4673543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• Dotted lines ⇢ manual data transmission</a:t>
            </a:r>
          </a:p>
          <a:p>
            <a:pPr marL="0" indent="0">
              <a:buNone/>
            </a:pPr>
            <a:r>
              <a:rPr lang="en-US" dirty="0"/>
              <a:t>• Solid lines → automatic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57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D30-DA64-98CE-A91F-A319E706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DB274022-D038-5765-C766-CB9725CF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99" y="4855950"/>
            <a:ext cx="2595491" cy="198697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9474FAC-3B0B-E6E2-2C65-A0BCC67C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5"/>
            <a:ext cx="12192000" cy="109728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Separation using a Dynamic Diafiltration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6D20AF0-E139-18E7-FC8F-85E4843E2051}"/>
              </a:ext>
            </a:extLst>
          </p:cNvPr>
          <p:cNvGrpSpPr/>
          <p:nvPr/>
        </p:nvGrpSpPr>
        <p:grpSpPr>
          <a:xfrm>
            <a:off x="2933700" y="901700"/>
            <a:ext cx="9175473" cy="3994020"/>
            <a:chOff x="351046" y="664151"/>
            <a:chExt cx="11216460" cy="4377874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D46F4A64-351A-19EC-0C23-5FC73587F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B5AD8DC0-306B-5F01-F597-C62D9CA1A4F1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A795687-EFB8-66CF-E903-461B5FFA9CF9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ED0B1B4-232C-5C38-340E-8DEA25D41D9D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F401CAA0-5A3E-D604-441B-6E09C1133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78CFA7-9D93-84F2-70E0-FEEFE0D1765B}"/>
                </a:ext>
              </a:extLst>
            </p:cNvPr>
            <p:cNvSpPr txBox="1"/>
            <p:nvPr/>
          </p:nvSpPr>
          <p:spPr>
            <a:xfrm>
              <a:off x="3924116" y="4650643"/>
              <a:ext cx="1442022" cy="37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E082D9-E998-11DD-5B3B-D1FEFC40BE56}"/>
                </a:ext>
              </a:extLst>
            </p:cNvPr>
            <p:cNvSpPr txBox="1"/>
            <p:nvPr/>
          </p:nvSpPr>
          <p:spPr>
            <a:xfrm>
              <a:off x="3784564" y="3792708"/>
              <a:ext cx="1377631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9DECE4-5BAF-FE6E-05AA-99D1D15599C2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B076035-0AED-AC7D-7097-A5A47C6E4DCC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38BFD-827F-79B3-3FCB-B6C3A03F2940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10A87DC-8B4B-7AAC-3413-A55F981EF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7CDFD46-1DB9-BF15-A805-6B0617116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4F70EBD-F86C-0EA6-A12D-306D78527B26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F3A76C0-2791-5E54-80F2-329CB7B57C80}"/>
                </a:ext>
              </a:extLst>
            </p:cNvPr>
            <p:cNvSpPr txBox="1"/>
            <p:nvPr/>
          </p:nvSpPr>
          <p:spPr>
            <a:xfrm>
              <a:off x="10087001" y="2710145"/>
              <a:ext cx="148050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186169-6390-61FE-9713-0D4648286778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2E0849-F937-CB4B-8A1A-9B019B23B82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F6C8AD-0A2C-81A2-CEB3-9F9444DFF761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588DBF-DC42-37F0-6C77-D52DE33D4A03}"/>
                </a:ext>
              </a:extLst>
            </p:cNvPr>
            <p:cNvSpPr txBox="1"/>
            <p:nvPr/>
          </p:nvSpPr>
          <p:spPr>
            <a:xfrm>
              <a:off x="571847" y="1441627"/>
              <a:ext cx="1413888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9A8F8FB-6507-184F-535C-0F708221C769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59504C3-8269-13AE-F441-592C42909510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52AFEAD8-C4CF-B429-A00E-8AF6206B850C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327D6BA-E627-9400-BB48-92547107501C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5E677C8A-E0DA-1DA5-51D2-1B8CD821C45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ACB6326-0B35-4021-B202-0770FB6A6C8C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AC836085-DB0C-E617-A3C6-FBB7ABAECFC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6B92356-94F5-7159-293A-63E01C92D866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8847633-DFBE-D02C-729B-8FFC276EBA2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7FE92BB2-5115-41A2-B566-8C01068E00DA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C8C7995A-E3D4-245B-162F-94325EF5200C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7AF6CD20-0DEF-F208-7D3C-8E64A7BD369F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5C67895-66CD-5C0E-E528-C46DD300EF6F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AC69FE7-2938-EBF0-7617-300F400747C6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30921D3-94B8-8AEA-D6FE-B918F793F8A4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9D7F1B50-5423-19BA-01EA-60B86BCE8737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14C14CF6-F8F7-0483-E4FD-A6F1CBB68877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496A8756-E117-550F-3972-3CEC3E50020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4BE3E5DF-29F2-DF43-5FCA-B7FC8AD56297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97A868C-443C-8F6F-4873-C9490CD0E46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F6F2BC-3A6D-828C-81DD-73ED450340BF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6A89214-26D4-8F7C-1675-CF2D530DBBCC}"/>
                </a:ext>
              </a:extLst>
            </p:cNvPr>
            <p:cNvSpPr txBox="1"/>
            <p:nvPr/>
          </p:nvSpPr>
          <p:spPr>
            <a:xfrm>
              <a:off x="351046" y="3146685"/>
              <a:ext cx="139374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06806A8-71B3-522D-BF62-A85267D9F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568" y="3284019"/>
              <a:ext cx="406757" cy="118045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92805A5-0708-7D2B-5B0A-E483A0E3721F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AD551ED5-EC50-4CC2-EB56-101CFC96E852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907D4C4-C0C7-F6DD-3901-68A88620C4E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851B0325-4A8F-ABFF-A2B3-C608CF9A517A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AF18AAF-0038-1B31-8DE8-AB7341DEE3A1}"/>
                </a:ext>
              </a:extLst>
            </p:cNvPr>
            <p:cNvSpPr txBox="1"/>
            <p:nvPr/>
          </p:nvSpPr>
          <p:spPr>
            <a:xfrm>
              <a:off x="3546204" y="664151"/>
              <a:ext cx="261401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F8B72DF-CAE6-90D7-F70C-AD0CE9E92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E0581E8-5D17-6E41-2564-91A68A3F6C3E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4645128" y="4283212"/>
              <a:ext cx="887333" cy="3674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A3BFCA4-4CFF-A3A0-EB37-6D937C6A66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26AF3A7-5847-4EB6-19EC-AEED3FC1FB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4179AB6-E012-831A-E09F-9FCB3A62868E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99AD5A-ED29-375C-9472-89F04187EB22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307E634-9594-B597-1379-45F0BA8AFF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E23CF14-CC27-0D24-7D81-5783523AF06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E716557-5F5E-66B7-3D80-2BFC1FB5C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64528BE-9818-D8F6-DF60-39228737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B4CD787-F38F-85DA-F819-5578E9950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CA928C-9DF7-3BEE-0AAE-433222C19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72FD31C-9A0A-CA25-E0F0-87767301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6FD37F1-6CBA-68CF-8C2C-4AE10D9E1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745ED6-552C-29FF-37FC-6C51A8A03496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8629E6-1355-78DA-7F09-5EABDE6BC52F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9279-3C91-8276-B41D-8A8F76857366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41E597-073C-4342-8881-BD5ED386AE90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F8D34AF-16FC-D9A6-F00D-207D5C0BF4C1}"/>
                </a:ext>
              </a:extLst>
            </p:cNvPr>
            <p:cNvSpPr txBox="1"/>
            <p:nvPr/>
          </p:nvSpPr>
          <p:spPr>
            <a:xfrm>
              <a:off x="4759889" y="1683094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4F681A35-CE19-C49D-8C7B-B8CBFB3D8F5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AF6D3D0-50B0-58F2-638F-C79CA18FD8F7}"/>
                </a:ext>
              </a:extLst>
            </p:cNvPr>
            <p:cNvSpPr txBox="1"/>
            <p:nvPr/>
          </p:nvSpPr>
          <p:spPr>
            <a:xfrm>
              <a:off x="6366476" y="3332442"/>
              <a:ext cx="1438970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967AAA7-A881-B654-D8C6-77B4512B7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E4D830-ED10-B2D3-F21E-7A2102D14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14C611B3-E5C9-8CD8-8867-7666F352FFE6}"/>
              </a:ext>
            </a:extLst>
          </p:cNvPr>
          <p:cNvSpPr/>
          <p:nvPr/>
        </p:nvSpPr>
        <p:spPr>
          <a:xfrm>
            <a:off x="4562645" y="1672555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97315296-2807-E3F6-3908-B0FAB951344A}"/>
              </a:ext>
            </a:extLst>
          </p:cNvPr>
          <p:cNvSpPr/>
          <p:nvPr/>
        </p:nvSpPr>
        <p:spPr>
          <a:xfrm>
            <a:off x="4582515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2A48774A-D8E4-56A6-B05D-B2378784A346}"/>
              </a:ext>
            </a:extLst>
          </p:cNvPr>
          <p:cNvSpPr/>
          <p:nvPr/>
        </p:nvSpPr>
        <p:spPr>
          <a:xfrm>
            <a:off x="4890926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F1D5A6D8-6B72-BF76-7BF6-854DFE1CBA91}"/>
              </a:ext>
            </a:extLst>
          </p:cNvPr>
          <p:cNvSpPr/>
          <p:nvPr/>
        </p:nvSpPr>
        <p:spPr>
          <a:xfrm>
            <a:off x="5199337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8E2CF21B-4EAC-41EC-57B9-DF2FD6C659E2}"/>
              </a:ext>
            </a:extLst>
          </p:cNvPr>
          <p:cNvSpPr/>
          <p:nvPr/>
        </p:nvSpPr>
        <p:spPr>
          <a:xfrm rot="10800000">
            <a:off x="5360372" y="2640969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F348D9AA-116B-75CF-7B65-DB133AC4DDE6}"/>
              </a:ext>
            </a:extLst>
          </p:cNvPr>
          <p:cNvSpPr/>
          <p:nvPr/>
        </p:nvSpPr>
        <p:spPr>
          <a:xfrm rot="10800000">
            <a:off x="5365937" y="1659101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84CB277B-4DC0-D75D-A52A-081ADB199C5E}"/>
              </a:ext>
            </a:extLst>
          </p:cNvPr>
          <p:cNvSpPr/>
          <p:nvPr/>
        </p:nvSpPr>
        <p:spPr>
          <a:xfrm rot="18976205">
            <a:off x="6189232" y="2722215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B5C47855-C0FC-3E56-ED29-81EA34F91E8D}"/>
              </a:ext>
            </a:extLst>
          </p:cNvPr>
          <p:cNvSpPr/>
          <p:nvPr/>
        </p:nvSpPr>
        <p:spPr>
          <a:xfrm rot="18976205">
            <a:off x="7905405" y="4269714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5DB01BD-2CF4-8DD4-C3A0-66E1EEE3064D}"/>
              </a:ext>
            </a:extLst>
          </p:cNvPr>
          <p:cNvSpPr/>
          <p:nvPr/>
        </p:nvSpPr>
        <p:spPr>
          <a:xfrm>
            <a:off x="6040695" y="1955373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C435036D-AE35-15A4-9856-4528FB3C8C37}"/>
              </a:ext>
            </a:extLst>
          </p:cNvPr>
          <p:cNvSpPr/>
          <p:nvPr/>
        </p:nvSpPr>
        <p:spPr>
          <a:xfrm rot="16200000">
            <a:off x="4014341" y="1228989"/>
            <a:ext cx="159316" cy="34827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A15106B-63E4-629A-017C-62A93CA3B242}"/>
              </a:ext>
            </a:extLst>
          </p:cNvPr>
          <p:cNvSpPr/>
          <p:nvPr/>
        </p:nvSpPr>
        <p:spPr>
          <a:xfrm rot="16200000">
            <a:off x="5687017" y="1211558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0756AFEC-B5A7-0878-DB46-80693E1C6D73}"/>
              </a:ext>
            </a:extLst>
          </p:cNvPr>
          <p:cNvSpPr/>
          <p:nvPr/>
        </p:nvSpPr>
        <p:spPr>
          <a:xfrm rot="16200000">
            <a:off x="5965474" y="2836802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3C307F5A-74AE-4878-9D1B-94815B4DCE7B}"/>
              </a:ext>
            </a:extLst>
          </p:cNvPr>
          <p:cNvSpPr/>
          <p:nvPr/>
        </p:nvSpPr>
        <p:spPr>
          <a:xfrm rot="10800000">
            <a:off x="7688609" y="342522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02CC2EB7-288C-3C69-52A3-802057FB1C48}"/>
              </a:ext>
            </a:extLst>
          </p:cNvPr>
          <p:cNvSpPr/>
          <p:nvPr/>
        </p:nvSpPr>
        <p:spPr>
          <a:xfrm rot="10800000">
            <a:off x="7696175" y="268008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0CC99273-78DB-9773-FA06-0D4B9231CD40}"/>
              </a:ext>
            </a:extLst>
          </p:cNvPr>
          <p:cNvSpPr/>
          <p:nvPr/>
        </p:nvSpPr>
        <p:spPr>
          <a:xfrm rot="16200000">
            <a:off x="8189480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9FD84775-06E8-4A37-E534-71CF34EA0271}"/>
              </a:ext>
            </a:extLst>
          </p:cNvPr>
          <p:cNvSpPr/>
          <p:nvPr/>
        </p:nvSpPr>
        <p:spPr>
          <a:xfrm rot="16200000">
            <a:off x="9286943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0BA45ABB-12D4-CE61-8064-BE84414BC522}"/>
              </a:ext>
            </a:extLst>
          </p:cNvPr>
          <p:cNvSpPr/>
          <p:nvPr/>
        </p:nvSpPr>
        <p:spPr>
          <a:xfrm>
            <a:off x="9260999" y="2680082"/>
            <a:ext cx="220057" cy="414409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554ECD4-5F59-0AFE-0943-E9233802CDFE}"/>
              </a:ext>
            </a:extLst>
          </p:cNvPr>
          <p:cNvSpPr/>
          <p:nvPr/>
        </p:nvSpPr>
        <p:spPr>
          <a:xfrm>
            <a:off x="10375338" y="3399552"/>
            <a:ext cx="233066" cy="183189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02139A5-3C75-D582-ED2F-FE90D9CEC4AD}"/>
              </a:ext>
            </a:extLst>
          </p:cNvPr>
          <p:cNvSpPr/>
          <p:nvPr/>
        </p:nvSpPr>
        <p:spPr>
          <a:xfrm>
            <a:off x="2463800" y="5091138"/>
            <a:ext cx="1301046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24C2255C-EAB3-02F5-7BE5-4C157E940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50" y="4849821"/>
            <a:ext cx="2590976" cy="19835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2635914D-2B2F-69DA-F0E8-B91DF2F4F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946" y="4803853"/>
            <a:ext cx="2595491" cy="1986971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140361-6D63-26E2-144E-11B55E19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087" y="4821439"/>
            <a:ext cx="2602473" cy="1992317"/>
          </a:xfrm>
          <a:prstGeom prst="rect">
            <a:avLst/>
          </a:prstGeom>
        </p:spPr>
      </p:pic>
      <p:sp>
        <p:nvSpPr>
          <p:cNvPr id="267" name="Rectangle 266">
            <a:extLst>
              <a:ext uri="{FF2B5EF4-FFF2-40B4-BE49-F238E27FC236}">
                <a16:creationId xmlns:a16="http://schemas.microsoft.com/office/drawing/2014/main" id="{80C99D0B-A973-A8D3-50CB-143516C335C9}"/>
              </a:ext>
            </a:extLst>
          </p:cNvPr>
          <p:cNvSpPr/>
          <p:nvPr/>
        </p:nvSpPr>
        <p:spPr>
          <a:xfrm>
            <a:off x="5045517" y="5117711"/>
            <a:ext cx="1370615" cy="1295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7357BA1-7198-602C-40BA-B3C87E1CB9D3}"/>
              </a:ext>
            </a:extLst>
          </p:cNvPr>
          <p:cNvSpPr/>
          <p:nvPr/>
        </p:nvSpPr>
        <p:spPr>
          <a:xfrm>
            <a:off x="7874276" y="5077132"/>
            <a:ext cx="1318187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6385FD9-DCAE-F6F0-95E6-C26B79A156DD}"/>
              </a:ext>
            </a:extLst>
          </p:cNvPr>
          <p:cNvSpPr/>
          <p:nvPr/>
        </p:nvSpPr>
        <p:spPr>
          <a:xfrm>
            <a:off x="10296116" y="5091138"/>
            <a:ext cx="1324384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886F0-AAF5-2907-FAF5-B22A74EE303B}"/>
              </a:ext>
            </a:extLst>
          </p:cNvPr>
          <p:cNvSpPr/>
          <p:nvPr/>
        </p:nvSpPr>
        <p:spPr>
          <a:xfrm>
            <a:off x="6809321" y="3431031"/>
            <a:ext cx="446806" cy="802138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39DD-0AD5-A0D6-E983-2D432620F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E21235-DDFE-A2FA-23FE-65FD64BA5EA6}"/>
              </a:ext>
            </a:extLst>
          </p:cNvPr>
          <p:cNvGrpSpPr/>
          <p:nvPr/>
        </p:nvGrpSpPr>
        <p:grpSpPr>
          <a:xfrm>
            <a:off x="-50001" y="1285369"/>
            <a:ext cx="3245277" cy="3461698"/>
            <a:chOff x="7618419" y="2226707"/>
            <a:chExt cx="3964121" cy="410104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ACA95B-0A8B-C8C3-3959-BCE20A62B8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18419" y="2226707"/>
              <a:ext cx="3964121" cy="3875257"/>
              <a:chOff x="355428" y="1491371"/>
              <a:chExt cx="3964121" cy="387525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5D0D52-DF8E-9024-8F05-F691E05E3019}"/>
                  </a:ext>
                </a:extLst>
              </p:cNvPr>
              <p:cNvGrpSpPr/>
              <p:nvPr/>
            </p:nvGrpSpPr>
            <p:grpSpPr>
              <a:xfrm>
                <a:off x="355428" y="1491371"/>
                <a:ext cx="2786969" cy="3875257"/>
                <a:chOff x="3993238" y="1314984"/>
                <a:chExt cx="3247485" cy="4523277"/>
              </a:xfrm>
            </p:grpSpPr>
            <p:pic>
              <p:nvPicPr>
                <p:cNvPr id="37" name="Picture 36" descr="Diagram&#10;&#10;Description automatically generated">
                  <a:extLst>
                    <a:ext uri="{FF2B5EF4-FFF2-40B4-BE49-F238E27FC236}">
                      <a16:creationId xmlns:a16="http://schemas.microsoft.com/office/drawing/2014/main" id="{99FA38E8-7BE2-CFBD-3DAC-AB7DD9FF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19578" b="22612"/>
                <a:stretch/>
              </p:blipFill>
              <p:spPr>
                <a:xfrm>
                  <a:off x="3993238" y="1314984"/>
                  <a:ext cx="3247485" cy="4405878"/>
                </a:xfrm>
                <a:prstGeom prst="rect">
                  <a:avLst/>
                </a:prstGeom>
                <a:solidFill>
                  <a:srgbClr val="174397"/>
                </a:solidFill>
              </p:spPr>
            </p:pic>
            <p:sp>
              <p:nvSpPr>
                <p:cNvPr id="38" name="Isosceles Triangle 26">
                  <a:extLst>
                    <a:ext uri="{FF2B5EF4-FFF2-40B4-BE49-F238E27FC236}">
                      <a16:creationId xmlns:a16="http://schemas.microsoft.com/office/drawing/2014/main" id="{37B8C617-22E8-83BD-D3EC-40F7F406AF71}"/>
                    </a:ext>
                  </a:extLst>
                </p:cNvPr>
                <p:cNvSpPr/>
                <p:nvPr/>
              </p:nvSpPr>
              <p:spPr>
                <a:xfrm>
                  <a:off x="4768850" y="5529828"/>
                  <a:ext cx="241300" cy="308433"/>
                </a:xfrm>
                <a:prstGeom prst="triangle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A3F468BC-4940-D31A-D327-13344E75FC6F}"/>
                    </a:ext>
                  </a:extLst>
                </p:cNvPr>
                <p:cNvSpPr/>
                <p:nvPr/>
              </p:nvSpPr>
              <p:spPr>
                <a:xfrm rot="11375767">
                  <a:off x="4487373" y="5019509"/>
                  <a:ext cx="1140613" cy="555500"/>
                </a:xfrm>
                <a:prstGeom prst="arc">
                  <a:avLst>
                    <a:gd name="adj1" fmla="val 16308053"/>
                    <a:gd name="adj2" fmla="val 18706611"/>
                  </a:avLst>
                </a:prstGeom>
                <a:solidFill>
                  <a:srgbClr val="174397"/>
                </a:solidFill>
                <a:ln w="25400">
                  <a:solidFill>
                    <a:srgbClr val="35BC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5642B32B-3C88-FC5B-0D98-0165540ED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2615" t="78192" b="4983"/>
              <a:stretch/>
            </p:blipFill>
            <p:spPr>
              <a:xfrm>
                <a:off x="2942862" y="1997255"/>
                <a:ext cx="1376687" cy="145399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1A32BE7-F5CA-A94B-2207-561A1AC674CC}"/>
                  </a:ext>
                </a:extLst>
              </p:cNvPr>
              <p:cNvSpPr/>
              <p:nvPr/>
            </p:nvSpPr>
            <p:spPr>
              <a:xfrm>
                <a:off x="3089137" y="3074503"/>
                <a:ext cx="1084139" cy="3767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DC9664-FA9A-ECE0-7154-826705D46AFC}"/>
                </a:ext>
              </a:extLst>
            </p:cNvPr>
            <p:cNvGrpSpPr/>
            <p:nvPr/>
          </p:nvGrpSpPr>
          <p:grpSpPr>
            <a:xfrm>
              <a:off x="7658719" y="5495908"/>
              <a:ext cx="2842504" cy="831840"/>
              <a:chOff x="7658719" y="5495908"/>
              <a:chExt cx="2842504" cy="831840"/>
            </a:xfrm>
          </p:grpSpPr>
          <p:pic>
            <p:nvPicPr>
              <p:cNvPr id="31" name="Picture 30" descr="Diagram&#10;&#10;Description automatically generated">
                <a:extLst>
                  <a:ext uri="{FF2B5EF4-FFF2-40B4-BE49-F238E27FC236}">
                    <a16:creationId xmlns:a16="http://schemas.microsoft.com/office/drawing/2014/main" id="{B2505983-6AC3-F13A-F0E0-0F14359B9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95209" r="17855" b="295"/>
              <a:stretch/>
            </p:blipFill>
            <p:spPr>
              <a:xfrm>
                <a:off x="7658719" y="5962623"/>
                <a:ext cx="2842504" cy="365125"/>
              </a:xfrm>
              <a:prstGeom prst="rect">
                <a:avLst/>
              </a:prstGeom>
            </p:spPr>
          </p:pic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59B8C72-FC6A-C705-698A-5CE4FD3A453A}"/>
                  </a:ext>
                </a:extLst>
              </p:cNvPr>
              <p:cNvSpPr/>
              <p:nvPr/>
            </p:nvSpPr>
            <p:spPr>
              <a:xfrm rot="454666">
                <a:off x="7759288" y="5495908"/>
                <a:ext cx="1652985" cy="460324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E89A7B-8C4D-EE55-C3D9-CE2AB82FF619}"/>
              </a:ext>
            </a:extLst>
          </p:cNvPr>
          <p:cNvGrpSpPr/>
          <p:nvPr/>
        </p:nvGrpSpPr>
        <p:grpSpPr>
          <a:xfrm>
            <a:off x="26027" y="5028876"/>
            <a:ext cx="1951061" cy="1368984"/>
            <a:chOff x="9353191" y="5209403"/>
            <a:chExt cx="2339891" cy="1610949"/>
          </a:xfrm>
        </p:grpSpPr>
        <p:pic>
          <p:nvPicPr>
            <p:cNvPr id="41" name="Picture 2" descr="Image result for membrane advantages">
              <a:extLst>
                <a:ext uri="{FF2B5EF4-FFF2-40B4-BE49-F238E27FC236}">
                  <a16:creationId xmlns:a16="http://schemas.microsoft.com/office/drawing/2014/main" id="{3E9C82D1-0BE0-6449-3E41-E03D2CEFE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60" t="3042" r="13883" b="7989"/>
            <a:stretch/>
          </p:blipFill>
          <p:spPr bwMode="auto">
            <a:xfrm>
              <a:off x="10422831" y="5209403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membrane advantages">
              <a:extLst>
                <a:ext uri="{FF2B5EF4-FFF2-40B4-BE49-F238E27FC236}">
                  <a16:creationId xmlns:a16="http://schemas.microsoft.com/office/drawing/2014/main" id="{1BCA2A34-9F6A-FBC4-D8BB-3CA0CCA304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2" t="3042" r="54352" b="7989"/>
            <a:stretch/>
          </p:blipFill>
          <p:spPr bwMode="auto">
            <a:xfrm>
              <a:off x="9353191" y="5217732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FEF87-E48E-1AAF-0F32-79C5B1396781}"/>
              </a:ext>
            </a:extLst>
          </p:cNvPr>
          <p:cNvGrpSpPr/>
          <p:nvPr/>
        </p:nvGrpSpPr>
        <p:grpSpPr>
          <a:xfrm>
            <a:off x="8382120" y="956323"/>
            <a:ext cx="3467977" cy="920427"/>
            <a:chOff x="7865041" y="1068062"/>
            <a:chExt cx="3467977" cy="9204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43200E-88C1-F89C-BB57-35AB024494A0}"/>
                </a:ext>
              </a:extLst>
            </p:cNvPr>
            <p:cNvGrpSpPr/>
            <p:nvPr/>
          </p:nvGrpSpPr>
          <p:grpSpPr>
            <a:xfrm>
              <a:off x="7865041" y="1068062"/>
              <a:ext cx="2743363" cy="916355"/>
              <a:chOff x="9152730" y="390410"/>
              <a:chExt cx="2743363" cy="916355"/>
            </a:xfrm>
          </p:grpSpPr>
          <p:pic>
            <p:nvPicPr>
              <p:cNvPr id="4" name="Picture 5" descr="A person smiling for the camera&#10;&#10;Description automatically generated">
                <a:extLst>
                  <a:ext uri="{FF2B5EF4-FFF2-40B4-BE49-F238E27FC236}">
                    <a16:creationId xmlns:a16="http://schemas.microsoft.com/office/drawing/2014/main" id="{A7DAD213-CFE1-9449-05E9-F562A9CB9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" t="47" r="541" b="11108"/>
              <a:stretch/>
            </p:blipFill>
            <p:spPr bwMode="auto">
              <a:xfrm>
                <a:off x="9152730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Faraj Al-Badani">
                <a:extLst>
                  <a:ext uri="{FF2B5EF4-FFF2-40B4-BE49-F238E27FC236}">
                    <a16:creationId xmlns:a16="http://schemas.microsoft.com/office/drawing/2014/main" id="{1BA1113F-981D-5D40-5118-7169919CE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7293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peakers // NDnano // University of Notre Dame">
                <a:extLst>
                  <a:ext uri="{FF2B5EF4-FFF2-40B4-BE49-F238E27FC236}">
                    <a16:creationId xmlns:a16="http://schemas.microsoft.com/office/drawing/2014/main" id="{E397CF7D-F0DE-B2C8-1273-EA4DE6D07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" b="24951"/>
              <a:stretch/>
            </p:blipFill>
            <p:spPr bwMode="auto">
              <a:xfrm>
                <a:off x="10981693" y="39041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A0A71264-A4AC-47ED-A6BA-C5B2646C1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9200" y="1071216"/>
              <a:ext cx="733818" cy="917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54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3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56" grpId="0" animBg="1"/>
      <p:bldP spid="267" grpId="0" animBg="1"/>
      <p:bldP spid="268" grpId="0" animBg="1"/>
      <p:bldP spid="26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1E40-D19D-8EF1-CF32-BB9607DB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86B957D-31C5-95D4-1293-A022B0A56314}"/>
              </a:ext>
            </a:extLst>
          </p:cNvPr>
          <p:cNvGrpSpPr/>
          <p:nvPr/>
        </p:nvGrpSpPr>
        <p:grpSpPr>
          <a:xfrm>
            <a:off x="671086" y="703493"/>
            <a:ext cx="11102699" cy="4192227"/>
            <a:chOff x="351046" y="691993"/>
            <a:chExt cx="11520630" cy="4350032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C2A50234-A54C-AE34-917F-95A171F8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B07F1AC-41C5-ADDD-834B-843F7C90C710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431B010-048F-1B32-C337-EC658A9C7656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0884B27-BAE4-A935-6830-6068F6B6D9BA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4843C39D-E816-6983-6986-4809E61C5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ADB7EF-F8A0-809C-0CB6-97610051F9AA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763E2F-3AC2-1166-EFCD-D0B2AE615ABA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FFA3E2-08BF-2E79-01AB-077D808E173A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63382BB-F155-49BE-68D3-E7164443656B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E568BF-656A-6DCC-CE27-171A9BF7EF38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23B968-5784-FC13-983B-39ADAD93B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1FD50E6-5624-3595-A09B-456A16DCE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CBF05CF-A475-F6C4-38AF-A5FB2508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A289AFA-0A44-ABED-A4CD-EEC170016D21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FD3F03-8746-5FC4-4E81-BAA8F94E027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94BED18-A6C8-C1B7-6D05-66433732213F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7B62AC8-6F2D-71F5-3517-CCDAE5B779A0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93847D-77A4-2BFC-EF5F-C04ACCC0673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CF227A5-6C31-CDCA-432A-0482CEE97910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2FD7994E-F52D-B2D1-CB8C-425DC657B08B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BD9A5EC-E785-CDAA-E80C-F2E9D760A49B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67A38F39-CB22-E8D5-6504-BEE034BEBF54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67136A25-C3A9-A726-375E-697F355E9467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B6221993-AE54-DB99-163F-C896E087175A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461B168-76C7-4998-88BB-8738A9B6055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EEF96D0D-224E-21E3-6BD9-7BD912C2EFA0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708494A-C236-A218-1FBB-300B178E05D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C49CF15C-442F-A564-82C7-E3BC0561D82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26D0A4D-5566-2C46-6921-038015C32D45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8ACC2E2A-D261-730C-BF28-ADBD5F0BF385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F0F0AC46-F2B4-1C4C-5BD2-0F69373BA36B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D1FA9B3-AB7C-87B5-1CDD-1BB2A0244AC1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CAC9A30-C614-2313-5772-3505896E707C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5D88AD-8BCD-7C39-FD02-61FA818FBB1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A3883E9-35EF-A1CA-21E0-11A087A6BF01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E43BECC2-68C9-F926-5BFC-88C892F44C5E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050E3BD-FECD-58C9-A8E7-E1AE3F507E76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35D069FF-F9D3-7653-30E8-CEAA9885AEF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DEDF4AF-BA85-3EDF-1696-EB9A3F7C89A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BCF2C7-4B66-29EF-A3D2-4C8698D65737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30F384-6CD2-7D50-3E9E-A525019E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310B538-094D-7E1A-6CB9-BDD90D2497FE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00491D5C-33AD-0618-F1C5-9A6E616C88B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6AD2B78F-B354-39B2-B03B-A703D2040C4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171E7432-9CF3-9FF2-0E2D-358692773FED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5C9AE-EA89-55F0-108E-E0BC5BBD3969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6463B8-9AF8-7250-B80D-E8418BAA1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A3C9F9-E502-EDB7-FB8C-CCD46797D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6313AF-0FD6-ADA4-4404-139597EFB75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A30ECD6-8B51-6DD5-60C9-B9AA19E36CF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0EB6BC9-C14F-4191-C275-6BE14423FA8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99E5FE-8EB3-F877-31AA-04748B796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F2B8942-915A-C957-0FB1-127B7F079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F1FF70C-88C9-43B7-D951-A3FF3380F409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D84BAD-B9DD-11F4-4D05-CF82F9053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4F0B42B-09AB-05CF-5FFD-4ACD8BE64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9136878-C84F-5891-49F1-632CCE4FA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B2B363B-56F1-2F57-7F93-536287D47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AEC248-83C7-8B8D-61F3-821E947F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E7393B-C093-EAE9-69A4-9398D69A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977ED9-B245-0F38-E4F5-0E4404F3C7CD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AAFBEA-E064-15C7-6BC1-FBEF6B82D86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B0051-7F94-975D-E738-F379A77689E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9F8759-A93B-7198-A567-564282117CBA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C82C0F-EC2F-AFE0-9582-7EAF848646D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BA50067E-EA0A-3164-9215-94B8AB048BC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5ADC348-53FD-321B-3A5F-37D11745B84A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3A27DEE-DFDA-6663-67BF-5C031522E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724325-AEBC-85D6-F7D1-B90B2A5D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958D1C08-D8AB-CB7D-2A5B-799E3B39512C}"/>
              </a:ext>
            </a:extLst>
          </p:cNvPr>
          <p:cNvSpPr/>
          <p:nvPr/>
        </p:nvSpPr>
        <p:spPr>
          <a:xfrm>
            <a:off x="2594105" y="1498270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094FFF5F-7787-9DC5-E060-D84279692497}"/>
              </a:ext>
            </a:extLst>
          </p:cNvPr>
          <p:cNvSpPr/>
          <p:nvPr/>
        </p:nvSpPr>
        <p:spPr>
          <a:xfrm>
            <a:off x="2652075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EBD71746-4665-7720-E72F-8461C35FCDFD}"/>
              </a:ext>
            </a:extLst>
          </p:cNvPr>
          <p:cNvSpPr/>
          <p:nvPr/>
        </p:nvSpPr>
        <p:spPr>
          <a:xfrm>
            <a:off x="2960486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41272857-C599-62B0-925D-9EF5269E05BD}"/>
              </a:ext>
            </a:extLst>
          </p:cNvPr>
          <p:cNvSpPr/>
          <p:nvPr/>
        </p:nvSpPr>
        <p:spPr>
          <a:xfrm>
            <a:off x="3268897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44D11F08-D5CB-F372-0B76-BA8CD107E351}"/>
              </a:ext>
            </a:extLst>
          </p:cNvPr>
          <p:cNvSpPr/>
          <p:nvPr/>
        </p:nvSpPr>
        <p:spPr>
          <a:xfrm rot="10800000">
            <a:off x="3531532" y="2466685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C9C3D980-085F-B677-E6AD-FC9009610F07}"/>
              </a:ext>
            </a:extLst>
          </p:cNvPr>
          <p:cNvSpPr/>
          <p:nvPr/>
        </p:nvSpPr>
        <p:spPr>
          <a:xfrm rot="10800000">
            <a:off x="3537097" y="1484817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DB686148-26A4-7A77-CB5A-FA8A383B876B}"/>
              </a:ext>
            </a:extLst>
          </p:cNvPr>
          <p:cNvSpPr/>
          <p:nvPr/>
        </p:nvSpPr>
        <p:spPr>
          <a:xfrm rot="18976205">
            <a:off x="4860462" y="2570382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D7DFAAB3-603F-8D71-522B-83678AD0FDA4}"/>
              </a:ext>
            </a:extLst>
          </p:cNvPr>
          <p:cNvSpPr/>
          <p:nvPr/>
        </p:nvSpPr>
        <p:spPr>
          <a:xfrm rot="18976205">
            <a:off x="6462335" y="4181381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F8A2055-33BA-5467-DC16-853283DA4B95}"/>
              </a:ext>
            </a:extLst>
          </p:cNvPr>
          <p:cNvSpPr/>
          <p:nvPr/>
        </p:nvSpPr>
        <p:spPr>
          <a:xfrm>
            <a:off x="4338855" y="178108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D92AAA46-6D26-D51C-2397-6401212083E0}"/>
              </a:ext>
            </a:extLst>
          </p:cNvPr>
          <p:cNvSpPr/>
          <p:nvPr/>
        </p:nvSpPr>
        <p:spPr>
          <a:xfrm rot="16200000">
            <a:off x="2150038" y="1002987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07685A7-B169-99B5-F6C7-75A93A1BCC26}"/>
              </a:ext>
            </a:extLst>
          </p:cNvPr>
          <p:cNvSpPr/>
          <p:nvPr/>
        </p:nvSpPr>
        <p:spPr>
          <a:xfrm rot="16200000">
            <a:off x="3962414" y="1010956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EC10D7EB-885C-0929-DA8D-73269754D2A2}"/>
              </a:ext>
            </a:extLst>
          </p:cNvPr>
          <p:cNvSpPr/>
          <p:nvPr/>
        </p:nvSpPr>
        <p:spPr>
          <a:xfrm rot="16200000">
            <a:off x="4685371" y="2648900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B146A175-257F-F45D-6984-43A0DECBCD59}"/>
              </a:ext>
            </a:extLst>
          </p:cNvPr>
          <p:cNvSpPr/>
          <p:nvPr/>
        </p:nvSpPr>
        <p:spPr>
          <a:xfrm rot="10800000">
            <a:off x="6291569" y="325093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8FD4ECCA-E0C2-5FA3-EA35-2D7A3CEFAA30}"/>
              </a:ext>
            </a:extLst>
          </p:cNvPr>
          <p:cNvSpPr/>
          <p:nvPr/>
        </p:nvSpPr>
        <p:spPr>
          <a:xfrm rot="10800000">
            <a:off x="6299135" y="250579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272C4597-4148-8048-55AF-F1FA47DE927F}"/>
              </a:ext>
            </a:extLst>
          </p:cNvPr>
          <p:cNvSpPr/>
          <p:nvPr/>
        </p:nvSpPr>
        <p:spPr>
          <a:xfrm rot="16200000">
            <a:off x="6909377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CB0282C1-BB44-4CBE-9416-61D1A8C5D34D}"/>
              </a:ext>
            </a:extLst>
          </p:cNvPr>
          <p:cNvSpPr/>
          <p:nvPr/>
        </p:nvSpPr>
        <p:spPr>
          <a:xfrm rot="16200000">
            <a:off x="8006840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456C0A5C-1FFD-AB5C-B44F-A964D48E3A18}"/>
              </a:ext>
            </a:extLst>
          </p:cNvPr>
          <p:cNvSpPr/>
          <p:nvPr/>
        </p:nvSpPr>
        <p:spPr>
          <a:xfrm>
            <a:off x="8158878" y="2536948"/>
            <a:ext cx="259248" cy="437758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737556D-A0D7-2265-9816-584C06CE4B77}"/>
              </a:ext>
            </a:extLst>
          </p:cNvPr>
          <p:cNvSpPr/>
          <p:nvPr/>
        </p:nvSpPr>
        <p:spPr>
          <a:xfrm>
            <a:off x="9152730" y="3376530"/>
            <a:ext cx="274574" cy="193511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4D306FB-9A71-C37D-E53C-D5E78FF33E0E}"/>
              </a:ext>
            </a:extLst>
          </p:cNvPr>
          <p:cNvSpPr/>
          <p:nvPr/>
        </p:nvSpPr>
        <p:spPr>
          <a:xfrm>
            <a:off x="9596674" y="5018656"/>
            <a:ext cx="1322589" cy="13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35C4B-43E1-6A03-1FAF-E70AFC3575EB}"/>
              </a:ext>
            </a:extLst>
          </p:cNvPr>
          <p:cNvSpPr/>
          <p:nvPr/>
        </p:nvSpPr>
        <p:spPr>
          <a:xfrm>
            <a:off x="5485148" y="3233435"/>
            <a:ext cx="526379" cy="847334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4E4BF-1DBA-CF65-C05C-5A654C6DD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6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7;p38">
            <a:extLst>
              <a:ext uri="{FF2B5EF4-FFF2-40B4-BE49-F238E27FC236}">
                <a16:creationId xmlns:a16="http://schemas.microsoft.com/office/drawing/2014/main" id="{5E226B95-5A05-199A-30CF-F165650EC24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1885" y="882083"/>
            <a:ext cx="4282454" cy="19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0" y="-5911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Dynamic Model w/ Lumped Parameter Infers Membrane Properties</a:t>
            </a:r>
            <a:endParaRPr dirty="0"/>
          </a:p>
        </p:txBody>
      </p:sp>
      <p:sp>
        <p:nvSpPr>
          <p:cNvPr id="900" name="Google Shape;900;p33"/>
          <p:cNvSpPr txBox="1"/>
          <p:nvPr/>
        </p:nvSpPr>
        <p:spPr>
          <a:xfrm>
            <a:off x="192600" y="1054895"/>
            <a:ext cx="2393900" cy="2018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8"/>
            </a:stretch>
          </a:blipFill>
          <a:ln w="9525" cap="flat" cmpd="sng">
            <a:solidFill>
              <a:srgbClr val="B08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>
            <a:spLocks noChangeAspect="1"/>
          </p:cNvSpPr>
          <p:nvPr/>
        </p:nvSpPr>
        <p:spPr>
          <a:xfrm>
            <a:off x="5601910" y="1387651"/>
            <a:ext cx="2602016" cy="14630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" y="5166864"/>
            <a:ext cx="2560320" cy="11169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165637" y="3525317"/>
            <a:ext cx="2498811" cy="1381050"/>
            <a:chOff x="3962644" y="5098096"/>
            <a:chExt cx="2876307" cy="1589687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9472" b="61737"/>
            <a:stretch/>
          </p:blipFill>
          <p:spPr>
            <a:xfrm>
              <a:off x="4317967" y="5726156"/>
              <a:ext cx="1588697" cy="506397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1289" r="44624"/>
            <a:stretch/>
          </p:blipFill>
          <p:spPr>
            <a:xfrm>
              <a:off x="4085166" y="6175440"/>
              <a:ext cx="2170776" cy="5123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63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</a:t>
              </a:r>
            </a:p>
            <a:p>
              <a:r>
                <a:rPr lang="en-US" sz="1500" dirty="0"/>
                <a:t>polarization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96A686-1159-4D91-3E5F-CAFD41DCB101}"/>
              </a:ext>
            </a:extLst>
          </p:cNvPr>
          <p:cNvGrpSpPr/>
          <p:nvPr/>
        </p:nvGrpSpPr>
        <p:grpSpPr>
          <a:xfrm>
            <a:off x="2586500" y="882082"/>
            <a:ext cx="3418108" cy="1812734"/>
            <a:chOff x="2634125" y="841740"/>
            <a:chExt cx="3418108" cy="18127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919CD-8554-494E-B1CF-85349C3A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125" y="841740"/>
              <a:ext cx="3418108" cy="18127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1466-1885-4756-A74B-49F6C9854854}"/>
                </a:ext>
              </a:extLst>
            </p:cNvPr>
            <p:cNvSpPr/>
            <p:nvPr/>
          </p:nvSpPr>
          <p:spPr>
            <a:xfrm>
              <a:off x="3911258" y="1287357"/>
              <a:ext cx="273772" cy="2788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9A1AC2-C7C0-4F13-86E4-A94F3B51D403}"/>
                </a:ext>
              </a:extLst>
            </p:cNvPr>
            <p:cNvSpPr/>
            <p:nvPr/>
          </p:nvSpPr>
          <p:spPr>
            <a:xfrm>
              <a:off x="4784798" y="1287357"/>
              <a:ext cx="183846" cy="262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601EB4-5513-4648-8E8E-75B4E89B54E0}"/>
                </a:ext>
              </a:extLst>
            </p:cNvPr>
            <p:cNvSpPr/>
            <p:nvPr/>
          </p:nvSpPr>
          <p:spPr>
            <a:xfrm>
              <a:off x="4048183" y="2326033"/>
              <a:ext cx="218631" cy="2649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8D1EB-1348-B466-876B-B5F2ABD41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BCB5EA-703A-08B8-2456-A1B9301F8620}"/>
              </a:ext>
            </a:extLst>
          </p:cNvPr>
          <p:cNvGrpSpPr/>
          <p:nvPr/>
        </p:nvGrpSpPr>
        <p:grpSpPr>
          <a:xfrm>
            <a:off x="2665949" y="3105123"/>
            <a:ext cx="9467909" cy="3170195"/>
            <a:chOff x="2665949" y="3293381"/>
            <a:chExt cx="9467909" cy="3170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D9341F-1861-2DC5-48B0-37622B72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949" y="3293381"/>
              <a:ext cx="9467909" cy="317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151B69-1CAF-C939-F424-0641169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5489972" y="5829773"/>
              <a:ext cx="126635" cy="163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219D7D-3CB5-35AC-BC85-36C8596B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6880622" y="5643419"/>
              <a:ext cx="126635" cy="1638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/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Parameter Estimation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>
                  <a:solidFill>
                    <a:srgbClr val="FF9900"/>
                  </a:solidFill>
                  <a:latin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blipFill>
                <a:blip r:embed="rId11"/>
                <a:stretch>
                  <a:fillRect l="-370" t="-5102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Lumped Parameter Model Infers Membrane Properties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7878282" y="903472"/>
            <a:ext cx="4279646" cy="6055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1" t="-2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/>
          <p:nvPr/>
        </p:nvSpPr>
        <p:spPr>
          <a:xfrm>
            <a:off x="240225" y="3647398"/>
            <a:ext cx="2393900" cy="13985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5" y="5099845"/>
            <a:ext cx="3205838" cy="1398553"/>
          </a:xfrm>
          <a:prstGeom prst="rect">
            <a:avLst/>
          </a:prstGeom>
        </p:spPr>
      </p:pic>
      <p:pic>
        <p:nvPicPr>
          <p:cNvPr id="12" name="Picture 11" descr="Diagram, engineering drawing&#10;&#10;Description automatically generated">
            <a:extLst>
              <a:ext uri="{FF2B5EF4-FFF2-40B4-BE49-F238E27FC236}">
                <a16:creationId xmlns:a16="http://schemas.microsoft.com/office/drawing/2014/main" id="{3971220B-51D7-4C71-A5DD-C095C250E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796" y="766603"/>
            <a:ext cx="4347188" cy="23775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19CD-8554-494E-B1CF-85349C3A9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544" y="3222935"/>
            <a:ext cx="3418108" cy="181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3924544" y="5035669"/>
            <a:ext cx="3589588" cy="1573420"/>
            <a:chOff x="3962644" y="5098096"/>
            <a:chExt cx="2876307" cy="1260768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9472" b="61737"/>
            <a:stretch/>
          </p:blipFill>
          <p:spPr>
            <a:xfrm>
              <a:off x="4548209" y="5397237"/>
              <a:ext cx="1588697" cy="506396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61289" r="44624"/>
            <a:stretch/>
          </p:blipFill>
          <p:spPr>
            <a:xfrm>
              <a:off x="4315409" y="5846522"/>
              <a:ext cx="2170776" cy="51234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258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polarization</a:t>
              </a:r>
            </a:p>
          </p:txBody>
        </p:sp>
      </p:grpSp>
      <p:sp>
        <p:nvSpPr>
          <p:cNvPr id="15" name="Google Shape;816;p27">
            <a:extLst>
              <a:ext uri="{FF2B5EF4-FFF2-40B4-BE49-F238E27FC236}">
                <a16:creationId xmlns:a16="http://schemas.microsoft.com/office/drawing/2014/main" id="{DBBCA254-3CC3-458F-9F44-25DDB50A837C}"/>
              </a:ext>
            </a:extLst>
          </p:cNvPr>
          <p:cNvSpPr txBox="1"/>
          <p:nvPr/>
        </p:nvSpPr>
        <p:spPr>
          <a:xfrm>
            <a:off x="1426730" y="6492875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200" dirty="0">
                <a:solidFill>
                  <a:srgbClr val="7F7F7F"/>
                </a:solidFill>
              </a:rPr>
              <a:t>Fig.] Ouimet, J. A. et. al., (2022). Journal of Membrane Science, 641, 119743.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1466-1885-4756-A74B-49F6C9854854}"/>
              </a:ext>
            </a:extLst>
          </p:cNvPr>
          <p:cNvSpPr/>
          <p:nvPr/>
        </p:nvSpPr>
        <p:spPr>
          <a:xfrm>
            <a:off x="5201677" y="3668552"/>
            <a:ext cx="273772" cy="278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A1AC2-C7C0-4F13-86E4-A94F3B51D403}"/>
              </a:ext>
            </a:extLst>
          </p:cNvPr>
          <p:cNvSpPr/>
          <p:nvPr/>
        </p:nvSpPr>
        <p:spPr>
          <a:xfrm>
            <a:off x="6075217" y="3668552"/>
            <a:ext cx="183846" cy="26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01EB4-5513-4648-8E8E-75B4E89B54E0}"/>
              </a:ext>
            </a:extLst>
          </p:cNvPr>
          <p:cNvSpPr/>
          <p:nvPr/>
        </p:nvSpPr>
        <p:spPr>
          <a:xfrm>
            <a:off x="5338602" y="4707228"/>
            <a:ext cx="218631" cy="264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/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Forward Model</a:t>
                </a:r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en-US" sz="1800" i="1" dirty="0"/>
              </a:p>
              <a:p>
                <a:pPr/>
                <a:r>
                  <a:rPr lang="en-US" sz="1800" dirty="0"/>
                  <a:t>where,</a:t>
                </a:r>
                <a:br>
                  <a:rPr lang="en-US" sz="18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blipFill>
                <a:blip r:embed="rId9"/>
                <a:stretch>
                  <a:fillRect l="-1208" t="-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"/>
          <p:cNvSpPr txBox="1">
            <a:spLocks noGrp="1"/>
          </p:cNvSpPr>
          <p:nvPr>
            <p:ph type="title"/>
          </p:nvPr>
        </p:nvSpPr>
        <p:spPr>
          <a:xfrm>
            <a:off x="0" y="205244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 5x Faster Than Filtration Experiments</a:t>
            </a:r>
            <a:endParaRPr dirty="0"/>
          </a:p>
        </p:txBody>
      </p:sp>
      <p:sp>
        <p:nvSpPr>
          <p:cNvPr id="875" name="Google Shape;875;p3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876" name="Google Shape;8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1244" y="3280318"/>
            <a:ext cx="3426512" cy="357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1244" y="0"/>
            <a:ext cx="3335351" cy="344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31" y="1509398"/>
            <a:ext cx="7972151" cy="4360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A7A786-6AAE-4C05-9847-54B4A2347FE4}"/>
              </a:ext>
            </a:extLst>
          </p:cNvPr>
          <p:cNvSpPr/>
          <p:nvPr/>
        </p:nvSpPr>
        <p:spPr>
          <a:xfrm>
            <a:off x="3658180" y="1713815"/>
            <a:ext cx="1396240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</p:spTree>
    <p:extLst>
      <p:ext uri="{BB962C8B-B14F-4D97-AF65-F5344CB8AC3E}">
        <p14:creationId xmlns:p14="http://schemas.microsoft.com/office/powerpoint/2010/main" val="65240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459-38F4-B1D9-F0EF-49B7A78D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7;p17">
            <a:extLst>
              <a:ext uri="{FF2B5EF4-FFF2-40B4-BE49-F238E27FC236}">
                <a16:creationId xmlns:a16="http://schemas.microsoft.com/office/drawing/2014/main" id="{ECF16E3B-B3F1-777A-27FF-9007C4AF0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72" y="2292120"/>
            <a:ext cx="3723153" cy="36977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DF19C920-6E40-11E1-C8B7-781E9BEE2385}"/>
                  </a:ext>
                </a:extLst>
              </p:cNvPr>
              <p:cNvSpPr txBox="1"/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onfidence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ellipse for covariance matrix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16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7EE07D3A-AE6E-47BE-9E33-A4F66482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blipFill>
                <a:blip r:embed="rId4"/>
                <a:stretch>
                  <a:fillRect t="-2174" r="-2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C7A55688-B386-2358-2BB8-1888A325D08A}"/>
              </a:ext>
            </a:extLst>
          </p:cNvPr>
          <p:cNvSpPr txBox="1">
            <a:spLocks/>
          </p:cNvSpPr>
          <p:nvPr/>
        </p:nvSpPr>
        <p:spPr>
          <a:xfrm>
            <a:off x="-4621" y="-6096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FIM Highlights Nonidentifiable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EB6AAE7-78A4-5831-7A77-63A2121724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625B949-B228-4796-9CB5-9B6A78E91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025671"/>
                  </p:ext>
                </p:extLst>
              </p:nvPr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4286" r="-418224" b="-11428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396" t="-54286" r="-303153" b="-11428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742" t="-211538" r="-98742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256" t="-211538" r="-641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Google Shape;106;p17">
            <a:extLst>
              <a:ext uri="{FF2B5EF4-FFF2-40B4-BE49-F238E27FC236}">
                <a16:creationId xmlns:a16="http://schemas.microsoft.com/office/drawing/2014/main" id="{821C4E80-1DC2-4DC9-5060-459C856E7BA8}"/>
              </a:ext>
            </a:extLst>
          </p:cNvPr>
          <p:cNvSpPr txBox="1"/>
          <p:nvPr/>
        </p:nvSpPr>
        <p:spPr>
          <a:xfrm>
            <a:off x="150582" y="1242905"/>
            <a:ext cx="4330695" cy="430847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Fisher information matrix (FIM)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112;p17">
            <a:extLst>
              <a:ext uri="{FF2B5EF4-FFF2-40B4-BE49-F238E27FC236}">
                <a16:creationId xmlns:a16="http://schemas.microsoft.com/office/drawing/2014/main" id="{4C0DD85E-3C0C-07C6-C817-DAEC51FCD34C}"/>
              </a:ext>
            </a:extLst>
          </p:cNvPr>
          <p:cNvSpPr/>
          <p:nvPr/>
        </p:nvSpPr>
        <p:spPr>
          <a:xfrm>
            <a:off x="8492490" y="2191358"/>
            <a:ext cx="1064662" cy="2432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2;p17">
            <a:extLst>
              <a:ext uri="{FF2B5EF4-FFF2-40B4-BE49-F238E27FC236}">
                <a16:creationId xmlns:a16="http://schemas.microsoft.com/office/drawing/2014/main" id="{6C5E706D-642C-C7DC-8575-DC5CDBE75182}"/>
              </a:ext>
            </a:extLst>
          </p:cNvPr>
          <p:cNvSpPr/>
          <p:nvPr/>
        </p:nvSpPr>
        <p:spPr>
          <a:xfrm>
            <a:off x="10716114" y="2191358"/>
            <a:ext cx="691026" cy="2904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9D90A0AE-9EB2-55BC-58F6-808EAF4D56B5}"/>
                  </a:ext>
                </a:extLst>
              </p:cNvPr>
              <p:cNvSpPr txBox="1"/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𝑴</m:t>
                      </m:r>
                      <m:r>
                        <a:rPr kumimoji="0" lang="en-US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𝑽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Arial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</m:e>
                        <m:sup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Arial"/>
                </a:endParaRPr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5B634CB5-BECE-4212-A63D-3B333B35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8AF2FF-BB32-8D21-7B2B-55C9E360037D}"/>
                  </a:ext>
                </a:extLst>
              </p:cNvPr>
              <p:cNvSpPr txBox="1"/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ln w="19050">
                <a:prstDash val="lgDash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</a:pPr>
                <a:r>
                  <a:rPr lang="en-US" sz="1800" b="1" kern="1200" dirty="0">
                    <a:solidFill>
                      <a:prstClr val="black"/>
                    </a:solidFill>
                  </a:rPr>
                  <a:t>FIM inference</a:t>
                </a:r>
              </a:p>
              <a:p>
                <a:pPr marL="28575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kern="1200" dirty="0">
                    <a:solidFill>
                      <a:prstClr val="black"/>
                    </a:solidFill>
                  </a:rPr>
                  <a:t>Model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18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prstClr val="black"/>
                    </a:solidFill>
                  </a:rPr>
                  <a:t>are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insensitive to</a:t>
                </a:r>
                <a14:m>
                  <m:oMath xmlns:m="http://schemas.openxmlformats.org/officeDocument/2006/math">
                    <m:r>
                      <a:rPr lang="en-US" sz="1800" b="0" i="0" kern="1200" smtClean="0">
                        <a:solidFill>
                          <a:srgbClr val="0022F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2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FIM 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rank deficient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with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Near zero eigenvalue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pointing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endPara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F5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Solely pH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cannot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</a:t>
                </a:r>
                <a:r>
                  <a:rPr lang="en-US" sz="1800" b="1" kern="1200" noProof="0" dirty="0">
                    <a:solidFill>
                      <a:prstClr val="black"/>
                    </a:solidFill>
                    <a:latin typeface="Arial" panose="020B0604020202020204"/>
                  </a:rPr>
                  <a:t>S</a:t>
                </a:r>
                <a:r>
                  <a:rPr lang="en-US" sz="1800" b="1" kern="1200" dirty="0" err="1">
                    <a:solidFill>
                      <a:prstClr val="black"/>
                    </a:solidFill>
                    <a:latin typeface="Arial" panose="020B0604020202020204"/>
                  </a:rPr>
                  <a:t>tep</a:t>
                </a:r>
                <a:r>
                  <a:rPr lang="en-US" sz="1800" b="1" kern="1200" dirty="0">
                    <a:solidFill>
                      <a:prstClr val="black"/>
                    </a:solidFill>
                    <a:latin typeface="Arial" panose="020B0604020202020204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7128AE-7EF2-A359-BEEC-D6F2A280A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  <a:ln w="19050">
                <a:prstDash val="lgDash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yomo">
            <a:extLst>
              <a:ext uri="{FF2B5EF4-FFF2-40B4-BE49-F238E27FC236}">
                <a16:creationId xmlns:a16="http://schemas.microsoft.com/office/drawing/2014/main" id="{AD0A0F45-4CF8-1828-2594-A40B521E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361" y="2903519"/>
            <a:ext cx="1797313" cy="5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DB2E-25D1-DBF3-CE89-CD61CFADF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8040-44BC-2C22-051E-5A5AF59AA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77" y="3429000"/>
            <a:ext cx="171922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47782</TotalTime>
  <Words>15766</Words>
  <Application>Microsoft Macintosh PowerPoint</Application>
  <PresentationFormat>Widescreen</PresentationFormat>
  <Paragraphs>868</Paragraphs>
  <Slides>59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Arial</vt:lpstr>
      <vt:lpstr>Baskerville</vt:lpstr>
      <vt:lpstr>Calibri</vt:lpstr>
      <vt:lpstr>Cambria</vt:lpstr>
      <vt:lpstr>Cambria Math</vt:lpstr>
      <vt:lpstr>Consolas</vt:lpstr>
      <vt:lpstr>Courier New</vt:lpstr>
      <vt:lpstr>Georgia</vt:lpstr>
      <vt:lpstr>Microsoft Sans Serif</vt:lpstr>
      <vt:lpstr>Times New Roman</vt:lpstr>
      <vt:lpstr>Office Theme</vt:lpstr>
      <vt:lpstr>1_Office Theme</vt:lpstr>
      <vt:lpstr>3_Office Theme</vt:lpstr>
      <vt:lpstr>Plan for a Digital Twin Testbed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Membrane Characterization using a Digital Model</vt:lpstr>
      <vt:lpstr>Separation using a Dynamic Diafiltration Device</vt:lpstr>
      <vt:lpstr>PowerPoint Presentation</vt:lpstr>
      <vt:lpstr>Dynamic Model w/ Lumped Parameter Infers Membrane Properties</vt:lpstr>
      <vt:lpstr>Lumped Parameter Model Infers Membrane Properties</vt:lpstr>
      <vt:lpstr>Dynamic Diafiltration Experiment Sweeps Larger Concentration Space 5x Faster Than Filtration Experiments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Defense-XL</dc:title>
  <dc:creator>alex@dowlinglab.org;Xinhong Liu</dc:creator>
  <cp:lastModifiedBy>Keshav Kasturi Rangan</cp:lastModifiedBy>
  <cp:revision>1413</cp:revision>
  <cp:lastPrinted>2026-03-18T14:06:46Z</cp:lastPrinted>
  <dcterms:created xsi:type="dcterms:W3CDTF">2018-06-25T12:14:03Z</dcterms:created>
  <dcterms:modified xsi:type="dcterms:W3CDTF">2026-05-13T13:10:08Z</dcterms:modified>
</cp:coreProperties>
</file>
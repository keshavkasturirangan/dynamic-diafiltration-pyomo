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3"/>
  </p:handoutMasterIdLst>
  <p:sldIdLst>
    <p:sldId id="259" r:id="rId2"/>
  </p:sldIdLst>
  <p:sldSz cx="43891200" cy="32918400"/>
  <p:notesSz cx="6953250" cy="9239250"/>
  <p:embeddedFontLst>
    <p:embeddedFont>
      <p:font typeface="Cambria Math" panose="02040503050406030204" pitchFamily="18" charset="0"/>
      <p:regular r:id="rId4"/>
    </p:embeddedFont>
  </p:embeddedFontLst>
  <p:custDataLst>
    <p:tags r:id="rId5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300" b="1" kern="1200">
        <a:solidFill>
          <a:srgbClr val="FF9900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4300" b="1" kern="1200">
        <a:solidFill>
          <a:srgbClr val="FF9900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stin Delre" initials="JD" lastIdx="0" clrIdx="0">
    <p:extLst>
      <p:ext uri="{19B8F6BF-5375-455C-9EA6-DF929625EA0E}">
        <p15:presenceInfo xmlns:p15="http://schemas.microsoft.com/office/powerpoint/2012/main" userId="Justin Delr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0C233F"/>
    <a:srgbClr val="FFC6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3658" autoAdjust="0"/>
    <p:restoredTop sz="94575" autoAdjust="0"/>
  </p:normalViewPr>
  <p:slideViewPr>
    <p:cSldViewPr>
      <p:cViewPr>
        <p:scale>
          <a:sx n="45" d="100"/>
          <a:sy n="45" d="100"/>
        </p:scale>
        <p:origin x="-528" y="-1632"/>
      </p:cViewPr>
      <p:guideLst>
        <p:guide orient="horz" pos="10368"/>
        <p:guide pos="13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tags" Target="tags/tag1.xml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8588" y="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8588" y="8775700"/>
            <a:ext cx="3013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910" tIns="46455" rIns="92910" bIns="46455" anchor="b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928688">
              <a:defRPr sz="12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54F1B5D8-D97D-47DE-99FD-BED51FB7C9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78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7" y="10226675"/>
            <a:ext cx="37306250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EDBB11-81A3-4CFA-BA97-1ABE9A8F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8167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940B6B-3169-44D4-847B-7863905C32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5290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42"/>
            <a:ext cx="37307838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03A4FA6-7C07-49C1-973B-224AB06B99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1738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7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2" y="7680325"/>
            <a:ext cx="19675475" cy="21726525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302B25C-7078-4EDD-9EEA-F171F39DF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03339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8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8"/>
            <a:ext cx="1940083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F454DA-B8E5-407C-A8B0-B2982CBF71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8905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65CC813-0CE0-4F7E-9B7F-FCCCD6CE8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435680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A5D3508A-868C-432E-A93E-3C5AF7B204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3773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EB5CAF5-4FB5-4E33-861E-BCE1A11039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6918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5" y="23042567"/>
            <a:ext cx="26335038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5" y="2941638"/>
            <a:ext cx="26335038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5" y="25763542"/>
            <a:ext cx="26335038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1738493-E10F-4F1A-B075-F4B94CA419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7747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5ECC0F7-0140-4FFA-BB4D-270D63D3C3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7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41" y="1317625"/>
            <a:ext cx="9875837" cy="28089225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9225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BC1B9D64-3336-481D-94A5-F579BB4A8A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4209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193927" y="1317625"/>
            <a:ext cx="39503350" cy="548640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93927" y="7680326"/>
            <a:ext cx="19675475" cy="10787063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2021802" y="7680326"/>
            <a:ext cx="19675475" cy="10787063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2193927" y="18619788"/>
            <a:ext cx="19675475" cy="10787062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021802" y="18619788"/>
            <a:ext cx="19675475" cy="10787062"/>
          </a:xfrm>
        </p:spPr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2D98BD33-354E-4B11-91E6-709054688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9802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DDA9A9"/>
            </a:gs>
            <a:gs pos="50000">
              <a:srgbClr val="990000"/>
            </a:gs>
            <a:gs pos="100000">
              <a:srgbClr val="DDA9A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l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8350"/>
            <a:ext cx="13900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8350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6203" tIns="188102" rIns="376203" bIns="188102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3762375">
              <a:defRPr sz="5700" b="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B42DBB13-E718-4C9A-AC99-89A36AFA8F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4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4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5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perceptualpewter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defPPr>
        <a:defRPr kern="1200"/>
      </a:defPPr>
      <a:lvl1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2pPr>
      <a:lvl3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3pPr>
      <a:lvl4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4pPr>
      <a:lvl5pPr algn="ctr" defTabSz="3762375" rtl="0" eaLnBrk="0" fontAlgn="base" hangingPunct="0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5pPr>
      <a:lvl6pPr marL="4572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6pPr>
      <a:lvl7pPr marL="9144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7pPr>
      <a:lvl8pPr marL="13716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8pPr>
      <a:lvl9pPr marL="1828800" algn="ctr" defTabSz="3762375" rtl="0" fontAlgn="base">
        <a:spcBef>
          <a:spcPct val="0"/>
        </a:spcBef>
        <a:spcAft>
          <a:spcPct val="0"/>
        </a:spcAft>
        <a:defRPr sz="1820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409700" indent="-14097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13200">
          <a:solidFill>
            <a:schemeClr val="tx1"/>
          </a:solidFill>
          <a:latin typeface="+mn-lt"/>
          <a:ea typeface="+mn-ea"/>
          <a:cs typeface="+mn-cs"/>
        </a:defRPr>
      </a:lvl1pPr>
      <a:lvl2pPr marL="3057525" indent="-1176338" algn="l" defTabSz="3762375" rtl="0" eaLnBrk="0" fontAlgn="base" hangingPunct="0">
        <a:spcBef>
          <a:spcPct val="20000"/>
        </a:spcBef>
        <a:spcAft>
          <a:spcPct val="0"/>
        </a:spcAft>
        <a:buChar char="–"/>
        <a:defRPr sz="11500">
          <a:solidFill>
            <a:schemeClr val="tx1"/>
          </a:solidFill>
          <a:latin typeface="+mn-lt"/>
        </a:defRPr>
      </a:lvl2pPr>
      <a:lvl3pPr marL="4702175" indent="-939800" algn="l" defTabSz="3762375" rtl="0" eaLnBrk="0" fontAlgn="base" hangingPunct="0">
        <a:spcBef>
          <a:spcPct val="20000"/>
        </a:spcBef>
        <a:spcAft>
          <a:spcPct val="0"/>
        </a:spcAft>
        <a:buChar char="•"/>
        <a:defRPr sz="9900">
          <a:solidFill>
            <a:schemeClr val="tx1"/>
          </a:solidFill>
          <a:latin typeface="+mn-lt"/>
        </a:defRPr>
      </a:lvl3pPr>
      <a:lvl4pPr marL="6583363" indent="-939800" algn="l" defTabSz="3762375" rtl="0" eaLnBrk="0" fontAlgn="base" hangingPunct="0">
        <a:spcBef>
          <a:spcPct val="20000"/>
        </a:spcBef>
        <a:spcAft>
          <a:spcPct val="0"/>
        </a:spcAft>
        <a:buChar char="–"/>
        <a:defRPr sz="8200">
          <a:solidFill>
            <a:schemeClr val="tx1"/>
          </a:solidFill>
          <a:latin typeface="+mn-lt"/>
        </a:defRPr>
      </a:lvl4pPr>
      <a:lvl5pPr marL="8466138" indent="-941388" algn="l" defTabSz="3762375" rtl="0" eaLnBrk="0" fontAlgn="base" hangingPunct="0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5pPr>
      <a:lvl6pPr marL="89233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6pPr>
      <a:lvl7pPr marL="93805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7pPr>
      <a:lvl8pPr marL="98377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8pPr>
      <a:lvl9pPr marL="10294938" indent="-941388" algn="l" defTabSz="3762375" rtl="0" fontAlgn="base">
        <a:spcBef>
          <a:spcPct val="20000"/>
        </a:spcBef>
        <a:spcAft>
          <a:spcPct val="0"/>
        </a:spcAft>
        <a:buChar char="»"/>
        <a:defRPr sz="8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8" Type="http://schemas.openxmlformats.org/officeDocument/2006/relationships/image" Target="../media/image18.png"/><Relationship Id="rId26" Type="http://schemas.openxmlformats.org/officeDocument/2006/relationships/image" Target="../media/image24.png"/><Relationship Id="rId3" Type="http://schemas.openxmlformats.org/officeDocument/2006/relationships/image" Target="../media/image4.png"/><Relationship Id="rId21" Type="http://schemas.openxmlformats.org/officeDocument/2006/relationships/hyperlink" Target="https://pyomo.readthedocs.io/en/stable/explanation/analysis/parmest/index.html" TargetMode="External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7.png"/><Relationship Id="rId25" Type="http://schemas.openxmlformats.org/officeDocument/2006/relationships/image" Target="../media/image230.png"/><Relationship Id="rId2" Type="http://schemas.openxmlformats.org/officeDocument/2006/relationships/image" Target="../media/image3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6.png"/><Relationship Id="rId10" Type="http://schemas.openxmlformats.org/officeDocument/2006/relationships/image" Target="../media/image11.png"/><Relationship Id="rId19" Type="http://schemas.openxmlformats.org/officeDocument/2006/relationships/image" Target="../media/image19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1.pn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rgbClr val="002060">
                <a:alpha val="48000"/>
              </a:srgbClr>
            </a:gs>
            <a:gs pos="40000">
              <a:srgbClr val="C8C8C8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67">
            <a:extLst>
              <a:ext uri="{FF2B5EF4-FFF2-40B4-BE49-F238E27FC236}">
                <a16:creationId xmlns:a16="http://schemas.microsoft.com/office/drawing/2014/main" id="{BEA95605-1BB7-B8B6-CC6F-4D188EF8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7845" y="5939730"/>
            <a:ext cx="19357924" cy="918270"/>
          </a:xfrm>
          <a:prstGeom prst="roundRect">
            <a:avLst/>
          </a:prstGeom>
          <a:ln>
            <a:solidFill>
              <a:srgbClr val="0C233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>
              <a:defRPr sz="2200" b="1"/>
            </a:pPr>
            <a:r>
              <a:rPr lang="en-US" sz="4400" dirty="0">
                <a:solidFill>
                  <a:srgbClr val="0C233F"/>
                </a:solidFill>
              </a:rPr>
              <a:t>Dynamic Modeling and UQ Workflow</a:t>
            </a:r>
            <a:endParaRPr sz="4400" dirty="0">
              <a:solidFill>
                <a:srgbClr val="0C233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E98CAE-7785-2D40-5EEF-49AD3E7FF88F}"/>
              </a:ext>
            </a:extLst>
          </p:cNvPr>
          <p:cNvSpPr/>
          <p:nvPr/>
        </p:nvSpPr>
        <p:spPr bwMode="auto">
          <a:xfrm>
            <a:off x="-228600" y="-326130"/>
            <a:ext cx="44958000" cy="5858725"/>
          </a:xfrm>
          <a:prstGeom prst="rect">
            <a:avLst/>
          </a:prstGeom>
          <a:ln w="825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 vert="horz" wrap="none" lIns="137160" tIns="68580" rIns="137160" bIns="6858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762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300" b="1" i="0" u="none" strike="noStrike" cap="none" normalizeH="0" baseline="0" dirty="0">
              <a:ln>
                <a:noFill/>
              </a:ln>
              <a:solidFill>
                <a:srgbClr val="FF9900"/>
              </a:solidFill>
              <a:effectLst/>
              <a:latin typeface="Arial" pitchFamily="34" charset="0"/>
            </a:endParaRPr>
          </a:p>
        </p:txBody>
      </p:sp>
      <p:sp>
        <p:nvSpPr>
          <p:cNvPr id="10" name="Off-page Connector 9">
            <a:extLst>
              <a:ext uri="{FF2B5EF4-FFF2-40B4-BE49-F238E27FC236}">
                <a16:creationId xmlns:a16="http://schemas.microsoft.com/office/drawing/2014/main" id="{CCDE5FC6-CD9A-D02D-7D96-467C1F467DB9}"/>
              </a:ext>
            </a:extLst>
          </p:cNvPr>
          <p:cNvSpPr/>
          <p:nvPr/>
        </p:nvSpPr>
        <p:spPr bwMode="auto">
          <a:xfrm rot="5400000">
            <a:off x="36048979" y="-2919224"/>
            <a:ext cx="5646660" cy="11256982"/>
          </a:xfrm>
          <a:prstGeom prst="flowChartOffpageConnector">
            <a:avLst/>
          </a:prstGeom>
          <a:solidFill>
            <a:schemeClr val="bg1">
              <a:lumMod val="95000"/>
            </a:schemeClr>
          </a:solidFill>
          <a:ln w="82550">
            <a:solidFill>
              <a:srgbClr val="0C233F"/>
            </a:solidFill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137160" tIns="68580" rIns="137160" bIns="6858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3762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300" b="1" i="0" u="none" strike="noStrike" cap="none" normalizeH="0" baseline="0">
              <a:ln>
                <a:noFill/>
              </a:ln>
              <a:solidFill>
                <a:srgbClr val="FF9900"/>
              </a:solidFill>
              <a:effectLst/>
              <a:latin typeface="Arial" pitchFamily="34" charset="0"/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2C25681-95AF-45D0-852E-DC3E00E2FDFE}"/>
              </a:ext>
            </a:extLst>
          </p:cNvPr>
          <p:cNvSpPr txBox="1"/>
          <p:nvPr/>
        </p:nvSpPr>
        <p:spPr>
          <a:xfrm>
            <a:off x="-304800" y="-76200"/>
            <a:ext cx="34129798" cy="5684699"/>
          </a:xfrm>
          <a:prstGeom prst="rect">
            <a:avLst/>
          </a:prstGeom>
        </p:spPr>
        <p:txBody>
          <a:bodyPr wrap="square" lIns="0" tIns="457200" rIns="0" bIns="0">
            <a:no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spcBef>
                <a:spcPct val="20000"/>
              </a:spcBef>
              <a:defRPr/>
            </a:pPr>
            <a:r>
              <a:rPr lang="en-US" sz="9600" dirty="0">
                <a:solidFill>
                  <a:srgbClr val="FFFFFF"/>
                </a:solidFill>
              </a:rPr>
              <a:t>Dynamic Modeling and Intrusive Uncertainty Quantification (UQ) for Membrane Separation Systems</a:t>
            </a:r>
            <a:endParaRPr sz="9600" dirty="0">
              <a:solidFill>
                <a:srgbClr val="FFFFFF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F872E11-D0DF-4446-BE76-A398B88E9B44}"/>
              </a:ext>
            </a:extLst>
          </p:cNvPr>
          <p:cNvSpPr txBox="1"/>
          <p:nvPr/>
        </p:nvSpPr>
        <p:spPr>
          <a:xfrm>
            <a:off x="0" y="3657600"/>
            <a:ext cx="33434630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78198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56396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345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127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390995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1269197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3147394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025593" algn="l" defTabSz="3756396" rtl="0" eaLnBrk="1" latinLnBrk="0" hangingPunct="1">
              <a:defRPr sz="7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sz="4000" b="0" dirty="0">
                <a:solidFill>
                  <a:srgbClr val="FFFFFF"/>
                </a:solidFill>
              </a:rPr>
              <a:t>Keshav Kasturi Rangan, Molly Dougher, Laurianne Estrada, Shammah </a:t>
            </a:r>
            <a:r>
              <a:rPr sz="4000" b="0" dirty="0" err="1">
                <a:solidFill>
                  <a:srgbClr val="FFFFFF"/>
                </a:solidFill>
              </a:rPr>
              <a:t>Lilonfe</a:t>
            </a:r>
            <a:r>
              <a:rPr sz="4000" b="0" dirty="0">
                <a:solidFill>
                  <a:srgbClr val="FFFFFF"/>
                </a:solidFill>
              </a:rPr>
              <a:t>, Pratham Singh, William A. Phillip, Alexander W. Dowling</a:t>
            </a:r>
            <a:br>
              <a:rPr sz="4000" dirty="0"/>
            </a:br>
            <a:r>
              <a:rPr sz="4000" b="0" dirty="0">
                <a:solidFill>
                  <a:srgbClr val="FFFFFF"/>
                </a:solidFill>
              </a:rPr>
              <a:t>Dep</a:t>
            </a:r>
            <a:r>
              <a:rPr lang="en-US" sz="4000" b="0" dirty="0">
                <a:solidFill>
                  <a:srgbClr val="FFFFFF"/>
                </a:solidFill>
              </a:rPr>
              <a:t>artment</a:t>
            </a:r>
            <a:r>
              <a:rPr sz="4000" b="0" dirty="0">
                <a:solidFill>
                  <a:srgbClr val="FFFFFF"/>
                </a:solidFill>
              </a:rPr>
              <a:t> of Chemical and Biomolecular Engineering, University of Notre Dame</a:t>
            </a:r>
            <a:endParaRPr lang="en-US" sz="4000" b="0" dirty="0">
              <a:solidFill>
                <a:srgbClr val="FFFFFF"/>
              </a:solidFill>
            </a:endParaRPr>
          </a:p>
          <a:p>
            <a:pPr algn="ctr">
              <a:defRPr/>
            </a:pPr>
            <a:r>
              <a:rPr lang="en-US" sz="4000" b="0" dirty="0">
                <a:solidFill>
                  <a:srgbClr val="FFFFFF"/>
                </a:solidFill>
              </a:rPr>
              <a:t>Email: </a:t>
            </a:r>
            <a:r>
              <a:rPr lang="en-US" sz="4000" b="0" dirty="0" err="1">
                <a:solidFill>
                  <a:srgbClr val="FFFFFF"/>
                </a:solidFill>
              </a:rPr>
              <a:t>kkasturi@nd.edu</a:t>
            </a:r>
            <a:endParaRPr sz="4000" b="0" dirty="0">
              <a:solidFill>
                <a:srgbClr val="FFFFFF"/>
              </a:solidFill>
            </a:endParaRPr>
          </a:p>
        </p:txBody>
      </p:sp>
      <p:sp>
        <p:nvSpPr>
          <p:cNvPr id="32" name="Rectangle 167">
            <a:extLst>
              <a:ext uri="{FF2B5EF4-FFF2-40B4-BE49-F238E27FC236}">
                <a16:creationId xmlns:a16="http://schemas.microsoft.com/office/drawing/2014/main" id="{8A36DE9E-ADA7-4B49-A36B-D777D03B4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89800" y="5943600"/>
            <a:ext cx="10469026" cy="914400"/>
          </a:xfrm>
          <a:prstGeom prst="roundRect">
            <a:avLst/>
          </a:prstGeom>
          <a:ln>
            <a:solidFill>
              <a:srgbClr val="0C233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>
              <a:defRPr sz="2200" b="1"/>
            </a:pPr>
            <a:r>
              <a:rPr lang="en-US" sz="4400" dirty="0">
                <a:solidFill>
                  <a:srgbClr val="0C233F"/>
                </a:solidFill>
              </a:rPr>
              <a:t>Takeaways</a:t>
            </a:r>
            <a:endParaRPr sz="4400" dirty="0">
              <a:solidFill>
                <a:srgbClr val="0C233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7F5A37C-2B6C-4404-91FF-0640D04BD011}"/>
                  </a:ext>
                </a:extLst>
              </p:cNvPr>
              <p:cNvSpPr txBox="1"/>
              <p:nvPr/>
            </p:nvSpPr>
            <p:spPr>
              <a:xfrm>
                <a:off x="32736526" y="7010400"/>
                <a:ext cx="10468874" cy="7252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kern="1200"/>
                </a:defPPr>
              </a:lstStyle>
              <a:p>
                <a:pPr indent="-571500" algn="just">
                  <a:buFont typeface="Arial" panose="020B0604020202020204" pitchFamily="34" charset="0"/>
                  <a:buChar char="•"/>
                </a:pPr>
                <a:r>
                  <a:rPr lang="en-US" sz="3600" b="0" dirty="0">
                    <a:solidFill>
                      <a:schemeClr val="tx1"/>
                    </a:solidFill>
                  </a:rPr>
                  <a:t>Pyomo workflow for </a:t>
                </a:r>
                <a:r>
                  <a:rPr lang="en-US" sz="3600" dirty="0">
                    <a:solidFill>
                      <a:schemeClr val="tx1"/>
                    </a:solidFill>
                  </a:rPr>
                  <a:t>intrusive UQ and MBDoE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 using </a:t>
                </a:r>
                <a:r>
                  <a:rPr lang="en-US" sz="3600" dirty="0">
                    <a:solidFill>
                      <a:schemeClr val="tx1"/>
                    </a:solidFill>
                  </a:rPr>
                  <a:t>ParmEst, Pyomo.DoE</a:t>
                </a:r>
              </a:p>
              <a:p>
                <a:pPr indent="-571500" algn="just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MBDoE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 is similar to </a:t>
                </a:r>
                <a:r>
                  <a:rPr lang="en-US" sz="3600" dirty="0">
                    <a:solidFill>
                      <a:schemeClr val="tx1"/>
                    </a:solidFill>
                  </a:rPr>
                  <a:t>optimal control 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with an </a:t>
                </a:r>
                <a:r>
                  <a:rPr lang="en-US" sz="3600" dirty="0">
                    <a:solidFill>
                      <a:schemeClr val="tx1"/>
                    </a:solidFill>
                  </a:rPr>
                  <a:t>information objective 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instead of performance</a:t>
                </a:r>
              </a:p>
              <a:p>
                <a:pPr lvl="2" indent="-571500" algn="just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General control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36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limLow>
                          <m:limLowPr>
                            <m:ctrlPr>
                              <a:rPr lang="en-US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lim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lim>
                        </m:limLow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3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perf</m:t>
                            </m:r>
                          </m:sub>
                        </m:sSub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3600" b="0" dirty="0">
                  <a:solidFill>
                    <a:schemeClr val="tx1"/>
                  </a:solidFill>
                </a:endParaRPr>
              </a:p>
              <a:p>
                <a:pPr lvl="2" indent="-571500" algn="just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MBDoE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36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600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sz="36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3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36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  <m:r>
                                  <a:rPr lang="en-US" sz="36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36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acc>
                              <m:accPr>
                                <m:chr m:val="̂"/>
                                <m:ctrlPr>
                                  <a:rPr lang="en-US" sz="36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600" b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3600" b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))</m:t>
                            </m:r>
                          </m:e>
                        </m:func>
                      </m:e>
                    </m:func>
                  </m:oMath>
                </a14:m>
                <a:endParaRPr lang="en-US" sz="3600" b="0" dirty="0">
                  <a:solidFill>
                    <a:schemeClr val="tx1"/>
                  </a:solidFill>
                </a:endParaRPr>
              </a:p>
              <a:p>
                <a:pPr indent="-571500" algn="just">
                  <a:buFont typeface="Arial" panose="020B0604020202020204" pitchFamily="34" charset="0"/>
                  <a:buChar char="•"/>
                </a:pPr>
                <a:r>
                  <a:rPr lang="en-US" sz="3600" b="0" dirty="0">
                    <a:solidFill>
                      <a:schemeClr val="tx1"/>
                    </a:solidFill>
                  </a:rPr>
                  <a:t>Derivative-consistent sensitivities enable </a:t>
                </a:r>
                <a:r>
                  <a:rPr lang="en-US" sz="3600" dirty="0">
                    <a:solidFill>
                      <a:schemeClr val="tx1"/>
                    </a:solidFill>
                  </a:rPr>
                  <a:t>identifiability 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and </a:t>
                </a:r>
                <a:r>
                  <a:rPr lang="en-US" sz="3600" dirty="0">
                    <a:solidFill>
                      <a:schemeClr val="tx1"/>
                    </a:solidFill>
                  </a:rPr>
                  <a:t>model discrimination </a:t>
                </a:r>
                <a:r>
                  <a:rPr lang="en-US" sz="3600" b="0" dirty="0">
                    <a:solidFill>
                      <a:schemeClr val="tx1"/>
                    </a:solidFill>
                  </a:rPr>
                  <a:t>in membrane transport</a:t>
                </a:r>
              </a:p>
              <a:p>
                <a:pPr indent="-571500" algn="just">
                  <a:buFont typeface="Arial" panose="020B0604020202020204" pitchFamily="34" charset="0"/>
                  <a:buChar char="•"/>
                </a:pPr>
                <a:r>
                  <a:rPr lang="en-US" sz="3600" dirty="0">
                    <a:solidFill>
                      <a:schemeClr val="tx1"/>
                    </a:solidFill>
                  </a:rPr>
                  <a:t>Closed-loop input design</a:t>
                </a:r>
                <a:endParaRPr lang="en-US" sz="3600" b="0" dirty="0">
                  <a:solidFill>
                    <a:schemeClr val="tx1"/>
                  </a:solidFill>
                </a:endParaRPr>
              </a:p>
              <a:p>
                <a:pPr lvl="2" indent="-571500" algn="just">
                  <a:buFont typeface="Arial" panose="020B0604020202020204" pitchFamily="34" charset="0"/>
                  <a:buChar char="•"/>
                </a:pPr>
                <a:r>
                  <a:rPr lang="en-US" sz="3600" b="0" dirty="0">
                    <a:solidFill>
                      <a:schemeClr val="tx1"/>
                    </a:solidFill>
                  </a:rPr>
                  <a:t>Estimate → Quantify → Design → Repeat;  until target uncertainty is reached</a:t>
                </a:r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E7F5A37C-2B6C-4404-91FF-0640D04BD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526" y="7010400"/>
                <a:ext cx="10468874" cy="7252948"/>
              </a:xfrm>
              <a:prstGeom prst="rect">
                <a:avLst/>
              </a:prstGeom>
              <a:blipFill>
                <a:blip r:embed="rId2"/>
                <a:stretch>
                  <a:fillRect l="-1695" t="-1399" r="-1695" b="-2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9DC62E1F-DF50-145C-EA51-4AB56741B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55" y="31665279"/>
            <a:ext cx="3594745" cy="838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61" name="Connector 2160"/>
          <p:cNvCxnSpPr/>
          <p:nvPr/>
        </p:nvCxnSpPr>
        <p:spPr>
          <a:xfrm>
            <a:off x="0" y="14127480"/>
            <a:ext cx="0" cy="1005840"/>
          </a:xfrm>
          <a:prstGeom prst="line">
            <a:avLst/>
          </a:prstGeom>
          <a:ln w="25400">
            <a:solidFill>
              <a:srgbClr val="3C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3" name="Connector 2162"/>
          <p:cNvCxnSpPr/>
          <p:nvPr/>
        </p:nvCxnSpPr>
        <p:spPr>
          <a:xfrm flipV="1">
            <a:off x="0" y="14127480"/>
            <a:ext cx="0" cy="1005840"/>
          </a:xfrm>
          <a:prstGeom prst="line">
            <a:avLst/>
          </a:prstGeom>
          <a:ln w="25400">
            <a:solidFill>
              <a:srgbClr val="3C5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AC375D-A62B-EC98-C086-41D2C6296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8600" y="1750126"/>
            <a:ext cx="8686800" cy="2026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167">
            <a:extLst>
              <a:ext uri="{FF2B5EF4-FFF2-40B4-BE49-F238E27FC236}">
                <a16:creationId xmlns:a16="http://schemas.microsoft.com/office/drawing/2014/main" id="{763610BB-84FE-6555-DDE5-7874E381C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799" y="12926292"/>
            <a:ext cx="10135839" cy="902375"/>
          </a:xfrm>
          <a:prstGeom prst="roundRect">
            <a:avLst/>
          </a:prstGeom>
          <a:ln>
            <a:solidFill>
              <a:srgbClr val="0C233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137160" tIns="68580" rIns="137160" bIns="68580" anchor="ctr">
            <a:spAutoFit/>
          </a:bodyPr>
          <a:lstStyle>
            <a:defPPr>
              <a:defRPr kern="1200"/>
            </a:defPPr>
          </a:lstStyle>
          <a:p>
            <a:pPr defTabSz="3762375">
              <a:defRPr sz="2200" b="1"/>
            </a:pPr>
            <a:r>
              <a:rPr lang="en-US" sz="4400" dirty="0">
                <a:solidFill>
                  <a:srgbClr val="0C233F"/>
                </a:solidFill>
              </a:rPr>
              <a:t>Motivation</a:t>
            </a:r>
          </a:p>
        </p:txBody>
      </p:sp>
      <p:sp>
        <p:nvSpPr>
          <p:cNvPr id="36" name="Rectangle 167">
            <a:extLst>
              <a:ext uri="{FF2B5EF4-FFF2-40B4-BE49-F238E27FC236}">
                <a16:creationId xmlns:a16="http://schemas.microsoft.com/office/drawing/2014/main" id="{C442A08B-9C69-CCB7-3EAA-113A0BDDE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374" y="5943600"/>
            <a:ext cx="10058400" cy="914400"/>
          </a:xfrm>
          <a:prstGeom prst="roundRect">
            <a:avLst/>
          </a:prstGeom>
          <a:ln>
            <a:solidFill>
              <a:srgbClr val="0C233F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137160" tIns="68580" rIns="137160" bIns="68580" anchor="ctr"/>
          <a:lstStyle>
            <a:defPPr>
              <a:defRPr kern="1200"/>
            </a:defPPr>
          </a:lstStyle>
          <a:p>
            <a:pPr defTabSz="3762375">
              <a:defRPr sz="2200" b="1"/>
            </a:pPr>
            <a:r>
              <a:rPr lang="en-US" sz="4400" dirty="0">
                <a:solidFill>
                  <a:srgbClr val="0C233F"/>
                </a:solidFill>
              </a:rPr>
              <a:t>Objective</a:t>
            </a:r>
            <a:endParaRPr sz="4400" dirty="0">
              <a:solidFill>
                <a:srgbClr val="0C233F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AD9719-E577-F183-36CD-0D5E7FDFB6A2}"/>
              </a:ext>
            </a:extLst>
          </p:cNvPr>
          <p:cNvSpPr txBox="1"/>
          <p:nvPr/>
        </p:nvSpPr>
        <p:spPr>
          <a:xfrm>
            <a:off x="685800" y="14006691"/>
            <a:ext cx="1046887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Impactful applications</a:t>
            </a:r>
            <a:endParaRPr lang="en-US" sz="3600" b="0" dirty="0">
              <a:solidFill>
                <a:schemeClr val="tx1"/>
              </a:solidFill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Water treatment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Chemical manufacturing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Critical-material recovery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Membrane systems modeling limitations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Uncertainty</a:t>
            </a:r>
            <a:r>
              <a:rPr lang="en-US" sz="3600" b="0" dirty="0">
                <a:solidFill>
                  <a:schemeClr val="tx1"/>
                </a:solidFill>
              </a:rPr>
              <a:t> in transport models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Poor parameter </a:t>
            </a:r>
            <a:r>
              <a:rPr lang="en-US" sz="3600" dirty="0">
                <a:solidFill>
                  <a:schemeClr val="tx1"/>
                </a:solidFill>
              </a:rPr>
              <a:t>identifiability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1"/>
                </a:solidFill>
              </a:rPr>
              <a:t>Impact on process design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Degraded prediction </a:t>
            </a:r>
            <a:r>
              <a:rPr lang="en-US" sz="3600" dirty="0">
                <a:solidFill>
                  <a:schemeClr val="tx1"/>
                </a:solidFill>
              </a:rPr>
              <a:t>accuracy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Unreliable </a:t>
            </a:r>
            <a:r>
              <a:rPr lang="en-US" sz="3600" dirty="0">
                <a:solidFill>
                  <a:schemeClr val="tx1"/>
                </a:solidFill>
              </a:rPr>
              <a:t>scalability</a:t>
            </a:r>
          </a:p>
          <a:p>
            <a:pPr lvl="1" algn="just"/>
            <a:endParaRPr lang="en-US" sz="3600" b="0" dirty="0">
              <a:solidFill>
                <a:schemeClr val="tx1"/>
              </a:solidFill>
            </a:endParaRPr>
          </a:p>
        </p:txBody>
      </p:sp>
      <p:sp>
        <p:nvSpPr>
          <p:cNvPr id="1051" name="TextBox 19">
            <a:extLst>
              <a:ext uri="{FF2B5EF4-FFF2-40B4-BE49-F238E27FC236}">
                <a16:creationId xmlns:a16="http://schemas.microsoft.com/office/drawing/2014/main" id="{FD59D795-8533-24AE-FF93-581EE1755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1470600"/>
            <a:ext cx="38086292" cy="1384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18" tIns="45709" rIns="91418" bIns="45709">
            <a:spAutoFit/>
          </a:bodyPr>
          <a:lstStyle>
            <a:defPPr>
              <a:defRPr kern="1200"/>
            </a:defPPr>
            <a:lvl1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1pPr>
            <a:lvl2pPr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/>
                <a:ea typeface="ＭＳ Ｐゴシック" pitchFamily="-106" charset="-128"/>
              </a:defRPr>
            </a:lvl9pPr>
          </a:lstStyle>
          <a:p>
            <a:pPr algn="just"/>
            <a:r>
              <a:rPr lang="en-US" sz="3600" dirty="0">
                <a:ea typeface="+mn-ea"/>
              </a:rPr>
              <a:t>References</a:t>
            </a:r>
          </a:p>
          <a:p>
            <a:pPr algn="just"/>
            <a:r>
              <a:rPr lang="en-US" sz="2800" b="0" baseline="30000" dirty="0">
                <a:ea typeface="+mn-ea"/>
              </a:rPr>
              <a:t>1 </a:t>
            </a:r>
            <a:r>
              <a:rPr lang="en-US" sz="2400" b="0" dirty="0">
                <a:ea typeface="+mn-ea"/>
              </a:rPr>
              <a:t>Wang, J., &amp; Dowling, A. W. (2022). </a:t>
            </a:r>
            <a:r>
              <a:rPr lang="en-US" sz="2400" b="0" dirty="0" err="1">
                <a:ea typeface="+mn-ea"/>
              </a:rPr>
              <a:t>Pyomo</a:t>
            </a:r>
            <a:r>
              <a:rPr lang="en-US" sz="2400" b="0" dirty="0">
                <a:ea typeface="+mn-ea"/>
              </a:rPr>
              <a:t>. DOE: An open‐source package for model‐based design of experiments in Python. AIChE Journal, 68(12), e17813.</a:t>
            </a:r>
          </a:p>
          <a:p>
            <a:pPr algn="just"/>
            <a:r>
              <a:rPr lang="en-US" sz="2400" b="0" baseline="30000" dirty="0">
                <a:ea typeface="+mn-ea"/>
              </a:rPr>
              <a:t>2 </a:t>
            </a:r>
            <a:r>
              <a:rPr lang="en-US" sz="2400" b="0" dirty="0">
                <a:ea typeface="+mn-ea"/>
              </a:rPr>
              <a:t>Liu, X., Estrada, L., Ouimet, J. A., McClure, M., Latulippe, D. R., Phillip, W. A., &amp; Dowling, A. W. (2025). Characterizing Transport Properties of Surface Charged Nanofiltration Membranes via Model-Based Data Analytics. Industrial &amp; Engineering Chemistry Research.</a:t>
            </a:r>
          </a:p>
        </p:txBody>
      </p:sp>
      <p:pic>
        <p:nvPicPr>
          <p:cNvPr id="1062" name="Google Shape;176;g392c667b943_0_12" descr="Dynamic Optimization with pyomo.DAE — Pyomo 6.1.2 documentation">
            <a:extLst>
              <a:ext uri="{FF2B5EF4-FFF2-40B4-BE49-F238E27FC236}">
                <a16:creationId xmlns:a16="http://schemas.microsoft.com/office/drawing/2014/main" id="{4D943B3D-834F-3AC8-2228-29FDF99EE1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50305" y="4079904"/>
            <a:ext cx="4390145" cy="125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77;g392c667b943_0_12" descr="Pyomo">
            <a:extLst>
              <a:ext uri="{FF2B5EF4-FFF2-40B4-BE49-F238E27FC236}">
                <a16:creationId xmlns:a16="http://schemas.microsoft.com/office/drawing/2014/main" id="{73583F12-186D-4E89-ECC7-8A2EFF96C41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118800" y="3412757"/>
            <a:ext cx="4390145" cy="13849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7" name="Google Shape;182;g392c667b943_0_12">
            <a:extLst>
              <a:ext uri="{FF2B5EF4-FFF2-40B4-BE49-F238E27FC236}">
                <a16:creationId xmlns:a16="http://schemas.microsoft.com/office/drawing/2014/main" id="{8A143F13-F9CD-BB23-1515-A37FF658CB1B}"/>
              </a:ext>
            </a:extLst>
          </p:cNvPr>
          <p:cNvCxnSpPr>
            <a:cxnSpLocks/>
            <a:stCxn id="1075" idx="2"/>
            <a:endCxn id="216" idx="0"/>
          </p:cNvCxnSpPr>
          <p:nvPr/>
        </p:nvCxnSpPr>
        <p:spPr>
          <a:xfrm flipH="1">
            <a:off x="38902311" y="27269628"/>
            <a:ext cx="19194" cy="1496564"/>
          </a:xfrm>
          <a:prstGeom prst="straightConnector1">
            <a:avLst/>
          </a:prstGeom>
          <a:noFill/>
          <a:ln w="82550" cap="flat" cmpd="sng">
            <a:solidFill>
              <a:srgbClr val="0C233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15228D69-E161-BD04-8872-D811B509F44C}"/>
              </a:ext>
            </a:extLst>
          </p:cNvPr>
          <p:cNvSpPr txBox="1"/>
          <p:nvPr/>
        </p:nvSpPr>
        <p:spPr>
          <a:xfrm>
            <a:off x="745719" y="7023307"/>
            <a:ext cx="103806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Optimize the identification of the most-informative operating conditions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Develop a dynamic, equation-oriented </a:t>
            </a:r>
            <a:r>
              <a:rPr lang="en-US" sz="3600" dirty="0">
                <a:solidFill>
                  <a:schemeClr val="tx1"/>
                </a:solidFill>
              </a:rPr>
              <a:t>model using experimental data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Compute model-consistent uncertainty using </a:t>
            </a:r>
            <a:r>
              <a:rPr lang="en-US" sz="3600" dirty="0">
                <a:solidFill>
                  <a:schemeClr val="tx1"/>
                </a:solidFill>
              </a:rPr>
              <a:t>intrusive derivatives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Design the next experiment to </a:t>
            </a:r>
            <a:r>
              <a:rPr lang="en-US" sz="3600" dirty="0">
                <a:solidFill>
                  <a:schemeClr val="tx1"/>
                </a:solidFill>
              </a:rPr>
              <a:t>maximally reduce uncertainty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b="0" dirty="0">
                <a:solidFill>
                  <a:schemeClr val="tx1"/>
                </a:solidFill>
              </a:rPr>
              <a:t>Validate using a membrane separation experiment and generalize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Pentagon 206">
                <a:extLst>
                  <a:ext uri="{FF2B5EF4-FFF2-40B4-BE49-F238E27FC236}">
                    <a16:creationId xmlns:a16="http://schemas.microsoft.com/office/drawing/2014/main" id="{8D1D3659-6C83-A85A-BEB5-A29E7B7A3919}"/>
                  </a:ext>
                </a:extLst>
              </p:cNvPr>
              <p:cNvSpPr/>
              <p:nvPr/>
            </p:nvSpPr>
            <p:spPr bwMode="auto">
              <a:xfrm flipH="1">
                <a:off x="20893698" y="15141669"/>
                <a:ext cx="10041410" cy="1685561"/>
              </a:xfrm>
              <a:prstGeom prst="homePlate">
                <a:avLst>
                  <a:gd name="adj" fmla="val 71700"/>
                </a:avLst>
              </a:prstGeom>
              <a:solidFill>
                <a:schemeClr val="bg1"/>
              </a:solidFill>
              <a:ln w="76200">
                <a:solidFill>
                  <a:srgbClr val="0C233F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vert="horz" wrap="square" lIns="137160" tIns="68580" rIns="137160" bIns="6858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34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p>
                        <m:r>
                          <a:rPr lang="en-US" sz="3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3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𝐚𝐫𝐠</m:t>
                        </m:r>
                      </m:fName>
                      <m:e>
                        <m:func>
                          <m:funcPr>
                            <m:ctrlP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en-US" sz="3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𝐦𝐚𝐱</m:t>
                                </m:r>
                              </m:e>
                              <m:lim>
                                <m:r>
                                  <a:rPr lang="en-US" sz="3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  <m:r>
                                  <a:rPr lang="en-US" sz="3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3400" b="1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𝚽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3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𝝍</m:t>
                            </m:r>
                            <m:d>
                              <m:dPr>
                                <m:ctrlPr>
                                  <a:rPr lang="en-US" sz="3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d>
                                  <m:dPr>
                                    <m:ctrlPr>
                                      <a:rPr lang="en-US" sz="3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3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3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𝜽</m:t>
                                        </m:r>
                                      </m:e>
                                    </m:acc>
                                    <m:r>
                                      <a:rPr lang="en-US" sz="3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US" sz="3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07" name="Pentagon 206">
                <a:extLst>
                  <a:ext uri="{FF2B5EF4-FFF2-40B4-BE49-F238E27FC236}">
                    <a16:creationId xmlns:a16="http://schemas.microsoft.com/office/drawing/2014/main" id="{8D1D3659-6C83-A85A-BEB5-A29E7B7A39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20893698" y="15141669"/>
                <a:ext cx="10041410" cy="1685561"/>
              </a:xfrm>
              <a:prstGeom prst="homePlate">
                <a:avLst>
                  <a:gd name="adj" fmla="val 71700"/>
                </a:avLst>
              </a:prstGeom>
              <a:blipFill>
                <a:blip r:embed="rId6"/>
                <a:stretch>
                  <a:fillRect/>
                </a:stretch>
              </a:blipFill>
              <a:ln w="76200">
                <a:solidFill>
                  <a:srgbClr val="0C233F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66" name="Group 2265">
            <a:extLst>
              <a:ext uri="{FF2B5EF4-FFF2-40B4-BE49-F238E27FC236}">
                <a16:creationId xmlns:a16="http://schemas.microsoft.com/office/drawing/2014/main" id="{192C1CBF-DF9F-8B65-E107-3C3AD4120B63}"/>
              </a:ext>
            </a:extLst>
          </p:cNvPr>
          <p:cNvGrpSpPr/>
          <p:nvPr/>
        </p:nvGrpSpPr>
        <p:grpSpPr>
          <a:xfrm>
            <a:off x="12403720" y="7376497"/>
            <a:ext cx="18533480" cy="11639655"/>
            <a:chOff x="12403720" y="7376497"/>
            <a:chExt cx="18533480" cy="11639655"/>
          </a:xfrm>
        </p:grpSpPr>
        <p:sp>
          <p:nvSpPr>
            <p:cNvPr id="1061" name="Pentagon 1060">
              <a:extLst>
                <a:ext uri="{FF2B5EF4-FFF2-40B4-BE49-F238E27FC236}">
                  <a16:creationId xmlns:a16="http://schemas.microsoft.com/office/drawing/2014/main" id="{DCD91095-D698-5424-24B1-48FAC5F59D17}"/>
                </a:ext>
              </a:extLst>
            </p:cNvPr>
            <p:cNvSpPr/>
            <p:nvPr/>
          </p:nvSpPr>
          <p:spPr bwMode="auto">
            <a:xfrm flipH="1">
              <a:off x="20895788" y="7395625"/>
              <a:ext cx="10041410" cy="2405311"/>
            </a:xfrm>
            <a:prstGeom prst="homePlate">
              <a:avLst/>
            </a:prstGeom>
            <a:solidFill>
              <a:schemeClr val="bg1"/>
            </a:solidFill>
            <a:ln w="76200">
              <a:solidFill>
                <a:srgbClr val="0C233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137160" tIns="68580" rIns="137160" bIns="68580" numCol="1" rtlCol="0" anchor="ctr" anchorCtr="0" compatLnSpc="1">
              <a:prstTxWarp prst="textNoShape">
                <a:avLst/>
              </a:prstTxWarp>
            </a:bodyPr>
            <a:lstStyle/>
            <a:p>
              <a:pPr algn="l"/>
              <a:endParaRPr lang="en-US" sz="3400" dirty="0">
                <a:solidFill>
                  <a:schemeClr val="tx1"/>
                </a:solidFill>
              </a:endParaRPr>
            </a:p>
          </p:txBody>
        </p:sp>
        <p:sp>
          <p:nvSpPr>
            <p:cNvPr id="2307" name="Google Shape;163;g392c667b943_0_12">
              <a:extLst>
                <a:ext uri="{FF2B5EF4-FFF2-40B4-BE49-F238E27FC236}">
                  <a16:creationId xmlns:a16="http://schemas.microsoft.com/office/drawing/2014/main" id="{FC0F40D0-8F4B-8E60-7308-598F0C70729F}"/>
                </a:ext>
              </a:extLst>
            </p:cNvPr>
            <p:cNvSpPr/>
            <p:nvPr/>
          </p:nvSpPr>
          <p:spPr>
            <a:xfrm>
              <a:off x="12403720" y="7376497"/>
              <a:ext cx="8445027" cy="2443567"/>
            </a:xfrm>
            <a:prstGeom prst="flowChartTerminator">
              <a:avLst/>
            </a:prstGeom>
            <a:solidFill>
              <a:srgbClr val="DDEAF6"/>
            </a:solidFill>
            <a:ln w="825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</a:pPr>
              <a:r>
                <a:rPr lang="en-US" sz="4400" b="0" dirty="0">
                  <a:solidFill>
                    <a:schemeClr val="tx1"/>
                  </a:solidFill>
                </a:rPr>
                <a:t>Mechanistic D</a:t>
              </a:r>
              <a:r>
                <a:rPr lang="en-US" sz="4400" dirty="0">
                  <a:solidFill>
                    <a:schemeClr val="tx1"/>
                  </a:solidFill>
                </a:rPr>
                <a:t>ynamic Model</a:t>
              </a:r>
              <a:endParaRPr sz="4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Pentagon 203">
                  <a:extLst>
                    <a:ext uri="{FF2B5EF4-FFF2-40B4-BE49-F238E27FC236}">
                      <a16:creationId xmlns:a16="http://schemas.microsoft.com/office/drawing/2014/main" id="{25C46FA4-D451-6840-C8B4-FFC2923BD3AB}"/>
                    </a:ext>
                  </a:extLst>
                </p:cNvPr>
                <p:cNvSpPr/>
                <p:nvPr/>
              </p:nvSpPr>
              <p:spPr bwMode="auto">
                <a:xfrm flipH="1">
                  <a:off x="20895790" y="10314665"/>
                  <a:ext cx="10041410" cy="1689777"/>
                </a:xfrm>
                <a:prstGeom prst="homePlate">
                  <a:avLst>
                    <a:gd name="adj" fmla="val 71645"/>
                  </a:avLst>
                </a:prstGeom>
                <a:solidFill>
                  <a:schemeClr val="bg1"/>
                </a:solidFill>
                <a:ln w="76200">
                  <a:solidFill>
                    <a:srgbClr val="0C233F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vert="horz" wrap="square" lIns="137160" tIns="36576" rIns="137160" bIns="6858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sz="3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  <m:r>
                          <a:rPr lang="en-US" sz="34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3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3400" b="1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𝐚𝐫𝐠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3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3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sz="3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𝐦𝐢𝐧</m:t>
                                    </m:r>
                                  </m:e>
                                  <m:lim>
                                    <m:r>
                                      <a:rPr lang="en-US" sz="3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lim>
                                </m:limLow>
                              </m:fName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3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3400" b="1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sub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sz="3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3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340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3400" b="1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𝒚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3400" b="1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34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340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US" sz="3400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US" sz="3400" b="1" i="1" dirty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𝒚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US" sz="3400" b="1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𝒓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3400" b="1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𝑻</m:t>
                                        </m:r>
                                      </m:sup>
                                    </m:sSup>
                                    <m:sSubSup>
                                      <m:sSubSupPr>
                                        <m:ctrlPr>
                                          <a:rPr lang="en-US" sz="34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34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𝑽</m:t>
                                        </m:r>
                                      </m:e>
                                      <m:sub>
                                        <m:r>
                                          <a:rPr lang="en-US" sz="34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𝒓</m:t>
                                        </m:r>
                                      </m:sub>
                                      <m:sup>
                                        <m:r>
                                          <a:rPr lang="en-US" sz="34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3400" b="1" i="1" dirty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p>
                                    </m:sSubSup>
                                    <m:d>
                                      <m:dPr>
                                        <m:ctrlPr>
                                          <a:rPr lang="en-US" sz="3400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4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𝒚</m:t>
                                            </m:r>
                                          </m:e>
                                          <m:sub>
                                            <m:r>
                                              <a:rPr lang="en-US" sz="34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sub>
                                        </m:sSub>
                                        <m:r>
                                          <a:rPr lang="en-US" sz="3400" b="1" i="1" dirty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3400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3400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3400" b="1" i="1" dirty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𝒚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3400" b="1" i="1" dirty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𝒓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e>
                            </m:func>
                          </m:e>
                        </m:func>
                      </m:oMath>
                    </m:oMathPara>
                  </a14:m>
                  <a:endParaRPr kumimoji="0" lang="en-US" sz="3400" i="0" u="none" strike="noStrike" cap="none" normalizeH="0" baseline="0" dirty="0">
                    <a:ln>
                      <a:noFill/>
                    </a:ln>
                    <a:solidFill>
                      <a:srgbClr val="FF9900"/>
                    </a:solidFill>
                    <a:effectLst/>
                    <a:latin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204" name="Pentagon 203">
                  <a:extLst>
                    <a:ext uri="{FF2B5EF4-FFF2-40B4-BE49-F238E27FC236}">
                      <a16:creationId xmlns:a16="http://schemas.microsoft.com/office/drawing/2014/main" id="{25C46FA4-D451-6840-C8B4-FFC2923BD3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flipH="1">
                  <a:off x="20895790" y="10314665"/>
                  <a:ext cx="10041410" cy="1689777"/>
                </a:xfrm>
                <a:prstGeom prst="homePlate">
                  <a:avLst>
                    <a:gd name="adj" fmla="val 71645"/>
                  </a:avLst>
                </a:prstGeom>
                <a:blipFill>
                  <a:blip r:embed="rId7"/>
                  <a:stretch>
                    <a:fillRect t="-93571" b="-132857"/>
                  </a:stretch>
                </a:blipFill>
                <a:ln w="76200">
                  <a:solidFill>
                    <a:srgbClr val="0C233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09" name="Google Shape;163;g392c667b943_0_12">
              <a:extLst>
                <a:ext uri="{FF2B5EF4-FFF2-40B4-BE49-F238E27FC236}">
                  <a16:creationId xmlns:a16="http://schemas.microsoft.com/office/drawing/2014/main" id="{92B55473-5D0B-0886-0FE8-AF02796DC7AE}"/>
                </a:ext>
              </a:extLst>
            </p:cNvPr>
            <p:cNvSpPr/>
            <p:nvPr/>
          </p:nvSpPr>
          <p:spPr>
            <a:xfrm>
              <a:off x="12403720" y="10314665"/>
              <a:ext cx="8495984" cy="1689777"/>
            </a:xfrm>
            <a:prstGeom prst="flowChartTerminator">
              <a:avLst/>
            </a:prstGeom>
            <a:solidFill>
              <a:srgbClr val="DDEAF6"/>
            </a:solidFill>
            <a:ln w="825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</a:pPr>
              <a:r>
                <a:rPr lang="en-US" sz="4400" dirty="0">
                  <a:solidFill>
                    <a:schemeClr val="tx1"/>
                  </a:solidFill>
                </a:rPr>
                <a:t>Parameter Estimation</a:t>
              </a:r>
              <a:endParaRPr sz="4400" dirty="0"/>
            </a:p>
          </p:txBody>
        </p:sp>
        <p:sp>
          <p:nvSpPr>
            <p:cNvPr id="2312" name="Google Shape;163;g392c667b943_0_12">
              <a:extLst>
                <a:ext uri="{FF2B5EF4-FFF2-40B4-BE49-F238E27FC236}">
                  <a16:creationId xmlns:a16="http://schemas.microsoft.com/office/drawing/2014/main" id="{1FE8ED9F-3A62-C4BB-3103-0215FCD8B211}"/>
                </a:ext>
              </a:extLst>
            </p:cNvPr>
            <p:cNvSpPr/>
            <p:nvPr/>
          </p:nvSpPr>
          <p:spPr>
            <a:xfrm>
              <a:off x="12403720" y="15139561"/>
              <a:ext cx="8412454" cy="1689777"/>
            </a:xfrm>
            <a:prstGeom prst="flowChartTerminator">
              <a:avLst/>
            </a:prstGeom>
            <a:solidFill>
              <a:srgbClr val="DDEAF6"/>
            </a:solidFill>
            <a:ln w="825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</a:pPr>
              <a:r>
                <a:rPr lang="en-US" sz="4400" b="0" dirty="0">
                  <a:solidFill>
                    <a:schemeClr val="tx1"/>
                  </a:solidFill>
                </a:rPr>
                <a:t>Operating Condition: </a:t>
              </a:r>
              <a:r>
                <a:rPr lang="en-US" sz="4400" dirty="0">
                  <a:solidFill>
                    <a:schemeClr val="tx1"/>
                  </a:solidFill>
                </a:rPr>
                <a:t>MBDoE</a:t>
              </a:r>
              <a:endParaRPr sz="44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8" name="Pentagon 207">
                  <a:extLst>
                    <a:ext uri="{FF2B5EF4-FFF2-40B4-BE49-F238E27FC236}">
                      <a16:creationId xmlns:a16="http://schemas.microsoft.com/office/drawing/2014/main" id="{5780FF93-0FB3-E11D-1BD0-6420B4034689}"/>
                    </a:ext>
                  </a:extLst>
                </p:cNvPr>
                <p:cNvSpPr/>
                <p:nvPr/>
              </p:nvSpPr>
              <p:spPr bwMode="auto">
                <a:xfrm flipH="1">
                  <a:off x="20917505" y="17326375"/>
                  <a:ext cx="10013346" cy="1689777"/>
                </a:xfrm>
                <a:prstGeom prst="homePlate">
                  <a:avLst>
                    <a:gd name="adj" fmla="val 71645"/>
                  </a:avLst>
                </a:prstGeom>
                <a:solidFill>
                  <a:schemeClr val="bg1"/>
                </a:solidFill>
                <a:ln w="76200">
                  <a:solidFill>
                    <a:srgbClr val="0C233F"/>
                  </a:solidFill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vert="horz" wrap="square" lIns="137160" tIns="68580" rIns="137160" bIns="6858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𝒕𝒓</m:t>
                        </m:r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3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3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  <m:d>
                              <m:dPr>
                                <m:ctrlP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3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  <m: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</m:e>
                            </m:d>
                          </m:e>
                          <m:sub>
                            <m:r>
                              <a:rPr lang="en-US" sz="3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  <m:sup>
                            <m:r>
                              <a:rPr lang="en-US" sz="3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en-US" sz="3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sz="3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𝝉</m:t>
                        </m:r>
                      </m:oMath>
                    </m:oMathPara>
                  </a14:m>
                  <a:endParaRPr kumimoji="0" lang="en-US" sz="3400" i="0" u="none" strike="noStrike" cap="none" normalizeH="0" baseline="0" dirty="0">
                    <a:ln>
                      <a:noFill/>
                    </a:ln>
                    <a:solidFill>
                      <a:srgbClr val="FF9900"/>
                    </a:solidFill>
                    <a:effectLst/>
                    <a:latin typeface="Arial" pitchFamily="34" charset="0"/>
                  </a:endParaRPr>
                </a:p>
              </p:txBody>
            </p:sp>
          </mc:Choice>
          <mc:Fallback>
            <p:sp>
              <p:nvSpPr>
                <p:cNvPr id="208" name="Pentagon 207">
                  <a:extLst>
                    <a:ext uri="{FF2B5EF4-FFF2-40B4-BE49-F238E27FC236}">
                      <a16:creationId xmlns:a16="http://schemas.microsoft.com/office/drawing/2014/main" id="{5780FF93-0FB3-E11D-1BD0-6420B40346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flipH="1">
                  <a:off x="20917505" y="17326375"/>
                  <a:ext cx="10013346" cy="1689777"/>
                </a:xfrm>
                <a:prstGeom prst="homePlate">
                  <a:avLst>
                    <a:gd name="adj" fmla="val 71645"/>
                  </a:avLst>
                </a:prstGeom>
                <a:blipFill>
                  <a:blip r:embed="rId8"/>
                  <a:stretch>
                    <a:fillRect/>
                  </a:stretch>
                </a:blipFill>
                <a:ln w="76200">
                  <a:solidFill>
                    <a:srgbClr val="0C233F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13" name="Google Shape;163;g392c667b943_0_12">
              <a:extLst>
                <a:ext uri="{FF2B5EF4-FFF2-40B4-BE49-F238E27FC236}">
                  <a16:creationId xmlns:a16="http://schemas.microsoft.com/office/drawing/2014/main" id="{D0218917-4140-1605-9608-036CE58B9097}"/>
                </a:ext>
              </a:extLst>
            </p:cNvPr>
            <p:cNvSpPr/>
            <p:nvPr/>
          </p:nvSpPr>
          <p:spPr>
            <a:xfrm>
              <a:off x="12403720" y="17326375"/>
              <a:ext cx="8437360" cy="1689777"/>
            </a:xfrm>
            <a:prstGeom prst="flowChartTerminator">
              <a:avLst/>
            </a:prstGeom>
            <a:solidFill>
              <a:srgbClr val="DDEAF6"/>
            </a:solidFill>
            <a:ln w="825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</a:pPr>
              <a:r>
                <a:rPr lang="en-US" sz="4400" b="0" dirty="0">
                  <a:solidFill>
                    <a:schemeClr val="tx1"/>
                  </a:solidFill>
                </a:rPr>
                <a:t>Stopping Criterion</a:t>
              </a:r>
              <a:endParaRPr sz="4400" dirty="0"/>
            </a:p>
          </p:txBody>
        </p:sp>
        <p:sp>
          <p:nvSpPr>
            <p:cNvPr id="12" name="Pentagon 11">
              <a:extLst>
                <a:ext uri="{FF2B5EF4-FFF2-40B4-BE49-F238E27FC236}">
                  <a16:creationId xmlns:a16="http://schemas.microsoft.com/office/drawing/2014/main" id="{FC11E0C9-5468-D9C8-3D00-4E3C3B5EA949}"/>
                </a:ext>
              </a:extLst>
            </p:cNvPr>
            <p:cNvSpPr/>
            <p:nvPr/>
          </p:nvSpPr>
          <p:spPr bwMode="auto">
            <a:xfrm flipH="1">
              <a:off x="20917737" y="12499042"/>
              <a:ext cx="10013346" cy="2160611"/>
            </a:xfrm>
            <a:prstGeom prst="homePlate">
              <a:avLst>
                <a:gd name="adj" fmla="val 55643"/>
              </a:avLst>
            </a:prstGeom>
            <a:solidFill>
              <a:schemeClr val="bg1"/>
            </a:solidFill>
            <a:ln w="76200">
              <a:solidFill>
                <a:srgbClr val="0C233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square" lIns="137160" tIns="68580" rIns="137160" bIns="73152" numCol="1" rtlCol="0" anchor="b" anchorCtr="0" compatLnSpc="1">
              <a:prstTxWarp prst="textNoShape">
                <a:avLst/>
              </a:prstTxWarp>
            </a:bodyPr>
            <a:lstStyle/>
            <a:p>
              <a:pPr>
                <a:lnSpc>
                  <a:spcPct val="150000"/>
                </a:lnSpc>
              </a:pPr>
              <a:endParaRPr kumimoji="0" lang="en-US" sz="3400" i="0" u="none" strike="noStrike" cap="none" normalizeH="0" baseline="0" dirty="0">
                <a:ln>
                  <a:noFill/>
                </a:ln>
                <a:solidFill>
                  <a:srgbClr val="FF9900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4" name="Google Shape;163;g392c667b943_0_12">
              <a:extLst>
                <a:ext uri="{FF2B5EF4-FFF2-40B4-BE49-F238E27FC236}">
                  <a16:creationId xmlns:a16="http://schemas.microsoft.com/office/drawing/2014/main" id="{6E4FDF0A-9C50-7FC0-4B92-EFA9A5DBF7CF}"/>
                </a:ext>
              </a:extLst>
            </p:cNvPr>
            <p:cNvSpPr/>
            <p:nvPr/>
          </p:nvSpPr>
          <p:spPr>
            <a:xfrm>
              <a:off x="12403720" y="12515762"/>
              <a:ext cx="8515827" cy="2160611"/>
            </a:xfrm>
            <a:prstGeom prst="flowChartTerminator">
              <a:avLst/>
            </a:prstGeom>
            <a:solidFill>
              <a:srgbClr val="DDEAF6"/>
            </a:solidFill>
            <a:ln w="82550" cap="flat" cmpd="sng">
              <a:solidFill>
                <a:srgbClr val="0C233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>
                <a:spcBef>
                  <a:spcPts val="0"/>
                </a:spcBef>
                <a:spcAft>
                  <a:spcPts val="0"/>
                </a:spcAft>
              </a:pPr>
              <a:r>
                <a:rPr lang="en-US" sz="4400" dirty="0">
                  <a:solidFill>
                    <a:schemeClr val="tx1"/>
                  </a:solidFill>
                </a:rPr>
                <a:t>Intrusive UQ:</a:t>
              </a:r>
              <a:r>
                <a:rPr lang="en-US" sz="4400" b="0" dirty="0">
                  <a:solidFill>
                    <a:schemeClr val="tx1"/>
                  </a:solidFill>
                </a:rPr>
                <a:t> Covariance/FIM</a:t>
              </a:r>
              <a:endParaRPr sz="44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DD5C87E-B228-5C92-547A-36FEC71A279F}"/>
              </a:ext>
            </a:extLst>
          </p:cNvPr>
          <p:cNvGrpSpPr/>
          <p:nvPr/>
        </p:nvGrpSpPr>
        <p:grpSpPr>
          <a:xfrm>
            <a:off x="22546964" y="7602448"/>
            <a:ext cx="7776232" cy="1998752"/>
            <a:chOff x="22546964" y="7602448"/>
            <a:chExt cx="7776232" cy="19987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2269655-073E-7AE0-EB96-BE762665CA74}"/>
                    </a:ext>
                  </a:extLst>
                </p:cNvPr>
                <p:cNvSpPr txBox="1"/>
                <p:nvPr/>
              </p:nvSpPr>
              <p:spPr>
                <a:xfrm>
                  <a:off x="25109810" y="8985647"/>
                  <a:ext cx="2650534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r>
                          <a:rPr lang="en-US" sz="3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3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acc>
                          </m:e>
                          <m:sub>
                            <m:r>
                              <a:rPr lang="en-US" sz="3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  <m:r>
                          <a:rPr lang="en-US" sz="3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3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  <m:sub>
                            <m:r>
                              <a:rPr lang="en-US" sz="3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𝒓</m:t>
                            </m:r>
                          </m:sub>
                        </m:sSub>
                      </m:oMath>
                    </m:oMathPara>
                  </a14:m>
                  <a:endParaRPr lang="en-US" sz="3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02269655-073E-7AE0-EB96-BE762665CA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09810" y="8985647"/>
                  <a:ext cx="2650534" cy="615553"/>
                </a:xfrm>
                <a:prstGeom prst="rect">
                  <a:avLst/>
                </a:prstGeom>
                <a:blipFill>
                  <a:blip r:embed="rId9"/>
                  <a:stretch>
                    <a:fillRect l="-4306" t="-8163" b="-244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37E9BD3-D75D-4A96-CB1B-7AB697701453}"/>
                    </a:ext>
                  </a:extLst>
                </p:cNvPr>
                <p:cNvSpPr txBox="1"/>
                <p:nvPr/>
              </p:nvSpPr>
              <p:spPr>
                <a:xfrm>
                  <a:off x="22546964" y="8288248"/>
                  <a:ext cx="7776232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  <m:sub>
                          <m:r>
                            <a:rPr lang="en-US" sz="3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sz="3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d>
                        <m:d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a14:m>
                  <a:r>
                    <a:rPr lang="en-US" sz="34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3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</m:t>
                      </m:r>
                      <m:r>
                        <a:rPr lang="en-US" sz="3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3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sz="3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m:rPr>
                          <m:nor/>
                        </m:rPr>
                        <a:rPr lang="en-US" sz="3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3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</m:e>
                      </m:d>
                    </m:oMath>
                  </a14:m>
                  <a:endParaRPr lang="en-US" sz="3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F37E9BD3-D75D-4A96-CB1B-7AB697701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46964" y="8288248"/>
                  <a:ext cx="7776232" cy="615553"/>
                </a:xfrm>
                <a:prstGeom prst="rect">
                  <a:avLst/>
                </a:prstGeom>
                <a:blipFill>
                  <a:blip r:embed="rId10"/>
                  <a:stretch>
                    <a:fillRect t="-8000"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1E6D102-2970-F747-19DF-FE7EC070C67C}"/>
                    </a:ext>
                  </a:extLst>
                </p:cNvPr>
                <p:cNvSpPr txBox="1"/>
                <p:nvPr/>
              </p:nvSpPr>
              <p:spPr>
                <a:xfrm>
                  <a:off x="22565332" y="7602448"/>
                  <a:ext cx="7739491" cy="615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3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d>
                          <m:dPr>
                            <m:ctrlP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sz="3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d>
                              <m:dPr>
                                <m:ctrlP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𝒖</m:t>
                            </m:r>
                            <m:r>
                              <a:rPr lang="en-US" sz="3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3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d>
                          <m:dPr>
                            <m:ctrlPr>
                              <a:rPr lang="en-US" sz="3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  <m:r>
                          <a:rPr lang="en-US" sz="3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3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C1E6D102-2970-F747-19DF-FE7EC070C6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65332" y="7602448"/>
                  <a:ext cx="7739491" cy="615553"/>
                </a:xfrm>
                <a:prstGeom prst="rect">
                  <a:avLst/>
                </a:prstGeom>
                <a:blipFill>
                  <a:blip r:embed="rId11"/>
                  <a:stretch>
                    <a:fillRect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46" name="TextBox 2245">
                <a:extLst>
                  <a:ext uri="{FF2B5EF4-FFF2-40B4-BE49-F238E27FC236}">
                    <a16:creationId xmlns:a16="http://schemas.microsoft.com/office/drawing/2014/main" id="{F1E56678-BAEC-CC8F-793F-B94B4B719B00}"/>
                  </a:ext>
                </a:extLst>
              </p:cNvPr>
              <p:cNvSpPr txBox="1"/>
              <p:nvPr/>
            </p:nvSpPr>
            <p:spPr>
              <a:xfrm>
                <a:off x="22168593" y="12569307"/>
                <a:ext cx="3613169" cy="1006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3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sz="3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lang="en-US" sz="3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sSub>
                                    <m:sSubPr>
                                      <m:ctrlP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34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3400" b="1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3400" b="1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sz="3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𝝏</m:t>
                                  </m:r>
                                  <m:r>
                                    <a:rPr lang="en-US" sz="3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3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sub>
                      </m:sSub>
                    </m:oMath>
                  </m:oMathPara>
                </a14:m>
                <a:endParaRPr lang="en-US" sz="3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46" name="TextBox 2245">
                <a:extLst>
                  <a:ext uri="{FF2B5EF4-FFF2-40B4-BE49-F238E27FC236}">
                    <a16:creationId xmlns:a16="http://schemas.microsoft.com/office/drawing/2014/main" id="{F1E56678-BAEC-CC8F-793F-B94B4B719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8593" y="12569307"/>
                <a:ext cx="3613169" cy="1006558"/>
              </a:xfrm>
              <a:prstGeom prst="rect">
                <a:avLst/>
              </a:prstGeom>
              <a:blipFill>
                <a:blip r:embed="rId12"/>
                <a:stretch>
                  <a:fillRect l="-2105" t="-163750" r="-15789" b="-2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7" name="TextBox 2246">
                <a:extLst>
                  <a:ext uri="{FF2B5EF4-FFF2-40B4-BE49-F238E27FC236}">
                    <a16:creationId xmlns:a16="http://schemas.microsoft.com/office/drawing/2014/main" id="{AD8ED84A-0A07-13B1-C46E-7888A78AB5E2}"/>
                  </a:ext>
                </a:extLst>
              </p:cNvPr>
              <p:cNvSpPr txBox="1"/>
              <p:nvPr/>
            </p:nvSpPr>
            <p:spPr>
              <a:xfrm>
                <a:off x="24079489" y="16072247"/>
                <a:ext cx="3566553" cy="6155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𝝍</m:t>
                      </m:r>
                      <m:r>
                        <a:rPr lang="en-US" sz="3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𝑫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𝑴𝑬</m:t>
                          </m:r>
                        </m:e>
                      </m:d>
                    </m:oMath>
                  </m:oMathPara>
                </a14:m>
                <a:endParaRPr lang="en-US" sz="3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47" name="TextBox 2246">
                <a:extLst>
                  <a:ext uri="{FF2B5EF4-FFF2-40B4-BE49-F238E27FC236}">
                    <a16:creationId xmlns:a16="http://schemas.microsoft.com/office/drawing/2014/main" id="{AD8ED84A-0A07-13B1-C46E-7888A78AB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9489" y="16072247"/>
                <a:ext cx="3566553" cy="615553"/>
              </a:xfrm>
              <a:prstGeom prst="rect">
                <a:avLst/>
              </a:prstGeom>
              <a:blipFill>
                <a:blip r:embed="rId14"/>
                <a:stretch>
                  <a:fillRect l="-249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50" name="Group 2249">
            <a:extLst>
              <a:ext uri="{FF2B5EF4-FFF2-40B4-BE49-F238E27FC236}">
                <a16:creationId xmlns:a16="http://schemas.microsoft.com/office/drawing/2014/main" id="{5E41B73B-3BF5-63C4-96BE-B9D6F596E070}"/>
              </a:ext>
            </a:extLst>
          </p:cNvPr>
          <p:cNvGrpSpPr/>
          <p:nvPr/>
        </p:nvGrpSpPr>
        <p:grpSpPr>
          <a:xfrm>
            <a:off x="32689799" y="14543994"/>
            <a:ext cx="10625320" cy="4277406"/>
            <a:chOff x="32689799" y="14761036"/>
            <a:chExt cx="10625320" cy="4336678"/>
          </a:xfrm>
        </p:grpSpPr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F750E26C-5C7C-7511-BA0D-538E649E132C}"/>
                </a:ext>
              </a:extLst>
            </p:cNvPr>
            <p:cNvSpPr/>
            <p:nvPr/>
          </p:nvSpPr>
          <p:spPr bwMode="auto">
            <a:xfrm>
              <a:off x="32689799" y="14761036"/>
              <a:ext cx="10472920" cy="4336678"/>
            </a:xfrm>
            <a:prstGeom prst="roundRect">
              <a:avLst/>
            </a:prstGeom>
            <a:solidFill>
              <a:schemeClr val="bg1"/>
            </a:solidFill>
            <a:ln w="82550">
              <a:solidFill>
                <a:srgbClr val="0C233F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vert="horz" wrap="none" lIns="137160" tIns="68580" rIns="137160" bIns="68580" numCol="1" rtlCol="0" anchor="t" anchorCtr="0" compatLnSpc="1">
              <a:prstTxWarp prst="textNoShape">
                <a:avLst/>
              </a:prstTxWarp>
            </a:bodyPr>
            <a:lstStyle/>
            <a:p>
              <a:pPr defTabSz="3762375">
                <a:defRPr sz="2200" b="1"/>
              </a:pPr>
              <a:r>
                <a:rPr lang="en-US" sz="4400" dirty="0">
                  <a:solidFill>
                    <a:srgbClr val="0C233F"/>
                  </a:solidFill>
                </a:rPr>
                <a:t>Legend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48" name="TextBox 2247">
                  <a:extLst>
                    <a:ext uri="{FF2B5EF4-FFF2-40B4-BE49-F238E27FC236}">
                      <a16:creationId xmlns:a16="http://schemas.microsoft.com/office/drawing/2014/main" id="{A292CCD6-1663-22D8-AAD3-834E89F9B1B3}"/>
                    </a:ext>
                  </a:extLst>
                </p:cNvPr>
                <p:cNvSpPr txBox="1"/>
                <p:nvPr/>
              </p:nvSpPr>
              <p:spPr>
                <a:xfrm>
                  <a:off x="32842200" y="15663009"/>
                  <a:ext cx="5392673" cy="29216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eaLnBrk="0" hangingPunct="0"/>
                  <a14:m>
                    <m:oMath xmlns:m="http://schemas.openxmlformats.org/officeDocument/2006/math">
                      <m:r>
                        <a:rPr lang="en-US" sz="3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 states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r>
                        <a:rPr lang="en-US" sz="3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inputs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r>
                        <a:rPr lang="en-US" sz="3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en-US" sz="3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 operating conditions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r>
                        <a:rPr lang="en-US" sz="3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transport parameters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parameter estimate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d>
                        <m:dPr>
                          <m:ctrlPr>
                            <a:rPr lang="en-US" sz="3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measured output, </a:t>
                  </a:r>
                  <a14:m>
                    <m:oMath xmlns:m="http://schemas.openxmlformats.org/officeDocument/2006/math">
                      <m:r>
                        <a:rPr lang="en-US" sz="3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a14:m>
                  <a:endParaRPr lang="en-US" sz="3000" b="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248" name="TextBox 2247">
                  <a:extLst>
                    <a:ext uri="{FF2B5EF4-FFF2-40B4-BE49-F238E27FC236}">
                      <a16:creationId xmlns:a16="http://schemas.microsoft.com/office/drawing/2014/main" id="{A292CCD6-1663-22D8-AAD3-834E89F9B1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2200" y="15663009"/>
                  <a:ext cx="5392673" cy="2921683"/>
                </a:xfrm>
                <a:prstGeom prst="rect">
                  <a:avLst/>
                </a:prstGeom>
                <a:blipFill>
                  <a:blip r:embed="rId15"/>
                  <a:stretch>
                    <a:fillRect l="-1882" t="-2643" b="-5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9" name="TextBox 2248">
                  <a:extLst>
                    <a:ext uri="{FF2B5EF4-FFF2-40B4-BE49-F238E27FC236}">
                      <a16:creationId xmlns:a16="http://schemas.microsoft.com/office/drawing/2014/main" id="{3D6811DE-2084-A71E-97E2-E752A211260A}"/>
                    </a:ext>
                  </a:extLst>
                </p:cNvPr>
                <p:cNvSpPr txBox="1"/>
                <p:nvPr/>
              </p:nvSpPr>
              <p:spPr>
                <a:xfrm>
                  <a:off x="37787854" y="15647870"/>
                  <a:ext cx="5527265" cy="30273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 eaLnBrk="0" hangingPunct="0"/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3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sz="30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3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noise</a:t>
                  </a:r>
                </a:p>
                <a:p>
                  <a:pPr algn="l" eaLnBrk="0" hangingPunct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</m:t>
                      </m:r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measurement covariance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sz="3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sensitivity (UQ)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r>
                        <a:rPr lang="en-US" sz="3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̂"/>
                          <m:ctrlP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sz="3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3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FIM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r>
                        <a:rPr lang="en-US" sz="30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𝒌</m:t>
                      </m:r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sequential experiment index</a:t>
                  </a:r>
                </a:p>
                <a:p>
                  <a:pPr algn="just" eaLnBrk="0" hangingPunct="0"/>
                  <a14:m>
                    <m:oMath xmlns:m="http://schemas.openxmlformats.org/officeDocument/2006/math">
                      <m:r>
                        <a:rPr lang="en-US" sz="3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𝚽</m:t>
                      </m:r>
                    </m:oMath>
                  </a14:m>
                  <a:r>
                    <a:rPr lang="en-US" sz="3000" b="0" dirty="0">
                      <a:solidFill>
                        <a:schemeClr val="tx1"/>
                      </a:solidFill>
                    </a:rPr>
                    <a:t>: feasible design space</a:t>
                  </a:r>
                </a:p>
                <a:p>
                  <a:endParaRPr lang="en-US" sz="3000" dirty="0"/>
                </a:p>
              </p:txBody>
            </p:sp>
          </mc:Choice>
          <mc:Fallback xmlns="">
            <p:sp>
              <p:nvSpPr>
                <p:cNvPr id="2249" name="TextBox 2248">
                  <a:extLst>
                    <a:ext uri="{FF2B5EF4-FFF2-40B4-BE49-F238E27FC236}">
                      <a16:creationId xmlns:a16="http://schemas.microsoft.com/office/drawing/2014/main" id="{3D6811DE-2084-A71E-97E2-E752A21126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7854" y="15647870"/>
                  <a:ext cx="5527265" cy="3027365"/>
                </a:xfrm>
                <a:prstGeom prst="rect">
                  <a:avLst/>
                </a:prstGeom>
                <a:blipFill>
                  <a:blip r:embed="rId16"/>
                  <a:stretch>
                    <a:fillRect l="-1376" t="-2110" b="-168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51B170-7F62-9039-A99C-4FB53DC4B546}"/>
                  </a:ext>
                </a:extLst>
              </p:cNvPr>
              <p:cNvSpPr txBox="1"/>
              <p:nvPr/>
            </p:nvSpPr>
            <p:spPr>
              <a:xfrm>
                <a:off x="22250400" y="13777542"/>
                <a:ext cx="3129575" cy="717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</m:t>
                      </m:r>
                      <m:d>
                        <m:d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  <m:r>
                            <a:rPr lang="en-US" sz="3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e>
                      </m:d>
                      <m:r>
                        <a:rPr lang="en-US" sz="3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  <m:sup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3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51B170-7F62-9039-A99C-4FB53DC4B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400" y="13777542"/>
                <a:ext cx="3129575" cy="717953"/>
              </a:xfrm>
              <a:prstGeom prst="rect">
                <a:avLst/>
              </a:prstGeom>
              <a:blipFill>
                <a:blip r:embed="rId17"/>
                <a:stretch>
                  <a:fillRect l="-1619" t="-1724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F70EAA-F110-E52A-F336-AFD73E4FEA28}"/>
                  </a:ext>
                </a:extLst>
              </p:cNvPr>
              <p:cNvSpPr txBox="1"/>
              <p:nvPr/>
            </p:nvSpPr>
            <p:spPr>
              <a:xfrm>
                <a:off x="26050876" y="12725400"/>
                <a:ext cx="4733924" cy="15972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400" dirty="0">
                          <a:solidFill>
                            <a:schemeClr val="tx1"/>
                          </a:solidFill>
                          <a:latin typeface="Arial" pitchFamily="34" charset="0"/>
                          <a:ea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acc>
                        </m:sub>
                      </m:sSub>
                      <m:r>
                        <a:rPr lang="en-US" sz="3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3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sz="3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3400" b="1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</m:sub>
                                <m:sup/>
                                <m:e>
                                  <m:sSubSup>
                                    <m:sSubSupPr>
                                      <m:ctrlP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  <m:sup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  <m:sup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e>
                                    <m:sub>
                                      <m:r>
                                        <a:rPr lang="en-US" sz="3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𝒓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3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3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2F70EAA-F110-E52A-F336-AFD73E4FE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76" y="12725400"/>
                <a:ext cx="4733924" cy="1597297"/>
              </a:xfrm>
              <a:prstGeom prst="rect">
                <a:avLst/>
              </a:prstGeom>
              <a:blipFill>
                <a:blip r:embed="rId18"/>
                <a:stretch>
                  <a:fillRect l="-4826" t="-100794" b="-16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2EDDEBD-B39D-491A-1B8E-C0D52E5E619E}"/>
              </a:ext>
            </a:extLst>
          </p:cNvPr>
          <p:cNvGrpSpPr/>
          <p:nvPr/>
        </p:nvGrpSpPr>
        <p:grpSpPr>
          <a:xfrm>
            <a:off x="1524000" y="18973800"/>
            <a:ext cx="40763271" cy="12616507"/>
            <a:chOff x="1524000" y="19204384"/>
            <a:chExt cx="40763271" cy="12616507"/>
          </a:xfrm>
        </p:grpSpPr>
        <p:grpSp>
          <p:nvGrpSpPr>
            <p:cNvPr id="2253" name="Group 2252">
              <a:extLst>
                <a:ext uri="{FF2B5EF4-FFF2-40B4-BE49-F238E27FC236}">
                  <a16:creationId xmlns:a16="http://schemas.microsoft.com/office/drawing/2014/main" id="{412A46C8-21F8-6623-F61A-9C4FA3E533D8}"/>
                </a:ext>
              </a:extLst>
            </p:cNvPr>
            <p:cNvGrpSpPr/>
            <p:nvPr/>
          </p:nvGrpSpPr>
          <p:grpSpPr>
            <a:xfrm>
              <a:off x="1524000" y="19204384"/>
              <a:ext cx="40763271" cy="12616507"/>
              <a:chOff x="1524000" y="19356784"/>
              <a:chExt cx="40763271" cy="1261650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701DB35-012A-1B06-D9B6-9F14631E2049}"/>
                  </a:ext>
                </a:extLst>
              </p:cNvPr>
              <p:cNvGrpSpPr/>
              <p:nvPr/>
            </p:nvGrpSpPr>
            <p:grpSpPr>
              <a:xfrm>
                <a:off x="1524000" y="19356784"/>
                <a:ext cx="40763271" cy="12616507"/>
                <a:chOff x="1358565" y="19356784"/>
                <a:chExt cx="40763271" cy="12616507"/>
              </a:xfrm>
            </p:grpSpPr>
            <p:grpSp>
              <p:nvGrpSpPr>
                <p:cNvPr id="2298" name="Group 2297">
                  <a:extLst>
                    <a:ext uri="{FF2B5EF4-FFF2-40B4-BE49-F238E27FC236}">
                      <a16:creationId xmlns:a16="http://schemas.microsoft.com/office/drawing/2014/main" id="{F363CE77-22FF-24F5-01C4-D0E5A5684C08}"/>
                    </a:ext>
                  </a:extLst>
                </p:cNvPr>
                <p:cNvGrpSpPr/>
                <p:nvPr/>
              </p:nvGrpSpPr>
              <p:grpSpPr>
                <a:xfrm>
                  <a:off x="1358565" y="19356784"/>
                  <a:ext cx="40763271" cy="12616507"/>
                  <a:chOff x="423296" y="17604437"/>
                  <a:chExt cx="43401261" cy="14240093"/>
                </a:xfrm>
              </p:grpSpPr>
              <p:pic>
                <p:nvPicPr>
                  <p:cNvPr id="8" name="Picture 7" descr="A graph of different colored lines&#10;&#10;AI-generated content may be incorrect.">
                    <a:extLst>
                      <a:ext uri="{FF2B5EF4-FFF2-40B4-BE49-F238E27FC236}">
                        <a16:creationId xmlns:a16="http://schemas.microsoft.com/office/drawing/2014/main" id="{08199F0A-EC81-8B52-C2E9-1D34D3574BC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b="27949"/>
                  <a:stretch>
                    <a:fillRect/>
                  </a:stretch>
                </p:blipFill>
                <p:spPr>
                  <a:xfrm>
                    <a:off x="16338904" y="23278595"/>
                    <a:ext cx="13666697" cy="6532839"/>
                  </a:xfrm>
                  <a:prstGeom prst="rect">
                    <a:avLst/>
                  </a:prstGeom>
                  <a:ln w="82550">
                    <a:solidFill>
                      <a:srgbClr val="0C233F"/>
                    </a:solidFill>
                  </a:ln>
                </p:spPr>
              </p:pic>
              <p:grpSp>
                <p:nvGrpSpPr>
                  <p:cNvPr id="2259" name="Group 2258">
                    <a:extLst>
                      <a:ext uri="{FF2B5EF4-FFF2-40B4-BE49-F238E27FC236}">
                        <a16:creationId xmlns:a16="http://schemas.microsoft.com/office/drawing/2014/main" id="{40DDE479-BCD1-C8F1-31D4-D4BAFE98B914}"/>
                      </a:ext>
                    </a:extLst>
                  </p:cNvPr>
                  <p:cNvGrpSpPr/>
                  <p:nvPr/>
                </p:nvGrpSpPr>
                <p:grpSpPr>
                  <a:xfrm>
                    <a:off x="423296" y="17604437"/>
                    <a:ext cx="43401261" cy="14240093"/>
                    <a:chOff x="423296" y="17604437"/>
                    <a:chExt cx="43401261" cy="14240093"/>
                  </a:xfrm>
                </p:grpSpPr>
                <p:grpSp>
                  <p:nvGrpSpPr>
                    <p:cNvPr id="2255" name="Group 2254">
                      <a:extLst>
                        <a:ext uri="{FF2B5EF4-FFF2-40B4-BE49-F238E27FC236}">
                          <a16:creationId xmlns:a16="http://schemas.microsoft.com/office/drawing/2014/main" id="{B188B336-8C1E-15D5-2F1D-A4DA57D0FF0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23296" y="17604437"/>
                      <a:ext cx="43401261" cy="14240093"/>
                      <a:chOff x="7559834" y="16279140"/>
                      <a:chExt cx="43401261" cy="14240093"/>
                    </a:xfrm>
                  </p:grpSpPr>
                  <p:sp>
                    <p:nvSpPr>
                      <p:cNvPr id="1065" name="Google Shape;163;g392c667b943_0_12">
                        <a:extLst>
                          <a:ext uri="{FF2B5EF4-FFF2-40B4-BE49-F238E27FC236}">
                            <a16:creationId xmlns:a16="http://schemas.microsoft.com/office/drawing/2014/main" id="{1D9BA37E-B762-6C0A-244E-70C4423110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22763" y="17353468"/>
                        <a:ext cx="4781198" cy="2582601"/>
                      </a:xfrm>
                      <a:prstGeom prst="flowChartTerminator">
                        <a:avLst/>
                      </a:prstGeom>
                      <a:solidFill>
                        <a:srgbClr val="DDEAF6"/>
                      </a:solidFill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4400" b="1" dirty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Prior</a:t>
                        </a:r>
                        <a:endParaRPr sz="4400" dirty="0"/>
                      </a:p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4400" b="1" dirty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Knowledge</a:t>
                        </a:r>
                        <a:endParaRPr sz="4400" dirty="0"/>
                      </a:p>
                    </p:txBody>
                  </p:sp>
                  <p:cxnSp>
                    <p:nvCxnSpPr>
                      <p:cNvPr id="1070" name="Google Shape;170;g392c667b943_0_12">
                        <a:extLst>
                          <a:ext uri="{FF2B5EF4-FFF2-40B4-BE49-F238E27FC236}">
                            <a16:creationId xmlns:a16="http://schemas.microsoft.com/office/drawing/2014/main" id="{A68D2A72-0427-C191-4447-8527DC10690F}"/>
                          </a:ext>
                        </a:extLst>
                      </p:cNvPr>
                      <p:cNvCxnSpPr>
                        <a:cxnSpLocks/>
                        <a:stCxn id="192" idx="3"/>
                        <a:endCxn id="1075" idx="0"/>
                      </p:cNvCxnSpPr>
                      <p:nvPr/>
                    </p:nvCxnSpPr>
                    <p:spPr>
                      <a:xfrm>
                        <a:off x="46100233" y="19220043"/>
                        <a:ext cx="1277281" cy="3250459"/>
                      </a:xfrm>
                      <a:prstGeom prst="bentConnector2">
                        <a:avLst/>
                      </a:prstGeom>
                      <a:noFill/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triangle" w="med" len="med"/>
                      </a:ln>
                    </p:spPr>
                  </p:cxnSp>
                  <p:cxnSp>
                    <p:nvCxnSpPr>
                      <p:cNvPr id="1071" name="Google Shape;173;g392c667b943_0_12">
                        <a:extLst>
                          <a:ext uri="{FF2B5EF4-FFF2-40B4-BE49-F238E27FC236}">
                            <a16:creationId xmlns:a16="http://schemas.microsoft.com/office/drawing/2014/main" id="{9075C0C1-B477-2760-208F-301D01F683EC}"/>
                          </a:ext>
                        </a:extLst>
                      </p:cNvPr>
                      <p:cNvCxnSpPr>
                        <a:cxnSpLocks/>
                        <a:stCxn id="216" idx="1"/>
                        <a:endCxn id="198" idx="2"/>
                      </p:cNvCxnSpPr>
                      <p:nvPr/>
                    </p:nvCxnSpPr>
                    <p:spPr>
                      <a:xfrm rot="10800000">
                        <a:off x="10613363" y="27846450"/>
                        <a:ext cx="34352209" cy="1079013"/>
                      </a:xfrm>
                      <a:prstGeom prst="bentConnector2">
                        <a:avLst/>
                      </a:prstGeom>
                      <a:noFill/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triangle" w="med" len="med"/>
                      </a:ln>
                    </p:spPr>
                  </p:cxnSp>
                  <p:grpSp>
                    <p:nvGrpSpPr>
                      <p:cNvPr id="2199" name="Group 2198">
                        <a:extLst>
                          <a:ext uri="{FF2B5EF4-FFF2-40B4-BE49-F238E27FC236}">
                            <a16:creationId xmlns:a16="http://schemas.microsoft.com/office/drawing/2014/main" id="{BE662C07-806D-21A3-A3EE-F6C24504ADE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559834" y="23465053"/>
                        <a:ext cx="5444104" cy="5543965"/>
                        <a:chOff x="15508492" y="20921548"/>
                        <a:chExt cx="5444104" cy="5543965"/>
                      </a:xfrm>
                    </p:grpSpPr>
                    <p:sp>
                      <p:nvSpPr>
                        <p:cNvPr id="198" name="Google Shape;168;g392c667b943_0_12">
                          <a:extLst>
                            <a:ext uri="{FF2B5EF4-FFF2-40B4-BE49-F238E27FC236}">
                              <a16:creationId xmlns:a16="http://schemas.microsoft.com/office/drawing/2014/main" id="{315BF84C-E402-8E33-CD12-6F634E8143E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6171444" y="22115398"/>
                          <a:ext cx="4781152" cy="3187546"/>
                        </a:xfrm>
                        <a:prstGeom prst="flowChartProcess">
                          <a:avLst/>
                        </a:prstGeom>
                        <a:solidFill>
                          <a:srgbClr val="DDEAF6"/>
                        </a:solidFill>
                        <a:ln w="82550" cap="flat" cmpd="sng">
                          <a:solidFill>
                            <a:srgbClr val="0C233F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400" b="1" dirty="0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Model(s)</a:t>
                          </a:r>
                          <a:endParaRPr sz="4400" dirty="0"/>
                        </a:p>
                      </p:txBody>
                    </p:sp>
                    <p:pic>
                      <p:nvPicPr>
                        <p:cNvPr id="199" name="Google Shape;176;g392c667b943_0_12" descr="Dynamic Optimization with pyomo.DAE — Pyomo 6.1.2 documentation">
                          <a:extLst>
                            <a:ext uri="{FF2B5EF4-FFF2-40B4-BE49-F238E27FC236}">
                              <a16:creationId xmlns:a16="http://schemas.microsoft.com/office/drawing/2014/main" id="{2D4543DE-7DAF-BE55-A802-09DA793BE8DA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 rotWithShape="1">
                        <a:blip r:embed="rId4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15508492" y="25514537"/>
                          <a:ext cx="2865939" cy="950976"/>
                        </a:xfrm>
                        <a:prstGeom prst="rect">
                          <a:avLst/>
                        </a:prstGeom>
                        <a:noFill/>
                        <a:ln w="82550">
                          <a:noFill/>
                        </a:ln>
                      </p:spPr>
                    </p:pic>
                    <p:pic>
                      <p:nvPicPr>
                        <p:cNvPr id="200" name="Google Shape;177;g392c667b943_0_12" descr="Pyomo">
                          <a:extLst>
                            <a:ext uri="{FF2B5EF4-FFF2-40B4-BE49-F238E27FC236}">
                              <a16:creationId xmlns:a16="http://schemas.microsoft.com/office/drawing/2014/main" id="{B8686A81-552D-738D-3E92-5D345A25A028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 rotWithShape="1">
                        <a:blip r:embed="rId5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15765764" y="20921548"/>
                          <a:ext cx="2627501" cy="937709"/>
                        </a:xfrm>
                        <a:prstGeom prst="rect">
                          <a:avLst/>
                        </a:prstGeom>
                        <a:noFill/>
                        <a:ln w="82550">
                          <a:noFill/>
                        </a:ln>
                      </p:spPr>
                    </p:pic>
                  </p:grpSp>
                  <p:sp>
                    <p:nvSpPr>
                      <p:cNvPr id="1075" name="Google Shape;172;g392c667b943_0_12">
                        <a:extLst>
                          <a:ext uri="{FF2B5EF4-FFF2-40B4-BE49-F238E27FC236}">
                            <a16:creationId xmlns:a16="http://schemas.microsoft.com/office/drawing/2014/main" id="{82FBBBE6-61E3-150D-9FFF-847AFA4733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93933" y="22470501"/>
                        <a:ext cx="7167162" cy="3172036"/>
                      </a:xfrm>
                      <a:prstGeom prst="diamond">
                        <a:avLst/>
                      </a:prstGeom>
                      <a:solidFill>
                        <a:srgbClr val="DDEAF6"/>
                      </a:solidFill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4400" b="1" dirty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Uncertainty Acceptable?</a:t>
                        </a:r>
                        <a:endParaRPr sz="4400" dirty="0"/>
                      </a:p>
                    </p:txBody>
                  </p:sp>
                  <p:cxnSp>
                    <p:nvCxnSpPr>
                      <p:cNvPr id="1076" name="Google Shape;181;g392c667b943_0_12">
                        <a:extLst>
                          <a:ext uri="{FF2B5EF4-FFF2-40B4-BE49-F238E27FC236}">
                            <a16:creationId xmlns:a16="http://schemas.microsoft.com/office/drawing/2014/main" id="{5AFD8D3F-E454-6586-4AB2-0F3A7F1C46E8}"/>
                          </a:ext>
                        </a:extLst>
                      </p:cNvPr>
                      <p:cNvCxnSpPr>
                        <a:cxnSpLocks/>
                        <a:stCxn id="212" idx="3"/>
                        <a:endCxn id="192" idx="1"/>
                      </p:cNvCxnSpPr>
                      <p:nvPr/>
                    </p:nvCxnSpPr>
                    <p:spPr>
                      <a:xfrm flipV="1">
                        <a:off x="35870916" y="19220043"/>
                        <a:ext cx="5446305" cy="64392"/>
                      </a:xfrm>
                      <a:prstGeom prst="straightConnector1">
                        <a:avLst/>
                      </a:prstGeom>
                      <a:noFill/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triangle" w="med" len="med"/>
                      </a:ln>
                    </p:spPr>
                  </p:cxnSp>
                  <p:cxnSp>
                    <p:nvCxnSpPr>
                      <p:cNvPr id="1078" name="Google Shape;183;g392c667b943_0_12">
                        <a:extLst>
                          <a:ext uri="{FF2B5EF4-FFF2-40B4-BE49-F238E27FC236}">
                            <a16:creationId xmlns:a16="http://schemas.microsoft.com/office/drawing/2014/main" id="{4203CB73-A0E4-F248-79C6-D8080A74C59E}"/>
                          </a:ext>
                        </a:extLst>
                      </p:cNvPr>
                      <p:cNvCxnSpPr>
                        <a:cxnSpLocks/>
                        <a:stCxn id="1075" idx="1"/>
                        <a:endCxn id="1079" idx="3"/>
                      </p:cNvCxnSpPr>
                      <p:nvPr/>
                    </p:nvCxnSpPr>
                    <p:spPr>
                      <a:xfrm flipH="1">
                        <a:off x="42721938" y="24056519"/>
                        <a:ext cx="1071995" cy="10321"/>
                      </a:xfrm>
                      <a:prstGeom prst="straightConnector1">
                        <a:avLst/>
                      </a:prstGeom>
                      <a:noFill/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triangle" w="med" len="med"/>
                      </a:ln>
                    </p:spPr>
                  </p:cxnSp>
                  <p:sp>
                    <p:nvSpPr>
                      <p:cNvPr id="1079" name="Google Shape;184;g392c667b943_0_12">
                        <a:extLst>
                          <a:ext uri="{FF2B5EF4-FFF2-40B4-BE49-F238E27FC236}">
                            <a16:creationId xmlns:a16="http://schemas.microsoft.com/office/drawing/2014/main" id="{A567B78F-6F74-1EA4-68D4-183C17FCD0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940740" y="22791040"/>
                        <a:ext cx="4781198" cy="2551599"/>
                      </a:xfrm>
                      <a:prstGeom prst="flowChartTerminator">
                        <a:avLst/>
                      </a:prstGeom>
                      <a:solidFill>
                        <a:srgbClr val="DDEAF6"/>
                      </a:solidFill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4400" b="1" dirty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rPr>
                          <a:t>Model with Quantified Uncertainty</a:t>
                        </a:r>
                        <a:endParaRPr sz="4400" dirty="0"/>
                      </a:p>
                    </p:txBody>
                  </p:sp>
                  <p:sp>
                    <p:nvSpPr>
                      <p:cNvPr id="1080" name="Google Shape;185;g392c667b943_0_12">
                        <a:extLst>
                          <a:ext uri="{FF2B5EF4-FFF2-40B4-BE49-F238E27FC236}">
                            <a16:creationId xmlns:a16="http://schemas.microsoft.com/office/drawing/2014/main" id="{4E77D1EB-A3FE-1238-E2E4-BE402FE57E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7427863" y="25850080"/>
                        <a:ext cx="1423522" cy="729459"/>
                      </a:xfrm>
                      <a:prstGeom prst="rect">
                        <a:avLst/>
                      </a:prstGeom>
                      <a:noFill/>
                      <a:ln w="82550"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spAutoFit/>
                      </a:bodyPr>
                      <a:lstStyle/>
                      <a:p>
                        <a:pPr>
                          <a:spcBef>
                            <a:spcPts val="0"/>
                          </a:spcBef>
                          <a:spcAft>
                            <a:spcPts val="0"/>
                          </a:spcAft>
                        </a:pPr>
                        <a:r>
                          <a:rPr lang="en-US" sz="3600" dirty="0">
                            <a:solidFill>
                              <a:schemeClr val="tx1"/>
                            </a:solidFill>
                            <a:sym typeface="Courier New"/>
                          </a:rPr>
                          <a:t>No</a:t>
                        </a:r>
                        <a:endParaRPr sz="36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  <p:sp>
                    <p:nvSpPr>
                      <p:cNvPr id="1081" name="Google Shape;186;g392c667b943_0_12">
                        <a:extLst>
                          <a:ext uri="{FF2B5EF4-FFF2-40B4-BE49-F238E27FC236}">
                            <a16:creationId xmlns:a16="http://schemas.microsoft.com/office/drawing/2014/main" id="{5D2806D2-B9F0-6793-02FD-1ABB4A13B7E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2322933" y="23233598"/>
                        <a:ext cx="1999206" cy="729459"/>
                      </a:xfrm>
                      <a:prstGeom prst="rect">
                        <a:avLst/>
                      </a:prstGeom>
                      <a:noFill/>
                      <a:ln w="82550"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sp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3600" dirty="0">
                            <a:solidFill>
                              <a:schemeClr val="tx1"/>
                            </a:solidFill>
                            <a:sym typeface="Courier New"/>
                          </a:rPr>
                          <a:t>Yes</a:t>
                        </a:r>
                        <a:endParaRPr sz="3600" dirty="0">
                          <a:solidFill>
                            <a:schemeClr val="tx1"/>
                          </a:solidFill>
                          <a:sym typeface="Courier New"/>
                        </a:endParaRPr>
                      </a:p>
                    </p:txBody>
                  </p:sp>
                  <p:grpSp>
                    <p:nvGrpSpPr>
                      <p:cNvPr id="1084" name="Google Shape;189;g392c667b943_0_12">
                        <a:extLst>
                          <a:ext uri="{FF2B5EF4-FFF2-40B4-BE49-F238E27FC236}">
                            <a16:creationId xmlns:a16="http://schemas.microsoft.com/office/drawing/2014/main" id="{128B3E3E-2BDD-E5B7-EAF5-AC023563642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026783" y="16279140"/>
                        <a:ext cx="5073451" cy="4534674"/>
                        <a:chOff x="13258215" y="866094"/>
                        <a:chExt cx="1940605" cy="1727044"/>
                      </a:xfrm>
                    </p:grpSpPr>
                    <p:sp>
                      <p:nvSpPr>
                        <p:cNvPr id="192" name="Google Shape;171;g392c667b943_0_12">
                          <a:extLst>
                            <a:ext uri="{FF2B5EF4-FFF2-40B4-BE49-F238E27FC236}">
                              <a16:creationId xmlns:a16="http://schemas.microsoft.com/office/drawing/2014/main" id="{1F947D76-D691-381C-74E2-58705D01BE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3369308" y="1379153"/>
                          <a:ext cx="1829512" cy="1213985"/>
                        </a:xfrm>
                        <a:prstGeom prst="flowChartProcess">
                          <a:avLst/>
                        </a:prstGeom>
                        <a:solidFill>
                          <a:srgbClr val="DDEAF6"/>
                        </a:solidFill>
                        <a:ln w="82550" cap="flat" cmpd="sng">
                          <a:solidFill>
                            <a:srgbClr val="0C233F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400" b="1" dirty="0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Sensitivity &amp; Uncertainty Analysis</a:t>
                          </a:r>
                          <a:endParaRPr sz="4400" dirty="0"/>
                        </a:p>
                      </p:txBody>
                    </p:sp>
                    <p:grpSp>
                      <p:nvGrpSpPr>
                        <p:cNvPr id="193" name="Google Shape;190;g392c667b943_0_12">
                          <a:extLst>
                            <a:ext uri="{FF2B5EF4-FFF2-40B4-BE49-F238E27FC236}">
                              <a16:creationId xmlns:a16="http://schemas.microsoft.com/office/drawing/2014/main" id="{8A8E1551-6371-27FE-59F5-7100CB10A06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3258215" y="866094"/>
                          <a:ext cx="1926190" cy="493776"/>
                          <a:chOff x="13314710" y="866094"/>
                          <a:chExt cx="1926190" cy="493776"/>
                        </a:xfrm>
                      </p:grpSpPr>
                      <p:pic>
                        <p:nvPicPr>
                          <p:cNvPr id="194" name="Google Shape;191;g392c667b943_0_12">
                            <a:extLst>
                              <a:ext uri="{FF2B5EF4-FFF2-40B4-BE49-F238E27FC236}">
                                <a16:creationId xmlns:a16="http://schemas.microsoft.com/office/drawing/2014/main" id="{2F4A4B93-99B8-8C87-C381-DCE1BC22BEB0}"/>
                              </a:ext>
                            </a:extLst>
                          </p:cNvPr>
                          <p:cNvPicPr preferRelativeResize="0"/>
                          <p:nvPr/>
                        </p:nvPicPr>
                        <p:blipFill rotWithShape="1">
                          <a:blip r:embed="rId20">
                            <a:alphaModFix/>
                          </a:blip>
                          <a:srcRect/>
                          <a:stretch/>
                        </p:blipFill>
                        <p:spPr>
                          <a:xfrm>
                            <a:off x="14297043" y="866094"/>
                            <a:ext cx="943857" cy="493776"/>
                          </a:xfrm>
                          <a:prstGeom prst="rect">
                            <a:avLst/>
                          </a:prstGeom>
                          <a:noFill/>
                          <a:ln w="82550">
                            <a:noFill/>
                          </a:ln>
                        </p:spPr>
                      </p:pic>
                      <p:sp>
                        <p:nvSpPr>
                          <p:cNvPr id="195" name="Google Shape;192;g392c667b943_0_12">
                            <a:extLst>
                              <a:ext uri="{FF2B5EF4-FFF2-40B4-BE49-F238E27FC236}">
                                <a16:creationId xmlns:a16="http://schemas.microsoft.com/office/drawing/2014/main" id="{CF7929F1-852D-7D0C-6D9D-43E86D6A274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3314710" y="943705"/>
                            <a:ext cx="1214400" cy="293029"/>
                          </a:xfrm>
                          <a:prstGeom prst="rect">
                            <a:avLst/>
                          </a:prstGeom>
                          <a:noFill/>
                          <a:ln w="82550">
                            <a:noFill/>
                          </a:ln>
                        </p:spPr>
                        <p:txBody>
                          <a:bodyPr spcFirstLastPara="1" wrap="square" lIns="91425" tIns="45700" rIns="91425" bIns="45700" anchor="t" anchorCtr="0">
                            <a:spAutoFit/>
                          </a:bodyPr>
                          <a:lstStyle/>
                          <a:p>
                            <a:pPr marL="0" marR="0" lvl="0" indent="0" algn="ctr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r>
                              <a:rPr lang="en-US" sz="4400" u="sng" dirty="0">
                                <a:solidFill>
                                  <a:srgbClr val="000000"/>
                                </a:solidFill>
                                <a:latin typeface="Courier New"/>
                                <a:ea typeface="Courier New"/>
                                <a:cs typeface="Courier New"/>
                                <a:sym typeface="Courier New"/>
                                <a:hlinkClick r:id="rId21">
                                  <a:extLst>
                                    <a:ext uri="{A12FA001-AC4F-418D-AE19-62706E023703}">
                                      <ahyp:hlinkClr xmlns:ahyp="http://schemas.microsoft.com/office/drawing/2018/hyperlinkcolor" val="tx"/>
                                    </a:ext>
                                  </a:extLst>
                                </a:hlinkClick>
                              </a:rPr>
                              <a:t>P</a:t>
                            </a:r>
                            <a:r>
                              <a:rPr lang="en-US" sz="4400" i="0" u="sng" dirty="0">
                                <a:solidFill>
                                  <a:srgbClr val="000000"/>
                                </a:solidFill>
                                <a:latin typeface="Courier New"/>
                                <a:ea typeface="Courier New"/>
                                <a:cs typeface="Courier New"/>
                                <a:sym typeface="Courier New"/>
                                <a:hlinkClick r:id="rId21">
                                  <a:extLst>
                                    <a:ext uri="{A12FA001-AC4F-418D-AE19-62706E023703}">
                                      <ahyp:hlinkClr xmlns:ahyp="http://schemas.microsoft.com/office/drawing/2018/hyperlinkcolor" val="tx"/>
                                    </a:ext>
                                  </a:extLst>
                                </a:hlinkClick>
                              </a:rPr>
                              <a:t>armEst</a:t>
                            </a:r>
                            <a:endParaRPr sz="4400" i="0" dirty="0">
                              <a:solidFill>
                                <a:srgbClr val="000000"/>
                              </a:solidFill>
                              <a:latin typeface="Courier New"/>
                              <a:ea typeface="Courier New"/>
                              <a:cs typeface="Courier New"/>
                              <a:sym typeface="Courier New"/>
                            </a:endParaRPr>
                          </a:p>
                        </p:txBody>
                      </p:sp>
                    </p:grpSp>
                  </p:grpSp>
                  <p:sp>
                    <p:nvSpPr>
                      <p:cNvPr id="1087" name="Google Shape;194;g392c667b943_0_12">
                        <a:extLst>
                          <a:ext uri="{FF2B5EF4-FFF2-40B4-BE49-F238E27FC236}">
                            <a16:creationId xmlns:a16="http://schemas.microsoft.com/office/drawing/2014/main" id="{F3586E1D-0A37-C07B-5A48-F585355D2AC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1306104" y="16620927"/>
                        <a:ext cx="4365467" cy="769401"/>
                      </a:xfrm>
                      <a:prstGeom prst="rect">
                        <a:avLst/>
                      </a:prstGeom>
                      <a:noFill/>
                      <a:ln w="82550">
                        <a:noFill/>
                      </a:ln>
                    </p:spPr>
                    <p:txBody>
                      <a:bodyPr spcFirstLastPara="1" wrap="square" lIns="91425" tIns="45700" rIns="91425" bIns="45700" anchor="t" anchorCtr="0">
                        <a:sp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4400" u="sng" dirty="0">
                            <a:solidFill>
                              <a:srgbClr val="000000"/>
                            </a:solidFill>
                            <a:latin typeface="Courier New"/>
                            <a:ea typeface="Courier New"/>
                            <a:cs typeface="Courier New"/>
                            <a:sym typeface="Courier New"/>
                            <a:hlinkClick r:id="rId21">
                              <a:extLst>
                                <a:ext uri="{A12FA001-AC4F-418D-AE19-62706E023703}">
                                  <ahyp:hlinkClr xmlns:ahyp="http://schemas.microsoft.com/office/drawing/2018/hyperlinkcolor" val="tx"/>
                                </a:ext>
                              </a:extLst>
                            </a:hlinkClick>
                          </a:rPr>
                          <a:t>P</a:t>
                        </a:r>
                        <a:r>
                          <a:rPr lang="en-US" sz="4400" i="0" u="sng" dirty="0">
                            <a:solidFill>
                              <a:srgbClr val="000000"/>
                            </a:solidFill>
                            <a:latin typeface="Courier New"/>
                            <a:ea typeface="Courier New"/>
                            <a:cs typeface="Courier New"/>
                            <a:sym typeface="Courier New"/>
                            <a:hlinkClick r:id="rId21">
                              <a:extLst>
                                <a:ext uri="{A12FA001-AC4F-418D-AE19-62706E023703}">
                                  <ahyp:hlinkClr xmlns:ahyp="http://schemas.microsoft.com/office/drawing/2018/hyperlinkcolor" val="tx"/>
                                </a:ext>
                              </a:extLst>
                            </a:hlinkClick>
                          </a:rPr>
                          <a:t>armEst</a:t>
                        </a:r>
                        <a:endParaRPr sz="4400" i="0" dirty="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p:txBody>
                  </p:sp>
                  <p:sp>
                    <p:nvSpPr>
                      <p:cNvPr id="212" name="Google Shape;171;g392c667b943_0_12">
                        <a:extLst>
                          <a:ext uri="{FF2B5EF4-FFF2-40B4-BE49-F238E27FC236}">
                            <a16:creationId xmlns:a16="http://schemas.microsoft.com/office/drawing/2014/main" id="{9DD896C0-2B0B-1649-9A81-95ED4C8078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087903" y="17690662"/>
                        <a:ext cx="4783013" cy="3187543"/>
                      </a:xfrm>
                      <a:prstGeom prst="flowChartProcess">
                        <a:avLst/>
                      </a:prstGeom>
                      <a:solidFill>
                        <a:srgbClr val="DDEAF6"/>
                      </a:solidFill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4400" dirty="0">
                            <a:solidFill>
                              <a:srgbClr val="000000"/>
                            </a:solidFill>
                            <a:latin typeface="Calibri"/>
                            <a:cs typeface="Calibri"/>
                            <a:sym typeface="Calibri"/>
                          </a:rPr>
                          <a:t>Parameter Estimation</a:t>
                        </a:r>
                        <a:endParaRPr sz="44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endParaRPr>
                      </a:p>
                    </p:txBody>
                  </p:sp>
                  <p:sp>
                    <p:nvSpPr>
                      <p:cNvPr id="216" name="Google Shape;171;g392c667b943_0_12">
                        <a:extLst>
                          <a:ext uri="{FF2B5EF4-FFF2-40B4-BE49-F238E27FC236}">
                            <a16:creationId xmlns:a16="http://schemas.microsoft.com/office/drawing/2014/main" id="{F6263280-4325-9488-9917-E07A29B972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965571" y="27331690"/>
                        <a:ext cx="4783013" cy="3187543"/>
                      </a:xfrm>
                      <a:prstGeom prst="flowChartProcess">
                        <a:avLst/>
                      </a:prstGeom>
                      <a:solidFill>
                        <a:srgbClr val="DDEAF6"/>
                      </a:solidFill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-US" sz="4400" dirty="0">
                            <a:solidFill>
                              <a:srgbClr val="000000"/>
                            </a:solidFill>
                            <a:latin typeface="Calibri"/>
                            <a:cs typeface="Calibri"/>
                            <a:sym typeface="Calibri"/>
                          </a:rPr>
                          <a:t>Model-Based Design of Experiments</a:t>
                        </a:r>
                        <a:endParaRPr sz="4400" dirty="0">
                          <a:solidFill>
                            <a:srgbClr val="000000"/>
                          </a:solidFill>
                          <a:latin typeface="Calibri"/>
                          <a:cs typeface="Calibri"/>
                        </a:endParaRPr>
                      </a:p>
                    </p:txBody>
                  </p:sp>
                  <p:grpSp>
                    <p:nvGrpSpPr>
                      <p:cNvPr id="233" name="Group 232">
                        <a:extLst>
                          <a:ext uri="{FF2B5EF4-FFF2-40B4-BE49-F238E27FC236}">
                            <a16:creationId xmlns:a16="http://schemas.microsoft.com/office/drawing/2014/main" id="{D03FFEFD-8209-6964-4CB7-973768BCA70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553947" y="17311212"/>
                        <a:ext cx="4781198" cy="2551599"/>
                        <a:chOff x="4770782" y="26675994"/>
                        <a:chExt cx="4781198" cy="2551599"/>
                      </a:xfrm>
                    </p:grpSpPr>
                    <p:sp>
                      <p:nvSpPr>
                        <p:cNvPr id="1066" name="Google Shape;164;g392c667b943_0_12">
                          <a:extLst>
                            <a:ext uri="{FF2B5EF4-FFF2-40B4-BE49-F238E27FC236}">
                              <a16:creationId xmlns:a16="http://schemas.microsoft.com/office/drawing/2014/main" id="{0BDE1A23-3EDC-9F36-027D-A56F753A0F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770782" y="26675994"/>
                          <a:ext cx="4781198" cy="2551599"/>
                        </a:xfrm>
                        <a:prstGeom prst="flowChartTerminator">
                          <a:avLst/>
                        </a:prstGeom>
                        <a:solidFill>
                          <a:srgbClr val="DDEAF6"/>
                        </a:solidFill>
                        <a:ln w="82550" cap="flat" cmpd="sng">
                          <a:solidFill>
                            <a:srgbClr val="0C233F"/>
                          </a:solidFill>
                          <a:prstDash val="solid"/>
                          <a:miter lim="800000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400" b="1" dirty="0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rPr>
                            <a:t>Experimental Data</a:t>
                          </a:r>
                          <a:endParaRPr sz="4400" dirty="0"/>
                        </a:p>
                      </p:txBody>
                    </p:sp>
                    <p:pic>
                      <p:nvPicPr>
                        <p:cNvPr id="201" name="Google Shape;145;g392c667b943_0_0" descr="Beaker with solid fill">
                          <a:extLst>
                            <a:ext uri="{FF2B5EF4-FFF2-40B4-BE49-F238E27FC236}">
                              <a16:creationId xmlns:a16="http://schemas.microsoft.com/office/drawing/2014/main" id="{11530A07-F370-34F4-CD2A-AAC031CECF2E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 rotWithShape="1">
                        <a:blip r:embed="rId22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5035382" y="27873556"/>
                          <a:ext cx="1007527" cy="976691"/>
                        </a:xfrm>
                        <a:prstGeom prst="rect">
                          <a:avLst/>
                        </a:prstGeom>
                        <a:noFill/>
                        <a:ln w="82550">
                          <a:noFill/>
                        </a:ln>
                      </p:spPr>
                    </p:pic>
                    <p:pic>
                      <p:nvPicPr>
                        <p:cNvPr id="202" name="Google Shape;144;g392c667b943_0_0" descr="Microscope with solid fill">
                          <a:extLst>
                            <a:ext uri="{FF2B5EF4-FFF2-40B4-BE49-F238E27FC236}">
                              <a16:creationId xmlns:a16="http://schemas.microsoft.com/office/drawing/2014/main" id="{27C51EAE-7B95-069F-2491-7B51DD9A18D4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 rotWithShape="1">
                        <a:blip r:embed="rId23">
                          <a:alphaModFix/>
                        </a:blip>
                        <a:srcRect/>
                        <a:stretch/>
                      </p:blipFill>
                      <p:spPr>
                        <a:xfrm>
                          <a:off x="8171472" y="27873556"/>
                          <a:ext cx="1007527" cy="976691"/>
                        </a:xfrm>
                        <a:prstGeom prst="rect">
                          <a:avLst/>
                        </a:prstGeom>
                        <a:noFill/>
                        <a:ln w="82550">
                          <a:noFill/>
                        </a:ln>
                      </p:spPr>
                    </p:pic>
                  </p:grpSp>
                  <p:cxnSp>
                    <p:nvCxnSpPr>
                      <p:cNvPr id="247" name="Google Shape;173;g392c667b943_0_12">
                        <a:extLst>
                          <a:ext uri="{FF2B5EF4-FFF2-40B4-BE49-F238E27FC236}">
                            <a16:creationId xmlns:a16="http://schemas.microsoft.com/office/drawing/2014/main" id="{58F8712B-9987-F2E3-4608-B2DED6F3CBBA}"/>
                          </a:ext>
                        </a:extLst>
                      </p:cNvPr>
                      <p:cNvCxnSpPr>
                        <a:cxnSpLocks/>
                        <a:stCxn id="1066" idx="2"/>
                        <a:endCxn id="198" idx="0"/>
                      </p:cNvCxnSpPr>
                      <p:nvPr/>
                    </p:nvCxnSpPr>
                    <p:spPr>
                      <a:xfrm rot="5400000">
                        <a:off x="11380909" y="19095265"/>
                        <a:ext cx="4796092" cy="6331183"/>
                      </a:xfrm>
                      <a:prstGeom prst="bentConnector3">
                        <a:avLst>
                          <a:gd name="adj1" fmla="val 17089"/>
                        </a:avLst>
                      </a:prstGeom>
                      <a:noFill/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triangle" w="med" len="med"/>
                      </a:ln>
                    </p:spPr>
                  </p:cxnSp>
                  <p:cxnSp>
                    <p:nvCxnSpPr>
                      <p:cNvPr id="2113" name="Google Shape;173;g392c667b943_0_12">
                        <a:extLst>
                          <a:ext uri="{FF2B5EF4-FFF2-40B4-BE49-F238E27FC236}">
                            <a16:creationId xmlns:a16="http://schemas.microsoft.com/office/drawing/2014/main" id="{DC72DEB9-DD2D-F3F4-4D7D-9DD3D87509D3}"/>
                          </a:ext>
                        </a:extLst>
                      </p:cNvPr>
                      <p:cNvCxnSpPr>
                        <a:cxnSpLocks/>
                        <a:stCxn id="1065" idx="2"/>
                        <a:endCxn id="198" idx="0"/>
                      </p:cNvCxnSpPr>
                      <p:nvPr/>
                    </p:nvCxnSpPr>
                    <p:spPr>
                      <a:xfrm rot="16200000" flipH="1">
                        <a:off x="8251944" y="22297484"/>
                        <a:ext cx="4722835" cy="1"/>
                      </a:xfrm>
                      <a:prstGeom prst="bentConnector3">
                        <a:avLst>
                          <a:gd name="adj1" fmla="val 50000"/>
                        </a:avLst>
                      </a:prstGeom>
                      <a:noFill/>
                      <a:ln w="82550" cap="flat" cmpd="sng">
                        <a:solidFill>
                          <a:srgbClr val="0C233F"/>
                        </a:solidFill>
                        <a:prstDash val="solid"/>
                        <a:miter lim="800000"/>
                        <a:headEnd type="none" w="sm" len="sm"/>
                        <a:tailEnd type="triangle" w="med" len="med"/>
                      </a:ln>
                    </p:spPr>
                  </p:cxnSp>
                </p:grpSp>
                <p:pic>
                  <p:nvPicPr>
                    <p:cNvPr id="197" name="Google Shape;180;g392c667b943_0_12">
                      <a:extLst>
                        <a:ext uri="{FF2B5EF4-FFF2-40B4-BE49-F238E27FC236}">
                          <a16:creationId xmlns:a16="http://schemas.microsoft.com/office/drawing/2014/main" id="{81AAB95A-E077-6EC2-DC97-F24E5778E1B1}"/>
                        </a:ext>
                      </a:extLst>
                    </p:cNvPr>
                    <p:cNvPicPr preferRelativeResize="0"/>
                    <p:nvPr/>
                  </p:nvPicPr>
                  <p:blipFill rotWithShape="1">
                    <a:blip r:embed="rId20">
                      <a:alphaModFix/>
                    </a:blip>
                    <a:srcRect/>
                    <a:stretch/>
                  </p:blipFill>
                  <p:spPr>
                    <a:xfrm>
                      <a:off x="37669994" y="27320877"/>
                      <a:ext cx="2462293" cy="1293723"/>
                    </a:xfrm>
                    <a:prstGeom prst="rect">
                      <a:avLst/>
                    </a:prstGeom>
                    <a:noFill/>
                    <a:ln w="82550">
                      <a:noFill/>
                    </a:ln>
                  </p:spPr>
                </p:pic>
              </p:grpSp>
              <p:cxnSp>
                <p:nvCxnSpPr>
                  <p:cNvPr id="2271" name="Straight Arrow Connector 2270">
                    <a:extLst>
                      <a:ext uri="{FF2B5EF4-FFF2-40B4-BE49-F238E27FC236}">
                        <a16:creationId xmlns:a16="http://schemas.microsoft.com/office/drawing/2014/main" id="{F2AD1E4F-6CE0-5711-8851-F4FD45359D82}"/>
                      </a:ext>
                    </a:extLst>
                  </p:cNvPr>
                  <p:cNvCxnSpPr>
                    <a:endCxn id="212" idx="1"/>
                  </p:cNvCxnSpPr>
                  <p:nvPr/>
                </p:nvCxnSpPr>
                <p:spPr bwMode="auto">
                  <a:xfrm>
                    <a:off x="22369726" y="20589556"/>
                    <a:ext cx="1581639" cy="20175"/>
                  </a:xfrm>
                  <a:prstGeom prst="straightConnector1">
                    <a:avLst/>
                  </a:prstGeom>
                  <a:gradFill rotWithShape="1">
                    <a:gsLst>
                      <a:gs pos="0">
                        <a:srgbClr val="800000"/>
                      </a:gs>
                      <a:gs pos="50000">
                        <a:srgbClr val="800000">
                          <a:gamma/>
                          <a:tint val="73725"/>
                          <a:invGamma/>
                        </a:srgbClr>
                      </a:gs>
                      <a:gs pos="100000">
                        <a:srgbClr val="800000"/>
                      </a:gs>
                    </a:gsLst>
                    <a:lin ang="5400000" scaled="1"/>
                  </a:gradFill>
                  <a:ln w="82550" cap="flat" cmpd="sng" algn="ctr">
                    <a:solidFill>
                      <a:srgbClr val="0C233F"/>
                    </a:solidFill>
                    <a:prstDash val="solid"/>
                    <a:round/>
                    <a:headEnd type="none" w="med" len="med"/>
                    <a:tailEnd type="triangle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276" name="Straight Connector 2275">
                    <a:extLst>
                      <a:ext uri="{FF2B5EF4-FFF2-40B4-BE49-F238E27FC236}">
                        <a16:creationId xmlns:a16="http://schemas.microsoft.com/office/drawing/2014/main" id="{4CD60E6B-557D-9175-DB15-8FCA9E711DE3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4572000" y="22831746"/>
                    <a:ext cx="0" cy="3152454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rgbClr val="800000"/>
                      </a:gs>
                      <a:gs pos="50000">
                        <a:srgbClr val="800000">
                          <a:gamma/>
                          <a:tint val="73725"/>
                          <a:invGamma/>
                        </a:srgbClr>
                      </a:gs>
                      <a:gs pos="100000">
                        <a:srgbClr val="800000"/>
                      </a:gs>
                    </a:gsLst>
                    <a:lin ang="5400000" scaled="1"/>
                  </a:gradFill>
                  <a:ln w="82550" cap="flat" cmpd="sng" algn="ctr">
                    <a:solidFill>
                      <a:srgbClr val="0C233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278" name="Straight Connector 2277">
                    <a:extLst>
                      <a:ext uri="{FF2B5EF4-FFF2-40B4-BE49-F238E27FC236}">
                        <a16:creationId xmlns:a16="http://schemas.microsoft.com/office/drawing/2014/main" id="{8EB2BC8A-5AF5-DA07-B0A6-DEEF97BB69C1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4538926" y="22831746"/>
                    <a:ext cx="17830800" cy="0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rgbClr val="800000"/>
                      </a:gs>
                      <a:gs pos="50000">
                        <a:srgbClr val="800000">
                          <a:gamma/>
                          <a:tint val="73725"/>
                          <a:invGamma/>
                        </a:srgbClr>
                      </a:gs>
                      <a:gs pos="100000">
                        <a:srgbClr val="800000"/>
                      </a:gs>
                    </a:gsLst>
                    <a:lin ang="5400000" scaled="1"/>
                  </a:gradFill>
                  <a:ln w="82550" cap="flat" cmpd="sng" algn="ctr">
                    <a:solidFill>
                      <a:srgbClr val="0C233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cxnSp>
                <p:nvCxnSpPr>
                  <p:cNvPr id="2280" name="Straight Connector 2279">
                    <a:extLst>
                      <a:ext uri="{FF2B5EF4-FFF2-40B4-BE49-F238E27FC236}">
                        <a16:creationId xmlns:a16="http://schemas.microsoft.com/office/drawing/2014/main" id="{53680B6B-3039-5CEB-BD0C-3E71D17C0D95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22369726" y="20612959"/>
                    <a:ext cx="0" cy="2255015"/>
                  </a:xfrm>
                  <a:prstGeom prst="line">
                    <a:avLst/>
                  </a:prstGeom>
                  <a:gradFill rotWithShape="1">
                    <a:gsLst>
                      <a:gs pos="0">
                        <a:srgbClr val="800000"/>
                      </a:gs>
                      <a:gs pos="50000">
                        <a:srgbClr val="800000">
                          <a:gamma/>
                          <a:tint val="73725"/>
                          <a:invGamma/>
                        </a:srgbClr>
                      </a:gs>
                      <a:gs pos="100000">
                        <a:srgbClr val="800000"/>
                      </a:gs>
                    </a:gsLst>
                    <a:lin ang="5400000" scaled="1"/>
                  </a:gradFill>
                  <a:ln w="82550" cap="flat" cmpd="sng" algn="ctr">
                    <a:solidFill>
                      <a:srgbClr val="0C233F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</p:cxnSp>
              <p:grpSp>
                <p:nvGrpSpPr>
                  <p:cNvPr id="2289" name="Group 2288">
                    <a:extLst>
                      <a:ext uri="{FF2B5EF4-FFF2-40B4-BE49-F238E27FC236}">
                        <a16:creationId xmlns:a16="http://schemas.microsoft.com/office/drawing/2014/main" id="{DA1C485D-07EE-E619-38E6-DBCE23A09CAB}"/>
                      </a:ext>
                    </a:extLst>
                  </p:cNvPr>
                  <p:cNvGrpSpPr/>
                  <p:nvPr/>
                </p:nvGrpSpPr>
                <p:grpSpPr>
                  <a:xfrm>
                    <a:off x="6864485" y="23323143"/>
                    <a:ext cx="8888560" cy="6651682"/>
                    <a:chOff x="6907342" y="23906477"/>
                    <a:chExt cx="8888560" cy="6651682"/>
                  </a:xfrm>
                </p:grpSpPr>
                <p:pic>
                  <p:nvPicPr>
                    <p:cNvPr id="2282" name="Picture 2281">
                      <a:extLst>
                        <a:ext uri="{FF2B5EF4-FFF2-40B4-BE49-F238E27FC236}">
                          <a16:creationId xmlns:a16="http://schemas.microsoft.com/office/drawing/2014/main" id="{7C12418D-1A62-175C-86C4-48009C4C18C7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4"/>
                    <a:stretch>
                      <a:fillRect/>
                    </a:stretch>
                  </p:blipFill>
                  <p:spPr>
                    <a:xfrm>
                      <a:off x="6994112" y="24840302"/>
                      <a:ext cx="8083168" cy="3469171"/>
                    </a:xfrm>
                    <a:prstGeom prst="rect">
                      <a:avLst/>
                    </a:prstGeom>
                    <a:ln w="82550">
                      <a:solidFill>
                        <a:srgbClr val="0C233F"/>
                      </a:solidFill>
                    </a:ln>
                  </p:spPr>
                </p:pic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286" name="TextBox 2285">
                          <a:extLst>
                            <a:ext uri="{FF2B5EF4-FFF2-40B4-BE49-F238E27FC236}">
                              <a16:creationId xmlns:a16="http://schemas.microsoft.com/office/drawing/2014/main" id="{6D9F2D5D-73D9-C212-E3D8-FB34BB798DE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907342" y="23906477"/>
                          <a:ext cx="8825368" cy="72950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l"/>
                          <a:r>
                            <a:rPr lang="en-US" sz="3600" dirty="0">
                              <a:solidFill>
                                <a:schemeClr val="tx1"/>
                              </a:solidFill>
                            </a:rPr>
                            <a:t>D‑optimality </a:t>
                          </a:r>
                          <a:r>
                            <a:rPr lang="en-US" sz="3600" b="0" dirty="0">
                              <a:solidFill>
                                <a:schemeClr val="tx1"/>
                              </a:solidFill>
                            </a:rPr>
                            <a:t>(maximize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3600" b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  <m:r>
                                <a:rPr lang="en-US" sz="3600" b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600" b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sz="3600" b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3600" b="0" dirty="0">
                              <a:solidFill>
                                <a:schemeClr val="tx1"/>
                              </a:solidFill>
                            </a:rPr>
                            <a:t>) metric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2286" name="TextBox 2285">
                          <a:extLst>
                            <a:ext uri="{FF2B5EF4-FFF2-40B4-BE49-F238E27FC236}">
                              <a16:creationId xmlns:a16="http://schemas.microsoft.com/office/drawing/2014/main" id="{6D9F2D5D-73D9-C212-E3D8-FB34BB798DE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907342" y="23906477"/>
                          <a:ext cx="8825368" cy="729506"/>
                        </a:xfrm>
                        <a:prstGeom prst="rect">
                          <a:avLst/>
                        </a:prstGeom>
                        <a:blipFill>
                          <a:blip r:embed="rId25"/>
                          <a:stretch>
                            <a:fillRect l="-2297" t="-13208" b="-3207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2288" name="TextBox 2287">
                          <a:extLst>
                            <a:ext uri="{FF2B5EF4-FFF2-40B4-BE49-F238E27FC236}">
                              <a16:creationId xmlns:a16="http://schemas.microsoft.com/office/drawing/2014/main" id="{096E5D8B-3C19-9F93-9179-C238FEA577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6970533" y="28539590"/>
                          <a:ext cx="8825369" cy="201856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 algn="l"/>
                          <a:r>
                            <a:rPr lang="en-US" sz="3600" b="0" dirty="0">
                              <a:solidFill>
                                <a:schemeClr val="tx1"/>
                              </a:solidFill>
                            </a:rPr>
                            <a:t>A‑optimality: minimize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3600" b="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tr</m:t>
                              </m:r>
                              <m:r>
                                <a:rPr lang="en-US" sz="3600" b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36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600" b="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e>
                                <m:sup>
                                  <m:r>
                                    <a:rPr lang="en-US" sz="3600" b="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3600" b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3600" b="0" dirty="0">
                              <a:solidFill>
                                <a:schemeClr val="tx1"/>
                              </a:solidFill>
                            </a:rPr>
                            <a:t>    </a:t>
                          </a:r>
                        </a:p>
                        <a:p>
                          <a:pPr algn="just"/>
                          <a:r>
                            <a:rPr lang="en-US" sz="3600" b="0" dirty="0">
                              <a:solidFill>
                                <a:schemeClr val="tx1"/>
                              </a:solidFill>
                            </a:rPr>
                            <a:t>E/ME‑optimality: worst‑case directions</a:t>
                          </a:r>
                        </a:p>
                        <a:p>
                          <a:pPr algn="just"/>
                          <a:r>
                            <a:rPr lang="en-US" sz="3600" b="0" dirty="0">
                              <a:solidFill>
                                <a:schemeClr val="tx1"/>
                              </a:solidFill>
                            </a:rPr>
                            <a:t>Both trends are consistent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2288" name="TextBox 2287">
                          <a:extLst>
                            <a:ext uri="{FF2B5EF4-FFF2-40B4-BE49-F238E27FC236}">
                              <a16:creationId xmlns:a16="http://schemas.microsoft.com/office/drawing/2014/main" id="{096E5D8B-3C19-9F93-9179-C238FEA577C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6970533" y="28539590"/>
                          <a:ext cx="8825369" cy="2018569"/>
                        </a:xfrm>
                        <a:prstGeom prst="rect">
                          <a:avLst/>
                        </a:prstGeom>
                        <a:blipFill>
                          <a:blip r:embed="rId26"/>
                          <a:stretch>
                            <a:fillRect l="-2141" t="-5634" b="-9155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2349" name="TextBox 2348">
                  <a:extLst>
                    <a:ext uri="{FF2B5EF4-FFF2-40B4-BE49-F238E27FC236}">
                      <a16:creationId xmlns:a16="http://schemas.microsoft.com/office/drawing/2014/main" id="{60B891A9-510D-24E6-C2DB-4BE80BC7F86E}"/>
                    </a:ext>
                  </a:extLst>
                </p:cNvPr>
                <p:cNvSpPr txBox="1"/>
                <p:nvPr/>
              </p:nvSpPr>
              <p:spPr>
                <a:xfrm>
                  <a:off x="28868194" y="20726400"/>
                  <a:ext cx="3276599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3600" dirty="0">
                      <a:solidFill>
                        <a:schemeClr val="tx1"/>
                      </a:solidFill>
                      <a:sym typeface="Courier New"/>
                    </a:rPr>
                    <a:t>Weighted Sum of</a:t>
                  </a:r>
                  <a:endParaRPr lang="en-US" sz="3600" dirty="0"/>
                </a:p>
              </p:txBody>
            </p:sp>
          </p:grpSp>
          <p:sp>
            <p:nvSpPr>
              <p:cNvPr id="2251" name="TextBox 2250">
                <a:extLst>
                  <a:ext uri="{FF2B5EF4-FFF2-40B4-BE49-F238E27FC236}">
                    <a16:creationId xmlns:a16="http://schemas.microsoft.com/office/drawing/2014/main" id="{ABEDFF69-4512-1DBE-8C4A-3B137F6C36A1}"/>
                  </a:ext>
                </a:extLst>
              </p:cNvPr>
              <p:cNvSpPr txBox="1"/>
              <p:nvPr/>
            </p:nvSpPr>
            <p:spPr>
              <a:xfrm>
                <a:off x="29033630" y="22098258"/>
                <a:ext cx="3276599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tx1"/>
                    </a:solidFill>
                    <a:sym typeface="Courier New"/>
                  </a:rPr>
                  <a:t>Squared Errors (WSSE)</a:t>
                </a:r>
                <a:endParaRPr lang="en-US" sz="3600" dirty="0"/>
              </a:p>
            </p:txBody>
          </p:sp>
        </p:grpSp>
        <p:sp>
          <p:nvSpPr>
            <p:cNvPr id="2257" name="TextBox 2256">
              <a:extLst>
                <a:ext uri="{FF2B5EF4-FFF2-40B4-BE49-F238E27FC236}">
                  <a16:creationId xmlns:a16="http://schemas.microsoft.com/office/drawing/2014/main" id="{62485E39-6C3B-9171-55CC-A3284312815B}"/>
                </a:ext>
              </a:extLst>
            </p:cNvPr>
            <p:cNvSpPr txBox="1"/>
            <p:nvPr/>
          </p:nvSpPr>
          <p:spPr>
            <a:xfrm>
              <a:off x="38968794" y="21933230"/>
              <a:ext cx="2599225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>
                  <a:solidFill>
                    <a:schemeClr val="tx1"/>
                  </a:solidFill>
                  <a:sym typeface="Courier New"/>
                </a:rPr>
                <a:t>Central Finite Difference</a:t>
              </a:r>
              <a:endParaRPr lang="en-US" sz="3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8" name="TextBox 2257">
                  <a:extLst>
                    <a:ext uri="{FF2B5EF4-FFF2-40B4-BE49-F238E27FC236}">
                      <a16:creationId xmlns:a16="http://schemas.microsoft.com/office/drawing/2014/main" id="{AC0C01C4-6015-8D77-CBED-91293F570F31}"/>
                    </a:ext>
                  </a:extLst>
                </p:cNvPr>
                <p:cNvSpPr txBox="1"/>
                <p:nvPr/>
              </p:nvSpPr>
              <p:spPr>
                <a:xfrm>
                  <a:off x="24033651" y="30425250"/>
                  <a:ext cx="11148052" cy="123405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4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𝝓</m:t>
                            </m:r>
                          </m:e>
                          <m:sub>
                            <m:r>
                              <a:rPr lang="en-US" sz="4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4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4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𝐚𝐫𝐠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4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𝐦𝐚𝐱</m:t>
                                    </m:r>
                                  </m:e>
                                  <m:lim>
                                    <m: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  <m: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44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𝚽</m:t>
                                    </m:r>
                                  </m:lim>
                                </m:limLow>
                              </m:fName>
                              <m:e>
                                <m: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𝒍𝒐𝒈</m:t>
                                </m:r>
                                <m: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𝒅𝒆𝒕</m:t>
                                </m:r>
                                <m:d>
                                  <m:dPr>
                                    <m:ctrlP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4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4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𝑴</m:t>
                                        </m:r>
                                      </m:e>
                                      <m:sub>
                                        <m:r>
                                          <a:rPr lang="en-US" sz="4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  <m:r>
                                      <a:rPr lang="en-US" sz="44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  <m:d>
                                      <m:dPr>
                                        <m:ctrlPr>
                                          <a:rPr lang="en-US" sz="4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4400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4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4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𝜽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4400" b="1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𝒌</m:t>
                                            </m:r>
                                          </m:sub>
                                        </m:sSub>
                                        <m:r>
                                          <a:rPr lang="en-US" sz="4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4400" b="1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𝝓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58" name="TextBox 2257">
                  <a:extLst>
                    <a:ext uri="{FF2B5EF4-FFF2-40B4-BE49-F238E27FC236}">
                      <a16:creationId xmlns:a16="http://schemas.microsoft.com/office/drawing/2014/main" id="{AC0C01C4-6015-8D77-CBED-91293F570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33651" y="30425250"/>
                  <a:ext cx="11148052" cy="1234056"/>
                </a:xfrm>
                <a:prstGeom prst="rect">
                  <a:avLst/>
                </a:prstGeom>
                <a:blipFill>
                  <a:blip r:embed="rId27"/>
                  <a:stretch>
                    <a:fillRect b="-102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909E95E-534C-5978-F3F7-D83DE50F50C9}"/>
                    </a:ext>
                  </a:extLst>
                </p:cNvPr>
                <p:cNvSpPr txBox="1"/>
                <p:nvPr/>
              </p:nvSpPr>
              <p:spPr>
                <a:xfrm>
                  <a:off x="12289818" y="30537819"/>
                  <a:ext cx="6954661" cy="85658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4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𝑴</m:t>
                            </m:r>
                          </m:e>
                          <m:sub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  <m:d>
                          <m:dPr>
                            <m:ctrlP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4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4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en-US" sz="4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  <m: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44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sz="44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909E95E-534C-5978-F3F7-D83DE50F5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89818" y="30537819"/>
                  <a:ext cx="6954661" cy="856581"/>
                </a:xfrm>
                <a:prstGeom prst="rect">
                  <a:avLst/>
                </a:prstGeom>
                <a:blipFill>
                  <a:blip r:embed="rId28"/>
                  <a:stretch>
                    <a:fillRect l="-911" t="-10294" b="-161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" name="Picture 2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0B2329F-C3C0-1CEC-7D3D-0C530D217A26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00" y="31079977"/>
            <a:ext cx="1665418" cy="167498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80D0D10-160C-02C1-524C-2E089F4FCD62}"/>
              </a:ext>
            </a:extLst>
          </p:cNvPr>
          <p:cNvSpPr txBox="1"/>
          <p:nvPr/>
        </p:nvSpPr>
        <p:spPr>
          <a:xfrm>
            <a:off x="41994737" y="30562460"/>
            <a:ext cx="1820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0" dirty="0">
                <a:solidFill>
                  <a:schemeClr val="tx1"/>
                </a:solidFill>
              </a:rPr>
              <a:t>LinkedIn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perceptualpewter|08-2022"/>
</p:tagLst>
</file>

<file path=ppt/theme/theme1.xml><?xml version="1.0" encoding="utf-8"?>
<a:theme xmlns:a="http://schemas.openxmlformats.org/drawingml/2006/main" name="Default Desig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800000"/>
            </a:gs>
            <a:gs pos="50000">
              <a:srgbClr val="800000">
                <a:gamma/>
                <a:tint val="73725"/>
                <a:invGamma/>
              </a:srgbClr>
            </a:gs>
            <a:gs pos="100000">
              <a:srgbClr val="800000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37160" tIns="68580" rIns="137160" bIns="68580" numCol="1" anchor="ctr" anchorCtr="0" compatLnSpc="1">
        <a:prstTxWarp prst="textNoShape">
          <a:avLst/>
        </a:prstTxWarp>
      </a:bodyPr>
      <a:lstStyle>
        <a:defPPr marL="0" marR="0" indent="0" algn="ctr" defTabSz="37623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300" b="1" i="0" u="none" strike="noStrike" cap="none" normalizeH="0" baseline="0" smtClean="0">
            <a:ln>
              <a:noFill/>
            </a:ln>
            <a:solidFill>
              <a:srgbClr val="FF9900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14446</TotalTime>
  <Words>505</Words>
  <Application>Microsoft Macintosh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Cambria Math</vt:lpstr>
      <vt:lpstr>Calibri</vt:lpstr>
      <vt:lpstr>Courier New</vt:lpstr>
      <vt:lpstr>Arial</vt:lpstr>
      <vt:lpstr>Default Design</vt:lpstr>
      <vt:lpstr>PowerPoint Presentation</vt:lpstr>
    </vt:vector>
  </TitlesOfParts>
  <Company>Graphicsland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Keshav Kasturi Rangan</cp:lastModifiedBy>
  <cp:revision>164</cp:revision>
  <dcterms:modified xsi:type="dcterms:W3CDTF">2026-01-28T13:22:16Z</dcterms:modified>
  <cp:category>science research poster</cp:category>
</cp:coreProperties>
</file>
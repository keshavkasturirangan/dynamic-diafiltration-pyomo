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60" r:id="rId2"/>
    <p:sldMasterId id="2147483685" r:id="rId3"/>
  </p:sldMasterIdLst>
  <p:notesMasterIdLst>
    <p:notesMasterId r:id="rId21"/>
  </p:notesMasterIdLst>
  <p:sldIdLst>
    <p:sldId id="1650" r:id="rId4"/>
    <p:sldId id="2147472387" r:id="rId5"/>
    <p:sldId id="2147472419" r:id="rId6"/>
    <p:sldId id="2147472424" r:id="rId7"/>
    <p:sldId id="2147472425" r:id="rId8"/>
    <p:sldId id="2147472426" r:id="rId9"/>
    <p:sldId id="2147472423" r:id="rId10"/>
    <p:sldId id="2147472414" r:id="rId11"/>
    <p:sldId id="2147472421" r:id="rId12"/>
    <p:sldId id="388" r:id="rId13"/>
    <p:sldId id="288" r:id="rId14"/>
    <p:sldId id="1661" r:id="rId15"/>
    <p:sldId id="285" r:id="rId16"/>
    <p:sldId id="286" r:id="rId17"/>
    <p:sldId id="1653" r:id="rId18"/>
    <p:sldId id="1562" r:id="rId19"/>
    <p:sldId id="2147472403" r:id="rId20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8" roundtripDataSignature="AMtx7miHo73YM/FpLJf3RZrsEBtSyY5JP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exander Dowlin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5"/>
    <a:srgbClr val="E8ECF6"/>
    <a:srgbClr val="CDD4EB"/>
    <a:srgbClr val="0022F5"/>
    <a:srgbClr val="008500"/>
    <a:srgbClr val="3792EA"/>
    <a:srgbClr val="FF0000"/>
    <a:srgbClr val="B7B7B7"/>
    <a:srgbClr val="F3CABF"/>
    <a:srgbClr val="C4D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697DE5-9888-468C-86D8-FFF9E8A69FE0}">
  <a:tblStyle styleId="{06697DE5-9888-468C-86D8-FFF9E8A69FE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EE8E175-17EB-43BB-9359-DD97DDB5028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95" autoAdjust="0"/>
    <p:restoredTop sz="78801" autoAdjust="0"/>
  </p:normalViewPr>
  <p:slideViewPr>
    <p:cSldViewPr snapToGrid="0" snapToObjects="1">
      <p:cViewPr varScale="1">
        <p:scale>
          <a:sx n="92" d="100"/>
          <a:sy n="92" d="100"/>
        </p:scale>
        <p:origin x="184" y="1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906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79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82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78" Type="http://customschemas.google.com/relationships/presentationmetadata" Target="metadata"/><Relationship Id="rId8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“Membrane characterization can be formulated as a dynamic inverse problem, where we estimate transport parameters from time-resolved experimental data.”</a:t>
            </a:r>
          </a:p>
          <a:p>
            <a:r>
              <a:rPr lang="en-US" dirty="0"/>
              <a:t>“However, these parameters are often poorly identifiable due to strong correlations, which leads to an ill-conditioned inference problem.”</a:t>
            </a:r>
          </a:p>
          <a:p>
            <a:r>
              <a:rPr lang="en-US" dirty="0"/>
              <a:t>“To address this, we adopt a closed-loop uncertainty quantification framework.”</a:t>
            </a:r>
          </a:p>
          <a:p>
            <a:r>
              <a:rPr lang="en-US" dirty="0"/>
              <a:t>👉 (point to diagram)</a:t>
            </a:r>
          </a:p>
          <a:p>
            <a:r>
              <a:rPr lang="en-US" dirty="0"/>
              <a:t>“We estimate parameters using weighted least squares, quantify uncertainty through sensitivities and the Fisher Information Matrix, and then design new experiments to improve identifiability.”</a:t>
            </a:r>
          </a:p>
          <a:p>
            <a:r>
              <a:rPr lang="en-US" dirty="0"/>
              <a:t>“This creates a sequential learning loop.”</a:t>
            </a:r>
          </a:p>
          <a:p>
            <a:r>
              <a:rPr lang="en-US" b="1" dirty="0"/>
              <a:t>Final line (slow down):</a:t>
            </a:r>
            <a:endParaRPr lang="en-US" dirty="0"/>
          </a:p>
          <a:p>
            <a:r>
              <a:rPr lang="en-US" dirty="0"/>
              <a:t>“Our goal is to reshape the information geometry of the problem so that the parameters become identifiable.”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7022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F9CFE-FCBB-72C5-B284-C97A938F5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3BD7F-8FD7-6046-BD26-655D875DC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81297-772E-45E7-2DEE-CAB5AA5EA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/>
            <a:r>
              <a:rPr lang="en-US" dirty="0"/>
              <a:t>This is no longer a static workflow — it is a feedback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7E1B7-3235-8BFA-29D3-CE500F4F25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 defTabSz="966612"/>
            <a:fld id="{00000000-1234-1234-1234-123412341234}" type="slidenum">
              <a:rPr lang="en-US" sz="1300">
                <a:latin typeface="Calibri"/>
                <a:ea typeface="Calibri"/>
                <a:cs typeface="Calibri"/>
                <a:sym typeface="Calibri"/>
              </a:rPr>
              <a:pPr algn="r" defTabSz="966612"/>
              <a:t>3</a:t>
            </a:fld>
            <a:endParaRPr lang="en-US" sz="13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3817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>
          <a:extLst>
            <a:ext uri="{FF2B5EF4-FFF2-40B4-BE49-F238E27FC236}">
              <a16:creationId xmlns:a16="http://schemas.microsoft.com/office/drawing/2014/main" id="{55D0C7FA-10EC-CDE3-2284-305DFB99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4:notes">
            <a:extLst>
              <a:ext uri="{FF2B5EF4-FFF2-40B4-BE49-F238E27FC236}">
                <a16:creationId xmlns:a16="http://schemas.microsoft.com/office/drawing/2014/main" id="{C159B390-CE06-BFEA-7AB2-55D35D7915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“Even with the same model, different experiments can produce very different information about the parameters.”</a:t>
            </a:r>
          </a:p>
          <a:p>
            <a:r>
              <a:rPr lang="en-US" dirty="0"/>
              <a:t>(point to filtration)</a:t>
            </a:r>
          </a:p>
          <a:p>
            <a:r>
              <a:rPr lang="en-US" dirty="0"/>
              <a:t>“Filtration operates over a relatively narrow concentration range.”</a:t>
            </a:r>
          </a:p>
          <a:p>
            <a:r>
              <a:rPr lang="en-US" dirty="0"/>
              <a:t>(point to diafiltration)</a:t>
            </a:r>
          </a:p>
          <a:p>
            <a:r>
              <a:rPr lang="en-US" dirty="0"/>
              <a:t>“In contrast, diafiltration sweeps the system across a much broader range of operating conditions.”</a:t>
            </a:r>
          </a:p>
          <a:p>
            <a:r>
              <a:rPr lang="en-US" dirty="0"/>
              <a:t>(pause)</a:t>
            </a:r>
          </a:p>
          <a:p>
            <a:r>
              <a:rPr lang="en-US" b="1" dirty="0"/>
              <a:t>“The question is: which experiment actually makes the parameters identifiable?”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Information is not a property of the model — it is a property of the experiment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04" name="Google Shape;904;p34:notes">
            <a:extLst>
              <a:ext uri="{FF2B5EF4-FFF2-40B4-BE49-F238E27FC236}">
                <a16:creationId xmlns:a16="http://schemas.microsoft.com/office/drawing/2014/main" id="{367E4EF9-867B-9BA0-CE1B-26D81C88D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7051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>
          <a:extLst>
            <a:ext uri="{FF2B5EF4-FFF2-40B4-BE49-F238E27FC236}">
              <a16:creationId xmlns:a16="http://schemas.microsoft.com/office/drawing/2014/main" id="{923D9124-9059-43FE-3713-50A740416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4:notes">
            <a:extLst>
              <a:ext uri="{FF2B5EF4-FFF2-40B4-BE49-F238E27FC236}">
                <a16:creationId xmlns:a16="http://schemas.microsoft.com/office/drawing/2014/main" id="{85A059BC-E298-6E8A-91E6-FF36BE1E77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“Even with the same model, different experiments can produce very different information about the parameters.”</a:t>
            </a:r>
          </a:p>
          <a:p>
            <a:r>
              <a:rPr lang="en-US" dirty="0"/>
              <a:t>(point to filtration)</a:t>
            </a:r>
          </a:p>
          <a:p>
            <a:r>
              <a:rPr lang="en-US" dirty="0"/>
              <a:t>“Filtration operates over a relatively narrow concentration range.”</a:t>
            </a:r>
          </a:p>
          <a:p>
            <a:r>
              <a:rPr lang="en-US" dirty="0"/>
              <a:t>(point to diafiltration)</a:t>
            </a:r>
          </a:p>
          <a:p>
            <a:r>
              <a:rPr lang="en-US" dirty="0"/>
              <a:t>“In contrast, diafiltration sweeps the system across a much broader range of operating conditions.”</a:t>
            </a:r>
          </a:p>
          <a:p>
            <a:r>
              <a:rPr lang="en-US" dirty="0"/>
              <a:t>(pause)</a:t>
            </a:r>
          </a:p>
          <a:p>
            <a:r>
              <a:rPr lang="en-US" b="1" dirty="0"/>
              <a:t>“The question is: which experiment actually makes the parameters identifiable?”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Information is not a property of the model — it is a property of the experiment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04" name="Google Shape;904;p34:notes">
            <a:extLst>
              <a:ext uri="{FF2B5EF4-FFF2-40B4-BE49-F238E27FC236}">
                <a16:creationId xmlns:a16="http://schemas.microsoft.com/office/drawing/2014/main" id="{5119A002-C8A0-E8BB-1C8A-9D8186FECA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9603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96BE-E720-A454-D678-EBB7233C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24DEB-52FF-A1D4-EB34-66DB9E80F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91A30-CF43-CD42-BCEA-726C7D54C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4CBA5-D906-0D08-8030-5F5998967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17C7DD-FA44-4AAC-AD64-73983556F2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046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988DF-A4CF-C495-3E37-382D93E1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4291F-C3DB-499D-2B49-645F321B9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EF673-93EE-208F-3027-80FF1DA0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42D76-F0F7-6BCF-D32A-327874FB4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17C7DD-FA44-4AAC-AD64-73983556F2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127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92" name="Google Shape;892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381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model parameters, hydraulic permeability </a:t>
            </a:r>
            <a:r>
              <a:rPr lang="en-US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Lp</a:t>
            </a: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solute permeability coefficient B that correspond to the membrane transport properties,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and reflection coefficient sigma that depends on the thermodynamics of the membrane-solution interface. </a:t>
            </a:r>
          </a:p>
        </p:txBody>
      </p:sp>
      <p:sp>
        <p:nvSpPr>
          <p:cNvPr id="892" name="Google Shape;892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9" name="Google Shape;80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10" name="Google Shape;810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7584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5" name="Google Shape;85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56" name="Google Shape;85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4642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1" name="Google Shape;87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2" name="Google Shape;87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984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264B3-3501-4595-7552-12619FAD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E1A0A-AF1E-6F94-03AC-2D0526B78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622EC-874F-EE3D-169D-24E072F65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>
              <a:lnSpc>
                <a:spcPct val="107000"/>
              </a:lnSpc>
              <a:spcAft>
                <a:spcPts val="846"/>
              </a:spcAft>
            </a:pPr>
            <a:endParaRPr lang="en-US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402CD-AE9E-E62A-D180-7FF827145F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15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0736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5D2AD-EF1C-3132-3127-1573B17B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7E206-88FA-6E1D-187D-037D33AE9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855EA-0AA7-4AD6-A8D2-2F3A5F94C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>
              <a:lnSpc>
                <a:spcPct val="107000"/>
              </a:lnSpc>
              <a:spcAft>
                <a:spcPts val="846"/>
              </a:spcAft>
            </a:pPr>
            <a:endParaRPr lang="en-US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39BC1-6B0C-3EE4-3394-F10324828B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 defTabSz="966612"/>
            <a:fld id="{00000000-1234-1234-1234-123412341234}" type="slidenum">
              <a:rPr lang="en-US" sz="1300">
                <a:latin typeface="Calibri"/>
                <a:ea typeface="Calibri"/>
                <a:cs typeface="Calibri"/>
                <a:sym typeface="Calibri"/>
              </a:rPr>
              <a:pPr algn="r" defTabSz="966612"/>
              <a:t>16</a:t>
            </a:fld>
            <a:endParaRPr lang="en-US" sz="13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93695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17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4500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3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6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1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1"/>
          <p:cNvSpPr txBox="1">
            <a:spLocks noGrp="1"/>
          </p:cNvSpPr>
          <p:nvPr>
            <p:ph type="body" idx="1"/>
          </p:nvPr>
        </p:nvSpPr>
        <p:spPr>
          <a:xfrm rot="5400000">
            <a:off x="3493362" y="-2344223"/>
            <a:ext cx="5251035" cy="11980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725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211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497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686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668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86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477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80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35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563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649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24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8177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B1E1D2-72A9-9FD3-67EA-EE0005BB6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63D6328E-A9E1-FD12-C995-CF3D2729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2565"/>
            <a:ext cx="10972801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6B2E5501-FFAD-A888-C3A6-6DDCDBEAB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2247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224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223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944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12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5419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8031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1223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5004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2778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971646"/>
      </p:ext>
    </p:extLst>
  </p:cSld>
  <p:clrMapOvr>
    <a:masterClrMapping/>
  </p:clrMapOvr>
  <p:transition spd="med" advClick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640329"/>
      </p:ext>
    </p:extLst>
  </p:cSld>
  <p:clrMapOvr>
    <a:masterClrMapping/>
  </p:clrMapOvr>
  <p:transition spd="med" advClick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342455"/>
      </p:ext>
    </p:extLst>
  </p:cSld>
  <p:clrMapOvr>
    <a:masterClrMapping/>
  </p:clrMapOvr>
  <p:transition spd="med" advClick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35491"/>
      </p:ext>
    </p:extLst>
  </p:cSld>
  <p:clrMapOvr>
    <a:masterClrMapping/>
  </p:clrMapOvr>
  <p:transition spd="med" advClick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906766"/>
      </p:ext>
    </p:extLst>
  </p:cSld>
  <p:clrMapOvr>
    <a:masterClrMapping/>
  </p:clrMapOvr>
  <p:transition spd="med" advClick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157082"/>
      </p:ext>
    </p:extLst>
  </p:cSld>
  <p:clrMapOvr>
    <a:masterClrMapping/>
  </p:clrMapOvr>
  <p:transition spd="med" advClick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475974"/>
      </p:ext>
    </p:extLst>
  </p:cSld>
  <p:clrMapOvr>
    <a:masterClrMapping/>
  </p:clrMapOvr>
  <p:transition spd="med" advClick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34264"/>
      </p:ext>
    </p:extLst>
  </p:cSld>
  <p:clrMapOvr>
    <a:masterClrMapping/>
  </p:clrMapOvr>
  <p:transition spd="med" advClick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209242"/>
      </p:ext>
    </p:extLst>
  </p:cSld>
  <p:clrMapOvr>
    <a:masterClrMapping/>
  </p:clrMapOvr>
  <p:transition spd="med" advClick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447285"/>
      </p:ext>
    </p:extLst>
  </p:cSld>
  <p:clrMapOvr>
    <a:masterClrMapping/>
  </p:clrMapOvr>
  <p:transition spd="med" advClick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679103"/>
      </p:ext>
    </p:extLst>
  </p:cSld>
  <p:clrMapOvr>
    <a:masterClrMapping/>
  </p:clrMapOvr>
  <p:transition spd="med" advClick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687771"/>
      </p:ext>
    </p:extLst>
  </p:cSld>
  <p:clrMapOvr>
    <a:masterClrMapping/>
  </p:clrMapOvr>
  <p:transition spd="med" advClick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360296"/>
      </p:ext>
    </p:extLst>
  </p:cSld>
  <p:clrMapOvr>
    <a:masterClrMapping/>
  </p:clrMapOvr>
  <p:transition spd="med" advClick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250546"/>
      </p:ext>
    </p:extLst>
  </p:cSld>
  <p:clrMapOvr>
    <a:masterClrMapping/>
  </p:clrMapOvr>
  <p:transition spd="med" advClick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434315"/>
      </p:ext>
    </p:extLst>
  </p:cSld>
  <p:clrMapOvr>
    <a:masterClrMapping/>
  </p:clrMapOvr>
  <p:transition spd="med" advClick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143833"/>
      </p:ext>
    </p:extLst>
  </p:cSld>
  <p:clrMapOvr>
    <a:masterClrMapping/>
  </p:clrMapOvr>
  <p:transition spd="med" advClick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03342"/>
      </p:ext>
    </p:extLst>
  </p:cSld>
  <p:clrMapOvr>
    <a:masterClrMapping/>
  </p:clrMapOvr>
  <p:transition spd="med" advClick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215813"/>
      </p:ext>
    </p:extLst>
  </p:cSld>
  <p:clrMapOvr>
    <a:masterClrMapping/>
  </p:clrMapOvr>
  <p:transition spd="med"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7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29" Type="http://schemas.openxmlformats.org/officeDocument/2006/relationships/slideLayout" Target="../slideLayouts/slideLayout50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45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31" Type="http://schemas.openxmlformats.org/officeDocument/2006/relationships/image" Target="../media/image3.tiff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8.xml"/><Relationship Id="rId3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5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8584" y="6507526"/>
            <a:ext cx="1209476" cy="2822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719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9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/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1F2810-152E-88D5-CED5-86AAB06B08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/>
          <a:srcRect l="96653" r="770"/>
          <a:stretch/>
        </p:blipFill>
        <p:spPr>
          <a:xfrm>
            <a:off x="1559942" y="6169025"/>
            <a:ext cx="10632057" cy="688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0352DB-239B-316A-8F82-E495F1474D35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-3" y="6169024"/>
            <a:ext cx="1559943" cy="688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890BDC-BB55-DEB4-8AEA-3B808BD30195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41" y="6398564"/>
            <a:ext cx="1209476" cy="28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jpeg"/><Relationship Id="rId3" Type="http://schemas.openxmlformats.org/officeDocument/2006/relationships/image" Target="../media/image14.png"/><Relationship Id="rId7" Type="http://schemas.openxmlformats.org/officeDocument/2006/relationships/image" Target="NULL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tmp"/><Relationship Id="rId5" Type="http://schemas.openxmlformats.org/officeDocument/2006/relationships/image" Target="../media/image16.png"/><Relationship Id="rId15" Type="http://schemas.openxmlformats.org/officeDocument/2006/relationships/image" Target="../media/image25.jpe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png"/><Relationship Id="rId11" Type="http://schemas.openxmlformats.org/officeDocument/2006/relationships/image" Target="../media/image8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tmp"/><Relationship Id="rId3" Type="http://schemas.openxmlformats.org/officeDocument/2006/relationships/image" Target="../media/image3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image" Target="../media/image3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jpg"/><Relationship Id="rId5" Type="http://schemas.openxmlformats.org/officeDocument/2006/relationships/image" Target="../media/image23.jpeg"/><Relationship Id="rId4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gif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gif"/><Relationship Id="rId4" Type="http://schemas.openxmlformats.org/officeDocument/2006/relationships/image" Target="../media/image42.png"/><Relationship Id="rId9" Type="http://schemas.openxmlformats.org/officeDocument/2006/relationships/image" Target="../media/image4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4.png"/><Relationship Id="rId7" Type="http://schemas.openxmlformats.org/officeDocument/2006/relationships/image" Target="../media/image4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5" Type="http://schemas.openxmlformats.org/officeDocument/2006/relationships/image" Target="../media/image430.png"/><Relationship Id="rId4" Type="http://schemas.openxmlformats.org/officeDocument/2006/relationships/image" Target="../media/image420.png"/><Relationship Id="rId9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2F3F04-FC14-EA67-DF2A-2DC32BA4EA8A}"/>
              </a:ext>
            </a:extLst>
          </p:cNvPr>
          <p:cNvSpPr/>
          <p:nvPr/>
        </p:nvSpPr>
        <p:spPr>
          <a:xfrm>
            <a:off x="-4" y="2280092"/>
            <a:ext cx="12192004" cy="2342493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lumMod val="0"/>
                  <a:lumOff val="100000"/>
                  <a:alpha val="51049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-4" y="73155"/>
            <a:ext cx="12192000" cy="118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ct val="100000"/>
            </a:pPr>
            <a:r>
              <a:rPr lang="en-US" sz="4400" b="0" kern="1200" dirty="0">
                <a:solidFill>
                  <a:srgbClr val="0022F5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rPr>
              <a:t>Plan for a Digital Twin Testbed</a:t>
            </a:r>
            <a:endParaRPr lang="en-US" sz="4000" dirty="0">
              <a:solidFill>
                <a:srgbClr val="0022F5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2275AFC-6E58-4F7D-85DA-86F8E363062F}"/>
              </a:ext>
            </a:extLst>
          </p:cNvPr>
          <p:cNvSpPr txBox="1">
            <a:spLocks/>
          </p:cNvSpPr>
          <p:nvPr/>
        </p:nvSpPr>
        <p:spPr>
          <a:xfrm>
            <a:off x="1900320" y="4731704"/>
            <a:ext cx="8391356" cy="2240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Baskerville" panose="02020502070401020303" pitchFamily="18" charset="0"/>
                <a:ea typeface="Baskerville" panose="02020502070401020303" pitchFamily="18" charset="0"/>
              </a:rPr>
              <a:t>Keshav Kasturi Rangan</a:t>
            </a:r>
          </a:p>
          <a:p>
            <a:pPr marL="0" indent="0" algn="ctr">
              <a:buNone/>
            </a:pPr>
            <a:endParaRPr lang="en-US" sz="18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  <a:t>Group Meeting</a:t>
            </a:r>
            <a:br>
              <a:rPr lang="en-US" sz="24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</a:br>
            <a:endParaRPr lang="en-US" sz="2400" dirty="0">
              <a:latin typeface="Baskerville" panose="02020502070401020303" pitchFamily="18" charset="0"/>
              <a:ea typeface="Baskerville" panose="02020502070401020303" pitchFamily="18" charset="0"/>
              <a:cs typeface="CMU Sans Serif Medium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  <a:t>April 2, 2026</a:t>
            </a:r>
          </a:p>
        </p:txBody>
      </p:sp>
      <p:sp>
        <p:nvSpPr>
          <p:cNvPr id="4" name="Google Shape;87;p1">
            <a:extLst>
              <a:ext uri="{FF2B5EF4-FFF2-40B4-BE49-F238E27FC236}">
                <a16:creationId xmlns:a16="http://schemas.microsoft.com/office/drawing/2014/main" id="{4297FA7C-CA05-87F7-E27E-41FC51226ED9}"/>
              </a:ext>
            </a:extLst>
          </p:cNvPr>
          <p:cNvSpPr txBox="1">
            <a:spLocks/>
          </p:cNvSpPr>
          <p:nvPr/>
        </p:nvSpPr>
        <p:spPr>
          <a:xfrm>
            <a:off x="-4" y="1331852"/>
            <a:ext cx="12192000" cy="507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n-US" sz="2800" b="0" kern="12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rPr>
              <a:t>From Parameter Estimation to Adaptive Experiment Design in Diafiltration Systems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12" name="Graphic 11" descr="Laptop outline">
            <a:extLst>
              <a:ext uri="{FF2B5EF4-FFF2-40B4-BE49-F238E27FC236}">
                <a16:creationId xmlns:a16="http://schemas.microsoft.com/office/drawing/2014/main" id="{AC631908-BEAB-4111-8A6D-E68D8DA18D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7170" y="2084502"/>
            <a:ext cx="2688995" cy="268899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60FEE7-11A4-8BB9-493C-DED9ADD8470B}"/>
              </a:ext>
            </a:extLst>
          </p:cNvPr>
          <p:cNvCxnSpPr/>
          <p:nvPr/>
        </p:nvCxnSpPr>
        <p:spPr>
          <a:xfrm>
            <a:off x="6338457" y="2798618"/>
            <a:ext cx="2431473" cy="0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A60E30-1307-1333-A2EE-59F495F57048}"/>
              </a:ext>
            </a:extLst>
          </p:cNvPr>
          <p:cNvCxnSpPr>
            <a:cxnSpLocks/>
          </p:cNvCxnSpPr>
          <p:nvPr/>
        </p:nvCxnSpPr>
        <p:spPr>
          <a:xfrm flipH="1">
            <a:off x="6368811" y="4087091"/>
            <a:ext cx="2370764" cy="0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87;p1">
            <a:extLst>
              <a:ext uri="{FF2B5EF4-FFF2-40B4-BE49-F238E27FC236}">
                <a16:creationId xmlns:a16="http://schemas.microsoft.com/office/drawing/2014/main" id="{22397273-8049-FF5A-D6D2-2C34A9E2A28B}"/>
              </a:ext>
            </a:extLst>
          </p:cNvPr>
          <p:cNvSpPr txBox="1">
            <a:spLocks/>
          </p:cNvSpPr>
          <p:nvPr/>
        </p:nvSpPr>
        <p:spPr>
          <a:xfrm>
            <a:off x="5987715" y="3049824"/>
            <a:ext cx="3132955" cy="80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n-US" sz="2800" b="0" kern="12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rPr>
              <a:t>Digital Model (Current Setup)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EE2D3EF-44CA-6A8C-8F8C-0F3F56207E2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875" y="2281379"/>
            <a:ext cx="6082918" cy="2342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66">
            <a:extLst>
              <a:ext uri="{FF2B5EF4-FFF2-40B4-BE49-F238E27FC236}">
                <a16:creationId xmlns:a16="http://schemas.microsoft.com/office/drawing/2014/main" id="{83C67A1C-2317-4FCB-2BFC-C0E979A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6586"/>
            <a:ext cx="12192000" cy="78781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Membrane Characterization using a Digital Model</a:t>
            </a:r>
            <a:endParaRPr lang="en-US" sz="2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DE6AB9-B45F-A744-3771-AECCC17ED1F1}"/>
              </a:ext>
            </a:extLst>
          </p:cNvPr>
          <p:cNvGrpSpPr/>
          <p:nvPr/>
        </p:nvGrpSpPr>
        <p:grpSpPr>
          <a:xfrm>
            <a:off x="618224" y="1224950"/>
            <a:ext cx="11130910" cy="4198364"/>
            <a:chOff x="618224" y="1224950"/>
            <a:chExt cx="11130910" cy="4198364"/>
          </a:xfrm>
        </p:grpSpPr>
        <p:cxnSp>
          <p:nvCxnSpPr>
            <p:cNvPr id="71" name="Google Shape;173;g392c667b943_0_12">
              <a:extLst>
                <a:ext uri="{FF2B5EF4-FFF2-40B4-BE49-F238E27FC236}">
                  <a16:creationId xmlns:a16="http://schemas.microsoft.com/office/drawing/2014/main" id="{0875509E-1601-9D7A-83AF-1AA8D36759FD}"/>
                </a:ext>
              </a:extLst>
            </p:cNvPr>
            <p:cNvCxnSpPr>
              <a:cxnSpLocks/>
              <a:stCxn id="63" idx="3"/>
              <a:endCxn id="51" idx="1"/>
            </p:cNvCxnSpPr>
            <p:nvPr/>
          </p:nvCxnSpPr>
          <p:spPr>
            <a:xfrm flipV="1">
              <a:off x="1882937" y="1831700"/>
              <a:ext cx="3618363" cy="1710995"/>
            </a:xfrm>
            <a:prstGeom prst="bentConnector3">
              <a:avLst>
                <a:gd name="adj1" fmla="val 69145"/>
              </a:avLst>
            </a:prstGeom>
            <a:noFill/>
            <a:ln w="57150" cap="flat" cmpd="sng">
              <a:solidFill>
                <a:srgbClr val="0C233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2C5A21B-35BA-34A4-3A30-D4E28F0B4374}"/>
                </a:ext>
              </a:extLst>
            </p:cNvPr>
            <p:cNvGrpSpPr/>
            <p:nvPr/>
          </p:nvGrpSpPr>
          <p:grpSpPr>
            <a:xfrm>
              <a:off x="618224" y="1224950"/>
              <a:ext cx="11130910" cy="4198364"/>
              <a:chOff x="618224" y="1224950"/>
              <a:chExt cx="11130910" cy="4198364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D3295AEE-B2F0-9F9A-1C37-71D3F4A8443A}"/>
                  </a:ext>
                </a:extLst>
              </p:cNvPr>
              <p:cNvGrpSpPr/>
              <p:nvPr/>
            </p:nvGrpSpPr>
            <p:grpSpPr>
              <a:xfrm>
                <a:off x="618224" y="1224950"/>
                <a:ext cx="11130910" cy="4198364"/>
                <a:chOff x="369885" y="1928259"/>
                <a:chExt cx="11130910" cy="4198364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F1169FD2-6F7D-3E6B-C6EC-3B5AC4D78132}"/>
                    </a:ext>
                  </a:extLst>
                </p:cNvPr>
                <p:cNvGrpSpPr/>
                <p:nvPr/>
              </p:nvGrpSpPr>
              <p:grpSpPr>
                <a:xfrm>
                  <a:off x="369885" y="1928259"/>
                  <a:ext cx="11130910" cy="4198364"/>
                  <a:chOff x="8222763" y="17311212"/>
                  <a:chExt cx="42079744" cy="13208021"/>
                </a:xfrm>
              </p:grpSpPr>
              <p:sp>
                <p:nvSpPr>
                  <p:cNvPr id="23" name="Google Shape;163;g392c667b943_0_12">
                    <a:extLst>
                      <a:ext uri="{FF2B5EF4-FFF2-40B4-BE49-F238E27FC236}">
                        <a16:creationId xmlns:a16="http://schemas.microsoft.com/office/drawing/2014/main" id="{AD3AA1B3-95C7-31A6-E3F4-BB7AE3C2E19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222763" y="17353468"/>
                    <a:ext cx="4781198" cy="2582601"/>
                  </a:xfrm>
                  <a:prstGeom prst="flowChartTerminator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Prior</a:t>
                    </a:r>
                    <a:endParaRPr sz="1600" b="1" dirty="0"/>
                  </a:p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Knowledge</a:t>
                    </a:r>
                    <a:endParaRPr sz="1600" b="1" dirty="0"/>
                  </a:p>
                </p:txBody>
              </p:sp>
              <p:cxnSp>
                <p:nvCxnSpPr>
                  <p:cNvPr id="24" name="Google Shape;170;g392c667b943_0_12">
                    <a:extLst>
                      <a:ext uri="{FF2B5EF4-FFF2-40B4-BE49-F238E27FC236}">
                        <a16:creationId xmlns:a16="http://schemas.microsoft.com/office/drawing/2014/main" id="{E8DD75D1-1C28-8483-6703-B7A217FCD1B5}"/>
                      </a:ext>
                    </a:extLst>
                  </p:cNvPr>
                  <p:cNvCxnSpPr>
                    <a:cxnSpLocks/>
                    <a:stCxn id="59" idx="3"/>
                    <a:endCxn id="27" idx="0"/>
                  </p:cNvCxnSpPr>
                  <p:nvPr/>
                </p:nvCxnSpPr>
                <p:spPr>
                  <a:xfrm>
                    <a:off x="42261223" y="19220045"/>
                    <a:ext cx="3327272" cy="2812486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25" name="Google Shape;173;g392c667b943_0_12">
                    <a:extLst>
                      <a:ext uri="{FF2B5EF4-FFF2-40B4-BE49-F238E27FC236}">
                        <a16:creationId xmlns:a16="http://schemas.microsoft.com/office/drawing/2014/main" id="{29F85463-D4B4-4F4D-9354-7521495E8CC8}"/>
                      </a:ext>
                    </a:extLst>
                  </p:cNvPr>
                  <p:cNvCxnSpPr>
                    <a:cxnSpLocks/>
                    <a:stCxn id="52" idx="1"/>
                    <a:endCxn id="63" idx="2"/>
                  </p:cNvCxnSpPr>
                  <p:nvPr/>
                </p:nvCxnSpPr>
                <p:spPr>
                  <a:xfrm rot="10800000">
                    <a:off x="10613368" y="26196592"/>
                    <a:ext cx="32583620" cy="2728872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dash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63" name="Google Shape;168;g392c667b943_0_12">
                    <a:extLst>
                      <a:ext uri="{FF2B5EF4-FFF2-40B4-BE49-F238E27FC236}">
                        <a16:creationId xmlns:a16="http://schemas.microsoft.com/office/drawing/2014/main" id="{395B9EA8-489B-E47B-1686-64D1C3A8A224}"/>
                      </a:ext>
                    </a:extLst>
                  </p:cNvPr>
                  <p:cNvSpPr/>
                  <p:nvPr/>
                </p:nvSpPr>
                <p:spPr>
                  <a:xfrm>
                    <a:off x="8222787" y="23009047"/>
                    <a:ext cx="4781150" cy="3187545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Model(s)</a:t>
                    </a:r>
                    <a:endParaRPr sz="1600" b="1" dirty="0"/>
                  </a:p>
                </p:txBody>
              </p:sp>
              <p:sp>
                <p:nvSpPr>
                  <p:cNvPr id="27" name="Google Shape;172;g392c667b943_0_12">
                    <a:extLst>
                      <a:ext uri="{FF2B5EF4-FFF2-40B4-BE49-F238E27FC236}">
                        <a16:creationId xmlns:a16="http://schemas.microsoft.com/office/drawing/2014/main" id="{851FD7B4-7984-EED2-90A2-97030F7003F2}"/>
                      </a:ext>
                    </a:extLst>
                  </p:cNvPr>
                  <p:cNvSpPr/>
                  <p:nvPr/>
                </p:nvSpPr>
                <p:spPr>
                  <a:xfrm>
                    <a:off x="40874478" y="22032531"/>
                    <a:ext cx="9428029" cy="3610004"/>
                  </a:xfrm>
                  <a:prstGeom prst="diamond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Uncertainty Acceptable?</a:t>
                    </a:r>
                    <a:endParaRPr sz="1600" b="1" dirty="0"/>
                  </a:p>
                </p:txBody>
              </p:sp>
              <p:cxnSp>
                <p:nvCxnSpPr>
                  <p:cNvPr id="28" name="Google Shape;181;g392c667b943_0_12">
                    <a:extLst>
                      <a:ext uri="{FF2B5EF4-FFF2-40B4-BE49-F238E27FC236}">
                        <a16:creationId xmlns:a16="http://schemas.microsoft.com/office/drawing/2014/main" id="{DAC43201-F4A7-75B7-95D4-46BDB17E8A04}"/>
                      </a:ext>
                    </a:extLst>
                  </p:cNvPr>
                  <p:cNvCxnSpPr>
                    <a:cxnSpLocks/>
                    <a:stCxn id="51" idx="3"/>
                    <a:endCxn id="59" idx="1"/>
                  </p:cNvCxnSpPr>
                  <p:nvPr/>
                </p:nvCxnSpPr>
                <p:spPr>
                  <a:xfrm>
                    <a:off x="31465956" y="19220042"/>
                    <a:ext cx="6012254" cy="3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30" name="Google Shape;183;g392c667b943_0_12">
                    <a:extLst>
                      <a:ext uri="{FF2B5EF4-FFF2-40B4-BE49-F238E27FC236}">
                        <a16:creationId xmlns:a16="http://schemas.microsoft.com/office/drawing/2014/main" id="{0ACFB825-0A49-6431-C861-315CC14F5E47}"/>
                      </a:ext>
                    </a:extLst>
                  </p:cNvPr>
                  <p:cNvCxnSpPr>
                    <a:cxnSpLocks/>
                    <a:stCxn id="27" idx="1"/>
                    <a:endCxn id="46" idx="3"/>
                  </p:cNvCxnSpPr>
                  <p:nvPr/>
                </p:nvCxnSpPr>
                <p:spPr>
                  <a:xfrm flipH="1" flipV="1">
                    <a:off x="38711578" y="23819024"/>
                    <a:ext cx="2162900" cy="18511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46" name="Google Shape;184;g392c667b943_0_12">
                    <a:extLst>
                      <a:ext uri="{FF2B5EF4-FFF2-40B4-BE49-F238E27FC236}">
                        <a16:creationId xmlns:a16="http://schemas.microsoft.com/office/drawing/2014/main" id="{E6F2A968-AEA2-649A-7607-713828148B06}"/>
                      </a:ext>
                    </a:extLst>
                  </p:cNvPr>
                  <p:cNvSpPr/>
                  <p:nvPr/>
                </p:nvSpPr>
                <p:spPr>
                  <a:xfrm>
                    <a:off x="32616412" y="22543223"/>
                    <a:ext cx="6095166" cy="2551598"/>
                  </a:xfrm>
                  <a:prstGeom prst="flowChartTerminator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Model with Quantified Uncertainty</a:t>
                    </a:r>
                    <a:endParaRPr sz="1600" b="1" dirty="0"/>
                  </a:p>
                </p:txBody>
              </p:sp>
              <p:sp>
                <p:nvSpPr>
                  <p:cNvPr id="47" name="Google Shape;185;g392c667b943_0_12">
                    <a:extLst>
                      <a:ext uri="{FF2B5EF4-FFF2-40B4-BE49-F238E27FC236}">
                        <a16:creationId xmlns:a16="http://schemas.microsoft.com/office/drawing/2014/main" id="{5802C27D-D262-121D-D1E4-D1104C4B5453}"/>
                      </a:ext>
                    </a:extLst>
                  </p:cNvPr>
                  <p:cNvSpPr txBox="1"/>
                  <p:nvPr/>
                </p:nvSpPr>
                <p:spPr>
                  <a:xfrm>
                    <a:off x="45546944" y="25850080"/>
                    <a:ext cx="2462292" cy="968135"/>
                  </a:xfrm>
                  <a:prstGeom prst="rect">
                    <a:avLst/>
                  </a:prstGeom>
                  <a:noFill/>
                  <a:ln w="82550"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dirty="0">
                        <a:solidFill>
                          <a:schemeClr val="tx1"/>
                        </a:solidFill>
                        <a:sym typeface="Courier New"/>
                      </a:rPr>
                      <a:t>No</a:t>
                    </a:r>
                    <a:endParaRPr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Google Shape;186;g392c667b943_0_12">
                    <a:extLst>
                      <a:ext uri="{FF2B5EF4-FFF2-40B4-BE49-F238E27FC236}">
                        <a16:creationId xmlns:a16="http://schemas.microsoft.com/office/drawing/2014/main" id="{BEAC935A-0C00-7964-F11A-A4970AD996F2}"/>
                      </a:ext>
                    </a:extLst>
                  </p:cNvPr>
                  <p:cNvSpPr txBox="1"/>
                  <p:nvPr/>
                </p:nvSpPr>
                <p:spPr>
                  <a:xfrm>
                    <a:off x="38829751" y="22857237"/>
                    <a:ext cx="1999207" cy="788024"/>
                  </a:xfrm>
                  <a:prstGeom prst="rect">
                    <a:avLst/>
                  </a:prstGeom>
                  <a:noFill/>
                  <a:ln w="82550"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dirty="0">
                        <a:solidFill>
                          <a:schemeClr val="tx1"/>
                        </a:solidFill>
                        <a:sym typeface="Courier New"/>
                      </a:rPr>
                      <a:t>Yes</a:t>
                    </a:r>
                    <a:endParaRPr dirty="0">
                      <a:solidFill>
                        <a:schemeClr val="tx1"/>
                      </a:solidFill>
                      <a:sym typeface="Courier New"/>
                    </a:endParaRPr>
                  </a:p>
                </p:txBody>
              </p:sp>
              <p:sp>
                <p:nvSpPr>
                  <p:cNvPr id="59" name="Google Shape;171;g392c667b943_0_12">
                    <a:extLst>
                      <a:ext uri="{FF2B5EF4-FFF2-40B4-BE49-F238E27FC236}">
                        <a16:creationId xmlns:a16="http://schemas.microsoft.com/office/drawing/2014/main" id="{A465C23B-B14B-0E22-2FDE-3BBB31C70664}"/>
                      </a:ext>
                    </a:extLst>
                  </p:cNvPr>
                  <p:cNvSpPr/>
                  <p:nvPr/>
                </p:nvSpPr>
                <p:spPr>
                  <a:xfrm>
                    <a:off x="37478213" y="17626273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Sensitivity &amp; Uncertainty Analysis</a:t>
                    </a:r>
                    <a:endParaRPr sz="1600" b="1" dirty="0"/>
                  </a:p>
                </p:txBody>
              </p:sp>
              <p:sp>
                <p:nvSpPr>
                  <p:cNvPr id="51" name="Google Shape;171;g392c667b943_0_12">
                    <a:extLst>
                      <a:ext uri="{FF2B5EF4-FFF2-40B4-BE49-F238E27FC236}">
                        <a16:creationId xmlns:a16="http://schemas.microsoft.com/office/drawing/2014/main" id="{1061763A-9B29-8742-450B-517DE457A6EF}"/>
                      </a:ext>
                    </a:extLst>
                  </p:cNvPr>
                  <p:cNvSpPr/>
                  <p:nvPr/>
                </p:nvSpPr>
                <p:spPr>
                  <a:xfrm>
                    <a:off x="26682943" y="17626270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rPr>
                      <a:t>Parameter Estimation</a:t>
                    </a:r>
                    <a:endParaRPr sz="1600" b="1" dirty="0">
                      <a:solidFill>
                        <a:srgbClr val="000000"/>
                      </a:solidFill>
                      <a:latin typeface="Calibri"/>
                      <a:cs typeface="Calibri"/>
                    </a:endParaRPr>
                  </a:p>
                </p:txBody>
              </p:sp>
              <p:sp>
                <p:nvSpPr>
                  <p:cNvPr id="52" name="Google Shape;171;g392c667b943_0_12">
                    <a:extLst>
                      <a:ext uri="{FF2B5EF4-FFF2-40B4-BE49-F238E27FC236}">
                        <a16:creationId xmlns:a16="http://schemas.microsoft.com/office/drawing/2014/main" id="{53F972BC-EA18-6524-D488-BE0F073A7224}"/>
                      </a:ext>
                    </a:extLst>
                  </p:cNvPr>
                  <p:cNvSpPr/>
                  <p:nvPr/>
                </p:nvSpPr>
                <p:spPr>
                  <a:xfrm>
                    <a:off x="43196984" y="27331691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rPr>
                      <a:t>Model-Based Design of Experiments</a:t>
                    </a:r>
                    <a:endParaRPr sz="1600" b="1" dirty="0">
                      <a:solidFill>
                        <a:srgbClr val="000000"/>
                      </a:solidFill>
                      <a:latin typeface="Calibri"/>
                      <a:cs typeface="Calibri"/>
                    </a:endParaRPr>
                  </a:p>
                </p:txBody>
              </p: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245CE23A-5CDA-2F23-47CB-BAF8850DC6C3}"/>
                      </a:ext>
                    </a:extLst>
                  </p:cNvPr>
                  <p:cNvGrpSpPr/>
                  <p:nvPr/>
                </p:nvGrpSpPr>
                <p:grpSpPr>
                  <a:xfrm>
                    <a:off x="14553943" y="17311212"/>
                    <a:ext cx="5640307" cy="2551599"/>
                    <a:chOff x="4770778" y="26675994"/>
                    <a:chExt cx="5640307" cy="2551599"/>
                  </a:xfrm>
                </p:grpSpPr>
                <p:sp>
                  <p:nvSpPr>
                    <p:cNvPr id="56" name="Google Shape;164;g392c667b943_0_12">
                      <a:extLst>
                        <a:ext uri="{FF2B5EF4-FFF2-40B4-BE49-F238E27FC236}">
                          <a16:creationId xmlns:a16="http://schemas.microsoft.com/office/drawing/2014/main" id="{CCDC9745-32B0-B257-BF7E-11583D1920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0778" y="26675994"/>
                      <a:ext cx="5640307" cy="2551599"/>
                    </a:xfrm>
                    <a:prstGeom prst="flowChartTerminator">
                      <a:avLst/>
                    </a:prstGeom>
                    <a:solidFill>
                      <a:srgbClr val="DDEAF6"/>
                    </a:solidFill>
                    <a:ln w="28575" cap="flat" cmpd="sng">
                      <a:solidFill>
                        <a:srgbClr val="0C233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Experimental Data</a:t>
                      </a:r>
                      <a:endParaRPr sz="1600" b="1" dirty="0"/>
                    </a:p>
                  </p:txBody>
                </p:sp>
                <p:pic>
                  <p:nvPicPr>
                    <p:cNvPr id="57" name="Google Shape;145;g392c667b943_0_0" descr="Beaker with solid fill">
                      <a:extLst>
                        <a:ext uri="{FF2B5EF4-FFF2-40B4-BE49-F238E27FC236}">
                          <a16:creationId xmlns:a16="http://schemas.microsoft.com/office/drawing/2014/main" id="{CD51961C-5C35-63DB-134C-39F1BE700AED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5402021" y="27873557"/>
                      <a:ext cx="1007529" cy="976689"/>
                    </a:xfrm>
                    <a:prstGeom prst="rect">
                      <a:avLst/>
                    </a:prstGeom>
                    <a:noFill/>
                    <a:ln w="82550">
                      <a:noFill/>
                    </a:ln>
                  </p:spPr>
                </p:pic>
                <p:pic>
                  <p:nvPicPr>
                    <p:cNvPr id="58" name="Google Shape;144;g392c667b943_0_0" descr="Microscope with solid fill">
                      <a:extLst>
                        <a:ext uri="{FF2B5EF4-FFF2-40B4-BE49-F238E27FC236}">
                          <a16:creationId xmlns:a16="http://schemas.microsoft.com/office/drawing/2014/main" id="{52984D16-F55A-8079-1503-A938A27076AA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/>
                    <a:stretch/>
                  </p:blipFill>
                  <p:spPr>
                    <a:xfrm>
                      <a:off x="8695242" y="27873557"/>
                      <a:ext cx="1007529" cy="976689"/>
                    </a:xfrm>
                    <a:prstGeom prst="rect">
                      <a:avLst/>
                    </a:prstGeom>
                    <a:noFill/>
                    <a:ln w="82550">
                      <a:noFill/>
                    </a:ln>
                  </p:spPr>
                </p:pic>
              </p:grpSp>
              <p:cxnSp>
                <p:nvCxnSpPr>
                  <p:cNvPr id="54" name="Google Shape;173;g392c667b943_0_12">
                    <a:extLst>
                      <a:ext uri="{FF2B5EF4-FFF2-40B4-BE49-F238E27FC236}">
                        <a16:creationId xmlns:a16="http://schemas.microsoft.com/office/drawing/2014/main" id="{1E3A9DD0-756E-9D8F-4CE1-3A446FA5C0B9}"/>
                      </a:ext>
                    </a:extLst>
                  </p:cNvPr>
                  <p:cNvCxnSpPr>
                    <a:cxnSpLocks/>
                    <a:stCxn id="56" idx="2"/>
                  </p:cNvCxnSpPr>
                  <p:nvPr/>
                </p:nvCxnSpPr>
                <p:spPr>
                  <a:xfrm rot="5400000">
                    <a:off x="13404149" y="17163684"/>
                    <a:ext cx="1270824" cy="6669079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dash"/>
                    <a:miter lim="800000"/>
                    <a:headEnd type="none" w="sm" len="sm"/>
                    <a:tailEnd type="triangle" w="med" len="med"/>
                  </a:ln>
                </p:spPr>
              </p:cxnSp>
            </p:grpSp>
            <p:cxnSp>
              <p:nvCxnSpPr>
                <p:cNvPr id="75" name="Google Shape;183;g392c667b943_0_12">
                  <a:extLst>
                    <a:ext uri="{FF2B5EF4-FFF2-40B4-BE49-F238E27FC236}">
                      <a16:creationId xmlns:a16="http://schemas.microsoft.com/office/drawing/2014/main" id="{86C654AC-BBEB-3BA6-10BB-331A4CE5A847}"/>
                    </a:ext>
                  </a:extLst>
                </p:cNvPr>
                <p:cNvCxnSpPr>
                  <a:cxnSpLocks/>
                  <a:stCxn id="27" idx="2"/>
                  <a:endCxn id="52" idx="0"/>
                </p:cNvCxnSpPr>
                <p:nvPr/>
              </p:nvCxnSpPr>
              <p:spPr>
                <a:xfrm flipH="1">
                  <a:off x="10253846" y="4576493"/>
                  <a:ext cx="1" cy="536923"/>
                </a:xfrm>
                <a:prstGeom prst="straightConnector1">
                  <a:avLst/>
                </a:prstGeom>
                <a:noFill/>
                <a:ln w="57150" cap="flat" cmpd="sng">
                  <a:solidFill>
                    <a:srgbClr val="0C233F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</p:grpSp>
          <p:cxnSp>
            <p:nvCxnSpPr>
              <p:cNvPr id="93" name="Google Shape;183;g392c667b943_0_12">
                <a:extLst>
                  <a:ext uri="{FF2B5EF4-FFF2-40B4-BE49-F238E27FC236}">
                    <a16:creationId xmlns:a16="http://schemas.microsoft.com/office/drawing/2014/main" id="{AB2ED750-F013-43EF-4A41-07751CF19EA0}"/>
                  </a:ext>
                </a:extLst>
              </p:cNvPr>
              <p:cNvCxnSpPr>
                <a:cxnSpLocks/>
                <a:stCxn id="23" idx="2"/>
                <a:endCxn id="63" idx="0"/>
              </p:cNvCxnSpPr>
              <p:nvPr/>
            </p:nvCxnSpPr>
            <p:spPr>
              <a:xfrm>
                <a:off x="1250584" y="2059300"/>
                <a:ext cx="0" cy="976791"/>
              </a:xfrm>
              <a:prstGeom prst="straightConnector1">
                <a:avLst/>
              </a:prstGeom>
              <a:noFill/>
              <a:ln w="57150" cap="flat" cmpd="sng">
                <a:solidFill>
                  <a:srgbClr val="0C233F"/>
                </a:solidFill>
                <a:prstDash val="dash"/>
                <a:miter lim="800000"/>
                <a:headEnd type="none" w="sm" len="sm"/>
                <a:tailEnd type="triangle" w="med" len="med"/>
              </a:ln>
            </p:spPr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373D278-13A4-4C52-F02E-886FE3C47C01}"/>
              </a:ext>
            </a:extLst>
          </p:cNvPr>
          <p:cNvSpPr txBox="1"/>
          <p:nvPr/>
        </p:nvSpPr>
        <p:spPr>
          <a:xfrm>
            <a:off x="3797128" y="5532903"/>
            <a:ext cx="4673543" cy="646331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/>
              <a:t>• Dotted lines ⇢ manual data transmission</a:t>
            </a:r>
          </a:p>
          <a:p>
            <a:pPr marL="0" indent="0">
              <a:buNone/>
            </a:pPr>
            <a:r>
              <a:rPr lang="en-US" dirty="0"/>
              <a:t>• Solid lines → automatic 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219570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D757-E9CC-BB73-86DE-D0DCC5FB2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B52E316-D946-7771-1B5C-13D29A396813}"/>
              </a:ext>
            </a:extLst>
          </p:cNvPr>
          <p:cNvSpPr txBox="1">
            <a:spLocks/>
          </p:cNvSpPr>
          <p:nvPr/>
        </p:nvSpPr>
        <p:spPr>
          <a:xfrm>
            <a:off x="0" y="3387"/>
            <a:ext cx="12192000" cy="87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90000"/>
              </a:lnSpc>
              <a:buClr>
                <a:schemeClr val="dk1"/>
              </a:buClr>
              <a:buSzPts val="1800"/>
              <a:buNone/>
              <a:defRPr sz="3200" b="1">
                <a:solidFill>
                  <a:schemeClr val="tx1"/>
                </a:solidFill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pPr algn="ctr"/>
            <a:r>
              <a:rPr lang="en-US" dirty="0"/>
              <a:t>From Dynamic Inference to Uncertainty-Aware Digital Twins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7EF5BF0-B023-C9E8-CAA8-07F605D522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5DB6AF-59CE-95B8-7683-F2F208C04196}"/>
                  </a:ext>
                </a:extLst>
              </p:cNvPr>
              <p:cNvSpPr txBox="1"/>
              <p:nvPr/>
            </p:nvSpPr>
            <p:spPr>
              <a:xfrm>
                <a:off x="4126564" y="3089252"/>
                <a:ext cx="3938871" cy="163121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285750" indent="-285750">
                  <a:buFont typeface="Wingdings" panose="05000000000000000000" pitchFamily="2" charset="2"/>
                  <a:buChar char="§"/>
                  <a:defRPr sz="1800">
                    <a:solidFill>
                      <a:schemeClr val="tx1"/>
                    </a:solidFill>
                  </a:defRPr>
                </a:lvl1pPr>
              </a:lstStyle>
              <a:p>
                <a:pPr marL="0" indent="0">
                  <a:buNone/>
                </a:pPr>
                <a:r>
                  <a:rPr lang="en-US" sz="2000" b="1" dirty="0"/>
                  <a:t>Next Stage — Digital Shadow</a:t>
                </a:r>
                <a:endParaRPr lang="en-US" sz="2000" dirty="0"/>
              </a:p>
              <a:p>
                <a:r>
                  <a:rPr lang="en-US" sz="2000" dirty="0"/>
                  <a:t>Real-time experimental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000" dirty="0"/>
                  <a:t>, used for state estimation,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Online parameter estimation + UQ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5DB6AF-59CE-95B8-7683-F2F208C04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564" y="3089252"/>
                <a:ext cx="3938871" cy="16312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B89CEA3-347A-377B-B3F3-56B6E950BE61}"/>
              </a:ext>
            </a:extLst>
          </p:cNvPr>
          <p:cNvSpPr txBox="1"/>
          <p:nvPr/>
        </p:nvSpPr>
        <p:spPr>
          <a:xfrm>
            <a:off x="8170303" y="3089254"/>
            <a:ext cx="3938871" cy="224676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000" b="1" dirty="0"/>
              <a:t>Final Stage — Self-Driving Lab</a:t>
            </a:r>
            <a:endParaRPr lang="en-US" sz="2000" dirty="0"/>
          </a:p>
          <a:p>
            <a:r>
              <a:rPr lang="en-US" sz="2000" dirty="0" err="1"/>
              <a:t>MBDoE</a:t>
            </a:r>
            <a:r>
              <a:rPr lang="en-US" sz="2000" dirty="0"/>
              <a:t> selects optimal next experiment</a:t>
            </a:r>
          </a:p>
          <a:p>
            <a:r>
              <a:rPr lang="en-US" sz="2000" dirty="0"/>
              <a:t>Inner loop → set-point tracking</a:t>
            </a:r>
          </a:p>
          <a:p>
            <a:r>
              <a:rPr lang="en-US" sz="2000" dirty="0"/>
              <a:t>Close the loop:</a:t>
            </a:r>
            <a:br>
              <a:rPr lang="en-US" sz="2000" dirty="0"/>
            </a:br>
            <a:r>
              <a:rPr lang="en-US" sz="2000" dirty="0"/>
              <a:t>experiment → estimate → UQ → </a:t>
            </a:r>
            <a:r>
              <a:rPr lang="en-US" sz="2000" dirty="0" err="1"/>
              <a:t>MBDoE</a:t>
            </a:r>
            <a:r>
              <a:rPr lang="en-US" sz="2000" dirty="0"/>
              <a:t> → experiment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05FF52-5BBD-3488-D43C-2EB40A285D8B}"/>
              </a:ext>
            </a:extLst>
          </p:cNvPr>
          <p:cNvSpPr txBox="1"/>
          <p:nvPr/>
        </p:nvSpPr>
        <p:spPr>
          <a:xfrm>
            <a:off x="4238656" y="5470409"/>
            <a:ext cx="6762694" cy="707886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 b="1" dirty="0"/>
              <a:t>This transforms parameter estimation and uncertainty quantification into adaptive experimental learning</a:t>
            </a:r>
            <a:endParaRPr lang="en-US" sz="2000" dirty="0"/>
          </a:p>
        </p:txBody>
      </p:sp>
      <p:pic>
        <p:nvPicPr>
          <p:cNvPr id="11" name="Google Shape;140;p2" descr="The 4 Levels of the Digital Twin Technology">
            <a:extLst>
              <a:ext uri="{FF2B5EF4-FFF2-40B4-BE49-F238E27FC236}">
                <a16:creationId xmlns:a16="http://schemas.microsoft.com/office/drawing/2014/main" id="{82F6C56D-6249-BAA5-9E70-93C93F389AC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6799" b="16409"/>
          <a:stretch>
            <a:fillRect/>
          </a:stretch>
        </p:blipFill>
        <p:spPr>
          <a:xfrm>
            <a:off x="761160" y="773099"/>
            <a:ext cx="2245276" cy="202009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41;p2">
            <a:extLst>
              <a:ext uri="{FF2B5EF4-FFF2-40B4-BE49-F238E27FC236}">
                <a16:creationId xmlns:a16="http://schemas.microsoft.com/office/drawing/2014/main" id="{28FDC171-9560-6537-4129-4739257634B7}"/>
              </a:ext>
            </a:extLst>
          </p:cNvPr>
          <p:cNvSpPr txBox="1"/>
          <p:nvPr/>
        </p:nvSpPr>
        <p:spPr>
          <a:xfrm>
            <a:off x="1478110" y="6312682"/>
            <a:ext cx="1013863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7F7F7F"/>
                </a:solidFill>
              </a:rPr>
              <a:t>Figure adapted from Kritzinger et al. (2018), “Digital Twin in Manufacturing: A Categorical Literature Review and Classification,” IFAC‑</a:t>
            </a:r>
            <a:r>
              <a:rPr lang="en-US" sz="1200" dirty="0" err="1">
                <a:solidFill>
                  <a:srgbClr val="7F7F7F"/>
                </a:solidFill>
              </a:rPr>
              <a:t>PapersOnLine</a:t>
            </a:r>
            <a:r>
              <a:rPr lang="en-US" sz="1200" dirty="0">
                <a:solidFill>
                  <a:srgbClr val="7F7F7F"/>
                </a:solidFill>
              </a:rPr>
              <a:t>.</a:t>
            </a:r>
            <a:endParaRPr sz="1200" dirty="0">
              <a:solidFill>
                <a:srgbClr val="7F7F7F"/>
              </a:solidFill>
            </a:endParaRPr>
          </a:p>
        </p:txBody>
      </p:sp>
      <p:pic>
        <p:nvPicPr>
          <p:cNvPr id="6" name="Google Shape;140;p2" descr="The 4 Levels of the Digital Twin Technology">
            <a:extLst>
              <a:ext uri="{FF2B5EF4-FFF2-40B4-BE49-F238E27FC236}">
                <a16:creationId xmlns:a16="http://schemas.microsoft.com/office/drawing/2014/main" id="{54CE77B0-B1AA-4837-545F-4AB3CC5ED4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3693" r="33106" b="16409"/>
          <a:stretch>
            <a:fillRect/>
          </a:stretch>
        </p:blipFill>
        <p:spPr>
          <a:xfrm>
            <a:off x="4973360" y="773099"/>
            <a:ext cx="2245276" cy="202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0;p2" descr="The 4 Levels of the Digital Twin Technology">
            <a:extLst>
              <a:ext uri="{FF2B5EF4-FFF2-40B4-BE49-F238E27FC236}">
                <a16:creationId xmlns:a16="http://schemas.microsoft.com/office/drawing/2014/main" id="{3FE2E00A-0C99-0EF2-C86A-943E45F00E5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6799" b="16409"/>
          <a:stretch>
            <a:fillRect/>
          </a:stretch>
        </p:blipFill>
        <p:spPr>
          <a:xfrm>
            <a:off x="9185564" y="759180"/>
            <a:ext cx="2245276" cy="202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40;p2" descr="The 4 Levels of the Digital Twin Technology">
            <a:extLst>
              <a:ext uri="{FF2B5EF4-FFF2-40B4-BE49-F238E27FC236}">
                <a16:creationId xmlns:a16="http://schemas.microsoft.com/office/drawing/2014/main" id="{CE6C4E96-7F5A-96E7-2DBC-DCCF12973D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3605"/>
          <a:stretch>
            <a:fillRect/>
          </a:stretch>
        </p:blipFill>
        <p:spPr>
          <a:xfrm>
            <a:off x="2714651" y="2664366"/>
            <a:ext cx="6762694" cy="39620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3CF50C-5A5C-A7D0-67A5-324BF49D608E}"/>
                  </a:ext>
                </a:extLst>
              </p:cNvPr>
              <p:cNvSpPr txBox="1"/>
              <p:nvPr/>
            </p:nvSpPr>
            <p:spPr>
              <a:xfrm>
                <a:off x="82826" y="3089252"/>
                <a:ext cx="3938871" cy="3305649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285750" indent="-285750">
                  <a:buFont typeface="Wingdings" panose="05000000000000000000" pitchFamily="2" charset="2"/>
                  <a:buChar char="§"/>
                  <a:defRPr sz="1800">
                    <a:solidFill>
                      <a:schemeClr val="tx1"/>
                    </a:solidFill>
                  </a:defRPr>
                </a:lvl1pPr>
              </a:lstStyle>
              <a:p>
                <a:pPr marL="0" indent="0">
                  <a:buNone/>
                </a:pPr>
                <a:r>
                  <a:rPr lang="en-US" sz="2000" b="1" dirty="0"/>
                  <a:t>Current Stage — Digital Model</a:t>
                </a:r>
                <a:endParaRPr lang="en-US" sz="2000" dirty="0"/>
              </a:p>
              <a:p>
                <a:r>
                  <a:rPr lang="en-US" sz="2000" dirty="0"/>
                  <a:t>Physics-based dynamic model,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2000" dirty="0"/>
                  <a:t> (DAE system)</a:t>
                </a:r>
              </a:p>
              <a:p>
                <a:r>
                  <a:rPr lang="en-US" sz="2000" dirty="0"/>
                  <a:t>Parameters,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, estimated from diafiltration experiments</a:t>
                </a:r>
              </a:p>
              <a:p>
                <a:r>
                  <a:rPr lang="en-US" sz="2000" dirty="0"/>
                  <a:t>Uncertainty quantified via FIM / covariance</a:t>
                </a:r>
              </a:p>
              <a:p>
                <a:r>
                  <a:rPr lang="en-US" sz="2000" dirty="0"/>
                  <a:t>Model predicts next best operating condition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3CF50C-5A5C-A7D0-67A5-324BF49D6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" y="3089252"/>
                <a:ext cx="3938871" cy="33056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84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>
          <a:extLst>
            <a:ext uri="{FF2B5EF4-FFF2-40B4-BE49-F238E27FC236}">
              <a16:creationId xmlns:a16="http://schemas.microsoft.com/office/drawing/2014/main" id="{9DE2E241-90FD-925A-2214-8A503CA0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719B28-0444-7728-0E93-5910F3D3DF9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4656" t="50102" r="59312" b="16801"/>
          <a:stretch>
            <a:fillRect/>
          </a:stretch>
        </p:blipFill>
        <p:spPr>
          <a:xfrm>
            <a:off x="5430983" y="4551219"/>
            <a:ext cx="3934690" cy="22652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22DB82D-F850-62A2-9785-363FFECFA34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54319" t="50102" r="6950" b="16801"/>
          <a:stretch>
            <a:fillRect/>
          </a:stretch>
        </p:blipFill>
        <p:spPr>
          <a:xfrm>
            <a:off x="5430982" y="41562"/>
            <a:ext cx="3976255" cy="22652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A1F515-29CE-454B-666A-4B4A88E91A88}"/>
              </a:ext>
            </a:extLst>
          </p:cNvPr>
          <p:cNvSpPr/>
          <p:nvPr/>
        </p:nvSpPr>
        <p:spPr>
          <a:xfrm>
            <a:off x="2937164" y="166255"/>
            <a:ext cx="2396836" cy="202276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/>
              <a:t>Supervisory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Time scale: Hours (~1 </a:t>
            </a:r>
            <a:r>
              <a:rPr lang="en-US" sz="1200" dirty="0" err="1"/>
              <a:t>hr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Uncertainty quantification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Model selection based on </a:t>
            </a:r>
            <a:r>
              <a:rPr lang="en-US" sz="1200" dirty="0" err="1"/>
              <a:t>MBDoE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n-degrees of freedom</a:t>
            </a:r>
            <a:br>
              <a:rPr lang="en-US" sz="1200" dirty="0"/>
            </a:br>
            <a:r>
              <a:rPr lang="en-US" sz="1200" dirty="0"/>
              <a:t>• Start-up mode</a:t>
            </a:r>
            <a:br>
              <a:rPr lang="en-US" sz="1200" dirty="0"/>
            </a:br>
            <a:r>
              <a:rPr lang="en-US" sz="1200" dirty="0"/>
              <a:t>• Pressure schedule</a:t>
            </a:r>
            <a:br>
              <a:rPr lang="en-US" sz="1200" dirty="0"/>
            </a:br>
            <a:r>
              <a:rPr lang="en-US" sz="1200" dirty="0"/>
              <a:t>• Termination condition</a:t>
            </a:r>
            <a:br>
              <a:rPr lang="en-US" sz="1200" dirty="0"/>
            </a:b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B18C04E-B318-7F45-387F-8818019C5A4B}"/>
                  </a:ext>
                </a:extLst>
              </p:cNvPr>
              <p:cNvSpPr/>
              <p:nvPr/>
            </p:nvSpPr>
            <p:spPr>
              <a:xfrm>
                <a:off x="2937163" y="5000227"/>
                <a:ext cx="2396837" cy="1566827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/>
                  <a:t>Regulatory Control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Time scale: Seconds (~5 sec)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Degrees of freedom/Inputs: 2</a:t>
                </a:r>
                <a:br>
                  <a:rPr lang="en-US" sz="1200" dirty="0"/>
                </a:br>
                <a:r>
                  <a:rPr lang="en-US" sz="1200" dirty="0"/>
                  <a:t>• Applied pressure,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br>
                  <a:rPr lang="en-US" sz="1200" dirty="0"/>
                </a:br>
                <a:r>
                  <a:rPr lang="en-US" sz="1200" dirty="0"/>
                  <a:t>• Feed concentration,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State estimation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B18C04E-B318-7F45-387F-8818019C5A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163" y="5000227"/>
                <a:ext cx="2396837" cy="15668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8E62580A-0966-7F28-C42F-BF1A8F4BB07E}"/>
              </a:ext>
            </a:extLst>
          </p:cNvPr>
          <p:cNvSpPr/>
          <p:nvPr/>
        </p:nvSpPr>
        <p:spPr>
          <a:xfrm>
            <a:off x="2937164" y="2735009"/>
            <a:ext cx="2396836" cy="140876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Real-time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Time scale: Minutes (~5 min)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Parameter estimation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Fault 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A145C0A-293A-9BD4-7172-74606C3ED678}"/>
              </a:ext>
            </a:extLst>
          </p:cNvPr>
          <p:cNvSpPr/>
          <p:nvPr/>
        </p:nvSpPr>
        <p:spPr>
          <a:xfrm>
            <a:off x="5430983" y="2424545"/>
            <a:ext cx="3934690" cy="200891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9EA019D-5275-D721-8125-D39F04731799}"/>
              </a:ext>
            </a:extLst>
          </p:cNvPr>
          <p:cNvSpPr/>
          <p:nvPr/>
        </p:nvSpPr>
        <p:spPr>
          <a:xfrm>
            <a:off x="5430983" y="2424545"/>
            <a:ext cx="3934690" cy="41563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Medium Loop (minutes) </a:t>
            </a:r>
          </a:p>
        </p:txBody>
      </p:sp>
    </p:spTree>
    <p:extLst>
      <p:ext uri="{BB962C8B-B14F-4D97-AF65-F5344CB8AC3E}">
        <p14:creationId xmlns:p14="http://schemas.microsoft.com/office/powerpoint/2010/main" val="1660058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98F5-AB68-BA8C-F15E-8081BCEE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1549814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Backup 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890D04-C649-5473-A3DE-81A87A661C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1C7D3-B622-B26C-0D11-4D7E86A82A1E}"/>
              </a:ext>
            </a:extLst>
          </p:cNvPr>
          <p:cNvSpPr txBox="1"/>
          <p:nvPr/>
        </p:nvSpPr>
        <p:spPr>
          <a:xfrm>
            <a:off x="4872384" y="1997839"/>
            <a:ext cx="249299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0" dirty="0"/>
              <a:t>📎</a:t>
            </a:r>
          </a:p>
        </p:txBody>
      </p:sp>
    </p:spTree>
    <p:extLst>
      <p:ext uri="{BB962C8B-B14F-4D97-AF65-F5344CB8AC3E}">
        <p14:creationId xmlns:p14="http://schemas.microsoft.com/office/powerpoint/2010/main" val="1529336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8298D-6514-E3F7-1907-4918D638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3990DA-2979-27A4-1C40-B061103647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6EEB82-A507-2DDA-A326-C72A54EDC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8" y="68264"/>
            <a:ext cx="12011696" cy="635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43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>
          <a:extLst>
            <a:ext uri="{FF2B5EF4-FFF2-40B4-BE49-F238E27FC236}">
              <a16:creationId xmlns:a16="http://schemas.microsoft.com/office/drawing/2014/main" id="{50763307-C13B-F295-6455-EE99DC66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5BD6A2D-ABEB-7399-44D5-E99BDC8A782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2891" y="0"/>
            <a:ext cx="10266218" cy="6844145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AAFD94D-D364-F18F-E2F1-3AC596F15F7D}"/>
              </a:ext>
            </a:extLst>
          </p:cNvPr>
          <p:cNvSpPr/>
          <p:nvPr/>
        </p:nvSpPr>
        <p:spPr>
          <a:xfrm>
            <a:off x="1440873" y="6345384"/>
            <a:ext cx="9074727" cy="47105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4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7D30-DA64-98CE-A91F-A319E706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261">
            <a:extLst>
              <a:ext uri="{FF2B5EF4-FFF2-40B4-BE49-F238E27FC236}">
                <a16:creationId xmlns:a16="http://schemas.microsoft.com/office/drawing/2014/main" id="{DB274022-D038-5765-C766-CB9725CF7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99" y="4855950"/>
            <a:ext cx="2595491" cy="198697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F9474FAC-3B0B-E6E2-2C65-A0BCC67C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205"/>
            <a:ext cx="12192000" cy="109728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Separation using a Dynamic Diafiltration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Device</a:t>
            </a: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E6D20AF0-E139-18E7-FC8F-85E4843E2051}"/>
              </a:ext>
            </a:extLst>
          </p:cNvPr>
          <p:cNvGrpSpPr/>
          <p:nvPr/>
        </p:nvGrpSpPr>
        <p:grpSpPr>
          <a:xfrm>
            <a:off x="2933700" y="901700"/>
            <a:ext cx="9175473" cy="3994020"/>
            <a:chOff x="351046" y="664151"/>
            <a:chExt cx="11216460" cy="4377874"/>
          </a:xfrm>
        </p:grpSpPr>
        <p:pic>
          <p:nvPicPr>
            <p:cNvPr id="2" name="Picture 1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D46F4A64-351A-19EC-0C23-5FC73587F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B5AD8DC0-306B-5F01-F597-C62D9CA1A4F1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1A795687-EFB8-66CF-E903-461B5FFA9CF9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BED0B1B4-232C-5C38-340E-8DEA25D41D9D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01" name="Picture 100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F401CAA0-5A3E-D604-441B-6E09C1133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978CFA7-9D93-84F2-70E0-FEEFE0D1765B}"/>
                </a:ext>
              </a:extLst>
            </p:cNvPr>
            <p:cNvSpPr txBox="1"/>
            <p:nvPr/>
          </p:nvSpPr>
          <p:spPr>
            <a:xfrm>
              <a:off x="3924116" y="4650643"/>
              <a:ext cx="1442022" cy="371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Membrane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4E082D9-E998-11DD-5B3B-D1FEFC40BE56}"/>
                </a:ext>
              </a:extLst>
            </p:cNvPr>
            <p:cNvSpPr txBox="1"/>
            <p:nvPr/>
          </p:nvSpPr>
          <p:spPr>
            <a:xfrm>
              <a:off x="3784564" y="3792708"/>
              <a:ext cx="1377631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Retentate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C9DECE4-5BAF-FE6E-05AA-99D1D15599C2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B076035-0AED-AC7D-7097-A5A47C6E4DCC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1538BFD-827F-79B3-3FCB-B6C3A03F2940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10A87DC-8B4B-7AAC-3413-A55F981EF29D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Picture 105" descr="A drawing of a machine&#10;&#10;Description automatically generated">
              <a:extLst>
                <a:ext uri="{FF2B5EF4-FFF2-40B4-BE49-F238E27FC236}">
                  <a16:creationId xmlns:a16="http://schemas.microsoft.com/office/drawing/2014/main" id="{77CDFD46-1DB9-BF15-A805-6B0617116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4F70EBD-F86C-0EA6-A12D-306D78527B26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F3A76C0-2791-5E54-80F2-329CB7B57C80}"/>
                </a:ext>
              </a:extLst>
            </p:cNvPr>
            <p:cNvSpPr txBox="1"/>
            <p:nvPr/>
          </p:nvSpPr>
          <p:spPr>
            <a:xfrm>
              <a:off x="10087001" y="2710145"/>
              <a:ext cx="1480505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Scintillation Vials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4186169-6390-61FE-9713-0D4648286778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Motor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D2E0849-F937-CB4B-8A1A-9B019B23B823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Balance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9F6C8AD-0A2C-81A2-CEB3-9F9444DFF761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9588DBF-DC42-37F0-6C77-D52DE33D4A03}"/>
                </a:ext>
              </a:extLst>
            </p:cNvPr>
            <p:cNvSpPr txBox="1"/>
            <p:nvPr/>
          </p:nvSpPr>
          <p:spPr>
            <a:xfrm>
              <a:off x="571847" y="1441627"/>
              <a:ext cx="1413888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Gauge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9A8F8FB-6507-184F-535C-0F708221C769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359504C3-8269-13AE-F441-592C42909510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52AFEAD8-C4CF-B429-A00E-8AF6206B850C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B327D6BA-E627-9400-BB48-92547107501C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5E677C8A-E0DA-1DA5-51D2-1B8CD821C451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3ACB6326-0B35-4021-B202-0770FB6A6C8C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AC836085-DB0C-E617-A3C6-FBB7ABAECFC4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76B92356-94F5-7159-293A-63E01C92D866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8847633-DFBE-D02C-729B-8FFC276EBA25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7FE92BB2-5115-41A2-B566-8C01068E00DA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C8C7995A-E3D4-245B-162F-94325EF5200C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7AF6CD20-0DEF-F208-7D3C-8E64A7BD369F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15C67895-66CD-5C0E-E528-C46DD300EF6F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FAC69FE7-2938-EBF0-7617-300F400747C6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30921D3-94B8-8AEA-D6FE-B918F793F8A4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9D7F1B50-5423-19BA-01EA-60B86BCE8737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14C14CF6-F8F7-0483-E4FD-A6F1CBB68877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496A8756-E117-550F-3972-3CEC3E500209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4BE3E5DF-29F2-DF43-5FCA-B7FC8AD56297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20" name="Flowchart: Connector 119">
              <a:extLst>
                <a:ext uri="{FF2B5EF4-FFF2-40B4-BE49-F238E27FC236}">
                  <a16:creationId xmlns:a16="http://schemas.microsoft.com/office/drawing/2014/main" id="{497A868C-443C-8F6F-4873-C9490CD0E462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EF6F2BC-3A6D-828C-81DD-73ED450340BF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C6A89214-26D4-8F7C-1675-CF2D530DBBCC}"/>
                </a:ext>
              </a:extLst>
            </p:cNvPr>
            <p:cNvSpPr txBox="1"/>
            <p:nvPr/>
          </p:nvSpPr>
          <p:spPr>
            <a:xfrm>
              <a:off x="351046" y="3146685"/>
              <a:ext cx="1393745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Diafiltrate Tank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406806A8-71B3-522D-BF62-A85267D9F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6568" y="3284019"/>
              <a:ext cx="406757" cy="118045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892805A5-0708-7D2B-5B0A-E483A0E3721F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0" name="Isosceles Triangle 169">
              <a:extLst>
                <a:ext uri="{FF2B5EF4-FFF2-40B4-BE49-F238E27FC236}">
                  <a16:creationId xmlns:a16="http://schemas.microsoft.com/office/drawing/2014/main" id="{AD551ED5-EC50-4CC2-EB56-101CFC96E852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4907D4C4-C0C7-F6DD-3901-68A88620C4EF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851B0325-4A8F-ABFF-A2B3-C608CF9A517A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EAF18AAF-0038-1B31-8DE8-AB7341DEE3A1}"/>
                </a:ext>
              </a:extLst>
            </p:cNvPr>
            <p:cNvSpPr txBox="1"/>
            <p:nvPr/>
          </p:nvSpPr>
          <p:spPr>
            <a:xfrm>
              <a:off x="3546204" y="664151"/>
              <a:ext cx="2614013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Relief Valve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DF8B72DF-CAE6-90D7-F70C-AD0CE9E929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8E0581E8-5D17-6E41-2564-91A68A3F6C3E}"/>
                </a:ext>
              </a:extLst>
            </p:cNvPr>
            <p:cNvCxnSpPr>
              <a:cxnSpLocks/>
              <a:endCxn id="67" idx="0"/>
            </p:cNvCxnSpPr>
            <p:nvPr/>
          </p:nvCxnSpPr>
          <p:spPr>
            <a:xfrm flipH="1">
              <a:off x="4645128" y="4283212"/>
              <a:ext cx="887333" cy="36743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AA3BFCA4-4CFF-A3A0-EB37-6D937C6A6651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326AF3A7-5847-4EB6-19EC-AEED3FC1FBC9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74179AB6-E012-831A-E09F-9FCB3A62868E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BB99AD5A-ED29-375C-9472-89F04187EB22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B307E634-9594-B597-1379-45F0BA8AFFD0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5E23CF14-CC27-0D24-7D81-5783523AF063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DE716557-5F5E-66B7-3D80-2BFC1FB5C1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F64528BE-9818-D8F6-DF60-3922873730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7B4CD787-F38F-85DA-F819-5578E99507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8CA928C-9DF7-3BEE-0AAE-433222C19A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72FD31C-9A0A-CA25-E0F0-87767301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56FD37F1-6CBA-68CF-8C2C-4AE10D9E1C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D745ED6-552C-29FF-37FC-6C51A8A03496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8629E6-1355-78DA-7F09-5EABDE6BC52F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A789279-3C91-8276-B41D-8A8F76857366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41E597-073C-4342-8881-BD5ED386AE90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4F8D34AF-16FC-D9A6-F00D-207D5C0BF4C1}"/>
                </a:ext>
              </a:extLst>
            </p:cNvPr>
            <p:cNvSpPr txBox="1"/>
            <p:nvPr/>
          </p:nvSpPr>
          <p:spPr>
            <a:xfrm>
              <a:off x="4759889" y="1683094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Stirred Cell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4F681A35-CE19-C49D-8C7B-B8CBFB3D8F59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0" lang="en-US" sz="5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DAF6D3D0-50B0-58F2-638F-C79CA18FD8F7}"/>
                </a:ext>
              </a:extLst>
            </p:cNvPr>
            <p:cNvSpPr txBox="1"/>
            <p:nvPr/>
          </p:nvSpPr>
          <p:spPr>
            <a:xfrm>
              <a:off x="6366476" y="3332442"/>
              <a:ext cx="1438970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Outlet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A967AAA7-A881-B654-D8C6-77B4512B74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9E4D830-ED10-B2D3-F21E-7A2102D148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Arrow: Down 217">
            <a:extLst>
              <a:ext uri="{FF2B5EF4-FFF2-40B4-BE49-F238E27FC236}">
                <a16:creationId xmlns:a16="http://schemas.microsoft.com/office/drawing/2014/main" id="{14C611B3-E5C9-8CD8-8867-7666F352FFE6}"/>
              </a:ext>
            </a:extLst>
          </p:cNvPr>
          <p:cNvSpPr/>
          <p:nvPr/>
        </p:nvSpPr>
        <p:spPr>
          <a:xfrm>
            <a:off x="4562645" y="1672555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9" name="Arrow: Down 218">
            <a:extLst>
              <a:ext uri="{FF2B5EF4-FFF2-40B4-BE49-F238E27FC236}">
                <a16:creationId xmlns:a16="http://schemas.microsoft.com/office/drawing/2014/main" id="{97315296-2807-E3F6-3908-B0FAB951344A}"/>
              </a:ext>
            </a:extLst>
          </p:cNvPr>
          <p:cNvSpPr/>
          <p:nvPr/>
        </p:nvSpPr>
        <p:spPr>
          <a:xfrm>
            <a:off x="4582515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0" name="Arrow: Down 219">
            <a:extLst>
              <a:ext uri="{FF2B5EF4-FFF2-40B4-BE49-F238E27FC236}">
                <a16:creationId xmlns:a16="http://schemas.microsoft.com/office/drawing/2014/main" id="{2A48774A-D8E4-56A6-B05D-B2378784A346}"/>
              </a:ext>
            </a:extLst>
          </p:cNvPr>
          <p:cNvSpPr/>
          <p:nvPr/>
        </p:nvSpPr>
        <p:spPr>
          <a:xfrm>
            <a:off x="4890926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1" name="Arrow: Down 220">
            <a:extLst>
              <a:ext uri="{FF2B5EF4-FFF2-40B4-BE49-F238E27FC236}">
                <a16:creationId xmlns:a16="http://schemas.microsoft.com/office/drawing/2014/main" id="{F1D5A6D8-6B72-BF76-7BF6-854DFE1CBA91}"/>
              </a:ext>
            </a:extLst>
          </p:cNvPr>
          <p:cNvSpPr/>
          <p:nvPr/>
        </p:nvSpPr>
        <p:spPr>
          <a:xfrm>
            <a:off x="5199337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8E2CF21B-4EAC-41EC-57B9-DF2FD6C659E2}"/>
              </a:ext>
            </a:extLst>
          </p:cNvPr>
          <p:cNvSpPr/>
          <p:nvPr/>
        </p:nvSpPr>
        <p:spPr>
          <a:xfrm rot="10800000">
            <a:off x="5360372" y="2640969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3" name="Arrow: Down 222">
            <a:extLst>
              <a:ext uri="{FF2B5EF4-FFF2-40B4-BE49-F238E27FC236}">
                <a16:creationId xmlns:a16="http://schemas.microsoft.com/office/drawing/2014/main" id="{F348D9AA-116B-75CF-7B65-DB133AC4DDE6}"/>
              </a:ext>
            </a:extLst>
          </p:cNvPr>
          <p:cNvSpPr/>
          <p:nvPr/>
        </p:nvSpPr>
        <p:spPr>
          <a:xfrm rot="10800000">
            <a:off x="5365937" y="1659101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" name="Teardrop 225">
            <a:extLst>
              <a:ext uri="{FF2B5EF4-FFF2-40B4-BE49-F238E27FC236}">
                <a16:creationId xmlns:a16="http://schemas.microsoft.com/office/drawing/2014/main" id="{84CB277B-4DC0-D75D-A52A-081ADB199C5E}"/>
              </a:ext>
            </a:extLst>
          </p:cNvPr>
          <p:cNvSpPr/>
          <p:nvPr/>
        </p:nvSpPr>
        <p:spPr>
          <a:xfrm rot="18976205">
            <a:off x="6189232" y="2722215"/>
            <a:ext cx="117341" cy="137150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7" name="Teardrop 226">
            <a:extLst>
              <a:ext uri="{FF2B5EF4-FFF2-40B4-BE49-F238E27FC236}">
                <a16:creationId xmlns:a16="http://schemas.microsoft.com/office/drawing/2014/main" id="{B5C47855-C0FC-3E56-ED29-81EA34F91E8D}"/>
              </a:ext>
            </a:extLst>
          </p:cNvPr>
          <p:cNvSpPr/>
          <p:nvPr/>
        </p:nvSpPr>
        <p:spPr>
          <a:xfrm rot="18976205">
            <a:off x="7905405" y="4269714"/>
            <a:ext cx="117341" cy="137150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8" name="Arrow: Down 227">
            <a:extLst>
              <a:ext uri="{FF2B5EF4-FFF2-40B4-BE49-F238E27FC236}">
                <a16:creationId xmlns:a16="http://schemas.microsoft.com/office/drawing/2014/main" id="{85DB01BD-2CF4-8DD4-C3A0-66E1EEE3064D}"/>
              </a:ext>
            </a:extLst>
          </p:cNvPr>
          <p:cNvSpPr/>
          <p:nvPr/>
        </p:nvSpPr>
        <p:spPr>
          <a:xfrm>
            <a:off x="6040695" y="1955373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0" name="Arrow: Down 229">
            <a:extLst>
              <a:ext uri="{FF2B5EF4-FFF2-40B4-BE49-F238E27FC236}">
                <a16:creationId xmlns:a16="http://schemas.microsoft.com/office/drawing/2014/main" id="{C435036D-AE35-15A4-9856-4528FB3C8C37}"/>
              </a:ext>
            </a:extLst>
          </p:cNvPr>
          <p:cNvSpPr/>
          <p:nvPr/>
        </p:nvSpPr>
        <p:spPr>
          <a:xfrm rot="16200000">
            <a:off x="4014341" y="1228989"/>
            <a:ext cx="159316" cy="348275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CA15106B-63E4-629A-017C-62A93CA3B242}"/>
              </a:ext>
            </a:extLst>
          </p:cNvPr>
          <p:cNvSpPr/>
          <p:nvPr/>
        </p:nvSpPr>
        <p:spPr>
          <a:xfrm rot="16200000">
            <a:off x="5687017" y="1211558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2" name="Arrow: Down 231">
            <a:extLst>
              <a:ext uri="{FF2B5EF4-FFF2-40B4-BE49-F238E27FC236}">
                <a16:creationId xmlns:a16="http://schemas.microsoft.com/office/drawing/2014/main" id="{0756AFEC-B5A7-0878-DB46-80693E1C6D73}"/>
              </a:ext>
            </a:extLst>
          </p:cNvPr>
          <p:cNvSpPr/>
          <p:nvPr/>
        </p:nvSpPr>
        <p:spPr>
          <a:xfrm rot="16200000">
            <a:off x="5965474" y="2836802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3" name="Arrow: Down 232">
            <a:extLst>
              <a:ext uri="{FF2B5EF4-FFF2-40B4-BE49-F238E27FC236}">
                <a16:creationId xmlns:a16="http://schemas.microsoft.com/office/drawing/2014/main" id="{3C307F5A-74AE-4878-9D1B-94815B4DCE7B}"/>
              </a:ext>
            </a:extLst>
          </p:cNvPr>
          <p:cNvSpPr/>
          <p:nvPr/>
        </p:nvSpPr>
        <p:spPr>
          <a:xfrm rot="10800000">
            <a:off x="7688609" y="3425222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4" name="Arrow: Down 233">
            <a:extLst>
              <a:ext uri="{FF2B5EF4-FFF2-40B4-BE49-F238E27FC236}">
                <a16:creationId xmlns:a16="http://schemas.microsoft.com/office/drawing/2014/main" id="{02CC2EB7-288C-3C69-52A3-802057FB1C48}"/>
              </a:ext>
            </a:extLst>
          </p:cNvPr>
          <p:cNvSpPr/>
          <p:nvPr/>
        </p:nvSpPr>
        <p:spPr>
          <a:xfrm rot="10800000">
            <a:off x="7696175" y="2680082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5" name="Arrow: Down 234">
            <a:extLst>
              <a:ext uri="{FF2B5EF4-FFF2-40B4-BE49-F238E27FC236}">
                <a16:creationId xmlns:a16="http://schemas.microsoft.com/office/drawing/2014/main" id="{0CC99273-78DB-9773-FA06-0D4B9231CD40}"/>
              </a:ext>
            </a:extLst>
          </p:cNvPr>
          <p:cNvSpPr/>
          <p:nvPr/>
        </p:nvSpPr>
        <p:spPr>
          <a:xfrm rot="16200000">
            <a:off x="8189480" y="2150136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6" name="Arrow: Down 235">
            <a:extLst>
              <a:ext uri="{FF2B5EF4-FFF2-40B4-BE49-F238E27FC236}">
                <a16:creationId xmlns:a16="http://schemas.microsoft.com/office/drawing/2014/main" id="{9FD84775-06E8-4A37-E534-71CF34EA0271}"/>
              </a:ext>
            </a:extLst>
          </p:cNvPr>
          <p:cNvSpPr/>
          <p:nvPr/>
        </p:nvSpPr>
        <p:spPr>
          <a:xfrm rot="16200000">
            <a:off x="9286943" y="2150136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8" name="Arrow: Up 237">
            <a:extLst>
              <a:ext uri="{FF2B5EF4-FFF2-40B4-BE49-F238E27FC236}">
                <a16:creationId xmlns:a16="http://schemas.microsoft.com/office/drawing/2014/main" id="{0BA45ABB-12D4-CE61-8064-BE84414BC522}"/>
              </a:ext>
            </a:extLst>
          </p:cNvPr>
          <p:cNvSpPr/>
          <p:nvPr/>
        </p:nvSpPr>
        <p:spPr>
          <a:xfrm>
            <a:off x="9260999" y="2680082"/>
            <a:ext cx="220057" cy="414409"/>
          </a:xfrm>
          <a:prstGeom prst="up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9" name="Arrow: Curved Left 238">
            <a:extLst>
              <a:ext uri="{FF2B5EF4-FFF2-40B4-BE49-F238E27FC236}">
                <a16:creationId xmlns:a16="http://schemas.microsoft.com/office/drawing/2014/main" id="{7554ECD4-5F59-0AFE-0943-E9233802CDFE}"/>
              </a:ext>
            </a:extLst>
          </p:cNvPr>
          <p:cNvSpPr/>
          <p:nvPr/>
        </p:nvSpPr>
        <p:spPr>
          <a:xfrm>
            <a:off x="10375338" y="3399552"/>
            <a:ext cx="233066" cy="183189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502139A5-3C75-D582-ED2F-FE90D9CEC4AD}"/>
              </a:ext>
            </a:extLst>
          </p:cNvPr>
          <p:cNvSpPr/>
          <p:nvPr/>
        </p:nvSpPr>
        <p:spPr>
          <a:xfrm>
            <a:off x="2463800" y="5091138"/>
            <a:ext cx="1301046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24C2255C-EAB3-02F5-7BE5-4C157E940F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0850" y="4849821"/>
            <a:ext cx="2590976" cy="1983515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2635914D-2B2F-69DA-F0E8-B91DF2F4F9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5946" y="4803853"/>
            <a:ext cx="2595491" cy="1986971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55140361-6D63-26E2-144E-11B55E1982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4087" y="4821439"/>
            <a:ext cx="2602473" cy="1992317"/>
          </a:xfrm>
          <a:prstGeom prst="rect">
            <a:avLst/>
          </a:prstGeom>
        </p:spPr>
      </p:pic>
      <p:sp>
        <p:nvSpPr>
          <p:cNvPr id="267" name="Rectangle 266">
            <a:extLst>
              <a:ext uri="{FF2B5EF4-FFF2-40B4-BE49-F238E27FC236}">
                <a16:creationId xmlns:a16="http://schemas.microsoft.com/office/drawing/2014/main" id="{80C99D0B-A973-A8D3-50CB-143516C335C9}"/>
              </a:ext>
            </a:extLst>
          </p:cNvPr>
          <p:cNvSpPr/>
          <p:nvPr/>
        </p:nvSpPr>
        <p:spPr>
          <a:xfrm>
            <a:off x="5045517" y="5117711"/>
            <a:ext cx="1370615" cy="1295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C7357BA1-7198-602C-40BA-B3C87E1CB9D3}"/>
              </a:ext>
            </a:extLst>
          </p:cNvPr>
          <p:cNvSpPr/>
          <p:nvPr/>
        </p:nvSpPr>
        <p:spPr>
          <a:xfrm>
            <a:off x="7874276" y="5077132"/>
            <a:ext cx="1318187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6385FD9-DCAE-F6F0-95E6-C26B79A156DD}"/>
              </a:ext>
            </a:extLst>
          </p:cNvPr>
          <p:cNvSpPr/>
          <p:nvPr/>
        </p:nvSpPr>
        <p:spPr>
          <a:xfrm>
            <a:off x="10296116" y="5091138"/>
            <a:ext cx="1324384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E886F0-AAF5-2907-FAF5-B22A74EE303B}"/>
              </a:ext>
            </a:extLst>
          </p:cNvPr>
          <p:cNvSpPr/>
          <p:nvPr/>
        </p:nvSpPr>
        <p:spPr>
          <a:xfrm>
            <a:off x="6809321" y="3431031"/>
            <a:ext cx="446806" cy="802138"/>
          </a:xfrm>
          <a:prstGeom prst="rect">
            <a:avLst/>
          </a:prstGeom>
          <a:solidFill>
            <a:schemeClr val="accent1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239DD-0AD5-A0D6-E983-2D432620FD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0E21235-DDFE-A2FA-23FE-65FD64BA5EA6}"/>
              </a:ext>
            </a:extLst>
          </p:cNvPr>
          <p:cNvGrpSpPr/>
          <p:nvPr/>
        </p:nvGrpSpPr>
        <p:grpSpPr>
          <a:xfrm>
            <a:off x="-50001" y="1285369"/>
            <a:ext cx="3245277" cy="3461698"/>
            <a:chOff x="7618419" y="2226707"/>
            <a:chExt cx="3964121" cy="410104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7ACA95B-0A8B-C8C3-3959-BCE20A62B8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18419" y="2226707"/>
              <a:ext cx="3964121" cy="3875257"/>
              <a:chOff x="355428" y="1491371"/>
              <a:chExt cx="3964121" cy="3875257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05D0D52-DF8E-9024-8F05-F691E05E3019}"/>
                  </a:ext>
                </a:extLst>
              </p:cNvPr>
              <p:cNvGrpSpPr/>
              <p:nvPr/>
            </p:nvGrpSpPr>
            <p:grpSpPr>
              <a:xfrm>
                <a:off x="355428" y="1491371"/>
                <a:ext cx="2786969" cy="3875257"/>
                <a:chOff x="3993238" y="1314984"/>
                <a:chExt cx="3247485" cy="4523277"/>
              </a:xfrm>
            </p:grpSpPr>
            <p:pic>
              <p:nvPicPr>
                <p:cNvPr id="37" name="Picture 36" descr="Diagram&#10;&#10;Description automatically generated">
                  <a:extLst>
                    <a:ext uri="{FF2B5EF4-FFF2-40B4-BE49-F238E27FC236}">
                      <a16:creationId xmlns:a16="http://schemas.microsoft.com/office/drawing/2014/main" id="{99FA38E8-7BE2-CFBD-3DAC-AB7DD9FFC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/>
                <a:srcRect t="19578" b="22612"/>
                <a:stretch/>
              </p:blipFill>
              <p:spPr>
                <a:xfrm>
                  <a:off x="3993238" y="1314984"/>
                  <a:ext cx="3247485" cy="4405878"/>
                </a:xfrm>
                <a:prstGeom prst="rect">
                  <a:avLst/>
                </a:prstGeom>
                <a:solidFill>
                  <a:srgbClr val="174397"/>
                </a:solidFill>
              </p:spPr>
            </p:pic>
            <p:sp>
              <p:nvSpPr>
                <p:cNvPr id="38" name="Isosceles Triangle 26">
                  <a:extLst>
                    <a:ext uri="{FF2B5EF4-FFF2-40B4-BE49-F238E27FC236}">
                      <a16:creationId xmlns:a16="http://schemas.microsoft.com/office/drawing/2014/main" id="{37B8C617-22E8-83BD-D3EC-40F7F406AF71}"/>
                    </a:ext>
                  </a:extLst>
                </p:cNvPr>
                <p:cNvSpPr/>
                <p:nvPr/>
              </p:nvSpPr>
              <p:spPr>
                <a:xfrm>
                  <a:off x="4768850" y="5529828"/>
                  <a:ext cx="241300" cy="308433"/>
                </a:xfrm>
                <a:prstGeom prst="triangle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Arc 38">
                  <a:extLst>
                    <a:ext uri="{FF2B5EF4-FFF2-40B4-BE49-F238E27FC236}">
                      <a16:creationId xmlns:a16="http://schemas.microsoft.com/office/drawing/2014/main" id="{A3F468BC-4940-D31A-D327-13344E75FC6F}"/>
                    </a:ext>
                  </a:extLst>
                </p:cNvPr>
                <p:cNvSpPr/>
                <p:nvPr/>
              </p:nvSpPr>
              <p:spPr>
                <a:xfrm rot="11375767">
                  <a:off x="4487373" y="5019509"/>
                  <a:ext cx="1140613" cy="555500"/>
                </a:xfrm>
                <a:prstGeom prst="arc">
                  <a:avLst>
                    <a:gd name="adj1" fmla="val 16308053"/>
                    <a:gd name="adj2" fmla="val 18706611"/>
                  </a:avLst>
                </a:prstGeom>
                <a:solidFill>
                  <a:srgbClr val="174397"/>
                </a:solidFill>
                <a:ln w="25400">
                  <a:solidFill>
                    <a:srgbClr val="35BCC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34" name="Picture 33" descr="Diagram&#10;&#10;Description automatically generated">
                <a:extLst>
                  <a:ext uri="{FF2B5EF4-FFF2-40B4-BE49-F238E27FC236}">
                    <a16:creationId xmlns:a16="http://schemas.microsoft.com/office/drawing/2014/main" id="{5642B32B-3C88-FC5B-0D98-0165540ED3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62615" t="78192" b="4983"/>
              <a:stretch/>
            </p:blipFill>
            <p:spPr>
              <a:xfrm>
                <a:off x="2942862" y="1997255"/>
                <a:ext cx="1376687" cy="1453992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1A32BE7-F5CA-A94B-2207-561A1AC674CC}"/>
                  </a:ext>
                </a:extLst>
              </p:cNvPr>
              <p:cNvSpPr/>
              <p:nvPr/>
            </p:nvSpPr>
            <p:spPr>
              <a:xfrm>
                <a:off x="3089137" y="3074503"/>
                <a:ext cx="1084139" cy="3767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ADC9664-FA9A-ECE0-7154-826705D46AFC}"/>
                </a:ext>
              </a:extLst>
            </p:cNvPr>
            <p:cNvGrpSpPr/>
            <p:nvPr/>
          </p:nvGrpSpPr>
          <p:grpSpPr>
            <a:xfrm>
              <a:off x="7658719" y="5495908"/>
              <a:ext cx="2842504" cy="831840"/>
              <a:chOff x="7658719" y="5495908"/>
              <a:chExt cx="2842504" cy="831840"/>
            </a:xfrm>
          </p:grpSpPr>
          <p:pic>
            <p:nvPicPr>
              <p:cNvPr id="31" name="Picture 30" descr="Diagram&#10;&#10;Description automatically generated">
                <a:extLst>
                  <a:ext uri="{FF2B5EF4-FFF2-40B4-BE49-F238E27FC236}">
                    <a16:creationId xmlns:a16="http://schemas.microsoft.com/office/drawing/2014/main" id="{B2505983-6AC3-F13A-F0E0-0F14359B9D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t="95209" r="17855" b="295"/>
              <a:stretch/>
            </p:blipFill>
            <p:spPr>
              <a:xfrm>
                <a:off x="7658719" y="5962623"/>
                <a:ext cx="2842504" cy="365125"/>
              </a:xfrm>
              <a:prstGeom prst="rect">
                <a:avLst/>
              </a:prstGeom>
            </p:spPr>
          </p:pic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59B8C72-FC6A-C705-698A-5CE4FD3A453A}"/>
                  </a:ext>
                </a:extLst>
              </p:cNvPr>
              <p:cNvSpPr/>
              <p:nvPr/>
            </p:nvSpPr>
            <p:spPr>
              <a:xfrm rot="454666">
                <a:off x="7759288" y="5495908"/>
                <a:ext cx="1652985" cy="460324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1E89A7B-8C4D-EE55-C3D9-CE2AB82FF619}"/>
              </a:ext>
            </a:extLst>
          </p:cNvPr>
          <p:cNvGrpSpPr/>
          <p:nvPr/>
        </p:nvGrpSpPr>
        <p:grpSpPr>
          <a:xfrm>
            <a:off x="26027" y="5028876"/>
            <a:ext cx="1951061" cy="1368984"/>
            <a:chOff x="9353191" y="5209403"/>
            <a:chExt cx="2339891" cy="1610949"/>
          </a:xfrm>
        </p:grpSpPr>
        <p:pic>
          <p:nvPicPr>
            <p:cNvPr id="41" name="Picture 2" descr="Image result for membrane advantages">
              <a:extLst>
                <a:ext uri="{FF2B5EF4-FFF2-40B4-BE49-F238E27FC236}">
                  <a16:creationId xmlns:a16="http://schemas.microsoft.com/office/drawing/2014/main" id="{3E9C82D1-0BE0-6449-3E41-E03D2CEFE0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360" t="3042" r="13883" b="7989"/>
            <a:stretch/>
          </p:blipFill>
          <p:spPr bwMode="auto">
            <a:xfrm>
              <a:off x="10422831" y="5209403"/>
              <a:ext cx="1270251" cy="1602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" descr="Image result for membrane advantages">
              <a:extLst>
                <a:ext uri="{FF2B5EF4-FFF2-40B4-BE49-F238E27FC236}">
                  <a16:creationId xmlns:a16="http://schemas.microsoft.com/office/drawing/2014/main" id="{1BCA2A34-9F6A-FBC4-D8BB-3CA0CCA304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92" t="3042" r="54352" b="7989"/>
            <a:stretch/>
          </p:blipFill>
          <p:spPr bwMode="auto">
            <a:xfrm>
              <a:off x="9353191" y="5217732"/>
              <a:ext cx="1270251" cy="1602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7FEF87-E48E-1AAF-0F32-79C5B1396781}"/>
              </a:ext>
            </a:extLst>
          </p:cNvPr>
          <p:cNvGrpSpPr/>
          <p:nvPr/>
        </p:nvGrpSpPr>
        <p:grpSpPr>
          <a:xfrm>
            <a:off x="8382120" y="956323"/>
            <a:ext cx="3467977" cy="920427"/>
            <a:chOff x="7865041" y="1068062"/>
            <a:chExt cx="3467977" cy="92042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443200E-88C1-F89C-BB57-35AB024494A0}"/>
                </a:ext>
              </a:extLst>
            </p:cNvPr>
            <p:cNvGrpSpPr/>
            <p:nvPr/>
          </p:nvGrpSpPr>
          <p:grpSpPr>
            <a:xfrm>
              <a:off x="7865041" y="1068062"/>
              <a:ext cx="2743363" cy="916355"/>
              <a:chOff x="9152730" y="390410"/>
              <a:chExt cx="2743363" cy="916355"/>
            </a:xfrm>
          </p:grpSpPr>
          <p:pic>
            <p:nvPicPr>
              <p:cNvPr id="4" name="Picture 5" descr="A person smiling for the camera&#10;&#10;Description automatically generated">
                <a:extLst>
                  <a:ext uri="{FF2B5EF4-FFF2-40B4-BE49-F238E27FC236}">
                    <a16:creationId xmlns:a16="http://schemas.microsoft.com/office/drawing/2014/main" id="{A7DAD213-CFE1-9449-05E9-F562A9CB92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2" t="47" r="541" b="11108"/>
              <a:stretch/>
            </p:blipFill>
            <p:spPr bwMode="auto">
              <a:xfrm>
                <a:off x="9152730" y="39236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Faraj Al-Badani">
                <a:extLst>
                  <a:ext uri="{FF2B5EF4-FFF2-40B4-BE49-F238E27FC236}">
                    <a16:creationId xmlns:a16="http://schemas.microsoft.com/office/drawing/2014/main" id="{1BA1113F-981D-5D40-5118-7169919CEF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67293" y="39236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Speakers // NDnano // University of Notre Dame">
                <a:extLst>
                  <a:ext uri="{FF2B5EF4-FFF2-40B4-BE49-F238E27FC236}">
                    <a16:creationId xmlns:a16="http://schemas.microsoft.com/office/drawing/2014/main" id="{E397CF7D-F0DE-B2C8-1273-EA4DE6D07D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8" b="24951"/>
              <a:stretch/>
            </p:blipFill>
            <p:spPr bwMode="auto">
              <a:xfrm>
                <a:off x="10981693" y="390410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" name="Picture 4" descr="A person wearing a suit and tie smiling at the camera&#10;&#10;Description automatically generated">
              <a:extLst>
                <a:ext uri="{FF2B5EF4-FFF2-40B4-BE49-F238E27FC236}">
                  <a16:creationId xmlns:a16="http://schemas.microsoft.com/office/drawing/2014/main" id="{A0A71264-A4AC-47ED-A6BA-C5B2646C10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9200" y="1071216"/>
              <a:ext cx="733818" cy="9172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8544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3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6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6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3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3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4" dur="3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6" grpId="0" animBg="1"/>
      <p:bldP spid="227" grpId="0" animBg="1"/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8" grpId="0" animBg="1"/>
      <p:bldP spid="239" grpId="0" animBg="1"/>
      <p:bldP spid="256" grpId="0" animBg="1"/>
      <p:bldP spid="267" grpId="0" animBg="1"/>
      <p:bldP spid="268" grpId="0" animBg="1"/>
      <p:bldP spid="26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C1E40-D19D-8EF1-CF32-BB9607DBF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215">
            <a:extLst>
              <a:ext uri="{FF2B5EF4-FFF2-40B4-BE49-F238E27FC236}">
                <a16:creationId xmlns:a16="http://schemas.microsoft.com/office/drawing/2014/main" id="{286B957D-31C5-95D4-1293-A022B0A56314}"/>
              </a:ext>
            </a:extLst>
          </p:cNvPr>
          <p:cNvGrpSpPr/>
          <p:nvPr/>
        </p:nvGrpSpPr>
        <p:grpSpPr>
          <a:xfrm>
            <a:off x="671086" y="703493"/>
            <a:ext cx="11102699" cy="4192227"/>
            <a:chOff x="351046" y="691993"/>
            <a:chExt cx="11520630" cy="4350032"/>
          </a:xfrm>
        </p:grpSpPr>
        <p:pic>
          <p:nvPicPr>
            <p:cNvPr id="2" name="Picture 1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C2A50234-A54C-AE34-917F-95A171F84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FB07F1AC-41C5-ADDD-834B-843F7C90C710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9431B010-048F-1B32-C337-EC658A9C7656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10884B27-BAE4-A935-6830-6068F6B6D9BA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01" name="Picture 100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4843C39D-E816-6983-6986-4809E61C5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9ADB7EF-F8A0-809C-0CB6-97610051F9AA}"/>
                </a:ext>
              </a:extLst>
            </p:cNvPr>
            <p:cNvSpPr txBox="1"/>
            <p:nvPr/>
          </p:nvSpPr>
          <p:spPr>
            <a:xfrm>
              <a:off x="3875623" y="4557521"/>
              <a:ext cx="1198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Membrane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E763E2F-3AC2-1166-EFCD-D0B2AE615ABA}"/>
                </a:ext>
              </a:extLst>
            </p:cNvPr>
            <p:cNvSpPr txBox="1"/>
            <p:nvPr/>
          </p:nvSpPr>
          <p:spPr>
            <a:xfrm>
              <a:off x="3940016" y="3819550"/>
              <a:ext cx="1119409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Retentate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7FFA3E2-08BF-2E79-01AB-077D808E173A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63382BB-F155-49BE-68D3-E7164443656B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0E568BF-656A-6DCC-CE27-171A9BF7EF38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623B968-5784-FC13-983B-39ADAD93B3B2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Picture 105" descr="A drawing of a machine&#10;&#10;Description automatically generated">
              <a:extLst>
                <a:ext uri="{FF2B5EF4-FFF2-40B4-BE49-F238E27FC236}">
                  <a16:creationId xmlns:a16="http://schemas.microsoft.com/office/drawing/2014/main" id="{71FD50E6-5624-3595-A09B-456A16DCE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CBF05CF-A475-F6C4-38AF-A5FB2508E229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A289AFA-0A44-ABED-A4CD-EEC170016D21}"/>
                </a:ext>
              </a:extLst>
            </p:cNvPr>
            <p:cNvSpPr txBox="1"/>
            <p:nvPr/>
          </p:nvSpPr>
          <p:spPr>
            <a:xfrm>
              <a:off x="10087001" y="2710146"/>
              <a:ext cx="1784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Scintillation Vials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7FD3F03-8746-5FC4-4E81-BAA8F94E0276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Motor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94BED18-A6C8-C1B7-6D05-66433732213F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Balance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37B62AC8-6F2D-71F5-3517-CCDAE5B779A0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C93847D-77A4-2BFC-EF5F-C04ACCC06735}"/>
                </a:ext>
              </a:extLst>
            </p:cNvPr>
            <p:cNvSpPr txBox="1"/>
            <p:nvPr/>
          </p:nvSpPr>
          <p:spPr>
            <a:xfrm>
              <a:off x="722393" y="1424391"/>
              <a:ext cx="1052202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Gauge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CF227A5-6C31-CDCA-432A-0482CEE97910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2FD7994E-F52D-B2D1-CB8C-425DC657B08B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FBD9A5EC-E785-CDAA-E80C-F2E9D760A49B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67A38F39-CB22-E8D5-6504-BEE034BEBF54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67136A25-C3A9-A726-375E-697F355E9467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B6221993-AE54-DB99-163F-C896E087175A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5461B168-76C7-4998-88BB-8738A9B60554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EEF96D0D-224E-21E3-6BD9-7BD912C2EFA0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708494A-C236-A218-1FBB-300B178E05D5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C49CF15C-442F-A564-82C7-E3BC0561D829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426D0A4D-5566-2C46-6921-038015C32D45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8ACC2E2A-D261-730C-BF28-ADBD5F0BF385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F0F0AC46-F2B4-1C4C-5BD2-0F69373BA36B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FD1FA9B3-AB7C-87B5-1CDD-1BB2A0244AC1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BCAC9A30-C614-2313-5772-3505896E707C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FF5D88AD-8BCD-7C39-FD02-61FA818FBB1F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EA3883E9-35EF-A1CA-21E0-11A087A6BF01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E43BECC2-68C9-F926-5BFC-88C892F44C5E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3050E3BD-FECD-58C9-A8E7-E1AE3F507E76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20" name="Flowchart: Connector 119">
              <a:extLst>
                <a:ext uri="{FF2B5EF4-FFF2-40B4-BE49-F238E27FC236}">
                  <a16:creationId xmlns:a16="http://schemas.microsoft.com/office/drawing/2014/main" id="{35D069FF-F9D3-7653-30E8-CEAA9885AEF6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DEDF4AF-BA85-3EDF-1696-EB9A3F7C89AD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4DBCF2C7-4B66-29EF-A3D2-4C8698D65737}"/>
                </a:ext>
              </a:extLst>
            </p:cNvPr>
            <p:cNvSpPr txBox="1"/>
            <p:nvPr/>
          </p:nvSpPr>
          <p:spPr>
            <a:xfrm>
              <a:off x="351046" y="3146685"/>
              <a:ext cx="10976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Diafiltrate Tank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630F384-6CD2-7D50-3E9E-A525019E3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756" y="3284019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4310B538-094D-7E1A-6CB9-BDD90D2497FE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0" name="Isosceles Triangle 169">
              <a:extLst>
                <a:ext uri="{FF2B5EF4-FFF2-40B4-BE49-F238E27FC236}">
                  <a16:creationId xmlns:a16="http://schemas.microsoft.com/office/drawing/2014/main" id="{00491D5C-33AD-0618-F1C5-9A6E616C88B5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6AD2B78F-B354-39B2-B03B-A703D2040C4F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171E7432-9CF3-9FF2-0E2D-358692773FED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C1A5C9AE-EA89-55F0-108E-E0BC5BBD3969}"/>
                </a:ext>
              </a:extLst>
            </p:cNvPr>
            <p:cNvSpPr txBox="1"/>
            <p:nvPr/>
          </p:nvSpPr>
          <p:spPr>
            <a:xfrm>
              <a:off x="3406479" y="691993"/>
              <a:ext cx="26140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Relief Valve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E6463B8-9AF8-7250-B80D-E8418BAA1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CA3C9F9-E502-EDB7-FB8C-CCD46797D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4283212"/>
              <a:ext cx="962540" cy="309349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526313AF-0FD6-ADA4-4404-139597EFB75E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8A30ECD6-8B51-6DD5-60C9-B9AA19E36CF9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60EB6BC9-C14F-4191-C275-6BE14423FA8A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499E5FE-8EB3-F877-31AA-04748B796836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EF2B8942-915A-C957-0FB1-127B7F079145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F1FF70C-88C9-43B7-D951-A3FF3380F409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1CD84BAD-B9DD-11F4-4D05-CF82F90539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4F0B42B-09AB-05CF-5FFD-4ACD8BE64F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49136878-C84F-5891-49F1-632CCE4FAC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1B2B363B-56F1-2F57-7F93-536287D47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F1AEC248-83C7-8B8D-61F3-821E947FDB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DAE7393B-C093-EAE9-69A4-9398D69A3A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7977ED9-B245-0F38-E4F5-0E4404F3C7CD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8AAFBEA-E064-15C7-6BC1-FBEF6B82D868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60B0051-7F94-975D-E738-F379A77689EE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29F8759-A93B-7198-A567-564282117CBA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7DC82C0F-EC2F-AFE0-9582-7EAF848646DA}"/>
                </a:ext>
              </a:extLst>
            </p:cNvPr>
            <p:cNvSpPr txBox="1"/>
            <p:nvPr/>
          </p:nvSpPr>
          <p:spPr>
            <a:xfrm>
              <a:off x="4946188" y="1697015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Stirred Cell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BA50067E-EA0A-3164-9215-94B8AB048BC9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0" lang="en-US" sz="5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5ADC348-53FD-321B-3A5F-37D11745B84A}"/>
                </a:ext>
              </a:extLst>
            </p:cNvPr>
            <p:cNvSpPr txBox="1"/>
            <p:nvPr/>
          </p:nvSpPr>
          <p:spPr>
            <a:xfrm>
              <a:off x="6366476" y="3332442"/>
              <a:ext cx="12536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Outlet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F3A27DEE-DFDA-6663-67BF-5C031522EA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D5724325-AEBC-85D6-F7D1-B90B2A5DC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Arrow: Down 217">
            <a:extLst>
              <a:ext uri="{FF2B5EF4-FFF2-40B4-BE49-F238E27FC236}">
                <a16:creationId xmlns:a16="http://schemas.microsoft.com/office/drawing/2014/main" id="{958D1C08-D8AB-CB7D-2A5B-799E3B39512C}"/>
              </a:ext>
            </a:extLst>
          </p:cNvPr>
          <p:cNvSpPr/>
          <p:nvPr/>
        </p:nvSpPr>
        <p:spPr>
          <a:xfrm>
            <a:off x="2594105" y="1498270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9" name="Arrow: Down 218">
            <a:extLst>
              <a:ext uri="{FF2B5EF4-FFF2-40B4-BE49-F238E27FC236}">
                <a16:creationId xmlns:a16="http://schemas.microsoft.com/office/drawing/2014/main" id="{094FFF5F-7787-9DC5-E060-D84279692497}"/>
              </a:ext>
            </a:extLst>
          </p:cNvPr>
          <p:cNvSpPr/>
          <p:nvPr/>
        </p:nvSpPr>
        <p:spPr>
          <a:xfrm>
            <a:off x="2652075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0" name="Arrow: Down 219">
            <a:extLst>
              <a:ext uri="{FF2B5EF4-FFF2-40B4-BE49-F238E27FC236}">
                <a16:creationId xmlns:a16="http://schemas.microsoft.com/office/drawing/2014/main" id="{EBD71746-4665-7720-E72F-8461C35FCDFD}"/>
              </a:ext>
            </a:extLst>
          </p:cNvPr>
          <p:cNvSpPr/>
          <p:nvPr/>
        </p:nvSpPr>
        <p:spPr>
          <a:xfrm>
            <a:off x="2960486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1" name="Arrow: Down 220">
            <a:extLst>
              <a:ext uri="{FF2B5EF4-FFF2-40B4-BE49-F238E27FC236}">
                <a16:creationId xmlns:a16="http://schemas.microsoft.com/office/drawing/2014/main" id="{41272857-C599-62B0-925D-9EF5269E05BD}"/>
              </a:ext>
            </a:extLst>
          </p:cNvPr>
          <p:cNvSpPr/>
          <p:nvPr/>
        </p:nvSpPr>
        <p:spPr>
          <a:xfrm>
            <a:off x="3268897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44D11F08-D5CB-F372-0B76-BA8CD107E351}"/>
              </a:ext>
            </a:extLst>
          </p:cNvPr>
          <p:cNvSpPr/>
          <p:nvPr/>
        </p:nvSpPr>
        <p:spPr>
          <a:xfrm rot="10800000">
            <a:off x="3531532" y="2466685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3" name="Arrow: Down 222">
            <a:extLst>
              <a:ext uri="{FF2B5EF4-FFF2-40B4-BE49-F238E27FC236}">
                <a16:creationId xmlns:a16="http://schemas.microsoft.com/office/drawing/2014/main" id="{C9C3D980-085F-B677-E6AD-FC9009610F07}"/>
              </a:ext>
            </a:extLst>
          </p:cNvPr>
          <p:cNvSpPr/>
          <p:nvPr/>
        </p:nvSpPr>
        <p:spPr>
          <a:xfrm rot="10800000">
            <a:off x="3537097" y="1484817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" name="Teardrop 225">
            <a:extLst>
              <a:ext uri="{FF2B5EF4-FFF2-40B4-BE49-F238E27FC236}">
                <a16:creationId xmlns:a16="http://schemas.microsoft.com/office/drawing/2014/main" id="{DB686148-26A4-7A77-CB5A-FA8A383B876B}"/>
              </a:ext>
            </a:extLst>
          </p:cNvPr>
          <p:cNvSpPr/>
          <p:nvPr/>
        </p:nvSpPr>
        <p:spPr>
          <a:xfrm rot="18976205">
            <a:off x="4860462" y="2570382"/>
            <a:ext cx="138239" cy="144878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7" name="Teardrop 226">
            <a:extLst>
              <a:ext uri="{FF2B5EF4-FFF2-40B4-BE49-F238E27FC236}">
                <a16:creationId xmlns:a16="http://schemas.microsoft.com/office/drawing/2014/main" id="{D7DFAAB3-603F-8D71-522B-83678AD0FDA4}"/>
              </a:ext>
            </a:extLst>
          </p:cNvPr>
          <p:cNvSpPr/>
          <p:nvPr/>
        </p:nvSpPr>
        <p:spPr>
          <a:xfrm rot="18976205">
            <a:off x="6462335" y="4181381"/>
            <a:ext cx="138239" cy="144878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8" name="Arrow: Down 227">
            <a:extLst>
              <a:ext uri="{FF2B5EF4-FFF2-40B4-BE49-F238E27FC236}">
                <a16:creationId xmlns:a16="http://schemas.microsoft.com/office/drawing/2014/main" id="{8F8A2055-33BA-5467-DC16-853283DA4B95}"/>
              </a:ext>
            </a:extLst>
          </p:cNvPr>
          <p:cNvSpPr/>
          <p:nvPr/>
        </p:nvSpPr>
        <p:spPr>
          <a:xfrm>
            <a:off x="4338855" y="178108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0" name="Arrow: Down 229">
            <a:extLst>
              <a:ext uri="{FF2B5EF4-FFF2-40B4-BE49-F238E27FC236}">
                <a16:creationId xmlns:a16="http://schemas.microsoft.com/office/drawing/2014/main" id="{D92AAA46-6D26-D51C-2397-6401212083E0}"/>
              </a:ext>
            </a:extLst>
          </p:cNvPr>
          <p:cNvSpPr/>
          <p:nvPr/>
        </p:nvSpPr>
        <p:spPr>
          <a:xfrm rot="16200000">
            <a:off x="2150038" y="1002987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C07685A7-B169-99B5-F6C7-75A93A1BCC26}"/>
              </a:ext>
            </a:extLst>
          </p:cNvPr>
          <p:cNvSpPr/>
          <p:nvPr/>
        </p:nvSpPr>
        <p:spPr>
          <a:xfrm rot="16200000">
            <a:off x="3962414" y="1010956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2" name="Arrow: Down 231">
            <a:extLst>
              <a:ext uri="{FF2B5EF4-FFF2-40B4-BE49-F238E27FC236}">
                <a16:creationId xmlns:a16="http://schemas.microsoft.com/office/drawing/2014/main" id="{EC10D7EB-885C-0929-DA8D-73269754D2A2}"/>
              </a:ext>
            </a:extLst>
          </p:cNvPr>
          <p:cNvSpPr/>
          <p:nvPr/>
        </p:nvSpPr>
        <p:spPr>
          <a:xfrm rot="16200000">
            <a:off x="4685371" y="2648900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3" name="Arrow: Down 232">
            <a:extLst>
              <a:ext uri="{FF2B5EF4-FFF2-40B4-BE49-F238E27FC236}">
                <a16:creationId xmlns:a16="http://schemas.microsoft.com/office/drawing/2014/main" id="{B146A175-257F-F45D-6984-43A0DECBCD59}"/>
              </a:ext>
            </a:extLst>
          </p:cNvPr>
          <p:cNvSpPr/>
          <p:nvPr/>
        </p:nvSpPr>
        <p:spPr>
          <a:xfrm rot="10800000">
            <a:off x="6291569" y="325093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4" name="Arrow: Down 233">
            <a:extLst>
              <a:ext uri="{FF2B5EF4-FFF2-40B4-BE49-F238E27FC236}">
                <a16:creationId xmlns:a16="http://schemas.microsoft.com/office/drawing/2014/main" id="{8FD4ECCA-E0C2-5FA3-EA35-2D7A3CEFAA30}"/>
              </a:ext>
            </a:extLst>
          </p:cNvPr>
          <p:cNvSpPr/>
          <p:nvPr/>
        </p:nvSpPr>
        <p:spPr>
          <a:xfrm rot="10800000">
            <a:off x="6299135" y="250579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5" name="Arrow: Down 234">
            <a:extLst>
              <a:ext uri="{FF2B5EF4-FFF2-40B4-BE49-F238E27FC236}">
                <a16:creationId xmlns:a16="http://schemas.microsoft.com/office/drawing/2014/main" id="{272C4597-4148-8048-55AF-F1FA47DE927F}"/>
              </a:ext>
            </a:extLst>
          </p:cNvPr>
          <p:cNvSpPr/>
          <p:nvPr/>
        </p:nvSpPr>
        <p:spPr>
          <a:xfrm rot="16200000">
            <a:off x="6909377" y="1962234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6" name="Arrow: Down 235">
            <a:extLst>
              <a:ext uri="{FF2B5EF4-FFF2-40B4-BE49-F238E27FC236}">
                <a16:creationId xmlns:a16="http://schemas.microsoft.com/office/drawing/2014/main" id="{CB0282C1-BB44-4CBE-9416-61D1A8C5D34D}"/>
              </a:ext>
            </a:extLst>
          </p:cNvPr>
          <p:cNvSpPr/>
          <p:nvPr/>
        </p:nvSpPr>
        <p:spPr>
          <a:xfrm rot="16200000">
            <a:off x="8006840" y="1962234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8" name="Arrow: Up 237">
            <a:extLst>
              <a:ext uri="{FF2B5EF4-FFF2-40B4-BE49-F238E27FC236}">
                <a16:creationId xmlns:a16="http://schemas.microsoft.com/office/drawing/2014/main" id="{456C0A5C-1FFD-AB5C-B44F-A964D48E3A18}"/>
              </a:ext>
            </a:extLst>
          </p:cNvPr>
          <p:cNvSpPr/>
          <p:nvPr/>
        </p:nvSpPr>
        <p:spPr>
          <a:xfrm>
            <a:off x="8158878" y="2536948"/>
            <a:ext cx="259248" cy="437758"/>
          </a:xfrm>
          <a:prstGeom prst="up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9" name="Arrow: Curved Left 238">
            <a:extLst>
              <a:ext uri="{FF2B5EF4-FFF2-40B4-BE49-F238E27FC236}">
                <a16:creationId xmlns:a16="http://schemas.microsoft.com/office/drawing/2014/main" id="{7737556D-A0D7-2265-9816-584C06CE4B77}"/>
              </a:ext>
            </a:extLst>
          </p:cNvPr>
          <p:cNvSpPr/>
          <p:nvPr/>
        </p:nvSpPr>
        <p:spPr>
          <a:xfrm>
            <a:off x="9152730" y="3376530"/>
            <a:ext cx="274574" cy="193511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4D306FB-9A71-C37D-E53C-D5E78FF33E0E}"/>
              </a:ext>
            </a:extLst>
          </p:cNvPr>
          <p:cNvSpPr/>
          <p:nvPr/>
        </p:nvSpPr>
        <p:spPr>
          <a:xfrm>
            <a:off x="9596674" y="5018656"/>
            <a:ext cx="1322589" cy="135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935C4B-43E1-6A03-1FAF-E70AFC3575EB}"/>
              </a:ext>
            </a:extLst>
          </p:cNvPr>
          <p:cNvSpPr/>
          <p:nvPr/>
        </p:nvSpPr>
        <p:spPr>
          <a:xfrm>
            <a:off x="5485148" y="3233435"/>
            <a:ext cx="526379" cy="847334"/>
          </a:xfrm>
          <a:prstGeom prst="rect">
            <a:avLst/>
          </a:prstGeom>
          <a:solidFill>
            <a:schemeClr val="accent1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4E4BF-1DBA-CF65-C05C-5A654C6DD1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7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6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6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3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6" grpId="0" animBg="1"/>
      <p:bldP spid="227" grpId="0" animBg="1"/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8" grpId="0" animBg="1"/>
      <p:bldP spid="239" grpId="0" animBg="1"/>
      <p:bldP spid="26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77;p38">
            <a:extLst>
              <a:ext uri="{FF2B5EF4-FFF2-40B4-BE49-F238E27FC236}">
                <a16:creationId xmlns:a16="http://schemas.microsoft.com/office/drawing/2014/main" id="{5E226B95-5A05-199A-30CF-F165650EC24F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81885" y="882083"/>
            <a:ext cx="4282454" cy="1979892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33"/>
          <p:cNvSpPr txBox="1">
            <a:spLocks noGrp="1"/>
          </p:cNvSpPr>
          <p:nvPr>
            <p:ph type="title"/>
          </p:nvPr>
        </p:nvSpPr>
        <p:spPr>
          <a:xfrm>
            <a:off x="0" y="-5911"/>
            <a:ext cx="1198059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it-IT" dirty="0"/>
              <a:t>Dynamic Model w/ Lumped Parameter Infers Membrane Properties</a:t>
            </a:r>
            <a:endParaRPr dirty="0"/>
          </a:p>
        </p:txBody>
      </p:sp>
      <p:sp>
        <p:nvSpPr>
          <p:cNvPr id="900" name="Google Shape;900;p33"/>
          <p:cNvSpPr txBox="1"/>
          <p:nvPr/>
        </p:nvSpPr>
        <p:spPr>
          <a:xfrm>
            <a:off x="192600" y="1054895"/>
            <a:ext cx="2393900" cy="20185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988"/>
            </a:stretch>
          </a:blipFill>
          <a:ln w="9525" cap="flat" cmpd="sng">
            <a:solidFill>
              <a:srgbClr val="B08E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901" name="Google Shape;901;p33"/>
          <p:cNvSpPr txBox="1">
            <a:spLocks noChangeAspect="1"/>
          </p:cNvSpPr>
          <p:nvPr/>
        </p:nvSpPr>
        <p:spPr>
          <a:xfrm>
            <a:off x="5601910" y="1387651"/>
            <a:ext cx="2602016" cy="146304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437"/>
            </a:stretch>
          </a:blipFill>
          <a:ln w="9525" cap="flat" cmpd="sng">
            <a:solidFill>
              <a:srgbClr val="CCB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480DF0-6098-45B3-82C4-6F6C00A79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00" y="5166864"/>
            <a:ext cx="2560320" cy="111694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42EFE23-4276-4177-8AAE-4AB26AFC2DC1}"/>
              </a:ext>
            </a:extLst>
          </p:cNvPr>
          <p:cNvGrpSpPr/>
          <p:nvPr/>
        </p:nvGrpSpPr>
        <p:grpSpPr>
          <a:xfrm>
            <a:off x="165637" y="3525317"/>
            <a:ext cx="2498811" cy="1381050"/>
            <a:chOff x="3962644" y="5098096"/>
            <a:chExt cx="2876307" cy="1589687"/>
          </a:xfrm>
        </p:grpSpPr>
        <p:pic>
          <p:nvPicPr>
            <p:cNvPr id="13" name="Picture 12" descr="Text, letter&#10;&#10;Description automatically generated">
              <a:extLst>
                <a:ext uri="{FF2B5EF4-FFF2-40B4-BE49-F238E27FC236}">
                  <a16:creationId xmlns:a16="http://schemas.microsoft.com/office/drawing/2014/main" id="{8A6C259E-C0DB-4752-9650-E11B1312C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59472" b="61737"/>
            <a:stretch/>
          </p:blipFill>
          <p:spPr>
            <a:xfrm>
              <a:off x="4317967" y="5726156"/>
              <a:ext cx="1588697" cy="506397"/>
            </a:xfrm>
            <a:prstGeom prst="rect">
              <a:avLst/>
            </a:prstGeom>
          </p:spPr>
        </p:pic>
        <p:pic>
          <p:nvPicPr>
            <p:cNvPr id="14" name="Picture 13" descr="Text, letter&#10;&#10;Description automatically generated">
              <a:extLst>
                <a:ext uri="{FF2B5EF4-FFF2-40B4-BE49-F238E27FC236}">
                  <a16:creationId xmlns:a16="http://schemas.microsoft.com/office/drawing/2014/main" id="{383E6953-E5AD-41E6-89BA-C5F8D72030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61289" r="44624"/>
            <a:stretch/>
          </p:blipFill>
          <p:spPr>
            <a:xfrm>
              <a:off x="4085166" y="6175440"/>
              <a:ext cx="2170776" cy="5123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8D0412-4ADD-4F0B-A069-5E25FEBCA680}"/>
                </a:ext>
              </a:extLst>
            </p:cNvPr>
            <p:cNvSpPr txBox="1"/>
            <p:nvPr/>
          </p:nvSpPr>
          <p:spPr>
            <a:xfrm>
              <a:off x="3962644" y="5098096"/>
              <a:ext cx="2876307" cy="637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Concentration </a:t>
              </a:r>
            </a:p>
            <a:p>
              <a:r>
                <a:rPr lang="en-US" sz="1500" dirty="0"/>
                <a:t>polarization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D96A686-1159-4D91-3E5F-CAFD41DCB101}"/>
              </a:ext>
            </a:extLst>
          </p:cNvPr>
          <p:cNvGrpSpPr/>
          <p:nvPr/>
        </p:nvGrpSpPr>
        <p:grpSpPr>
          <a:xfrm>
            <a:off x="2586500" y="882082"/>
            <a:ext cx="3418108" cy="1812734"/>
            <a:chOff x="2634125" y="841740"/>
            <a:chExt cx="3418108" cy="18127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2919CD-8554-494E-B1CF-85349C3A9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34125" y="841740"/>
              <a:ext cx="3418108" cy="181273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7F1466-1885-4756-A74B-49F6C9854854}"/>
                </a:ext>
              </a:extLst>
            </p:cNvPr>
            <p:cNvSpPr/>
            <p:nvPr/>
          </p:nvSpPr>
          <p:spPr>
            <a:xfrm>
              <a:off x="3911258" y="1287357"/>
              <a:ext cx="273772" cy="27882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9A1AC2-C7C0-4F13-86E4-A94F3B51D403}"/>
                </a:ext>
              </a:extLst>
            </p:cNvPr>
            <p:cNvSpPr/>
            <p:nvPr/>
          </p:nvSpPr>
          <p:spPr>
            <a:xfrm>
              <a:off x="4784798" y="1287357"/>
              <a:ext cx="183846" cy="2628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A601EB4-5513-4648-8E8E-75B4E89B54E0}"/>
                </a:ext>
              </a:extLst>
            </p:cNvPr>
            <p:cNvSpPr/>
            <p:nvPr/>
          </p:nvSpPr>
          <p:spPr>
            <a:xfrm>
              <a:off x="4048183" y="2326033"/>
              <a:ext cx="218631" cy="2649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F8D1EB-1348-B466-876B-B5F2ABD41B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0BCB5EA-703A-08B8-2456-A1B9301F8620}"/>
              </a:ext>
            </a:extLst>
          </p:cNvPr>
          <p:cNvGrpSpPr/>
          <p:nvPr/>
        </p:nvGrpSpPr>
        <p:grpSpPr>
          <a:xfrm>
            <a:off x="2665949" y="3105123"/>
            <a:ext cx="9467909" cy="3170195"/>
            <a:chOff x="2665949" y="3293381"/>
            <a:chExt cx="9467909" cy="317019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8D9341F-1861-2DC5-48B0-37622B72F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5949" y="3293381"/>
              <a:ext cx="9467909" cy="317019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1151B69-1CAF-C939-F424-0641169DF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" t="1" r="10698" b="-1"/>
            <a:stretch/>
          </p:blipFill>
          <p:spPr>
            <a:xfrm>
              <a:off x="5489972" y="5829773"/>
              <a:ext cx="126635" cy="16383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5219D7D-3CB5-35AC-BC85-36C8596B5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" t="1" r="10698" b="-1"/>
            <a:stretch/>
          </p:blipFill>
          <p:spPr>
            <a:xfrm>
              <a:off x="6880622" y="5643419"/>
              <a:ext cx="126635" cy="16383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9FC749-CAA4-506F-B750-73BEB7784166}"/>
                  </a:ext>
                </a:extLst>
              </p:cNvPr>
              <p:cNvSpPr txBox="1"/>
              <p:nvPr/>
            </p:nvSpPr>
            <p:spPr>
              <a:xfrm>
                <a:off x="3101982" y="6384548"/>
                <a:ext cx="6849760" cy="603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Parameter Estimation</a:t>
                </a:r>
                <a:r>
                  <a:rPr lang="en-US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</m:fName>
                      <m:e>
                        <m:func>
                          <m:func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</m:fName>
                      <m:e>
                        <m:func>
                          <m:func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b="0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</m:e>
                    </m:func>
                  </m:oMath>
                </a14:m>
                <a:endParaRPr lang="en-US" dirty="0">
                  <a:solidFill>
                    <a:srgbClr val="FF9900"/>
                  </a:solidFill>
                  <a:latin typeface="Arial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9FC749-CAA4-506F-B750-73BEB7784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982" y="6384548"/>
                <a:ext cx="6849760" cy="603691"/>
              </a:xfrm>
              <a:prstGeom prst="rect">
                <a:avLst/>
              </a:prstGeom>
              <a:blipFill>
                <a:blip r:embed="rId11"/>
                <a:stretch>
                  <a:fillRect l="-370" t="-51020" b="-36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32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it-IT" dirty="0"/>
              <a:t>Lumped Parameter Model Infers Membrane Properties</a:t>
            </a:r>
            <a:endParaRPr dirty="0"/>
          </a:p>
        </p:txBody>
      </p:sp>
      <p:sp>
        <p:nvSpPr>
          <p:cNvPr id="895" name="Google Shape;895;p3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896" name="Google Shape;896;p33"/>
          <p:cNvSpPr txBox="1"/>
          <p:nvPr/>
        </p:nvSpPr>
        <p:spPr>
          <a:xfrm>
            <a:off x="7878282" y="903472"/>
            <a:ext cx="4279646" cy="60557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91" t="-20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901" name="Google Shape;901;p33"/>
          <p:cNvSpPr txBox="1"/>
          <p:nvPr/>
        </p:nvSpPr>
        <p:spPr>
          <a:xfrm>
            <a:off x="240225" y="3647398"/>
            <a:ext cx="2393900" cy="139855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37"/>
            </a:stretch>
          </a:blipFill>
          <a:ln w="9525" cap="flat" cmpd="sng">
            <a:solidFill>
              <a:srgbClr val="CCB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480DF0-6098-45B3-82C4-6F6C00A79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25" y="5099845"/>
            <a:ext cx="3205838" cy="1398553"/>
          </a:xfrm>
          <a:prstGeom prst="rect">
            <a:avLst/>
          </a:prstGeom>
        </p:spPr>
      </p:pic>
      <p:pic>
        <p:nvPicPr>
          <p:cNvPr id="12" name="Picture 11" descr="Diagram, engineering drawing&#10;&#10;Description automatically generated">
            <a:extLst>
              <a:ext uri="{FF2B5EF4-FFF2-40B4-BE49-F238E27FC236}">
                <a16:creationId xmlns:a16="http://schemas.microsoft.com/office/drawing/2014/main" id="{3971220B-51D7-4C71-A5DD-C095C250E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3796" y="766603"/>
            <a:ext cx="4347188" cy="23775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2919CD-8554-494E-B1CF-85349C3A9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4544" y="3222935"/>
            <a:ext cx="3418108" cy="181273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42EFE23-4276-4177-8AAE-4AB26AFC2DC1}"/>
              </a:ext>
            </a:extLst>
          </p:cNvPr>
          <p:cNvGrpSpPr/>
          <p:nvPr/>
        </p:nvGrpSpPr>
        <p:grpSpPr>
          <a:xfrm>
            <a:off x="3924544" y="5035669"/>
            <a:ext cx="3589588" cy="1573420"/>
            <a:chOff x="3962644" y="5098096"/>
            <a:chExt cx="2876307" cy="1260768"/>
          </a:xfrm>
        </p:grpSpPr>
        <p:pic>
          <p:nvPicPr>
            <p:cNvPr id="13" name="Picture 12" descr="Text, letter&#10;&#10;Description automatically generated">
              <a:extLst>
                <a:ext uri="{FF2B5EF4-FFF2-40B4-BE49-F238E27FC236}">
                  <a16:creationId xmlns:a16="http://schemas.microsoft.com/office/drawing/2014/main" id="{8A6C259E-C0DB-4752-9650-E11B1312C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59472" b="61737"/>
            <a:stretch/>
          </p:blipFill>
          <p:spPr>
            <a:xfrm>
              <a:off x="4548209" y="5397237"/>
              <a:ext cx="1588697" cy="506396"/>
            </a:xfrm>
            <a:prstGeom prst="rect">
              <a:avLst/>
            </a:prstGeom>
          </p:spPr>
        </p:pic>
        <p:pic>
          <p:nvPicPr>
            <p:cNvPr id="14" name="Picture 13" descr="Text, letter&#10;&#10;Description automatically generated">
              <a:extLst>
                <a:ext uri="{FF2B5EF4-FFF2-40B4-BE49-F238E27FC236}">
                  <a16:creationId xmlns:a16="http://schemas.microsoft.com/office/drawing/2014/main" id="{383E6953-E5AD-41E6-89BA-C5F8D72030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61289" r="44624"/>
            <a:stretch/>
          </p:blipFill>
          <p:spPr>
            <a:xfrm>
              <a:off x="4315409" y="5846522"/>
              <a:ext cx="2170776" cy="51234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8D0412-4ADD-4F0B-A069-5E25FEBCA680}"/>
                </a:ext>
              </a:extLst>
            </p:cNvPr>
            <p:cNvSpPr txBox="1"/>
            <p:nvPr/>
          </p:nvSpPr>
          <p:spPr>
            <a:xfrm>
              <a:off x="3962644" y="5098096"/>
              <a:ext cx="2876307" cy="258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Concentration polarization</a:t>
              </a:r>
            </a:p>
          </p:txBody>
        </p:sp>
      </p:grpSp>
      <p:sp>
        <p:nvSpPr>
          <p:cNvPr id="15" name="Google Shape;816;p27">
            <a:extLst>
              <a:ext uri="{FF2B5EF4-FFF2-40B4-BE49-F238E27FC236}">
                <a16:creationId xmlns:a16="http://schemas.microsoft.com/office/drawing/2014/main" id="{DBBCA254-3CC3-458F-9F44-25DDB50A837C}"/>
              </a:ext>
            </a:extLst>
          </p:cNvPr>
          <p:cNvSpPr txBox="1"/>
          <p:nvPr/>
        </p:nvSpPr>
        <p:spPr>
          <a:xfrm>
            <a:off x="1426730" y="6492875"/>
            <a:ext cx="98000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200" dirty="0">
                <a:solidFill>
                  <a:srgbClr val="7F7F7F"/>
                </a:solidFill>
              </a:rPr>
              <a:t>Fig.] Ouimet, J. A. et. al., (2022). Journal of Membrane Science, 641, 119743. </a:t>
            </a:r>
            <a:endParaRPr sz="12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7F1466-1885-4756-A74B-49F6C9854854}"/>
              </a:ext>
            </a:extLst>
          </p:cNvPr>
          <p:cNvSpPr/>
          <p:nvPr/>
        </p:nvSpPr>
        <p:spPr>
          <a:xfrm>
            <a:off x="5201677" y="3668552"/>
            <a:ext cx="273772" cy="278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9A1AC2-C7C0-4F13-86E4-A94F3B51D403}"/>
              </a:ext>
            </a:extLst>
          </p:cNvPr>
          <p:cNvSpPr/>
          <p:nvPr/>
        </p:nvSpPr>
        <p:spPr>
          <a:xfrm>
            <a:off x="6075217" y="3668552"/>
            <a:ext cx="183846" cy="262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601EB4-5513-4648-8E8E-75B4E89B54E0}"/>
              </a:ext>
            </a:extLst>
          </p:cNvPr>
          <p:cNvSpPr/>
          <p:nvPr/>
        </p:nvSpPr>
        <p:spPr>
          <a:xfrm>
            <a:off x="5338602" y="4707228"/>
            <a:ext cx="218631" cy="2649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9" name="TextBox 918">
                <a:extLst>
                  <a:ext uri="{FF2B5EF4-FFF2-40B4-BE49-F238E27FC236}">
                    <a16:creationId xmlns:a16="http://schemas.microsoft.com/office/drawing/2014/main" id="{16F4AAA2-FE6A-9D3D-9065-F28AAAB5F901}"/>
                  </a:ext>
                </a:extLst>
              </p:cNvPr>
              <p:cNvSpPr txBox="1"/>
              <p:nvPr/>
            </p:nvSpPr>
            <p:spPr>
              <a:xfrm>
                <a:off x="181028" y="914625"/>
                <a:ext cx="4189989" cy="2771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1" dirty="0"/>
                  <a:t>Forward Model</a:t>
                </a:r>
                <a:endParaRPr lang="en-US" sz="18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1800" dirty="0"/>
                </a:b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𝜖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 </a:t>
                </a:r>
                <a:endParaRPr lang="en-US" sz="1800" i="1" dirty="0"/>
              </a:p>
              <a:p>
                <a:pPr/>
                <a:r>
                  <a:rPr lang="en-US" sz="1800" dirty="0"/>
                  <a:t>where,</a:t>
                </a:r>
                <a:br>
                  <a:rPr lang="en-US" sz="1800" i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𝜖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18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19" name="TextBox 918">
                <a:extLst>
                  <a:ext uri="{FF2B5EF4-FFF2-40B4-BE49-F238E27FC236}">
                    <a16:creationId xmlns:a16="http://schemas.microsoft.com/office/drawing/2014/main" id="{16F4AAA2-FE6A-9D3D-9065-F28AAAB5F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28" y="914625"/>
                <a:ext cx="4189989" cy="2771528"/>
              </a:xfrm>
              <a:prstGeom prst="rect">
                <a:avLst/>
              </a:prstGeom>
              <a:blipFill>
                <a:blip r:embed="rId9"/>
                <a:stretch>
                  <a:fillRect l="-1208" t="-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7"/>
          <p:cNvSpPr txBox="1"/>
          <p:nvPr/>
        </p:nvSpPr>
        <p:spPr>
          <a:xfrm>
            <a:off x="1426730" y="6492875"/>
            <a:ext cx="109908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27"/>
          <p:cNvSpPr txBox="1">
            <a:spLocks noGrp="1"/>
          </p:cNvSpPr>
          <p:nvPr>
            <p:ph type="title"/>
          </p:nvPr>
        </p:nvSpPr>
        <p:spPr>
          <a:xfrm>
            <a:off x="0" y="-1862"/>
            <a:ext cx="1185018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altLang="zh-CN" dirty="0"/>
              <a:t>DATA: Diafiltration Apparatus for high-Throughput Analysis</a:t>
            </a:r>
            <a:endParaRPr lang="en-US" dirty="0"/>
          </a:p>
        </p:txBody>
      </p:sp>
      <p:sp>
        <p:nvSpPr>
          <p:cNvPr id="816" name="Google Shape;816;p27"/>
          <p:cNvSpPr txBox="1"/>
          <p:nvPr/>
        </p:nvSpPr>
        <p:spPr>
          <a:xfrm>
            <a:off x="1426730" y="6465960"/>
            <a:ext cx="98000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[Fig.] Ouimet, J. A. et. al., (2022). Journal of Membrane Science. </a:t>
            </a:r>
            <a:endParaRPr sz="12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6BE4A48E-F21A-4452-AF98-D377D7AB0F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44"/>
          <a:stretch/>
        </p:blipFill>
        <p:spPr>
          <a:xfrm>
            <a:off x="4644324" y="1016923"/>
            <a:ext cx="6231817" cy="470720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637891D-3805-4D67-9311-77E8B0E434E1}"/>
              </a:ext>
            </a:extLst>
          </p:cNvPr>
          <p:cNvGrpSpPr>
            <a:grpSpLocks noChangeAspect="1"/>
          </p:cNvGrpSpPr>
          <p:nvPr/>
        </p:nvGrpSpPr>
        <p:grpSpPr>
          <a:xfrm>
            <a:off x="3795209" y="901473"/>
            <a:ext cx="1340762" cy="2151675"/>
            <a:chOff x="7061891" y="2050696"/>
            <a:chExt cx="2337021" cy="3750484"/>
          </a:xfrm>
        </p:grpSpPr>
        <p:pic>
          <p:nvPicPr>
            <p:cNvPr id="17" name="Picture 4" descr="A person wearing a suit and tie smiling at the camera&#10;&#10;Description automatically generated">
              <a:extLst>
                <a:ext uri="{FF2B5EF4-FFF2-40B4-BE49-F238E27FC236}">
                  <a16:creationId xmlns:a16="http://schemas.microsoft.com/office/drawing/2014/main" id="{C8DE276D-22D0-408F-807D-B44B1591A7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2159" y="2050696"/>
              <a:ext cx="2231388" cy="27892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7D860DE-6C94-4EA7-AF02-8C1EF4421D8F}"/>
                </a:ext>
              </a:extLst>
            </p:cNvPr>
            <p:cNvSpPr txBox="1"/>
            <p:nvPr/>
          </p:nvSpPr>
          <p:spPr>
            <a:xfrm>
              <a:off x="7061891" y="4781886"/>
              <a:ext cx="2337021" cy="10192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William Phillip</a:t>
              </a:r>
              <a:endParaRPr kumimoji="0" lang="en-US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1904F58-D09E-465E-82BF-CC44FDF8B787}"/>
              </a:ext>
            </a:extLst>
          </p:cNvPr>
          <p:cNvGrpSpPr>
            <a:grpSpLocks noChangeAspect="1"/>
          </p:cNvGrpSpPr>
          <p:nvPr/>
        </p:nvGrpSpPr>
        <p:grpSpPr>
          <a:xfrm>
            <a:off x="10208044" y="901473"/>
            <a:ext cx="1336194" cy="2011680"/>
            <a:chOff x="9547071" y="2079768"/>
            <a:chExt cx="2095331" cy="3154578"/>
          </a:xfrm>
        </p:grpSpPr>
        <p:pic>
          <p:nvPicPr>
            <p:cNvPr id="20" name="Picture 5" descr="A person smiling for the camera&#10;&#10;Description automatically generated">
              <a:extLst>
                <a:ext uri="{FF2B5EF4-FFF2-40B4-BE49-F238E27FC236}">
                  <a16:creationId xmlns:a16="http://schemas.microsoft.com/office/drawing/2014/main" id="{96C502F8-E2E0-44AC-A830-678A232B9C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06" r="5905"/>
            <a:stretch/>
          </p:blipFill>
          <p:spPr bwMode="auto">
            <a:xfrm>
              <a:off x="9634940" y="2079768"/>
              <a:ext cx="2007462" cy="2509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84BCF6F-7193-4BC6-812A-BC1ED4206AA2}"/>
                </a:ext>
              </a:extLst>
            </p:cNvPr>
            <p:cNvSpPr txBox="1"/>
            <p:nvPr/>
          </p:nvSpPr>
          <p:spPr>
            <a:xfrm>
              <a:off x="9547071" y="4515242"/>
              <a:ext cx="2066897" cy="7191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Jonathan Ouimet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F89439-3F7E-438B-A2E4-5A26DF31AD41}"/>
              </a:ext>
            </a:extLst>
          </p:cNvPr>
          <p:cNvGrpSpPr>
            <a:grpSpLocks noChangeAspect="1"/>
          </p:cNvGrpSpPr>
          <p:nvPr/>
        </p:nvGrpSpPr>
        <p:grpSpPr>
          <a:xfrm>
            <a:off x="3707827" y="3679020"/>
            <a:ext cx="1429133" cy="1864187"/>
            <a:chOff x="7033973" y="2267584"/>
            <a:chExt cx="2433591" cy="3174421"/>
          </a:xfrm>
        </p:grpSpPr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AE892A62-86C9-498D-9A39-9E4D4839AF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/>
            <a:stretch/>
          </p:blipFill>
          <p:spPr bwMode="auto">
            <a:xfrm>
              <a:off x="7131941" y="2267584"/>
              <a:ext cx="2335623" cy="2335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C7EA08F-E093-4EA0-8F54-099A9CEEDA74}"/>
                </a:ext>
              </a:extLst>
            </p:cNvPr>
            <p:cNvSpPr txBox="1"/>
            <p:nvPr/>
          </p:nvSpPr>
          <p:spPr>
            <a:xfrm>
              <a:off x="7033973" y="4545026"/>
              <a:ext cx="2337022" cy="8969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Alexander Dowling</a:t>
              </a:r>
              <a:endParaRPr kumimoji="0" lang="en-US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BD5F2D-3A87-43A6-9FF3-939FCDE8A1C4}"/>
              </a:ext>
            </a:extLst>
          </p:cNvPr>
          <p:cNvGrpSpPr>
            <a:grpSpLocks noChangeAspect="1"/>
          </p:cNvGrpSpPr>
          <p:nvPr/>
        </p:nvGrpSpPr>
        <p:grpSpPr>
          <a:xfrm>
            <a:off x="10208044" y="3679020"/>
            <a:ext cx="1406537" cy="1922209"/>
            <a:chOff x="7061891" y="2327843"/>
            <a:chExt cx="2426358" cy="3315922"/>
          </a:xfrm>
        </p:grpSpPr>
        <p:pic>
          <p:nvPicPr>
            <p:cNvPr id="30" name="Picture 4">
              <a:extLst>
                <a:ext uri="{FF2B5EF4-FFF2-40B4-BE49-F238E27FC236}">
                  <a16:creationId xmlns:a16="http://schemas.microsoft.com/office/drawing/2014/main" id="{7DD6B8E9-74C3-4C4A-A6A0-E9C7F9F34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/>
          </p:blipFill>
          <p:spPr bwMode="auto">
            <a:xfrm>
              <a:off x="7122159" y="2327843"/>
              <a:ext cx="2366090" cy="23660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8E1ADDD-6E6A-42B5-BA40-24871FE6F292}"/>
                </a:ext>
              </a:extLst>
            </p:cNvPr>
            <p:cNvSpPr txBox="1"/>
            <p:nvPr/>
          </p:nvSpPr>
          <p:spPr>
            <a:xfrm>
              <a:off x="7061891" y="4634994"/>
              <a:ext cx="2337021" cy="1008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Xinhong Liu</a:t>
              </a:r>
              <a:endParaRPr kumimoji="0" lang="en-US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386C21F-AEEB-53D7-2AD8-78FFEAD6C2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734" y="1394187"/>
            <a:ext cx="3549093" cy="4069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F312A7-DD63-97B1-0B81-22CC7D60BD4F}"/>
              </a:ext>
            </a:extLst>
          </p:cNvPr>
          <p:cNvSpPr txBox="1"/>
          <p:nvPr/>
        </p:nvSpPr>
        <p:spPr>
          <a:xfrm>
            <a:off x="3736601" y="5792300"/>
            <a:ext cx="8047261" cy="365760"/>
          </a:xfrm>
          <a:prstGeom prst="rect">
            <a:avLst/>
          </a:prstGeom>
          <a:solidFill>
            <a:srgbClr val="E3EEF8"/>
          </a:solidFill>
          <a:ln w="19050">
            <a:solidFill>
              <a:schemeClr val="tx1"/>
            </a:solidFill>
            <a:prstDash val="lgDashDot"/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/>
              <a:t>How model-based data analytics help improve membrane characterization?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41FFD-199D-9580-6EF8-898EEF850C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0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0"/>
          <p:cNvSpPr txBox="1">
            <a:spLocks noGrp="1"/>
          </p:cNvSpPr>
          <p:nvPr>
            <p:ph type="title"/>
          </p:nvPr>
        </p:nvSpPr>
        <p:spPr>
          <a:xfrm>
            <a:off x="-1" y="126586"/>
            <a:ext cx="877329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dirty="0"/>
              <a:t>Dynamic Diafiltration Experiment Sweeps Larger Concentration Space</a:t>
            </a:r>
            <a:endParaRPr dirty="0"/>
          </a:p>
        </p:txBody>
      </p:sp>
      <p:sp>
        <p:nvSpPr>
          <p:cNvPr id="859" name="Google Shape;859;p30"/>
          <p:cNvSpPr txBox="1">
            <a:spLocks noGrp="1" noChangeAspect="1"/>
          </p:cNvSpPr>
          <p:nvPr>
            <p:ph type="sldNum" idx="12"/>
          </p:nvPr>
        </p:nvSpPr>
        <p:spPr>
          <a:xfrm>
            <a:off x="9365974" y="6444713"/>
            <a:ext cx="2592172" cy="34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860" name="Google Shape;860;p30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7702" y="93035"/>
            <a:ext cx="3335965" cy="3335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0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7439" y="3444744"/>
            <a:ext cx="3213313" cy="3181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8333" y="1509398"/>
            <a:ext cx="7963547" cy="436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30"/>
          <p:cNvPicPr preferRelativeResize="0"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27397" y="3444744"/>
            <a:ext cx="3213312" cy="3181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30"/>
          <p:cNvPicPr preferRelativeResize="0">
            <a:picLocks noChangeAspect="1"/>
          </p:cNvPicPr>
          <p:nvPr/>
        </p:nvPicPr>
        <p:blipFill rotWithShape="1">
          <a:blip r:embed="rId7">
            <a:alphaModFix/>
          </a:blip>
          <a:srcRect l="40875" t="20710" r="40546" b="21146"/>
          <a:stretch/>
        </p:blipFill>
        <p:spPr>
          <a:xfrm>
            <a:off x="9227382" y="426333"/>
            <a:ext cx="184142" cy="576257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30"/>
          <p:cNvSpPr txBox="1">
            <a:spLocks noChangeAspect="1"/>
          </p:cNvSpPr>
          <p:nvPr/>
        </p:nvSpPr>
        <p:spPr>
          <a:xfrm>
            <a:off x="9162446" y="541503"/>
            <a:ext cx="39128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id="866" name="Google Shape;866;p3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4030" y="1509398"/>
            <a:ext cx="7963547" cy="4274091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30"/>
          <p:cNvSpPr/>
          <p:nvPr/>
        </p:nvSpPr>
        <p:spPr>
          <a:xfrm>
            <a:off x="7469942" y="5257800"/>
            <a:ext cx="464383" cy="257175"/>
          </a:xfrm>
          <a:prstGeom prst="rect">
            <a:avLst/>
          </a:prstGeom>
          <a:noFill/>
          <a:ln w="57150" cap="flat" cmpd="sng">
            <a:solidFill>
              <a:srgbClr val="00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8" name="Google Shape;868;p30"/>
          <p:cNvPicPr preferRelativeResize="0"/>
          <p:nvPr/>
        </p:nvPicPr>
        <p:blipFill rotWithShape="1">
          <a:blip r:embed="rId9">
            <a:alphaModFix/>
          </a:blip>
          <a:srcRect t="23200" b="23643"/>
          <a:stretch/>
        </p:blipFill>
        <p:spPr>
          <a:xfrm>
            <a:off x="7014866" y="5847950"/>
            <a:ext cx="874176" cy="4646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F0AC63D-2210-4B76-8CA3-328BA80D98B2}"/>
              </a:ext>
            </a:extLst>
          </p:cNvPr>
          <p:cNvSpPr/>
          <p:nvPr/>
        </p:nvSpPr>
        <p:spPr>
          <a:xfrm>
            <a:off x="3744579" y="1713815"/>
            <a:ext cx="1198543" cy="711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Diafiltrate Reservoir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F55280-5BB6-A9D1-0D14-8DD70F9507BD}"/>
              </a:ext>
            </a:extLst>
          </p:cNvPr>
          <p:cNvSpPr txBox="1"/>
          <p:nvPr/>
        </p:nvSpPr>
        <p:spPr>
          <a:xfrm>
            <a:off x="0" y="1096392"/>
            <a:ext cx="11248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Experimental degrees of freedom</a:t>
            </a:r>
            <a:r>
              <a:rPr lang="en-US" dirty="0"/>
              <a:t>: temperature, pressure, feed concentration, diafiltration concentration</a:t>
            </a:r>
          </a:p>
        </p:txBody>
      </p:sp>
    </p:spTree>
    <p:extLst>
      <p:ext uri="{BB962C8B-B14F-4D97-AF65-F5344CB8AC3E}">
        <p14:creationId xmlns:p14="http://schemas.microsoft.com/office/powerpoint/2010/main" val="2302394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1"/>
          <p:cNvSpPr txBox="1">
            <a:spLocks noGrp="1"/>
          </p:cNvSpPr>
          <p:nvPr>
            <p:ph type="title"/>
          </p:nvPr>
        </p:nvSpPr>
        <p:spPr>
          <a:xfrm>
            <a:off x="0" y="205244"/>
            <a:ext cx="877329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dirty="0"/>
              <a:t>Dynamic Diafiltration Experiment Sweeps Larger Concentration Space 5x Faster Than Filtration Experiments</a:t>
            </a:r>
            <a:endParaRPr dirty="0"/>
          </a:p>
        </p:txBody>
      </p:sp>
      <p:sp>
        <p:nvSpPr>
          <p:cNvPr id="875" name="Google Shape;875;p3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876" name="Google Shape;87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1244" y="3280318"/>
            <a:ext cx="3426512" cy="3577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1244" y="0"/>
            <a:ext cx="3335351" cy="3446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031" y="1509398"/>
            <a:ext cx="7972151" cy="43600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A7A786-6AAE-4C05-9847-54B4A2347FE4}"/>
              </a:ext>
            </a:extLst>
          </p:cNvPr>
          <p:cNvSpPr/>
          <p:nvPr/>
        </p:nvSpPr>
        <p:spPr>
          <a:xfrm>
            <a:off x="3658180" y="1713815"/>
            <a:ext cx="1396240" cy="711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Diafiltrate Reservoir</a:t>
            </a:r>
          </a:p>
        </p:txBody>
      </p:sp>
    </p:spTree>
    <p:extLst>
      <p:ext uri="{BB962C8B-B14F-4D97-AF65-F5344CB8AC3E}">
        <p14:creationId xmlns:p14="http://schemas.microsoft.com/office/powerpoint/2010/main" val="652405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75B57-5C20-0E9F-E314-6A35A3CF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Picture 304" descr="A diagram of a reaction&#10;&#10;Description automatically generated with medium confidence">
            <a:extLst>
              <a:ext uri="{FF2B5EF4-FFF2-40B4-BE49-F238E27FC236}">
                <a16:creationId xmlns:a16="http://schemas.microsoft.com/office/drawing/2014/main" id="{30F1C9D4-35E7-3DBD-FE66-71E6741C97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71"/>
          <a:stretch/>
        </p:blipFill>
        <p:spPr>
          <a:xfrm>
            <a:off x="134496" y="3550572"/>
            <a:ext cx="5843524" cy="25562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EFC65E-1FA6-22B5-C1F6-974C4176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980590" cy="109728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Fast Reaction is Preferred in Membrane Functionalization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B87C4DC0-0076-D66A-3444-514123855A1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55" b="54478"/>
          <a:stretch/>
        </p:blipFill>
        <p:spPr>
          <a:xfrm>
            <a:off x="1622657" y="1138819"/>
            <a:ext cx="5774319" cy="18297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5A0992-A100-B477-DE53-F158A34657F7}"/>
              </a:ext>
            </a:extLst>
          </p:cNvPr>
          <p:cNvSpPr txBox="1"/>
          <p:nvPr/>
        </p:nvSpPr>
        <p:spPr>
          <a:xfrm>
            <a:off x="7863653" y="1440222"/>
            <a:ext cx="201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Janus membranes </a:t>
            </a:r>
          </a:p>
        </p:txBody>
      </p:sp>
      <p:sp>
        <p:nvSpPr>
          <p:cNvPr id="51" name="Google Shape;816;p27">
            <a:extLst>
              <a:ext uri="{FF2B5EF4-FFF2-40B4-BE49-F238E27FC236}">
                <a16:creationId xmlns:a16="http://schemas.microsoft.com/office/drawing/2014/main" id="{FD628978-A5F3-4418-2132-12ED830BC13E}"/>
              </a:ext>
            </a:extLst>
          </p:cNvPr>
          <p:cNvSpPr txBox="1"/>
          <p:nvPr/>
        </p:nvSpPr>
        <p:spPr>
          <a:xfrm>
            <a:off x="1415373" y="6490019"/>
            <a:ext cx="98000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[Top, Mid. </a:t>
            </a:r>
            <a:r>
              <a:rPr lang="en-US" sz="1200" dirty="0">
                <a:solidFill>
                  <a:srgbClr val="7F7F7F"/>
                </a:solidFill>
              </a:rPr>
              <a:t>Fig.] </a:t>
            </a:r>
            <a:r>
              <a:rPr lang="en-US" sz="1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Hoffman, J. R., &amp; Phillip, W. A. (2020). ACS Macro Letters, 9(9), 1267-1279.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D23C9-5BAB-0123-695C-A950707136DB}"/>
              </a:ext>
            </a:extLst>
          </p:cNvPr>
          <p:cNvSpPr txBox="1"/>
          <p:nvPr/>
        </p:nvSpPr>
        <p:spPr>
          <a:xfrm>
            <a:off x="6096001" y="4774930"/>
            <a:ext cx="5884590" cy="707886"/>
          </a:xfrm>
          <a:prstGeom prst="rect">
            <a:avLst/>
          </a:prstGeom>
          <a:solidFill>
            <a:srgbClr val="E3EEF8"/>
          </a:solidFill>
          <a:ln w="19050">
            <a:solidFill>
              <a:schemeClr val="tx1"/>
            </a:solidFill>
            <a:prstDash val="lgDashDot"/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sz="2000" b="0" dirty="0">
                <a:solidFill>
                  <a:schemeClr val="tx1"/>
                </a:solidFill>
              </a:rPr>
              <a:t>Fast reaction creates clear boundary and enables precise chemical patterning.</a:t>
            </a:r>
          </a:p>
        </p:txBody>
      </p:sp>
      <p:pic>
        <p:nvPicPr>
          <p:cNvPr id="306" name="Picture 305" descr="Diagram&#10;&#10;Description automatically generated">
            <a:extLst>
              <a:ext uri="{FF2B5EF4-FFF2-40B4-BE49-F238E27FC236}">
                <a16:creationId xmlns:a16="http://schemas.microsoft.com/office/drawing/2014/main" id="{445C2859-1D9A-5DBD-9A53-95F5A58991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5" b="78222"/>
          <a:stretch/>
        </p:blipFill>
        <p:spPr>
          <a:xfrm>
            <a:off x="6078728" y="2906152"/>
            <a:ext cx="5852160" cy="1377699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E3DD4BC-12BE-C210-E982-071C9231F9FB}"/>
              </a:ext>
            </a:extLst>
          </p:cNvPr>
          <p:cNvSpPr txBox="1"/>
          <p:nvPr/>
        </p:nvSpPr>
        <p:spPr>
          <a:xfrm>
            <a:off x="4509816" y="3102995"/>
            <a:ext cx="124575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C86C6"/>
                </a:solidFill>
              </a:rPr>
              <a:t>Reactive inks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E84992-3444-AF96-BE35-AE9ECFDF642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472" t="57175" r="28207" b="22812"/>
          <a:stretch/>
        </p:blipFill>
        <p:spPr>
          <a:xfrm>
            <a:off x="77005" y="812250"/>
            <a:ext cx="1747730" cy="414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7F0AF7-2B11-BF31-A0D9-5BE71771C6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67" t="33535" r="27412" b="43719"/>
          <a:stretch/>
        </p:blipFill>
        <p:spPr>
          <a:xfrm>
            <a:off x="5273474" y="741665"/>
            <a:ext cx="1747730" cy="471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57981D-4214-6920-A855-0990B8D7752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462" t="77254" r="26217"/>
          <a:stretch/>
        </p:blipFill>
        <p:spPr>
          <a:xfrm>
            <a:off x="2816491" y="812250"/>
            <a:ext cx="1747730" cy="471481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D08A1C-8491-254C-DA66-7323E2BF42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52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6459-38F4-B1D9-F0EF-49B7A78D6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107;p17">
            <a:extLst>
              <a:ext uri="{FF2B5EF4-FFF2-40B4-BE49-F238E27FC236}">
                <a16:creationId xmlns:a16="http://schemas.microsoft.com/office/drawing/2014/main" id="{ECF16E3B-B3F1-777A-27FF-9007C4AF0B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72" y="2292120"/>
            <a:ext cx="3723153" cy="369770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Google Shape;110;p17">
                <a:extLst>
                  <a:ext uri="{FF2B5EF4-FFF2-40B4-BE49-F238E27FC236}">
                    <a16:creationId xmlns:a16="http://schemas.microsoft.com/office/drawing/2014/main" id="{DF19C920-6E40-11E1-C8B7-781E9BEE2385}"/>
                  </a:ext>
                </a:extLst>
              </p:cNvPr>
              <p:cNvSpPr txBox="1"/>
              <p:nvPr/>
            </p:nvSpPr>
            <p:spPr>
              <a:xfrm>
                <a:off x="2810828" y="4396924"/>
                <a:ext cx="2200275" cy="8414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600" dirty="0">
                    <a:solidFill>
                      <a:prstClr val="black"/>
                    </a:solidFill>
                    <a:latin typeface="Arial"/>
                    <a:ea typeface="Arial"/>
                    <a:cs typeface="Arial"/>
                  </a:rPr>
                  <a:t>C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onfidence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 ellipse for covariance matrix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16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33" name="Google Shape;110;p17">
                <a:extLst>
                  <a:ext uri="{FF2B5EF4-FFF2-40B4-BE49-F238E27FC236}">
                    <a16:creationId xmlns:a16="http://schemas.microsoft.com/office/drawing/2014/main" id="{7EE07D3A-AE6E-47BE-9E33-A4F66482E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828" y="4396924"/>
                <a:ext cx="2200275" cy="841408"/>
              </a:xfrm>
              <a:prstGeom prst="rect">
                <a:avLst/>
              </a:prstGeom>
              <a:blipFill>
                <a:blip r:embed="rId4"/>
                <a:stretch>
                  <a:fillRect t="-2174" r="-27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C7A55688-B386-2358-2BB8-1888A325D08A}"/>
              </a:ext>
            </a:extLst>
          </p:cNvPr>
          <p:cNvSpPr txBox="1">
            <a:spLocks/>
          </p:cNvSpPr>
          <p:nvPr/>
        </p:nvSpPr>
        <p:spPr>
          <a:xfrm>
            <a:off x="-4621" y="-6096"/>
            <a:ext cx="1198059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ts val="1800"/>
              <a:buNone/>
              <a:defRPr sz="3200" b="1">
                <a:solidFill>
                  <a:schemeClr val="tx1"/>
                </a:solidFill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FIM Highlights Nonidentifiable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6EB6AAE7-78A4-5831-7A77-63A2121724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00600" y="1177290"/>
              <a:ext cx="6748478" cy="16051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04830">
                      <a:extLst>
                        <a:ext uri="{9D8B030D-6E8A-4147-A177-3AD203B41FA5}">
                          <a16:colId xmlns:a16="http://schemas.microsoft.com/office/drawing/2014/main" val="1495111582"/>
                        </a:ext>
                      </a:extLst>
                    </a:gridCol>
                    <a:gridCol w="1352779">
                      <a:extLst>
                        <a:ext uri="{9D8B030D-6E8A-4147-A177-3AD203B41FA5}">
                          <a16:colId xmlns:a16="http://schemas.microsoft.com/office/drawing/2014/main" val="4257686367"/>
                        </a:ext>
                      </a:extLst>
                    </a:gridCol>
                    <a:gridCol w="866463">
                      <a:extLst>
                        <a:ext uri="{9D8B030D-6E8A-4147-A177-3AD203B41FA5}">
                          <a16:colId xmlns:a16="http://schemas.microsoft.com/office/drawing/2014/main" val="3698048072"/>
                        </a:ext>
                      </a:extLst>
                    </a:gridCol>
                    <a:gridCol w="1304830">
                      <a:extLst>
                        <a:ext uri="{9D8B030D-6E8A-4147-A177-3AD203B41FA5}">
                          <a16:colId xmlns:a16="http://schemas.microsoft.com/office/drawing/2014/main" val="3963307089"/>
                        </a:ext>
                      </a:extLst>
                    </a:gridCol>
                    <a:gridCol w="969206">
                      <a:extLst>
                        <a:ext uri="{9D8B030D-6E8A-4147-A177-3AD203B41FA5}">
                          <a16:colId xmlns:a16="http://schemas.microsoft.com/office/drawing/2014/main" val="2312697275"/>
                        </a:ext>
                      </a:extLst>
                    </a:gridCol>
                    <a:gridCol w="950370">
                      <a:extLst>
                        <a:ext uri="{9D8B030D-6E8A-4147-A177-3AD203B41FA5}">
                          <a16:colId xmlns:a16="http://schemas.microsoft.com/office/drawing/2014/main" val="2178978454"/>
                        </a:ext>
                      </a:extLst>
                    </a:gridCol>
                  </a:tblGrid>
                  <a:tr h="321023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Estimated parameters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Residuals squared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Eigenvalues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Eigenvectors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704482783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366762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114852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8.16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6.18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10.74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-7.02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+mn-cs"/>
                            </a:rPr>
                            <a:t>3.32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-8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2376918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2.10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2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-3.32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3754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6625B949-B228-4796-9CB5-9B6A78E91B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025671"/>
                  </p:ext>
                </p:extLst>
              </p:nvPr>
            </p:nvGraphicFramePr>
            <p:xfrm>
              <a:off x="4800600" y="1177290"/>
              <a:ext cx="6748478" cy="16051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04830">
                      <a:extLst>
                        <a:ext uri="{9D8B030D-6E8A-4147-A177-3AD203B41FA5}">
                          <a16:colId xmlns:a16="http://schemas.microsoft.com/office/drawing/2014/main" val="1495111582"/>
                        </a:ext>
                      </a:extLst>
                    </a:gridCol>
                    <a:gridCol w="1352779">
                      <a:extLst>
                        <a:ext uri="{9D8B030D-6E8A-4147-A177-3AD203B41FA5}">
                          <a16:colId xmlns:a16="http://schemas.microsoft.com/office/drawing/2014/main" val="4257686367"/>
                        </a:ext>
                      </a:extLst>
                    </a:gridCol>
                    <a:gridCol w="866463">
                      <a:extLst>
                        <a:ext uri="{9D8B030D-6E8A-4147-A177-3AD203B41FA5}">
                          <a16:colId xmlns:a16="http://schemas.microsoft.com/office/drawing/2014/main" val="3698048072"/>
                        </a:ext>
                      </a:extLst>
                    </a:gridCol>
                    <a:gridCol w="1304830">
                      <a:extLst>
                        <a:ext uri="{9D8B030D-6E8A-4147-A177-3AD203B41FA5}">
                          <a16:colId xmlns:a16="http://schemas.microsoft.com/office/drawing/2014/main" val="3963307089"/>
                        </a:ext>
                      </a:extLst>
                    </a:gridCol>
                    <a:gridCol w="969206">
                      <a:extLst>
                        <a:ext uri="{9D8B030D-6E8A-4147-A177-3AD203B41FA5}">
                          <a16:colId xmlns:a16="http://schemas.microsoft.com/office/drawing/2014/main" val="2312697275"/>
                        </a:ext>
                      </a:extLst>
                    </a:gridCol>
                    <a:gridCol w="950370">
                      <a:extLst>
                        <a:ext uri="{9D8B030D-6E8A-4147-A177-3AD203B41FA5}">
                          <a16:colId xmlns:a16="http://schemas.microsoft.com/office/drawing/2014/main" val="2178978454"/>
                        </a:ext>
                      </a:extLst>
                    </a:gridCol>
                  </a:tblGrid>
                  <a:tr h="321023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Estimated parameters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Residuals squared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Eigenvalues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Eigenvectors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704482783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54286" r="-418224" b="-11428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6396" t="-54286" r="-303153" b="-11428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366762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8742" t="-211538" r="-98742" b="-2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10256" t="-211538" r="-641" b="-2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114852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8.16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6.18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10.74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-7.02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+mn-cs"/>
                            </a:rPr>
                            <a:t>3.32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-8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2376918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2.10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2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-3.32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37546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Google Shape;106;p17">
            <a:extLst>
              <a:ext uri="{FF2B5EF4-FFF2-40B4-BE49-F238E27FC236}">
                <a16:creationId xmlns:a16="http://schemas.microsoft.com/office/drawing/2014/main" id="{821C4E80-1DC2-4DC9-5060-459C856E7BA8}"/>
              </a:ext>
            </a:extLst>
          </p:cNvPr>
          <p:cNvSpPr txBox="1"/>
          <p:nvPr/>
        </p:nvSpPr>
        <p:spPr>
          <a:xfrm>
            <a:off x="150582" y="1242905"/>
            <a:ext cx="4330695" cy="430847"/>
          </a:xfrm>
          <a:prstGeom prst="rect">
            <a:avLst/>
          </a:prstGeom>
          <a:noFill/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Fisher information matrix (FIM)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112;p17">
            <a:extLst>
              <a:ext uri="{FF2B5EF4-FFF2-40B4-BE49-F238E27FC236}">
                <a16:creationId xmlns:a16="http://schemas.microsoft.com/office/drawing/2014/main" id="{4C0DD85E-3C0C-07C6-C817-DAEC51FCD34C}"/>
              </a:ext>
            </a:extLst>
          </p:cNvPr>
          <p:cNvSpPr/>
          <p:nvPr/>
        </p:nvSpPr>
        <p:spPr>
          <a:xfrm>
            <a:off x="8492490" y="2191358"/>
            <a:ext cx="1064662" cy="24323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112;p17">
            <a:extLst>
              <a:ext uri="{FF2B5EF4-FFF2-40B4-BE49-F238E27FC236}">
                <a16:creationId xmlns:a16="http://schemas.microsoft.com/office/drawing/2014/main" id="{6C5E706D-642C-C7DC-8575-DC5CDBE75182}"/>
              </a:ext>
            </a:extLst>
          </p:cNvPr>
          <p:cNvSpPr/>
          <p:nvPr/>
        </p:nvSpPr>
        <p:spPr>
          <a:xfrm>
            <a:off x="10716114" y="2191358"/>
            <a:ext cx="691026" cy="29049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9D90A0AE-9EB2-55BC-58F6-808EAF4D56B5}"/>
                  </a:ext>
                </a:extLst>
              </p:cNvPr>
              <p:cNvSpPr txBox="1"/>
              <p:nvPr/>
            </p:nvSpPr>
            <p:spPr>
              <a:xfrm>
                <a:off x="390740" y="1809800"/>
                <a:ext cx="3274166" cy="641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𝑴</m:t>
                      </m:r>
                      <m:r>
                        <a:rPr kumimoji="0" lang="en-US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 </m:t>
                      </m:r>
                      <m:sSup>
                        <m:sSupPr>
                          <m:ctrlPr>
                            <a:rPr kumimoji="0" lang="en-US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𝑽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kumimoji="0" lang="en-US" sz="20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20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Arial"/>
                                    </a:rPr>
                                    <m:t>𝜽</m:t>
                                  </m:r>
                                </m:e>
                              </m:acc>
                            </m:sub>
                          </m:sSub>
                        </m:e>
                        <m:sup>
                          <m:r>
                            <a:rPr kumimoji="0" lang="en-US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p>
                      </m:sSup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b>
                            <m:sup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b>
                            <m:sup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p>
                          <m: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Arial"/>
                </a:endParaRPr>
              </a:p>
            </p:txBody>
          </p:sp>
        </mc:Choice>
        <mc:Fallback xmlns=""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5B634CB5-BECE-4212-A63D-3B333B35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40" y="1809800"/>
                <a:ext cx="3274166" cy="6410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8AF2FF-BB32-8D21-7B2B-55C9E360037D}"/>
                  </a:ext>
                </a:extLst>
              </p:cNvPr>
              <p:cNvSpPr txBox="1"/>
              <p:nvPr/>
            </p:nvSpPr>
            <p:spPr>
              <a:xfrm>
                <a:off x="5087017" y="4396924"/>
                <a:ext cx="6639877" cy="1828800"/>
              </a:xfrm>
              <a:prstGeom prst="rect">
                <a:avLst/>
              </a:prstGeom>
              <a:ln w="19050">
                <a:prstDash val="lgDashDot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Tx/>
                </a:pPr>
                <a:r>
                  <a:rPr lang="en-US" sz="1800" b="1" kern="1200" dirty="0">
                    <a:solidFill>
                      <a:prstClr val="black"/>
                    </a:solidFill>
                  </a:rPr>
                  <a:t>FIM inference</a:t>
                </a:r>
              </a:p>
              <a:p>
                <a:pPr marL="285750" indent="-28575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sz="1800" kern="1200" dirty="0">
                    <a:solidFill>
                      <a:prstClr val="black"/>
                    </a:solidFill>
                  </a:rPr>
                  <a:t>Model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sz="1800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1200" dirty="0">
                    <a:solidFill>
                      <a:prstClr val="black"/>
                    </a:solidFill>
                  </a:rPr>
                  <a:t>are 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insensitive to</a:t>
                </a:r>
                <a14:m>
                  <m:oMath xmlns:m="http://schemas.openxmlformats.org/officeDocument/2006/math">
                    <m:r>
                      <a:rPr lang="en-US" sz="1800" b="0" i="0" kern="1200" smtClean="0">
                        <a:solidFill>
                          <a:srgbClr val="0022F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kern="1200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 marL="285750" lvl="0" indent="-28575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  <a:defRPr/>
                </a:pPr>
                <a:r>
                  <a:rPr lang="en-US" sz="1800" kern="1200" dirty="0">
                    <a:solidFill>
                      <a:prstClr val="black"/>
                    </a:solidFill>
                    <a:latin typeface="Arial" panose="020B0604020202020204"/>
                  </a:rPr>
                  <a:t>FIM is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2F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rank deficient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 </a:t>
                </a:r>
                <a:r>
                  <a:rPr lang="en-US" sz="1800" kern="1200" dirty="0">
                    <a:solidFill>
                      <a:prstClr val="black"/>
                    </a:solidFill>
                  </a:rPr>
                  <a:t>with 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Near zero eigenvalue </a:t>
                </a:r>
                <a:r>
                  <a:rPr lang="en-US" sz="1800" kern="1200" dirty="0">
                    <a:solidFill>
                      <a:prstClr val="black"/>
                    </a:solidFill>
                  </a:rPr>
                  <a:t>pointing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1200" dirty="0">
                    <a:solidFill>
                      <a:srgbClr val="0022F5"/>
                    </a:solidFill>
                  </a:rPr>
                  <a:t> </a:t>
                </a:r>
                <a:endPara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2F5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800" kern="1200" dirty="0">
                    <a:solidFill>
                      <a:prstClr val="black"/>
                    </a:solidFill>
                    <a:latin typeface="Arial" panose="020B0604020202020204"/>
                  </a:rPr>
                  <a:t>Solely pH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2F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cannot identity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𝐾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in </a:t>
                </a:r>
                <a:r>
                  <a:rPr lang="en-US" sz="1800" b="1" kern="1200" noProof="0" dirty="0">
                    <a:solidFill>
                      <a:prstClr val="black"/>
                    </a:solidFill>
                    <a:latin typeface="Arial" panose="020B0604020202020204"/>
                  </a:rPr>
                  <a:t>S</a:t>
                </a:r>
                <a:r>
                  <a:rPr lang="en-US" sz="1800" b="1" kern="1200" dirty="0" err="1">
                    <a:solidFill>
                      <a:prstClr val="black"/>
                    </a:solidFill>
                    <a:latin typeface="Arial" panose="020B0604020202020204"/>
                  </a:rPr>
                  <a:t>tep</a:t>
                </a:r>
                <a:r>
                  <a:rPr lang="en-US" sz="1800" b="1" kern="1200" dirty="0">
                    <a:solidFill>
                      <a:prstClr val="black"/>
                    </a:solidFill>
                    <a:latin typeface="Arial" panose="020B0604020202020204"/>
                  </a:rPr>
                  <a:t> 1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7128AE-7EF2-A359-BEEC-D6F2A280A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017" y="4396924"/>
                <a:ext cx="6639877" cy="1828800"/>
              </a:xfrm>
              <a:prstGeom prst="rect">
                <a:avLst/>
              </a:prstGeom>
              <a:blipFill>
                <a:blip r:embed="rId7"/>
                <a:stretch>
                  <a:fillRect l="-640"/>
                </a:stretch>
              </a:blipFill>
              <a:ln w="19050">
                <a:prstDash val="lgDash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yomo">
            <a:extLst>
              <a:ext uri="{FF2B5EF4-FFF2-40B4-BE49-F238E27FC236}">
                <a16:creationId xmlns:a16="http://schemas.microsoft.com/office/drawing/2014/main" id="{AD0A0F45-4CF8-1828-2594-A40B521E6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361" y="2903519"/>
            <a:ext cx="1797313" cy="56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B1DB2E-25D1-DBF3-CE89-CD61CFADF3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C48040-44BC-2C22-051E-5A5AF59AAE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1277" y="3429000"/>
            <a:ext cx="1719221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9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F4195F4-4A59-2763-CC3F-C4F47DAB7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15" y="104433"/>
            <a:ext cx="11426970" cy="632017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B29C8-D54A-2BCC-1BB5-4C0810CE5F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8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46787</TotalTime>
  <Words>1050</Words>
  <Application>Microsoft Macintosh PowerPoint</Application>
  <PresentationFormat>Widescreen</PresentationFormat>
  <Paragraphs>190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Baskerville</vt:lpstr>
      <vt:lpstr>Calibri</vt:lpstr>
      <vt:lpstr>Cambria Math</vt:lpstr>
      <vt:lpstr>Courier New</vt:lpstr>
      <vt:lpstr>Georgia</vt:lpstr>
      <vt:lpstr>Microsoft Sans Serif</vt:lpstr>
      <vt:lpstr>Times New Roman</vt:lpstr>
      <vt:lpstr>Office Theme</vt:lpstr>
      <vt:lpstr>1_Office Theme</vt:lpstr>
      <vt:lpstr>3_Office Theme</vt:lpstr>
      <vt:lpstr>Plan for a Digital Twin Testbed</vt:lpstr>
      <vt:lpstr>Membrane Characterization using a Digital Model</vt:lpstr>
      <vt:lpstr>PowerPoint Presentation</vt:lpstr>
      <vt:lpstr>PowerPoint Presentation</vt:lpstr>
      <vt:lpstr>Backup Files</vt:lpstr>
      <vt:lpstr>PowerPoint Presentation</vt:lpstr>
      <vt:lpstr>PowerPoint Presentation</vt:lpstr>
      <vt:lpstr>Separation using a Dynamic Diafiltration Device</vt:lpstr>
      <vt:lpstr>PowerPoint Presentation</vt:lpstr>
      <vt:lpstr>Dynamic Model w/ Lumped Parameter Infers Membrane Properties</vt:lpstr>
      <vt:lpstr>Lumped Parameter Model Infers Membrane Properties</vt:lpstr>
      <vt:lpstr>DATA: Diafiltration Apparatus for high-Throughput Analysis</vt:lpstr>
      <vt:lpstr>Dynamic Diafiltration Experiment Sweeps Larger Concentration Space</vt:lpstr>
      <vt:lpstr>Dynamic Diafiltration Experiment Sweeps Larger Concentration Space 5x Faster Than Filtration Experiments</vt:lpstr>
      <vt:lpstr>Fast Reaction is Preferred in Membrane Functionalization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Defense-XL</dc:title>
  <dc:creator>alex@dowlinglab.org;Xinhong Liu</dc:creator>
  <cp:lastModifiedBy>Keshav Kasturi Rangan</cp:lastModifiedBy>
  <cp:revision>1410</cp:revision>
  <cp:lastPrinted>2026-03-18T14:06:46Z</cp:lastPrinted>
  <dcterms:created xsi:type="dcterms:W3CDTF">2018-06-25T12:14:03Z</dcterms:created>
  <dcterms:modified xsi:type="dcterms:W3CDTF">2026-04-01T09:40:54Z</dcterms:modified>
</cp:coreProperties>
</file>
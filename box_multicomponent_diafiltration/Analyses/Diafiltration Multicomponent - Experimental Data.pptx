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49"/>
  </p:notesMasterIdLst>
  <p:sldIdLst>
    <p:sldId id="476" r:id="rId2"/>
    <p:sldId id="596" r:id="rId3"/>
    <p:sldId id="767" r:id="rId4"/>
    <p:sldId id="804" r:id="rId5"/>
    <p:sldId id="766" r:id="rId6"/>
    <p:sldId id="790" r:id="rId7"/>
    <p:sldId id="791" r:id="rId8"/>
    <p:sldId id="795" r:id="rId9"/>
    <p:sldId id="798" r:id="rId10"/>
    <p:sldId id="799" r:id="rId11"/>
    <p:sldId id="800" r:id="rId12"/>
    <p:sldId id="806" r:id="rId13"/>
    <p:sldId id="774" r:id="rId14"/>
    <p:sldId id="768" r:id="rId15"/>
    <p:sldId id="794" r:id="rId16"/>
    <p:sldId id="792" r:id="rId17"/>
    <p:sldId id="793" r:id="rId18"/>
    <p:sldId id="807" r:id="rId19"/>
    <p:sldId id="811" r:id="rId20"/>
    <p:sldId id="775" r:id="rId21"/>
    <p:sldId id="769" r:id="rId22"/>
    <p:sldId id="796" r:id="rId23"/>
    <p:sldId id="776" r:id="rId24"/>
    <p:sldId id="770" r:id="rId25"/>
    <p:sldId id="771" r:id="rId26"/>
    <p:sldId id="808" r:id="rId27"/>
    <p:sldId id="772" r:id="rId28"/>
    <p:sldId id="809" r:id="rId29"/>
    <p:sldId id="773" r:id="rId30"/>
    <p:sldId id="781" r:id="rId31"/>
    <p:sldId id="777" r:id="rId32"/>
    <p:sldId id="778" r:id="rId33"/>
    <p:sldId id="779" r:id="rId34"/>
    <p:sldId id="801" r:id="rId35"/>
    <p:sldId id="805" r:id="rId36"/>
    <p:sldId id="802" r:id="rId37"/>
    <p:sldId id="782" r:id="rId38"/>
    <p:sldId id="780" r:id="rId39"/>
    <p:sldId id="783" r:id="rId40"/>
    <p:sldId id="785" r:id="rId41"/>
    <p:sldId id="789" r:id="rId42"/>
    <p:sldId id="786" r:id="rId43"/>
    <p:sldId id="803" r:id="rId44"/>
    <p:sldId id="784" r:id="rId45"/>
    <p:sldId id="787" r:id="rId46"/>
    <p:sldId id="810" r:id="rId47"/>
    <p:sldId id="79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E26FFF"/>
    <a:srgbClr val="FFFFFF"/>
    <a:srgbClr val="D95015"/>
    <a:srgbClr val="D95319"/>
    <a:srgbClr val="7676FF"/>
    <a:srgbClr val="82D0FF"/>
    <a:srgbClr val="FF99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3933" autoAdjust="0"/>
  </p:normalViewPr>
  <p:slideViewPr>
    <p:cSldViewPr snapToGrid="0">
      <p:cViewPr varScale="1">
        <p:scale>
          <a:sx n="103" d="100"/>
          <a:sy n="103" d="100"/>
        </p:scale>
        <p:origin x="138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54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CB28-9312-3018-877B-F56C4A34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2337-5BBC-5C4B-E469-3B614ACB0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E5B3A-D84E-3FC7-8FAD-CFE93C97A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C11C2-5672-8854-6F66-47914D39C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6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0375-2450-B8D2-2ABD-A78C08BC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51338-40AC-98F5-47DF-3C4F6B419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D4B9C-D310-9B78-58AB-C474EB9D8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799C0-0D47-17CD-7F01-3C1ADD632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25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97161-DAE2-A33E-1DAE-A8EC6C1B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A80AB-E293-12B7-F79F-2A17D3825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AD59B-B9EE-7853-06C4-B49778071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11E8D-5E0C-44D5-B8D9-6109AEB0B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58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ADA7-51DD-3857-C895-6287AFD0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19AC6-35D5-23B8-6BBC-AD35642FE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54FA9-3927-319D-59FC-F58D7F910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47105-7D4C-C987-41D7-1F804941B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83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7866-5584-EF7C-C182-5093220F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AF496-E52B-80C1-3E15-26BBAC473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D73D1-3734-E074-970A-F8E1EE1CB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532F4-9FF5-FCC2-95A3-2E5B27618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9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CE39-327A-C126-6CB6-68F72C5D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25E73-A2A6-EE7F-29A2-50D3CCEC5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4D662-6688-FEB2-0F07-4C65D23C2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17729-DC2D-0352-AEE3-2FFDD6E71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84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E6F55-CE58-EA2C-CEC5-DC769574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C9381-F220-A7DF-E810-0C549C26D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604C6-B3BD-CC12-E6A8-613A82F01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B8170-B5D7-F29A-73AB-43578F923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58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CD6B-B3F7-625E-BCD8-13098A06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F4BDE-D35D-86C8-7A33-ACA834E0A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929D1-2867-99FE-88BB-C9DF233D9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E2F6C-5C8A-C94D-0943-18D12E7C2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7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C9D3-79CD-55DC-D4E0-A3C2B6237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3F599-5950-B43A-63E8-38962F6F6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CACDD-88FC-4201-74B5-3E2B391D7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02FD9-87E3-3ABC-819C-65857F55F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0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CF80-B4F2-0B26-FD47-5E5ACD5E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90DC8-C781-A56C-E0A2-B1E894934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872E-9961-4751-78D5-BFF5A20D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C41CB-5A97-4D8C-1996-EF43B1390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40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0CE1-AE19-4451-A627-F486F3826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26236-6DE1-653B-2382-4B4371C3D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8BD94-7F56-B92E-94D1-1C4BB7DCA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8AF43-FC38-50EE-33FE-720499D9E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6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2B0FB-E395-5F42-AB0A-02E3F2EE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A3044-42F9-E524-E33F-5DE94695A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6327A-BD82-942B-3B68-955DB7057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AFF5-ED64-AAE3-4E87-3E4343A12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16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A7E4-03E4-4427-48CB-BACC9D8E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C636C-B875-EBB0-BE10-85124084E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3AE78-F1F4-686D-0784-7561B5220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E62AE-0AF3-27F1-0AC2-2B18D1AC4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34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4EA6F-3CBF-3798-6A17-4267F62E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D730A-BF38-1F45-BD44-5842C9561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74BF5-0DF3-0B30-FFD7-57A72F778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695FC-6FF3-65B6-9307-B8B8A6C1A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25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D3C9-C56B-77F0-6508-368586B2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C543D-72C8-BCDA-71E8-AFE12F812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5FAA1-2A77-B244-FB76-E2A023AD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39FA3-AA0F-C56E-1C44-F56D07939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45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FACA-2682-2A5B-8FE8-430AA14F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7B45B-B5ED-B95D-CBC3-B78E34D1F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2676B-7162-FC0E-7FE9-390311DBE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4FCE4-8255-7FFB-7625-76BEBEF4F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20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BC9C-155E-3C49-F1B0-5C4E1EFF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299D0-1552-6A46-568A-C22224DDF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E2920-9CAA-0D95-2754-23B6F61E3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20BE-9FF2-EAF9-AE95-681601B83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271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D0D97-663F-5D7A-695B-B8BA3CF0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A6B2E-E790-ACF3-D039-D1D5FEF5F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55ECA-7287-5286-F92B-8C9F1AD69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D0311-6177-3B9C-ABA1-9121BC076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104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F293-F9CA-52EE-C8C6-EB7B435A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584C9-6A09-AA95-F9A8-03219AD55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7FDFE-BB0E-C7B6-0D0C-D8592B031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16686-045A-35DC-78CC-A3B44E1B5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7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9317-FB5D-F1E5-B4BB-9AE04F40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60D83-378D-93BD-4B96-C0AB37DDE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BE455-6A44-A7D0-C391-FBB0E92F5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7874-7998-C298-ED23-D333EE8C7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46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975D-E3F0-EF98-E863-DC009898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A9769-19B5-7DBE-DD1F-12D332329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4CD20-24FF-4029-2CA1-0B9E2BAC0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BE25A-E526-FB98-0B2B-8810BE456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66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F118-4749-F2A7-D90A-7E75978C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0B041-9D6B-EAE8-5BAB-234ED31F9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84487-B5E5-1888-B32A-EED67FDDC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69CA-65BC-D58A-DA3C-A74499F1C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649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5E66-1360-E12A-3075-C8453534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36655-67C6-7C0A-E5F0-AF9A86322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35548-E241-89B4-5BA9-24D319D7A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3FED0-0555-F9FF-0E8A-F1546A9B8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15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DC96-DE3E-F52D-0981-5D1FA9EA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02C61-442C-C0FF-AFB4-03DFC611C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BB540-505C-2E15-AC97-5E04FE13A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DC8E4-9F7D-F070-6BCB-B751590B3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157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E800-03CF-F464-A6A5-B3AB946E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B141D-7FC4-AB3B-34CB-0B0539F5D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2AF89-FD97-9F7A-DD00-95148645D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D45B-1A5A-454D-B06D-22DD2BF72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854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9722-6C7F-EA58-BC65-9A8C226D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23ECD-0152-3CF4-7E6C-6F41C2D97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D37CD-5C85-A62F-3460-C3E745A39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91D2F-2280-1383-0767-C8D305A98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205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705E-84B2-F6B7-E830-613280AC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1ACA3-5DB1-0372-F59F-6AF5CED98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985C2-D05E-29CF-153D-6DBF24136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F9E0A-9C29-48FA-4D5D-C03000F74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075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C94E-FB78-F2E9-F73B-F27BA0EE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26176-8D07-5F2D-6421-BE3D470DA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7C65C-FB1D-2E58-84EC-BC8448D1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5F113-073D-5331-C6AD-5141D28AB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88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0431F-06CF-A825-822D-538DCD9E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BECD9-DB4E-F6C1-EA85-DC80E736E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DEA09-EFD3-10D5-45B9-92480C5FF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94B49-B483-6188-C766-B22350771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505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B537-C904-3456-D7CB-68B98CBA5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4C264-3D2A-0907-353B-ADE79F2FB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D8B61-4F40-5E98-D7FD-4A1E1122E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2BA6E-E12B-6F37-321D-FA7164A84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416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7A99C-086B-91B6-1697-F62EACE5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66B28-B0BD-C83A-29D5-AC30E9B6C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39EC6-D985-B907-9575-44A993C6C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E6DE-D964-6E19-BF48-502290D3D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26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7FEA9-EE8A-48EB-FC8A-84316CBB4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A9080-116B-1DB6-4C13-23633FDEA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26F90-B776-BDD7-9A46-A4422B068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0B9F6-50A2-10AC-7BB7-30F8E2B60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045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4062-2789-7E72-B17C-8107897B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5936F-5B7F-E355-5AD5-441387AD9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61200-0139-156F-58CB-1492EB2C5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BD6A2-8400-E1F4-D0ED-A99F7C193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278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1B73-5BC3-7183-B1B8-957C1E3F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73ECC-B5E1-A4AB-4DC9-BA0F0256A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39B46-26E8-02EB-659F-F6CECF7FF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D07B7-4444-1B60-B77E-E9DA61A92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356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BA3C-4A40-6F06-3314-ED5CF5EC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19A32-20BF-B205-AB70-DAF1C72E1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C9CE8-37FB-569F-47F6-F683314A6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B8B97-F836-93BE-14A2-D88CA99F0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113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3856-9DD8-E78C-8342-75D8233B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67621-EE76-EE88-07CF-9D421F7A6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B3996-CAB3-BDD7-D070-59AAD662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A166-21C2-CD79-C03F-FF13B55F9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54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04498-8693-CBB4-1413-4B03CFDA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A5E57-82DF-526C-69FA-37A68BB44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3D677-D564-40AD-F1B8-E48AF1DE8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12D3-5A36-C968-8FD8-1EC21EE76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082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915A-C2E2-214F-E4A9-D8772893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B1DA6-6145-6340-5468-2C5C47E33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4CF4D-F8D2-065C-AAD9-7BF2E1403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1D9B2-2380-4DCB-7454-4D60792D3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652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0E52C-81CC-B495-DCB3-ACF34CC4F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B82CF-9250-A6A5-8984-05A20529D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B649D-C3E8-7297-F129-A355D0B09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A6ABA-1893-C8EB-2762-A00FB6F8F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50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EDB9-DA0A-2A0C-5F43-FD4498E4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D1EE1-E97B-538F-35A2-5FC63E2B8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9C923-BBB2-8C2E-26EA-20E28D871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B083-DD87-1537-50BF-EF5534108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28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91C3-60AE-F7E5-E9DF-F54BE0D5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02B31-8524-5121-F991-DA7114C09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86BC3-4898-A886-4FEC-7EDCC29AB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A053D-5A43-9C99-6968-C1C167596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923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221C-7D43-E71F-CAD7-B7D4011E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5B768-31E7-3058-7EF7-68AFE498B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40DB9-DD46-F2EB-72C4-6F639C98B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AD117-6D61-4D04-92B7-D15DA2747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17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9F39-975A-A93A-F8D4-4631A280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5A129-53B1-8573-5947-313AEA1A0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75F22-188E-807D-B0D7-7B85804A9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7B8B5-AE87-95BB-CB92-8B419D76C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987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6CC6B-2CB1-DE11-E6D1-53BD8064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9D523-9671-3B02-1700-F1054AED7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C8713-5582-458E-6935-49F11B1E9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F475F-C13B-7F40-BBE3-B21F5C346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420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2089A-90C0-5D51-AD37-BA462882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E5A9F-5AC2-16D7-35F5-ABD3C6876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3F7E8-D9E9-577C-46AF-B5A8E9A92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0AF37-F3EB-34FD-02EB-18E3896C5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86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B405-536C-463C-B330-FB9B091E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FE08-CE3B-43AC-881D-7529D4B5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598C-097C-40EA-9A3D-FCB0CFA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B069F-E937-4583-8169-A70F89CA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26A5-054C-4F79-8BFC-5BFBC0D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700C-72FD-48DA-B560-B372381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9FD-488D-4B07-A7EE-C8CFB8AA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AF8E-2C4A-409E-B1F3-453E5B9D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9C10-C02E-4B1F-B767-B2FEC057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473B-A99A-41BD-9E27-67890561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EDB6-7846-40D1-9908-AE142B23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804F-5D40-4DC3-B7A1-7BF693A6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47D-0CF5-48AA-9BAB-EDA8C060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A10-0A81-4E23-9B21-3BA856E7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AB30-1AE3-416C-913A-8ADABEFE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551A-CCCC-4D7F-92BE-B64B320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BE7-A107-43A5-9FC6-F8BD2D1C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1F6B0-EB61-4854-B01C-717B8E3A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E46F-C997-45BB-84C4-ADE4F99A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414-8201-4C32-BEB1-7943238C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6850-AAB2-43C1-8774-722A953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5349-ED1F-413C-AFFB-E7127633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0413-0B66-423E-9362-4868BE55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E36A-00A4-4F53-AA97-D813F10B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5C15-8A19-4295-B8C4-F782F004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59757-B879-442D-9173-4DEF38F7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15DA-44C8-4ED3-80FE-8FC2CAF8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841B9-9240-4C9D-85FE-6335A75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1053B-2981-457D-A031-BDC28B7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D4FC-4810-43CA-A3E8-ECE1C67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B4C82-7674-4375-AB8C-76BA089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E238-9184-4F78-8C91-95C4EB3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32382-B95E-4BC0-AE45-9360A91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07FF-ADA3-41DB-A6E3-1A832A4D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DAE89-5659-4746-8638-4BAC289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878A-2624-490C-9280-C75B5870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903E-84C9-4588-9A81-3D172D03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F03-981B-4AF9-9317-A260E81D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7DF7A-E298-4F86-9FB4-F7EB591B2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61EA5-C53E-4D1D-9DA6-6980C2C8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D73E-4725-439B-81D9-6CC6D35F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53C6C-198D-4D8A-BDFE-4ABE760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864E-0BE5-4A67-AFEE-C7CBB4C1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15005-2D12-47F5-A223-B54CFD61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B8A30-37ED-4265-90FA-050BCF0B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430DB-3B48-48B2-BB27-BA118F93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7D31-1E45-49A5-B67F-A49716B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FA-D66B-416A-B875-B118A44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E3B5-EBAB-41C8-95E5-42B502EF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1160-4D0A-450A-AEAC-873B25383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1F5F-3B4A-4E5A-95CE-F2593C67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F900B-8C90-4189-AD87-D568CFD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610F-7D80-449F-9593-68E38A8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BA965-3EB1-426A-ACD9-867C4974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79F2-D994-495B-9DF9-B3077185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3096-1CF1-4CC3-BE96-655DBB5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3E6-6FC7-4806-8EB1-581D8EA6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3D38-77AD-4D0F-8BD8-181908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DF924-4E5C-450E-ADF0-3669051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B9E9-B4AE-494F-8748-C7E58EA2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A6BB-BC99-4875-A01C-3E62743D5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307B-1EA0-4787-ADD1-80D44AF3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D563-B43D-4183-B24F-0F7FDBAC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2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59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3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jpg"/><Relationship Id="rId4" Type="http://schemas.openxmlformats.org/officeDocument/2006/relationships/image" Target="../media/image6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g"/><Relationship Id="rId4" Type="http://schemas.openxmlformats.org/officeDocument/2006/relationships/image" Target="../media/image70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jpg"/><Relationship Id="rId4" Type="http://schemas.openxmlformats.org/officeDocument/2006/relationships/image" Target="../media/image72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jpg"/><Relationship Id="rId4" Type="http://schemas.openxmlformats.org/officeDocument/2006/relationships/image" Target="../media/image74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77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jpg"/><Relationship Id="rId4" Type="http://schemas.openxmlformats.org/officeDocument/2006/relationships/image" Target="../media/image82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g"/><Relationship Id="rId4" Type="http://schemas.openxmlformats.org/officeDocument/2006/relationships/image" Target="../media/image8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B724F1-7F43-5DC3-2F87-41D267CF3E9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AD91F9-1AC7-9340-930B-C01B6F76E71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3432EBA1-6D94-8FD1-B945-F05B3ADF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C7A3-B685-7C94-4342-E5A2F044D901}"/>
              </a:ext>
            </a:extLst>
          </p:cNvPr>
          <p:cNvSpPr txBox="1"/>
          <p:nvPr/>
        </p:nvSpPr>
        <p:spPr>
          <a:xfrm>
            <a:off x="1255589" y="867450"/>
            <a:ext cx="9680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High-throughput experiments elucidate the impact of multicomponent interactions on solute transport in complex feed streams.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810316-3F7C-6008-3659-2D662D36A0E6}"/>
              </a:ext>
            </a:extLst>
          </p:cNvPr>
          <p:cNvSpPr/>
          <p:nvPr/>
        </p:nvSpPr>
        <p:spPr>
          <a:xfrm>
            <a:off x="3805767" y="2928879"/>
            <a:ext cx="458046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C9999-31E1-6A2D-961E-596E955F9EEB}"/>
              </a:ext>
            </a:extLst>
          </p:cNvPr>
          <p:cNvSpPr txBox="1"/>
          <p:nvPr/>
        </p:nvSpPr>
        <p:spPr>
          <a:xfrm>
            <a:off x="2104485" y="3139014"/>
            <a:ext cx="7983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 Journal: Nature Water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B55B2-7974-F29B-3EFD-A4B171504FFF}"/>
              </a:ext>
            </a:extLst>
          </p:cNvPr>
          <p:cNvSpPr txBox="1"/>
          <p:nvPr/>
        </p:nvSpPr>
        <p:spPr>
          <a:xfrm>
            <a:off x="3048681" y="4956418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Experimental Results - Analyzed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362E9-E12F-714B-C95F-33D43898C948}"/>
              </a:ext>
            </a:extLst>
          </p:cNvPr>
          <p:cNvSpPr txBox="1"/>
          <p:nvPr/>
        </p:nvSpPr>
        <p:spPr>
          <a:xfrm>
            <a:off x="1378814" y="3820726"/>
            <a:ext cx="9434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Laurianne Estrada, Jonathan A. Ouimet,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Zhicheng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Lu, Molly Dougher, Shammah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Lilonfe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Alexander Dowling, William Phillip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BB67-761D-7467-2DA8-89A84674C58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Diafiltration Experiments are Run in a Modified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tirred Cell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pparatus.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D24617-508C-4D21-35A3-00458C9E81B0}"/>
              </a:ext>
            </a:extLst>
          </p:cNvPr>
          <p:cNvGrpSpPr/>
          <p:nvPr/>
        </p:nvGrpSpPr>
        <p:grpSpPr>
          <a:xfrm>
            <a:off x="544650" y="1021140"/>
            <a:ext cx="11102699" cy="4192227"/>
            <a:chOff x="351046" y="691993"/>
            <a:chExt cx="11520630" cy="4350032"/>
          </a:xfrm>
        </p:grpSpPr>
        <p:pic>
          <p:nvPicPr>
            <p:cNvPr id="5" name="Picture 4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0DBA090F-07FD-DE90-EA6D-0CDBDE161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B6093E-2793-5670-C4CB-1DD400EECC08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C966856-465D-1740-800B-A4575BEAE650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0B72C63-10DD-F793-B058-7F4C0AB460FB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CD3DBBC7-25FD-D878-FA01-992EE0709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CA6E39-F7D8-3704-7952-57A7B9F2614B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Membrane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E8FEF1-7C84-C366-697E-82ACC3C300FF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Retentate Probe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B30425-45C6-952C-DCC9-5D74F8D0622C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A897F2-942F-6409-492D-31AB23B57B19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5F9D89-8CD2-661C-E9C0-75DA2E7126EE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Permeate Probe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0105AB-44B2-7666-B1F4-B4B67D647207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 descr="A drawing of a machine&#10;&#10;Description automatically generated">
              <a:extLst>
                <a:ext uri="{FF2B5EF4-FFF2-40B4-BE49-F238E27FC236}">
                  <a16:creationId xmlns:a16="http://schemas.microsoft.com/office/drawing/2014/main" id="{E152B00D-21AF-0C3D-CD67-195122938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39A00E-D228-1BAC-784F-3609659FC2F9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464BA3-91D7-7B5F-14E5-B256A7A96BB5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Scintillation Vials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3F4350-1AEA-F1B3-50B9-1365AA7C37A6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Motor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138C4A-456E-B16C-FCB2-3B06288E3373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Balance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6B0E490-E68B-18E5-9350-82BB6075F057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A175CC-B36E-6766-5049-70A8338E0845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Pressure Gauge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E984A8F-C804-6FB0-9272-0C4494B53FCA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1163ACC-F22C-780B-72AF-B5F12373F4E9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5764C87-CF03-DFDA-EF6E-6FD8E529FBD8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F7CD551-BC31-981E-4A49-1978EB624A48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47D2B64-0237-45C3-92DE-254D76747905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A9A31F8-A332-C89B-AA58-B17F1B9642E7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E4D114C-6539-B55F-198C-0233970CB9E2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0E52BFD-8155-3734-5D18-FE626D85082E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E8DCC34-68D2-4A44-3759-5F430355AE66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A081CCF-6015-05D7-B1C5-346DE24C0E59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61C6717-22DA-30D7-686F-C60351DBA937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6628968-10CE-6AF1-EB1A-08BE011B00EB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BF88AAF-0714-82BE-7A23-264F7D8D2003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4052956-AFE0-0FE0-CBFD-4D195F90A96E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62EE3C2-B626-DFC7-F25B-061BE2E9A0AB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51A541A7-AF91-F98C-AE17-E2B9C83E7FFF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1FF839EF-0771-DD4D-3C30-34CA56B04005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9AB21A58-AD5E-224C-6F8E-42B2D7C09861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5FCB114A-0EFC-C4D7-A1DE-D6CB7B44ECBA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307AB801-8CC7-63EA-692F-751394E110B2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E319A4E-E7F9-2075-A92A-A0B54359FF0D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2E943BA-8E0E-A44F-CF5A-EF5A08A507DF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Diafiltrate Tank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EF54666-9D05-810A-BE7A-9DA9B35146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7D26C648-384B-8951-6AEB-4D3BDB1E5D42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E2974523-4C4D-E027-EAED-8A420F788854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3BC0C0B-3BE3-A790-1870-79F11441F831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019CB72F-726A-272A-FA6B-76914A9C7437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F335E3-C7B3-66E9-AC40-23D505AE60F1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Pressure Relief Valve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4169BEA-2EC1-B923-48B2-59463C105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3718C76-94B5-2399-EFCA-F4B12F73C7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39A127F-6F95-7C96-7011-44CBF7C0CDDF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0AB03FC-6AA7-1310-3DC1-87AAC8ABB9D7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26F36FE-1976-3140-F62E-B9C827E34432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837A749-5AC3-1CA2-A3E9-9A66F44050B9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435D2BC-AEA4-00CD-D021-0ACFFE8DEFC8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F47BCE7-D122-DE31-2C20-FC5952BEBF2D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8A95C22-37D7-F9C8-0274-B73E6A24F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86976AD-13C1-3C0A-9BB5-5C75C5ED5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4AEA452-77FD-73C8-C14D-8ECE08F8A6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CFF86F-B388-FE34-7B6F-45A8C63019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4273EAC-ED7C-CB05-3606-23779B1102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42C71E1-4D0B-D2C8-B89F-E5FBBC380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83FE521-EC7A-0BBC-752A-A16666D53314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00A935B-F942-CDF3-2236-A707965A6AD4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B4D4D89-EBED-B9D2-1350-6B663A8F901E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3F0BCBB-3A24-A131-1846-934A6793198E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2F92570-BB1F-6036-CFFC-EE721AD73904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Stirred Cell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3A3904F-B769-2E09-F732-157052F29981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5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F2445C6-A87F-70AC-280C-BEECD3345ACE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Permeate Outlet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46F000-4BF2-6238-461A-2BDBD388C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2D66A30-9676-067C-1530-519B11673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EB03E38-0B6A-DE0E-91FF-C10F2AFB7D13}"/>
              </a:ext>
            </a:extLst>
          </p:cNvPr>
          <p:cNvSpPr txBox="1"/>
          <p:nvPr/>
        </p:nvSpPr>
        <p:spPr>
          <a:xfrm>
            <a:off x="710926" y="5279548"/>
            <a:ext cx="9495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Multiple (two) salts are now placed within the feed and diafiltrate reservoirs.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Retentate and permeate conductivity data are obtained at 5 second intervals.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Scintillation vials are analyzed after the experiment (ICP-OES) to get ion specific concentrations. 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1A0B7-92C0-95DE-5942-7C3963BC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98F53F-57F6-A3DE-B669-D3D72DE65CD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D4607F-DC30-2CB4-A34B-EB745BC17A5D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C2EB0D5-ADA2-5607-22E2-6BB919829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5CAAF-3E10-B28B-9730-EA939B9941ED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Sodium Chloride Experiments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9D282-B2C2-3BE0-CE7F-D86B4AB88404}"/>
              </a:ext>
            </a:extLst>
          </p:cNvPr>
          <p:cNvSpPr txBox="1"/>
          <p:nvPr/>
        </p:nvSpPr>
        <p:spPr>
          <a:xfrm>
            <a:off x="-1" y="2736502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Salt</a:t>
            </a:r>
          </a:p>
        </p:txBody>
      </p:sp>
    </p:spTree>
    <p:extLst>
      <p:ext uri="{BB962C8B-B14F-4D97-AF65-F5344CB8AC3E}">
        <p14:creationId xmlns:p14="http://schemas.microsoft.com/office/powerpoint/2010/main" val="184622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7454-8071-8401-5C18-BA57C6E55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556E42-5151-06E7-3541-45245CBFA5C2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A60A78-6E0D-B3E5-1BD7-89630B31AAD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8E1ED02-06DC-94A2-BE99-67BFCA3D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ED4CD-1B8E-C8F3-1B04-7917EA98A6FC}"/>
              </a:ext>
            </a:extLst>
          </p:cNvPr>
          <p:cNvSpPr txBox="1"/>
          <p:nvPr/>
        </p:nvSpPr>
        <p:spPr>
          <a:xfrm>
            <a:off x="-1" y="88915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D8C2B1-69C8-BCA8-27FB-C8D9A799254B}"/>
              </a:ext>
            </a:extLst>
          </p:cNvPr>
          <p:cNvSpPr txBox="1"/>
          <p:nvPr/>
        </p:nvSpPr>
        <p:spPr>
          <a:xfrm>
            <a:off x="6527313" y="2824054"/>
            <a:ext cx="2752597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b="1" dirty="0"/>
              <a:t>Color depends on the salt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608FBA-9E97-1E6D-4F66-D34A62DF8337}"/>
              </a:ext>
            </a:extLst>
          </p:cNvPr>
          <p:cNvGrpSpPr/>
          <p:nvPr/>
        </p:nvGrpSpPr>
        <p:grpSpPr>
          <a:xfrm>
            <a:off x="2616809" y="2640973"/>
            <a:ext cx="4009895" cy="2425225"/>
            <a:chOff x="2616809" y="2640973"/>
            <a:chExt cx="4009895" cy="24252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0E77BC4-8AD9-7DF3-307A-AF8897FD9E2B}"/>
                </a:ext>
              </a:extLst>
            </p:cNvPr>
            <p:cNvGrpSpPr/>
            <p:nvPr/>
          </p:nvGrpSpPr>
          <p:grpSpPr>
            <a:xfrm>
              <a:off x="2616809" y="2640973"/>
              <a:ext cx="4009895" cy="2425225"/>
              <a:chOff x="2433979" y="2087873"/>
              <a:chExt cx="3600108" cy="272973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524C41C-DD43-C4B7-F856-BBBE391C0172}"/>
                  </a:ext>
                </a:extLst>
              </p:cNvPr>
              <p:cNvSpPr/>
              <p:nvPr/>
            </p:nvSpPr>
            <p:spPr>
              <a:xfrm>
                <a:off x="2487987" y="2222627"/>
                <a:ext cx="121863" cy="15438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Diamond 8">
                <a:extLst>
                  <a:ext uri="{FF2B5EF4-FFF2-40B4-BE49-F238E27FC236}">
                    <a16:creationId xmlns:a16="http://schemas.microsoft.com/office/drawing/2014/main" id="{0B658095-1F34-B33F-6736-B2B041E39E8B}"/>
                  </a:ext>
                </a:extLst>
              </p:cNvPr>
              <p:cNvSpPr/>
              <p:nvPr/>
            </p:nvSpPr>
            <p:spPr>
              <a:xfrm>
                <a:off x="2486707" y="3465699"/>
                <a:ext cx="123143" cy="154382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914396C-C655-B88C-F44B-76B115AFCA57}"/>
                  </a:ext>
                </a:extLst>
              </p:cNvPr>
              <p:cNvSpPr/>
              <p:nvPr/>
            </p:nvSpPr>
            <p:spPr>
              <a:xfrm>
                <a:off x="2487347" y="2532687"/>
                <a:ext cx="123143" cy="150569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31823-E66D-E165-E6C9-AC93B2B4DF24}"/>
                  </a:ext>
                </a:extLst>
              </p:cNvPr>
              <p:cNvSpPr txBox="1"/>
              <p:nvPr/>
            </p:nvSpPr>
            <p:spPr>
              <a:xfrm>
                <a:off x="2433979" y="2999457"/>
                <a:ext cx="229879" cy="415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A321CE6-3036-B13A-5633-D0CA0CAB583A}"/>
                  </a:ext>
                </a:extLst>
              </p:cNvPr>
              <p:cNvSpPr/>
              <p:nvPr/>
            </p:nvSpPr>
            <p:spPr>
              <a:xfrm>
                <a:off x="2487347" y="2830497"/>
                <a:ext cx="123143" cy="15056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44C1B2-E441-D103-DAEA-4D73C8167394}"/>
                  </a:ext>
                </a:extLst>
              </p:cNvPr>
              <p:cNvSpPr txBox="1"/>
              <p:nvPr/>
            </p:nvSpPr>
            <p:spPr>
              <a:xfrm>
                <a:off x="2609850" y="2087873"/>
                <a:ext cx="3424237" cy="2729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en-US" dirty="0"/>
                  <a:t>Permeability probe conductivity</a:t>
                </a:r>
              </a:p>
              <a:p>
                <a:pPr>
                  <a:lnSpc>
                    <a:spcPts val="2200"/>
                  </a:lnSpc>
                </a:pPr>
                <a:r>
                  <a:rPr lang="en-US" dirty="0"/>
                  <a:t>Retentate probe conductivity</a:t>
                </a:r>
              </a:p>
              <a:p>
                <a:pPr>
                  <a:lnSpc>
                    <a:spcPts val="2200"/>
                  </a:lnSpc>
                </a:pPr>
                <a:r>
                  <a:rPr lang="en-US" dirty="0"/>
                  <a:t>ICP feed and retentate</a:t>
                </a:r>
              </a:p>
              <a:p>
                <a:pPr>
                  <a:lnSpc>
                    <a:spcPts val="2200"/>
                  </a:lnSpc>
                </a:pPr>
                <a:r>
                  <a:rPr lang="en-US" dirty="0"/>
                  <a:t>Bulk permeate conductivity</a:t>
                </a:r>
              </a:p>
              <a:p>
                <a:pPr>
                  <a:lnSpc>
                    <a:spcPts val="2200"/>
                  </a:lnSpc>
                </a:pPr>
                <a:r>
                  <a:rPr lang="en-US" dirty="0"/>
                  <a:t>ICP permeate </a:t>
                </a:r>
              </a:p>
              <a:p>
                <a:pPr>
                  <a:lnSpc>
                    <a:spcPts val="2200"/>
                  </a:lnSpc>
                </a:pPr>
                <a:r>
                  <a:rPr lang="en-US" dirty="0"/>
                  <a:t>Retentate mass balance</a:t>
                </a:r>
              </a:p>
            </p:txBody>
          </p:sp>
        </p:grp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31DD5F63-1B03-9C44-21E9-FB5C137B9DCD}"/>
                </a:ext>
              </a:extLst>
            </p:cNvPr>
            <p:cNvSpPr>
              <a:spLocks/>
            </p:cNvSpPr>
            <p:nvPr/>
          </p:nvSpPr>
          <p:spPr>
            <a:xfrm>
              <a:off x="2675539" y="4124606"/>
              <a:ext cx="137160" cy="137160"/>
            </a:xfrm>
            <a:prstGeom prst="triangle">
              <a:avLst/>
            </a:prstGeom>
            <a:solidFill>
              <a:srgbClr val="E26FFF"/>
            </a:solidFill>
            <a:ln>
              <a:solidFill>
                <a:srgbClr val="E26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7D6BCE-02ED-B6BF-BF77-039A032BFB83}"/>
              </a:ext>
            </a:extLst>
          </p:cNvPr>
          <p:cNvGrpSpPr/>
          <p:nvPr/>
        </p:nvGrpSpPr>
        <p:grpSpPr>
          <a:xfrm>
            <a:off x="6695284" y="3088901"/>
            <a:ext cx="3951165" cy="929100"/>
            <a:chOff x="6695284" y="3088901"/>
            <a:chExt cx="3951165" cy="9291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1824EA1-6BF8-3503-96E9-34DE995BA0BF}"/>
                </a:ext>
              </a:extLst>
            </p:cNvPr>
            <p:cNvGrpSpPr/>
            <p:nvPr/>
          </p:nvGrpSpPr>
          <p:grpSpPr>
            <a:xfrm>
              <a:off x="6695284" y="3088901"/>
              <a:ext cx="3951165" cy="929100"/>
              <a:chOff x="2486707" y="2707337"/>
              <a:chExt cx="3547380" cy="1045759"/>
            </a:xfrm>
          </p:grpSpPr>
          <p:sp>
            <p:nvSpPr>
              <p:cNvPr id="29" name="Diamond 28">
                <a:extLst>
                  <a:ext uri="{FF2B5EF4-FFF2-40B4-BE49-F238E27FC236}">
                    <a16:creationId xmlns:a16="http://schemas.microsoft.com/office/drawing/2014/main" id="{F65243E9-90C9-8563-27A7-627E59110FC1}"/>
                  </a:ext>
                </a:extLst>
              </p:cNvPr>
              <p:cNvSpPr/>
              <p:nvPr/>
            </p:nvSpPr>
            <p:spPr>
              <a:xfrm>
                <a:off x="2486707" y="3131023"/>
                <a:ext cx="123143" cy="154382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BE3FD09-CEA2-9D60-B836-C6CF386C23B1}"/>
                  </a:ext>
                </a:extLst>
              </p:cNvPr>
              <p:cNvSpPr/>
              <p:nvPr/>
            </p:nvSpPr>
            <p:spPr>
              <a:xfrm>
                <a:off x="2487347" y="2830497"/>
                <a:ext cx="123143" cy="15056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A470428-9FBD-5977-ABBC-8235D3B12691}"/>
                  </a:ext>
                </a:extLst>
              </p:cNvPr>
              <p:cNvSpPr txBox="1"/>
              <p:nvPr/>
            </p:nvSpPr>
            <p:spPr>
              <a:xfrm>
                <a:off x="2609850" y="2707337"/>
                <a:ext cx="3424237" cy="1045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en-US" dirty="0"/>
                  <a:t>ICP feed and retentate</a:t>
                </a:r>
              </a:p>
              <a:p>
                <a:pPr>
                  <a:lnSpc>
                    <a:spcPts val="2200"/>
                  </a:lnSpc>
                </a:pPr>
                <a:r>
                  <a:rPr lang="en-US" dirty="0"/>
                  <a:t>ICP permeate </a:t>
                </a:r>
              </a:p>
              <a:p>
                <a:pPr>
                  <a:lnSpc>
                    <a:spcPts val="2200"/>
                  </a:lnSpc>
                </a:pPr>
                <a:r>
                  <a:rPr lang="en-US" dirty="0"/>
                  <a:t>Stirred cell mass balance</a:t>
                </a:r>
              </a:p>
            </p:txBody>
          </p:sp>
        </p:grp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B4C3D2F-F56E-2AE6-BB58-D25D1E2B9042}"/>
                </a:ext>
              </a:extLst>
            </p:cNvPr>
            <p:cNvSpPr>
              <a:spLocks/>
            </p:cNvSpPr>
            <p:nvPr/>
          </p:nvSpPr>
          <p:spPr>
            <a:xfrm>
              <a:off x="6695284" y="3748606"/>
              <a:ext cx="137160" cy="13716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004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CEC4-E466-5D81-181B-1A8FF76A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B9C5E6-7DE4-AB1F-BB0F-3A9E559A41C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450A3-81F5-B91C-776C-B248270AB8C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05.07.24_NaCl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B3877-8624-E9D7-6F78-2BA5BB3929C0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50 mM</a:t>
            </a:r>
          </a:p>
        </p:txBody>
      </p: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E843742F-1F07-D84B-A705-5D3DE2948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6" name="Picture 5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0FA27844-B78C-06A1-AD42-BC5D1BA43B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307" y="999606"/>
            <a:ext cx="5334000" cy="4000500"/>
          </a:xfrm>
          <a:prstGeom prst="rect">
            <a:avLst/>
          </a:prstGeom>
        </p:spPr>
      </p:pic>
      <p:pic>
        <p:nvPicPr>
          <p:cNvPr id="10" name="Picture 9" descr="A graph of a normalized curve&#10;&#10;AI-generated content may be incorrect.">
            <a:extLst>
              <a:ext uri="{FF2B5EF4-FFF2-40B4-BE49-F238E27FC236}">
                <a16:creationId xmlns:a16="http://schemas.microsoft.com/office/drawing/2014/main" id="{24A7AAB0-FF41-4644-BF50-74222AC2C1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7" y="100148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13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C851-23A2-6C9E-E876-CB381BE5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3A717D-6E26-B425-7C30-EC319D6B8DB1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C910A-6657-478F-B64F-3B998178D5F5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NF270_MC3, 07.09.24_NaCl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6A759-FFC2-BFBE-7281-FD31D0D1CFEC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Bad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150 mM NaCl</a:t>
            </a:r>
          </a:p>
        </p:txBody>
      </p:sp>
      <p:pic>
        <p:nvPicPr>
          <p:cNvPr id="6" name="Graphic 5" descr="Checkbox Crossed with solid fill">
            <a:extLst>
              <a:ext uri="{FF2B5EF4-FFF2-40B4-BE49-F238E27FC236}">
                <a16:creationId xmlns:a16="http://schemas.microsoft.com/office/drawing/2014/main" id="{A0C0AC5D-BFEF-5BB5-360A-F8BC53537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0400" y="422972"/>
            <a:ext cx="914400" cy="914400"/>
          </a:xfrm>
          <a:prstGeom prst="rect">
            <a:avLst/>
          </a:prstGeom>
        </p:spPr>
      </p:pic>
      <p:pic>
        <p:nvPicPr>
          <p:cNvPr id="7" name="Picture 6" descr="A graph of a number of red dots&#10;&#10;AI-generated content may be incorrect.">
            <a:extLst>
              <a:ext uri="{FF2B5EF4-FFF2-40B4-BE49-F238E27FC236}">
                <a16:creationId xmlns:a16="http://schemas.microsoft.com/office/drawing/2014/main" id="{2E21AF02-0FDE-B0EA-ECBE-13482F4F2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941782"/>
            <a:ext cx="5334000" cy="4000500"/>
          </a:xfrm>
          <a:prstGeom prst="rect">
            <a:avLst/>
          </a:prstGeom>
        </p:spPr>
      </p:pic>
      <p:pic>
        <p:nvPicPr>
          <p:cNvPr id="10" name="Picture 9" descr="A graph showing the amount of time&#10;&#10;AI-generated content may be incorrect.">
            <a:extLst>
              <a:ext uri="{FF2B5EF4-FFF2-40B4-BE49-F238E27FC236}">
                <a16:creationId xmlns:a16="http://schemas.microsoft.com/office/drawing/2014/main" id="{FA427DA5-35F1-4E12-7427-DAB9437E08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9" y="941782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5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1791-A1C3-A1C4-D1CF-A84385B5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1EFC9D-86C1-2A50-03CD-D63FE976361F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8C730-88F3-4666-95A0-E84B165BB44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NF270_MC3, 07.22.24_SNaCl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6D079-7897-FD6E-DF96-9FB2222E3F27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150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milliQ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water (0 mM NaCl)</a:t>
            </a:r>
          </a:p>
        </p:txBody>
      </p:sp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C90E16A9-139B-C2E4-7D2A-FBFB10AF3F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7" name="Picture 6" descr="A graph of a number of red triangles&#10;&#10;AI-generated content may be incorrect.">
            <a:extLst>
              <a:ext uri="{FF2B5EF4-FFF2-40B4-BE49-F238E27FC236}">
                <a16:creationId xmlns:a16="http://schemas.microsoft.com/office/drawing/2014/main" id="{AEFFCF72-EDE9-A162-4233-BC20DB543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698" y="855620"/>
            <a:ext cx="5334000" cy="4000500"/>
          </a:xfrm>
          <a:prstGeom prst="rect">
            <a:avLst/>
          </a:prstGeom>
        </p:spPr>
      </p:pic>
      <p:pic>
        <p:nvPicPr>
          <p:cNvPr id="10" name="Picture 9" descr="A graph showing the number of times&#10;&#10;AI-generated content may be incorrect.">
            <a:extLst>
              <a:ext uri="{FF2B5EF4-FFF2-40B4-BE49-F238E27FC236}">
                <a16:creationId xmlns:a16="http://schemas.microsoft.com/office/drawing/2014/main" id="{46DE30AB-F182-063E-0B87-FB55E8C24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6" y="85562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1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EB06C-8EF4-734E-A9F9-456D7A97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87227C-F878-F1EC-EB8A-DE04FA0D453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F42A5-E6E8-100C-DBDB-2B1E42FB11D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07.11.24_SNaCl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9B470-1483-489E-C178-1C0352722B32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150 mM NaCl</a:t>
            </a:r>
          </a:p>
        </p:txBody>
      </p:sp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3C9F361D-0C30-5B41-5DD0-40D57E38B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7" name="Picture 6" descr="A graph of a number of red triangles&#10;&#10;AI-generated content may be incorrect.">
            <a:extLst>
              <a:ext uri="{FF2B5EF4-FFF2-40B4-BE49-F238E27FC236}">
                <a16:creationId xmlns:a16="http://schemas.microsoft.com/office/drawing/2014/main" id="{E017BB7B-915D-EE8C-CF8C-706F3B1AB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757" y="828585"/>
            <a:ext cx="5334000" cy="4000500"/>
          </a:xfrm>
          <a:prstGeom prst="rect">
            <a:avLst/>
          </a:prstGeom>
        </p:spPr>
      </p:pic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879454D5-31A3-5646-4CBF-C5525B8F2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43" y="82858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0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A4AF-1A3C-C4A5-3D3D-ED1731A6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9C6EA-AC58-6B9E-DDA4-4637482DD81D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FC07-6745-0477-1670-9EC2B4422BDA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07.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.24_NaCl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9806A4-42B9-CA6A-A504-3C0F472FF87F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150 mM NaCl</a:t>
            </a:r>
          </a:p>
        </p:txBody>
      </p:sp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51F93DBA-516D-2A61-FA1E-C53F40B0C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7" name="Picture 6" descr="A graph of a number of red dots&#10;&#10;AI-generated content may be incorrect.">
            <a:extLst>
              <a:ext uri="{FF2B5EF4-FFF2-40B4-BE49-F238E27FC236}">
                <a16:creationId xmlns:a16="http://schemas.microsoft.com/office/drawing/2014/main" id="{CE0981A3-7FD7-3685-9D85-AD48C1E5F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757" y="828585"/>
            <a:ext cx="5334000" cy="4000500"/>
          </a:xfrm>
          <a:prstGeom prst="rect">
            <a:avLst/>
          </a:prstGeom>
        </p:spPr>
      </p:pic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15310BC8-F2E8-6879-54FE-2031B5323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858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14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816B-1DF2-7D7E-6332-525BD92A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3AA66C-C90F-D2F1-7914-1011AE868559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C8D82-DC38-13DC-5C6F-9E379EA66B3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07.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.24_SNaCl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C2E87-1904-904B-D1C6-B3BB0E31F47C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150 mM NaCl</a:t>
            </a:r>
          </a:p>
        </p:txBody>
      </p:sp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CB36DDAC-CF88-B9CB-44F3-98B1B09058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number of red triangles&#10;&#10;AI-generated content may be incorrect.">
            <a:extLst>
              <a:ext uri="{FF2B5EF4-FFF2-40B4-BE49-F238E27FC236}">
                <a16:creationId xmlns:a16="http://schemas.microsoft.com/office/drawing/2014/main" id="{79F9262B-7901-B731-A3AC-1DD4641FF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821" y="871941"/>
            <a:ext cx="5334000" cy="4000500"/>
          </a:xfrm>
          <a:prstGeom prst="rect">
            <a:avLst/>
          </a:prstGeom>
        </p:spPr>
      </p:pic>
      <p:pic>
        <p:nvPicPr>
          <p:cNvPr id="11" name="Picture 10" descr="A graph showing the time and time&#10;&#10;AI-generated content may be incorrect.">
            <a:extLst>
              <a:ext uri="{FF2B5EF4-FFF2-40B4-BE49-F238E27FC236}">
                <a16:creationId xmlns:a16="http://schemas.microsoft.com/office/drawing/2014/main" id="{B2A8FE17-8B42-F066-8CF8-A8FEE9391B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7194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58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1084-274C-FE50-60E1-DCFDB2E4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3F8ADA-C348-06E2-B6AF-50AC7061C91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F2D3C-88E9-48A8-BECC-A2F79B972629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07.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.24_S2NaCl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82436-15F5-0EF6-01BB-BF97DB52E045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milliQ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(0 mM NaCl)</a:t>
            </a:r>
          </a:p>
        </p:txBody>
      </p:sp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4FBF6867-F670-9834-5532-E4980FA333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number of red triangles&#10;&#10;AI-generated content may be incorrect.">
            <a:extLst>
              <a:ext uri="{FF2B5EF4-FFF2-40B4-BE49-F238E27FC236}">
                <a16:creationId xmlns:a16="http://schemas.microsoft.com/office/drawing/2014/main" id="{7DFB8774-D6B0-2A5C-FC62-2B6BD840F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299" y="845945"/>
            <a:ext cx="5334000" cy="4000500"/>
          </a:xfrm>
          <a:prstGeom prst="rect">
            <a:avLst/>
          </a:prstGeom>
        </p:spPr>
      </p:pic>
      <p:pic>
        <p:nvPicPr>
          <p:cNvPr id="11" name="Picture 10" descr="A graph showing the number of times&#10;&#10;AI-generated content may be incorrect.">
            <a:extLst>
              <a:ext uri="{FF2B5EF4-FFF2-40B4-BE49-F238E27FC236}">
                <a16:creationId xmlns:a16="http://schemas.microsoft.com/office/drawing/2014/main" id="{3EE69884-1E27-8102-6D23-5142BAB777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41" y="84594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78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78F12-FB69-4648-A62D-92C39C60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255549-11FB-AA1E-23C2-5DD9929B15D1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C4C67-2385-A623-4FAD-6CEA540BC7AB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05.27.26_NaCl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C163F-78E6-06B5-0B5A-E5B105F6C645}"/>
              </a:ext>
            </a:extLst>
          </p:cNvPr>
          <p:cNvSpPr txBox="1"/>
          <p:nvPr/>
        </p:nvSpPr>
        <p:spPr>
          <a:xfrm>
            <a:off x="234031" y="5003866"/>
            <a:ext cx="2966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150 mM</a:t>
            </a:r>
          </a:p>
        </p:txBody>
      </p: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586E64CB-DC75-7FAE-97C8-D7A53CC5A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8905CA-3586-350A-0097-CD71F3D358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907296"/>
            <a:ext cx="5334000" cy="400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6D94EB-D4DC-C55C-3D8A-08D0046F7C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90729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8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ABF2-BD41-7B62-0447-D682C0A2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7584C5-2EDF-6490-BBDD-88039982D2AC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E267B-F96C-6C66-F84E-B12C7EB27D3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1D97067-3FFA-586E-573C-6E3D9742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50EFA-7273-174B-A143-04720149290E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Calcium Chloride Experiments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CEE7F-80A0-9739-20E1-6CF3D0CE1AC5}"/>
              </a:ext>
            </a:extLst>
          </p:cNvPr>
          <p:cNvSpPr txBox="1"/>
          <p:nvPr/>
        </p:nvSpPr>
        <p:spPr>
          <a:xfrm>
            <a:off x="-1" y="2736502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Salt</a:t>
            </a:r>
          </a:p>
        </p:txBody>
      </p:sp>
    </p:spTree>
    <p:extLst>
      <p:ext uri="{BB962C8B-B14F-4D97-AF65-F5344CB8AC3E}">
        <p14:creationId xmlns:p14="http://schemas.microsoft.com/office/powerpoint/2010/main" val="67397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4C361-0113-0AA8-5258-71FB11D96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5FFF36-ED23-565D-374A-5D1536D24CD5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DCA72D-C592-5E8D-E1ED-71BB923BEEF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5A9800C-050A-9E54-CB2F-1656B47D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5DC45-4630-DB61-664B-DB07DAFE1BD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05.07.24_CaCl2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8FD64-20EF-D714-73E4-13860F1CA87E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50 mM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C2F060DF-51AD-AB70-50A5-FA563FC63D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15D4EAE7-84CF-A1A5-518E-FD01B8BA9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31" y="1003366"/>
            <a:ext cx="5334000" cy="4000500"/>
          </a:xfrm>
          <a:prstGeom prst="rect">
            <a:avLst/>
          </a:prstGeom>
        </p:spPr>
      </p:pic>
      <p:pic>
        <p:nvPicPr>
          <p:cNvPr id="11" name="Picture 10" descr="A graph of a concentration of ca2&#10;&#10;AI-generated content may be incorrect.">
            <a:extLst>
              <a:ext uri="{FF2B5EF4-FFF2-40B4-BE49-F238E27FC236}">
                <a16:creationId xmlns:a16="http://schemas.microsoft.com/office/drawing/2014/main" id="{593CC806-223D-2217-CBEE-44D3012C1E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537" y="100336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17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019B-CC0F-B179-E33C-23B71A1F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AB1ABC-7D09-B023-0009-6831E8250AE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A223F-124B-299F-AE2D-1349A72BF24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A09976B-78F6-EBCC-34CF-879338A7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091A0-BA6C-400D-4063-E796C60E6724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NF270_MC3, 07.11.24_CaCl2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C74BB-E55D-4076-DB30-B70036EA5721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B7E20550-E8FC-10C4-CA04-679B239B9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60094DC0-A499-10BA-FDEC-BDBDEEC94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61363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number of different times&#10;&#10;AI-generated content may be incorrect.">
            <a:extLst>
              <a:ext uri="{FF2B5EF4-FFF2-40B4-BE49-F238E27FC236}">
                <a16:creationId xmlns:a16="http://schemas.microsoft.com/office/drawing/2014/main" id="{4255092B-63A0-A64E-B870-E0D0D1B8E7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779" y="961363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97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C61E-2FAF-2B73-8FE5-F2035E04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3AC7A-D7E0-CD4A-2FB7-9CDF77882CB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C252B4-A803-5E83-E679-09A91698A60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0428FCA-0BB4-0912-5D86-E6A16A10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0EAA1-5374-83DB-B4AD-4DE23AFBD26B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NF270_MC3, 07.11.24_SCaCl2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2F77F-474B-487D-B845-0178434B5D82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AE85C712-2850-CBFA-B740-04DE1EE2E4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a concentration of ca2&#10;&#10;AI-generated content may be incorrect.">
            <a:extLst>
              <a:ext uri="{FF2B5EF4-FFF2-40B4-BE49-F238E27FC236}">
                <a16:creationId xmlns:a16="http://schemas.microsoft.com/office/drawing/2014/main" id="{9D26C76C-A43B-EB1E-4239-F81660947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484" y="949291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DDC30BD6-FAFD-A46C-7303-2194069005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52" y="94929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6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E910-58A9-6798-B68C-0EFAF852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A04472-8873-506B-23A9-8028DB9B9236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2FF06-C52C-2A17-E78A-FC466D9E6A2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BDCD70C-DC50-ABCB-E5A1-279FDF91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B7D9D-037F-DB4F-D64A-549AA8028BC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NF270_MC3, 07.12.24_S2CaCl2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FBCC7-684A-0686-6662-C6E8BAFBCF1B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Bad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</a:t>
            </a:r>
          </a:p>
        </p:txBody>
      </p:sp>
      <p:pic>
        <p:nvPicPr>
          <p:cNvPr id="11" name="Picture 10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FF189232-0F0F-BDF2-8B4D-DCDEE8672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78060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number of different levels of concentration&#10;&#10;AI-generated content may be incorrect.">
            <a:extLst>
              <a:ext uri="{FF2B5EF4-FFF2-40B4-BE49-F238E27FC236}">
                <a16:creationId xmlns:a16="http://schemas.microsoft.com/office/drawing/2014/main" id="{6733E51F-7F71-D59C-6E19-C999F3075E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491" y="878060"/>
            <a:ext cx="5334000" cy="4000500"/>
          </a:xfrm>
          <a:prstGeom prst="rect">
            <a:avLst/>
          </a:prstGeom>
        </p:spPr>
      </p:pic>
      <p:pic>
        <p:nvPicPr>
          <p:cNvPr id="7" name="Graphic 6" descr="Checkbox Crossed with solid fill">
            <a:extLst>
              <a:ext uri="{FF2B5EF4-FFF2-40B4-BE49-F238E27FC236}">
                <a16:creationId xmlns:a16="http://schemas.microsoft.com/office/drawing/2014/main" id="{1CCA0897-5515-8135-067F-AC1758F18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0400" y="4229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50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54E3E-C3F8-1EF5-13E3-70706A6F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8EE6BC-315E-3B41-C02F-1A397AE2A70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92EA4D-D6A3-029B-8CDA-7D76913D284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A843B98-CE75-324C-81FF-019C2EAD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F27AD-C521-3EF8-54E4-74254E5B22D4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05.27.26_CaCl2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50E6A-2C8F-BC4F-2818-A61DBB49CF4A}"/>
              </a:ext>
            </a:extLst>
          </p:cNvPr>
          <p:cNvSpPr txBox="1"/>
          <p:nvPr/>
        </p:nvSpPr>
        <p:spPr>
          <a:xfrm>
            <a:off x="234031" y="5003866"/>
            <a:ext cx="3081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75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697467B0-3720-3C64-CC7A-C41EEFBA79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6C508F-1997-9AA7-84E4-7C1073F77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662" y="845945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121EBF-8C84-08C5-536C-6A49E25F6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51" y="872983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48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6E57-BD9B-0EA4-8A60-48D7A548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71E7C6-460E-7129-C850-91901FAD6D0C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3352D9-D46E-EECF-48BE-3E5FB71F9E8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2516BB3-0297-C2F5-1DAC-B5C37B8F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650E4-5EF5-208A-8C22-CD57F048E54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06.27.26_CaCl2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24035-4E2C-8B12-2B3D-1FDA0E0DF82C}"/>
              </a:ext>
            </a:extLst>
          </p:cNvPr>
          <p:cNvSpPr txBox="1"/>
          <p:nvPr/>
        </p:nvSpPr>
        <p:spPr>
          <a:xfrm>
            <a:off x="234031" y="5003866"/>
            <a:ext cx="3081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75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0CE6886B-F28A-3487-6ACA-FF6D52204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9FAEC2-43AE-BA53-DC47-5DDF75456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74" y="954020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D4C6DC-BAD4-D441-500F-396FDD7AE8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390" y="95402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6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5C72-F32B-9A48-922D-9435B609F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1CB51-1ABD-AE3E-C4F8-B66508D151F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88C8D-26A7-D6B5-E916-C4B5993C7F1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76807E6-32DD-2C8A-9C44-07B685AA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8B6F8-CBCC-F000-31B4-DDDCA3FF91AA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Lanthanum Chloride Experiments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96754-33F1-8FA4-6F47-871D084C2C9D}"/>
              </a:ext>
            </a:extLst>
          </p:cNvPr>
          <p:cNvSpPr txBox="1"/>
          <p:nvPr/>
        </p:nvSpPr>
        <p:spPr>
          <a:xfrm>
            <a:off x="-1" y="2736502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Salt</a:t>
            </a:r>
          </a:p>
        </p:txBody>
      </p:sp>
    </p:spTree>
    <p:extLst>
      <p:ext uri="{BB962C8B-B14F-4D97-AF65-F5344CB8AC3E}">
        <p14:creationId xmlns:p14="http://schemas.microsoft.com/office/powerpoint/2010/main" val="1815419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9ABDA-1977-E3A4-820C-B2429DDD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F9B5D7-BB3B-52BB-064E-F1FA79337F7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8B8D6-221F-05C1-7521-2E07B15D5C9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FC8FFD-608C-886E-4413-08A30007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3A089-8BAF-8A3D-CAE3-6AE3E8FBD1A2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05.21.24_LaCl3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B4C95-C0C9-CF6E-B097-3DB09F367425}"/>
              </a:ext>
            </a:extLst>
          </p:cNvPr>
          <p:cNvSpPr txBox="1"/>
          <p:nvPr/>
        </p:nvSpPr>
        <p:spPr>
          <a:xfrm>
            <a:off x="234031" y="5003866"/>
            <a:ext cx="2890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20 mM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A373BF54-752F-9762-2FD4-4CCEAE4C5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0" name="Picture 9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8C0E90E6-8899-6B45-39A1-2EE68F3D1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979" y="950747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B6C43C6E-CE27-DE8F-A94E-8502926A78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4929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87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23ACC-024F-49BE-54F3-B084CFA1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C1D0BD-3472-4C60-D02C-91D874E1DCF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2AE60-7BEE-9921-32DE-C00CDF408EE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07.11.24_SLaCl3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8BF07-30FA-727D-8C37-676C7423EA93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20 mM LaCl3</a:t>
            </a:r>
          </a:p>
        </p:txBody>
      </p:sp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2EA5B895-F310-9252-045D-F465C6099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989336A3-6125-0CCA-A425-1890F10ED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57" y="995846"/>
            <a:ext cx="5334000" cy="4000500"/>
          </a:xfrm>
          <a:prstGeom prst="rect">
            <a:avLst/>
          </a:prstGeom>
        </p:spPr>
      </p:pic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AA637F04-FF5F-9BA9-D548-4352883581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43" y="99960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46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D730-A9A5-B1EC-2E5E-65BD7EC9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9ED5C-018D-465A-E881-9DAF601562A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9AD8A-87CB-EC33-AC3C-B743D6548D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36CAC59-A7D4-CA38-97AA-60CD3AB4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4CA65-F082-058B-60B5-2845E429D54B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Multicomponent Experiments</a:t>
            </a:r>
          </a:p>
        </p:txBody>
      </p:sp>
    </p:spTree>
    <p:extLst>
      <p:ext uri="{BB962C8B-B14F-4D97-AF65-F5344CB8AC3E}">
        <p14:creationId xmlns:p14="http://schemas.microsoft.com/office/powerpoint/2010/main" val="826700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D3CD-7BDB-0A6C-3F47-5C793859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CB2845-43FB-8BBF-D43C-BED26772AC77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43F8E-34FC-03C9-0F43-0210085CBB5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6D1C011-BAB8-E0B4-5C95-B1A58097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46B5D-887B-CD6F-43DF-472F3FEE9338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05.08.24_E1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6C3A51-08D5-4306-7F15-3F5DA621B2D7}"/>
              </a:ext>
            </a:extLst>
          </p:cNvPr>
          <p:cNvSpPr txBox="1"/>
          <p:nvPr/>
        </p:nvSpPr>
        <p:spPr>
          <a:xfrm>
            <a:off x="234031" y="5003866"/>
            <a:ext cx="4298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4 mM CaCl2; 50 mM NaCl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999CF672-02A7-8B88-7F48-7579C756C2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8" name="Picture 7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AC318DC7-CC7F-A5C3-B04E-B38214E47B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43" y="949291"/>
            <a:ext cx="5334000" cy="4000500"/>
          </a:xfrm>
          <a:prstGeom prst="rect">
            <a:avLst/>
          </a:prstGeom>
        </p:spPr>
      </p:pic>
      <p:pic>
        <p:nvPicPr>
          <p:cNvPr id="12" name="Picture 11" descr="A graph of a concentration&#10;&#10;AI-generated content may be incorrect.">
            <a:extLst>
              <a:ext uri="{FF2B5EF4-FFF2-40B4-BE49-F238E27FC236}">
                <a16:creationId xmlns:a16="http://schemas.microsoft.com/office/drawing/2014/main" id="{79A863CA-8736-9021-109F-45D84617E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94929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8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13EE-E5B7-101E-5DB6-866F406F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EA6CBC-C004-55BC-679C-91521BDF101E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C8B93-3C5A-71B3-C170-A8B179EB058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43E9D6-6C49-C914-23C7-11898DC4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DD1D-B2AA-7DB1-5B49-5AE7F4A1C25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05.08.24_E2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3B661-C04F-7A2D-C49A-B69065839EDF}"/>
              </a:ext>
            </a:extLst>
          </p:cNvPr>
          <p:cNvSpPr txBox="1"/>
          <p:nvPr/>
        </p:nvSpPr>
        <p:spPr>
          <a:xfrm>
            <a:off x="234031" y="5003866"/>
            <a:ext cx="4487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8 mM CaCl2; 50 mM NaCl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AB86B5E1-6684-F98C-2DA1-6ACE4C2535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8" name="Picture 7" descr="A graph of different colored triangles&#10;&#10;AI-generated content may be incorrect.">
            <a:extLst>
              <a:ext uri="{FF2B5EF4-FFF2-40B4-BE49-F238E27FC236}">
                <a16:creationId xmlns:a16="http://schemas.microsoft.com/office/drawing/2014/main" id="{BDC2AE0B-4627-57AC-4D30-A444AA6A3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491" y="949291"/>
            <a:ext cx="5334000" cy="4000500"/>
          </a:xfrm>
          <a:prstGeom prst="rect">
            <a:avLst/>
          </a:prstGeom>
        </p:spPr>
      </p:pic>
      <p:pic>
        <p:nvPicPr>
          <p:cNvPr id="12" name="Picture 11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515F7796-E732-51E8-119F-9A4200DFD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43" y="94929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00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4011-BED8-ABEC-9BA4-041116CF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521CB6-40CE-BDED-59D0-8CE61F11EB2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36C26-5237-4B2E-FD5B-265F59C6EF00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B977111-F72C-28D6-95B4-DEC1B16A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47CB0-2329-6264-E2C2-68A97F8B43FF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06.01.25_E3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2B6E5-0B0C-0FA2-2670-C1967BA9A948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50 mM CaCl2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E6B1F-E87A-DC85-F63D-1A9AA8972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727" y="982636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39029A-2E01-8E3B-0394-8BB59A5D43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99300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75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A349-F1A8-08A9-31BE-3F107262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E1520A-6DD7-D4EF-6B8F-24762B7521A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7922B8-AB4E-1ECE-23CB-2B9936617F2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57CB184-7EBC-AE44-10F1-C6AD83BD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66DE4-3184-FFFF-16D3-E6C502D2BD5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06.05.26_E3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A5E5E-56A4-8527-B429-01C54E81BFCD}"/>
              </a:ext>
            </a:extLst>
          </p:cNvPr>
          <p:cNvSpPr txBox="1"/>
          <p:nvPr/>
        </p:nvSpPr>
        <p:spPr>
          <a:xfrm>
            <a:off x="234031" y="5003866"/>
            <a:ext cx="4260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50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B526DF46-5E51-2DD2-B49E-FE39D53BA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A7F5E3-3E20-F130-C0C4-1A812A27E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031" y="927289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D8FDA9-64C1-FAC5-DC7D-452FCFBFD9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59" y="92728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01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5AF3-2E40-C063-1449-2147FC4DC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2639DB-CE42-732E-4DA5-798384628036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81CEB4-6792-B777-456D-5AE86A970E2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B413258-84F9-8F6D-4631-06D0F464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A3346-569E-1887-1445-8F706917418F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06.01.26_E4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7D7DAE-CF83-B07E-C5B5-167F8BC1AF8B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50 mM CaCl2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52105-C395-5845-E1C9-CD47C2B50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57" y="1024111"/>
            <a:ext cx="5334000" cy="400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92F677-BBBD-88DB-983B-790179DBD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89" y="102411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50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8FEE-1502-A78D-9353-C19439BA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73D740-4441-E339-E219-E3497A60D0E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6F4B6-0AAC-121D-5067-DE760BF6794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F16FF98-CD04-497A-2349-AAF12859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B919A-46B6-4BB6-BD5C-03C263043D6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06.05.26_E4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D0B7F-2159-AE8A-3619-0BC3DF8A51F9}"/>
              </a:ext>
            </a:extLst>
          </p:cNvPr>
          <p:cNvSpPr txBox="1"/>
          <p:nvPr/>
        </p:nvSpPr>
        <p:spPr>
          <a:xfrm>
            <a:off x="234031" y="5003866"/>
            <a:ext cx="4328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50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8F69F847-7570-2267-3767-D0009784D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D76CC-4D9D-3033-4F23-245DEB12C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75" y="1078615"/>
            <a:ext cx="5334000" cy="400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F8B3C2-116B-5372-F0D9-B5BAA0C2C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7861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40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693F-67C7-9DDA-B395-36698F12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5002E7-BC07-0506-FDE2-C24D527520F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AA6F1D-B8F8-CA33-C4AE-CC4B0A754F0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EDF25CA-F0F6-B4DE-4D0E-960959D3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9074D-6B64-7B04-26D7-263FCDDEF60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05.09.24_E5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3F858-4840-CE7E-37C8-666452EF0AA8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NaCl; 1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NaCl; 50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A6ECE744-7086-BE25-FF1D-79661EFB6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a concentration&#10;&#10;AI-generated content may be incorrect.">
            <a:extLst>
              <a:ext uri="{FF2B5EF4-FFF2-40B4-BE49-F238E27FC236}">
                <a16:creationId xmlns:a16="http://schemas.microsoft.com/office/drawing/2014/main" id="{ECD61687-5645-24D2-5566-37844562A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37" y="878249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showing the number of points&#10;&#10;AI-generated content may be incorrect.">
            <a:extLst>
              <a:ext uri="{FF2B5EF4-FFF2-40B4-BE49-F238E27FC236}">
                <a16:creationId xmlns:a16="http://schemas.microsoft.com/office/drawing/2014/main" id="{671A0524-41E0-DDC9-4FB1-A88B2FD0E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7824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51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68B7-DE9B-3A10-AD1A-0E16465E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EAF9B-AC13-BA5A-C076-C59C06BC0FB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EEA2E-1955-E1F8-C0C8-9CD4D45EBD1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64A0650-F9AA-A189-B045-0C5CE2BE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511C7-F590-E993-87CC-6AE53532CFF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05.21.24_E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BF48D-B48E-383E-9E0C-D53E3BA711DB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C2B79028-5F8F-454C-C8F7-A1AD779B0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35723002-0165-59C3-BF25-2340B82ED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57" y="945539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EF701CBB-C6DA-40C5-41BF-0772FDA7EA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4553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13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49AE-D264-4725-ECAA-F6BFB234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B9394C-1465-6BF4-3C42-56B43DA88DF1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EAEE07-8706-63DA-C1DC-5E2B29C514D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A5606F1-471F-BCC4-5C03-962738E8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0B3AB-E8DF-6976-57E3-E658310C8F54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05.21.24_E7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A17E6-205A-6E60-EFC6-9CF05AE1D15B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CaCl2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322216F9-9D16-A812-C39F-3B691F2E2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4E504645-9660-E362-F7FB-94A40C1C50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757" y="784226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678132FA-1167-72BA-55F4-49886AEDC3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78422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85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0B99-4C3C-F03C-FB2A-9B084FFA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90BAB8-E92D-2B68-6096-35A782996BD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3BC859-9AD4-2045-68DC-537181ED367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0671E6-80CA-754B-3B79-0A378308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60628-945E-B7EE-19F8-A86FEF100871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05.22.24_E8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CAB8B-13EF-54EE-DF7C-2B7D8E427D20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6 mM CaCl2; 15 mM LaCl3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F8913FCC-F76D-B73F-9063-5933967C2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a number of different colored triangles&#10;&#10;AI-generated content may be incorrect.">
            <a:extLst>
              <a:ext uri="{FF2B5EF4-FFF2-40B4-BE49-F238E27FC236}">
                <a16:creationId xmlns:a16="http://schemas.microsoft.com/office/drawing/2014/main" id="{5A2352E7-378D-7A5D-DADA-C3FB60DE91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57" y="927289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986934BC-8D65-19D6-06E9-3B0FFCED7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1" y="92728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97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80217-B539-DEE9-2835-47F83D5F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178C22-FAFC-4416-3C50-57B15DCA03E1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5572F-2760-8043-C23F-2FB728B5F8D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104BF1-6D26-B332-FB05-BE4D5CDF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7786BC-C71E-3348-217E-300D577C3AB3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Excellent, but LaCl3 concentration is essentially zero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12 mM CaCl2; 15 mM LaCl3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85567-4A2A-11BE-6A7C-B2FF84FB6C34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05.22.24_E9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C272CA-2A79-F6FF-5D2B-B1D53677E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930" y="982636"/>
            <a:ext cx="5334000" cy="4000500"/>
          </a:xfrm>
          <a:prstGeom prst="rect">
            <a:avLst/>
          </a:prstGeom>
        </p:spPr>
      </p:pic>
      <p:pic>
        <p:nvPicPr>
          <p:cNvPr id="9" name="Picture 8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D7B6EE49-4289-15F2-F2BE-F0F56296C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982636"/>
            <a:ext cx="5334000" cy="4000500"/>
          </a:xfrm>
          <a:prstGeom prst="rect">
            <a:avLst/>
          </a:prstGeom>
        </p:spPr>
      </p:pic>
      <p:pic>
        <p:nvPicPr>
          <p:cNvPr id="3" name="Graphic 2" descr="Checkbox Crossed with solid fill">
            <a:extLst>
              <a:ext uri="{FF2B5EF4-FFF2-40B4-BE49-F238E27FC236}">
                <a16:creationId xmlns:a16="http://schemas.microsoft.com/office/drawing/2014/main" id="{C08315C3-1B5A-1925-07E8-F7E14B7C59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0553" y="446218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6233E8-3A54-553C-0C37-5900DD7AEB1C}"/>
              </a:ext>
            </a:extLst>
          </p:cNvPr>
          <p:cNvSpPr txBox="1"/>
          <p:nvPr/>
        </p:nvSpPr>
        <p:spPr>
          <a:xfrm>
            <a:off x="10624930" y="1312260"/>
            <a:ext cx="1305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NEEDS TO BE RERUN</a:t>
            </a:r>
          </a:p>
        </p:txBody>
      </p:sp>
    </p:spTree>
    <p:extLst>
      <p:ext uri="{BB962C8B-B14F-4D97-AF65-F5344CB8AC3E}">
        <p14:creationId xmlns:p14="http://schemas.microsoft.com/office/powerpoint/2010/main" val="4040968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2423-7352-6476-0731-962D089F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4BD149-A443-3862-39EE-8478422579C5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FDC1F-52E3-DAA8-F26B-D602BF72EEE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EC6679-8952-41BC-2627-A890005F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344EF-5BC8-9D42-60E2-9D81F3B427FC}"/>
              </a:ext>
            </a:extLst>
          </p:cNvPr>
          <p:cNvSpPr txBox="1"/>
          <p:nvPr/>
        </p:nvSpPr>
        <p:spPr>
          <a:xfrm>
            <a:off x="234031" y="5003866"/>
            <a:ext cx="4332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12 mM CaCl2; 15 mM LaCl3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D0C9B-DC01-3E3E-F28C-9BF3AB156A1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09.08.25_E9</a:t>
            </a:r>
          </a:p>
        </p:txBody>
      </p:sp>
      <p:pic>
        <p:nvPicPr>
          <p:cNvPr id="6" name="Picture 5" descr="A graph of a number of different colored arrows&#10;&#10;AI-generated content may be incorrect.">
            <a:extLst>
              <a:ext uri="{FF2B5EF4-FFF2-40B4-BE49-F238E27FC236}">
                <a16:creationId xmlns:a16="http://schemas.microsoft.com/office/drawing/2014/main" id="{4D01B1A1-B4D4-E5F2-469F-3FB9D650D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43" y="949291"/>
            <a:ext cx="5334000" cy="4000500"/>
          </a:xfrm>
          <a:prstGeom prst="rect">
            <a:avLst/>
          </a:prstGeom>
        </p:spPr>
      </p:pic>
      <p:pic>
        <p:nvPicPr>
          <p:cNvPr id="9" name="Picture 8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812393D8-DEC6-31CC-E8A0-C1D2342E1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643" y="949291"/>
            <a:ext cx="5334000" cy="4000500"/>
          </a:xfrm>
          <a:prstGeom prst="rect">
            <a:avLst/>
          </a:prstGeom>
        </p:spPr>
      </p:pic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583046DD-2F03-6238-11E0-877213838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82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D1D1-D6AE-81FD-62DD-4132FE20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B1AB49-AF5D-AC07-2CD8-657F1C2E1898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B09350-24A3-D8B2-2B5C-E82E3FDB3430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B608211-1AAE-0BA4-EA03-B90112AA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DD7A0-4D88-956F-BDBC-A3430572B735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 mM LaCl3; 5 mM CaCl2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10 mM LaCl3; 25 mM CaCl2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CDADE-5E0B-8696-C28E-4183F4ABFD8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05.22.24_E10</a:t>
            </a:r>
          </a:p>
        </p:txBody>
      </p:sp>
      <p:pic>
        <p:nvPicPr>
          <p:cNvPr id="6" name="Picture 5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13A7C985-0A95-98DA-A76A-31288F9AC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78" y="851211"/>
            <a:ext cx="5334000" cy="4000500"/>
          </a:xfrm>
          <a:prstGeom prst="rect">
            <a:avLst/>
          </a:prstGeom>
        </p:spPr>
      </p:pic>
      <p:pic>
        <p:nvPicPr>
          <p:cNvPr id="9" name="Picture 8" descr="A graph of a concentration&#10;&#10;AI-generated content may be incorrect.">
            <a:extLst>
              <a:ext uri="{FF2B5EF4-FFF2-40B4-BE49-F238E27FC236}">
                <a16:creationId xmlns:a16="http://schemas.microsoft.com/office/drawing/2014/main" id="{9743F5D2-1295-7F6F-D041-76F7B2DE35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731" y="805960"/>
            <a:ext cx="5334000" cy="4000500"/>
          </a:xfrm>
          <a:prstGeom prst="rect">
            <a:avLst/>
          </a:prstGeom>
        </p:spPr>
      </p:pic>
      <p:pic>
        <p:nvPicPr>
          <p:cNvPr id="12" name="Graphic 11" descr="Checkbox Checked with solid fill">
            <a:extLst>
              <a:ext uri="{FF2B5EF4-FFF2-40B4-BE49-F238E27FC236}">
                <a16:creationId xmlns:a16="http://schemas.microsoft.com/office/drawing/2014/main" id="{D30D8112-2F86-CF0F-B8DF-2887727237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42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D012-5AF0-FB99-15F3-FAA8C5DD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862C14-72EB-66A0-FA60-48FA844180F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AD5E8-70C5-B7DE-9816-119927821CE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DEB3C74-B50C-C65F-B003-416AEF63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26CB2-D3F3-6B21-5FA2-2914D2BB3D1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05.28.24_E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3CA46E-7CD7-1E44-F1D9-0C02DFA73350}"/>
              </a:ext>
            </a:extLst>
          </p:cNvPr>
          <p:cNvSpPr txBox="1"/>
          <p:nvPr/>
        </p:nvSpPr>
        <p:spPr>
          <a:xfrm>
            <a:off x="234031" y="5003866"/>
            <a:ext cx="4506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15 mM LaCl3</a:t>
            </a:r>
          </a:p>
        </p:txBody>
      </p:sp>
      <p:pic>
        <p:nvPicPr>
          <p:cNvPr id="8" name="Graphic 7" descr="Checkbox Checked with solid fill">
            <a:extLst>
              <a:ext uri="{FF2B5EF4-FFF2-40B4-BE49-F238E27FC236}">
                <a16:creationId xmlns:a16="http://schemas.microsoft.com/office/drawing/2014/main" id="{627B7036-5DFD-60E4-FA26-E232EAB4A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concentration&#10;&#10;AI-generated content may be incorrect.">
            <a:extLst>
              <a:ext uri="{FF2B5EF4-FFF2-40B4-BE49-F238E27FC236}">
                <a16:creationId xmlns:a16="http://schemas.microsoft.com/office/drawing/2014/main" id="{E84D1465-1595-C203-094E-4B4C58D06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895" y="904573"/>
            <a:ext cx="5334000" cy="4000500"/>
          </a:xfrm>
          <a:prstGeom prst="rect">
            <a:avLst/>
          </a:prstGeom>
        </p:spPr>
      </p:pic>
      <p:pic>
        <p:nvPicPr>
          <p:cNvPr id="12" name="Picture 11" descr="A graph of a function&#10;&#10;AI-generated content may be incorrect.">
            <a:extLst>
              <a:ext uri="{FF2B5EF4-FFF2-40B4-BE49-F238E27FC236}">
                <a16:creationId xmlns:a16="http://schemas.microsoft.com/office/drawing/2014/main" id="{C2CA6E99-53A4-6E73-1126-886387DA73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2" y="904573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15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6499-B768-909F-3358-E255E14F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D4E4E0-BD27-6900-6DD5-9BB889552A4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DC2DD-36E0-08FD-7C0A-599DA80CB4B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259CCD9-0826-4B60-1EB8-470F235D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CA633-E9CE-9865-3D57-E63A5F67C6E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05.28.24_E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59DFA-9971-E85B-C201-B8F3647473E6}"/>
              </a:ext>
            </a:extLst>
          </p:cNvPr>
          <p:cNvSpPr txBox="1"/>
          <p:nvPr/>
        </p:nvSpPr>
        <p:spPr>
          <a:xfrm>
            <a:off x="234031" y="5003866"/>
            <a:ext cx="433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15 mM LaCl3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77D1A0D7-6C7F-8DAA-D41B-AA76F7CE4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60360FF2-1EEA-F2FC-BC56-92979BD1F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811" y="851022"/>
            <a:ext cx="5334000" cy="4000500"/>
          </a:xfrm>
          <a:prstGeom prst="rect">
            <a:avLst/>
          </a:prstGeom>
        </p:spPr>
      </p:pic>
      <p:pic>
        <p:nvPicPr>
          <p:cNvPr id="12" name="Picture 11" descr="A graph showing the number of times&#10;&#10;AI-generated content may be incorrect.">
            <a:extLst>
              <a:ext uri="{FF2B5EF4-FFF2-40B4-BE49-F238E27FC236}">
                <a16:creationId xmlns:a16="http://schemas.microsoft.com/office/drawing/2014/main" id="{D1B7A2B5-0840-C870-41D5-9992A4B0FD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79" y="851022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95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E2F5-02EF-AE2C-8EAE-725CC5A1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04971-1677-1FFF-6DB1-C8CB6311FBC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FE9EA6-479C-7901-03A0-857A88F7ACC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677491D-DEF0-6475-EAC6-0E77AD32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DE4C2-C03B-C045-C906-F2F6A0D5549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05.29.24_E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70B53-F0A8-5241-2EC9-486859DB1C0C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Good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0.2 mM LaCl3; 50 mM NaCl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C6C7D-DD43-BE62-3A86-232FE4823E8E}"/>
              </a:ext>
            </a:extLst>
          </p:cNvPr>
          <p:cNvSpPr txBox="1"/>
          <p:nvPr/>
        </p:nvSpPr>
        <p:spPr>
          <a:xfrm>
            <a:off x="9996984" y="2721114"/>
            <a:ext cx="1603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RERUN ON MF270_MC4</a:t>
            </a:r>
          </a:p>
        </p:txBody>
      </p:sp>
      <p:pic>
        <p:nvPicPr>
          <p:cNvPr id="11" name="Graphic 10" descr="Checkbox Crossed with solid fill">
            <a:extLst>
              <a:ext uri="{FF2B5EF4-FFF2-40B4-BE49-F238E27FC236}">
                <a16:creationId xmlns:a16="http://schemas.microsoft.com/office/drawing/2014/main" id="{4C1B9329-BAFE-CBEA-AD93-FA46CC0472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1746" y="1797289"/>
            <a:ext cx="914400" cy="914400"/>
          </a:xfrm>
          <a:prstGeom prst="rect">
            <a:avLst/>
          </a:prstGeom>
        </p:spPr>
      </p:pic>
      <p:pic>
        <p:nvPicPr>
          <p:cNvPr id="12" name="Picture 11" descr="A graph of a number of different times&#10;&#10;AI-generated content may be incorrect.">
            <a:extLst>
              <a:ext uri="{FF2B5EF4-FFF2-40B4-BE49-F238E27FC236}">
                <a16:creationId xmlns:a16="http://schemas.microsoft.com/office/drawing/2014/main" id="{C588C899-47EC-76AA-3430-D030A9624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003366"/>
            <a:ext cx="5334000" cy="4000500"/>
          </a:xfrm>
          <a:prstGeom prst="rect">
            <a:avLst/>
          </a:prstGeom>
        </p:spPr>
      </p:pic>
      <p:pic>
        <p:nvPicPr>
          <p:cNvPr id="14" name="Picture 1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94E7F004-3DC4-3C2B-A612-F197EA5AD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36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59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8B5E-77C8-77A3-7198-7061AC01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F52D2B-5D9A-266D-C5E7-4854AEDA2AA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1BFF2-5FC5-2291-BDD9-E49CF1DCA0A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AF5A86D-EFB4-1672-6840-4E0CB96B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B092C-AF84-2540-C47F-DA933FA01AE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07.12.24_E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EF2CF-7940-F4DF-788C-C81908217410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0.2 mM LaCl3; 50 mM NaCl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7506DD0F-8A0B-2801-82C4-478B06CEF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different colored triangles&#10;&#10;AI-generated content may be incorrect.">
            <a:extLst>
              <a:ext uri="{FF2B5EF4-FFF2-40B4-BE49-F238E27FC236}">
                <a16:creationId xmlns:a16="http://schemas.microsoft.com/office/drawing/2014/main" id="{1746A18E-5D0B-3AC7-0864-FDBB186C8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510" y="851022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BE048B30-6771-8E9B-F02A-96D4F63D40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1" y="851022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76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2F79C-6A96-CBB8-B701-045DB348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BDD7BB-4F15-5FC8-6D01-482725C08AC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1FEBA-DEAC-C475-EB34-7FF52509D8E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053F3BF-1943-06A5-D562-E09BA011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B3FA5-18D2-36FF-CC3E-89BA595A22B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05.29.24_E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E2B66-EBC1-D50B-5D27-6129E0B5FE5F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Okay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NaCl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0D232-2531-CA2A-AA43-6905A43FB2C9}"/>
              </a:ext>
            </a:extLst>
          </p:cNvPr>
          <p:cNvSpPr txBox="1"/>
          <p:nvPr/>
        </p:nvSpPr>
        <p:spPr>
          <a:xfrm>
            <a:off x="10307337" y="2726395"/>
            <a:ext cx="1716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RERUN ON NF270_MC4</a:t>
            </a:r>
          </a:p>
        </p:txBody>
      </p:sp>
      <p:pic>
        <p:nvPicPr>
          <p:cNvPr id="8" name="Graphic 7" descr="Checkbox Crossed with solid fill">
            <a:extLst>
              <a:ext uri="{FF2B5EF4-FFF2-40B4-BE49-F238E27FC236}">
                <a16:creationId xmlns:a16="http://schemas.microsoft.com/office/drawing/2014/main" id="{F8655481-CAE8-0AB7-4ADB-9CAC14796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7291" y="1811995"/>
            <a:ext cx="914400" cy="914400"/>
          </a:xfrm>
          <a:prstGeom prst="rect">
            <a:avLst/>
          </a:prstGeom>
        </p:spPr>
      </p:pic>
      <p:pic>
        <p:nvPicPr>
          <p:cNvPr id="12" name="Picture 11" descr="A graph of a number of different types of concentration&#10;&#10;AI-generated content may be incorrect.">
            <a:extLst>
              <a:ext uri="{FF2B5EF4-FFF2-40B4-BE49-F238E27FC236}">
                <a16:creationId xmlns:a16="http://schemas.microsoft.com/office/drawing/2014/main" id="{55CE7447-85DA-9632-D137-3F1FFDB0D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425" y="790225"/>
            <a:ext cx="5334000" cy="4000500"/>
          </a:xfrm>
          <a:prstGeom prst="rect">
            <a:avLst/>
          </a:prstGeom>
        </p:spPr>
      </p:pic>
      <p:pic>
        <p:nvPicPr>
          <p:cNvPr id="14" name="Picture 13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00568909-1157-B78B-7D24-4899DEE39E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3" y="79022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40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135A-794E-3B1D-9AE4-9B22BC9A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2DFFF0-CA09-32EC-02D7-F21216DD9BB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F3AF0E-5CAF-D1F3-05B5-EDBD89E33EE1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7ADBD4-B7D4-B134-6F9D-65AB5F1A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FACCD-6CFA-505E-174B-0386987AF95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07.15.25_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C16F3-1390-6691-3F36-A99F0E87AD9B}"/>
              </a:ext>
            </a:extLst>
          </p:cNvPr>
          <p:cNvSpPr txBox="1"/>
          <p:nvPr/>
        </p:nvSpPr>
        <p:spPr>
          <a:xfrm>
            <a:off x="177800" y="4935295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Bad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NaCl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1A34B-35C1-C31E-DA8D-CA3C443C32F4}"/>
              </a:ext>
            </a:extLst>
          </p:cNvPr>
          <p:cNvSpPr txBox="1"/>
          <p:nvPr/>
        </p:nvSpPr>
        <p:spPr>
          <a:xfrm>
            <a:off x="10703259" y="2748106"/>
            <a:ext cx="1301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NEEDS TO BE RERUN</a:t>
            </a:r>
          </a:p>
        </p:txBody>
      </p:sp>
      <p:pic>
        <p:nvPicPr>
          <p:cNvPr id="8" name="Graphic 7" descr="Checkbox Crossed with solid fill">
            <a:extLst>
              <a:ext uri="{FF2B5EF4-FFF2-40B4-BE49-F238E27FC236}">
                <a16:creationId xmlns:a16="http://schemas.microsoft.com/office/drawing/2014/main" id="{4724347F-6CEB-DE9B-749C-B182A26CD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599" y="183370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a number of different numbers&#10;&#10;AI-generated content may be incorrect.">
            <a:extLst>
              <a:ext uri="{FF2B5EF4-FFF2-40B4-BE49-F238E27FC236}">
                <a16:creationId xmlns:a16="http://schemas.microsoft.com/office/drawing/2014/main" id="{519DDDE2-122E-AA6D-E8AB-A0EE69779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969" y="905671"/>
            <a:ext cx="5334000" cy="4000500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E9F0BB04-788D-1E43-833A-69F46AA074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60" y="90567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25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A692F-9D5B-8DD1-AF21-421AF2F4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909B2F-B0A0-B2AE-37EF-DA71F0508B5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99ADF4-B0E0-A04F-7C39-8A1C69F4C6B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B95DFDD-64BE-6D26-BE8D-1714DA87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EBBEA-C197-C173-C0E5-83142EEB7D2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09.09.25_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0C1BA-F537-51C2-6DF3-4CC909388115}"/>
              </a:ext>
            </a:extLst>
          </p:cNvPr>
          <p:cNvSpPr txBox="1"/>
          <p:nvPr/>
        </p:nvSpPr>
        <p:spPr>
          <a:xfrm>
            <a:off x="177800" y="4935295"/>
            <a:ext cx="42363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NaCl</a:t>
            </a:r>
          </a:p>
        </p:txBody>
      </p:sp>
      <p:pic>
        <p:nvPicPr>
          <p:cNvPr id="8" name="Picture 7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CBE8A5EB-ED65-8205-89CB-98774548B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34795"/>
            <a:ext cx="5334000" cy="4000500"/>
          </a:xfrm>
          <a:prstGeom prst="rect">
            <a:avLst/>
          </a:prstGeom>
        </p:spPr>
      </p:pic>
      <p:pic>
        <p:nvPicPr>
          <p:cNvPr id="10" name="Picture 9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49D40CA6-F38E-DD87-94F4-A348E2C79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57" y="934795"/>
            <a:ext cx="5334000" cy="4000500"/>
          </a:xfrm>
          <a:prstGeom prst="rect">
            <a:avLst/>
          </a:prstGeom>
        </p:spPr>
      </p:pic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5C7E23E8-C10B-FB51-7E55-14AAB2CD22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587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07E4-633B-1321-7672-07F7EF08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41A234-C394-2A43-3749-CD3AA4B59C37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5E743-2C70-6430-B957-0D16555AB87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CBB5C29-7D77-8FD5-B648-51B7DC49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3D7C3-D231-AE4C-72EF-729E5790BF4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05.30.24_E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E5D4B-2475-97CF-C3F7-A738E94E2AAE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10 mM NaCl; 1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NaCl; 10 mM LaCl3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B9B1690C-F72F-946F-883E-06BB58FD7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11" name="Picture 10" descr="A graph of a number of different types of concentration&#10;&#10;AI-generated content may be incorrect.">
            <a:extLst>
              <a:ext uri="{FF2B5EF4-FFF2-40B4-BE49-F238E27FC236}">
                <a16:creationId xmlns:a16="http://schemas.microsoft.com/office/drawing/2014/main" id="{4F5DAE38-C2BB-B049-E040-294F7DA31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794" y="871134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5B511581-6812-CCC7-E7ED-E6BCF4AF8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1" y="871134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884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A6BE-41B0-2D2B-F2E9-E3B4F9B4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DC024A-2DDC-337B-EF0B-7FC4F4600E17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F92AE-3B19-1F73-182E-B7AF61A6084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964CB00-8700-F709-95DE-97EC85F3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B9EA2-12D1-506F-DC44-B15881224C4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07.16.24_E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9F52FC-541F-D21D-3680-59C79A000176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50 mM NaCl; 1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20 mM LaCl3</a:t>
            </a:r>
          </a:p>
        </p:txBody>
      </p:sp>
      <p:pic>
        <p:nvPicPr>
          <p:cNvPr id="11" name="Picture 10" descr="A graph of a concentration of a substance&#10;&#10;AI-generated content may be incorrect.">
            <a:extLst>
              <a:ext uri="{FF2B5EF4-FFF2-40B4-BE49-F238E27FC236}">
                <a16:creationId xmlns:a16="http://schemas.microsoft.com/office/drawing/2014/main" id="{A882B6C4-F165-8102-BE7E-1C2F20D0A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020" y="893796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showing the number of points&#10;&#10;AI-generated content may be incorrect.">
            <a:extLst>
              <a:ext uri="{FF2B5EF4-FFF2-40B4-BE49-F238E27FC236}">
                <a16:creationId xmlns:a16="http://schemas.microsoft.com/office/drawing/2014/main" id="{7FF7A297-E489-0F1D-CB97-F4EC850879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1" y="89379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475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2B41-199B-EFD9-232D-9FB5BF0C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CA0BF9-F480-FC9B-93B2-20A724C30E32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A7C5C-BEBB-8A64-BFF5-44C913BFCD9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3BD4BB-F633-DD9B-7C3E-0B62CD84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1A66E-78E4-B7E1-E2CA-FF9638717BE5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06.01.26_E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5991C-8ECE-1CE2-51CB-693FF585F9CF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50 mM NaCl; 1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20 mM LaCl3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A36E7202-15E0-200A-E00F-D7B8AEF10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DD92F4-CF36-93DF-38FD-92F8A8A7A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420" y="982636"/>
            <a:ext cx="5334000" cy="400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07405B-EEC9-2FB0-C4BA-528DF2ED0E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820" y="98263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897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B7B1-292A-6A5F-7C00-95EC9CA6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789C3E-37CC-D64E-D9F9-1141E65CBB9E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C141F9-60CC-2E36-FC39-33066D15414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7E72FAF-FB9B-EB96-F9BA-FE9D7B90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0F53E-28D7-8A8F-2814-216C5FB4DAA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07.16.24_E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382F82-86E5-13C4-10EB-A29ADBBD3B54}"/>
              </a:ext>
            </a:extLst>
          </p:cNvPr>
          <p:cNvSpPr txBox="1"/>
          <p:nvPr/>
        </p:nvSpPr>
        <p:spPr>
          <a:xfrm>
            <a:off x="234031" y="5003866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Quality: Excellent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Feed: 50 mM CaCl2; 1 mM LaCl3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Diafiltrate: 20 mM LaCl3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BFFC9B02-4190-3455-02E2-50FDFAA77F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557" y="87086"/>
            <a:ext cx="914400" cy="914400"/>
          </a:xfrm>
          <a:prstGeom prst="rect">
            <a:avLst/>
          </a:prstGeom>
        </p:spPr>
      </p:pic>
      <p:pic>
        <p:nvPicPr>
          <p:cNvPr id="9" name="Picture 8" descr="A graph of a concentration&#10;&#10;AI-generated content may be incorrect.">
            <a:extLst>
              <a:ext uri="{FF2B5EF4-FFF2-40B4-BE49-F238E27FC236}">
                <a16:creationId xmlns:a16="http://schemas.microsoft.com/office/drawing/2014/main" id="{AB32745F-E235-D05E-07D1-82BCD24DAB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57" y="949291"/>
            <a:ext cx="5334000" cy="4000500"/>
          </a:xfrm>
          <a:prstGeom prst="rect">
            <a:avLst/>
          </a:prstGeom>
        </p:spPr>
      </p:pic>
      <p:pic>
        <p:nvPicPr>
          <p:cNvPr id="13" name="Picture 12" descr="A graph of a graph showing a number of points&#10;&#10;AI-generated content may be incorrect.">
            <a:extLst>
              <a:ext uri="{FF2B5EF4-FFF2-40B4-BE49-F238E27FC236}">
                <a16:creationId xmlns:a16="http://schemas.microsoft.com/office/drawing/2014/main" id="{AED7F912-12CD-760C-449E-5C97EA40F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1" y="94929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3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194215</TotalTime>
  <Words>1424</Words>
  <Application>Microsoft Office PowerPoint</Application>
  <PresentationFormat>Widescreen</PresentationFormat>
  <Paragraphs>329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On one 05/07/2020</dc:title>
  <dc:creator>Jonathan Ouimet</dc:creator>
  <cp:lastModifiedBy>Laurianne Estrada</cp:lastModifiedBy>
  <cp:revision>1349</cp:revision>
  <dcterms:created xsi:type="dcterms:W3CDTF">2020-05-07T13:25:50Z</dcterms:created>
  <dcterms:modified xsi:type="dcterms:W3CDTF">2026-06-29T16:56:53Z</dcterms:modified>
</cp:coreProperties>
</file>